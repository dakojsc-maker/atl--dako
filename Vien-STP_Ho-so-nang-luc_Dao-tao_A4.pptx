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jpg"/><Relationship Id="rId2" Type="http://schemas.openxmlformats.org/officeDocument/2006/relationships/image" Target="../media/image-1005-2.png"/><Relationship Id="rId3" Type="http://schemas.openxmlformats.org/officeDocument/2006/relationships/image" Target="../media/OPENER-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TL--DAKO/profile-daotao/assets/logo/stp.png">    </p:cNvPr>
          <p:cNvPicPr>
            <a:picLocks noChangeAspect="1"/>
          </p:cNvPicPr>
          <p:nvPr/>
        </p:nvPicPr>
        <p:blipFill>
          <a:blip r:embed="rId1"/>
          <a:stretch>
            <a:fillRect/>
          </a:stretch>
        </p:blipFill>
        <p:spPr>
          <a:xfrm>
            <a:off x="6400800" y="292608"/>
            <a:ext cx="749808" cy="749808"/>
          </a:xfrm>
          <a:prstGeom prst="rect">
            <a:avLst/>
          </a:prstGeom>
        </p:spPr>
      </p:pic>
      <p:sp>
        <p:nvSpPr>
          <p:cNvPr id="3" name="Text 0"/>
          <p:cNvSpPr/>
          <p:nvPr/>
        </p:nvSpPr>
        <p:spPr>
          <a:xfrm>
            <a:off x="548640" y="10259568"/>
            <a:ext cx="5120640" cy="237744"/>
          </a:xfrm>
          <a:prstGeom prst="rect">
            <a:avLst/>
          </a:prstGeom>
          <a:noFill/>
          <a:ln/>
        </p:spPr>
        <p:txBody>
          <a:bodyPr wrap="square" lIns="0" tIns="0" rIns="0" bIns="0" rtlCol="0" anchor="ctr"/>
          <a:lstStyle/>
          <a:p>
            <a:pPr indent="0" marL="0">
              <a:buNone/>
            </a:pPr>
            <a:r>
              <a:rPr lang="en-US" sz="900" dirty="0">
                <a:solidFill>
                  <a:schemeClr val="accent3"/>
                </a:solidFill>
              </a:rPr>
              <a:t>STP INSTITUTE  |  Hồ sơ năng lực Đào tạo  |  www.vienstp.com</a:t>
            </a:r>
            <a:endParaRPr lang="en-US" sz="900" dirty="0"/>
          </a:p>
        </p:txBody>
      </p:sp>
      <p:sp>
        <p:nvSpPr>
          <p:cNvPr id="4" name="Text 1"/>
          <p:cNvSpPr/>
          <p:nvPr>
            <p:ph idx="102" type="title" hasCustomPrompt="1"/>
          </p:nvPr>
        </p:nvSpPr>
        <p:spPr>
          <a:xfrm>
            <a:off x="548640" y="548640"/>
            <a:ext cx="5669280" cy="5486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2"/>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TL--DAKO/profile-daotao/assets/logo/stp.png">    </p:cNvPr>
          <p:cNvPicPr>
            <a:picLocks noChangeAspect="1"/>
          </p:cNvPicPr>
          <p:nvPr/>
        </p:nvPicPr>
        <p:blipFill>
          <a:blip r:embed="rId1"/>
          <a:stretch>
            <a:fillRect/>
          </a:stretch>
        </p:blipFill>
        <p:spPr>
          <a:xfrm>
            <a:off x="6400800" y="292608"/>
            <a:ext cx="749808" cy="749808"/>
          </a:xfrm>
          <a:prstGeom prst="rect">
            <a:avLst/>
          </a:prstGeom>
        </p:spPr>
      </p:pic>
      <p:sp>
        <p:nvSpPr>
          <p:cNvPr id="3" name="Text 0"/>
          <p:cNvSpPr/>
          <p:nvPr/>
        </p:nvSpPr>
        <p:spPr>
          <a:xfrm>
            <a:off x="548640" y="10259568"/>
            <a:ext cx="5120640" cy="237744"/>
          </a:xfrm>
          <a:prstGeom prst="rect">
            <a:avLst/>
          </a:prstGeom>
          <a:noFill/>
          <a:ln/>
        </p:spPr>
        <p:txBody>
          <a:bodyPr wrap="square" lIns="0" tIns="0" rIns="0" bIns="0" rtlCol="0" anchor="ctr"/>
          <a:lstStyle/>
          <a:p>
            <a:pPr indent="0" marL="0">
              <a:buNone/>
            </a:pPr>
            <a:r>
              <a:rPr lang="en-US" sz="900" dirty="0">
                <a:solidFill>
                  <a:schemeClr val="accent5"/>
                </a:solidFill>
              </a:rPr>
              <a:t>STP INSTITUTE  |  Hồ sơ năng lực Đào tạo  |  www.vienstp.com</a:t>
            </a:r>
            <a:endParaRPr lang="en-US" sz="900" dirty="0"/>
          </a:p>
        </p:txBody>
      </p:sp>
      <p:sp>
        <p:nvSpPr>
          <p:cNvPr id="4" name="Text 1"/>
          <p:cNvSpPr/>
          <p:nvPr>
            <p:ph idx="102" type="title" hasCustomPrompt="1"/>
          </p:nvPr>
        </p:nvSpPr>
        <p:spPr>
          <a:xfrm>
            <a:off x="548640" y="603504"/>
            <a:ext cx="5715000" cy="512064"/>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PEN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user/ATL--DAKO/profile-daotao/assets/bg/dark.jpg">    </p:cNvPr>
          <p:cNvPicPr>
            <a:picLocks noChangeAspect="1"/>
          </p:cNvPicPr>
          <p:nvPr/>
        </p:nvPicPr>
        <p:blipFill>
          <a:blip r:embed="rId1"/>
          <a:srcRect l="0" r="0" t="34613" b="34613"/>
          <a:stretch/>
        </p:blipFill>
        <p:spPr>
          <a:xfrm>
            <a:off x="0" y="0"/>
            <a:ext cx="7562088" cy="3291840"/>
          </a:xfrm>
          <a:prstGeom prst="rect">
            <a:avLst/>
          </a:prstGeom>
        </p:spPr>
      </p:pic>
      <p:pic>
        <p:nvPicPr>
          <p:cNvPr id="3" name="Image 1" descr="/home/user/ATL--DAKO/profile-daotao/assets/logo/stp.png">    </p:cNvPr>
          <p:cNvPicPr>
            <a:picLocks noChangeAspect="1"/>
          </p:cNvPicPr>
          <p:nvPr/>
        </p:nvPicPr>
        <p:blipFill>
          <a:blip r:embed="rId2"/>
          <a:stretch>
            <a:fillRect/>
          </a:stretch>
        </p:blipFill>
        <p:spPr>
          <a:xfrm>
            <a:off x="548640" y="320040"/>
            <a:ext cx="777240" cy="777240"/>
          </a:xfrm>
          <a:prstGeom prst="rect">
            <a:avLst/>
          </a:prstGeom>
        </p:spPr>
      </p:pic>
      <p:sp>
        <p:nvSpPr>
          <p:cNvPr id="4" name="Text 0"/>
          <p:cNvSpPr/>
          <p:nvPr/>
        </p:nvSpPr>
        <p:spPr>
          <a:xfrm>
            <a:off x="548640" y="10259568"/>
            <a:ext cx="5120640" cy="237744"/>
          </a:xfrm>
          <a:prstGeom prst="rect">
            <a:avLst/>
          </a:prstGeom>
          <a:noFill/>
          <a:ln/>
        </p:spPr>
        <p:txBody>
          <a:bodyPr wrap="square" lIns="0" tIns="0" rIns="0" bIns="0" rtlCol="0" anchor="ctr"/>
          <a:lstStyle/>
          <a:p>
            <a:pPr indent="0" marL="0">
              <a:buNone/>
            </a:pPr>
            <a:r>
              <a:rPr lang="en-US" sz="900" dirty="0">
                <a:solidFill>
                  <a:schemeClr val="accent5"/>
                </a:solidFill>
              </a:rPr>
              <a:t>STP INSTITUTE  |  Hồ sơ năng lực Đào tạo  |  www.vienstp.com</a:t>
            </a:r>
            <a:endParaRPr lang="en-US" sz="900" dirty="0"/>
          </a:p>
        </p:txBody>
      </p:sp>
      <p:sp>
        <p:nvSpPr>
          <p:cNvPr id="5" name="Text 1"/>
          <p:cNvSpPr/>
          <p:nvPr>
            <p:ph idx="103" type="title" hasCustomPrompt="1"/>
          </p:nvPr>
        </p:nvSpPr>
        <p:spPr>
          <a:xfrm>
            <a:off x="548640" y="1481328"/>
            <a:ext cx="3291840" cy="1188720"/>
          </a:xfrm>
          <a:prstGeom prst="rect">
            <a:avLst/>
          </a:prstGeom>
          <a:noFill/>
          <a:ln/>
        </p:spPr>
        <p:txBody>
          <a:bodyPr wrap="square" rtlCol="0"/>
          <a:lstStyle>
            <a:lvl1pPr algn="l" indent="0" marL="0">
              <a:lnSpc>
                <a:spcPct val="95000"/>
              </a:lnSpc>
              <a:buNone/>
              <a:defRPr lang="en-US" sz="2600" b="1" dirty="0">
                <a:solidFill>
                  <a:schemeClr val="bg1"/>
                </a:solidFill>
              </a:defRPr>
            </a:lvl1pPr>
          </a:lstStyle>
          <a:p>
            <a:pPr algn="l" indent="0" marL="0">
              <a:lnSpc>
                <a:spcPct val="95000"/>
              </a:lnSpc>
              <a:buNone/>
            </a:pPr>
            <a:endParaRPr lang="en-US" sz="26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2"/>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5.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5.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image" Target="../media/image-8-4.png"/><Relationship Id="rId5" Type="http://schemas.openxmlformats.org/officeDocument/2006/relationships/image" Target="../media/image-8-5.jpeg"/><Relationship Id="rId6" Type="http://schemas.openxmlformats.org/officeDocument/2006/relationships/image" Target="../media/image-8-6.png"/><Relationship Id="rId7" Type="http://schemas.openxmlformats.org/officeDocument/2006/relationships/image" Target="../media/image-8-7.jpeg"/><Relationship Id="rId8" Type="http://schemas.openxmlformats.org/officeDocument/2006/relationships/image" Target="../media/image-8-8.png"/><Relationship Id="rId9" Type="http://schemas.openxmlformats.org/officeDocument/2006/relationships/image" Target="../media/image-8-9.jpeg"/><Relationship Id="rId10" Type="http://schemas.openxmlformats.org/officeDocument/2006/relationships/image" Target="../media/image-8-10.png"/><Relationship Id="rId11" Type="http://schemas.openxmlformats.org/officeDocument/2006/relationships/image" Target="../media/image-8-11.jpeg"/><Relationship Id="rId12" Type="http://schemas.openxmlformats.org/officeDocument/2006/relationships/image" Target="../media/image-8-12.png"/><Relationship Id="rId13" Type="http://schemas.openxmlformats.org/officeDocument/2006/relationships/slideLayout" Target="../slideLayouts/slideLayout4.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4.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image" Target="../media/image-10-7.jpeg"/><Relationship Id="rId8" Type="http://schemas.openxmlformats.org/officeDocument/2006/relationships/image" Target="../media/image-10-8.jpeg"/><Relationship Id="rId9" Type="http://schemas.openxmlformats.org/officeDocument/2006/relationships/slideLayout" Target="../slideLayouts/slideLayout4.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slideLayout" Target="../slideLayouts/slideLayout4.xml"/><Relationship Id="rId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png"/><Relationship Id="rId6" Type="http://schemas.openxmlformats.org/officeDocument/2006/relationships/slideLayout" Target="../slideLayouts/slideLayout5.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jpg"/><Relationship Id="rId15" Type="http://schemas.openxmlformats.org/officeDocument/2006/relationships/image" Target="../media/image-16-15.jpg"/><Relationship Id="rId16" Type="http://schemas.openxmlformats.org/officeDocument/2006/relationships/image" Target="../media/image-16-16.jpg"/><Relationship Id="rId17" Type="http://schemas.openxmlformats.org/officeDocument/2006/relationships/slideLayout" Target="../slideLayouts/slideLayout4.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image" Target="../media/image-17-6.jpg"/><Relationship Id="rId7" Type="http://schemas.openxmlformats.org/officeDocument/2006/relationships/image" Target="../media/image-17-7.jpg"/><Relationship Id="rId8" Type="http://schemas.openxmlformats.org/officeDocument/2006/relationships/slideLayout" Target="../slideLayouts/slideLayout4.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image" Target="../media/image-18-6.jpg"/><Relationship Id="rId7" Type="http://schemas.openxmlformats.org/officeDocument/2006/relationships/image" Target="../media/image-18-7.jpg"/><Relationship Id="rId8" Type="http://schemas.openxmlformats.org/officeDocument/2006/relationships/image" Target="../media/image-18-8.jpg"/><Relationship Id="rId9" Type="http://schemas.openxmlformats.org/officeDocument/2006/relationships/image" Target="../media/image-18-9.jpg"/><Relationship Id="rId10" Type="http://schemas.openxmlformats.org/officeDocument/2006/relationships/image" Target="../media/image-18-10.jpg"/><Relationship Id="rId11" Type="http://schemas.openxmlformats.org/officeDocument/2006/relationships/image" Target="../media/image-18-11.jpg"/><Relationship Id="rId12" Type="http://schemas.openxmlformats.org/officeDocument/2006/relationships/image" Target="../media/image-18-12.jpg"/><Relationship Id="rId13" Type="http://schemas.openxmlformats.org/officeDocument/2006/relationships/image" Target="../media/image-18-13.jpg"/><Relationship Id="rId14" Type="http://schemas.openxmlformats.org/officeDocument/2006/relationships/image" Target="../media/image-18-14.jpg"/><Relationship Id="rId15" Type="http://schemas.openxmlformats.org/officeDocument/2006/relationships/image" Target="../media/image-18-15.jpg"/><Relationship Id="rId16" Type="http://schemas.openxmlformats.org/officeDocument/2006/relationships/image" Target="../media/image-18-16.jpg"/><Relationship Id="rId17" Type="http://schemas.openxmlformats.org/officeDocument/2006/relationships/image" Target="../media/image-18-17.jpeg"/><Relationship Id="rId18" Type="http://schemas.openxmlformats.org/officeDocument/2006/relationships/image" Target="../media/image-18-18.jpeg"/><Relationship Id="rId19" Type="http://schemas.openxmlformats.org/officeDocument/2006/relationships/image" Target="../media/image-18-19.jpeg"/><Relationship Id="rId20" Type="http://schemas.openxmlformats.org/officeDocument/2006/relationships/image" Target="../media/image-18-20.jpeg"/><Relationship Id="rId21" Type="http://schemas.openxmlformats.org/officeDocument/2006/relationships/image" Target="../media/image-18-21.jpeg"/><Relationship Id="rId22" Type="http://schemas.openxmlformats.org/officeDocument/2006/relationships/image" Target="../media/image-18-22.jpeg"/><Relationship Id="rId23" Type="http://schemas.openxmlformats.org/officeDocument/2006/relationships/image" Target="../media/image-18-23.jpeg"/><Relationship Id="rId24" Type="http://schemas.openxmlformats.org/officeDocument/2006/relationships/image" Target="../media/image-18-24.jpeg"/><Relationship Id="rId25" Type="http://schemas.openxmlformats.org/officeDocument/2006/relationships/slideLayout" Target="../slideLayouts/slideLayout4.xml"/><Relationship Id="rId2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ATL--DAKO/profile-daotao/assets/logo/stp.png">    </p:cNvPr>
          <p:cNvPicPr>
            <a:picLocks noChangeAspect="1"/>
          </p:cNvPicPr>
          <p:nvPr/>
        </p:nvPicPr>
        <p:blipFill>
          <a:blip r:embed="rId1"/>
          <a:stretch>
            <a:fillRect/>
          </a:stretch>
        </p:blipFill>
        <p:spPr>
          <a:xfrm>
            <a:off x="502920" y="411480"/>
            <a:ext cx="1143000" cy="1143000"/>
          </a:xfrm>
          <a:prstGeom prst="rect">
            <a:avLst/>
          </a:prstGeom>
        </p:spPr>
      </p:pic>
      <p:sp>
        <p:nvSpPr>
          <p:cNvPr id="3" name="Text 0"/>
          <p:cNvSpPr txBox="1"/>
          <p:nvPr/>
        </p:nvSpPr>
        <p:spPr>
          <a:xfrm>
            <a:off x="1810512" y="502920"/>
            <a:ext cx="5303520" cy="548640"/>
          </a:xfrm>
          <a:prstGeom prst="rect">
            <a:avLst/>
          </a:prstGeom>
          <a:noFill/>
          <a:ln/>
        </p:spPr>
        <p:txBody>
          <a:bodyPr wrap="square" lIns="0" tIns="0" rIns="0" bIns="0" rtlCol="0" anchor="ctr"/>
          <a:lstStyle/>
          <a:p>
            <a:pPr indent="0" marL="0">
              <a:lnSpc>
                <a:spcPct val="105000"/>
              </a:lnSpc>
              <a:buNone/>
            </a:pPr>
            <a:r>
              <a:rPr lang="en-US" sz="1600" b="1" dirty="0">
                <a:solidFill>
                  <a:schemeClr val="bg1"/>
                </a:solidFill>
              </a:rPr>
              <a:t>VIỆN NGHIÊN CỨU PHÁT TRIỂN GIÁO DỤC &amp; NGHỀ NGHIỆP STP</a:t>
            </a:r>
            <a:endParaRPr lang="en-US" sz="1600" dirty="0"/>
          </a:p>
        </p:txBody>
      </p:sp>
      <p:sp>
        <p:nvSpPr>
          <p:cNvPr id="4" name="Text 1"/>
          <p:cNvSpPr txBox="1"/>
          <p:nvPr/>
        </p:nvSpPr>
        <p:spPr>
          <a:xfrm>
            <a:off x="1810512" y="1060704"/>
            <a:ext cx="5212080" cy="457200"/>
          </a:xfrm>
          <a:prstGeom prst="rect">
            <a:avLst/>
          </a:prstGeom>
          <a:noFill/>
          <a:ln/>
        </p:spPr>
        <p:txBody>
          <a:bodyPr wrap="square" lIns="0" tIns="0" rIns="0" bIns="0" rtlCol="0" anchor="t"/>
          <a:lstStyle/>
          <a:p>
            <a:pPr indent="0" marL="0">
              <a:lnSpc>
                <a:spcPct val="105000"/>
              </a:lnSpc>
              <a:buNone/>
            </a:pPr>
            <a:r>
              <a:rPr lang="en-US" sz="1300" dirty="0">
                <a:solidFill>
                  <a:schemeClr val="accent3"/>
                </a:solidFill>
              </a:rPr>
              <a:t>Tổ chức Khoa học &amp; Công nghệ trực thuộc Liên hiệp các Hội Khoa học và Kỹ thuật Việt Nam (VUSTA)</a:t>
            </a:r>
            <a:endParaRPr lang="en-US" sz="1300" dirty="0"/>
          </a:p>
        </p:txBody>
      </p:sp>
      <p:sp>
        <p:nvSpPr>
          <p:cNvPr id="5" name="Text 2"/>
          <p:cNvSpPr txBox="1"/>
          <p:nvPr/>
        </p:nvSpPr>
        <p:spPr>
          <a:xfrm>
            <a:off x="502920" y="2057400"/>
            <a:ext cx="4572000" cy="457200"/>
          </a:xfrm>
          <a:prstGeom prst="rect">
            <a:avLst/>
          </a:prstGeom>
          <a:noFill/>
          <a:ln/>
        </p:spPr>
        <p:txBody>
          <a:bodyPr wrap="square" lIns="0" tIns="0" rIns="0" bIns="0" rtlCol="0" anchor="t"/>
          <a:lstStyle/>
          <a:p>
            <a:pPr indent="0" marL="0">
              <a:lnSpc>
                <a:spcPct val="105000"/>
              </a:lnSpc>
              <a:buNone/>
            </a:pPr>
            <a:r>
              <a:rPr lang="en-US" sz="2400" b="1" spc="400" kern="0" dirty="0">
                <a:solidFill>
                  <a:schemeClr val="bg1"/>
                </a:solidFill>
              </a:rPr>
              <a:t>HỒ SƠ NĂNG LỰC</a:t>
            </a:r>
            <a:endParaRPr lang="en-US" sz="2400" dirty="0"/>
          </a:p>
        </p:txBody>
      </p:sp>
      <p:sp>
        <p:nvSpPr>
          <p:cNvPr id="6" name="Text 3"/>
          <p:cNvSpPr txBox="1"/>
          <p:nvPr/>
        </p:nvSpPr>
        <p:spPr>
          <a:xfrm>
            <a:off x="502920" y="2514600"/>
            <a:ext cx="5943600" cy="1691640"/>
          </a:xfrm>
          <a:prstGeom prst="rect">
            <a:avLst/>
          </a:prstGeom>
          <a:noFill/>
          <a:ln/>
        </p:spPr>
        <p:txBody>
          <a:bodyPr wrap="square" lIns="0" tIns="0" rIns="0" bIns="0" rtlCol="0" anchor="t"/>
          <a:lstStyle/>
          <a:p>
            <a:pPr indent="0" marL="0">
              <a:lnSpc>
                <a:spcPct val="86000"/>
              </a:lnSpc>
              <a:buNone/>
            </a:pPr>
            <a:r>
              <a:rPr lang="en-US" sz="6200" b="1" dirty="0">
                <a:solidFill>
                  <a:schemeClr val="accent2"/>
                </a:solidFill>
              </a:rPr>
              <a:t>LĨNH VỰC</a:t>
            </a:r>
            <a:endParaRPr lang="en-US" sz="6200" dirty="0"/>
          </a:p>
          <a:p>
            <a:pPr indent="0" marL="0">
              <a:lnSpc>
                <a:spcPct val="86000"/>
              </a:lnSpc>
              <a:buNone/>
            </a:pPr>
            <a:r>
              <a:rPr lang="en-US" sz="6200" b="1" dirty="0">
                <a:solidFill>
                  <a:schemeClr val="accent2"/>
                </a:solidFill>
              </a:rPr>
              <a:t>ĐÀO TẠO</a:t>
            </a:r>
            <a:endParaRPr lang="en-US" sz="6200" dirty="0"/>
          </a:p>
        </p:txBody>
      </p:sp>
      <p:sp>
        <p:nvSpPr>
          <p:cNvPr id="7" name="Text 4"/>
          <p:cNvSpPr txBox="1"/>
          <p:nvPr/>
        </p:nvSpPr>
        <p:spPr>
          <a:xfrm>
            <a:off x="502920" y="4224528"/>
            <a:ext cx="5029200" cy="310896"/>
          </a:xfrm>
          <a:prstGeom prst="rect">
            <a:avLst/>
          </a:prstGeom>
          <a:noFill/>
          <a:ln/>
        </p:spPr>
        <p:txBody>
          <a:bodyPr wrap="square" lIns="0" tIns="0" rIns="0" bIns="0" rtlCol="0" anchor="t"/>
          <a:lstStyle/>
          <a:p>
            <a:pPr indent="0" marL="0">
              <a:lnSpc>
                <a:spcPct val="105000"/>
              </a:lnSpc>
              <a:buNone/>
            </a:pPr>
            <a:r>
              <a:rPr lang="en-US" sz="1400" b="1" spc="400" kern="0" dirty="0">
                <a:solidFill>
                  <a:schemeClr val="bg1"/>
                </a:solidFill>
              </a:rPr>
              <a:t>EDUCATION &amp; TRAINING PROFILE</a:t>
            </a:r>
            <a:endParaRPr lang="en-US" sz="1400" dirty="0"/>
          </a:p>
        </p:txBody>
      </p:sp>
      <p:sp>
        <p:nvSpPr>
          <p:cNvPr id="8" name="Text 5"/>
          <p:cNvSpPr txBox="1"/>
          <p:nvPr/>
        </p:nvSpPr>
        <p:spPr>
          <a:xfrm>
            <a:off x="502920" y="4681728"/>
            <a:ext cx="3611880" cy="1188720"/>
          </a:xfrm>
          <a:prstGeom prst="rect">
            <a:avLst/>
          </a:prstGeom>
          <a:noFill/>
          <a:ln/>
        </p:spPr>
        <p:txBody>
          <a:bodyPr wrap="square" lIns="0" tIns="0" rIns="0" bIns="0" rtlCol="0" anchor="t"/>
          <a:lstStyle/>
          <a:p>
            <a:pPr indent="0" marL="0">
              <a:lnSpc>
                <a:spcPct val="105000"/>
              </a:lnSpc>
              <a:buNone/>
            </a:pPr>
            <a:r>
              <a:rPr lang="en-US" sz="1400" dirty="0">
                <a:solidFill>
                  <a:schemeClr val="bg1"/>
                </a:solidFill>
              </a:rPr>
              <a:t>Các chương trình đào tạo, bồi dưỡng và cấp chứng chỉ của Viện STP – từ chứng chỉ nghiệp vụ, an toàn lao động đến ứng dụng AI và khảo thí tiếng Anh chuẩn Cambridge.</a:t>
            </a:r>
            <a:endParaRPr lang="en-US" sz="1400" dirty="0"/>
          </a:p>
        </p:txBody>
      </p:sp>
      <p:sp>
        <p:nvSpPr>
          <p:cNvPr id="9" name="Shape 6"/>
          <p:cNvSpPr/>
          <p:nvPr/>
        </p:nvSpPr>
        <p:spPr>
          <a:xfrm>
            <a:off x="502920" y="6053328"/>
            <a:ext cx="3611880" cy="457200"/>
          </a:xfrm>
          <a:prstGeom prst="roundRect">
            <a:avLst>
              <a:gd name="adj" fmla="val 20000"/>
            </a:avLst>
          </a:prstGeom>
          <a:solidFill>
            <a:schemeClr val="bg1"/>
          </a:solidFill>
          <a:ln/>
        </p:spPr>
      </p:sp>
      <p:sp>
        <p:nvSpPr>
          <p:cNvPr id="10" name="Shape 7"/>
          <p:cNvSpPr/>
          <p:nvPr/>
        </p:nvSpPr>
        <p:spPr>
          <a:xfrm>
            <a:off x="566928" y="6108192"/>
            <a:ext cx="347472" cy="347472"/>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650321" y="6191585"/>
            <a:ext cx="180685" cy="180685"/>
          </a:xfrm>
          <a:prstGeom prst="rect">
            <a:avLst/>
          </a:prstGeom>
        </p:spPr>
      </p:pic>
      <p:sp>
        <p:nvSpPr>
          <p:cNvPr id="12" name="Text 8"/>
          <p:cNvSpPr txBox="1"/>
          <p:nvPr/>
        </p:nvSpPr>
        <p:spPr>
          <a:xfrm>
            <a:off x="1024128" y="6053328"/>
            <a:ext cx="3017520" cy="457200"/>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CHỨNG CHỈ NGHIỆP VỤ NGẮN HẠN</a:t>
            </a:r>
            <a:endParaRPr lang="en-US" sz="1400" dirty="0"/>
          </a:p>
        </p:txBody>
      </p:sp>
      <p:sp>
        <p:nvSpPr>
          <p:cNvPr id="13" name="Shape 9"/>
          <p:cNvSpPr/>
          <p:nvPr/>
        </p:nvSpPr>
        <p:spPr>
          <a:xfrm>
            <a:off x="502920" y="6638544"/>
            <a:ext cx="3611880" cy="457200"/>
          </a:xfrm>
          <a:prstGeom prst="roundRect">
            <a:avLst>
              <a:gd name="adj" fmla="val 20000"/>
            </a:avLst>
          </a:prstGeom>
          <a:solidFill>
            <a:schemeClr val="bg1"/>
          </a:solidFill>
          <a:ln/>
        </p:spPr>
      </p:sp>
      <p:sp>
        <p:nvSpPr>
          <p:cNvPr id="14" name="Shape 10"/>
          <p:cNvSpPr/>
          <p:nvPr/>
        </p:nvSpPr>
        <p:spPr>
          <a:xfrm>
            <a:off x="566928" y="6693408"/>
            <a:ext cx="347472" cy="347472"/>
          </a:xfrm>
          <a:prstGeom prst="ellipse">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650321" y="6776801"/>
            <a:ext cx="180685" cy="180685"/>
          </a:xfrm>
          <a:prstGeom prst="rect">
            <a:avLst/>
          </a:prstGeom>
        </p:spPr>
      </p:pic>
      <p:sp>
        <p:nvSpPr>
          <p:cNvPr id="16" name="Text 11"/>
          <p:cNvSpPr txBox="1"/>
          <p:nvPr/>
        </p:nvSpPr>
        <p:spPr>
          <a:xfrm>
            <a:off x="1024128" y="6638544"/>
            <a:ext cx="3017520" cy="457200"/>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AN TOÀN LAO ĐỘNG &amp; SỐ HÓA</a:t>
            </a:r>
            <a:endParaRPr lang="en-US" sz="1400" dirty="0"/>
          </a:p>
        </p:txBody>
      </p:sp>
      <p:sp>
        <p:nvSpPr>
          <p:cNvPr id="17" name="Shape 12"/>
          <p:cNvSpPr/>
          <p:nvPr/>
        </p:nvSpPr>
        <p:spPr>
          <a:xfrm>
            <a:off x="502920" y="7223760"/>
            <a:ext cx="3611880" cy="457200"/>
          </a:xfrm>
          <a:prstGeom prst="roundRect">
            <a:avLst>
              <a:gd name="adj" fmla="val 20000"/>
            </a:avLst>
          </a:prstGeom>
          <a:solidFill>
            <a:schemeClr val="bg1"/>
          </a:solidFill>
          <a:ln/>
        </p:spPr>
      </p:sp>
      <p:sp>
        <p:nvSpPr>
          <p:cNvPr id="18" name="Shape 13"/>
          <p:cNvSpPr/>
          <p:nvPr/>
        </p:nvSpPr>
        <p:spPr>
          <a:xfrm>
            <a:off x="566928" y="7278624"/>
            <a:ext cx="347472" cy="347472"/>
          </a:xfrm>
          <a:prstGeom prst="ellipse">
            <a:avLst/>
          </a:prstGeom>
          <a:solidFill>
            <a:schemeClr val="tx2"/>
          </a:solidFill>
          <a:ln/>
        </p:spPr>
      </p:sp>
      <p:pic>
        <p:nvPicPr>
          <p:cNvPr id="19" name="Image 3" descr="preencoded.png">    </p:cNvPr>
          <p:cNvPicPr>
            <a:picLocks noChangeAspect="1"/>
          </p:cNvPicPr>
          <p:nvPr/>
        </p:nvPicPr>
        <p:blipFill>
          <a:blip r:embed="rId4"/>
          <a:stretch>
            <a:fillRect/>
          </a:stretch>
        </p:blipFill>
        <p:spPr>
          <a:xfrm>
            <a:off x="650321" y="7362017"/>
            <a:ext cx="180685" cy="180685"/>
          </a:xfrm>
          <a:prstGeom prst="rect">
            <a:avLst/>
          </a:prstGeom>
        </p:spPr>
      </p:pic>
      <p:sp>
        <p:nvSpPr>
          <p:cNvPr id="20" name="Text 14"/>
          <p:cNvSpPr txBox="1"/>
          <p:nvPr/>
        </p:nvSpPr>
        <p:spPr>
          <a:xfrm>
            <a:off x="1024128" y="7223760"/>
            <a:ext cx="3017520" cy="457200"/>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ĐÀO TẠO ỨNG DỤNG AI</a:t>
            </a:r>
            <a:endParaRPr lang="en-US" sz="1400" dirty="0"/>
          </a:p>
        </p:txBody>
      </p:sp>
      <p:sp>
        <p:nvSpPr>
          <p:cNvPr id="21" name="Shape 15"/>
          <p:cNvSpPr/>
          <p:nvPr/>
        </p:nvSpPr>
        <p:spPr>
          <a:xfrm>
            <a:off x="502920" y="7808976"/>
            <a:ext cx="3611880" cy="457200"/>
          </a:xfrm>
          <a:prstGeom prst="roundRect">
            <a:avLst>
              <a:gd name="adj" fmla="val 20000"/>
            </a:avLst>
          </a:prstGeom>
          <a:solidFill>
            <a:schemeClr val="bg1"/>
          </a:solidFill>
          <a:ln/>
        </p:spPr>
      </p:sp>
      <p:sp>
        <p:nvSpPr>
          <p:cNvPr id="22" name="Shape 16"/>
          <p:cNvSpPr/>
          <p:nvPr/>
        </p:nvSpPr>
        <p:spPr>
          <a:xfrm>
            <a:off x="566928" y="7863840"/>
            <a:ext cx="347472" cy="347472"/>
          </a:xfrm>
          <a:prstGeom prst="ellipse">
            <a:avLst/>
          </a:prstGeom>
          <a:solidFill>
            <a:schemeClr val="tx2"/>
          </a:solidFill>
          <a:ln/>
        </p:spPr>
      </p:sp>
      <p:pic>
        <p:nvPicPr>
          <p:cNvPr id="23" name="Image 4" descr="preencoded.png">    </p:cNvPr>
          <p:cNvPicPr>
            <a:picLocks noChangeAspect="1"/>
          </p:cNvPicPr>
          <p:nvPr/>
        </p:nvPicPr>
        <p:blipFill>
          <a:blip r:embed="rId5"/>
          <a:stretch>
            <a:fillRect/>
          </a:stretch>
        </p:blipFill>
        <p:spPr>
          <a:xfrm>
            <a:off x="650321" y="7947233"/>
            <a:ext cx="180685" cy="180685"/>
          </a:xfrm>
          <a:prstGeom prst="rect">
            <a:avLst/>
          </a:prstGeom>
        </p:spPr>
      </p:pic>
      <p:sp>
        <p:nvSpPr>
          <p:cNvPr id="24" name="Text 17"/>
          <p:cNvSpPr txBox="1"/>
          <p:nvPr/>
        </p:nvSpPr>
        <p:spPr>
          <a:xfrm>
            <a:off x="1024128" y="7808976"/>
            <a:ext cx="3017520" cy="457200"/>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TUYỂN SINH &amp; KHẢO THÍ CAMBRIDGE</a:t>
            </a:r>
            <a:endParaRPr lang="en-US" sz="1400" dirty="0"/>
          </a:p>
        </p:txBody>
      </p:sp>
      <p:sp>
        <p:nvSpPr>
          <p:cNvPr id="25" name="Shape 18"/>
          <p:cNvSpPr/>
          <p:nvPr/>
        </p:nvSpPr>
        <p:spPr>
          <a:xfrm>
            <a:off x="502920" y="8549640"/>
            <a:ext cx="5440680" cy="960120"/>
          </a:xfrm>
          <a:prstGeom prst="roundRect">
            <a:avLst>
              <a:gd name="adj" fmla="val 9524"/>
            </a:avLst>
          </a:prstGeom>
          <a:solidFill>
            <a:schemeClr val="bg1"/>
          </a:solidFill>
          <a:ln/>
        </p:spPr>
      </p:sp>
      <p:sp>
        <p:nvSpPr>
          <p:cNvPr id="26" name="Text 19"/>
          <p:cNvSpPr txBox="1"/>
          <p:nvPr/>
        </p:nvSpPr>
        <p:spPr>
          <a:xfrm>
            <a:off x="640080" y="8641080"/>
            <a:ext cx="5166360" cy="274320"/>
          </a:xfrm>
          <a:prstGeom prst="rect">
            <a:avLst/>
          </a:prstGeom>
          <a:noFill/>
          <a:ln/>
        </p:spPr>
        <p:txBody>
          <a:bodyPr wrap="square" lIns="0" tIns="0" rIns="0" bIns="0" rtlCol="0" anchor="t"/>
          <a:lstStyle/>
          <a:p>
            <a:pPr algn="ctr" indent="0" marL="0">
              <a:lnSpc>
                <a:spcPct val="105000"/>
              </a:lnSpc>
              <a:buNone/>
            </a:pPr>
            <a:r>
              <a:rPr lang="en-US" sz="1300" b="1" spc="100" kern="0" dirty="0">
                <a:solidFill>
                  <a:schemeClr val="tx2"/>
                </a:solidFill>
              </a:rPr>
              <a:t>EDUCATION  ·  CONSULTING  ·  TECHNOLOGY  ·  PARTNERSHIP</a:t>
            </a:r>
            <a:endParaRPr lang="en-US" sz="1300" dirty="0"/>
          </a:p>
        </p:txBody>
      </p:sp>
      <p:sp>
        <p:nvSpPr>
          <p:cNvPr id="27" name="Text 20"/>
          <p:cNvSpPr txBox="1"/>
          <p:nvPr/>
        </p:nvSpPr>
        <p:spPr>
          <a:xfrm>
            <a:off x="685800" y="8942832"/>
            <a:ext cx="5074920" cy="502920"/>
          </a:xfrm>
          <a:prstGeom prst="rect">
            <a:avLst/>
          </a:prstGeom>
          <a:noFill/>
          <a:ln/>
        </p:spPr>
        <p:txBody>
          <a:bodyPr wrap="square" lIns="0" tIns="0" rIns="0" bIns="0" rtlCol="0" anchor="t"/>
          <a:lstStyle/>
          <a:p>
            <a:pPr algn="ctr" indent="0" marL="0">
              <a:lnSpc>
                <a:spcPct val="105000"/>
              </a:lnSpc>
              <a:buNone/>
            </a:pPr>
            <a:r>
              <a:rPr lang="en-US" sz="1300" dirty="0">
                <a:solidFill>
                  <a:schemeClr val="tx1"/>
                </a:solidFill>
              </a:rPr>
              <a:t>Kết nối tri thức, nguồn lực và các chủ thể trong hệ sinh thái giáo dục – khoa học – dịch vụ chuyên môn</a:t>
            </a:r>
            <a:endParaRPr lang="en-US" sz="1300" dirty="0"/>
          </a:p>
        </p:txBody>
      </p:sp>
      <p:sp>
        <p:nvSpPr>
          <p:cNvPr id="28" name="Shape 21"/>
          <p:cNvSpPr/>
          <p:nvPr/>
        </p:nvSpPr>
        <p:spPr>
          <a:xfrm>
            <a:off x="6126480" y="8549640"/>
            <a:ext cx="960120" cy="960120"/>
          </a:xfrm>
          <a:prstGeom prst="roundRect">
            <a:avLst>
              <a:gd name="adj" fmla="val 7619"/>
            </a:avLst>
          </a:prstGeom>
          <a:solidFill>
            <a:schemeClr val="bg1"/>
          </a:solidFill>
          <a:ln/>
        </p:spPr>
      </p:sp>
      <p:pic>
        <p:nvPicPr>
          <p:cNvPr id="29" name="Image 5" descr="/home/user/ATL--DAKO/profile-daotao/assets/logo/qr_web.png">    </p:cNvPr>
          <p:cNvPicPr>
            <a:picLocks noChangeAspect="1"/>
          </p:cNvPicPr>
          <p:nvPr/>
        </p:nvPicPr>
        <p:blipFill>
          <a:blip r:embed="rId6"/>
          <a:stretch>
            <a:fillRect/>
          </a:stretch>
        </p:blipFill>
        <p:spPr>
          <a:xfrm>
            <a:off x="6172200" y="8595360"/>
            <a:ext cx="868680" cy="868680"/>
          </a:xfrm>
          <a:prstGeom prst="rect">
            <a:avLst/>
          </a:prstGeom>
        </p:spPr>
      </p:pic>
      <p:pic>
        <p:nvPicPr>
          <p:cNvPr id="30" name="Image 6" descr="preencoded.png">    </p:cNvPr>
          <p:cNvPicPr>
            <a:picLocks noChangeAspect="1"/>
          </p:cNvPicPr>
          <p:nvPr/>
        </p:nvPicPr>
        <p:blipFill>
          <a:blip r:embed="rId7"/>
          <a:stretch>
            <a:fillRect/>
          </a:stretch>
        </p:blipFill>
        <p:spPr>
          <a:xfrm>
            <a:off x="502920" y="9747504"/>
            <a:ext cx="201168" cy="201168"/>
          </a:xfrm>
          <a:prstGeom prst="rect">
            <a:avLst/>
          </a:prstGeom>
        </p:spPr>
      </p:pic>
      <p:sp>
        <p:nvSpPr>
          <p:cNvPr id="31" name="Text 22"/>
          <p:cNvSpPr txBox="1"/>
          <p:nvPr/>
        </p:nvSpPr>
        <p:spPr>
          <a:xfrm>
            <a:off x="777240" y="9692640"/>
            <a:ext cx="2377440" cy="310896"/>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0827.695.368 · 0968.702.701</a:t>
            </a:r>
            <a:endParaRPr lang="en-US" sz="1300" dirty="0"/>
          </a:p>
        </p:txBody>
      </p:sp>
      <p:pic>
        <p:nvPicPr>
          <p:cNvPr id="32" name="Image 7" descr="preencoded.png">    </p:cNvPr>
          <p:cNvPicPr>
            <a:picLocks noChangeAspect="1"/>
          </p:cNvPicPr>
          <p:nvPr/>
        </p:nvPicPr>
        <p:blipFill>
          <a:blip r:embed="rId8"/>
          <a:stretch>
            <a:fillRect/>
          </a:stretch>
        </p:blipFill>
        <p:spPr>
          <a:xfrm>
            <a:off x="3127248" y="9747504"/>
            <a:ext cx="201168" cy="201168"/>
          </a:xfrm>
          <a:prstGeom prst="rect">
            <a:avLst/>
          </a:prstGeom>
        </p:spPr>
      </p:pic>
      <p:sp>
        <p:nvSpPr>
          <p:cNvPr id="33" name="Text 23"/>
          <p:cNvSpPr txBox="1"/>
          <p:nvPr/>
        </p:nvSpPr>
        <p:spPr>
          <a:xfrm>
            <a:off x="3401568" y="9692640"/>
            <a:ext cx="2103120" cy="310896"/>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viencongnghestp@gmail.com</a:t>
            </a:r>
            <a:endParaRPr lang="en-US" sz="1300" dirty="0"/>
          </a:p>
        </p:txBody>
      </p:sp>
      <p:pic>
        <p:nvPicPr>
          <p:cNvPr id="34" name="Image 8" descr="preencoded.png">    </p:cNvPr>
          <p:cNvPicPr>
            <a:picLocks noChangeAspect="1"/>
          </p:cNvPicPr>
          <p:nvPr/>
        </p:nvPicPr>
        <p:blipFill>
          <a:blip r:embed="rId9"/>
          <a:stretch>
            <a:fillRect/>
          </a:stretch>
        </p:blipFill>
        <p:spPr>
          <a:xfrm>
            <a:off x="5596128" y="9747504"/>
            <a:ext cx="201168" cy="201168"/>
          </a:xfrm>
          <a:prstGeom prst="rect">
            <a:avLst/>
          </a:prstGeom>
        </p:spPr>
      </p:pic>
      <p:sp>
        <p:nvSpPr>
          <p:cNvPr id="35" name="Text 24"/>
          <p:cNvSpPr txBox="1"/>
          <p:nvPr/>
        </p:nvSpPr>
        <p:spPr>
          <a:xfrm>
            <a:off x="5870448" y="9692640"/>
            <a:ext cx="1463040" cy="310896"/>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www.vienstp.com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548640"/>
            <a:ext cx="5669280" cy="548640"/>
          </a:xfrm>
          <a:prstGeom prst="rect">
            <a:avLst/>
          </a:prstGeom>
          <a:noFill/>
          <a:ln/>
        </p:spPr>
        <p:txBody>
          <a:bodyPr wrap="square" lIns="0" tIns="0" rIns="0" bIns="0" rtlCol="0" anchor="ctr"/>
          <a:lstStyle/>
          <a:p>
            <a:pPr algn="l" indent="0" marL="0">
              <a:buNone/>
            </a:pPr>
            <a:r>
              <a:rPr lang="en-US" sz="2800" b="1" dirty="0">
                <a:solidFill>
                  <a:schemeClr val="bg1"/>
                </a:solidFill>
              </a:rPr>
              <a:t>LỜI MỞ ĐẦU</a:t>
            </a:r>
            <a:endParaRPr lang="en-US" sz="2800" dirty="0"/>
          </a:p>
        </p:txBody>
      </p:sp>
      <p:sp>
        <p:nvSpPr>
          <p:cNvPr id="3" name="Text 1"/>
          <p:cNvSpPr txBox="1"/>
          <p:nvPr/>
        </p:nvSpPr>
        <p:spPr>
          <a:xfrm>
            <a:off x="548640" y="1298448"/>
            <a:ext cx="6464808" cy="2971800"/>
          </a:xfrm>
          <a:prstGeom prst="rect">
            <a:avLst/>
          </a:prstGeom>
          <a:noFill/>
          <a:ln/>
        </p:spPr>
        <p:txBody>
          <a:bodyPr wrap="square" lIns="0" tIns="0" rIns="0" bIns="0" rtlCol="0" anchor="t"/>
          <a:lstStyle/>
          <a:p>
            <a:pPr indent="0" marL="0">
              <a:lnSpc>
                <a:spcPct val="108000"/>
              </a:lnSpc>
              <a:spcAft>
                <a:spcPts val="800"/>
              </a:spcAft>
              <a:buNone/>
            </a:pPr>
            <a:r>
              <a:rPr lang="en-US" sz="1500" dirty="0">
                <a:solidFill>
                  <a:schemeClr val="bg1"/>
                </a:solidFill>
              </a:rPr>
              <a:t>Trong kỷ nguyên số, </a:t>
            </a:r>
            <a:pPr indent="0" marL="0">
              <a:lnSpc>
                <a:spcPct val="108000"/>
              </a:lnSpc>
              <a:spcAft>
                <a:spcPts val="800"/>
              </a:spcAft>
              <a:buNone/>
            </a:pPr>
            <a:r>
              <a:rPr lang="en-US" sz="1500" b="1" dirty="0">
                <a:solidFill>
                  <a:schemeClr val="accent2"/>
                </a:solidFill>
              </a:rPr>
              <a:t>chất lượng nguồn nhân lực</a:t>
            </a:r>
            <a:pPr indent="0" marL="0">
              <a:lnSpc>
                <a:spcPct val="108000"/>
              </a:lnSpc>
              <a:spcAft>
                <a:spcPts val="800"/>
              </a:spcAft>
              <a:buNone/>
            </a:pPr>
            <a:r>
              <a:rPr lang="en-US" sz="1500" dirty="0">
                <a:solidFill>
                  <a:schemeClr val="bg1"/>
                </a:solidFill>
              </a:rPr>
              <a:t> là chìa khóa then chốt giúp cơ quan, doanh nghiệp nâng cao hiệu quả vận hành và năng lực cạnh tranh.</a:t>
            </a:r>
            <a:endParaRPr lang="en-US" sz="1500" dirty="0"/>
          </a:p>
          <a:p>
            <a:pPr indent="0" marL="0">
              <a:lnSpc>
                <a:spcPct val="108000"/>
              </a:lnSpc>
              <a:spcAft>
                <a:spcPts val="800"/>
              </a:spcAft>
              <a:buNone/>
            </a:pPr>
            <a:r>
              <a:rPr lang="en-US" sz="1500" b="1" dirty="0">
                <a:solidFill>
                  <a:schemeClr val="bg1"/>
                </a:solidFill>
              </a:rPr>
              <a:t>Viện Nghiên cứu Phát triển Giáo dục và Nghề nghiệp STP</a:t>
            </a:r>
            <a:pPr indent="0" marL="0">
              <a:lnSpc>
                <a:spcPct val="108000"/>
              </a:lnSpc>
              <a:spcAft>
                <a:spcPts val="800"/>
              </a:spcAft>
              <a:buNone/>
            </a:pPr>
            <a:r>
              <a:rPr lang="en-US" sz="1500" dirty="0">
                <a:solidFill>
                  <a:schemeClr val="bg1"/>
                </a:solidFill>
              </a:rPr>
              <a:t> – tổ chức khoa học và công nghệ trực thuộc VUSTA – là đối tác đồng hành tin cậy với hệ sinh thái đào tạo toàn diện: bồi dưỡng và cấp chứng chỉ nghiệp vụ ngắn hạn; huấn luyện an toàn, vệ sinh lao động gắn với số hóa quản lý; đào tạo ứng dụng AI theo nghiệp vụ từng cơ quan, đơn vị; tuyển sinh và khảo thí tiếng Anh chuẩn Cambridge.</a:t>
            </a:r>
            <a:endParaRPr lang="en-US" sz="1500" dirty="0"/>
          </a:p>
          <a:p>
            <a:pPr indent="0" marL="0">
              <a:lnSpc>
                <a:spcPct val="108000"/>
              </a:lnSpc>
              <a:spcAft>
                <a:spcPts val="800"/>
              </a:spcAft>
              <a:buNone/>
            </a:pPr>
            <a:r>
              <a:rPr lang="en-US" sz="1500" dirty="0">
                <a:solidFill>
                  <a:schemeClr val="bg1"/>
                </a:solidFill>
              </a:rPr>
              <a:t>Chúng tôi đồng hành từ khảo sát nhu cầu, xây dựng lộ trình đến ứng dụng thực tiễn – </a:t>
            </a:r>
            <a:pPr indent="0" marL="0">
              <a:lnSpc>
                <a:spcPct val="108000"/>
              </a:lnSpc>
              <a:spcAft>
                <a:spcPts val="800"/>
              </a:spcAft>
              <a:buNone/>
            </a:pPr>
            <a:r>
              <a:rPr lang="en-US" sz="1500" b="1" dirty="0">
                <a:solidFill>
                  <a:schemeClr val="accent2"/>
                </a:solidFill>
              </a:rPr>
              <a:t>học đến đâu, làm được đến đó.</a:t>
            </a:r>
            <a:endParaRPr lang="en-US" sz="1500" dirty="0"/>
          </a:p>
        </p:txBody>
      </p:sp>
      <p:sp>
        <p:nvSpPr>
          <p:cNvPr id="4" name="Shape 2"/>
          <p:cNvSpPr/>
          <p:nvPr/>
        </p:nvSpPr>
        <p:spPr>
          <a:xfrm>
            <a:off x="548640" y="4206240"/>
            <a:ext cx="1506474" cy="1691640"/>
          </a:xfrm>
          <a:prstGeom prst="roundRect">
            <a:avLst>
              <a:gd name="adj" fmla="val 7284"/>
            </a:avLst>
          </a:prstGeom>
          <a:solidFill>
            <a:schemeClr val="bg1">
              <a:alpha val="10000"/>
            </a:schemeClr>
          </a:solidFill>
          <a:ln w="9525">
            <a:solidFill>
              <a:schemeClr val="accent2"/>
            </a:solidFill>
            <a:prstDash val="solid"/>
          </a:ln>
        </p:spPr>
      </p:sp>
      <p:sp>
        <p:nvSpPr>
          <p:cNvPr id="5" name="Text 3"/>
          <p:cNvSpPr txBox="1"/>
          <p:nvPr/>
        </p:nvSpPr>
        <p:spPr>
          <a:xfrm>
            <a:off x="685800" y="4325112"/>
            <a:ext cx="1232154" cy="502920"/>
          </a:xfrm>
          <a:prstGeom prst="rect">
            <a:avLst/>
          </a:prstGeom>
          <a:noFill/>
          <a:ln/>
        </p:spPr>
        <p:txBody>
          <a:bodyPr wrap="square" lIns="0" tIns="0" rIns="0" bIns="0" rtlCol="0" anchor="ctr"/>
          <a:lstStyle/>
          <a:p>
            <a:pPr indent="0" marL="0">
              <a:lnSpc>
                <a:spcPct val="105000"/>
              </a:lnSpc>
              <a:buNone/>
            </a:pPr>
            <a:r>
              <a:rPr lang="en-US" sz="3200" b="1" dirty="0">
                <a:solidFill>
                  <a:schemeClr val="accent2"/>
                </a:solidFill>
              </a:rPr>
              <a:t>2020</a:t>
            </a:r>
            <a:endParaRPr lang="en-US" sz="3200" dirty="0"/>
          </a:p>
        </p:txBody>
      </p:sp>
      <p:sp>
        <p:nvSpPr>
          <p:cNvPr id="6" name="Text 4"/>
          <p:cNvSpPr txBox="1"/>
          <p:nvPr/>
        </p:nvSpPr>
        <p:spPr>
          <a:xfrm>
            <a:off x="685800" y="4873752"/>
            <a:ext cx="1277874" cy="960120"/>
          </a:xfrm>
          <a:prstGeom prst="rect">
            <a:avLst/>
          </a:prstGeom>
          <a:noFill/>
          <a:ln/>
        </p:spPr>
        <p:txBody>
          <a:bodyPr wrap="square" lIns="0" tIns="0" rIns="0" bIns="0" rtlCol="0" anchor="t"/>
          <a:lstStyle/>
          <a:p>
            <a:pPr indent="0" marL="0">
              <a:lnSpc>
                <a:spcPct val="105000"/>
              </a:lnSpc>
              <a:buNone/>
            </a:pPr>
            <a:r>
              <a:rPr lang="en-US" sz="1400" dirty="0">
                <a:solidFill>
                  <a:schemeClr val="bg1"/>
                </a:solidFill>
              </a:rPr>
              <a:t>Năm được cấp Giấy chứng nhận hoạt động KH&amp;CN</a:t>
            </a:r>
            <a:endParaRPr lang="en-US" sz="1400" dirty="0"/>
          </a:p>
        </p:txBody>
      </p:sp>
      <p:sp>
        <p:nvSpPr>
          <p:cNvPr id="7" name="Shape 5"/>
          <p:cNvSpPr/>
          <p:nvPr/>
        </p:nvSpPr>
        <p:spPr>
          <a:xfrm>
            <a:off x="2201418" y="4206240"/>
            <a:ext cx="1506474" cy="1691640"/>
          </a:xfrm>
          <a:prstGeom prst="roundRect">
            <a:avLst>
              <a:gd name="adj" fmla="val 7284"/>
            </a:avLst>
          </a:prstGeom>
          <a:solidFill>
            <a:schemeClr val="bg1">
              <a:alpha val="10000"/>
            </a:schemeClr>
          </a:solidFill>
          <a:ln w="9525">
            <a:solidFill>
              <a:schemeClr val="accent2"/>
            </a:solidFill>
            <a:prstDash val="solid"/>
          </a:ln>
        </p:spPr>
      </p:sp>
      <p:sp>
        <p:nvSpPr>
          <p:cNvPr id="8" name="Text 6"/>
          <p:cNvSpPr txBox="1"/>
          <p:nvPr/>
        </p:nvSpPr>
        <p:spPr>
          <a:xfrm>
            <a:off x="2338578" y="4325112"/>
            <a:ext cx="1232154" cy="502920"/>
          </a:xfrm>
          <a:prstGeom prst="rect">
            <a:avLst/>
          </a:prstGeom>
          <a:noFill/>
          <a:ln/>
        </p:spPr>
        <p:txBody>
          <a:bodyPr wrap="square" lIns="0" tIns="0" rIns="0" bIns="0" rtlCol="0" anchor="ctr"/>
          <a:lstStyle/>
          <a:p>
            <a:pPr indent="0" marL="0">
              <a:lnSpc>
                <a:spcPct val="105000"/>
              </a:lnSpc>
              <a:buNone/>
            </a:pPr>
            <a:r>
              <a:rPr lang="en-US" sz="2600" b="1" dirty="0">
                <a:solidFill>
                  <a:schemeClr val="accent2"/>
                </a:solidFill>
              </a:rPr>
              <a:t>VUSTA</a:t>
            </a:r>
            <a:endParaRPr lang="en-US" sz="2600" dirty="0"/>
          </a:p>
        </p:txBody>
      </p:sp>
      <p:sp>
        <p:nvSpPr>
          <p:cNvPr id="9" name="Text 7"/>
          <p:cNvSpPr txBox="1"/>
          <p:nvPr/>
        </p:nvSpPr>
        <p:spPr>
          <a:xfrm>
            <a:off x="2338578" y="4873752"/>
            <a:ext cx="1277874" cy="960120"/>
          </a:xfrm>
          <a:prstGeom prst="rect">
            <a:avLst/>
          </a:prstGeom>
          <a:noFill/>
          <a:ln/>
        </p:spPr>
        <p:txBody>
          <a:bodyPr wrap="square" lIns="0" tIns="0" rIns="0" bIns="0" rtlCol="0" anchor="t"/>
          <a:lstStyle/>
          <a:p>
            <a:pPr indent="0" marL="0">
              <a:lnSpc>
                <a:spcPct val="105000"/>
              </a:lnSpc>
              <a:buNone/>
            </a:pPr>
            <a:r>
              <a:rPr lang="en-US" sz="1400" dirty="0">
                <a:solidFill>
                  <a:schemeClr val="bg1"/>
                </a:solidFill>
              </a:rPr>
              <a:t>Tổ chức KH&amp;CN trực thuộc Liên hiệp các Hội KH&amp;KT Việt Nam</a:t>
            </a:r>
            <a:endParaRPr lang="en-US" sz="1400" dirty="0"/>
          </a:p>
        </p:txBody>
      </p:sp>
      <p:sp>
        <p:nvSpPr>
          <p:cNvPr id="10" name="Shape 8"/>
          <p:cNvSpPr/>
          <p:nvPr/>
        </p:nvSpPr>
        <p:spPr>
          <a:xfrm>
            <a:off x="3854196" y="4206240"/>
            <a:ext cx="1506474" cy="1691640"/>
          </a:xfrm>
          <a:prstGeom prst="roundRect">
            <a:avLst>
              <a:gd name="adj" fmla="val 7284"/>
            </a:avLst>
          </a:prstGeom>
          <a:solidFill>
            <a:schemeClr val="bg1">
              <a:alpha val="10000"/>
            </a:schemeClr>
          </a:solidFill>
          <a:ln w="9525">
            <a:solidFill>
              <a:schemeClr val="accent2"/>
            </a:solidFill>
            <a:prstDash val="solid"/>
          </a:ln>
        </p:spPr>
      </p:sp>
      <p:sp>
        <p:nvSpPr>
          <p:cNvPr id="11" name="Text 9"/>
          <p:cNvSpPr txBox="1"/>
          <p:nvPr/>
        </p:nvSpPr>
        <p:spPr>
          <a:xfrm>
            <a:off x="3991356" y="4325112"/>
            <a:ext cx="1232154" cy="502920"/>
          </a:xfrm>
          <a:prstGeom prst="rect">
            <a:avLst/>
          </a:prstGeom>
          <a:noFill/>
          <a:ln/>
        </p:spPr>
        <p:txBody>
          <a:bodyPr wrap="square" lIns="0" tIns="0" rIns="0" bIns="0" rtlCol="0" anchor="ctr"/>
          <a:lstStyle/>
          <a:p>
            <a:pPr indent="0" marL="0">
              <a:lnSpc>
                <a:spcPct val="105000"/>
              </a:lnSpc>
              <a:buNone/>
            </a:pPr>
            <a:r>
              <a:rPr lang="en-US" sz="3200" b="1" dirty="0">
                <a:solidFill>
                  <a:schemeClr val="accent2"/>
                </a:solidFill>
              </a:rPr>
              <a:t>03</a:t>
            </a:r>
            <a:endParaRPr lang="en-US" sz="3200" dirty="0"/>
          </a:p>
        </p:txBody>
      </p:sp>
      <p:sp>
        <p:nvSpPr>
          <p:cNvPr id="12" name="Text 10"/>
          <p:cNvSpPr txBox="1"/>
          <p:nvPr/>
        </p:nvSpPr>
        <p:spPr>
          <a:xfrm>
            <a:off x="3991356" y="4873752"/>
            <a:ext cx="1277874" cy="960120"/>
          </a:xfrm>
          <a:prstGeom prst="rect">
            <a:avLst/>
          </a:prstGeom>
          <a:noFill/>
          <a:ln/>
        </p:spPr>
        <p:txBody>
          <a:bodyPr wrap="square" lIns="0" tIns="0" rIns="0" bIns="0" rtlCol="0" anchor="t"/>
          <a:lstStyle/>
          <a:p>
            <a:pPr indent="0" marL="0">
              <a:lnSpc>
                <a:spcPct val="105000"/>
              </a:lnSpc>
              <a:buNone/>
            </a:pPr>
            <a:r>
              <a:rPr lang="en-US" sz="1400" dirty="0">
                <a:solidFill>
                  <a:schemeClr val="bg1"/>
                </a:solidFill>
              </a:rPr>
              <a:t>Văn phòng: Hà Nội · Nha Trang · TP. Hồ Chí Minh</a:t>
            </a:r>
            <a:endParaRPr lang="en-US" sz="1400" dirty="0"/>
          </a:p>
        </p:txBody>
      </p:sp>
      <p:sp>
        <p:nvSpPr>
          <p:cNvPr id="13" name="Shape 11"/>
          <p:cNvSpPr/>
          <p:nvPr/>
        </p:nvSpPr>
        <p:spPr>
          <a:xfrm>
            <a:off x="5506974" y="4206240"/>
            <a:ext cx="1506474" cy="1691640"/>
          </a:xfrm>
          <a:prstGeom prst="roundRect">
            <a:avLst>
              <a:gd name="adj" fmla="val 7284"/>
            </a:avLst>
          </a:prstGeom>
          <a:solidFill>
            <a:schemeClr val="bg1">
              <a:alpha val="10000"/>
            </a:schemeClr>
          </a:solidFill>
          <a:ln w="9525">
            <a:solidFill>
              <a:schemeClr val="accent2"/>
            </a:solidFill>
            <a:prstDash val="solid"/>
          </a:ln>
        </p:spPr>
      </p:sp>
      <p:sp>
        <p:nvSpPr>
          <p:cNvPr id="14" name="Text 12"/>
          <p:cNvSpPr txBox="1"/>
          <p:nvPr/>
        </p:nvSpPr>
        <p:spPr>
          <a:xfrm>
            <a:off x="5644134" y="4325112"/>
            <a:ext cx="1232154" cy="502920"/>
          </a:xfrm>
          <a:prstGeom prst="rect">
            <a:avLst/>
          </a:prstGeom>
          <a:noFill/>
          <a:ln/>
        </p:spPr>
        <p:txBody>
          <a:bodyPr wrap="square" lIns="0" tIns="0" rIns="0" bIns="0" rtlCol="0" anchor="ctr"/>
          <a:lstStyle/>
          <a:p>
            <a:pPr indent="0" marL="0">
              <a:lnSpc>
                <a:spcPct val="105000"/>
              </a:lnSpc>
              <a:buNone/>
            </a:pPr>
            <a:r>
              <a:rPr lang="en-US" sz="3200" b="1" dirty="0">
                <a:solidFill>
                  <a:schemeClr val="accent2"/>
                </a:solidFill>
              </a:rPr>
              <a:t>250</a:t>
            </a:r>
            <a:endParaRPr lang="en-US" sz="3200" dirty="0"/>
          </a:p>
        </p:txBody>
      </p:sp>
      <p:sp>
        <p:nvSpPr>
          <p:cNvPr id="15" name="Text 13"/>
          <p:cNvSpPr txBox="1"/>
          <p:nvPr/>
        </p:nvSpPr>
        <p:spPr>
          <a:xfrm>
            <a:off x="5644134" y="4873752"/>
            <a:ext cx="1277874" cy="960120"/>
          </a:xfrm>
          <a:prstGeom prst="rect">
            <a:avLst/>
          </a:prstGeom>
          <a:noFill/>
          <a:ln/>
        </p:spPr>
        <p:txBody>
          <a:bodyPr wrap="square" lIns="0" tIns="0" rIns="0" bIns="0" rtlCol="0" anchor="t"/>
          <a:lstStyle/>
          <a:p>
            <a:pPr indent="0" marL="0">
              <a:lnSpc>
                <a:spcPct val="105000"/>
              </a:lnSpc>
              <a:buNone/>
            </a:pPr>
            <a:r>
              <a:rPr lang="en-US" sz="1400" dirty="0">
                <a:solidFill>
                  <a:schemeClr val="bg1"/>
                </a:solidFill>
              </a:rPr>
              <a:t>Thí sinh/ca tại phòng thi máy tính</a:t>
            </a:r>
            <a:endParaRPr lang="en-US" sz="1400" dirty="0"/>
          </a:p>
        </p:txBody>
      </p:sp>
      <p:sp>
        <p:nvSpPr>
          <p:cNvPr id="16" name="Text 14"/>
          <p:cNvSpPr txBox="1"/>
          <p:nvPr/>
        </p:nvSpPr>
        <p:spPr>
          <a:xfrm>
            <a:off x="548640" y="6144768"/>
            <a:ext cx="3657600" cy="365760"/>
          </a:xfrm>
          <a:prstGeom prst="rect">
            <a:avLst/>
          </a:prstGeom>
          <a:noFill/>
          <a:ln/>
        </p:spPr>
        <p:txBody>
          <a:bodyPr wrap="square" lIns="0" tIns="0" rIns="0" bIns="0" rtlCol="0" anchor="t"/>
          <a:lstStyle/>
          <a:p>
            <a:pPr indent="0" marL="0">
              <a:lnSpc>
                <a:spcPct val="105000"/>
              </a:lnSpc>
              <a:buNone/>
            </a:pPr>
            <a:r>
              <a:rPr lang="en-US" sz="1800" b="1" spc="300" kern="0" dirty="0">
                <a:solidFill>
                  <a:schemeClr val="accent2"/>
                </a:solidFill>
              </a:rPr>
              <a:t>NỘI DUNG</a:t>
            </a:r>
            <a:endParaRPr lang="en-US" sz="1800" dirty="0"/>
          </a:p>
        </p:txBody>
      </p:sp>
      <p:sp>
        <p:nvSpPr>
          <p:cNvPr id="17" name="Shape 15"/>
          <p:cNvSpPr/>
          <p:nvPr/>
        </p:nvSpPr>
        <p:spPr>
          <a:xfrm>
            <a:off x="548640" y="7123176"/>
            <a:ext cx="6464808" cy="0"/>
          </a:xfrm>
          <a:prstGeom prst="line">
            <a:avLst/>
          </a:prstGeom>
          <a:noFill/>
          <a:ln w="6350">
            <a:solidFill>
              <a:schemeClr val="bg1">
                <a:alpha val="30000"/>
              </a:schemeClr>
            </a:solidFill>
            <a:prstDash val="solid"/>
          </a:ln>
        </p:spPr>
      </p:sp>
      <p:sp>
        <p:nvSpPr>
          <p:cNvPr id="18" name="Text 16"/>
          <p:cNvSpPr txBox="1"/>
          <p:nvPr/>
        </p:nvSpPr>
        <p:spPr>
          <a:xfrm>
            <a:off x="548640" y="6601968"/>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01</a:t>
            </a:r>
            <a:endParaRPr lang="en-US" sz="2400" dirty="0"/>
          </a:p>
        </p:txBody>
      </p:sp>
      <p:sp>
        <p:nvSpPr>
          <p:cNvPr id="19" name="Text 17"/>
          <p:cNvSpPr txBox="1"/>
          <p:nvPr/>
        </p:nvSpPr>
        <p:spPr>
          <a:xfrm>
            <a:off x="1234440" y="6620256"/>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GIỚI THIỆU VIỆN STP</a:t>
            </a:r>
            <a:endParaRPr lang="en-US" sz="1500" dirty="0"/>
          </a:p>
        </p:txBody>
      </p:sp>
      <p:sp>
        <p:nvSpPr>
          <p:cNvPr id="20" name="Text 18"/>
          <p:cNvSpPr txBox="1"/>
          <p:nvPr/>
        </p:nvSpPr>
        <p:spPr>
          <a:xfrm>
            <a:off x="1234440" y="6858000"/>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VUSTA, Viện STP, pháp lý và lĩnh vực trọng tâm</a:t>
            </a:r>
            <a:endParaRPr lang="en-US" sz="1400" dirty="0"/>
          </a:p>
        </p:txBody>
      </p:sp>
      <p:sp>
        <p:nvSpPr>
          <p:cNvPr id="21" name="Text 19"/>
          <p:cNvSpPr txBox="1"/>
          <p:nvPr/>
        </p:nvSpPr>
        <p:spPr>
          <a:xfrm>
            <a:off x="6035040" y="6601968"/>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03</a:t>
            </a:r>
            <a:endParaRPr lang="en-US" sz="1400" dirty="0"/>
          </a:p>
        </p:txBody>
      </p:sp>
      <p:sp>
        <p:nvSpPr>
          <p:cNvPr id="22" name="Shape 20"/>
          <p:cNvSpPr/>
          <p:nvPr/>
        </p:nvSpPr>
        <p:spPr>
          <a:xfrm>
            <a:off x="548640" y="7690104"/>
            <a:ext cx="6464808" cy="0"/>
          </a:xfrm>
          <a:prstGeom prst="line">
            <a:avLst/>
          </a:prstGeom>
          <a:noFill/>
          <a:ln w="6350">
            <a:solidFill>
              <a:schemeClr val="bg1">
                <a:alpha val="30000"/>
              </a:schemeClr>
            </a:solidFill>
            <a:prstDash val="solid"/>
          </a:ln>
        </p:spPr>
      </p:sp>
      <p:sp>
        <p:nvSpPr>
          <p:cNvPr id="23" name="Text 21"/>
          <p:cNvSpPr txBox="1"/>
          <p:nvPr/>
        </p:nvSpPr>
        <p:spPr>
          <a:xfrm>
            <a:off x="548640" y="7168896"/>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02</a:t>
            </a:r>
            <a:endParaRPr lang="en-US" sz="2400" dirty="0"/>
          </a:p>
        </p:txBody>
      </p:sp>
      <p:sp>
        <p:nvSpPr>
          <p:cNvPr id="24" name="Text 22"/>
          <p:cNvSpPr txBox="1"/>
          <p:nvPr/>
        </p:nvSpPr>
        <p:spPr>
          <a:xfrm>
            <a:off x="1234440" y="7187184"/>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CHỨNG CHỈ NGHIỆP VỤ NGẮN HẠN</a:t>
            </a:r>
            <a:endParaRPr lang="en-US" sz="1500" dirty="0"/>
          </a:p>
        </p:txBody>
      </p:sp>
      <p:sp>
        <p:nvSpPr>
          <p:cNvPr id="25" name="Text 23"/>
          <p:cNvSpPr txBox="1"/>
          <p:nvPr/>
        </p:nvSpPr>
        <p:spPr>
          <a:xfrm>
            <a:off x="1234440" y="7424928"/>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Đường thủy nội địa, Xây dựng và các chứng chỉ khác</a:t>
            </a:r>
            <a:endParaRPr lang="en-US" sz="1400" dirty="0"/>
          </a:p>
        </p:txBody>
      </p:sp>
      <p:sp>
        <p:nvSpPr>
          <p:cNvPr id="26" name="Text 24"/>
          <p:cNvSpPr txBox="1"/>
          <p:nvPr/>
        </p:nvSpPr>
        <p:spPr>
          <a:xfrm>
            <a:off x="6035040" y="7168896"/>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05</a:t>
            </a:r>
            <a:endParaRPr lang="en-US" sz="1400" dirty="0"/>
          </a:p>
        </p:txBody>
      </p:sp>
      <p:sp>
        <p:nvSpPr>
          <p:cNvPr id="27" name="Shape 25"/>
          <p:cNvSpPr/>
          <p:nvPr/>
        </p:nvSpPr>
        <p:spPr>
          <a:xfrm>
            <a:off x="548640" y="8257032"/>
            <a:ext cx="6464808" cy="0"/>
          </a:xfrm>
          <a:prstGeom prst="line">
            <a:avLst/>
          </a:prstGeom>
          <a:noFill/>
          <a:ln w="6350">
            <a:solidFill>
              <a:schemeClr val="bg1">
                <a:alpha val="30000"/>
              </a:schemeClr>
            </a:solidFill>
            <a:prstDash val="solid"/>
          </a:ln>
        </p:spPr>
      </p:sp>
      <p:sp>
        <p:nvSpPr>
          <p:cNvPr id="28" name="Text 26"/>
          <p:cNvSpPr txBox="1"/>
          <p:nvPr/>
        </p:nvSpPr>
        <p:spPr>
          <a:xfrm>
            <a:off x="548640" y="7735824"/>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03</a:t>
            </a:r>
            <a:endParaRPr lang="en-US" sz="2400" dirty="0"/>
          </a:p>
        </p:txBody>
      </p:sp>
      <p:sp>
        <p:nvSpPr>
          <p:cNvPr id="29" name="Text 27"/>
          <p:cNvSpPr txBox="1"/>
          <p:nvPr/>
        </p:nvSpPr>
        <p:spPr>
          <a:xfrm>
            <a:off x="1234440" y="7754112"/>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AN TOÀN, VỆ SINH LAO ĐỘNG</a:t>
            </a:r>
            <a:endParaRPr lang="en-US" sz="1500" dirty="0"/>
          </a:p>
        </p:txBody>
      </p:sp>
      <p:sp>
        <p:nvSpPr>
          <p:cNvPr id="30" name="Text 28"/>
          <p:cNvSpPr txBox="1"/>
          <p:nvPr/>
        </p:nvSpPr>
        <p:spPr>
          <a:xfrm>
            <a:off x="1234440" y="7991856"/>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6 nhóm huấn luyện và số hóa quản lý qua phần mềm</a:t>
            </a:r>
            <a:endParaRPr lang="en-US" sz="1400" dirty="0"/>
          </a:p>
        </p:txBody>
      </p:sp>
      <p:sp>
        <p:nvSpPr>
          <p:cNvPr id="31" name="Text 29"/>
          <p:cNvSpPr txBox="1"/>
          <p:nvPr/>
        </p:nvSpPr>
        <p:spPr>
          <a:xfrm>
            <a:off x="6035040" y="7735824"/>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07</a:t>
            </a:r>
            <a:endParaRPr lang="en-US" sz="1400" dirty="0"/>
          </a:p>
        </p:txBody>
      </p:sp>
      <p:sp>
        <p:nvSpPr>
          <p:cNvPr id="32" name="Shape 30"/>
          <p:cNvSpPr/>
          <p:nvPr/>
        </p:nvSpPr>
        <p:spPr>
          <a:xfrm>
            <a:off x="548640" y="8823960"/>
            <a:ext cx="6464808" cy="0"/>
          </a:xfrm>
          <a:prstGeom prst="line">
            <a:avLst/>
          </a:prstGeom>
          <a:noFill/>
          <a:ln w="6350">
            <a:solidFill>
              <a:schemeClr val="bg1">
                <a:alpha val="30000"/>
              </a:schemeClr>
            </a:solidFill>
            <a:prstDash val="solid"/>
          </a:ln>
        </p:spPr>
      </p:sp>
      <p:sp>
        <p:nvSpPr>
          <p:cNvPr id="33" name="Text 31"/>
          <p:cNvSpPr txBox="1"/>
          <p:nvPr/>
        </p:nvSpPr>
        <p:spPr>
          <a:xfrm>
            <a:off x="548640" y="8302752"/>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04</a:t>
            </a:r>
            <a:endParaRPr lang="en-US" sz="2400" dirty="0"/>
          </a:p>
        </p:txBody>
      </p:sp>
      <p:sp>
        <p:nvSpPr>
          <p:cNvPr id="34" name="Text 32"/>
          <p:cNvSpPr txBox="1"/>
          <p:nvPr/>
        </p:nvSpPr>
        <p:spPr>
          <a:xfrm>
            <a:off x="1234440" y="8321040"/>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ĐÀO TẠO ỨNG DỤNG AI</a:t>
            </a:r>
            <a:endParaRPr lang="en-US" sz="1500" dirty="0"/>
          </a:p>
        </p:txBody>
      </p:sp>
      <p:sp>
        <p:nvSpPr>
          <p:cNvPr id="35" name="Text 33"/>
          <p:cNvSpPr txBox="1"/>
          <p:nvPr/>
        </p:nvSpPr>
        <p:spPr>
          <a:xfrm>
            <a:off x="1234440" y="8558784"/>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Thiết kế riêng theo nghiệp vụ từng cơ quan, đơn vị</a:t>
            </a:r>
            <a:endParaRPr lang="en-US" sz="1400" dirty="0"/>
          </a:p>
        </p:txBody>
      </p:sp>
      <p:sp>
        <p:nvSpPr>
          <p:cNvPr id="36" name="Text 34"/>
          <p:cNvSpPr txBox="1"/>
          <p:nvPr/>
        </p:nvSpPr>
        <p:spPr>
          <a:xfrm>
            <a:off x="6035040" y="8302752"/>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11</a:t>
            </a:r>
            <a:endParaRPr lang="en-US" sz="1400" dirty="0"/>
          </a:p>
        </p:txBody>
      </p:sp>
      <p:sp>
        <p:nvSpPr>
          <p:cNvPr id="37" name="Shape 35"/>
          <p:cNvSpPr/>
          <p:nvPr/>
        </p:nvSpPr>
        <p:spPr>
          <a:xfrm>
            <a:off x="548640" y="9390888"/>
            <a:ext cx="6464808" cy="0"/>
          </a:xfrm>
          <a:prstGeom prst="line">
            <a:avLst/>
          </a:prstGeom>
          <a:noFill/>
          <a:ln w="6350">
            <a:solidFill>
              <a:schemeClr val="bg1">
                <a:alpha val="30000"/>
              </a:schemeClr>
            </a:solidFill>
            <a:prstDash val="solid"/>
          </a:ln>
        </p:spPr>
      </p:sp>
      <p:sp>
        <p:nvSpPr>
          <p:cNvPr id="38" name="Text 36"/>
          <p:cNvSpPr txBox="1"/>
          <p:nvPr/>
        </p:nvSpPr>
        <p:spPr>
          <a:xfrm>
            <a:off x="548640" y="8869680"/>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05</a:t>
            </a:r>
            <a:endParaRPr lang="en-US" sz="2400" dirty="0"/>
          </a:p>
        </p:txBody>
      </p:sp>
      <p:sp>
        <p:nvSpPr>
          <p:cNvPr id="39" name="Text 37"/>
          <p:cNvSpPr txBox="1"/>
          <p:nvPr/>
        </p:nvSpPr>
        <p:spPr>
          <a:xfrm>
            <a:off x="1234440" y="8887968"/>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TUYỂN SINH &amp; KHẢO THÍ CAMBRIDGE</a:t>
            </a:r>
            <a:endParaRPr lang="en-US" sz="1500" dirty="0"/>
          </a:p>
        </p:txBody>
      </p:sp>
      <p:sp>
        <p:nvSpPr>
          <p:cNvPr id="40" name="Text 38"/>
          <p:cNvSpPr txBox="1"/>
          <p:nvPr/>
        </p:nvSpPr>
        <p:spPr>
          <a:xfrm>
            <a:off x="1234440" y="9125712"/>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Trung tâm tuyển sinh, đào tạo và khảo thí tiếng Anh</a:t>
            </a:r>
            <a:endParaRPr lang="en-US" sz="1400" dirty="0"/>
          </a:p>
        </p:txBody>
      </p:sp>
      <p:sp>
        <p:nvSpPr>
          <p:cNvPr id="41" name="Text 39"/>
          <p:cNvSpPr txBox="1"/>
          <p:nvPr/>
        </p:nvSpPr>
        <p:spPr>
          <a:xfrm>
            <a:off x="6035040" y="8869680"/>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15</a:t>
            </a:r>
            <a:endParaRPr lang="en-US" sz="1400" dirty="0"/>
          </a:p>
        </p:txBody>
      </p:sp>
      <p:sp>
        <p:nvSpPr>
          <p:cNvPr id="42" name="Shape 40"/>
          <p:cNvSpPr/>
          <p:nvPr/>
        </p:nvSpPr>
        <p:spPr>
          <a:xfrm>
            <a:off x="548640" y="9957816"/>
            <a:ext cx="6464808" cy="0"/>
          </a:xfrm>
          <a:prstGeom prst="line">
            <a:avLst/>
          </a:prstGeom>
          <a:noFill/>
          <a:ln w="6350">
            <a:solidFill>
              <a:schemeClr val="bg1">
                <a:alpha val="30000"/>
              </a:schemeClr>
            </a:solidFill>
            <a:prstDash val="solid"/>
          </a:ln>
        </p:spPr>
      </p:sp>
      <p:sp>
        <p:nvSpPr>
          <p:cNvPr id="43" name="Text 41"/>
          <p:cNvSpPr txBox="1"/>
          <p:nvPr/>
        </p:nvSpPr>
        <p:spPr>
          <a:xfrm>
            <a:off x="548640" y="9436608"/>
            <a:ext cx="594360" cy="475488"/>
          </a:xfrm>
          <a:prstGeom prst="rect">
            <a:avLst/>
          </a:prstGeom>
          <a:noFill/>
          <a:ln/>
        </p:spPr>
        <p:txBody>
          <a:bodyPr wrap="square" lIns="0" tIns="0" rIns="0" bIns="0" rtlCol="0" anchor="ctr"/>
          <a:lstStyle/>
          <a:p>
            <a:pPr indent="0" marL="0">
              <a:lnSpc>
                <a:spcPct val="105000"/>
              </a:lnSpc>
              <a:buNone/>
            </a:pPr>
            <a:r>
              <a:rPr lang="en-US" sz="2400" b="1" dirty="0">
                <a:solidFill>
                  <a:schemeClr val="accent2"/>
                </a:solidFill>
              </a:rPr>
              <a:t>06</a:t>
            </a:r>
            <a:endParaRPr lang="en-US" sz="2400" dirty="0"/>
          </a:p>
        </p:txBody>
      </p:sp>
      <p:sp>
        <p:nvSpPr>
          <p:cNvPr id="44" name="Text 42"/>
          <p:cNvSpPr txBox="1"/>
          <p:nvPr/>
        </p:nvSpPr>
        <p:spPr>
          <a:xfrm>
            <a:off x="1234440" y="9454896"/>
            <a:ext cx="4754880" cy="246888"/>
          </a:xfrm>
          <a:prstGeom prst="rect">
            <a:avLst/>
          </a:prstGeom>
          <a:noFill/>
          <a:ln/>
        </p:spPr>
        <p:txBody>
          <a:bodyPr wrap="square" lIns="0" tIns="0" rIns="0" bIns="0" rtlCol="0" anchor="t"/>
          <a:lstStyle/>
          <a:p>
            <a:pPr indent="0" marL="0">
              <a:lnSpc>
                <a:spcPct val="105000"/>
              </a:lnSpc>
              <a:buNone/>
            </a:pPr>
            <a:r>
              <a:rPr lang="en-US" sz="1500" b="1" dirty="0">
                <a:solidFill>
                  <a:schemeClr val="bg1"/>
                </a:solidFill>
              </a:rPr>
              <a:t>ĐỐI TÁC &amp; HỆ THỐNG VĂN PHÒNG</a:t>
            </a:r>
            <a:endParaRPr lang="en-US" sz="1500" dirty="0"/>
          </a:p>
        </p:txBody>
      </p:sp>
      <p:sp>
        <p:nvSpPr>
          <p:cNvPr id="45" name="Text 43"/>
          <p:cNvSpPr txBox="1"/>
          <p:nvPr/>
        </p:nvSpPr>
        <p:spPr>
          <a:xfrm>
            <a:off x="1234440" y="9692640"/>
            <a:ext cx="4754880" cy="23774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Mạng lưới liên kết, khách hàng và văn phòng</a:t>
            </a:r>
            <a:endParaRPr lang="en-US" sz="1400" dirty="0"/>
          </a:p>
        </p:txBody>
      </p:sp>
      <p:sp>
        <p:nvSpPr>
          <p:cNvPr id="46" name="Text 44"/>
          <p:cNvSpPr txBox="1"/>
          <p:nvPr/>
        </p:nvSpPr>
        <p:spPr>
          <a:xfrm>
            <a:off x="6035040" y="9436608"/>
            <a:ext cx="978408" cy="475488"/>
          </a:xfrm>
          <a:prstGeom prst="rect">
            <a:avLst/>
          </a:prstGeom>
          <a:noFill/>
          <a:ln/>
        </p:spPr>
        <p:txBody>
          <a:bodyPr wrap="square" lIns="0" tIns="0" rIns="0" bIns="0" rtlCol="0" anchor="ctr"/>
          <a:lstStyle/>
          <a:p>
            <a:pPr algn="r" indent="0" marL="0">
              <a:lnSpc>
                <a:spcPct val="105000"/>
              </a:lnSpc>
              <a:buNone/>
            </a:pPr>
            <a:r>
              <a:rPr lang="en-US" sz="1400" b="1" dirty="0">
                <a:solidFill>
                  <a:schemeClr val="accent2"/>
                </a:solidFill>
              </a:rPr>
              <a:t>tr. 18</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2"/>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01 · GIỚI THIỆU VIỆN STP</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GIỚI THIỆU CHUNG</a:t>
            </a:r>
            <a:endParaRPr lang="en-US" sz="2800" dirty="0"/>
          </a:p>
        </p:txBody>
      </p:sp>
      <p:sp>
        <p:nvSpPr>
          <p:cNvPr id="4" name="Text 2"/>
          <p:cNvSpPr txBox="1"/>
          <p:nvPr/>
        </p:nvSpPr>
        <p:spPr>
          <a:xfrm>
            <a:off x="548640" y="1371600"/>
            <a:ext cx="2834640" cy="411480"/>
          </a:xfrm>
          <a:prstGeom prst="rect">
            <a:avLst/>
          </a:prstGeom>
          <a:noFill/>
          <a:ln/>
        </p:spPr>
        <p:txBody>
          <a:bodyPr wrap="square" lIns="0" tIns="0" rIns="0" bIns="0" rtlCol="0" anchor="t"/>
          <a:lstStyle/>
          <a:p>
            <a:pPr indent="0" marL="0">
              <a:lnSpc>
                <a:spcPct val="105000"/>
              </a:lnSpc>
              <a:buNone/>
            </a:pPr>
            <a:r>
              <a:rPr lang="en-US" sz="2400" b="1" dirty="0">
                <a:solidFill>
                  <a:schemeClr val="accent1"/>
                </a:solidFill>
              </a:rPr>
              <a:t>Về VUSTA</a:t>
            </a:r>
            <a:endParaRPr lang="en-US" sz="2400" dirty="0"/>
          </a:p>
        </p:txBody>
      </p:sp>
      <p:sp>
        <p:nvSpPr>
          <p:cNvPr id="5" name="Text 3"/>
          <p:cNvSpPr txBox="1"/>
          <p:nvPr/>
        </p:nvSpPr>
        <p:spPr>
          <a:xfrm>
            <a:off x="548640" y="1874520"/>
            <a:ext cx="2834640" cy="4206240"/>
          </a:xfrm>
          <a:prstGeom prst="rect">
            <a:avLst/>
          </a:prstGeom>
          <a:noFill/>
          <a:ln/>
        </p:spPr>
        <p:txBody>
          <a:bodyPr wrap="square" lIns="0" tIns="0" rIns="0" bIns="0" rtlCol="0" anchor="t"/>
          <a:lstStyle/>
          <a:p>
            <a:pPr algn="just" indent="0" marL="0">
              <a:lnSpc>
                <a:spcPct val="105000"/>
              </a:lnSpc>
              <a:spcAft>
                <a:spcPts val="600"/>
              </a:spcAft>
              <a:buNone/>
            </a:pPr>
            <a:r>
              <a:rPr lang="en-US" sz="1400" b="1" dirty="0">
                <a:solidFill>
                  <a:schemeClr val="accent1"/>
                </a:solidFill>
              </a:rPr>
              <a:t>Liên hiệp các Hội khoa học và kỹ thuật Việt Nam (VUSTA)</a:t>
            </a:r>
            <a:pPr algn="just" indent="0" marL="0">
              <a:lnSpc>
                <a:spcPct val="105000"/>
              </a:lnSpc>
              <a:spcAft>
                <a:spcPts val="600"/>
              </a:spcAft>
              <a:buNone/>
            </a:pPr>
            <a:r>
              <a:rPr lang="en-US" sz="1400" dirty="0">
                <a:solidFill>
                  <a:schemeClr val="tx1"/>
                </a:solidFill>
              </a:rPr>
              <a:t> là tổ chức chính trị - xã hội nghề nghiệp hoạt động trên phạm vi cả nước theo quy định của pháp luật.</a:t>
            </a:r>
            <a:endParaRPr lang="en-US" sz="1400" dirty="0"/>
          </a:p>
          <a:p>
            <a:pPr algn="just" indent="0" marL="0">
              <a:lnSpc>
                <a:spcPct val="105000"/>
              </a:lnSpc>
              <a:spcAft>
                <a:spcPts val="600"/>
              </a:spcAft>
              <a:buNone/>
            </a:pPr>
            <a:r>
              <a:rPr lang="en-US" sz="1400" dirty="0">
                <a:solidFill>
                  <a:schemeClr val="tx1"/>
                </a:solidFill>
              </a:rPr>
              <a:t>VUSTA có hệ thống tổ chức rộng khắp với các hội ngành toàn quốc, liên hiệp hội tỉnh, thành phố trực thuộc Trung ương cùng mạng lưới các viện nghiên cứu, trung tâm khoa học, cơ sở đào tạo và đơn vị thông tin khoa học, đóng vai trò quan trọng trong việc kết nối, phát huy nguồn lực trí thức và thúc đẩy các hoạt động khoa học - công nghệ, giáo dục và phát triển nguồn nhân lực.</a:t>
            </a:r>
            <a:endParaRPr lang="en-US" sz="1400" dirty="0"/>
          </a:p>
        </p:txBody>
      </p:sp>
      <p:sp>
        <p:nvSpPr>
          <p:cNvPr id="6" name="Shape 4"/>
          <p:cNvSpPr/>
          <p:nvPr/>
        </p:nvSpPr>
        <p:spPr>
          <a:xfrm>
            <a:off x="3584448" y="1280160"/>
            <a:ext cx="3429000" cy="4526280"/>
          </a:xfrm>
          <a:prstGeom prst="roundRect">
            <a:avLst>
              <a:gd name="adj" fmla="val 3200"/>
            </a:avLst>
          </a:prstGeom>
          <a:solidFill>
            <a:schemeClr val="tx2"/>
          </a:solidFill>
          <a:ln/>
          <a:effectLst>
            <a:outerShdw sx="100000" sy="100000" kx="0" ky="0" algn="bl" rotWithShape="0" blurRad="101600" dist="25400" dir="5400000">
              <a:srgbClr val="0B2A00">
                <a:alpha val="16000"/>
              </a:srgbClr>
            </a:outerShdw>
          </a:effectLst>
        </p:spPr>
      </p:sp>
      <p:sp>
        <p:nvSpPr>
          <p:cNvPr id="7" name="Text 5"/>
          <p:cNvSpPr txBox="1"/>
          <p:nvPr/>
        </p:nvSpPr>
        <p:spPr>
          <a:xfrm>
            <a:off x="3813048" y="1417320"/>
            <a:ext cx="3017520" cy="411480"/>
          </a:xfrm>
          <a:prstGeom prst="rect">
            <a:avLst/>
          </a:prstGeom>
          <a:noFill/>
          <a:ln/>
        </p:spPr>
        <p:txBody>
          <a:bodyPr wrap="square" lIns="0" tIns="0" rIns="0" bIns="0" rtlCol="0" anchor="t"/>
          <a:lstStyle/>
          <a:p>
            <a:pPr indent="0" marL="0">
              <a:lnSpc>
                <a:spcPct val="105000"/>
              </a:lnSpc>
              <a:buNone/>
            </a:pPr>
            <a:r>
              <a:rPr lang="en-US" sz="2400" b="1" dirty="0">
                <a:solidFill>
                  <a:schemeClr val="bg1"/>
                </a:solidFill>
              </a:rPr>
              <a:t>Về Viện STP</a:t>
            </a:r>
            <a:endParaRPr lang="en-US" sz="2400" dirty="0"/>
          </a:p>
        </p:txBody>
      </p:sp>
      <p:sp>
        <p:nvSpPr>
          <p:cNvPr id="8" name="Text 6"/>
          <p:cNvSpPr txBox="1"/>
          <p:nvPr/>
        </p:nvSpPr>
        <p:spPr>
          <a:xfrm>
            <a:off x="3813048" y="1920240"/>
            <a:ext cx="2999232" cy="4160520"/>
          </a:xfrm>
          <a:prstGeom prst="rect">
            <a:avLst/>
          </a:prstGeom>
          <a:noFill/>
          <a:ln/>
        </p:spPr>
        <p:txBody>
          <a:bodyPr wrap="square" lIns="0" tIns="0" rIns="0" bIns="0" rtlCol="0" anchor="t"/>
          <a:lstStyle/>
          <a:p>
            <a:pPr algn="just" indent="0" marL="0">
              <a:lnSpc>
                <a:spcPct val="105000"/>
              </a:lnSpc>
              <a:spcAft>
                <a:spcPts val="600"/>
              </a:spcAft>
              <a:buNone/>
            </a:pPr>
            <a:r>
              <a:rPr lang="en-US" sz="1400" dirty="0">
                <a:solidFill>
                  <a:schemeClr val="bg1"/>
                </a:solidFill>
              </a:rPr>
              <a:t>Là tổ chức khoa học và công nghệ trực thuộc VUSTA, </a:t>
            </a:r>
            <a:pPr algn="just" indent="0" marL="0">
              <a:lnSpc>
                <a:spcPct val="105000"/>
              </a:lnSpc>
              <a:spcAft>
                <a:spcPts val="600"/>
              </a:spcAft>
              <a:buNone/>
            </a:pPr>
            <a:r>
              <a:rPr lang="en-US" sz="1400" b="1" dirty="0">
                <a:solidFill>
                  <a:schemeClr val="accent2"/>
                </a:solidFill>
              </a:rPr>
              <a:t>Viện Nghiên cứu Phát triển Giáo dục và Nghề nghiệp STP (Viện STP)</a:t>
            </a:r>
            <a:pPr algn="just" indent="0" marL="0">
              <a:lnSpc>
                <a:spcPct val="105000"/>
              </a:lnSpc>
              <a:spcAft>
                <a:spcPts val="600"/>
              </a:spcAft>
              <a:buNone/>
            </a:pPr>
            <a:r>
              <a:rPr lang="en-US" sz="1400" dirty="0">
                <a:solidFill>
                  <a:schemeClr val="bg1"/>
                </a:solidFill>
              </a:rPr>
              <a:t> được thành lập với sứ mệnh kết nối tri thức, nguồn lực và các chủ thể trong hệ sinh thái giáo dục – khoa học – dịch vụ chuyên môn.</a:t>
            </a:r>
            <a:endParaRPr lang="en-US" sz="1400" dirty="0"/>
          </a:p>
          <a:p>
            <a:pPr algn="just" indent="0" marL="0">
              <a:lnSpc>
                <a:spcPct val="105000"/>
              </a:lnSpc>
              <a:spcAft>
                <a:spcPts val="600"/>
              </a:spcAft>
              <a:buNone/>
            </a:pPr>
            <a:r>
              <a:rPr lang="en-US" sz="1400" dirty="0">
                <a:solidFill>
                  <a:schemeClr val="bg1"/>
                </a:solidFill>
              </a:rPr>
              <a:t>Thông qua nghiên cứu khoa học, đào tạo và cấp chứng chỉ nghiệp vụ, tuyển sinh và hợp tác quốc tế cùng các hoạt động xúc tiến văn hóa, giáo dục và du lịch, Viện STP đóng vai trò kết nối hệ sinh thái, lan tỏa tri thức và tạo dựng các giá trị hợp tác thiết thực cho Nhà nước, doanh nghiệp và cộng đồng.</a:t>
            </a:r>
            <a:endParaRPr lang="en-US" sz="1400" dirty="0"/>
          </a:p>
        </p:txBody>
      </p:sp>
      <p:sp>
        <p:nvSpPr>
          <p:cNvPr id="9" name="Shape 7"/>
          <p:cNvSpPr/>
          <p:nvPr/>
        </p:nvSpPr>
        <p:spPr>
          <a:xfrm>
            <a:off x="548640" y="5989320"/>
            <a:ext cx="6464808" cy="4023360"/>
          </a:xfrm>
          <a:prstGeom prst="roundRect">
            <a:avLst>
              <a:gd name="adj" fmla="val 2727"/>
            </a:avLst>
          </a:prstGeom>
          <a:solidFill>
            <a:schemeClr val="bg2"/>
          </a:solidFill>
          <a:ln/>
        </p:spPr>
      </p:sp>
      <p:sp>
        <p:nvSpPr>
          <p:cNvPr id="10" name="Text 8"/>
          <p:cNvSpPr txBox="1"/>
          <p:nvPr/>
        </p:nvSpPr>
        <p:spPr>
          <a:xfrm>
            <a:off x="777240" y="6108192"/>
            <a:ext cx="4572000" cy="384048"/>
          </a:xfrm>
          <a:prstGeom prst="rect">
            <a:avLst/>
          </a:prstGeom>
          <a:noFill/>
          <a:ln/>
        </p:spPr>
        <p:txBody>
          <a:bodyPr wrap="square" lIns="0" tIns="0" rIns="0" bIns="0" rtlCol="0" anchor="t"/>
          <a:lstStyle/>
          <a:p>
            <a:pPr indent="0" marL="0">
              <a:lnSpc>
                <a:spcPct val="105000"/>
              </a:lnSpc>
              <a:buNone/>
            </a:pPr>
            <a:r>
              <a:rPr lang="en-US" sz="2200" b="1" dirty="0">
                <a:solidFill>
                  <a:schemeClr val="accent1"/>
                </a:solidFill>
              </a:rPr>
              <a:t>Hoạt động pháp lý</a:t>
            </a:r>
            <a:endParaRPr lang="en-US" sz="2200" dirty="0"/>
          </a:p>
        </p:txBody>
      </p:sp>
      <p:sp>
        <p:nvSpPr>
          <p:cNvPr id="11" name="Text 9"/>
          <p:cNvSpPr txBox="1"/>
          <p:nvPr/>
        </p:nvSpPr>
        <p:spPr>
          <a:xfrm>
            <a:off x="777240" y="6528816"/>
            <a:ext cx="6035040" cy="685800"/>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Giấy chứng nhận đăng ký hoạt động Khoa học và Công nghệ</a:t>
            </a:r>
            <a:endParaRPr lang="en-US" sz="1400" dirty="0"/>
          </a:p>
          <a:p>
            <a:pPr indent="0" marL="0">
              <a:lnSpc>
                <a:spcPct val="105000"/>
              </a:lnSpc>
              <a:buNone/>
            </a:pPr>
            <a:r>
              <a:rPr lang="en-US" sz="1400" dirty="0">
                <a:solidFill>
                  <a:schemeClr val="tx1"/>
                </a:solidFill>
              </a:rPr>
              <a:t>Số: 234/QĐ-LHHVN do Liên hiệp các Hội Khoa học và Kỹ thuật Việt Nam cấp ngày 24/03/2020.</a:t>
            </a:r>
            <a:endParaRPr lang="en-US" sz="1400" dirty="0"/>
          </a:p>
        </p:txBody>
      </p:sp>
      <p:sp>
        <p:nvSpPr>
          <p:cNvPr id="12" name="Shape 10"/>
          <p:cNvSpPr/>
          <p:nvPr/>
        </p:nvSpPr>
        <p:spPr>
          <a:xfrm>
            <a:off x="731520" y="7406640"/>
            <a:ext cx="3026664" cy="2240280"/>
          </a:xfrm>
          <a:prstGeom prst="roundRect">
            <a:avLst>
              <a:gd name="adj" fmla="val 2041"/>
            </a:avLst>
          </a:prstGeom>
          <a:solidFill>
            <a:schemeClr val="bg1"/>
          </a:solidFill>
          <a:ln w="19050">
            <a:solidFill>
              <a:schemeClr val="accent1"/>
            </a:solidFill>
            <a:prstDash val="solid"/>
          </a:ln>
          <a:effectLst>
            <a:outerShdw sx="100000" sy="100000" kx="0" ky="0" algn="bl" rotWithShape="0" blurRad="101600" dist="25400" dir="5400000">
              <a:srgbClr val="0B2A00">
                <a:alpha val="16000"/>
              </a:srgbClr>
            </a:outerShdw>
          </a:effectLst>
        </p:spPr>
      </p:sp>
      <p:pic>
        <p:nvPicPr>
          <p:cNvPr id="13" name="Image 0" descr="/home/user/ATL--DAKO/profile-daotao/assets/crop/license1.jpg">    </p:cNvPr>
          <p:cNvPicPr>
            <a:picLocks noChangeAspect="1"/>
          </p:cNvPicPr>
          <p:nvPr/>
        </p:nvPicPr>
        <p:blipFill>
          <a:blip r:embed="rId1"/>
          <a:srcRect l="64" r="64" t="0" b="0"/>
          <a:stretch/>
        </p:blipFill>
        <p:spPr>
          <a:xfrm>
            <a:off x="777240" y="7452360"/>
            <a:ext cx="2935224" cy="2148840"/>
          </a:xfrm>
          <a:prstGeom prst="rect">
            <a:avLst/>
          </a:prstGeom>
        </p:spPr>
      </p:pic>
      <p:sp>
        <p:nvSpPr>
          <p:cNvPr id="14" name="Shape 11"/>
          <p:cNvSpPr/>
          <p:nvPr/>
        </p:nvSpPr>
        <p:spPr>
          <a:xfrm>
            <a:off x="3803904" y="7406640"/>
            <a:ext cx="3081528" cy="2240280"/>
          </a:xfrm>
          <a:prstGeom prst="roundRect">
            <a:avLst>
              <a:gd name="adj" fmla="val 2041"/>
            </a:avLst>
          </a:prstGeom>
          <a:solidFill>
            <a:schemeClr val="bg1"/>
          </a:solidFill>
          <a:ln w="19050">
            <a:solidFill>
              <a:schemeClr val="accent1"/>
            </a:solidFill>
            <a:prstDash val="solid"/>
          </a:ln>
          <a:effectLst>
            <a:outerShdw sx="100000" sy="100000" kx="0" ky="0" algn="bl" rotWithShape="0" blurRad="101600" dist="25400" dir="5400000">
              <a:srgbClr val="0B2A00">
                <a:alpha val="16000"/>
              </a:srgbClr>
            </a:outerShdw>
          </a:effectLst>
        </p:spPr>
      </p:sp>
      <p:pic>
        <p:nvPicPr>
          <p:cNvPr id="15" name="Image 1" descr="/home/user/ATL--DAKO/profile-daotao/assets/crop/license2.jpg">    </p:cNvPr>
          <p:cNvPicPr>
            <a:picLocks noChangeAspect="1"/>
          </p:cNvPicPr>
          <p:nvPr/>
        </p:nvPicPr>
        <p:blipFill>
          <a:blip r:embed="rId2"/>
          <a:srcRect l="32" r="32" t="0" b="0"/>
          <a:stretch/>
        </p:blipFill>
        <p:spPr>
          <a:xfrm>
            <a:off x="3849624" y="7452360"/>
            <a:ext cx="2990088" cy="2148840"/>
          </a:xfrm>
          <a:prstGeom prst="rect">
            <a:avLst/>
          </a:prstGeom>
        </p:spPr>
      </p:pic>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01 · GIỚI THIỆU VIỆN STP</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LĨNH VỰC TRỌNG TÂM</a:t>
            </a:r>
            <a:endParaRPr lang="en-US" sz="2800" dirty="0"/>
          </a:p>
        </p:txBody>
      </p:sp>
      <p:sp>
        <p:nvSpPr>
          <p:cNvPr id="4" name="Shape 2"/>
          <p:cNvSpPr/>
          <p:nvPr/>
        </p:nvSpPr>
        <p:spPr>
          <a:xfrm>
            <a:off x="548640" y="1325880"/>
            <a:ext cx="6464808" cy="1280160"/>
          </a:xfrm>
          <a:prstGeom prst="roundRect">
            <a:avLst>
              <a:gd name="adj" fmla="val 857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5" name="Shape 3"/>
          <p:cNvSpPr/>
          <p:nvPr/>
        </p:nvSpPr>
        <p:spPr>
          <a:xfrm>
            <a:off x="5870448" y="1325880"/>
            <a:ext cx="1143000" cy="1280160"/>
          </a:xfrm>
          <a:prstGeom prst="roundRect">
            <a:avLst>
              <a:gd name="adj" fmla="val 9600"/>
            </a:avLst>
          </a:prstGeom>
          <a:solidFill>
            <a:schemeClr val="accent1"/>
          </a:solidFill>
          <a:ln/>
        </p:spPr>
      </p:sp>
      <p:sp>
        <p:nvSpPr>
          <p:cNvPr id="6" name="Shape 4"/>
          <p:cNvSpPr/>
          <p:nvPr/>
        </p:nvSpPr>
        <p:spPr>
          <a:xfrm>
            <a:off x="5870448" y="1325880"/>
            <a:ext cx="182880" cy="1280160"/>
          </a:xfrm>
          <a:prstGeom prst="rect">
            <a:avLst/>
          </a:prstGeom>
          <a:solidFill>
            <a:schemeClr val="accent1"/>
          </a:solidFill>
          <a:ln/>
        </p:spPr>
      </p:sp>
      <p:sp>
        <p:nvSpPr>
          <p:cNvPr id="7" name="Text 5"/>
          <p:cNvSpPr txBox="1"/>
          <p:nvPr/>
        </p:nvSpPr>
        <p:spPr>
          <a:xfrm>
            <a:off x="5870448" y="1508760"/>
            <a:ext cx="1143000" cy="548640"/>
          </a:xfrm>
          <a:prstGeom prst="rect">
            <a:avLst/>
          </a:prstGeom>
          <a:noFill/>
          <a:ln/>
        </p:spPr>
        <p:txBody>
          <a:bodyPr wrap="square" lIns="0" tIns="0" rIns="0" bIns="0" rtlCol="0" anchor="ctr"/>
          <a:lstStyle/>
          <a:p>
            <a:pPr algn="ctr" indent="0" marL="0">
              <a:lnSpc>
                <a:spcPct val="105000"/>
              </a:lnSpc>
              <a:buNone/>
            </a:pPr>
            <a:r>
              <a:rPr lang="en-US" sz="3400" b="1" dirty="0">
                <a:solidFill>
                  <a:schemeClr val="bg1"/>
                </a:solidFill>
              </a:rPr>
              <a:t>01</a:t>
            </a:r>
            <a:endParaRPr lang="en-US" sz="3400" dirty="0"/>
          </a:p>
        </p:txBody>
      </p:sp>
      <p:pic>
        <p:nvPicPr>
          <p:cNvPr id="8" name="Image 0" descr="preencoded.png">    </p:cNvPr>
          <p:cNvPicPr>
            <a:picLocks noChangeAspect="1"/>
          </p:cNvPicPr>
          <p:nvPr/>
        </p:nvPicPr>
        <p:blipFill>
          <a:blip r:embed="rId1"/>
          <a:stretch>
            <a:fillRect/>
          </a:stretch>
        </p:blipFill>
        <p:spPr>
          <a:xfrm>
            <a:off x="6286500" y="2112264"/>
            <a:ext cx="310896" cy="310896"/>
          </a:xfrm>
          <a:prstGeom prst="rect">
            <a:avLst/>
          </a:prstGeom>
        </p:spPr>
      </p:pic>
      <p:sp>
        <p:nvSpPr>
          <p:cNvPr id="9" name="Text 6"/>
          <p:cNvSpPr txBox="1"/>
          <p:nvPr/>
        </p:nvSpPr>
        <p:spPr>
          <a:xfrm>
            <a:off x="804672" y="1472184"/>
            <a:ext cx="4846320" cy="1005840"/>
          </a:xfrm>
          <a:prstGeom prst="rect">
            <a:avLst/>
          </a:prstGeom>
          <a:noFill/>
          <a:ln/>
        </p:spPr>
        <p:txBody>
          <a:bodyPr wrap="square" lIns="0" tIns="0" rIns="0" bIns="0" rtlCol="0" anchor="ctr"/>
          <a:lstStyle/>
          <a:p>
            <a:pPr indent="0" marL="0">
              <a:lnSpc>
                <a:spcPct val="105000"/>
              </a:lnSpc>
              <a:spcAft>
                <a:spcPts val="200"/>
              </a:spcAft>
              <a:buNone/>
            </a:pPr>
            <a:r>
              <a:rPr lang="en-US" sz="1400" b="1" dirty="0">
                <a:solidFill>
                  <a:schemeClr val="accent1"/>
                </a:solidFill>
              </a:rPr>
              <a:t>Nghiên cứu Khoa học: </a:t>
            </a:r>
            <a:pPr indent="0" marL="0">
              <a:lnSpc>
                <a:spcPct val="105000"/>
              </a:lnSpc>
              <a:spcAft>
                <a:spcPts val="200"/>
              </a:spcAft>
              <a:buNone/>
            </a:pPr>
            <a:r>
              <a:rPr lang="en-US" sz="1400" dirty="0">
                <a:solidFill>
                  <a:schemeClr val="tx1"/>
                </a:solidFill>
              </a:rPr>
              <a:t>Hợp tác với các tổ chức, cá nhân trong và ngoài nước thực hiện các nhiệm vụ nghiên cứu khoa học. Hỗ trợ đăng các bài báo chuyên ngành trong và ngoài nước.</a:t>
            </a:r>
            <a:endParaRPr lang="en-US" sz="1400" dirty="0"/>
          </a:p>
        </p:txBody>
      </p:sp>
      <p:sp>
        <p:nvSpPr>
          <p:cNvPr id="10" name="Shape 7"/>
          <p:cNvSpPr/>
          <p:nvPr/>
        </p:nvSpPr>
        <p:spPr>
          <a:xfrm>
            <a:off x="548640" y="2734056"/>
            <a:ext cx="6464808" cy="1280160"/>
          </a:xfrm>
          <a:prstGeom prst="roundRect">
            <a:avLst>
              <a:gd name="adj" fmla="val 857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11" name="Shape 8"/>
          <p:cNvSpPr/>
          <p:nvPr/>
        </p:nvSpPr>
        <p:spPr>
          <a:xfrm>
            <a:off x="548640" y="2734056"/>
            <a:ext cx="1143000" cy="1280160"/>
          </a:xfrm>
          <a:prstGeom prst="roundRect">
            <a:avLst>
              <a:gd name="adj" fmla="val 9600"/>
            </a:avLst>
          </a:prstGeom>
          <a:solidFill>
            <a:schemeClr val="accent1"/>
          </a:solidFill>
          <a:ln/>
        </p:spPr>
      </p:sp>
      <p:sp>
        <p:nvSpPr>
          <p:cNvPr id="12" name="Shape 9"/>
          <p:cNvSpPr/>
          <p:nvPr/>
        </p:nvSpPr>
        <p:spPr>
          <a:xfrm>
            <a:off x="1508760" y="2734056"/>
            <a:ext cx="182880" cy="1280160"/>
          </a:xfrm>
          <a:prstGeom prst="rect">
            <a:avLst/>
          </a:prstGeom>
          <a:solidFill>
            <a:schemeClr val="accent1"/>
          </a:solidFill>
          <a:ln/>
        </p:spPr>
      </p:sp>
      <p:sp>
        <p:nvSpPr>
          <p:cNvPr id="13" name="Text 10"/>
          <p:cNvSpPr txBox="1"/>
          <p:nvPr/>
        </p:nvSpPr>
        <p:spPr>
          <a:xfrm>
            <a:off x="548640" y="2779776"/>
            <a:ext cx="1143000" cy="548640"/>
          </a:xfrm>
          <a:prstGeom prst="rect">
            <a:avLst/>
          </a:prstGeom>
          <a:noFill/>
          <a:ln/>
        </p:spPr>
        <p:txBody>
          <a:bodyPr wrap="square" lIns="0" tIns="0" rIns="0" bIns="0" rtlCol="0" anchor="ctr"/>
          <a:lstStyle/>
          <a:p>
            <a:pPr algn="ctr" indent="0" marL="0">
              <a:lnSpc>
                <a:spcPct val="105000"/>
              </a:lnSpc>
              <a:buNone/>
            </a:pPr>
            <a:r>
              <a:rPr lang="en-US" sz="3400" b="1" dirty="0">
                <a:solidFill>
                  <a:schemeClr val="bg1"/>
                </a:solidFill>
              </a:rPr>
              <a:t>02</a:t>
            </a:r>
            <a:endParaRPr lang="en-US" sz="3400" dirty="0"/>
          </a:p>
        </p:txBody>
      </p:sp>
      <p:pic>
        <p:nvPicPr>
          <p:cNvPr id="14" name="Image 1" descr="preencoded.png">    </p:cNvPr>
          <p:cNvPicPr>
            <a:picLocks noChangeAspect="1"/>
          </p:cNvPicPr>
          <p:nvPr/>
        </p:nvPicPr>
        <p:blipFill>
          <a:blip r:embed="rId2"/>
          <a:stretch>
            <a:fillRect/>
          </a:stretch>
        </p:blipFill>
        <p:spPr>
          <a:xfrm>
            <a:off x="964692" y="3383280"/>
            <a:ext cx="310896" cy="310896"/>
          </a:xfrm>
          <a:prstGeom prst="rect">
            <a:avLst/>
          </a:prstGeom>
        </p:spPr>
      </p:pic>
      <p:sp>
        <p:nvSpPr>
          <p:cNvPr id="15" name="Text 11"/>
          <p:cNvSpPr txBox="1"/>
          <p:nvPr/>
        </p:nvSpPr>
        <p:spPr>
          <a:xfrm>
            <a:off x="548640" y="3749040"/>
            <a:ext cx="1143000" cy="219456"/>
          </a:xfrm>
          <a:prstGeom prst="rect">
            <a:avLst/>
          </a:prstGeom>
          <a:noFill/>
          <a:ln/>
        </p:spPr>
        <p:txBody>
          <a:bodyPr wrap="square" lIns="0" tIns="0" rIns="0" bIns="0" rtlCol="0" anchor="t"/>
          <a:lstStyle/>
          <a:p>
            <a:pPr algn="ctr" indent="0" marL="0">
              <a:lnSpc>
                <a:spcPct val="105000"/>
              </a:lnSpc>
              <a:buNone/>
            </a:pPr>
            <a:r>
              <a:rPr lang="en-US" sz="1100" b="1" dirty="0">
                <a:solidFill>
                  <a:schemeClr val="accent3"/>
                </a:solidFill>
              </a:rPr>
              <a:t>→ tr. 11</a:t>
            </a:r>
            <a:endParaRPr lang="en-US" sz="1100" dirty="0"/>
          </a:p>
        </p:txBody>
      </p:sp>
      <p:sp>
        <p:nvSpPr>
          <p:cNvPr id="16" name="Text 12"/>
          <p:cNvSpPr txBox="1"/>
          <p:nvPr/>
        </p:nvSpPr>
        <p:spPr>
          <a:xfrm>
            <a:off x="1947672" y="2880360"/>
            <a:ext cx="4846320" cy="1005840"/>
          </a:xfrm>
          <a:prstGeom prst="rect">
            <a:avLst/>
          </a:prstGeom>
          <a:noFill/>
          <a:ln/>
        </p:spPr>
        <p:txBody>
          <a:bodyPr wrap="square" lIns="0" tIns="0" rIns="0" bIns="0" rtlCol="0" anchor="ctr"/>
          <a:lstStyle/>
          <a:p>
            <a:pPr indent="0" marL="0">
              <a:lnSpc>
                <a:spcPct val="105000"/>
              </a:lnSpc>
              <a:spcAft>
                <a:spcPts val="200"/>
              </a:spcAft>
              <a:buNone/>
            </a:pPr>
            <a:r>
              <a:rPr lang="en-US" sz="1400" b="1" dirty="0">
                <a:solidFill>
                  <a:schemeClr val="accent1"/>
                </a:solidFill>
              </a:rPr>
              <a:t>Cung cấp tư vấn trọn gói các giải pháp tích hợp trí tuệ nhân tạo (AI) đa thể thức</a:t>
            </a:r>
            <a:pPr indent="0" marL="0">
              <a:lnSpc>
                <a:spcPct val="105000"/>
              </a:lnSpc>
              <a:spcAft>
                <a:spcPts val="200"/>
              </a:spcAft>
              <a:buNone/>
            </a:pPr>
            <a:r>
              <a:rPr lang="en-US" sz="1400" dirty="0">
                <a:solidFill>
                  <a:schemeClr val="tx1"/>
                </a:solidFill>
              </a:rPr>
              <a:t> cho doanh nghiệp theo đặc thù kinh doanh và quản lý nhà nước</a:t>
            </a:r>
            <a:endParaRPr lang="en-US" sz="1400" dirty="0"/>
          </a:p>
        </p:txBody>
      </p:sp>
      <p:sp>
        <p:nvSpPr>
          <p:cNvPr id="17" name="Shape 13"/>
          <p:cNvSpPr/>
          <p:nvPr/>
        </p:nvSpPr>
        <p:spPr>
          <a:xfrm>
            <a:off x="548640" y="4142232"/>
            <a:ext cx="6464808" cy="1700784"/>
          </a:xfrm>
          <a:prstGeom prst="roundRect">
            <a:avLst>
              <a:gd name="adj" fmla="val 6452"/>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18" name="Shape 14"/>
          <p:cNvSpPr/>
          <p:nvPr/>
        </p:nvSpPr>
        <p:spPr>
          <a:xfrm>
            <a:off x="5870448" y="4142232"/>
            <a:ext cx="1143000" cy="1700784"/>
          </a:xfrm>
          <a:prstGeom prst="roundRect">
            <a:avLst>
              <a:gd name="adj" fmla="val 9600"/>
            </a:avLst>
          </a:prstGeom>
          <a:solidFill>
            <a:schemeClr val="accent1"/>
          </a:solidFill>
          <a:ln/>
        </p:spPr>
      </p:sp>
      <p:sp>
        <p:nvSpPr>
          <p:cNvPr id="19" name="Shape 15"/>
          <p:cNvSpPr/>
          <p:nvPr/>
        </p:nvSpPr>
        <p:spPr>
          <a:xfrm>
            <a:off x="5870448" y="4142232"/>
            <a:ext cx="182880" cy="1700784"/>
          </a:xfrm>
          <a:prstGeom prst="rect">
            <a:avLst/>
          </a:prstGeom>
          <a:solidFill>
            <a:schemeClr val="accent1"/>
          </a:solidFill>
          <a:ln/>
        </p:spPr>
      </p:sp>
      <p:sp>
        <p:nvSpPr>
          <p:cNvPr id="20" name="Text 16"/>
          <p:cNvSpPr txBox="1"/>
          <p:nvPr/>
        </p:nvSpPr>
        <p:spPr>
          <a:xfrm>
            <a:off x="5870448" y="4398264"/>
            <a:ext cx="1143000" cy="548640"/>
          </a:xfrm>
          <a:prstGeom prst="rect">
            <a:avLst/>
          </a:prstGeom>
          <a:noFill/>
          <a:ln/>
        </p:spPr>
        <p:txBody>
          <a:bodyPr wrap="square" lIns="0" tIns="0" rIns="0" bIns="0" rtlCol="0" anchor="ctr"/>
          <a:lstStyle/>
          <a:p>
            <a:pPr algn="ctr" indent="0" marL="0">
              <a:lnSpc>
                <a:spcPct val="105000"/>
              </a:lnSpc>
              <a:buNone/>
            </a:pPr>
            <a:r>
              <a:rPr lang="en-US" sz="3400" b="1" dirty="0">
                <a:solidFill>
                  <a:schemeClr val="bg1"/>
                </a:solidFill>
              </a:rPr>
              <a:t>03</a:t>
            </a:r>
            <a:endParaRPr lang="en-US" sz="3400" dirty="0"/>
          </a:p>
        </p:txBody>
      </p:sp>
      <p:pic>
        <p:nvPicPr>
          <p:cNvPr id="21" name="Image 2" descr="preencoded.png">    </p:cNvPr>
          <p:cNvPicPr>
            <a:picLocks noChangeAspect="1"/>
          </p:cNvPicPr>
          <p:nvPr/>
        </p:nvPicPr>
        <p:blipFill>
          <a:blip r:embed="rId3"/>
          <a:stretch>
            <a:fillRect/>
          </a:stretch>
        </p:blipFill>
        <p:spPr>
          <a:xfrm>
            <a:off x="6286500" y="5001768"/>
            <a:ext cx="310896" cy="310896"/>
          </a:xfrm>
          <a:prstGeom prst="rect">
            <a:avLst/>
          </a:prstGeom>
        </p:spPr>
      </p:pic>
      <p:sp>
        <p:nvSpPr>
          <p:cNvPr id="22" name="Text 17"/>
          <p:cNvSpPr txBox="1"/>
          <p:nvPr/>
        </p:nvSpPr>
        <p:spPr>
          <a:xfrm>
            <a:off x="5870448" y="5367528"/>
            <a:ext cx="1143000" cy="219456"/>
          </a:xfrm>
          <a:prstGeom prst="rect">
            <a:avLst/>
          </a:prstGeom>
          <a:noFill/>
          <a:ln/>
        </p:spPr>
        <p:txBody>
          <a:bodyPr wrap="square" lIns="0" tIns="0" rIns="0" bIns="0" rtlCol="0" anchor="t"/>
          <a:lstStyle/>
          <a:p>
            <a:pPr algn="ctr" indent="0" marL="0">
              <a:lnSpc>
                <a:spcPct val="105000"/>
              </a:lnSpc>
              <a:buNone/>
            </a:pPr>
            <a:r>
              <a:rPr lang="en-US" sz="1100" b="1" dirty="0">
                <a:solidFill>
                  <a:schemeClr val="accent3"/>
                </a:solidFill>
              </a:rPr>
              <a:t>→ tr. 05</a:t>
            </a:r>
            <a:endParaRPr lang="en-US" sz="1100" dirty="0"/>
          </a:p>
        </p:txBody>
      </p:sp>
      <p:sp>
        <p:nvSpPr>
          <p:cNvPr id="23" name="Text 18"/>
          <p:cNvSpPr txBox="1"/>
          <p:nvPr/>
        </p:nvSpPr>
        <p:spPr>
          <a:xfrm>
            <a:off x="804672" y="4288536"/>
            <a:ext cx="4846320" cy="1426464"/>
          </a:xfrm>
          <a:prstGeom prst="rect">
            <a:avLst/>
          </a:prstGeom>
          <a:noFill/>
          <a:ln/>
        </p:spPr>
        <p:txBody>
          <a:bodyPr wrap="square" lIns="0" tIns="0" rIns="0" bIns="0" rtlCol="0" anchor="ctr"/>
          <a:lstStyle/>
          <a:p>
            <a:pPr indent="0" marL="0">
              <a:lnSpc>
                <a:spcPct val="105000"/>
              </a:lnSpc>
              <a:spcAft>
                <a:spcPts val="200"/>
              </a:spcAft>
              <a:buNone/>
            </a:pPr>
            <a:r>
              <a:rPr lang="en-US" sz="1400" b="1" dirty="0">
                <a:solidFill>
                  <a:schemeClr val="accent1"/>
                </a:solidFill>
              </a:rPr>
              <a:t>Đào tạo, bồi dưỡng và cấp Chứng chỉ nghiệp vụ chuyên sâu:</a:t>
            </a:r>
            <a:endParaRPr lang="en-US" sz="1400" dirty="0"/>
          </a:p>
          <a:p>
            <a:pPr marL="177800" indent="-177800">
              <a:lnSpc>
                <a:spcPct val="105000"/>
              </a:lnSpc>
              <a:spcAft>
                <a:spcPts val="200"/>
              </a:spcAft>
              <a:buSzPct val="100000"/>
              <a:buChar char="•"/>
            </a:pPr>
            <a:r>
              <a:rPr lang="en-US" sz="1400" dirty="0">
                <a:solidFill>
                  <a:schemeClr val="tx1"/>
                </a:solidFill>
              </a:rPr>
              <a:t>Các chương trình tiên tiến dành cho học sinh, sinh viên, giáo viên, cán bộ quản lý giáo dục</a:t>
            </a:r>
            <a:endParaRPr lang="en-US" sz="1400" dirty="0"/>
          </a:p>
          <a:p>
            <a:pPr marL="177800" indent="-177800">
              <a:lnSpc>
                <a:spcPct val="105000"/>
              </a:lnSpc>
              <a:spcAft>
                <a:spcPts val="200"/>
              </a:spcAft>
              <a:buSzPct val="100000"/>
              <a:buChar char="•"/>
            </a:pPr>
            <a:r>
              <a:rPr lang="en-US" sz="1400" dirty="0">
                <a:solidFill>
                  <a:schemeClr val="tx1"/>
                </a:solidFill>
              </a:rPr>
              <a:t>Các chương trình dành cho công chức, viên chức cấp chứng chỉ: An toàn đường thuỷ nội địa; lĩnh vực Xây dựng...</a:t>
            </a:r>
            <a:endParaRPr lang="en-US" sz="1400" dirty="0"/>
          </a:p>
        </p:txBody>
      </p:sp>
      <p:sp>
        <p:nvSpPr>
          <p:cNvPr id="24" name="Shape 19"/>
          <p:cNvSpPr/>
          <p:nvPr/>
        </p:nvSpPr>
        <p:spPr>
          <a:xfrm>
            <a:off x="548640" y="5971032"/>
            <a:ext cx="6464808" cy="1536192"/>
          </a:xfrm>
          <a:prstGeom prst="roundRect">
            <a:avLst>
              <a:gd name="adj" fmla="val 7143"/>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5" name="Shape 20"/>
          <p:cNvSpPr/>
          <p:nvPr/>
        </p:nvSpPr>
        <p:spPr>
          <a:xfrm>
            <a:off x="548640" y="5971032"/>
            <a:ext cx="1143000" cy="1536192"/>
          </a:xfrm>
          <a:prstGeom prst="roundRect">
            <a:avLst>
              <a:gd name="adj" fmla="val 9600"/>
            </a:avLst>
          </a:prstGeom>
          <a:solidFill>
            <a:schemeClr val="accent1"/>
          </a:solidFill>
          <a:ln/>
        </p:spPr>
      </p:sp>
      <p:sp>
        <p:nvSpPr>
          <p:cNvPr id="26" name="Shape 21"/>
          <p:cNvSpPr/>
          <p:nvPr/>
        </p:nvSpPr>
        <p:spPr>
          <a:xfrm>
            <a:off x="1508760" y="5971032"/>
            <a:ext cx="182880" cy="1536192"/>
          </a:xfrm>
          <a:prstGeom prst="rect">
            <a:avLst/>
          </a:prstGeom>
          <a:solidFill>
            <a:schemeClr val="accent1"/>
          </a:solidFill>
          <a:ln/>
        </p:spPr>
      </p:sp>
      <p:sp>
        <p:nvSpPr>
          <p:cNvPr id="27" name="Text 22"/>
          <p:cNvSpPr txBox="1"/>
          <p:nvPr/>
        </p:nvSpPr>
        <p:spPr>
          <a:xfrm>
            <a:off x="548640" y="6144768"/>
            <a:ext cx="1143000" cy="548640"/>
          </a:xfrm>
          <a:prstGeom prst="rect">
            <a:avLst/>
          </a:prstGeom>
          <a:noFill/>
          <a:ln/>
        </p:spPr>
        <p:txBody>
          <a:bodyPr wrap="square" lIns="0" tIns="0" rIns="0" bIns="0" rtlCol="0" anchor="ctr"/>
          <a:lstStyle/>
          <a:p>
            <a:pPr algn="ctr" indent="0" marL="0">
              <a:lnSpc>
                <a:spcPct val="105000"/>
              </a:lnSpc>
              <a:buNone/>
            </a:pPr>
            <a:r>
              <a:rPr lang="en-US" sz="3400" b="1" dirty="0">
                <a:solidFill>
                  <a:schemeClr val="bg1"/>
                </a:solidFill>
              </a:rPr>
              <a:t>04</a:t>
            </a:r>
            <a:endParaRPr lang="en-US" sz="3400" dirty="0"/>
          </a:p>
        </p:txBody>
      </p:sp>
      <p:pic>
        <p:nvPicPr>
          <p:cNvPr id="28" name="Image 3" descr="preencoded.png">    </p:cNvPr>
          <p:cNvPicPr>
            <a:picLocks noChangeAspect="1"/>
          </p:cNvPicPr>
          <p:nvPr/>
        </p:nvPicPr>
        <p:blipFill>
          <a:blip r:embed="rId4"/>
          <a:stretch>
            <a:fillRect/>
          </a:stretch>
        </p:blipFill>
        <p:spPr>
          <a:xfrm>
            <a:off x="964692" y="6748272"/>
            <a:ext cx="310896" cy="310896"/>
          </a:xfrm>
          <a:prstGeom prst="rect">
            <a:avLst/>
          </a:prstGeom>
        </p:spPr>
      </p:pic>
      <p:sp>
        <p:nvSpPr>
          <p:cNvPr id="29" name="Text 23"/>
          <p:cNvSpPr txBox="1"/>
          <p:nvPr/>
        </p:nvSpPr>
        <p:spPr>
          <a:xfrm>
            <a:off x="548640" y="7114032"/>
            <a:ext cx="1143000" cy="219456"/>
          </a:xfrm>
          <a:prstGeom prst="rect">
            <a:avLst/>
          </a:prstGeom>
          <a:noFill/>
          <a:ln/>
        </p:spPr>
        <p:txBody>
          <a:bodyPr wrap="square" lIns="0" tIns="0" rIns="0" bIns="0" rtlCol="0" anchor="t"/>
          <a:lstStyle/>
          <a:p>
            <a:pPr algn="ctr" indent="0" marL="0">
              <a:lnSpc>
                <a:spcPct val="105000"/>
              </a:lnSpc>
              <a:buNone/>
            </a:pPr>
            <a:r>
              <a:rPr lang="en-US" sz="1100" b="1" dirty="0">
                <a:solidFill>
                  <a:schemeClr val="accent3"/>
                </a:solidFill>
              </a:rPr>
              <a:t>→ tr. 15</a:t>
            </a:r>
            <a:endParaRPr lang="en-US" sz="1100" dirty="0"/>
          </a:p>
        </p:txBody>
      </p:sp>
      <p:sp>
        <p:nvSpPr>
          <p:cNvPr id="30" name="Text 24"/>
          <p:cNvSpPr txBox="1"/>
          <p:nvPr/>
        </p:nvSpPr>
        <p:spPr>
          <a:xfrm>
            <a:off x="1947672" y="6117336"/>
            <a:ext cx="4846320" cy="1261872"/>
          </a:xfrm>
          <a:prstGeom prst="rect">
            <a:avLst/>
          </a:prstGeom>
          <a:noFill/>
          <a:ln/>
        </p:spPr>
        <p:txBody>
          <a:bodyPr wrap="square" lIns="0" tIns="0" rIns="0" bIns="0" rtlCol="0" anchor="ctr"/>
          <a:lstStyle/>
          <a:p>
            <a:pPr indent="0" marL="0">
              <a:lnSpc>
                <a:spcPct val="105000"/>
              </a:lnSpc>
              <a:spcAft>
                <a:spcPts val="200"/>
              </a:spcAft>
              <a:buNone/>
            </a:pPr>
            <a:r>
              <a:rPr lang="en-US" sz="1400" b="1" dirty="0">
                <a:solidFill>
                  <a:schemeClr val="accent1"/>
                </a:solidFill>
              </a:rPr>
              <a:t>Trung tâm tuyển sinh: </a:t>
            </a:r>
            <a:pPr indent="0" marL="0">
              <a:lnSpc>
                <a:spcPct val="105000"/>
              </a:lnSpc>
              <a:spcAft>
                <a:spcPts val="200"/>
              </a:spcAft>
              <a:buNone/>
            </a:pPr>
            <a:r>
              <a:rPr lang="en-US" sz="1400" dirty="0">
                <a:solidFill>
                  <a:schemeClr val="tx1"/>
                </a:solidFill>
              </a:rPr>
              <a:t>liên kết hợp tác với các trường cao đẳng – đại học uy tín trong và ngoài nước tuyển sinh chính quy trình độ từ Sơ cấp đến Tiến sĩ</a:t>
            </a:r>
            <a:endParaRPr lang="en-US" sz="1400" dirty="0"/>
          </a:p>
          <a:p>
            <a:pPr indent="0" marL="0">
              <a:lnSpc>
                <a:spcPct val="105000"/>
              </a:lnSpc>
              <a:spcAft>
                <a:spcPts val="200"/>
              </a:spcAft>
              <a:buNone/>
            </a:pPr>
            <a:r>
              <a:rPr lang="en-US" sz="1400" b="1" dirty="0">
                <a:solidFill>
                  <a:schemeClr val="accent1"/>
                </a:solidFill>
              </a:rPr>
              <a:t>Tổ chức: </a:t>
            </a:r>
            <a:pPr indent="0" marL="0">
              <a:lnSpc>
                <a:spcPct val="105000"/>
              </a:lnSpc>
              <a:spcAft>
                <a:spcPts val="200"/>
              </a:spcAft>
              <a:buNone/>
            </a:pPr>
            <a:r>
              <a:rPr lang="en-US" sz="1400" dirty="0">
                <a:solidFill>
                  <a:schemeClr val="tx1"/>
                </a:solidFill>
              </a:rPr>
              <a:t>Hội nghị, hội thảo khoa học, giáo dục, công nghệ</a:t>
            </a:r>
            <a:endParaRPr lang="en-US" sz="1400" dirty="0"/>
          </a:p>
        </p:txBody>
      </p:sp>
      <p:sp>
        <p:nvSpPr>
          <p:cNvPr id="31" name="Shape 25"/>
          <p:cNvSpPr/>
          <p:nvPr/>
        </p:nvSpPr>
        <p:spPr>
          <a:xfrm>
            <a:off x="548640" y="7635240"/>
            <a:ext cx="6464808" cy="2331720"/>
          </a:xfrm>
          <a:prstGeom prst="roundRect">
            <a:avLst>
              <a:gd name="adj" fmla="val 470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2" name="Shape 26"/>
          <p:cNvSpPr/>
          <p:nvPr/>
        </p:nvSpPr>
        <p:spPr>
          <a:xfrm>
            <a:off x="5870448" y="7635240"/>
            <a:ext cx="1143000" cy="2331720"/>
          </a:xfrm>
          <a:prstGeom prst="roundRect">
            <a:avLst>
              <a:gd name="adj" fmla="val 9600"/>
            </a:avLst>
          </a:prstGeom>
          <a:solidFill>
            <a:schemeClr val="accent1"/>
          </a:solidFill>
          <a:ln/>
        </p:spPr>
      </p:sp>
      <p:sp>
        <p:nvSpPr>
          <p:cNvPr id="33" name="Shape 27"/>
          <p:cNvSpPr/>
          <p:nvPr/>
        </p:nvSpPr>
        <p:spPr>
          <a:xfrm>
            <a:off x="5870448" y="7635240"/>
            <a:ext cx="182880" cy="2331720"/>
          </a:xfrm>
          <a:prstGeom prst="rect">
            <a:avLst/>
          </a:prstGeom>
          <a:solidFill>
            <a:schemeClr val="accent1"/>
          </a:solidFill>
          <a:ln/>
        </p:spPr>
      </p:sp>
      <p:sp>
        <p:nvSpPr>
          <p:cNvPr id="34" name="Text 28"/>
          <p:cNvSpPr txBox="1"/>
          <p:nvPr/>
        </p:nvSpPr>
        <p:spPr>
          <a:xfrm>
            <a:off x="5870448" y="8343900"/>
            <a:ext cx="1143000" cy="548640"/>
          </a:xfrm>
          <a:prstGeom prst="rect">
            <a:avLst/>
          </a:prstGeom>
          <a:noFill/>
          <a:ln/>
        </p:spPr>
        <p:txBody>
          <a:bodyPr wrap="square" lIns="0" tIns="0" rIns="0" bIns="0" rtlCol="0" anchor="ctr"/>
          <a:lstStyle/>
          <a:p>
            <a:pPr algn="ctr" indent="0" marL="0">
              <a:lnSpc>
                <a:spcPct val="105000"/>
              </a:lnSpc>
              <a:buNone/>
            </a:pPr>
            <a:r>
              <a:rPr lang="en-US" sz="3400" b="1" dirty="0">
                <a:solidFill>
                  <a:schemeClr val="bg1"/>
                </a:solidFill>
              </a:rPr>
              <a:t>05</a:t>
            </a:r>
            <a:endParaRPr lang="en-US" sz="3400" dirty="0"/>
          </a:p>
        </p:txBody>
      </p:sp>
      <p:pic>
        <p:nvPicPr>
          <p:cNvPr id="35" name="Image 4" descr="preencoded.png">    </p:cNvPr>
          <p:cNvPicPr>
            <a:picLocks noChangeAspect="1"/>
          </p:cNvPicPr>
          <p:nvPr/>
        </p:nvPicPr>
        <p:blipFill>
          <a:blip r:embed="rId5"/>
          <a:stretch>
            <a:fillRect/>
          </a:stretch>
        </p:blipFill>
        <p:spPr>
          <a:xfrm>
            <a:off x="6286500" y="8947404"/>
            <a:ext cx="310896" cy="310896"/>
          </a:xfrm>
          <a:prstGeom prst="rect">
            <a:avLst/>
          </a:prstGeom>
        </p:spPr>
      </p:pic>
      <p:sp>
        <p:nvSpPr>
          <p:cNvPr id="36" name="Text 29"/>
          <p:cNvSpPr txBox="1"/>
          <p:nvPr/>
        </p:nvSpPr>
        <p:spPr>
          <a:xfrm>
            <a:off x="804672" y="7781544"/>
            <a:ext cx="4846320" cy="2057400"/>
          </a:xfrm>
          <a:prstGeom prst="rect">
            <a:avLst/>
          </a:prstGeom>
          <a:noFill/>
          <a:ln/>
        </p:spPr>
        <p:txBody>
          <a:bodyPr wrap="square" lIns="0" tIns="0" rIns="0" bIns="0" rtlCol="0" anchor="ctr"/>
          <a:lstStyle/>
          <a:p>
            <a:pPr indent="0" marL="0">
              <a:lnSpc>
                <a:spcPct val="105000"/>
              </a:lnSpc>
              <a:spcAft>
                <a:spcPts val="200"/>
              </a:spcAft>
              <a:buNone/>
            </a:pPr>
            <a:r>
              <a:rPr lang="en-US" sz="1400" dirty="0">
                <a:solidFill>
                  <a:schemeClr val="tx1"/>
                </a:solidFill>
              </a:rPr>
              <a:t>Bên cạnh chức năng nghiên cứu khoa học và đào tạo nghề, Viện STP xác định </a:t>
            </a:r>
            <a:pPr indent="0" marL="0">
              <a:lnSpc>
                <a:spcPct val="105000"/>
              </a:lnSpc>
              <a:spcAft>
                <a:spcPts val="200"/>
              </a:spcAft>
              <a:buNone/>
            </a:pPr>
            <a:r>
              <a:rPr lang="en-US" sz="1400" b="1" dirty="0">
                <a:solidFill>
                  <a:schemeClr val="accent1"/>
                </a:solidFill>
              </a:rPr>
              <a:t>tư vấn và đề xuất các giải pháp chuyên sâu cho tổ chức hành chính sự nghiệp, doanh nghiệp và tập đoàn</a:t>
            </a:r>
            <a:pPr indent="0" marL="0">
              <a:lnSpc>
                <a:spcPct val="105000"/>
              </a:lnSpc>
              <a:spcAft>
                <a:spcPts val="200"/>
              </a:spcAft>
              <a:buNone/>
            </a:pPr>
            <a:r>
              <a:rPr lang="en-US" sz="1400" dirty="0">
                <a:solidFill>
                  <a:schemeClr val="tx1"/>
                </a:solidFill>
              </a:rPr>
              <a:t> là hoạt động trọng tâm trong chiến lược phát triển.</a:t>
            </a:r>
            <a:endParaRPr lang="en-US" sz="1400" dirty="0"/>
          </a:p>
          <a:p>
            <a:pPr indent="0" marL="0">
              <a:lnSpc>
                <a:spcPct val="105000"/>
              </a:lnSpc>
              <a:spcAft>
                <a:spcPts val="200"/>
              </a:spcAft>
              <a:buNone/>
            </a:pPr>
            <a:r>
              <a:rPr lang="en-US" sz="1400" dirty="0">
                <a:solidFill>
                  <a:schemeClr val="tx1"/>
                </a:solidFill>
              </a:rPr>
              <a:t>Trên cơ sở đó, Viện STP tập trung vào 2 lĩnh vực sau:</a:t>
            </a:r>
            <a:endParaRPr lang="en-US" sz="1400" dirty="0"/>
          </a:p>
          <a:p>
            <a:pPr marL="177800" indent="-177800">
              <a:lnSpc>
                <a:spcPct val="105000"/>
              </a:lnSpc>
              <a:spcAft>
                <a:spcPts val="200"/>
              </a:spcAft>
              <a:buSzPct val="100000"/>
              <a:buChar char="•"/>
            </a:pPr>
            <a:r>
              <a:rPr lang="en-US" sz="1400" b="1" dirty="0">
                <a:solidFill>
                  <a:schemeClr val="accent1"/>
                </a:solidFill>
              </a:rPr>
              <a:t>Tư vấn thẩm định giá</a:t>
            </a:r>
            <a:endParaRPr lang="en-US" sz="1400" dirty="0"/>
          </a:p>
          <a:p>
            <a:pPr marL="177800" indent="-177800">
              <a:lnSpc>
                <a:spcPct val="105000"/>
              </a:lnSpc>
              <a:spcAft>
                <a:spcPts val="200"/>
              </a:spcAft>
              <a:buSzPct val="100000"/>
              <a:buChar char="•"/>
            </a:pPr>
            <a:r>
              <a:rPr lang="en-US" sz="1400" b="1" dirty="0">
                <a:solidFill>
                  <a:schemeClr val="accent1"/>
                </a:solidFill>
              </a:rPr>
              <a:t>Giải pháp tem điện tử chống giả và truy xuất nguồn gốc qua Cổng Mã vạch Quốc gia</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user/ATL--DAKO/profile-daotao/assets/crop/students.jpg">    </p:cNvPr>
          <p:cNvPicPr>
            <a:picLocks noChangeAspect="1"/>
          </p:cNvPicPr>
          <p:nvPr/>
        </p:nvPicPr>
        <p:blipFill>
          <a:blip r:embed="rId1"/>
          <a:srcRect l="10528" r="10528" t="0" b="0"/>
          <a:stretch/>
        </p:blipFill>
        <p:spPr>
          <a:xfrm>
            <a:off x="3977640" y="0"/>
            <a:ext cx="3584448" cy="3291840"/>
          </a:xfrm>
          <a:prstGeom prst="rect">
            <a:avLst/>
          </a:prstGeom>
        </p:spPr>
      </p:pic>
      <p:sp>
        <p:nvSpPr>
          <p:cNvPr id="3" name="Text 0"/>
          <p:cNvSpPr txBox="1"/>
          <p:nvPr/>
        </p:nvSpPr>
        <p:spPr>
          <a:xfrm>
            <a:off x="548640" y="1188720"/>
            <a:ext cx="3291840" cy="256032"/>
          </a:xfrm>
          <a:prstGeom prst="rect">
            <a:avLst/>
          </a:prstGeom>
          <a:noFill/>
          <a:ln/>
        </p:spPr>
        <p:txBody>
          <a:bodyPr wrap="square" lIns="0" tIns="0" rIns="0" bIns="0" rtlCol="0" anchor="t"/>
          <a:lstStyle/>
          <a:p>
            <a:pPr indent="0" marL="0">
              <a:lnSpc>
                <a:spcPct val="105000"/>
              </a:lnSpc>
              <a:buNone/>
            </a:pPr>
            <a:r>
              <a:rPr lang="en-US" sz="1200" b="1" spc="300" kern="0" dirty="0">
                <a:solidFill>
                  <a:schemeClr val="accent2"/>
                </a:solidFill>
              </a:rPr>
              <a:t>PHẦN 02</a:t>
            </a:r>
            <a:endParaRPr lang="en-US" sz="1200" dirty="0"/>
          </a:p>
        </p:txBody>
      </p:sp>
      <p:sp>
        <p:nvSpPr>
          <p:cNvPr id="4" name="Text 1"/>
          <p:cNvSpPr txBox="1"/>
          <p:nvPr/>
        </p:nvSpPr>
        <p:spPr>
          <a:xfrm>
            <a:off x="548640" y="2743200"/>
            <a:ext cx="3246120" cy="45720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Nâng cao năng lực chuyên môn, kỹ năng nghề và kỹ năng quản lý</a:t>
            </a:r>
            <a:endParaRPr lang="en-US" sz="1400" dirty="0"/>
          </a:p>
        </p:txBody>
      </p:sp>
      <p:sp>
        <p:nvSpPr>
          <p:cNvPr id="5" name="Text 1"/>
          <p:cNvSpPr/>
          <p:nvPr>
            <p:ph idx="103" type="title" hasCustomPrompt="1"/>
          </p:nvPr>
        </p:nvSpPr>
        <p:spPr>
          <a:xfrm>
            <a:off x="548640" y="1481328"/>
            <a:ext cx="3291840" cy="1188720"/>
          </a:xfrm>
          <a:prstGeom prst="rect">
            <a:avLst/>
          </a:prstGeom>
          <a:noFill/>
          <a:ln/>
        </p:spPr>
        <p:txBody>
          <a:bodyPr wrap="square" lIns="0" tIns="0" rIns="0" bIns="0" rtlCol="0" anchor="b"/>
          <a:lstStyle/>
          <a:p>
            <a:pPr algn="l" indent="0" marL="0">
              <a:lnSpc>
                <a:spcPct val="95000"/>
              </a:lnSpc>
              <a:buNone/>
            </a:pPr>
            <a:r>
              <a:rPr lang="en-US" sz="2600" b="1" dirty="0">
                <a:solidFill>
                  <a:schemeClr val="bg1"/>
                </a:solidFill>
              </a:rPr>
              <a:t>ĐÀO TẠO &amp; CẤP CHỨNG CHỈ NGHIỆP VỤ NGẮN HẠN</a:t>
            </a:r>
            <a:endParaRPr lang="en-US" sz="2600" dirty="0"/>
          </a:p>
        </p:txBody>
      </p:sp>
      <p:sp>
        <p:nvSpPr>
          <p:cNvPr id="6" name="Text 3"/>
          <p:cNvSpPr txBox="1"/>
          <p:nvPr/>
        </p:nvSpPr>
        <p:spPr>
          <a:xfrm>
            <a:off x="548640" y="3520440"/>
            <a:ext cx="6464808" cy="1554480"/>
          </a:xfrm>
          <a:prstGeom prst="rect">
            <a:avLst/>
          </a:prstGeom>
          <a:noFill/>
          <a:ln/>
        </p:spPr>
        <p:txBody>
          <a:bodyPr wrap="square" lIns="0" tIns="0" rIns="0" bIns="0" rtlCol="0" anchor="t"/>
          <a:lstStyle/>
          <a:p>
            <a:pPr algn="just" indent="0" marL="0">
              <a:lnSpc>
                <a:spcPct val="105000"/>
              </a:lnSpc>
              <a:spcAft>
                <a:spcPts val="600"/>
              </a:spcAft>
              <a:buNone/>
            </a:pPr>
            <a:r>
              <a:rPr lang="en-US" sz="1500" b="1" dirty="0">
                <a:solidFill>
                  <a:schemeClr val="accent1"/>
                </a:solidFill>
              </a:rPr>
              <a:t>Viện STP</a:t>
            </a:r>
            <a:pPr algn="just" indent="0" marL="0">
              <a:lnSpc>
                <a:spcPct val="105000"/>
              </a:lnSpc>
              <a:spcAft>
                <a:spcPts val="600"/>
              </a:spcAft>
              <a:buNone/>
            </a:pPr>
            <a:r>
              <a:rPr lang="en-US" sz="1500" dirty="0">
                <a:solidFill>
                  <a:schemeClr val="tx1"/>
                </a:solidFill>
              </a:rPr>
              <a:t> trực tiếp tổ chức các chương trình đào tạo, bồi dưỡng và cấp chứng chỉ nghề nghiệp ngắn hạn nhằm nâng cao năng lực chuyên môn, kỹ năng nghề và kỹ năng quản lý cho cá nhân, tổ chức và doanh nghiệp.</a:t>
            </a:r>
            <a:endParaRPr lang="en-US" sz="1500" dirty="0"/>
          </a:p>
          <a:p>
            <a:pPr algn="just" indent="0" marL="0">
              <a:lnSpc>
                <a:spcPct val="105000"/>
              </a:lnSpc>
              <a:spcAft>
                <a:spcPts val="600"/>
              </a:spcAft>
              <a:buNone/>
            </a:pPr>
            <a:r>
              <a:rPr lang="en-US" sz="1500" dirty="0">
                <a:solidFill>
                  <a:schemeClr val="tx1"/>
                </a:solidFill>
              </a:rPr>
              <a:t>Các chương trình được xây dựng </a:t>
            </a:r>
            <a:pPr algn="just" indent="0" marL="0">
              <a:lnSpc>
                <a:spcPct val="105000"/>
              </a:lnSpc>
              <a:spcAft>
                <a:spcPts val="600"/>
              </a:spcAft>
              <a:buNone/>
            </a:pPr>
            <a:r>
              <a:rPr lang="en-US" sz="1500" b="1" dirty="0">
                <a:solidFill>
                  <a:schemeClr val="tx2"/>
                </a:solidFill>
              </a:rPr>
              <a:t>theo hướng ứng dụng, bám sát nhu cầu thực tiễn và yêu cầu của thị trường lao động.</a:t>
            </a:r>
            <a:endParaRPr lang="en-US" sz="1500" dirty="0"/>
          </a:p>
        </p:txBody>
      </p:sp>
      <p:sp>
        <p:nvSpPr>
          <p:cNvPr id="7" name="Text 4"/>
          <p:cNvSpPr txBox="1"/>
          <p:nvPr/>
        </p:nvSpPr>
        <p:spPr>
          <a:xfrm>
            <a:off x="548640" y="5230368"/>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CÁC NHÓM CHƯƠNG TRÌNH CHỨNG CHỈ</a:t>
            </a:r>
            <a:endParaRPr lang="en-US" sz="1600" dirty="0"/>
          </a:p>
        </p:txBody>
      </p:sp>
      <p:sp>
        <p:nvSpPr>
          <p:cNvPr id="8" name="Shape 5"/>
          <p:cNvSpPr/>
          <p:nvPr/>
        </p:nvSpPr>
        <p:spPr>
          <a:xfrm>
            <a:off x="548640" y="5715000"/>
            <a:ext cx="3150108" cy="1938528"/>
          </a:xfrm>
          <a:prstGeom prst="roundRect">
            <a:avLst>
              <a:gd name="adj" fmla="val 5660"/>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9" name="Shape 6"/>
          <p:cNvSpPr/>
          <p:nvPr/>
        </p:nvSpPr>
        <p:spPr>
          <a:xfrm>
            <a:off x="749808" y="5916168"/>
            <a:ext cx="566928" cy="566928"/>
          </a:xfrm>
          <a:prstGeom prst="ellipse">
            <a:avLst/>
          </a:prstGeom>
          <a:solidFill>
            <a:schemeClr val="bg2"/>
          </a:solidFill>
          <a:ln/>
        </p:spPr>
      </p:sp>
      <p:pic>
        <p:nvPicPr>
          <p:cNvPr id="10" name="Image 1" descr="preencoded.png">    </p:cNvPr>
          <p:cNvPicPr>
            <a:picLocks noChangeAspect="1"/>
          </p:cNvPicPr>
          <p:nvPr/>
        </p:nvPicPr>
        <p:blipFill>
          <a:blip r:embed="rId2"/>
          <a:stretch>
            <a:fillRect/>
          </a:stretch>
        </p:blipFill>
        <p:spPr>
          <a:xfrm>
            <a:off x="885871" y="6052231"/>
            <a:ext cx="294803" cy="294803"/>
          </a:xfrm>
          <a:prstGeom prst="rect">
            <a:avLst/>
          </a:prstGeom>
        </p:spPr>
      </p:pic>
      <p:sp>
        <p:nvSpPr>
          <p:cNvPr id="11" name="Text 7"/>
          <p:cNvSpPr txBox="1"/>
          <p:nvPr/>
        </p:nvSpPr>
        <p:spPr>
          <a:xfrm>
            <a:off x="1444752" y="5897880"/>
            <a:ext cx="2098548" cy="603504"/>
          </a:xfrm>
          <a:prstGeom prst="rect">
            <a:avLst/>
          </a:prstGeom>
          <a:noFill/>
          <a:ln/>
        </p:spPr>
        <p:txBody>
          <a:bodyPr wrap="square" lIns="0" tIns="0" rIns="0" bIns="0" rtlCol="0" anchor="ctr"/>
          <a:lstStyle/>
          <a:p>
            <a:pPr indent="0" marL="0">
              <a:lnSpc>
                <a:spcPct val="105000"/>
              </a:lnSpc>
              <a:buNone/>
            </a:pPr>
            <a:r>
              <a:rPr lang="en-US" sz="1500" b="1" dirty="0">
                <a:solidFill>
                  <a:schemeClr val="accent1"/>
                </a:solidFill>
              </a:rPr>
              <a:t>AN TOÀN ĐƯỜNG THỦY NỘI ĐỊA</a:t>
            </a:r>
            <a:endParaRPr lang="en-US" sz="1500" dirty="0"/>
          </a:p>
        </p:txBody>
      </p:sp>
      <p:sp>
        <p:nvSpPr>
          <p:cNvPr id="12" name="Text 8"/>
          <p:cNvSpPr txBox="1"/>
          <p:nvPr/>
        </p:nvSpPr>
        <p:spPr>
          <a:xfrm>
            <a:off x="749808" y="6611112"/>
            <a:ext cx="2766060" cy="960120"/>
          </a:xfrm>
          <a:prstGeom prst="rect">
            <a:avLst/>
          </a:prstGeom>
          <a:noFill/>
          <a:ln/>
        </p:spPr>
        <p:txBody>
          <a:bodyPr wrap="square" lIns="0" tIns="0" rIns="0" bIns="0" rtlCol="0" anchor="t"/>
          <a:lstStyle/>
          <a:p>
            <a:pPr indent="0" marL="0">
              <a:lnSpc>
                <a:spcPct val="105000"/>
              </a:lnSpc>
              <a:buNone/>
            </a:pPr>
            <a:r>
              <a:rPr lang="en-US" sz="1450" dirty="0">
                <a:solidFill>
                  <a:schemeClr val="tx1"/>
                </a:solidFill>
              </a:rPr>
              <a:t>Bồi dưỡng nghiệp vụ bảo đảm an toàn giao thông đường thủy nội địa; lĩnh vực khai thác vận tải giao thông đường thủy.</a:t>
            </a:r>
            <a:endParaRPr lang="en-US" sz="1450" dirty="0"/>
          </a:p>
        </p:txBody>
      </p:sp>
      <p:sp>
        <p:nvSpPr>
          <p:cNvPr id="13" name="Shape 9"/>
          <p:cNvSpPr/>
          <p:nvPr/>
        </p:nvSpPr>
        <p:spPr>
          <a:xfrm>
            <a:off x="3863340" y="5715000"/>
            <a:ext cx="3150108" cy="1938528"/>
          </a:xfrm>
          <a:prstGeom prst="roundRect">
            <a:avLst>
              <a:gd name="adj" fmla="val 5660"/>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14" name="Shape 10"/>
          <p:cNvSpPr/>
          <p:nvPr/>
        </p:nvSpPr>
        <p:spPr>
          <a:xfrm>
            <a:off x="4064508" y="5916168"/>
            <a:ext cx="566928" cy="566928"/>
          </a:xfrm>
          <a:prstGeom prst="ellipse">
            <a:avLst/>
          </a:prstGeom>
          <a:solidFill>
            <a:schemeClr val="bg2"/>
          </a:solidFill>
          <a:ln/>
        </p:spPr>
      </p:sp>
      <p:pic>
        <p:nvPicPr>
          <p:cNvPr id="15" name="Image 2" descr="preencoded.png">    </p:cNvPr>
          <p:cNvPicPr>
            <a:picLocks noChangeAspect="1"/>
          </p:cNvPicPr>
          <p:nvPr/>
        </p:nvPicPr>
        <p:blipFill>
          <a:blip r:embed="rId3"/>
          <a:stretch>
            <a:fillRect/>
          </a:stretch>
        </p:blipFill>
        <p:spPr>
          <a:xfrm>
            <a:off x="4200571" y="6052231"/>
            <a:ext cx="294803" cy="294803"/>
          </a:xfrm>
          <a:prstGeom prst="rect">
            <a:avLst/>
          </a:prstGeom>
        </p:spPr>
      </p:pic>
      <p:sp>
        <p:nvSpPr>
          <p:cNvPr id="16" name="Text 11"/>
          <p:cNvSpPr txBox="1"/>
          <p:nvPr/>
        </p:nvSpPr>
        <p:spPr>
          <a:xfrm>
            <a:off x="4759452" y="5897880"/>
            <a:ext cx="2098548" cy="603504"/>
          </a:xfrm>
          <a:prstGeom prst="rect">
            <a:avLst/>
          </a:prstGeom>
          <a:noFill/>
          <a:ln/>
        </p:spPr>
        <p:txBody>
          <a:bodyPr wrap="square" lIns="0" tIns="0" rIns="0" bIns="0" rtlCol="0" anchor="ctr"/>
          <a:lstStyle/>
          <a:p>
            <a:pPr indent="0" marL="0">
              <a:lnSpc>
                <a:spcPct val="105000"/>
              </a:lnSpc>
              <a:buNone/>
            </a:pPr>
            <a:r>
              <a:rPr lang="en-US" sz="1500" b="1" dirty="0">
                <a:solidFill>
                  <a:schemeClr val="accent1"/>
                </a:solidFill>
              </a:rPr>
              <a:t>LĨNH VỰC XÂY DỰNG</a:t>
            </a:r>
            <a:endParaRPr lang="en-US" sz="1500" dirty="0"/>
          </a:p>
        </p:txBody>
      </p:sp>
      <p:sp>
        <p:nvSpPr>
          <p:cNvPr id="17" name="Text 12"/>
          <p:cNvSpPr txBox="1"/>
          <p:nvPr/>
        </p:nvSpPr>
        <p:spPr>
          <a:xfrm>
            <a:off x="4064508" y="6611112"/>
            <a:ext cx="2766060" cy="960120"/>
          </a:xfrm>
          <a:prstGeom prst="rect">
            <a:avLst/>
          </a:prstGeom>
          <a:noFill/>
          <a:ln/>
        </p:spPr>
        <p:txBody>
          <a:bodyPr wrap="square" lIns="0" tIns="0" rIns="0" bIns="0" rtlCol="0" anchor="t"/>
          <a:lstStyle/>
          <a:p>
            <a:pPr indent="0" marL="0">
              <a:lnSpc>
                <a:spcPct val="105000"/>
              </a:lnSpc>
              <a:buNone/>
            </a:pPr>
            <a:r>
              <a:rPr lang="en-US" sz="1450" dirty="0">
                <a:solidFill>
                  <a:schemeClr val="tx1"/>
                </a:solidFill>
              </a:rPr>
              <a:t>Bồi dưỡng nghiệp vụ Giám sát thi công xây dựng công trình và Chỉ huy trưởng công trình.</a:t>
            </a:r>
            <a:endParaRPr lang="en-US" sz="1450" dirty="0"/>
          </a:p>
        </p:txBody>
      </p:sp>
      <p:sp>
        <p:nvSpPr>
          <p:cNvPr id="18" name="Shape 13"/>
          <p:cNvSpPr/>
          <p:nvPr/>
        </p:nvSpPr>
        <p:spPr>
          <a:xfrm>
            <a:off x="548640" y="7872984"/>
            <a:ext cx="3150108" cy="1938528"/>
          </a:xfrm>
          <a:prstGeom prst="roundRect">
            <a:avLst>
              <a:gd name="adj" fmla="val 5660"/>
            </a:avLst>
          </a:prstGeom>
          <a:solidFill>
            <a:schemeClr val="bg2"/>
          </a:solidFill>
          <a:ln w="15875">
            <a:solidFill>
              <a:schemeClr val="accent2"/>
            </a:solidFill>
            <a:prstDash val="solid"/>
          </a:ln>
          <a:effectLst>
            <a:outerShdw sx="100000" sy="100000" kx="0" ky="0" algn="bl" rotWithShape="0" blurRad="101600" dist="25400" dir="5400000">
              <a:srgbClr val="0B2A00">
                <a:alpha val="16000"/>
              </a:srgbClr>
            </a:outerShdw>
          </a:effectLst>
        </p:spPr>
      </p:sp>
      <p:sp>
        <p:nvSpPr>
          <p:cNvPr id="19" name="Shape 14"/>
          <p:cNvSpPr/>
          <p:nvPr/>
        </p:nvSpPr>
        <p:spPr>
          <a:xfrm>
            <a:off x="749808" y="8074152"/>
            <a:ext cx="566928" cy="56692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85871" y="8210215"/>
            <a:ext cx="294803" cy="294803"/>
          </a:xfrm>
          <a:prstGeom prst="rect">
            <a:avLst/>
          </a:prstGeom>
        </p:spPr>
      </p:pic>
      <p:sp>
        <p:nvSpPr>
          <p:cNvPr id="21" name="Text 15"/>
          <p:cNvSpPr txBox="1"/>
          <p:nvPr/>
        </p:nvSpPr>
        <p:spPr>
          <a:xfrm>
            <a:off x="1444752" y="8055864"/>
            <a:ext cx="2098548" cy="603504"/>
          </a:xfrm>
          <a:prstGeom prst="rect">
            <a:avLst/>
          </a:prstGeom>
          <a:noFill/>
          <a:ln/>
        </p:spPr>
        <p:txBody>
          <a:bodyPr wrap="square" lIns="0" tIns="0" rIns="0" bIns="0" rtlCol="0" anchor="ctr"/>
          <a:lstStyle/>
          <a:p>
            <a:pPr indent="0" marL="0">
              <a:lnSpc>
                <a:spcPct val="105000"/>
              </a:lnSpc>
              <a:buNone/>
            </a:pPr>
            <a:r>
              <a:rPr lang="en-US" sz="1500" b="1" dirty="0">
                <a:solidFill>
                  <a:schemeClr val="accent1"/>
                </a:solidFill>
              </a:rPr>
              <a:t>AN TOÀN, VỆ SINH LAO ĐỘNG</a:t>
            </a:r>
            <a:endParaRPr lang="en-US" sz="1500" dirty="0"/>
          </a:p>
        </p:txBody>
      </p:sp>
      <p:sp>
        <p:nvSpPr>
          <p:cNvPr id="22" name="Text 16"/>
          <p:cNvSpPr txBox="1"/>
          <p:nvPr/>
        </p:nvSpPr>
        <p:spPr>
          <a:xfrm>
            <a:off x="749808" y="8769096"/>
            <a:ext cx="2766060" cy="960120"/>
          </a:xfrm>
          <a:prstGeom prst="rect">
            <a:avLst/>
          </a:prstGeom>
          <a:noFill/>
          <a:ln/>
        </p:spPr>
        <p:txBody>
          <a:bodyPr wrap="square" lIns="0" tIns="0" rIns="0" bIns="0" rtlCol="0" anchor="t"/>
          <a:lstStyle/>
          <a:p>
            <a:pPr indent="0" marL="0">
              <a:lnSpc>
                <a:spcPct val="105000"/>
              </a:lnSpc>
              <a:buNone/>
            </a:pPr>
            <a:r>
              <a:rPr lang="en-US" sz="1450" dirty="0">
                <a:solidFill>
                  <a:schemeClr val="tx1"/>
                </a:solidFill>
              </a:rPr>
              <a:t>Huấn luyện 6 nhóm đối tượng theo quy định, cấp chứng chỉ và số hóa quản lý ATVSLĐ cho doanh nghiệp.</a:t>
            </a:r>
            <a:endParaRPr lang="en-US" sz="1450" dirty="0"/>
          </a:p>
        </p:txBody>
      </p:sp>
      <p:sp>
        <p:nvSpPr>
          <p:cNvPr id="23" name="Shape 17"/>
          <p:cNvSpPr/>
          <p:nvPr/>
        </p:nvSpPr>
        <p:spPr>
          <a:xfrm>
            <a:off x="2098548" y="7717536"/>
            <a:ext cx="1463040" cy="292608"/>
          </a:xfrm>
          <a:prstGeom prst="roundRect">
            <a:avLst>
              <a:gd name="adj" fmla="val 50000"/>
            </a:avLst>
          </a:prstGeom>
          <a:solidFill>
            <a:schemeClr val="accent2"/>
          </a:solidFill>
          <a:ln/>
        </p:spPr>
      </p:sp>
      <p:sp>
        <p:nvSpPr>
          <p:cNvPr id="24" name="Text 18"/>
          <p:cNvSpPr txBox="1"/>
          <p:nvPr/>
        </p:nvSpPr>
        <p:spPr>
          <a:xfrm>
            <a:off x="2098548" y="7717536"/>
            <a:ext cx="1463040" cy="292608"/>
          </a:xfrm>
          <a:prstGeom prst="rect">
            <a:avLst/>
          </a:prstGeom>
          <a:noFill/>
          <a:ln/>
        </p:spPr>
        <p:txBody>
          <a:bodyPr wrap="square" lIns="0" tIns="0" rIns="0" bIns="0" rtlCol="0" anchor="ctr"/>
          <a:lstStyle/>
          <a:p>
            <a:pPr algn="ctr" indent="0" marL="0">
              <a:lnSpc>
                <a:spcPct val="105000"/>
              </a:lnSpc>
              <a:buNone/>
            </a:pPr>
            <a:r>
              <a:rPr lang="en-US" sz="1100" b="1" dirty="0">
                <a:solidFill>
                  <a:schemeClr val="tx2"/>
                </a:solidFill>
              </a:rPr>
              <a:t>TRỌNG TÂM · tr. 07</a:t>
            </a:r>
            <a:endParaRPr lang="en-US" sz="1100" dirty="0"/>
          </a:p>
        </p:txBody>
      </p:sp>
      <p:sp>
        <p:nvSpPr>
          <p:cNvPr id="25" name="Shape 19"/>
          <p:cNvSpPr/>
          <p:nvPr/>
        </p:nvSpPr>
        <p:spPr>
          <a:xfrm>
            <a:off x="3863340" y="7872984"/>
            <a:ext cx="3150108" cy="1938528"/>
          </a:xfrm>
          <a:prstGeom prst="roundRect">
            <a:avLst>
              <a:gd name="adj" fmla="val 5660"/>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6" name="Shape 20"/>
          <p:cNvSpPr/>
          <p:nvPr/>
        </p:nvSpPr>
        <p:spPr>
          <a:xfrm>
            <a:off x="4064508" y="8074152"/>
            <a:ext cx="566928" cy="566928"/>
          </a:xfrm>
          <a:prstGeom prst="ellipse">
            <a:avLst/>
          </a:prstGeom>
          <a:solidFill>
            <a:schemeClr val="bg2"/>
          </a:solidFill>
          <a:ln/>
        </p:spPr>
      </p:sp>
      <p:pic>
        <p:nvPicPr>
          <p:cNvPr id="27" name="Image 4" descr="preencoded.png">    </p:cNvPr>
          <p:cNvPicPr>
            <a:picLocks noChangeAspect="1"/>
          </p:cNvPicPr>
          <p:nvPr/>
        </p:nvPicPr>
        <p:blipFill>
          <a:blip r:embed="rId5"/>
          <a:stretch>
            <a:fillRect/>
          </a:stretch>
        </p:blipFill>
        <p:spPr>
          <a:xfrm>
            <a:off x="4200571" y="8210215"/>
            <a:ext cx="294803" cy="294803"/>
          </a:xfrm>
          <a:prstGeom prst="rect">
            <a:avLst/>
          </a:prstGeom>
        </p:spPr>
      </p:pic>
      <p:sp>
        <p:nvSpPr>
          <p:cNvPr id="28" name="Text 21"/>
          <p:cNvSpPr txBox="1"/>
          <p:nvPr/>
        </p:nvSpPr>
        <p:spPr>
          <a:xfrm>
            <a:off x="4759452" y="8055864"/>
            <a:ext cx="2098548" cy="603504"/>
          </a:xfrm>
          <a:prstGeom prst="rect">
            <a:avLst/>
          </a:prstGeom>
          <a:noFill/>
          <a:ln/>
        </p:spPr>
        <p:txBody>
          <a:bodyPr wrap="square" lIns="0" tIns="0" rIns="0" bIns="0" rtlCol="0" anchor="ctr"/>
          <a:lstStyle/>
          <a:p>
            <a:pPr indent="0" marL="0">
              <a:lnSpc>
                <a:spcPct val="105000"/>
              </a:lnSpc>
              <a:buNone/>
            </a:pPr>
            <a:r>
              <a:rPr lang="en-US" sz="1500" b="1" dirty="0">
                <a:solidFill>
                  <a:schemeClr val="accent1"/>
                </a:solidFill>
              </a:rPr>
              <a:t>CHỨNG CHỈ NGHIỆP VỤ KHÁC</a:t>
            </a:r>
            <a:endParaRPr lang="en-US" sz="1500" dirty="0"/>
          </a:p>
        </p:txBody>
      </p:sp>
      <p:sp>
        <p:nvSpPr>
          <p:cNvPr id="29" name="Text 22"/>
          <p:cNvSpPr txBox="1"/>
          <p:nvPr/>
        </p:nvSpPr>
        <p:spPr>
          <a:xfrm>
            <a:off x="4064508" y="8769096"/>
            <a:ext cx="2766060" cy="960120"/>
          </a:xfrm>
          <a:prstGeom prst="rect">
            <a:avLst/>
          </a:prstGeom>
          <a:noFill/>
          <a:ln/>
        </p:spPr>
        <p:txBody>
          <a:bodyPr wrap="square" lIns="0" tIns="0" rIns="0" bIns="0" rtlCol="0" anchor="t"/>
          <a:lstStyle/>
          <a:p>
            <a:pPr indent="0" marL="0">
              <a:lnSpc>
                <a:spcPct val="105000"/>
              </a:lnSpc>
              <a:buNone/>
            </a:pPr>
            <a:r>
              <a:rPr lang="en-US" sz="1450" dirty="0">
                <a:solidFill>
                  <a:schemeClr val="tx1"/>
                </a:solidFill>
              </a:rPr>
              <a:t>Sơ cấp cứu, an toàn điện, an toàn hóa chất, giáo dục nghề nghiệp; chương trình cho học sinh, sinh viên, giáo viên.</a:t>
            </a:r>
            <a:endParaRPr lang="en-US" sz="145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02 · CHỨNG CHỈ NGHIỆP VỤ NGẮN HẠN</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CHỨNG CHỈ CHUYÊN NGÀNH</a:t>
            </a:r>
            <a:endParaRPr lang="en-US" sz="2800" dirty="0"/>
          </a:p>
        </p:txBody>
      </p:sp>
      <p:sp>
        <p:nvSpPr>
          <p:cNvPr id="4" name="Text 2"/>
          <p:cNvSpPr txBox="1"/>
          <p:nvPr/>
        </p:nvSpPr>
        <p:spPr>
          <a:xfrm>
            <a:off x="548640" y="1261872"/>
            <a:ext cx="6464808" cy="512064"/>
          </a:xfrm>
          <a:prstGeom prst="rect">
            <a:avLst/>
          </a:prstGeom>
          <a:noFill/>
          <a:ln/>
        </p:spPr>
        <p:txBody>
          <a:bodyPr wrap="square" lIns="0" tIns="0" rIns="0" bIns="0" rtlCol="0" anchor="t"/>
          <a:lstStyle/>
          <a:p>
            <a:pPr indent="0" marL="0">
              <a:lnSpc>
                <a:spcPct val="105000"/>
              </a:lnSpc>
              <a:buNone/>
            </a:pPr>
            <a:r>
              <a:rPr lang="en-US" sz="1400" i="1" dirty="0">
                <a:solidFill>
                  <a:schemeClr val="accent5"/>
                </a:solidFill>
              </a:rPr>
              <a:t>Học viên hoàn thành khóa học được cấp Chứng nhận nghiệp vụ song ngữ Việt – Anh (Certificate of Knowledge) do Viện STP cấp, có số hiệu và số vào sổ cấp chứng nhận.</a:t>
            </a:r>
            <a:endParaRPr lang="en-US" sz="1400" dirty="0"/>
          </a:p>
        </p:txBody>
      </p:sp>
      <p:sp>
        <p:nvSpPr>
          <p:cNvPr id="5" name="Shape 3"/>
          <p:cNvSpPr/>
          <p:nvPr/>
        </p:nvSpPr>
        <p:spPr>
          <a:xfrm>
            <a:off x="548640" y="1938528"/>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58368" y="2048256"/>
            <a:ext cx="237744" cy="237744"/>
          </a:xfrm>
          <a:prstGeom prst="rect">
            <a:avLst/>
          </a:prstGeom>
        </p:spPr>
      </p:pic>
      <p:sp>
        <p:nvSpPr>
          <p:cNvPr id="7" name="Text 4"/>
          <p:cNvSpPr txBox="1"/>
          <p:nvPr/>
        </p:nvSpPr>
        <p:spPr>
          <a:xfrm>
            <a:off x="1115568" y="1901952"/>
            <a:ext cx="2834640" cy="530352"/>
          </a:xfrm>
          <a:prstGeom prst="rect">
            <a:avLst/>
          </a:prstGeom>
          <a:noFill/>
          <a:ln/>
        </p:spPr>
        <p:txBody>
          <a:bodyPr wrap="square" lIns="0" tIns="0" rIns="0" bIns="0" rtlCol="0" anchor="ctr"/>
          <a:lstStyle/>
          <a:p>
            <a:pPr indent="0" marL="0">
              <a:lnSpc>
                <a:spcPct val="105000"/>
              </a:lnSpc>
              <a:buNone/>
            </a:pPr>
            <a:r>
              <a:rPr lang="en-US" sz="1600" b="1" dirty="0">
                <a:solidFill>
                  <a:schemeClr val="accent1"/>
                </a:solidFill>
              </a:rPr>
              <a:t>AN TOÀN ĐƯỜNG THỦY</a:t>
            </a:r>
            <a:endParaRPr lang="en-US" sz="1600" dirty="0"/>
          </a:p>
          <a:p>
            <a:pPr indent="0" marL="0">
              <a:lnSpc>
                <a:spcPct val="105000"/>
              </a:lnSpc>
              <a:buNone/>
            </a:pPr>
            <a:r>
              <a:rPr lang="en-US" sz="1600" b="1" dirty="0">
                <a:solidFill>
                  <a:schemeClr val="accent1"/>
                </a:solidFill>
              </a:rPr>
              <a:t>NỘI ĐỊA</a:t>
            </a:r>
            <a:endParaRPr lang="en-US" sz="1600" dirty="0"/>
          </a:p>
        </p:txBody>
      </p:sp>
      <p:sp>
        <p:nvSpPr>
          <p:cNvPr id="8" name="Text 5"/>
          <p:cNvSpPr txBox="1"/>
          <p:nvPr/>
        </p:nvSpPr>
        <p:spPr>
          <a:xfrm>
            <a:off x="548640" y="2514600"/>
            <a:ext cx="3310128" cy="1783080"/>
          </a:xfrm>
          <a:prstGeom prst="rect">
            <a:avLst/>
          </a:prstGeom>
          <a:noFill/>
          <a:ln/>
        </p:spPr>
        <p:txBody>
          <a:bodyPr wrap="square" lIns="0" tIns="0" rIns="0" bIns="0" rtlCol="0" anchor="t"/>
          <a:lstStyle/>
          <a:p>
            <a:pPr indent="0" marL="0">
              <a:lnSpc>
                <a:spcPct val="105000"/>
              </a:lnSpc>
              <a:spcAft>
                <a:spcPts val="600"/>
              </a:spcAft>
              <a:buNone/>
            </a:pPr>
            <a:r>
              <a:rPr lang="en-US" sz="1400" b="1" dirty="0">
                <a:solidFill>
                  <a:schemeClr val="tx2"/>
                </a:solidFill>
              </a:rPr>
              <a:t>Lĩnh vực: </a:t>
            </a:r>
            <a:pPr indent="0" marL="0">
              <a:lnSpc>
                <a:spcPct val="105000"/>
              </a:lnSpc>
              <a:spcAft>
                <a:spcPts val="600"/>
              </a:spcAft>
              <a:buNone/>
            </a:pPr>
            <a:r>
              <a:rPr lang="en-US" sz="1400" dirty="0">
                <a:solidFill>
                  <a:schemeClr val="tx1"/>
                </a:solidFill>
              </a:rPr>
              <a:t>Khai thác vận tải giao thông đường thủy</a:t>
            </a:r>
            <a:endParaRPr lang="en-US" sz="1400" dirty="0"/>
          </a:p>
          <a:p>
            <a:pPr indent="0" marL="0">
              <a:lnSpc>
                <a:spcPct val="105000"/>
              </a:lnSpc>
              <a:spcAft>
                <a:spcPts val="600"/>
              </a:spcAft>
              <a:buNone/>
            </a:pPr>
            <a:r>
              <a:rPr lang="en-US" sz="1400" b="1" dirty="0">
                <a:solidFill>
                  <a:schemeClr val="tx2"/>
                </a:solidFill>
              </a:rPr>
              <a:t>Khóa học: </a:t>
            </a:r>
            <a:pPr indent="0" marL="0">
              <a:lnSpc>
                <a:spcPct val="105000"/>
              </a:lnSpc>
              <a:spcAft>
                <a:spcPts val="600"/>
              </a:spcAft>
              <a:buNone/>
            </a:pPr>
            <a:r>
              <a:rPr lang="en-US" sz="1400" dirty="0">
                <a:solidFill>
                  <a:schemeClr val="tx1"/>
                </a:solidFill>
              </a:rPr>
              <a:t>Bồi dưỡng nghiệp vụ Bảo đảm an toàn giao thông đường thủy nội địa</a:t>
            </a:r>
            <a:endParaRPr lang="en-US" sz="1400" dirty="0"/>
          </a:p>
          <a:p>
            <a:pPr indent="0" marL="0">
              <a:lnSpc>
                <a:spcPct val="105000"/>
              </a:lnSpc>
              <a:spcAft>
                <a:spcPts val="600"/>
              </a:spcAft>
              <a:buNone/>
            </a:pPr>
            <a:r>
              <a:rPr lang="en-US" sz="1400" b="1" dirty="0">
                <a:solidFill>
                  <a:schemeClr val="tx2"/>
                </a:solidFill>
              </a:rPr>
              <a:t>Đối tượng: </a:t>
            </a:r>
            <a:pPr indent="0" marL="0">
              <a:lnSpc>
                <a:spcPct val="105000"/>
              </a:lnSpc>
              <a:spcAft>
                <a:spcPts val="600"/>
              </a:spcAft>
              <a:buNone/>
            </a:pPr>
            <a:r>
              <a:rPr lang="en-US" sz="1400" dirty="0">
                <a:solidFill>
                  <a:schemeClr val="tx1"/>
                </a:solidFill>
              </a:rPr>
              <a:t>Công chức, viên chức và cá nhân hoạt động trong lĩnh vực đường thủy nội địa</a:t>
            </a:r>
            <a:endParaRPr lang="en-US" sz="1400" dirty="0"/>
          </a:p>
        </p:txBody>
      </p:sp>
      <p:sp>
        <p:nvSpPr>
          <p:cNvPr id="9" name="Shape 6"/>
          <p:cNvSpPr/>
          <p:nvPr/>
        </p:nvSpPr>
        <p:spPr>
          <a:xfrm>
            <a:off x="4041648" y="1938528"/>
            <a:ext cx="2990088" cy="2121408"/>
          </a:xfrm>
          <a:prstGeom prst="roundRect">
            <a:avLst>
              <a:gd name="adj" fmla="val 2155"/>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10" name="Image 1" descr="/home/user/ATL--DAKO/profile-daotao/assets/crop/cert_dt.jpg">    </p:cNvPr>
          <p:cNvPicPr>
            <a:picLocks noChangeAspect="1"/>
          </p:cNvPicPr>
          <p:nvPr/>
        </p:nvPicPr>
        <p:blipFill>
          <a:blip r:embed="rId2"/>
          <a:srcRect l="533" r="533" t="0" b="0"/>
          <a:stretch/>
        </p:blipFill>
        <p:spPr>
          <a:xfrm>
            <a:off x="4087368" y="1984248"/>
            <a:ext cx="2898648" cy="2029968"/>
          </a:xfrm>
          <a:prstGeom prst="rect">
            <a:avLst/>
          </a:prstGeom>
        </p:spPr>
      </p:pic>
      <p:sp>
        <p:nvSpPr>
          <p:cNvPr id="11" name="Shape 7"/>
          <p:cNvSpPr/>
          <p:nvPr/>
        </p:nvSpPr>
        <p:spPr>
          <a:xfrm>
            <a:off x="548640" y="4480560"/>
            <a:ext cx="457200" cy="45720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58368" y="4590288"/>
            <a:ext cx="237744" cy="237744"/>
          </a:xfrm>
          <a:prstGeom prst="rect">
            <a:avLst/>
          </a:prstGeom>
        </p:spPr>
      </p:pic>
      <p:sp>
        <p:nvSpPr>
          <p:cNvPr id="13" name="Text 8"/>
          <p:cNvSpPr txBox="1"/>
          <p:nvPr/>
        </p:nvSpPr>
        <p:spPr>
          <a:xfrm>
            <a:off x="1115568" y="4480560"/>
            <a:ext cx="4572000" cy="457200"/>
          </a:xfrm>
          <a:prstGeom prst="rect">
            <a:avLst/>
          </a:prstGeom>
          <a:noFill/>
          <a:ln/>
        </p:spPr>
        <p:txBody>
          <a:bodyPr wrap="square" lIns="0" tIns="0" rIns="0" bIns="0" rtlCol="0" anchor="ctr"/>
          <a:lstStyle/>
          <a:p>
            <a:pPr indent="0" marL="0">
              <a:lnSpc>
                <a:spcPct val="105000"/>
              </a:lnSpc>
              <a:buNone/>
            </a:pPr>
            <a:r>
              <a:rPr lang="en-US" sz="1600" b="1" dirty="0">
                <a:solidFill>
                  <a:schemeClr val="accent1"/>
                </a:solidFill>
              </a:rPr>
              <a:t>LĨNH VỰC XÂY DỰNG</a:t>
            </a:r>
            <a:endParaRPr lang="en-US" sz="1600" dirty="0"/>
          </a:p>
        </p:txBody>
      </p:sp>
      <p:sp>
        <p:nvSpPr>
          <p:cNvPr id="14" name="Shape 9"/>
          <p:cNvSpPr/>
          <p:nvPr/>
        </p:nvSpPr>
        <p:spPr>
          <a:xfrm>
            <a:off x="548640" y="5074920"/>
            <a:ext cx="3140964" cy="2267712"/>
          </a:xfrm>
          <a:prstGeom prst="roundRect">
            <a:avLst>
              <a:gd name="adj" fmla="val 201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15" name="Image 3" descr="/home/user/ATL--DAKO/profile-daotao/assets/crop/cert_xd.jpg">    </p:cNvPr>
          <p:cNvPicPr>
            <a:picLocks noChangeAspect="1"/>
          </p:cNvPicPr>
          <p:nvPr/>
        </p:nvPicPr>
        <p:blipFill>
          <a:blip r:embed="rId4"/>
          <a:srcRect l="1252" r="1252" t="0" b="0"/>
          <a:stretch/>
        </p:blipFill>
        <p:spPr>
          <a:xfrm>
            <a:off x="594360" y="5120640"/>
            <a:ext cx="3049524" cy="2176272"/>
          </a:xfrm>
          <a:prstGeom prst="rect">
            <a:avLst/>
          </a:prstGeom>
        </p:spPr>
      </p:pic>
      <p:sp>
        <p:nvSpPr>
          <p:cNvPr id="16" name="Text 10"/>
          <p:cNvSpPr txBox="1"/>
          <p:nvPr/>
        </p:nvSpPr>
        <p:spPr>
          <a:xfrm>
            <a:off x="548640" y="7424928"/>
            <a:ext cx="3140964" cy="731520"/>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Giám sát thi công xây dựng công trình</a:t>
            </a:r>
            <a:endParaRPr lang="en-US" sz="1400" dirty="0"/>
          </a:p>
          <a:p>
            <a:pPr indent="0" marL="0">
              <a:lnSpc>
                <a:spcPct val="105000"/>
              </a:lnSpc>
              <a:buNone/>
            </a:pPr>
            <a:r>
              <a:rPr lang="en-US" sz="1400" dirty="0">
                <a:solidFill>
                  <a:schemeClr val="accent5"/>
                </a:solidFill>
              </a:rPr>
              <a:t>Theo Thông tư 25/2009/TT-BXD ngày 29/7/2009 của Bộ Xây dựng</a:t>
            </a:r>
            <a:endParaRPr lang="en-US" sz="1400" dirty="0"/>
          </a:p>
        </p:txBody>
      </p:sp>
      <p:sp>
        <p:nvSpPr>
          <p:cNvPr id="17" name="Shape 11"/>
          <p:cNvSpPr/>
          <p:nvPr/>
        </p:nvSpPr>
        <p:spPr>
          <a:xfrm>
            <a:off x="3872484" y="5074920"/>
            <a:ext cx="3140964" cy="2267712"/>
          </a:xfrm>
          <a:prstGeom prst="roundRect">
            <a:avLst>
              <a:gd name="adj" fmla="val 201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18" name="Image 4" descr="/home/user/ATL--DAKO/profile-daotao/assets/crop/cert_cht.jpg">    </p:cNvPr>
          <p:cNvPicPr>
            <a:picLocks noChangeAspect="1"/>
          </p:cNvPicPr>
          <p:nvPr/>
        </p:nvPicPr>
        <p:blipFill>
          <a:blip r:embed="rId5"/>
          <a:srcRect l="1397" r="1397" t="0" b="0"/>
          <a:stretch/>
        </p:blipFill>
        <p:spPr>
          <a:xfrm>
            <a:off x="3918204" y="5120640"/>
            <a:ext cx="3049524" cy="2176272"/>
          </a:xfrm>
          <a:prstGeom prst="rect">
            <a:avLst/>
          </a:prstGeom>
        </p:spPr>
      </p:pic>
      <p:sp>
        <p:nvSpPr>
          <p:cNvPr id="19" name="Text 12"/>
          <p:cNvSpPr txBox="1"/>
          <p:nvPr/>
        </p:nvSpPr>
        <p:spPr>
          <a:xfrm>
            <a:off x="3872484" y="7424928"/>
            <a:ext cx="3140964" cy="731520"/>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Chỉ huy trưởng công trình</a:t>
            </a:r>
            <a:endParaRPr lang="en-US" sz="1400" dirty="0"/>
          </a:p>
          <a:p>
            <a:pPr indent="0" marL="0">
              <a:lnSpc>
                <a:spcPct val="105000"/>
              </a:lnSpc>
              <a:buNone/>
            </a:pPr>
            <a:r>
              <a:rPr lang="en-US" sz="1400" dirty="0">
                <a:solidFill>
                  <a:schemeClr val="accent5"/>
                </a:solidFill>
              </a:rPr>
              <a:t>Bồi dưỡng nghiệp vụ Chỉ huy trưởng công trình (Site Manager)</a:t>
            </a:r>
            <a:endParaRPr lang="en-US" sz="1400" dirty="0"/>
          </a:p>
        </p:txBody>
      </p:sp>
      <p:sp>
        <p:nvSpPr>
          <p:cNvPr id="20" name="Text 13"/>
          <p:cNvSpPr txBox="1"/>
          <p:nvPr/>
        </p:nvSpPr>
        <p:spPr>
          <a:xfrm>
            <a:off x="548640" y="8247888"/>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CÁC CHỨNG CHỈ NGHIỆP VỤ KHÁC</a:t>
            </a:r>
            <a:endParaRPr lang="en-US" sz="1600" dirty="0"/>
          </a:p>
        </p:txBody>
      </p:sp>
      <p:sp>
        <p:nvSpPr>
          <p:cNvPr id="21" name="Shape 14"/>
          <p:cNvSpPr/>
          <p:nvPr/>
        </p:nvSpPr>
        <p:spPr>
          <a:xfrm>
            <a:off x="548640" y="8631936"/>
            <a:ext cx="2069592" cy="603504"/>
          </a:xfrm>
          <a:prstGeom prst="roundRect">
            <a:avLst>
              <a:gd name="adj" fmla="val 12121"/>
            </a:avLst>
          </a:prstGeom>
          <a:solidFill>
            <a:schemeClr val="bg2"/>
          </a:solidFill>
          <a:ln/>
        </p:spPr>
      </p:sp>
      <p:sp>
        <p:nvSpPr>
          <p:cNvPr id="22" name="Text 15"/>
          <p:cNvSpPr txBox="1"/>
          <p:nvPr/>
        </p:nvSpPr>
        <p:spPr>
          <a:xfrm>
            <a:off x="676656" y="8686800"/>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Sơ cấp cứu</a:t>
            </a:r>
            <a:endParaRPr lang="en-US" sz="1400" dirty="0"/>
          </a:p>
          <a:p>
            <a:pPr indent="0" marL="0">
              <a:lnSpc>
                <a:spcPct val="105000"/>
              </a:lnSpc>
              <a:buNone/>
            </a:pPr>
            <a:r>
              <a:rPr lang="en-US" sz="1150" dirty="0">
                <a:solidFill>
                  <a:schemeClr val="accent5"/>
                </a:solidFill>
              </a:rPr>
              <a:t>TT 19/2016/TT-BYT</a:t>
            </a:r>
            <a:endParaRPr lang="en-US" sz="1400" dirty="0"/>
          </a:p>
        </p:txBody>
      </p:sp>
      <p:sp>
        <p:nvSpPr>
          <p:cNvPr id="23" name="Shape 16"/>
          <p:cNvSpPr/>
          <p:nvPr/>
        </p:nvSpPr>
        <p:spPr>
          <a:xfrm>
            <a:off x="2746248" y="8631936"/>
            <a:ext cx="2069592" cy="603504"/>
          </a:xfrm>
          <a:prstGeom prst="roundRect">
            <a:avLst>
              <a:gd name="adj" fmla="val 12121"/>
            </a:avLst>
          </a:prstGeom>
          <a:solidFill>
            <a:schemeClr val="bg2"/>
          </a:solidFill>
          <a:ln/>
        </p:spPr>
      </p:sp>
      <p:sp>
        <p:nvSpPr>
          <p:cNvPr id="24" name="Text 17"/>
          <p:cNvSpPr txBox="1"/>
          <p:nvPr/>
        </p:nvSpPr>
        <p:spPr>
          <a:xfrm>
            <a:off x="2874264" y="8686800"/>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An toàn điện</a:t>
            </a:r>
            <a:endParaRPr lang="en-US" sz="1400" dirty="0"/>
          </a:p>
          <a:p>
            <a:pPr indent="0" marL="0">
              <a:lnSpc>
                <a:spcPct val="105000"/>
              </a:lnSpc>
              <a:buNone/>
            </a:pPr>
            <a:r>
              <a:rPr lang="en-US" sz="1150" dirty="0">
                <a:solidFill>
                  <a:schemeClr val="accent5"/>
                </a:solidFill>
              </a:rPr>
              <a:t>TT 05/2021/TT-BCT</a:t>
            </a:r>
            <a:endParaRPr lang="en-US" sz="1400" dirty="0"/>
          </a:p>
        </p:txBody>
      </p:sp>
      <p:sp>
        <p:nvSpPr>
          <p:cNvPr id="25" name="Shape 18"/>
          <p:cNvSpPr/>
          <p:nvPr/>
        </p:nvSpPr>
        <p:spPr>
          <a:xfrm>
            <a:off x="4943856" y="8631936"/>
            <a:ext cx="2069592" cy="603504"/>
          </a:xfrm>
          <a:prstGeom prst="roundRect">
            <a:avLst>
              <a:gd name="adj" fmla="val 12121"/>
            </a:avLst>
          </a:prstGeom>
          <a:solidFill>
            <a:schemeClr val="bg2"/>
          </a:solidFill>
          <a:ln/>
        </p:spPr>
      </p:sp>
      <p:sp>
        <p:nvSpPr>
          <p:cNvPr id="26" name="Text 19"/>
          <p:cNvSpPr txBox="1"/>
          <p:nvPr/>
        </p:nvSpPr>
        <p:spPr>
          <a:xfrm>
            <a:off x="5071872" y="8686800"/>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An toàn hóa chất</a:t>
            </a:r>
            <a:endParaRPr lang="en-US" sz="1400" dirty="0"/>
          </a:p>
          <a:p>
            <a:pPr indent="0" marL="0">
              <a:lnSpc>
                <a:spcPct val="105000"/>
              </a:lnSpc>
              <a:buNone/>
            </a:pPr>
            <a:r>
              <a:rPr lang="en-US" sz="1150" dirty="0">
                <a:solidFill>
                  <a:schemeClr val="accent5"/>
                </a:solidFill>
              </a:rPr>
              <a:t>NĐ 113/2017/NĐ-CP</a:t>
            </a:r>
            <a:endParaRPr lang="en-US" sz="1400" dirty="0"/>
          </a:p>
        </p:txBody>
      </p:sp>
      <p:sp>
        <p:nvSpPr>
          <p:cNvPr id="27" name="Shape 20"/>
          <p:cNvSpPr/>
          <p:nvPr/>
        </p:nvSpPr>
        <p:spPr>
          <a:xfrm>
            <a:off x="548640" y="9326880"/>
            <a:ext cx="2069592" cy="603504"/>
          </a:xfrm>
          <a:prstGeom prst="roundRect">
            <a:avLst>
              <a:gd name="adj" fmla="val 12121"/>
            </a:avLst>
          </a:prstGeom>
          <a:solidFill>
            <a:schemeClr val="bg2"/>
          </a:solidFill>
          <a:ln/>
        </p:spPr>
      </p:sp>
      <p:sp>
        <p:nvSpPr>
          <p:cNvPr id="28" name="Text 21"/>
          <p:cNvSpPr txBox="1"/>
          <p:nvPr/>
        </p:nvSpPr>
        <p:spPr>
          <a:xfrm>
            <a:off x="676656" y="9381744"/>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Giáo dục nghề nghiệp</a:t>
            </a:r>
            <a:endParaRPr lang="en-US" sz="1400" dirty="0"/>
          </a:p>
          <a:p>
            <a:pPr indent="0" marL="0">
              <a:lnSpc>
                <a:spcPct val="105000"/>
              </a:lnSpc>
              <a:buNone/>
            </a:pPr>
            <a:r>
              <a:rPr lang="en-US" sz="1150" dirty="0">
                <a:solidFill>
                  <a:schemeClr val="accent5"/>
                </a:solidFill>
              </a:rPr>
              <a:t>TT 42, 43/2015/TT-BLĐTBXH</a:t>
            </a:r>
            <a:endParaRPr lang="en-US" sz="1400" dirty="0"/>
          </a:p>
        </p:txBody>
      </p:sp>
      <p:sp>
        <p:nvSpPr>
          <p:cNvPr id="29" name="Shape 22"/>
          <p:cNvSpPr/>
          <p:nvPr/>
        </p:nvSpPr>
        <p:spPr>
          <a:xfrm>
            <a:off x="2746248" y="9326880"/>
            <a:ext cx="2069592" cy="603504"/>
          </a:xfrm>
          <a:prstGeom prst="roundRect">
            <a:avLst>
              <a:gd name="adj" fmla="val 12121"/>
            </a:avLst>
          </a:prstGeom>
          <a:solidFill>
            <a:schemeClr val="bg2"/>
          </a:solidFill>
          <a:ln/>
        </p:spPr>
      </p:sp>
      <p:sp>
        <p:nvSpPr>
          <p:cNvPr id="30" name="Text 23"/>
          <p:cNvSpPr txBox="1"/>
          <p:nvPr/>
        </p:nvSpPr>
        <p:spPr>
          <a:xfrm>
            <a:off x="2874264" y="9381744"/>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Chương trình giáo dục</a:t>
            </a:r>
            <a:endParaRPr lang="en-US" sz="1400" dirty="0"/>
          </a:p>
          <a:p>
            <a:pPr indent="0" marL="0">
              <a:lnSpc>
                <a:spcPct val="105000"/>
              </a:lnSpc>
              <a:buNone/>
            </a:pPr>
            <a:r>
              <a:rPr lang="en-US" sz="1150" dirty="0">
                <a:solidFill>
                  <a:schemeClr val="accent5"/>
                </a:solidFill>
              </a:rPr>
              <a:t>HS, SV, giáo viên, CBQL giáo dục</a:t>
            </a:r>
            <a:endParaRPr lang="en-US" sz="1400" dirty="0"/>
          </a:p>
        </p:txBody>
      </p:sp>
      <p:sp>
        <p:nvSpPr>
          <p:cNvPr id="31" name="Shape 24"/>
          <p:cNvSpPr/>
          <p:nvPr/>
        </p:nvSpPr>
        <p:spPr>
          <a:xfrm>
            <a:off x="4943856" y="9326880"/>
            <a:ext cx="2069592" cy="603504"/>
          </a:xfrm>
          <a:prstGeom prst="roundRect">
            <a:avLst>
              <a:gd name="adj" fmla="val 12121"/>
            </a:avLst>
          </a:prstGeom>
          <a:solidFill>
            <a:schemeClr val="accent1"/>
          </a:solidFill>
          <a:ln/>
        </p:spPr>
      </p:sp>
      <p:sp>
        <p:nvSpPr>
          <p:cNvPr id="32" name="Text 25"/>
          <p:cNvSpPr txBox="1"/>
          <p:nvPr/>
        </p:nvSpPr>
        <p:spPr>
          <a:xfrm>
            <a:off x="5071872" y="9381744"/>
            <a:ext cx="1886712" cy="512064"/>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An toàn, vệ sinh lao động</a:t>
            </a:r>
            <a:endParaRPr lang="en-US" sz="1400" dirty="0"/>
          </a:p>
          <a:p>
            <a:pPr indent="0" marL="0">
              <a:lnSpc>
                <a:spcPct val="105000"/>
              </a:lnSpc>
              <a:buNone/>
            </a:pPr>
            <a:r>
              <a:rPr lang="en-US" sz="1150" dirty="0">
                <a:solidFill>
                  <a:schemeClr val="accent3"/>
                </a:solidFill>
              </a:rPr>
              <a:t>Nhóm 1 – 6 · xem trang 07</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user/ATL--DAKO/profile-daotao/assets/atl/hero.jpg">    </p:cNvPr>
          <p:cNvPicPr>
            <a:picLocks noChangeAspect="1"/>
          </p:cNvPicPr>
          <p:nvPr/>
        </p:nvPicPr>
        <p:blipFill>
          <a:blip r:embed="rId1"/>
          <a:srcRect l="6714" r="6714" t="0" b="0"/>
          <a:stretch/>
        </p:blipFill>
        <p:spPr>
          <a:xfrm>
            <a:off x="3977640" y="0"/>
            <a:ext cx="3584448" cy="3291840"/>
          </a:xfrm>
          <a:prstGeom prst="rect">
            <a:avLst/>
          </a:prstGeom>
        </p:spPr>
      </p:pic>
      <p:sp>
        <p:nvSpPr>
          <p:cNvPr id="3" name="Text 0"/>
          <p:cNvSpPr txBox="1"/>
          <p:nvPr/>
        </p:nvSpPr>
        <p:spPr>
          <a:xfrm>
            <a:off x="548640" y="1188720"/>
            <a:ext cx="3291840" cy="256032"/>
          </a:xfrm>
          <a:prstGeom prst="rect">
            <a:avLst/>
          </a:prstGeom>
          <a:noFill/>
          <a:ln/>
        </p:spPr>
        <p:txBody>
          <a:bodyPr wrap="square" lIns="0" tIns="0" rIns="0" bIns="0" rtlCol="0" anchor="t"/>
          <a:lstStyle/>
          <a:p>
            <a:pPr indent="0" marL="0">
              <a:lnSpc>
                <a:spcPct val="105000"/>
              </a:lnSpc>
              <a:buNone/>
            </a:pPr>
            <a:r>
              <a:rPr lang="en-US" sz="1200" b="1" spc="300" kern="0" dirty="0">
                <a:solidFill>
                  <a:schemeClr val="accent2"/>
                </a:solidFill>
              </a:rPr>
              <a:t>PHẦN 03 · TRỌNG TÂM</a:t>
            </a:r>
            <a:endParaRPr lang="en-US" sz="1200" dirty="0"/>
          </a:p>
        </p:txBody>
      </p:sp>
      <p:sp>
        <p:nvSpPr>
          <p:cNvPr id="4" name="Text 1"/>
          <p:cNvSpPr txBox="1"/>
          <p:nvPr/>
        </p:nvSpPr>
        <p:spPr>
          <a:xfrm>
            <a:off x="548640" y="2743200"/>
            <a:ext cx="3246120" cy="45720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Đào tạo · Cấp chứng chỉ · Số hóa quản lý cho doanh nghiệp</a:t>
            </a:r>
            <a:endParaRPr lang="en-US" sz="1400" dirty="0"/>
          </a:p>
        </p:txBody>
      </p:sp>
      <p:sp>
        <p:nvSpPr>
          <p:cNvPr id="5" name="Text 1"/>
          <p:cNvSpPr/>
          <p:nvPr>
            <p:ph idx="103" type="title" hasCustomPrompt="1"/>
          </p:nvPr>
        </p:nvSpPr>
        <p:spPr>
          <a:xfrm>
            <a:off x="548640" y="1481328"/>
            <a:ext cx="3291840" cy="1188720"/>
          </a:xfrm>
          <a:prstGeom prst="rect">
            <a:avLst/>
          </a:prstGeom>
          <a:noFill/>
          <a:ln/>
        </p:spPr>
        <p:txBody>
          <a:bodyPr wrap="square" lIns="0" tIns="0" rIns="0" bIns="0" rtlCol="0" anchor="b"/>
          <a:lstStyle/>
          <a:p>
            <a:pPr algn="l" indent="0" marL="0">
              <a:lnSpc>
                <a:spcPct val="95000"/>
              </a:lnSpc>
              <a:buNone/>
            </a:pPr>
            <a:r>
              <a:rPr lang="en-US" sz="2600" b="1" dirty="0">
                <a:solidFill>
                  <a:schemeClr val="bg1"/>
                </a:solidFill>
              </a:rPr>
              <a:t>AN TOÀN,</a:t>
            </a:r>
            <a:endParaRPr lang="en-US" sz="2600" dirty="0"/>
          </a:p>
          <a:p>
            <a:pPr algn="l" indent="0" marL="0">
              <a:lnSpc>
                <a:spcPct val="95000"/>
              </a:lnSpc>
              <a:buNone/>
            </a:pPr>
            <a:r>
              <a:rPr lang="en-US" sz="2600" b="1" dirty="0">
                <a:solidFill>
                  <a:schemeClr val="bg1"/>
                </a:solidFill>
              </a:rPr>
              <a:t>VỆ SINH LAO ĐỘNG</a:t>
            </a:r>
            <a:endParaRPr lang="en-US" sz="2600" dirty="0"/>
          </a:p>
        </p:txBody>
      </p:sp>
      <p:sp>
        <p:nvSpPr>
          <p:cNvPr id="6" name="Text 3"/>
          <p:cNvSpPr txBox="1"/>
          <p:nvPr/>
        </p:nvSpPr>
        <p:spPr>
          <a:xfrm>
            <a:off x="548640" y="3493008"/>
            <a:ext cx="6464808" cy="310896"/>
          </a:xfrm>
          <a:prstGeom prst="rect">
            <a:avLst/>
          </a:prstGeom>
          <a:noFill/>
          <a:ln/>
        </p:spPr>
        <p:txBody>
          <a:bodyPr wrap="square" lIns="0" tIns="0" rIns="0" bIns="0" rtlCol="0" anchor="t"/>
          <a:lstStyle/>
          <a:p>
            <a:pPr indent="0" marL="0">
              <a:lnSpc>
                <a:spcPct val="105000"/>
              </a:lnSpc>
              <a:buNone/>
            </a:pPr>
            <a:r>
              <a:rPr lang="en-US" sz="1600" b="1" dirty="0">
                <a:solidFill>
                  <a:schemeClr val="tx2"/>
                </a:solidFill>
              </a:rPr>
              <a:t>An toàn lao động – nền tảng phát triển bền vững của doanh nghiệp</a:t>
            </a:r>
            <a:endParaRPr lang="en-US" sz="1600" dirty="0"/>
          </a:p>
        </p:txBody>
      </p:sp>
      <p:sp>
        <p:nvSpPr>
          <p:cNvPr id="7" name="Text 4"/>
          <p:cNvSpPr txBox="1"/>
          <p:nvPr/>
        </p:nvSpPr>
        <p:spPr>
          <a:xfrm>
            <a:off x="548640" y="3886200"/>
            <a:ext cx="6464808" cy="1874520"/>
          </a:xfrm>
          <a:prstGeom prst="rect">
            <a:avLst/>
          </a:prstGeom>
          <a:noFill/>
          <a:ln/>
        </p:spPr>
        <p:txBody>
          <a:bodyPr wrap="square" lIns="0" tIns="0" rIns="0" bIns="0" rtlCol="0" anchor="t"/>
          <a:lstStyle/>
          <a:p>
            <a:pPr algn="just" indent="0" marL="0">
              <a:lnSpc>
                <a:spcPct val="105000"/>
              </a:lnSpc>
              <a:spcAft>
                <a:spcPts val="600"/>
              </a:spcAft>
              <a:buNone/>
            </a:pPr>
            <a:r>
              <a:rPr lang="en-US" sz="1400" dirty="0">
                <a:solidFill>
                  <a:schemeClr val="tx1"/>
                </a:solidFill>
              </a:rPr>
              <a:t>Trong bối cảnh an toàn, vệ sinh lao động trở thành yêu cầu bắt buộc, công tác huấn luyện ATLĐ không chỉ nhằm tuân thủ pháp luật mà còn góp phần </a:t>
            </a:r>
            <a:pPr algn="just" indent="0" marL="0">
              <a:lnSpc>
                <a:spcPct val="105000"/>
              </a:lnSpc>
              <a:spcAft>
                <a:spcPts val="600"/>
              </a:spcAft>
              <a:buNone/>
            </a:pPr>
            <a:r>
              <a:rPr lang="en-US" sz="1400" b="1" dirty="0">
                <a:solidFill>
                  <a:schemeClr val="accent1"/>
                </a:solidFill>
              </a:rPr>
              <a:t>bảo vệ con người, tài sản và uy tín của tổ chức.</a:t>
            </a:r>
            <a:endParaRPr lang="en-US" sz="1400" dirty="0"/>
          </a:p>
          <a:p>
            <a:pPr algn="just" indent="0" marL="0">
              <a:lnSpc>
                <a:spcPct val="105000"/>
              </a:lnSpc>
              <a:spcAft>
                <a:spcPts val="600"/>
              </a:spcAft>
              <a:buNone/>
            </a:pPr>
            <a:r>
              <a:rPr lang="en-US" sz="1400" b="1" dirty="0">
                <a:solidFill>
                  <a:schemeClr val="accent1"/>
                </a:solidFill>
              </a:rPr>
              <a:t>Viện STP</a:t>
            </a:r>
            <a:pPr algn="just" indent="0" marL="0">
              <a:lnSpc>
                <a:spcPct val="105000"/>
              </a:lnSpc>
              <a:spcAft>
                <a:spcPts val="600"/>
              </a:spcAft>
              <a:buNone/>
            </a:pPr>
            <a:r>
              <a:rPr lang="en-US" sz="1400" dirty="0">
                <a:solidFill>
                  <a:schemeClr val="tx1"/>
                </a:solidFill>
              </a:rPr>
              <a:t> phối hợp cùng </a:t>
            </a:r>
            <a:pPr algn="just" indent="0" marL="0">
              <a:lnSpc>
                <a:spcPct val="105000"/>
              </a:lnSpc>
              <a:spcAft>
                <a:spcPts val="600"/>
              </a:spcAft>
              <a:buNone/>
            </a:pPr>
            <a:r>
              <a:rPr lang="en-US" sz="1400" b="1" dirty="0">
                <a:solidFill>
                  <a:schemeClr val="accent1"/>
                </a:solidFill>
              </a:rPr>
              <a:t>Công ty CP Kỹ thuật Hàng Hải DAKO</a:t>
            </a:r>
            <a:pPr algn="just" indent="0" marL="0">
              <a:lnSpc>
                <a:spcPct val="105000"/>
              </a:lnSpc>
              <a:spcAft>
                <a:spcPts val="600"/>
              </a:spcAft>
              <a:buNone/>
            </a:pPr>
            <a:r>
              <a:rPr lang="en-US" sz="1400" dirty="0">
                <a:solidFill>
                  <a:schemeClr val="tx1"/>
                </a:solidFill>
              </a:rPr>
              <a:t> (thuộc hệ sinh thái Viện STP) xây dựng và triển khai các chương trình huấn luyện ATLĐ, VSLĐ cho doanh nghiệp, cơ quan, tổ chức trong nước và quốc tế – nội dung </a:t>
            </a:r>
            <a:pPr algn="just" indent="0" marL="0">
              <a:lnSpc>
                <a:spcPct val="105000"/>
              </a:lnSpc>
              <a:spcAft>
                <a:spcPts val="600"/>
              </a:spcAft>
              <a:buNone/>
            </a:pPr>
            <a:r>
              <a:rPr lang="en-US" sz="1400" b="1" dirty="0">
                <a:solidFill>
                  <a:schemeClr val="accent1"/>
                </a:solidFill>
              </a:rPr>
              <a:t>bài bản, có tính hệ thống, gắn chặt với thực tiễn sản xuất kinh doanh.</a:t>
            </a:r>
            <a:endParaRPr lang="en-US" sz="1400" dirty="0"/>
          </a:p>
        </p:txBody>
      </p:sp>
      <p:sp>
        <p:nvSpPr>
          <p:cNvPr id="8" name="Shape 5"/>
          <p:cNvSpPr/>
          <p:nvPr/>
        </p:nvSpPr>
        <p:spPr>
          <a:xfrm>
            <a:off x="548640" y="5833872"/>
            <a:ext cx="2063496" cy="841248"/>
          </a:xfrm>
          <a:prstGeom prst="roundRect">
            <a:avLst>
              <a:gd name="adj" fmla="val 10870"/>
            </a:avLst>
          </a:prstGeom>
          <a:solidFill>
            <a:schemeClr val="bg2"/>
          </a:solidFill>
          <a:ln/>
        </p:spPr>
      </p:sp>
      <p:sp>
        <p:nvSpPr>
          <p:cNvPr id="9" name="Shape 6"/>
          <p:cNvSpPr/>
          <p:nvPr/>
        </p:nvSpPr>
        <p:spPr>
          <a:xfrm>
            <a:off x="658368" y="6025896"/>
            <a:ext cx="457200" cy="4572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768096" y="6135624"/>
            <a:ext cx="237744" cy="237744"/>
          </a:xfrm>
          <a:prstGeom prst="rect">
            <a:avLst/>
          </a:prstGeom>
        </p:spPr>
      </p:pic>
      <p:sp>
        <p:nvSpPr>
          <p:cNvPr id="11" name="Text 7"/>
          <p:cNvSpPr txBox="1"/>
          <p:nvPr/>
        </p:nvSpPr>
        <p:spPr>
          <a:xfrm>
            <a:off x="1207008" y="5879592"/>
            <a:ext cx="1331976" cy="749808"/>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Được Bộ Nội vụ cấp phép huấn luyện</a:t>
            </a:r>
            <a:endParaRPr lang="en-US" sz="1400" dirty="0"/>
          </a:p>
        </p:txBody>
      </p:sp>
      <p:sp>
        <p:nvSpPr>
          <p:cNvPr id="12" name="Shape 8"/>
          <p:cNvSpPr/>
          <p:nvPr/>
        </p:nvSpPr>
        <p:spPr>
          <a:xfrm>
            <a:off x="2749296" y="5833872"/>
            <a:ext cx="2063496" cy="841248"/>
          </a:xfrm>
          <a:prstGeom prst="roundRect">
            <a:avLst>
              <a:gd name="adj" fmla="val 10870"/>
            </a:avLst>
          </a:prstGeom>
          <a:solidFill>
            <a:schemeClr val="bg2"/>
          </a:solidFill>
          <a:ln/>
        </p:spPr>
      </p:sp>
      <p:sp>
        <p:nvSpPr>
          <p:cNvPr id="13" name="Shape 9"/>
          <p:cNvSpPr/>
          <p:nvPr/>
        </p:nvSpPr>
        <p:spPr>
          <a:xfrm>
            <a:off x="2859024" y="6025896"/>
            <a:ext cx="457200" cy="45720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2968752" y="6135624"/>
            <a:ext cx="237744" cy="237744"/>
          </a:xfrm>
          <a:prstGeom prst="rect">
            <a:avLst/>
          </a:prstGeom>
        </p:spPr>
      </p:pic>
      <p:sp>
        <p:nvSpPr>
          <p:cNvPr id="15" name="Text 10"/>
          <p:cNvSpPr txBox="1"/>
          <p:nvPr/>
        </p:nvSpPr>
        <p:spPr>
          <a:xfrm>
            <a:off x="3407664" y="5879592"/>
            <a:ext cx="1331976" cy="749808"/>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Viện STP trực thuộc VUSTA</a:t>
            </a:r>
            <a:endParaRPr lang="en-US" sz="1400" dirty="0"/>
          </a:p>
        </p:txBody>
      </p:sp>
      <p:sp>
        <p:nvSpPr>
          <p:cNvPr id="16" name="Shape 11"/>
          <p:cNvSpPr/>
          <p:nvPr/>
        </p:nvSpPr>
        <p:spPr>
          <a:xfrm>
            <a:off x="4949952" y="5833872"/>
            <a:ext cx="2063496" cy="841248"/>
          </a:xfrm>
          <a:prstGeom prst="roundRect">
            <a:avLst>
              <a:gd name="adj" fmla="val 10870"/>
            </a:avLst>
          </a:prstGeom>
          <a:solidFill>
            <a:schemeClr val="bg2"/>
          </a:solidFill>
          <a:ln/>
        </p:spPr>
      </p:sp>
      <p:sp>
        <p:nvSpPr>
          <p:cNvPr id="17" name="Shape 12"/>
          <p:cNvSpPr/>
          <p:nvPr/>
        </p:nvSpPr>
        <p:spPr>
          <a:xfrm>
            <a:off x="5059680" y="6025896"/>
            <a:ext cx="457200" cy="45720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5169408" y="6135624"/>
            <a:ext cx="237744" cy="237744"/>
          </a:xfrm>
          <a:prstGeom prst="rect">
            <a:avLst/>
          </a:prstGeom>
        </p:spPr>
      </p:pic>
      <p:sp>
        <p:nvSpPr>
          <p:cNvPr id="19" name="Text 13"/>
          <p:cNvSpPr txBox="1"/>
          <p:nvPr/>
        </p:nvSpPr>
        <p:spPr>
          <a:xfrm>
            <a:off x="5608320" y="5879592"/>
            <a:ext cx="1331976" cy="749808"/>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Phục vụ DN trong nước &amp; quốc tế</a:t>
            </a:r>
            <a:endParaRPr lang="en-US" sz="1400" dirty="0"/>
          </a:p>
        </p:txBody>
      </p:sp>
      <p:sp>
        <p:nvSpPr>
          <p:cNvPr id="20" name="Text 14"/>
          <p:cNvSpPr txBox="1"/>
          <p:nvPr/>
        </p:nvSpPr>
        <p:spPr>
          <a:xfrm>
            <a:off x="548640" y="6839712"/>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MÔ HÌNH HỢP TÁC VIỆN STP – DAKO</a:t>
            </a:r>
            <a:endParaRPr lang="en-US" sz="1600" dirty="0"/>
          </a:p>
        </p:txBody>
      </p:sp>
      <p:sp>
        <p:nvSpPr>
          <p:cNvPr id="21" name="Shape 15"/>
          <p:cNvSpPr/>
          <p:nvPr/>
        </p:nvSpPr>
        <p:spPr>
          <a:xfrm>
            <a:off x="548640" y="7223760"/>
            <a:ext cx="3140964" cy="1481328"/>
          </a:xfrm>
          <a:prstGeom prst="roundRect">
            <a:avLst>
              <a:gd name="adj" fmla="val 740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22" name="Image 4" descr="/home/user/ATL--DAKO/profile-daotao/assets/logo/stp.png">    </p:cNvPr>
          <p:cNvPicPr>
            <a:picLocks noChangeAspect="1"/>
          </p:cNvPicPr>
          <p:nvPr/>
        </p:nvPicPr>
        <p:blipFill>
          <a:blip r:embed="rId5"/>
          <a:stretch>
            <a:fillRect/>
          </a:stretch>
        </p:blipFill>
        <p:spPr>
          <a:xfrm>
            <a:off x="676656" y="7315200"/>
            <a:ext cx="566928" cy="566928"/>
          </a:xfrm>
          <a:prstGeom prst="rect">
            <a:avLst/>
          </a:prstGeom>
        </p:spPr>
      </p:pic>
      <p:sp>
        <p:nvSpPr>
          <p:cNvPr id="23" name="Text 16"/>
          <p:cNvSpPr txBox="1"/>
          <p:nvPr/>
        </p:nvSpPr>
        <p:spPr>
          <a:xfrm>
            <a:off x="1335024" y="7315200"/>
            <a:ext cx="2272284" cy="56692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VIỆN STP</a:t>
            </a:r>
            <a:endParaRPr lang="en-US" sz="1400" dirty="0"/>
          </a:p>
          <a:p>
            <a:pPr indent="0" marL="0">
              <a:lnSpc>
                <a:spcPct val="105000"/>
              </a:lnSpc>
              <a:buNone/>
            </a:pPr>
            <a:r>
              <a:rPr lang="en-US" sz="1200" i="1" dirty="0">
                <a:solidFill>
                  <a:schemeClr val="accent5"/>
                </a:solidFill>
              </a:rPr>
              <a:t>Đơn vị nghiên cứu &amp; phát triển giải pháp</a:t>
            </a:r>
            <a:endParaRPr lang="en-US" sz="1400" dirty="0"/>
          </a:p>
        </p:txBody>
      </p:sp>
      <p:sp>
        <p:nvSpPr>
          <p:cNvPr id="24" name="Text 17"/>
          <p:cNvSpPr txBox="1"/>
          <p:nvPr/>
        </p:nvSpPr>
        <p:spPr>
          <a:xfrm>
            <a:off x="694944" y="7955280"/>
            <a:ext cx="2866644" cy="713232"/>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Xây dựng chương trình theo quy định và đặc thù doanh nghiệp; tư vấn ISO 45001; phát triển nền tảng số.</a:t>
            </a:r>
            <a:endParaRPr lang="en-US" sz="1400" dirty="0"/>
          </a:p>
        </p:txBody>
      </p:sp>
      <p:sp>
        <p:nvSpPr>
          <p:cNvPr id="25" name="Shape 18"/>
          <p:cNvSpPr/>
          <p:nvPr/>
        </p:nvSpPr>
        <p:spPr>
          <a:xfrm>
            <a:off x="3872484" y="7223760"/>
            <a:ext cx="3140964" cy="1481328"/>
          </a:xfrm>
          <a:prstGeom prst="roundRect">
            <a:avLst>
              <a:gd name="adj" fmla="val 740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26" name="Image 5" descr="/home/user/ATL--DAKO/profile-daotao/assets/logo/dako.png">    </p:cNvPr>
          <p:cNvPicPr>
            <a:picLocks noChangeAspect="1"/>
          </p:cNvPicPr>
          <p:nvPr/>
        </p:nvPicPr>
        <p:blipFill>
          <a:blip r:embed="rId6"/>
          <a:stretch>
            <a:fillRect/>
          </a:stretch>
        </p:blipFill>
        <p:spPr>
          <a:xfrm>
            <a:off x="4000500" y="7323137"/>
            <a:ext cx="566928" cy="551054"/>
          </a:xfrm>
          <a:prstGeom prst="rect">
            <a:avLst/>
          </a:prstGeom>
        </p:spPr>
      </p:pic>
      <p:sp>
        <p:nvSpPr>
          <p:cNvPr id="27" name="Text 19"/>
          <p:cNvSpPr txBox="1"/>
          <p:nvPr/>
        </p:nvSpPr>
        <p:spPr>
          <a:xfrm>
            <a:off x="4658868" y="7315200"/>
            <a:ext cx="2272284" cy="56692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DAKO MARINE TECHNOLOGY</a:t>
            </a:r>
            <a:endParaRPr lang="en-US" sz="1400" dirty="0"/>
          </a:p>
          <a:p>
            <a:pPr indent="0" marL="0">
              <a:lnSpc>
                <a:spcPct val="105000"/>
              </a:lnSpc>
              <a:buNone/>
            </a:pPr>
            <a:r>
              <a:rPr lang="en-US" sz="1200" i="1" dirty="0">
                <a:solidFill>
                  <a:schemeClr val="accent5"/>
                </a:solidFill>
              </a:rPr>
              <a:t>Đơn vị triển khai huấn luyện</a:t>
            </a:r>
            <a:endParaRPr lang="en-US" sz="1400" dirty="0"/>
          </a:p>
        </p:txBody>
      </p:sp>
      <p:sp>
        <p:nvSpPr>
          <p:cNvPr id="28" name="Text 20"/>
          <p:cNvSpPr txBox="1"/>
          <p:nvPr/>
        </p:nvSpPr>
        <p:spPr>
          <a:xfrm>
            <a:off x="4018788" y="7955280"/>
            <a:ext cx="2866644" cy="713232"/>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Huấn luyện theo giấy phép; thi, kiểm tra, cấp chứng chỉ; lưu trữ hồ sơ theo pháp luật.</a:t>
            </a:r>
            <a:endParaRPr lang="en-US" sz="1400" dirty="0"/>
          </a:p>
        </p:txBody>
      </p:sp>
      <p:sp>
        <p:nvSpPr>
          <p:cNvPr id="29" name="Shape 21"/>
          <p:cNvSpPr/>
          <p:nvPr/>
        </p:nvSpPr>
        <p:spPr>
          <a:xfrm>
            <a:off x="548640" y="8869680"/>
            <a:ext cx="6464808" cy="1051560"/>
          </a:xfrm>
          <a:prstGeom prst="roundRect">
            <a:avLst>
              <a:gd name="adj" fmla="val 10435"/>
            </a:avLst>
          </a:prstGeom>
          <a:solidFill>
            <a:schemeClr val="tx2"/>
          </a:solidFill>
          <a:ln/>
        </p:spPr>
      </p:sp>
      <p:sp>
        <p:nvSpPr>
          <p:cNvPr id="30" name="Text 22"/>
          <p:cNvSpPr txBox="1"/>
          <p:nvPr/>
        </p:nvSpPr>
        <p:spPr>
          <a:xfrm>
            <a:off x="777240" y="8961120"/>
            <a:ext cx="3657600" cy="274320"/>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2"/>
                </a:solidFill>
              </a:rPr>
              <a:t>DOANH NGHIỆP NHẬN ĐƯỢC</a:t>
            </a:r>
            <a:endParaRPr lang="en-US" sz="1200" dirty="0"/>
          </a:p>
        </p:txBody>
      </p:sp>
      <p:pic>
        <p:nvPicPr>
          <p:cNvPr id="31" name="Image 6" descr="preencoded.png">    </p:cNvPr>
          <p:cNvPicPr>
            <a:picLocks noChangeAspect="1"/>
          </p:cNvPicPr>
          <p:nvPr/>
        </p:nvPicPr>
        <p:blipFill>
          <a:blip r:embed="rId7"/>
          <a:stretch>
            <a:fillRect/>
          </a:stretch>
        </p:blipFill>
        <p:spPr>
          <a:xfrm>
            <a:off x="777240" y="9372600"/>
            <a:ext cx="237744" cy="237744"/>
          </a:xfrm>
          <a:prstGeom prst="rect">
            <a:avLst/>
          </a:prstGeom>
        </p:spPr>
      </p:pic>
      <p:sp>
        <p:nvSpPr>
          <p:cNvPr id="32" name="Text 23"/>
          <p:cNvSpPr txBox="1"/>
          <p:nvPr/>
        </p:nvSpPr>
        <p:spPr>
          <a:xfrm>
            <a:off x="1078992" y="9290304"/>
            <a:ext cx="1181862" cy="411480"/>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Giải pháp toàn diện</a:t>
            </a:r>
            <a:endParaRPr lang="en-US" sz="1400" dirty="0"/>
          </a:p>
        </p:txBody>
      </p:sp>
      <p:pic>
        <p:nvPicPr>
          <p:cNvPr id="33" name="Image 7" descr="preencoded.png">    </p:cNvPr>
          <p:cNvPicPr>
            <a:picLocks noChangeAspect="1"/>
          </p:cNvPicPr>
          <p:nvPr/>
        </p:nvPicPr>
        <p:blipFill>
          <a:blip r:embed="rId8"/>
          <a:stretch>
            <a:fillRect/>
          </a:stretch>
        </p:blipFill>
        <p:spPr>
          <a:xfrm>
            <a:off x="2279142" y="9372600"/>
            <a:ext cx="237744" cy="237744"/>
          </a:xfrm>
          <a:prstGeom prst="rect">
            <a:avLst/>
          </a:prstGeom>
        </p:spPr>
      </p:pic>
      <p:sp>
        <p:nvSpPr>
          <p:cNvPr id="34" name="Text 24"/>
          <p:cNvSpPr txBox="1"/>
          <p:nvPr/>
        </p:nvSpPr>
        <p:spPr>
          <a:xfrm>
            <a:off x="2580894" y="9290304"/>
            <a:ext cx="1181862" cy="411480"/>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Tuân thủ pháp luật</a:t>
            </a:r>
            <a:endParaRPr lang="en-US" sz="1400" dirty="0"/>
          </a:p>
        </p:txBody>
      </p:sp>
      <p:pic>
        <p:nvPicPr>
          <p:cNvPr id="35" name="Image 8" descr="preencoded.png">    </p:cNvPr>
          <p:cNvPicPr>
            <a:picLocks noChangeAspect="1"/>
          </p:cNvPicPr>
          <p:nvPr/>
        </p:nvPicPr>
        <p:blipFill>
          <a:blip r:embed="rId9"/>
          <a:stretch>
            <a:fillRect/>
          </a:stretch>
        </p:blipFill>
        <p:spPr>
          <a:xfrm>
            <a:off x="3781044" y="9372600"/>
            <a:ext cx="237744" cy="237744"/>
          </a:xfrm>
          <a:prstGeom prst="rect">
            <a:avLst/>
          </a:prstGeom>
        </p:spPr>
      </p:pic>
      <p:sp>
        <p:nvSpPr>
          <p:cNvPr id="36" name="Text 25"/>
          <p:cNvSpPr txBox="1"/>
          <p:nvPr/>
        </p:nvSpPr>
        <p:spPr>
          <a:xfrm>
            <a:off x="4082796" y="9290304"/>
            <a:ext cx="1181862" cy="411480"/>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Giảm rủi ro</a:t>
            </a:r>
            <a:endParaRPr lang="en-US" sz="1400" dirty="0"/>
          </a:p>
        </p:txBody>
      </p:sp>
      <p:pic>
        <p:nvPicPr>
          <p:cNvPr id="37" name="Image 9" descr="preencoded.png">    </p:cNvPr>
          <p:cNvPicPr>
            <a:picLocks noChangeAspect="1"/>
          </p:cNvPicPr>
          <p:nvPr/>
        </p:nvPicPr>
        <p:blipFill>
          <a:blip r:embed="rId10"/>
          <a:stretch>
            <a:fillRect/>
          </a:stretch>
        </p:blipFill>
        <p:spPr>
          <a:xfrm>
            <a:off x="5282946" y="9372600"/>
            <a:ext cx="237744" cy="237744"/>
          </a:xfrm>
          <a:prstGeom prst="rect">
            <a:avLst/>
          </a:prstGeom>
        </p:spPr>
      </p:pic>
      <p:sp>
        <p:nvSpPr>
          <p:cNvPr id="38" name="Text 26"/>
          <p:cNvSpPr txBox="1"/>
          <p:nvPr/>
        </p:nvSpPr>
        <p:spPr>
          <a:xfrm>
            <a:off x="5584698" y="9290304"/>
            <a:ext cx="1181862" cy="411480"/>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Phát triển bền vững</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03 · (1) HUẤN LUYỆN &amp; CẤP CHỨNG CHỈ</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6 NHÓM HUẤN LUYỆN ATVSLĐ</a:t>
            </a:r>
            <a:endParaRPr lang="en-US" sz="2800" dirty="0"/>
          </a:p>
        </p:txBody>
      </p:sp>
      <p:sp>
        <p:nvSpPr>
          <p:cNvPr id="4" name="Text 2"/>
          <p:cNvSpPr txBox="1"/>
          <p:nvPr/>
        </p:nvSpPr>
        <p:spPr>
          <a:xfrm>
            <a:off x="548640" y="1243584"/>
            <a:ext cx="6464808" cy="502920"/>
          </a:xfrm>
          <a:prstGeom prst="rect">
            <a:avLst/>
          </a:prstGeom>
          <a:noFill/>
          <a:ln/>
        </p:spPr>
        <p:txBody>
          <a:bodyPr wrap="square" lIns="0" tIns="0" rIns="0" bIns="0" rtlCol="0" anchor="t"/>
          <a:lstStyle/>
          <a:p>
            <a:pPr indent="0" marL="0">
              <a:lnSpc>
                <a:spcPct val="105000"/>
              </a:lnSpc>
              <a:buNone/>
            </a:pPr>
            <a:r>
              <a:rPr lang="en-US" sz="1400" i="1" dirty="0">
                <a:solidFill>
                  <a:schemeClr val="accent5"/>
                </a:solidFill>
              </a:rPr>
              <a:t>Theo Nghị định 44/2016/NĐ-CP và Nghị định 140/2018/NĐ-CP · phân theo nhóm đối tượng, vị trí công việc · lý thuyết kết hợp thực hành tại chỗ.</a:t>
            </a:r>
            <a:endParaRPr lang="en-US" sz="1400" dirty="0"/>
          </a:p>
        </p:txBody>
      </p:sp>
      <p:sp>
        <p:nvSpPr>
          <p:cNvPr id="5" name="Shape 3"/>
          <p:cNvSpPr/>
          <p:nvPr/>
        </p:nvSpPr>
        <p:spPr>
          <a:xfrm>
            <a:off x="548640" y="1810512"/>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6" name="Image 0" descr="/home/user/ATL--DAKO/profile-daotao/assets/atl/image73.jpeg">    </p:cNvPr>
          <p:cNvPicPr>
            <a:picLocks noChangeAspect="1"/>
          </p:cNvPicPr>
          <p:nvPr/>
        </p:nvPicPr>
        <p:blipFill>
          <a:blip r:embed="rId1"/>
          <a:srcRect l="17882" r="17882" t="0" b="0"/>
          <a:stretch/>
        </p:blipFill>
        <p:spPr>
          <a:xfrm>
            <a:off x="2674620" y="1956816"/>
            <a:ext cx="877824" cy="877824"/>
          </a:xfrm>
          <a:prstGeom prst="ellipse">
            <a:avLst/>
          </a:prstGeom>
        </p:spPr>
      </p:pic>
      <p:sp>
        <p:nvSpPr>
          <p:cNvPr id="7" name="Shape 4"/>
          <p:cNvSpPr/>
          <p:nvPr/>
        </p:nvSpPr>
        <p:spPr>
          <a:xfrm>
            <a:off x="713232" y="1975104"/>
            <a:ext cx="896112" cy="292608"/>
          </a:xfrm>
          <a:prstGeom prst="roundRect">
            <a:avLst>
              <a:gd name="adj" fmla="val 50000"/>
            </a:avLst>
          </a:prstGeom>
          <a:solidFill>
            <a:schemeClr val="tx2"/>
          </a:solidFill>
          <a:ln/>
        </p:spPr>
      </p:sp>
      <p:sp>
        <p:nvSpPr>
          <p:cNvPr id="8" name="Text 5"/>
          <p:cNvSpPr txBox="1"/>
          <p:nvPr/>
        </p:nvSpPr>
        <p:spPr>
          <a:xfrm>
            <a:off x="713232" y="1975104"/>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1</a:t>
            </a:r>
            <a:endParaRPr lang="en-US" sz="1200" dirty="0"/>
          </a:p>
        </p:txBody>
      </p:sp>
      <p:sp>
        <p:nvSpPr>
          <p:cNvPr id="9" name="Text 6"/>
          <p:cNvSpPr txBox="1"/>
          <p:nvPr/>
        </p:nvSpPr>
        <p:spPr>
          <a:xfrm>
            <a:off x="713232" y="2322576"/>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Người quản lý, chỉ huy sản xuất</a:t>
            </a:r>
            <a:endParaRPr lang="en-US" sz="1500" dirty="0"/>
          </a:p>
        </p:txBody>
      </p:sp>
      <p:sp>
        <p:nvSpPr>
          <p:cNvPr id="10" name="Text 7"/>
          <p:cNvSpPr txBox="1"/>
          <p:nvPr/>
        </p:nvSpPr>
        <p:spPr>
          <a:xfrm>
            <a:off x="713232" y="2880360"/>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Khoản 5, Điều 1, NĐ 140/2018/NĐ-CP</a:t>
            </a:r>
            <a:endParaRPr lang="en-US" sz="1150" dirty="0"/>
          </a:p>
        </p:txBody>
      </p:sp>
      <p:sp>
        <p:nvSpPr>
          <p:cNvPr id="11" name="Text 8"/>
          <p:cNvSpPr txBox="1"/>
          <p:nvPr/>
        </p:nvSpPr>
        <p:spPr>
          <a:xfrm>
            <a:off x="713232" y="3127248"/>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Người đứng đầu đơn vị, cơ sở SXKD; phụ trách sản xuất, kỹ thuật; quản đốc phân xưởng.</a:t>
            </a:r>
            <a:endParaRPr lang="en-US" sz="1400" dirty="0"/>
          </a:p>
        </p:txBody>
      </p:sp>
      <p:sp>
        <p:nvSpPr>
          <p:cNvPr id="12" name="Shape 9"/>
          <p:cNvSpPr/>
          <p:nvPr/>
        </p:nvSpPr>
        <p:spPr>
          <a:xfrm>
            <a:off x="658368" y="3840480"/>
            <a:ext cx="2939796" cy="475488"/>
          </a:xfrm>
          <a:prstGeom prst="roundRect">
            <a:avLst>
              <a:gd name="adj" fmla="val 15385"/>
            </a:avLst>
          </a:prstGeom>
          <a:solidFill>
            <a:schemeClr val="bg2"/>
          </a:solidFill>
          <a:ln/>
        </p:spPr>
      </p:sp>
      <p:pic>
        <p:nvPicPr>
          <p:cNvPr id="13" name="Image 1" descr="preencoded.png">    </p:cNvPr>
          <p:cNvPicPr>
            <a:picLocks noChangeAspect="1"/>
          </p:cNvPicPr>
          <p:nvPr/>
        </p:nvPicPr>
        <p:blipFill>
          <a:blip r:embed="rId2"/>
          <a:stretch>
            <a:fillRect/>
          </a:stretch>
        </p:blipFill>
        <p:spPr>
          <a:xfrm>
            <a:off x="749808" y="3968496"/>
            <a:ext cx="219456" cy="219456"/>
          </a:xfrm>
          <a:prstGeom prst="rect">
            <a:avLst/>
          </a:prstGeom>
        </p:spPr>
      </p:pic>
      <p:sp>
        <p:nvSpPr>
          <p:cNvPr id="14" name="Text 10"/>
          <p:cNvSpPr txBox="1"/>
          <p:nvPr/>
        </p:nvSpPr>
        <p:spPr>
          <a:xfrm>
            <a:off x="1024128" y="3849624"/>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Chuẩn hóa hệ thống quản lý ATLĐ, nâng cao hiệu quả sản xuất</a:t>
            </a:r>
            <a:endParaRPr lang="en-US" sz="1400" dirty="0"/>
          </a:p>
        </p:txBody>
      </p:sp>
      <p:sp>
        <p:nvSpPr>
          <p:cNvPr id="15" name="Shape 11"/>
          <p:cNvSpPr/>
          <p:nvPr/>
        </p:nvSpPr>
        <p:spPr>
          <a:xfrm>
            <a:off x="3854196" y="1810512"/>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16" name="Image 2" descr="/home/user/ATL--DAKO/profile-daotao/assets/atl/image76.jpeg">    </p:cNvPr>
          <p:cNvPicPr>
            <a:picLocks noChangeAspect="1"/>
          </p:cNvPicPr>
          <p:nvPr/>
        </p:nvPicPr>
        <p:blipFill>
          <a:blip r:embed="rId3"/>
          <a:srcRect l="17882" r="17882" t="0" b="0"/>
          <a:stretch/>
        </p:blipFill>
        <p:spPr>
          <a:xfrm>
            <a:off x="5980176" y="1956816"/>
            <a:ext cx="877824" cy="877824"/>
          </a:xfrm>
          <a:prstGeom prst="ellipse">
            <a:avLst/>
          </a:prstGeom>
        </p:spPr>
      </p:pic>
      <p:sp>
        <p:nvSpPr>
          <p:cNvPr id="17" name="Shape 12"/>
          <p:cNvSpPr/>
          <p:nvPr/>
        </p:nvSpPr>
        <p:spPr>
          <a:xfrm>
            <a:off x="4018788" y="1975104"/>
            <a:ext cx="896112" cy="292608"/>
          </a:xfrm>
          <a:prstGeom prst="roundRect">
            <a:avLst>
              <a:gd name="adj" fmla="val 50000"/>
            </a:avLst>
          </a:prstGeom>
          <a:solidFill>
            <a:schemeClr val="tx2"/>
          </a:solidFill>
          <a:ln/>
        </p:spPr>
      </p:sp>
      <p:sp>
        <p:nvSpPr>
          <p:cNvPr id="18" name="Text 13"/>
          <p:cNvSpPr txBox="1"/>
          <p:nvPr/>
        </p:nvSpPr>
        <p:spPr>
          <a:xfrm>
            <a:off x="4018788" y="1975104"/>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2</a:t>
            </a:r>
            <a:endParaRPr lang="en-US" sz="1200" dirty="0"/>
          </a:p>
        </p:txBody>
      </p:sp>
      <p:sp>
        <p:nvSpPr>
          <p:cNvPr id="19" name="Text 14"/>
          <p:cNvSpPr txBox="1"/>
          <p:nvPr/>
        </p:nvSpPr>
        <p:spPr>
          <a:xfrm>
            <a:off x="4018788" y="2322576"/>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Người làm công tác ATVSLĐ</a:t>
            </a:r>
            <a:endParaRPr lang="en-US" sz="1500" dirty="0"/>
          </a:p>
        </p:txBody>
      </p:sp>
      <p:sp>
        <p:nvSpPr>
          <p:cNvPr id="20" name="Text 15"/>
          <p:cNvSpPr txBox="1"/>
          <p:nvPr/>
        </p:nvSpPr>
        <p:spPr>
          <a:xfrm>
            <a:off x="4018788" y="2880360"/>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Khoản 5, Điều 1, NĐ 140/2018/NĐ-CP</a:t>
            </a:r>
            <a:endParaRPr lang="en-US" sz="1150" dirty="0"/>
          </a:p>
        </p:txBody>
      </p:sp>
      <p:sp>
        <p:nvSpPr>
          <p:cNvPr id="21" name="Text 16"/>
          <p:cNvSpPr txBox="1"/>
          <p:nvPr/>
        </p:nvSpPr>
        <p:spPr>
          <a:xfrm>
            <a:off x="4018788" y="3127248"/>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Cán bộ chuyên trách, bán chuyên trách ATVSLĐ; người giám sát ATVSLĐ tại nơi làm việc.</a:t>
            </a:r>
            <a:endParaRPr lang="en-US" sz="1400" dirty="0"/>
          </a:p>
        </p:txBody>
      </p:sp>
      <p:sp>
        <p:nvSpPr>
          <p:cNvPr id="22" name="Shape 17"/>
          <p:cNvSpPr/>
          <p:nvPr/>
        </p:nvSpPr>
        <p:spPr>
          <a:xfrm>
            <a:off x="3963924" y="3840480"/>
            <a:ext cx="2939796" cy="475488"/>
          </a:xfrm>
          <a:prstGeom prst="roundRect">
            <a:avLst>
              <a:gd name="adj" fmla="val 15385"/>
            </a:avLst>
          </a:prstGeom>
          <a:solidFill>
            <a:schemeClr val="bg2"/>
          </a:solidFill>
          <a:ln/>
        </p:spPr>
      </p:sp>
      <p:pic>
        <p:nvPicPr>
          <p:cNvPr id="23" name="Image 3" descr="preencoded.png">    </p:cNvPr>
          <p:cNvPicPr>
            <a:picLocks noChangeAspect="1"/>
          </p:cNvPicPr>
          <p:nvPr/>
        </p:nvPicPr>
        <p:blipFill>
          <a:blip r:embed="rId4"/>
          <a:stretch>
            <a:fillRect/>
          </a:stretch>
        </p:blipFill>
        <p:spPr>
          <a:xfrm>
            <a:off x="4055364" y="3968496"/>
            <a:ext cx="219456" cy="219456"/>
          </a:xfrm>
          <a:prstGeom prst="rect">
            <a:avLst/>
          </a:prstGeom>
        </p:spPr>
      </p:pic>
      <p:sp>
        <p:nvSpPr>
          <p:cNvPr id="24" name="Text 18"/>
          <p:cNvSpPr txBox="1"/>
          <p:nvPr/>
        </p:nvSpPr>
        <p:spPr>
          <a:xfrm>
            <a:off x="4329684" y="3849624"/>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Đội ngũ ATLĐ vững chuyên môn, chủ động kiểm soát rủi ro</a:t>
            </a:r>
            <a:endParaRPr lang="en-US" sz="1400" dirty="0"/>
          </a:p>
        </p:txBody>
      </p:sp>
      <p:sp>
        <p:nvSpPr>
          <p:cNvPr id="25" name="Shape 19"/>
          <p:cNvSpPr/>
          <p:nvPr/>
        </p:nvSpPr>
        <p:spPr>
          <a:xfrm>
            <a:off x="548640" y="4544568"/>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26" name="Image 4" descr="/home/user/ATL--DAKO/profile-daotao/assets/atl/image77.jpeg">    </p:cNvPr>
          <p:cNvPicPr>
            <a:picLocks noChangeAspect="1"/>
          </p:cNvPicPr>
          <p:nvPr/>
        </p:nvPicPr>
        <p:blipFill>
          <a:blip r:embed="rId5"/>
          <a:srcRect l="17821" r="17821" t="0" b="0"/>
          <a:stretch/>
        </p:blipFill>
        <p:spPr>
          <a:xfrm>
            <a:off x="2674620" y="4690872"/>
            <a:ext cx="877824" cy="877824"/>
          </a:xfrm>
          <a:prstGeom prst="ellipse">
            <a:avLst/>
          </a:prstGeom>
        </p:spPr>
      </p:pic>
      <p:sp>
        <p:nvSpPr>
          <p:cNvPr id="27" name="Shape 20"/>
          <p:cNvSpPr/>
          <p:nvPr/>
        </p:nvSpPr>
        <p:spPr>
          <a:xfrm>
            <a:off x="713232" y="4709160"/>
            <a:ext cx="896112" cy="292608"/>
          </a:xfrm>
          <a:prstGeom prst="roundRect">
            <a:avLst>
              <a:gd name="adj" fmla="val 50000"/>
            </a:avLst>
          </a:prstGeom>
          <a:solidFill>
            <a:schemeClr val="tx2"/>
          </a:solidFill>
          <a:ln/>
        </p:spPr>
      </p:sp>
      <p:sp>
        <p:nvSpPr>
          <p:cNvPr id="28" name="Text 21"/>
          <p:cNvSpPr txBox="1"/>
          <p:nvPr/>
        </p:nvSpPr>
        <p:spPr>
          <a:xfrm>
            <a:off x="713232" y="4709160"/>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3</a:t>
            </a:r>
            <a:endParaRPr lang="en-US" sz="1200" dirty="0"/>
          </a:p>
        </p:txBody>
      </p:sp>
      <p:sp>
        <p:nvSpPr>
          <p:cNvPr id="29" name="Text 22"/>
          <p:cNvSpPr txBox="1"/>
          <p:nvPr/>
        </p:nvSpPr>
        <p:spPr>
          <a:xfrm>
            <a:off x="713232" y="5056632"/>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Người làm công việc yêu cầu nghiêm ngặt</a:t>
            </a:r>
            <a:endParaRPr lang="en-US" sz="1500" dirty="0"/>
          </a:p>
        </p:txBody>
      </p:sp>
      <p:sp>
        <p:nvSpPr>
          <p:cNvPr id="30" name="Text 23"/>
          <p:cNvSpPr txBox="1"/>
          <p:nvPr/>
        </p:nvSpPr>
        <p:spPr>
          <a:xfrm>
            <a:off x="713232" y="5614416"/>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Khoản 5, Điều 1, NĐ 140/2018/NĐ-CP</a:t>
            </a:r>
            <a:endParaRPr lang="en-US" sz="1150" dirty="0"/>
          </a:p>
        </p:txBody>
      </p:sp>
      <p:sp>
        <p:nvSpPr>
          <p:cNvPr id="31" name="Text 24"/>
          <p:cNvSpPr txBox="1"/>
          <p:nvPr/>
        </p:nvSpPr>
        <p:spPr>
          <a:xfrm>
            <a:off x="713232" y="5861304"/>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Công việc thuộc Danh mục có yêu cầu nghiêm ngặt về ATVSLĐ do Bộ Nội vụ ban hành.</a:t>
            </a:r>
            <a:endParaRPr lang="en-US" sz="1400" dirty="0"/>
          </a:p>
        </p:txBody>
      </p:sp>
      <p:sp>
        <p:nvSpPr>
          <p:cNvPr id="32" name="Shape 25"/>
          <p:cNvSpPr/>
          <p:nvPr/>
        </p:nvSpPr>
        <p:spPr>
          <a:xfrm>
            <a:off x="658368" y="6574536"/>
            <a:ext cx="2939796" cy="475488"/>
          </a:xfrm>
          <a:prstGeom prst="roundRect">
            <a:avLst>
              <a:gd name="adj" fmla="val 15385"/>
            </a:avLst>
          </a:prstGeom>
          <a:solidFill>
            <a:schemeClr val="bg2"/>
          </a:solidFill>
          <a:ln/>
        </p:spPr>
      </p:sp>
      <p:pic>
        <p:nvPicPr>
          <p:cNvPr id="33" name="Image 5" descr="preencoded.png">    </p:cNvPr>
          <p:cNvPicPr>
            <a:picLocks noChangeAspect="1"/>
          </p:cNvPicPr>
          <p:nvPr/>
        </p:nvPicPr>
        <p:blipFill>
          <a:blip r:embed="rId6"/>
          <a:stretch>
            <a:fillRect/>
          </a:stretch>
        </p:blipFill>
        <p:spPr>
          <a:xfrm>
            <a:off x="749808" y="6702552"/>
            <a:ext cx="219456" cy="219456"/>
          </a:xfrm>
          <a:prstGeom prst="rect">
            <a:avLst/>
          </a:prstGeom>
        </p:spPr>
      </p:pic>
      <p:sp>
        <p:nvSpPr>
          <p:cNvPr id="34" name="Text 26"/>
          <p:cNvSpPr txBox="1"/>
          <p:nvPr/>
        </p:nvSpPr>
        <p:spPr>
          <a:xfrm>
            <a:off x="1024128" y="6583680"/>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Vận hành an toàn, giảm tai nạn, sản xuất ổn định</a:t>
            </a:r>
            <a:endParaRPr lang="en-US" sz="1400" dirty="0"/>
          </a:p>
        </p:txBody>
      </p:sp>
      <p:sp>
        <p:nvSpPr>
          <p:cNvPr id="35" name="Shape 27"/>
          <p:cNvSpPr/>
          <p:nvPr/>
        </p:nvSpPr>
        <p:spPr>
          <a:xfrm>
            <a:off x="3854196" y="4544568"/>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36" name="Image 6" descr="/home/user/ATL--DAKO/profile-daotao/assets/atl/image80.jpeg">    </p:cNvPr>
          <p:cNvPicPr>
            <a:picLocks noChangeAspect="1"/>
          </p:cNvPicPr>
          <p:nvPr/>
        </p:nvPicPr>
        <p:blipFill>
          <a:blip r:embed="rId7"/>
          <a:srcRect l="17882" r="17882" t="0" b="0"/>
          <a:stretch/>
        </p:blipFill>
        <p:spPr>
          <a:xfrm>
            <a:off x="5980176" y="4690872"/>
            <a:ext cx="877824" cy="877824"/>
          </a:xfrm>
          <a:prstGeom prst="ellipse">
            <a:avLst/>
          </a:prstGeom>
        </p:spPr>
      </p:pic>
      <p:sp>
        <p:nvSpPr>
          <p:cNvPr id="37" name="Shape 28"/>
          <p:cNvSpPr/>
          <p:nvPr/>
        </p:nvSpPr>
        <p:spPr>
          <a:xfrm>
            <a:off x="4018788" y="4709160"/>
            <a:ext cx="896112" cy="292608"/>
          </a:xfrm>
          <a:prstGeom prst="roundRect">
            <a:avLst>
              <a:gd name="adj" fmla="val 50000"/>
            </a:avLst>
          </a:prstGeom>
          <a:solidFill>
            <a:schemeClr val="tx2"/>
          </a:solidFill>
          <a:ln/>
        </p:spPr>
      </p:sp>
      <p:sp>
        <p:nvSpPr>
          <p:cNvPr id="38" name="Text 29"/>
          <p:cNvSpPr txBox="1"/>
          <p:nvPr/>
        </p:nvSpPr>
        <p:spPr>
          <a:xfrm>
            <a:off x="4018788" y="4709160"/>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4</a:t>
            </a:r>
            <a:endParaRPr lang="en-US" sz="1200" dirty="0"/>
          </a:p>
        </p:txBody>
      </p:sp>
      <p:sp>
        <p:nvSpPr>
          <p:cNvPr id="39" name="Text 30"/>
          <p:cNvSpPr txBox="1"/>
          <p:nvPr/>
        </p:nvSpPr>
        <p:spPr>
          <a:xfrm>
            <a:off x="4018788" y="5056632"/>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Người lao động khác</a:t>
            </a:r>
            <a:endParaRPr lang="en-US" sz="1500" dirty="0"/>
          </a:p>
        </p:txBody>
      </p:sp>
      <p:sp>
        <p:nvSpPr>
          <p:cNvPr id="40" name="Text 31"/>
          <p:cNvSpPr txBox="1"/>
          <p:nvPr/>
        </p:nvSpPr>
        <p:spPr>
          <a:xfrm>
            <a:off x="4018788" y="5614416"/>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Không thuộc nhóm 1, 3, 5, 6 · NĐ 140/2018</a:t>
            </a:r>
            <a:endParaRPr lang="en-US" sz="1150" dirty="0"/>
          </a:p>
        </p:txBody>
      </p:sp>
      <p:sp>
        <p:nvSpPr>
          <p:cNvPr id="41" name="Text 32"/>
          <p:cNvSpPr txBox="1"/>
          <p:nvPr/>
        </p:nvSpPr>
        <p:spPr>
          <a:xfrm>
            <a:off x="4018788" y="5861304"/>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Lao động phổ thông, văn phòng, sản xuất; kể cả người học nghề, tập nghề, thử việc.</a:t>
            </a:r>
            <a:endParaRPr lang="en-US" sz="1400" dirty="0"/>
          </a:p>
        </p:txBody>
      </p:sp>
      <p:sp>
        <p:nvSpPr>
          <p:cNvPr id="42" name="Shape 33"/>
          <p:cNvSpPr/>
          <p:nvPr/>
        </p:nvSpPr>
        <p:spPr>
          <a:xfrm>
            <a:off x="3963924" y="6574536"/>
            <a:ext cx="2939796" cy="475488"/>
          </a:xfrm>
          <a:prstGeom prst="roundRect">
            <a:avLst>
              <a:gd name="adj" fmla="val 15385"/>
            </a:avLst>
          </a:prstGeom>
          <a:solidFill>
            <a:schemeClr val="bg2"/>
          </a:solidFill>
          <a:ln/>
        </p:spPr>
      </p:sp>
      <p:pic>
        <p:nvPicPr>
          <p:cNvPr id="43" name="Image 7" descr="preencoded.png">    </p:cNvPr>
          <p:cNvPicPr>
            <a:picLocks noChangeAspect="1"/>
          </p:cNvPicPr>
          <p:nvPr/>
        </p:nvPicPr>
        <p:blipFill>
          <a:blip r:embed="rId8"/>
          <a:stretch>
            <a:fillRect/>
          </a:stretch>
        </p:blipFill>
        <p:spPr>
          <a:xfrm>
            <a:off x="4055364" y="6702552"/>
            <a:ext cx="219456" cy="219456"/>
          </a:xfrm>
          <a:prstGeom prst="rect">
            <a:avLst/>
          </a:prstGeom>
        </p:spPr>
      </p:pic>
      <p:sp>
        <p:nvSpPr>
          <p:cNvPr id="44" name="Text 34"/>
          <p:cNvSpPr txBox="1"/>
          <p:nvPr/>
        </p:nvSpPr>
        <p:spPr>
          <a:xfrm>
            <a:off x="4329684" y="6583680"/>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Chuẩn hóa hành vi an toàn, đáp ứng thanh tra, kiểm tra</a:t>
            </a:r>
            <a:endParaRPr lang="en-US" sz="1400" dirty="0"/>
          </a:p>
        </p:txBody>
      </p:sp>
      <p:sp>
        <p:nvSpPr>
          <p:cNvPr id="45" name="Shape 35"/>
          <p:cNvSpPr/>
          <p:nvPr/>
        </p:nvSpPr>
        <p:spPr>
          <a:xfrm>
            <a:off x="548640" y="7278624"/>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46" name="Image 8" descr="/home/user/ATL--DAKO/profile-daotao/assets/atl/image81.jpeg">    </p:cNvPr>
          <p:cNvPicPr>
            <a:picLocks noChangeAspect="1"/>
          </p:cNvPicPr>
          <p:nvPr/>
        </p:nvPicPr>
        <p:blipFill>
          <a:blip r:embed="rId9"/>
          <a:srcRect l="17882" r="17882" t="0" b="0"/>
          <a:stretch/>
        </p:blipFill>
        <p:spPr>
          <a:xfrm>
            <a:off x="2674620" y="7424928"/>
            <a:ext cx="877824" cy="877824"/>
          </a:xfrm>
          <a:prstGeom prst="ellipse">
            <a:avLst/>
          </a:prstGeom>
        </p:spPr>
      </p:pic>
      <p:sp>
        <p:nvSpPr>
          <p:cNvPr id="47" name="Shape 36"/>
          <p:cNvSpPr/>
          <p:nvPr/>
        </p:nvSpPr>
        <p:spPr>
          <a:xfrm>
            <a:off x="713232" y="7443216"/>
            <a:ext cx="896112" cy="292608"/>
          </a:xfrm>
          <a:prstGeom prst="roundRect">
            <a:avLst>
              <a:gd name="adj" fmla="val 50000"/>
            </a:avLst>
          </a:prstGeom>
          <a:solidFill>
            <a:schemeClr val="tx2"/>
          </a:solidFill>
          <a:ln/>
        </p:spPr>
      </p:sp>
      <p:sp>
        <p:nvSpPr>
          <p:cNvPr id="48" name="Text 37"/>
          <p:cNvSpPr txBox="1"/>
          <p:nvPr/>
        </p:nvSpPr>
        <p:spPr>
          <a:xfrm>
            <a:off x="713232" y="7443216"/>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5</a:t>
            </a:r>
            <a:endParaRPr lang="en-US" sz="1200" dirty="0"/>
          </a:p>
        </p:txBody>
      </p:sp>
      <p:sp>
        <p:nvSpPr>
          <p:cNvPr id="49" name="Text 38"/>
          <p:cNvSpPr txBox="1"/>
          <p:nvPr/>
        </p:nvSpPr>
        <p:spPr>
          <a:xfrm>
            <a:off x="713232" y="7790688"/>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Người làm công tác y tế</a:t>
            </a:r>
            <a:endParaRPr lang="en-US" sz="1500" dirty="0"/>
          </a:p>
        </p:txBody>
      </p:sp>
      <p:sp>
        <p:nvSpPr>
          <p:cNvPr id="50" name="Text 39"/>
          <p:cNvSpPr txBox="1"/>
          <p:nvPr/>
        </p:nvSpPr>
        <p:spPr>
          <a:xfrm>
            <a:off x="713232" y="8348472"/>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Khoản 5, Điều 1, NĐ 140/2018/NĐ-CP</a:t>
            </a:r>
            <a:endParaRPr lang="en-US" sz="1150" dirty="0"/>
          </a:p>
        </p:txBody>
      </p:sp>
      <p:sp>
        <p:nvSpPr>
          <p:cNvPr id="51" name="Text 40"/>
          <p:cNvSpPr txBox="1"/>
          <p:nvPr/>
        </p:nvSpPr>
        <p:spPr>
          <a:xfrm>
            <a:off x="713232" y="8595360"/>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Nhân sự y tế tại đơn vị: chăm sóc sức khỏe, sơ cấp cứu, phòng chống dịch bệnh.</a:t>
            </a:r>
            <a:endParaRPr lang="en-US" sz="1400" dirty="0"/>
          </a:p>
        </p:txBody>
      </p:sp>
      <p:sp>
        <p:nvSpPr>
          <p:cNvPr id="52" name="Shape 41"/>
          <p:cNvSpPr/>
          <p:nvPr/>
        </p:nvSpPr>
        <p:spPr>
          <a:xfrm>
            <a:off x="658368" y="9308592"/>
            <a:ext cx="2939796" cy="475488"/>
          </a:xfrm>
          <a:prstGeom prst="roundRect">
            <a:avLst>
              <a:gd name="adj" fmla="val 15385"/>
            </a:avLst>
          </a:prstGeom>
          <a:solidFill>
            <a:schemeClr val="bg2"/>
          </a:solidFill>
          <a:ln/>
        </p:spPr>
      </p:sp>
      <p:pic>
        <p:nvPicPr>
          <p:cNvPr id="53" name="Image 9" descr="preencoded.png">    </p:cNvPr>
          <p:cNvPicPr>
            <a:picLocks noChangeAspect="1"/>
          </p:cNvPicPr>
          <p:nvPr/>
        </p:nvPicPr>
        <p:blipFill>
          <a:blip r:embed="rId10"/>
          <a:stretch>
            <a:fillRect/>
          </a:stretch>
        </p:blipFill>
        <p:spPr>
          <a:xfrm>
            <a:off x="749808" y="9436608"/>
            <a:ext cx="219456" cy="219456"/>
          </a:xfrm>
          <a:prstGeom prst="rect">
            <a:avLst/>
          </a:prstGeom>
        </p:spPr>
      </p:pic>
      <p:sp>
        <p:nvSpPr>
          <p:cNvPr id="54" name="Text 42"/>
          <p:cNvSpPr txBox="1"/>
          <p:nvPr/>
        </p:nvSpPr>
        <p:spPr>
          <a:xfrm>
            <a:off x="1024128" y="9317736"/>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Sơ cấp cứu, phòng chống TNLĐ &amp; bệnh nghề nghiệp</a:t>
            </a:r>
            <a:endParaRPr lang="en-US" sz="1400" dirty="0"/>
          </a:p>
        </p:txBody>
      </p:sp>
      <p:sp>
        <p:nvSpPr>
          <p:cNvPr id="55" name="Shape 43"/>
          <p:cNvSpPr/>
          <p:nvPr/>
        </p:nvSpPr>
        <p:spPr>
          <a:xfrm>
            <a:off x="3854196" y="7278624"/>
            <a:ext cx="3159252" cy="2615184"/>
          </a:xfrm>
          <a:prstGeom prst="roundRect">
            <a:avLst>
              <a:gd name="adj" fmla="val 419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pic>
        <p:nvPicPr>
          <p:cNvPr id="56" name="Image 10" descr="/home/user/ATL--DAKO/profile-daotao/assets/atl/image83.jpeg">    </p:cNvPr>
          <p:cNvPicPr>
            <a:picLocks noChangeAspect="1"/>
          </p:cNvPicPr>
          <p:nvPr/>
        </p:nvPicPr>
        <p:blipFill>
          <a:blip r:embed="rId11"/>
          <a:srcRect l="17882" r="17882" t="0" b="0"/>
          <a:stretch/>
        </p:blipFill>
        <p:spPr>
          <a:xfrm>
            <a:off x="5980176" y="7424928"/>
            <a:ext cx="877824" cy="877824"/>
          </a:xfrm>
          <a:prstGeom prst="ellipse">
            <a:avLst/>
          </a:prstGeom>
        </p:spPr>
      </p:pic>
      <p:sp>
        <p:nvSpPr>
          <p:cNvPr id="57" name="Shape 44"/>
          <p:cNvSpPr/>
          <p:nvPr/>
        </p:nvSpPr>
        <p:spPr>
          <a:xfrm>
            <a:off x="4018788" y="7443216"/>
            <a:ext cx="896112" cy="292608"/>
          </a:xfrm>
          <a:prstGeom prst="roundRect">
            <a:avLst>
              <a:gd name="adj" fmla="val 50000"/>
            </a:avLst>
          </a:prstGeom>
          <a:solidFill>
            <a:schemeClr val="tx2"/>
          </a:solidFill>
          <a:ln/>
        </p:spPr>
      </p:sp>
      <p:sp>
        <p:nvSpPr>
          <p:cNvPr id="58" name="Text 45"/>
          <p:cNvSpPr txBox="1"/>
          <p:nvPr/>
        </p:nvSpPr>
        <p:spPr>
          <a:xfrm>
            <a:off x="4018788" y="7443216"/>
            <a:ext cx="896112" cy="292608"/>
          </a:xfrm>
          <a:prstGeom prst="rect">
            <a:avLst/>
          </a:prstGeom>
          <a:noFill/>
          <a:ln/>
        </p:spPr>
        <p:txBody>
          <a:bodyPr wrap="square" lIns="0" tIns="0" rIns="0" bIns="0" rtlCol="0" anchor="ctr"/>
          <a:lstStyle/>
          <a:p>
            <a:pPr algn="ctr" indent="0" marL="0">
              <a:lnSpc>
                <a:spcPct val="105000"/>
              </a:lnSpc>
              <a:buNone/>
            </a:pPr>
            <a:r>
              <a:rPr lang="en-US" sz="1200" b="1" spc="100" kern="0" dirty="0">
                <a:solidFill>
                  <a:schemeClr val="accent2"/>
                </a:solidFill>
              </a:rPr>
              <a:t>NHÓM 6</a:t>
            </a:r>
            <a:endParaRPr lang="en-US" sz="1200" dirty="0"/>
          </a:p>
        </p:txBody>
      </p:sp>
      <p:sp>
        <p:nvSpPr>
          <p:cNvPr id="59" name="Text 46"/>
          <p:cNvSpPr txBox="1"/>
          <p:nvPr/>
        </p:nvSpPr>
        <p:spPr>
          <a:xfrm>
            <a:off x="4018788" y="7790688"/>
            <a:ext cx="1833372" cy="512064"/>
          </a:xfrm>
          <a:prstGeom prst="rect">
            <a:avLst/>
          </a:prstGeom>
          <a:noFill/>
          <a:ln/>
        </p:spPr>
        <p:txBody>
          <a:bodyPr wrap="square" lIns="0" tIns="0" rIns="0" bIns="0" rtlCol="0" anchor="ctr"/>
          <a:lstStyle/>
          <a:p>
            <a:pPr indent="0" marL="0">
              <a:lnSpc>
                <a:spcPct val="95000"/>
              </a:lnSpc>
              <a:buNone/>
            </a:pPr>
            <a:r>
              <a:rPr lang="en-US" sz="1500" b="1" dirty="0">
                <a:solidFill>
                  <a:schemeClr val="tx2"/>
                </a:solidFill>
              </a:rPr>
              <a:t>An toàn, vệ sinh viên</a:t>
            </a:r>
            <a:endParaRPr lang="en-US" sz="1500" dirty="0"/>
          </a:p>
        </p:txBody>
      </p:sp>
      <p:sp>
        <p:nvSpPr>
          <p:cNvPr id="60" name="Text 47"/>
          <p:cNvSpPr txBox="1"/>
          <p:nvPr/>
        </p:nvSpPr>
        <p:spPr>
          <a:xfrm>
            <a:off x="4018788" y="8348472"/>
            <a:ext cx="2884932" cy="219456"/>
          </a:xfrm>
          <a:prstGeom prst="rect">
            <a:avLst/>
          </a:prstGeom>
          <a:noFill/>
          <a:ln/>
        </p:spPr>
        <p:txBody>
          <a:bodyPr wrap="square" lIns="0" tIns="0" rIns="0" bIns="0" rtlCol="0" anchor="t"/>
          <a:lstStyle/>
          <a:p>
            <a:pPr indent="0" marL="0">
              <a:lnSpc>
                <a:spcPct val="105000"/>
              </a:lnSpc>
              <a:buNone/>
            </a:pPr>
            <a:r>
              <a:rPr lang="en-US" sz="1150" i="1" dirty="0">
                <a:solidFill>
                  <a:schemeClr val="accent5"/>
                </a:solidFill>
              </a:rPr>
              <a:t>Điều 74 Luật An toàn, vệ sinh lao động</a:t>
            </a:r>
            <a:endParaRPr lang="en-US" sz="1150" dirty="0"/>
          </a:p>
        </p:txBody>
      </p:sp>
      <p:sp>
        <p:nvSpPr>
          <p:cNvPr id="61" name="Text 48"/>
          <p:cNvSpPr txBox="1"/>
          <p:nvPr/>
        </p:nvSpPr>
        <p:spPr>
          <a:xfrm>
            <a:off x="4018788" y="8595360"/>
            <a:ext cx="2848356" cy="73152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Đối tượng: </a:t>
            </a:r>
            <a:pPr indent="0" marL="0">
              <a:lnSpc>
                <a:spcPct val="105000"/>
              </a:lnSpc>
              <a:buNone/>
            </a:pPr>
            <a:r>
              <a:rPr lang="en-US" sz="1400" dirty="0">
                <a:solidFill>
                  <a:schemeClr val="tx1"/>
                </a:solidFill>
              </a:rPr>
              <a:t>Lực lượng giám sát, nhắc nhở, phát hiện sớm nguy cơ mất an toàn tại nơi làm việc.</a:t>
            </a:r>
            <a:endParaRPr lang="en-US" sz="1400" dirty="0"/>
          </a:p>
        </p:txBody>
      </p:sp>
      <p:sp>
        <p:nvSpPr>
          <p:cNvPr id="62" name="Shape 49"/>
          <p:cNvSpPr/>
          <p:nvPr/>
        </p:nvSpPr>
        <p:spPr>
          <a:xfrm>
            <a:off x="3963924" y="9308592"/>
            <a:ext cx="2939796" cy="475488"/>
          </a:xfrm>
          <a:prstGeom prst="roundRect">
            <a:avLst>
              <a:gd name="adj" fmla="val 15385"/>
            </a:avLst>
          </a:prstGeom>
          <a:solidFill>
            <a:schemeClr val="bg2"/>
          </a:solidFill>
          <a:ln/>
        </p:spPr>
      </p:sp>
      <p:pic>
        <p:nvPicPr>
          <p:cNvPr id="63" name="Image 11" descr="preencoded.png">    </p:cNvPr>
          <p:cNvPicPr>
            <a:picLocks noChangeAspect="1"/>
          </p:cNvPicPr>
          <p:nvPr/>
        </p:nvPicPr>
        <p:blipFill>
          <a:blip r:embed="rId12"/>
          <a:stretch>
            <a:fillRect/>
          </a:stretch>
        </p:blipFill>
        <p:spPr>
          <a:xfrm>
            <a:off x="4055364" y="9436608"/>
            <a:ext cx="219456" cy="219456"/>
          </a:xfrm>
          <a:prstGeom prst="rect">
            <a:avLst/>
          </a:prstGeom>
        </p:spPr>
      </p:pic>
      <p:sp>
        <p:nvSpPr>
          <p:cNvPr id="64" name="Text 50"/>
          <p:cNvSpPr txBox="1"/>
          <p:nvPr/>
        </p:nvSpPr>
        <p:spPr>
          <a:xfrm>
            <a:off x="4329684" y="9317736"/>
            <a:ext cx="2592324" cy="4572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Nhận diện nguy cơ, xây dựng văn hóa an toàn</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03 · (2) SỐ HÓA ATVSLĐ QUA PHẦN MỀM</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SỐ HÓA QUẢN LÝ ATVSLĐ</a:t>
            </a:r>
            <a:endParaRPr lang="en-US" sz="2800" dirty="0"/>
          </a:p>
        </p:txBody>
      </p:sp>
      <p:sp>
        <p:nvSpPr>
          <p:cNvPr id="4" name="Text 2"/>
          <p:cNvSpPr txBox="1"/>
          <p:nvPr/>
        </p:nvSpPr>
        <p:spPr>
          <a:xfrm>
            <a:off x="548640" y="1243584"/>
            <a:ext cx="6464808" cy="502920"/>
          </a:xfrm>
          <a:prstGeom prst="rect">
            <a:avLst/>
          </a:prstGeom>
          <a:noFill/>
          <a:ln/>
        </p:spPr>
        <p:txBody>
          <a:bodyPr wrap="square" lIns="0" tIns="0" rIns="0" bIns="0" rtlCol="0" anchor="t"/>
          <a:lstStyle/>
          <a:p>
            <a:pPr indent="0" marL="0">
              <a:lnSpc>
                <a:spcPct val="105000"/>
              </a:lnSpc>
              <a:buNone/>
            </a:pPr>
            <a:r>
              <a:rPr lang="en-US" sz="1500" i="1" dirty="0">
                <a:solidFill>
                  <a:schemeClr val="tx2"/>
                </a:solidFill>
              </a:rPr>
              <a:t>Một khóa học có thể kết thúc sau vài ngày – </a:t>
            </a:r>
            <a:pPr indent="0" marL="0">
              <a:lnSpc>
                <a:spcPct val="105000"/>
              </a:lnSpc>
              <a:buNone/>
            </a:pPr>
            <a:r>
              <a:rPr lang="en-US" sz="1500" b="1" i="1" dirty="0">
                <a:solidFill>
                  <a:schemeClr val="accent1"/>
                </a:solidFill>
              </a:rPr>
              <a:t>nhưng công tác an toàn, vệ sinh lao động cần được quản lý mỗi ngày.</a:t>
            </a:r>
            <a:endParaRPr lang="en-US" sz="1500" dirty="0"/>
          </a:p>
        </p:txBody>
      </p:sp>
      <p:sp>
        <p:nvSpPr>
          <p:cNvPr id="5" name="Shape 3"/>
          <p:cNvSpPr/>
          <p:nvPr/>
        </p:nvSpPr>
        <p:spPr>
          <a:xfrm>
            <a:off x="548640" y="1847088"/>
            <a:ext cx="2944368" cy="5285232"/>
          </a:xfrm>
          <a:prstGeom prst="roundRect">
            <a:avLst>
              <a:gd name="adj" fmla="val 3727"/>
            </a:avLst>
          </a:prstGeom>
          <a:solidFill>
            <a:srgbClr val="F6F7F5"/>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6" name="Text 4"/>
          <p:cNvSpPr txBox="1"/>
          <p:nvPr/>
        </p:nvSpPr>
        <p:spPr>
          <a:xfrm>
            <a:off x="731520" y="1984248"/>
            <a:ext cx="2578608" cy="292608"/>
          </a:xfrm>
          <a:prstGeom prst="rect">
            <a:avLst/>
          </a:prstGeom>
          <a:noFill/>
          <a:ln/>
        </p:spPr>
        <p:txBody>
          <a:bodyPr wrap="square" lIns="0" tIns="0" rIns="0" bIns="0" rtlCol="0" anchor="t"/>
          <a:lstStyle/>
          <a:p>
            <a:pPr indent="0" marL="0">
              <a:lnSpc>
                <a:spcPct val="105000"/>
              </a:lnSpc>
              <a:buNone/>
            </a:pPr>
            <a:r>
              <a:rPr lang="en-US" sz="1400" b="1" spc="200" kern="0" dirty="0">
                <a:solidFill>
                  <a:schemeClr val="accent5"/>
                </a:solidFill>
              </a:rPr>
              <a:t>CÁCH QUẢN LÝ CŨ</a:t>
            </a:r>
            <a:endParaRPr lang="en-US" sz="1400" dirty="0"/>
          </a:p>
        </p:txBody>
      </p:sp>
      <p:sp>
        <p:nvSpPr>
          <p:cNvPr id="7" name="Shape 5"/>
          <p:cNvSpPr/>
          <p:nvPr/>
        </p:nvSpPr>
        <p:spPr>
          <a:xfrm>
            <a:off x="731520" y="2350008"/>
            <a:ext cx="804672" cy="566928"/>
          </a:xfrm>
          <a:prstGeom prst="roundRect">
            <a:avLst>
              <a:gd name="adj" fmla="val 12903"/>
            </a:avLst>
          </a:prstGeom>
          <a:solidFill>
            <a:schemeClr val="bg1"/>
          </a:solidFill>
          <a:ln w="9525">
            <a:solidFill>
              <a:srgbClr val="D9DED6"/>
            </a:solidFill>
            <a:prstDash val="solid"/>
          </a:ln>
        </p:spPr>
      </p:sp>
      <p:pic>
        <p:nvPicPr>
          <p:cNvPr id="8" name="Image 0" descr="preencoded.png">    </p:cNvPr>
          <p:cNvPicPr>
            <a:picLocks noChangeAspect="1"/>
          </p:cNvPicPr>
          <p:nvPr/>
        </p:nvPicPr>
        <p:blipFill>
          <a:blip r:embed="rId1"/>
          <a:stretch>
            <a:fillRect/>
          </a:stretch>
        </p:blipFill>
        <p:spPr>
          <a:xfrm>
            <a:off x="1024128" y="2395728"/>
            <a:ext cx="219456" cy="219456"/>
          </a:xfrm>
          <a:prstGeom prst="rect">
            <a:avLst/>
          </a:prstGeom>
        </p:spPr>
      </p:pic>
      <p:sp>
        <p:nvSpPr>
          <p:cNvPr id="9" name="Text 6"/>
          <p:cNvSpPr txBox="1"/>
          <p:nvPr/>
        </p:nvSpPr>
        <p:spPr>
          <a:xfrm>
            <a:off x="731520" y="2633472"/>
            <a:ext cx="804672" cy="237744"/>
          </a:xfrm>
          <a:prstGeom prst="rect">
            <a:avLst/>
          </a:prstGeom>
          <a:noFill/>
          <a:ln/>
        </p:spPr>
        <p:txBody>
          <a:bodyPr wrap="square" lIns="0" tIns="0" rIns="0" bIns="0" rtlCol="0" anchor="t"/>
          <a:lstStyle/>
          <a:p>
            <a:pPr algn="ctr" indent="0" marL="0">
              <a:lnSpc>
                <a:spcPct val="105000"/>
              </a:lnSpc>
              <a:buNone/>
            </a:pPr>
            <a:r>
              <a:rPr lang="en-US" sz="1100" dirty="0">
                <a:solidFill>
                  <a:schemeClr val="accent5"/>
                </a:solidFill>
              </a:rPr>
              <a:t>Excel</a:t>
            </a:r>
            <a:endParaRPr lang="en-US" sz="1100" dirty="0"/>
          </a:p>
        </p:txBody>
      </p:sp>
      <p:sp>
        <p:nvSpPr>
          <p:cNvPr id="10" name="Shape 7"/>
          <p:cNvSpPr/>
          <p:nvPr/>
        </p:nvSpPr>
        <p:spPr>
          <a:xfrm>
            <a:off x="1609344" y="2350008"/>
            <a:ext cx="804672" cy="566928"/>
          </a:xfrm>
          <a:prstGeom prst="roundRect">
            <a:avLst>
              <a:gd name="adj" fmla="val 12903"/>
            </a:avLst>
          </a:prstGeom>
          <a:solidFill>
            <a:schemeClr val="bg1"/>
          </a:solidFill>
          <a:ln w="9525">
            <a:solidFill>
              <a:srgbClr val="D9DED6"/>
            </a:solidFill>
            <a:prstDash val="solid"/>
          </a:ln>
        </p:spPr>
      </p:sp>
      <p:pic>
        <p:nvPicPr>
          <p:cNvPr id="11" name="Image 1" descr="preencoded.png">    </p:cNvPr>
          <p:cNvPicPr>
            <a:picLocks noChangeAspect="1"/>
          </p:cNvPicPr>
          <p:nvPr/>
        </p:nvPicPr>
        <p:blipFill>
          <a:blip r:embed="rId2"/>
          <a:stretch>
            <a:fillRect/>
          </a:stretch>
        </p:blipFill>
        <p:spPr>
          <a:xfrm>
            <a:off x="1901952" y="2395728"/>
            <a:ext cx="219456" cy="219456"/>
          </a:xfrm>
          <a:prstGeom prst="rect">
            <a:avLst/>
          </a:prstGeom>
        </p:spPr>
      </p:pic>
      <p:sp>
        <p:nvSpPr>
          <p:cNvPr id="12" name="Text 8"/>
          <p:cNvSpPr txBox="1"/>
          <p:nvPr/>
        </p:nvSpPr>
        <p:spPr>
          <a:xfrm>
            <a:off x="1609344" y="2633472"/>
            <a:ext cx="804672" cy="237744"/>
          </a:xfrm>
          <a:prstGeom prst="rect">
            <a:avLst/>
          </a:prstGeom>
          <a:noFill/>
          <a:ln/>
        </p:spPr>
        <p:txBody>
          <a:bodyPr wrap="square" lIns="0" tIns="0" rIns="0" bIns="0" rtlCol="0" anchor="t"/>
          <a:lstStyle/>
          <a:p>
            <a:pPr algn="ctr" indent="0" marL="0">
              <a:lnSpc>
                <a:spcPct val="105000"/>
              </a:lnSpc>
              <a:buNone/>
            </a:pPr>
            <a:r>
              <a:rPr lang="en-US" sz="1100" dirty="0">
                <a:solidFill>
                  <a:schemeClr val="accent5"/>
                </a:solidFill>
              </a:rPr>
              <a:t>Hồ sơ giấy</a:t>
            </a:r>
            <a:endParaRPr lang="en-US" sz="1100" dirty="0"/>
          </a:p>
        </p:txBody>
      </p:sp>
      <p:sp>
        <p:nvSpPr>
          <p:cNvPr id="13" name="Shape 9"/>
          <p:cNvSpPr/>
          <p:nvPr/>
        </p:nvSpPr>
        <p:spPr>
          <a:xfrm>
            <a:off x="2487168" y="2350008"/>
            <a:ext cx="804672" cy="566928"/>
          </a:xfrm>
          <a:prstGeom prst="roundRect">
            <a:avLst>
              <a:gd name="adj" fmla="val 12903"/>
            </a:avLst>
          </a:prstGeom>
          <a:solidFill>
            <a:schemeClr val="bg1"/>
          </a:solidFill>
          <a:ln w="9525">
            <a:solidFill>
              <a:srgbClr val="D9DED6"/>
            </a:solidFill>
            <a:prstDash val="solid"/>
          </a:ln>
        </p:spPr>
      </p:sp>
      <p:pic>
        <p:nvPicPr>
          <p:cNvPr id="14" name="Image 2" descr="preencoded.png">    </p:cNvPr>
          <p:cNvPicPr>
            <a:picLocks noChangeAspect="1"/>
          </p:cNvPicPr>
          <p:nvPr/>
        </p:nvPicPr>
        <p:blipFill>
          <a:blip r:embed="rId3"/>
          <a:stretch>
            <a:fillRect/>
          </a:stretch>
        </p:blipFill>
        <p:spPr>
          <a:xfrm>
            <a:off x="2779776" y="2395728"/>
            <a:ext cx="219456" cy="219456"/>
          </a:xfrm>
          <a:prstGeom prst="rect">
            <a:avLst/>
          </a:prstGeom>
        </p:spPr>
      </p:pic>
      <p:sp>
        <p:nvSpPr>
          <p:cNvPr id="15" name="Text 10"/>
          <p:cNvSpPr txBox="1"/>
          <p:nvPr/>
        </p:nvSpPr>
        <p:spPr>
          <a:xfrm>
            <a:off x="2487168" y="2633472"/>
            <a:ext cx="804672" cy="237744"/>
          </a:xfrm>
          <a:prstGeom prst="rect">
            <a:avLst/>
          </a:prstGeom>
          <a:noFill/>
          <a:ln/>
        </p:spPr>
        <p:txBody>
          <a:bodyPr wrap="square" lIns="0" tIns="0" rIns="0" bIns="0" rtlCol="0" anchor="t"/>
          <a:lstStyle/>
          <a:p>
            <a:pPr algn="ctr" indent="0" marL="0">
              <a:lnSpc>
                <a:spcPct val="105000"/>
              </a:lnSpc>
              <a:buNone/>
            </a:pPr>
            <a:r>
              <a:rPr lang="en-US" sz="1100" dirty="0">
                <a:solidFill>
                  <a:schemeClr val="accent5"/>
                </a:solidFill>
              </a:rPr>
              <a:t>Thủ công</a:t>
            </a:r>
            <a:endParaRPr lang="en-US" sz="1100" dirty="0"/>
          </a:p>
        </p:txBody>
      </p:sp>
      <p:sp>
        <p:nvSpPr>
          <p:cNvPr id="16" name="Shape 11"/>
          <p:cNvSpPr/>
          <p:nvPr/>
        </p:nvSpPr>
        <p:spPr>
          <a:xfrm>
            <a:off x="731520" y="3200400"/>
            <a:ext cx="274320" cy="274320"/>
          </a:xfrm>
          <a:prstGeom prst="ellipse">
            <a:avLst/>
          </a:prstGeom>
          <a:solidFill>
            <a:srgbClr val="FBE3E3"/>
          </a:solidFill>
          <a:ln/>
        </p:spPr>
      </p:sp>
      <p:pic>
        <p:nvPicPr>
          <p:cNvPr id="17" name="Image 3" descr="preencoded.png">    </p:cNvPr>
          <p:cNvPicPr>
            <a:picLocks noChangeAspect="1"/>
          </p:cNvPicPr>
          <p:nvPr/>
        </p:nvPicPr>
        <p:blipFill>
          <a:blip r:embed="rId4"/>
          <a:stretch>
            <a:fillRect/>
          </a:stretch>
        </p:blipFill>
        <p:spPr>
          <a:xfrm>
            <a:off x="786384" y="3255264"/>
            <a:ext cx="164592" cy="164592"/>
          </a:xfrm>
          <a:prstGeom prst="rect">
            <a:avLst/>
          </a:prstGeom>
        </p:spPr>
      </p:pic>
      <p:sp>
        <p:nvSpPr>
          <p:cNvPr id="18" name="Text 12"/>
          <p:cNvSpPr txBox="1"/>
          <p:nvPr/>
        </p:nvSpPr>
        <p:spPr>
          <a:xfrm>
            <a:off x="1097280" y="3108960"/>
            <a:ext cx="2286000" cy="512064"/>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Theo dõi nhân sự, lịch sử huấn luyện bằng Excel</a:t>
            </a:r>
            <a:endParaRPr lang="en-US" sz="1400" dirty="0"/>
          </a:p>
        </p:txBody>
      </p:sp>
      <p:sp>
        <p:nvSpPr>
          <p:cNvPr id="19" name="Shape 13"/>
          <p:cNvSpPr/>
          <p:nvPr/>
        </p:nvSpPr>
        <p:spPr>
          <a:xfrm>
            <a:off x="731520" y="3803904"/>
            <a:ext cx="274320" cy="274320"/>
          </a:xfrm>
          <a:prstGeom prst="ellipse">
            <a:avLst/>
          </a:prstGeom>
          <a:solidFill>
            <a:srgbClr val="FBE3E3"/>
          </a:solidFill>
          <a:ln/>
        </p:spPr>
      </p:sp>
      <p:pic>
        <p:nvPicPr>
          <p:cNvPr id="20" name="Image 4" descr="preencoded.png">    </p:cNvPr>
          <p:cNvPicPr>
            <a:picLocks noChangeAspect="1"/>
          </p:cNvPicPr>
          <p:nvPr/>
        </p:nvPicPr>
        <p:blipFill>
          <a:blip r:embed="rId5"/>
          <a:stretch>
            <a:fillRect/>
          </a:stretch>
        </p:blipFill>
        <p:spPr>
          <a:xfrm>
            <a:off x="786384" y="3858768"/>
            <a:ext cx="164592" cy="164592"/>
          </a:xfrm>
          <a:prstGeom prst="rect">
            <a:avLst/>
          </a:prstGeom>
        </p:spPr>
      </p:pic>
      <p:sp>
        <p:nvSpPr>
          <p:cNvPr id="21" name="Text 14"/>
          <p:cNvSpPr txBox="1"/>
          <p:nvPr/>
        </p:nvSpPr>
        <p:spPr>
          <a:xfrm>
            <a:off x="1097280" y="3712464"/>
            <a:ext cx="2286000" cy="512064"/>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Bị động trước hạn kiểm định máy móc, thiết bị</a:t>
            </a:r>
            <a:endParaRPr lang="en-US" sz="1400" dirty="0"/>
          </a:p>
        </p:txBody>
      </p:sp>
      <p:sp>
        <p:nvSpPr>
          <p:cNvPr id="22" name="Shape 15"/>
          <p:cNvSpPr/>
          <p:nvPr/>
        </p:nvSpPr>
        <p:spPr>
          <a:xfrm>
            <a:off x="731520" y="4407408"/>
            <a:ext cx="274320" cy="274320"/>
          </a:xfrm>
          <a:prstGeom prst="ellipse">
            <a:avLst/>
          </a:prstGeom>
          <a:solidFill>
            <a:srgbClr val="FBE3E3"/>
          </a:solidFill>
          <a:ln/>
        </p:spPr>
      </p:sp>
      <p:pic>
        <p:nvPicPr>
          <p:cNvPr id="23" name="Image 5" descr="preencoded.png">    </p:cNvPr>
          <p:cNvPicPr>
            <a:picLocks noChangeAspect="1"/>
          </p:cNvPicPr>
          <p:nvPr/>
        </p:nvPicPr>
        <p:blipFill>
          <a:blip r:embed="rId6"/>
          <a:stretch>
            <a:fillRect/>
          </a:stretch>
        </p:blipFill>
        <p:spPr>
          <a:xfrm>
            <a:off x="786384" y="4462272"/>
            <a:ext cx="164592" cy="164592"/>
          </a:xfrm>
          <a:prstGeom prst="rect">
            <a:avLst/>
          </a:prstGeom>
        </p:spPr>
      </p:pic>
      <p:sp>
        <p:nvSpPr>
          <p:cNvPr id="24" name="Text 16"/>
          <p:cNvSpPr txBox="1"/>
          <p:nvPr/>
        </p:nvSpPr>
        <p:spPr>
          <a:xfrm>
            <a:off x="1097280" y="4315968"/>
            <a:ext cx="2286000" cy="512064"/>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Đánh giá rủi ro chưa được cập nhật liên tục</a:t>
            </a:r>
            <a:endParaRPr lang="en-US" sz="1400" dirty="0"/>
          </a:p>
        </p:txBody>
      </p:sp>
      <p:sp>
        <p:nvSpPr>
          <p:cNvPr id="25" name="Shape 17"/>
          <p:cNvSpPr/>
          <p:nvPr/>
        </p:nvSpPr>
        <p:spPr>
          <a:xfrm>
            <a:off x="731520" y="5010912"/>
            <a:ext cx="274320" cy="274320"/>
          </a:xfrm>
          <a:prstGeom prst="ellipse">
            <a:avLst/>
          </a:prstGeom>
          <a:solidFill>
            <a:srgbClr val="FBE3E3"/>
          </a:solidFill>
          <a:ln/>
        </p:spPr>
      </p:sp>
      <p:pic>
        <p:nvPicPr>
          <p:cNvPr id="26" name="Image 6" descr="preencoded.png">    </p:cNvPr>
          <p:cNvPicPr>
            <a:picLocks noChangeAspect="1"/>
          </p:cNvPicPr>
          <p:nvPr/>
        </p:nvPicPr>
        <p:blipFill>
          <a:blip r:embed="rId7"/>
          <a:stretch>
            <a:fillRect/>
          </a:stretch>
        </p:blipFill>
        <p:spPr>
          <a:xfrm>
            <a:off x="786384" y="5065776"/>
            <a:ext cx="164592" cy="164592"/>
          </a:xfrm>
          <a:prstGeom prst="rect">
            <a:avLst/>
          </a:prstGeom>
        </p:spPr>
      </p:pic>
      <p:sp>
        <p:nvSpPr>
          <p:cNvPr id="27" name="Text 18"/>
          <p:cNvSpPr txBox="1"/>
          <p:nvPr/>
        </p:nvSpPr>
        <p:spPr>
          <a:xfrm>
            <a:off x="1097280" y="4919472"/>
            <a:ext cx="2286000" cy="512064"/>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Lãnh đạo thiếu dữ liệu để ra quyết định</a:t>
            </a:r>
            <a:endParaRPr lang="en-US" sz="1400" dirty="0"/>
          </a:p>
        </p:txBody>
      </p:sp>
      <p:sp>
        <p:nvSpPr>
          <p:cNvPr id="28" name="Shape 19"/>
          <p:cNvSpPr/>
          <p:nvPr/>
        </p:nvSpPr>
        <p:spPr>
          <a:xfrm>
            <a:off x="731520" y="5614416"/>
            <a:ext cx="274320" cy="274320"/>
          </a:xfrm>
          <a:prstGeom prst="ellipse">
            <a:avLst/>
          </a:prstGeom>
          <a:solidFill>
            <a:srgbClr val="FBE3E3"/>
          </a:solidFill>
          <a:ln/>
        </p:spPr>
      </p:sp>
      <p:pic>
        <p:nvPicPr>
          <p:cNvPr id="29" name="Image 7" descr="preencoded.png">    </p:cNvPr>
          <p:cNvPicPr>
            <a:picLocks noChangeAspect="1"/>
          </p:cNvPicPr>
          <p:nvPr/>
        </p:nvPicPr>
        <p:blipFill>
          <a:blip r:embed="rId8"/>
          <a:stretch>
            <a:fillRect/>
          </a:stretch>
        </p:blipFill>
        <p:spPr>
          <a:xfrm>
            <a:off x="786384" y="5669280"/>
            <a:ext cx="164592" cy="164592"/>
          </a:xfrm>
          <a:prstGeom prst="rect">
            <a:avLst/>
          </a:prstGeom>
        </p:spPr>
      </p:pic>
      <p:sp>
        <p:nvSpPr>
          <p:cNvPr id="30" name="Text 20"/>
          <p:cNvSpPr txBox="1"/>
          <p:nvPr/>
        </p:nvSpPr>
        <p:spPr>
          <a:xfrm>
            <a:off x="1097280" y="5522976"/>
            <a:ext cx="2286000" cy="512064"/>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Mất chứng chỉ, khó xác minh thông tin đào tạo</a:t>
            </a:r>
            <a:endParaRPr lang="en-US" sz="1400" dirty="0"/>
          </a:p>
        </p:txBody>
      </p:sp>
      <p:sp>
        <p:nvSpPr>
          <p:cNvPr id="31" name="Text 21"/>
          <p:cNvSpPr txBox="1"/>
          <p:nvPr/>
        </p:nvSpPr>
        <p:spPr>
          <a:xfrm>
            <a:off x="731520" y="6254496"/>
            <a:ext cx="2578608" cy="731520"/>
          </a:xfrm>
          <a:prstGeom prst="rect">
            <a:avLst/>
          </a:prstGeom>
          <a:noFill/>
          <a:ln/>
        </p:spPr>
        <p:txBody>
          <a:bodyPr wrap="square" lIns="0" tIns="0" rIns="0" bIns="0" rtlCol="0" anchor="t"/>
          <a:lstStyle/>
          <a:p>
            <a:pPr indent="0" marL="0">
              <a:lnSpc>
                <a:spcPct val="105000"/>
              </a:lnSpc>
              <a:buNone/>
            </a:pPr>
            <a:r>
              <a:rPr lang="en-US" sz="1400" b="1" i="1" dirty="0">
                <a:solidFill>
                  <a:schemeClr val="accent4"/>
                </a:solidFill>
              </a:rPr>
              <a:t>Quản lý thủ công: mất thời gian, dễ bỏ sót, khó kiểm soát.</a:t>
            </a:r>
            <a:endParaRPr lang="en-US" sz="1400" dirty="0"/>
          </a:p>
        </p:txBody>
      </p:sp>
      <p:sp>
        <p:nvSpPr>
          <p:cNvPr id="32" name="Shape 22"/>
          <p:cNvSpPr/>
          <p:nvPr/>
        </p:nvSpPr>
        <p:spPr>
          <a:xfrm>
            <a:off x="3355848" y="4261104"/>
            <a:ext cx="457200" cy="457200"/>
          </a:xfrm>
          <a:prstGeom prst="ellipse">
            <a:avLst/>
          </a:prstGeom>
          <a:solidFill>
            <a:schemeClr val="accent2"/>
          </a:solidFill>
          <a:ln/>
        </p:spPr>
      </p:sp>
      <p:pic>
        <p:nvPicPr>
          <p:cNvPr id="33" name="Image 8" descr="preencoded.png">    </p:cNvPr>
          <p:cNvPicPr>
            <a:picLocks noChangeAspect="1"/>
          </p:cNvPicPr>
          <p:nvPr/>
        </p:nvPicPr>
        <p:blipFill>
          <a:blip r:embed="rId9"/>
          <a:stretch>
            <a:fillRect/>
          </a:stretch>
        </p:blipFill>
        <p:spPr>
          <a:xfrm>
            <a:off x="3470148" y="4375404"/>
            <a:ext cx="228600" cy="228600"/>
          </a:xfrm>
          <a:prstGeom prst="rect">
            <a:avLst/>
          </a:prstGeom>
        </p:spPr>
      </p:pic>
      <p:sp>
        <p:nvSpPr>
          <p:cNvPr id="34" name="Shape 23"/>
          <p:cNvSpPr/>
          <p:nvPr/>
        </p:nvSpPr>
        <p:spPr>
          <a:xfrm>
            <a:off x="3904488" y="1847088"/>
            <a:ext cx="3108960" cy="5285232"/>
          </a:xfrm>
          <a:prstGeom prst="roundRect">
            <a:avLst>
              <a:gd name="adj" fmla="val 3529"/>
            </a:avLst>
          </a:prstGeom>
          <a:solidFill>
            <a:schemeClr val="tx2"/>
          </a:solidFill>
          <a:ln/>
          <a:effectLst>
            <a:outerShdw sx="100000" sy="100000" kx="0" ky="0" algn="bl" rotWithShape="0" blurRad="101600" dist="25400" dir="5400000">
              <a:srgbClr val="0B2A00">
                <a:alpha val="16000"/>
              </a:srgbClr>
            </a:outerShdw>
          </a:effectLst>
        </p:spPr>
      </p:sp>
      <p:sp>
        <p:nvSpPr>
          <p:cNvPr id="35" name="Text 24"/>
          <p:cNvSpPr txBox="1"/>
          <p:nvPr/>
        </p:nvSpPr>
        <p:spPr>
          <a:xfrm>
            <a:off x="4087368" y="1984248"/>
            <a:ext cx="2743200" cy="274320"/>
          </a:xfrm>
          <a:prstGeom prst="rect">
            <a:avLst/>
          </a:prstGeom>
          <a:noFill/>
          <a:ln/>
        </p:spPr>
        <p:txBody>
          <a:bodyPr wrap="square" lIns="0" tIns="0" rIns="0" bIns="0" rtlCol="0" anchor="t"/>
          <a:lstStyle/>
          <a:p>
            <a:pPr indent="0" marL="0">
              <a:lnSpc>
                <a:spcPct val="105000"/>
              </a:lnSpc>
              <a:buNone/>
            </a:pPr>
            <a:r>
              <a:rPr lang="en-US" sz="1400" b="1" spc="200" kern="0" dirty="0">
                <a:solidFill>
                  <a:schemeClr val="accent2"/>
                </a:solidFill>
              </a:rPr>
              <a:t>GIẢI PHÁP CỦA VIỆN STP</a:t>
            </a:r>
            <a:endParaRPr lang="en-US" sz="1400" dirty="0"/>
          </a:p>
        </p:txBody>
      </p:sp>
      <p:sp>
        <p:nvSpPr>
          <p:cNvPr id="36" name="Text 25"/>
          <p:cNvSpPr txBox="1"/>
          <p:nvPr/>
        </p:nvSpPr>
        <p:spPr>
          <a:xfrm>
            <a:off x="4087368" y="2286000"/>
            <a:ext cx="2834640" cy="713232"/>
          </a:xfrm>
          <a:prstGeom prst="rect">
            <a:avLst/>
          </a:prstGeom>
          <a:noFill/>
          <a:ln/>
        </p:spPr>
        <p:txBody>
          <a:bodyPr wrap="square" lIns="0" tIns="0" rIns="0" bIns="0" rtlCol="0" anchor="t"/>
          <a:lstStyle/>
          <a:p>
            <a:pPr indent="0" marL="0">
              <a:lnSpc>
                <a:spcPct val="105000"/>
              </a:lnSpc>
              <a:buNone/>
            </a:pPr>
            <a:r>
              <a:rPr lang="en-US" sz="1400" b="1" dirty="0">
                <a:solidFill>
                  <a:schemeClr val="bg1"/>
                </a:solidFill>
              </a:rPr>
              <a:t>Quản lý ATVSLĐ thông minh 4.0</a:t>
            </a:r>
            <a:endParaRPr lang="en-US" sz="1400" dirty="0"/>
          </a:p>
          <a:p>
            <a:pPr indent="0" marL="0">
              <a:lnSpc>
                <a:spcPct val="105000"/>
              </a:lnSpc>
              <a:buNone/>
            </a:pPr>
            <a:r>
              <a:rPr lang="en-US" sz="1300" b="1" dirty="0">
                <a:solidFill>
                  <a:schemeClr val="accent2"/>
                </a:solidFill>
              </a:rPr>
              <a:t>Tập trung · Trực quan · Chủ động · Số hóa</a:t>
            </a:r>
            <a:endParaRPr lang="en-US" sz="1400" dirty="0"/>
          </a:p>
        </p:txBody>
      </p:sp>
      <p:pic>
        <p:nvPicPr>
          <p:cNvPr id="37" name="Image 9" descr="preencoded.png">    </p:cNvPr>
          <p:cNvPicPr>
            <a:picLocks noChangeAspect="1"/>
          </p:cNvPicPr>
          <p:nvPr/>
        </p:nvPicPr>
        <p:blipFill>
          <a:blip r:embed="rId10"/>
          <a:stretch>
            <a:fillRect/>
          </a:stretch>
        </p:blipFill>
        <p:spPr>
          <a:xfrm>
            <a:off x="4087368" y="3172968"/>
            <a:ext cx="237744" cy="237744"/>
          </a:xfrm>
          <a:prstGeom prst="rect">
            <a:avLst/>
          </a:prstGeom>
        </p:spPr>
      </p:pic>
      <p:sp>
        <p:nvSpPr>
          <p:cNvPr id="38" name="Text 26"/>
          <p:cNvSpPr txBox="1"/>
          <p:nvPr/>
        </p:nvSpPr>
        <p:spPr>
          <a:xfrm>
            <a:off x="4434840" y="305409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Quản lý tập trung hồ sơ ATVSLĐ từng người</a:t>
            </a:r>
            <a:endParaRPr lang="en-US" sz="1400" dirty="0"/>
          </a:p>
        </p:txBody>
      </p:sp>
      <p:pic>
        <p:nvPicPr>
          <p:cNvPr id="39" name="Image 10" descr="preencoded.png">    </p:cNvPr>
          <p:cNvPicPr>
            <a:picLocks noChangeAspect="1"/>
          </p:cNvPicPr>
          <p:nvPr/>
        </p:nvPicPr>
        <p:blipFill>
          <a:blip r:embed="rId11"/>
          <a:stretch>
            <a:fillRect/>
          </a:stretch>
        </p:blipFill>
        <p:spPr>
          <a:xfrm>
            <a:off x="4087368" y="3675888"/>
            <a:ext cx="237744" cy="237744"/>
          </a:xfrm>
          <a:prstGeom prst="rect">
            <a:avLst/>
          </a:prstGeom>
        </p:spPr>
      </p:pic>
      <p:sp>
        <p:nvSpPr>
          <p:cNvPr id="40" name="Text 27"/>
          <p:cNvSpPr txBox="1"/>
          <p:nvPr/>
        </p:nvSpPr>
        <p:spPr>
          <a:xfrm>
            <a:off x="4434840" y="355701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Theo dõi lịch sử huấn luyện, hạn chứng chỉ</a:t>
            </a:r>
            <a:endParaRPr lang="en-US" sz="1400" dirty="0"/>
          </a:p>
        </p:txBody>
      </p:sp>
      <p:pic>
        <p:nvPicPr>
          <p:cNvPr id="41" name="Image 11" descr="preencoded.png">    </p:cNvPr>
          <p:cNvPicPr>
            <a:picLocks noChangeAspect="1"/>
          </p:cNvPicPr>
          <p:nvPr/>
        </p:nvPicPr>
        <p:blipFill>
          <a:blip r:embed="rId12"/>
          <a:stretch>
            <a:fillRect/>
          </a:stretch>
        </p:blipFill>
        <p:spPr>
          <a:xfrm>
            <a:off x="4087368" y="4178808"/>
            <a:ext cx="237744" cy="237744"/>
          </a:xfrm>
          <a:prstGeom prst="rect">
            <a:avLst/>
          </a:prstGeom>
        </p:spPr>
      </p:pic>
      <p:sp>
        <p:nvSpPr>
          <p:cNvPr id="42" name="Text 28"/>
          <p:cNvSpPr txBox="1"/>
          <p:nvPr/>
        </p:nvSpPr>
        <p:spPr>
          <a:xfrm>
            <a:off x="4434840" y="405993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Cảnh báo tự động chứng chỉ, thiết bị sắp hết hạn</a:t>
            </a:r>
            <a:endParaRPr lang="en-US" sz="1400" dirty="0"/>
          </a:p>
        </p:txBody>
      </p:sp>
      <p:pic>
        <p:nvPicPr>
          <p:cNvPr id="43" name="Image 12" descr="preencoded.png">    </p:cNvPr>
          <p:cNvPicPr>
            <a:picLocks noChangeAspect="1"/>
          </p:cNvPicPr>
          <p:nvPr/>
        </p:nvPicPr>
        <p:blipFill>
          <a:blip r:embed="rId13"/>
          <a:stretch>
            <a:fillRect/>
          </a:stretch>
        </p:blipFill>
        <p:spPr>
          <a:xfrm>
            <a:off x="4087368" y="4681728"/>
            <a:ext cx="237744" cy="237744"/>
          </a:xfrm>
          <a:prstGeom prst="rect">
            <a:avLst/>
          </a:prstGeom>
        </p:spPr>
      </p:pic>
      <p:sp>
        <p:nvSpPr>
          <p:cNvPr id="44" name="Text 29"/>
          <p:cNvSpPr txBox="1"/>
          <p:nvPr/>
        </p:nvSpPr>
        <p:spPr>
          <a:xfrm>
            <a:off x="4434840" y="456285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Báo cáo nguy cơ, sự cố ngay tại hiện trường</a:t>
            </a:r>
            <a:endParaRPr lang="en-US" sz="1400" dirty="0"/>
          </a:p>
        </p:txBody>
      </p:sp>
      <p:pic>
        <p:nvPicPr>
          <p:cNvPr id="45" name="Image 13" descr="preencoded.png">    </p:cNvPr>
          <p:cNvPicPr>
            <a:picLocks noChangeAspect="1"/>
          </p:cNvPicPr>
          <p:nvPr/>
        </p:nvPicPr>
        <p:blipFill>
          <a:blip r:embed="rId14"/>
          <a:stretch>
            <a:fillRect/>
          </a:stretch>
        </p:blipFill>
        <p:spPr>
          <a:xfrm>
            <a:off x="4087368" y="5184648"/>
            <a:ext cx="237744" cy="237744"/>
          </a:xfrm>
          <a:prstGeom prst="rect">
            <a:avLst/>
          </a:prstGeom>
        </p:spPr>
      </p:pic>
      <p:sp>
        <p:nvSpPr>
          <p:cNvPr id="46" name="Text 30"/>
          <p:cNvSpPr txBox="1"/>
          <p:nvPr/>
        </p:nvSpPr>
        <p:spPr>
          <a:xfrm>
            <a:off x="4434840" y="506577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Tra cứu hồ sơ bằng QR Code, không lo thất lạc</a:t>
            </a:r>
            <a:endParaRPr lang="en-US" sz="1400" dirty="0"/>
          </a:p>
        </p:txBody>
      </p:sp>
      <p:pic>
        <p:nvPicPr>
          <p:cNvPr id="47" name="Image 14" descr="preencoded.png">    </p:cNvPr>
          <p:cNvPicPr>
            <a:picLocks noChangeAspect="1"/>
          </p:cNvPicPr>
          <p:nvPr/>
        </p:nvPicPr>
        <p:blipFill>
          <a:blip r:embed="rId15"/>
          <a:stretch>
            <a:fillRect/>
          </a:stretch>
        </p:blipFill>
        <p:spPr>
          <a:xfrm>
            <a:off x="4087368" y="5687568"/>
            <a:ext cx="237744" cy="237744"/>
          </a:xfrm>
          <a:prstGeom prst="rect">
            <a:avLst/>
          </a:prstGeom>
        </p:spPr>
      </p:pic>
      <p:sp>
        <p:nvSpPr>
          <p:cNvPr id="48" name="Text 31"/>
          <p:cNvSpPr txBox="1"/>
          <p:nvPr/>
        </p:nvSpPr>
        <p:spPr>
          <a:xfrm>
            <a:off x="4434840" y="556869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Lưu trữ tập trung, dễ tìm kiếm, truy xuất</a:t>
            </a:r>
            <a:endParaRPr lang="en-US" sz="1400" dirty="0"/>
          </a:p>
        </p:txBody>
      </p:sp>
      <p:pic>
        <p:nvPicPr>
          <p:cNvPr id="49" name="Image 15" descr="preencoded.png">    </p:cNvPr>
          <p:cNvPicPr>
            <a:picLocks noChangeAspect="1"/>
          </p:cNvPicPr>
          <p:nvPr/>
        </p:nvPicPr>
        <p:blipFill>
          <a:blip r:embed="rId16"/>
          <a:stretch>
            <a:fillRect/>
          </a:stretch>
        </p:blipFill>
        <p:spPr>
          <a:xfrm>
            <a:off x="4087368" y="6190488"/>
            <a:ext cx="237744" cy="237744"/>
          </a:xfrm>
          <a:prstGeom prst="rect">
            <a:avLst/>
          </a:prstGeom>
        </p:spPr>
      </p:pic>
      <p:sp>
        <p:nvSpPr>
          <p:cNvPr id="50" name="Text 32"/>
          <p:cNvSpPr txBox="1"/>
          <p:nvPr/>
        </p:nvSpPr>
        <p:spPr>
          <a:xfrm>
            <a:off x="4434840" y="607161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Dashboard trực quan theo thời gian thực</a:t>
            </a:r>
            <a:endParaRPr lang="en-US" sz="1400" dirty="0"/>
          </a:p>
        </p:txBody>
      </p:sp>
      <p:pic>
        <p:nvPicPr>
          <p:cNvPr id="51" name="Image 16" descr="preencoded.png">    </p:cNvPr>
          <p:cNvPicPr>
            <a:picLocks noChangeAspect="1"/>
          </p:cNvPicPr>
          <p:nvPr/>
        </p:nvPicPr>
        <p:blipFill>
          <a:blip r:embed="rId17"/>
          <a:stretch>
            <a:fillRect/>
          </a:stretch>
        </p:blipFill>
        <p:spPr>
          <a:xfrm>
            <a:off x="4087368" y="6693408"/>
            <a:ext cx="237744" cy="237744"/>
          </a:xfrm>
          <a:prstGeom prst="rect">
            <a:avLst/>
          </a:prstGeom>
        </p:spPr>
      </p:pic>
      <p:sp>
        <p:nvSpPr>
          <p:cNvPr id="52" name="Text 33"/>
          <p:cNvSpPr txBox="1"/>
          <p:nvPr/>
        </p:nvSpPr>
        <p:spPr>
          <a:xfrm>
            <a:off x="4434840" y="6574536"/>
            <a:ext cx="2468880" cy="475488"/>
          </a:xfrm>
          <a:prstGeom prst="rect">
            <a:avLst/>
          </a:prstGeom>
          <a:noFill/>
          <a:ln/>
        </p:spPr>
        <p:txBody>
          <a:bodyPr wrap="square" lIns="0" tIns="0" rIns="0" bIns="0" rtlCol="0" anchor="ctr"/>
          <a:lstStyle/>
          <a:p>
            <a:pPr indent="0" marL="0">
              <a:lnSpc>
                <a:spcPct val="105000"/>
              </a:lnSpc>
              <a:buNone/>
            </a:pPr>
            <a:r>
              <a:rPr lang="en-US" sz="1400" dirty="0">
                <a:solidFill>
                  <a:schemeClr val="bg1"/>
                </a:solidFill>
              </a:rPr>
              <a:t>Ứng dụng AI, dữ liệu số cảnh báo rủi ro</a:t>
            </a:r>
            <a:endParaRPr lang="en-US" sz="1400" dirty="0"/>
          </a:p>
        </p:txBody>
      </p:sp>
      <p:sp>
        <p:nvSpPr>
          <p:cNvPr id="53" name="Text 34"/>
          <p:cNvSpPr txBox="1"/>
          <p:nvPr/>
        </p:nvSpPr>
        <p:spPr>
          <a:xfrm>
            <a:off x="548640" y="7278624"/>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HỆ SINH THÁI KẾT NỐI 3 BÊN</a:t>
            </a:r>
            <a:endParaRPr lang="en-US" sz="1600" dirty="0"/>
          </a:p>
        </p:txBody>
      </p:sp>
      <p:sp>
        <p:nvSpPr>
          <p:cNvPr id="54" name="Text 35"/>
          <p:cNvSpPr txBox="1"/>
          <p:nvPr/>
        </p:nvSpPr>
        <p:spPr>
          <a:xfrm>
            <a:off x="548640" y="7607808"/>
            <a:ext cx="6464808" cy="475488"/>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Ký hợp đồng đào tạo → doanh nghiệp có </a:t>
            </a:r>
            <a:pPr indent="0" marL="0">
              <a:lnSpc>
                <a:spcPct val="105000"/>
              </a:lnSpc>
              <a:buNone/>
            </a:pPr>
            <a:r>
              <a:rPr lang="en-US" sz="1400" b="1" dirty="0">
                <a:solidFill>
                  <a:schemeClr val="accent1"/>
                </a:solidFill>
              </a:rPr>
              <a:t>tài khoản quản lý EHS/ATVSLĐ riêng</a:t>
            </a:r>
            <a:pPr indent="0" marL="0">
              <a:lnSpc>
                <a:spcPct val="105000"/>
              </a:lnSpc>
              <a:buNone/>
            </a:pPr>
            <a:r>
              <a:rPr lang="en-US" sz="1400" dirty="0">
                <a:solidFill>
                  <a:schemeClr val="tx1"/>
                </a:solidFill>
              </a:rPr>
              <a:t> (không phải mua phần mềm), mỗi học viên có </a:t>
            </a:r>
            <a:pPr indent="0" marL="0">
              <a:lnSpc>
                <a:spcPct val="105000"/>
              </a:lnSpc>
              <a:buNone/>
            </a:pPr>
            <a:r>
              <a:rPr lang="en-US" sz="1400" b="1" dirty="0">
                <a:solidFill>
                  <a:schemeClr val="accent1"/>
                </a:solidFill>
              </a:rPr>
              <a:t>tài khoản cá nhân.</a:t>
            </a:r>
            <a:endParaRPr lang="en-US" sz="1400" dirty="0"/>
          </a:p>
        </p:txBody>
      </p:sp>
      <p:sp>
        <p:nvSpPr>
          <p:cNvPr id="55" name="Shape 36"/>
          <p:cNvSpPr/>
          <p:nvPr/>
        </p:nvSpPr>
        <p:spPr>
          <a:xfrm>
            <a:off x="548640" y="8174736"/>
            <a:ext cx="2002536" cy="1042416"/>
          </a:xfrm>
          <a:prstGeom prst="roundRect">
            <a:avLst>
              <a:gd name="adj" fmla="val 1052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56" name="Shape 37"/>
          <p:cNvSpPr/>
          <p:nvPr/>
        </p:nvSpPr>
        <p:spPr>
          <a:xfrm>
            <a:off x="658368" y="8266176"/>
            <a:ext cx="384048" cy="384048"/>
          </a:xfrm>
          <a:prstGeom prst="ellipse">
            <a:avLst/>
          </a:prstGeom>
          <a:solidFill>
            <a:schemeClr val="bg2"/>
          </a:solidFill>
          <a:ln/>
        </p:spPr>
      </p:sp>
      <p:pic>
        <p:nvPicPr>
          <p:cNvPr id="57" name="Image 17" descr="preencoded.png">    </p:cNvPr>
          <p:cNvPicPr>
            <a:picLocks noChangeAspect="1"/>
          </p:cNvPicPr>
          <p:nvPr/>
        </p:nvPicPr>
        <p:blipFill>
          <a:blip r:embed="rId18"/>
          <a:stretch>
            <a:fillRect/>
          </a:stretch>
        </p:blipFill>
        <p:spPr>
          <a:xfrm>
            <a:off x="750540" y="8358348"/>
            <a:ext cx="199705" cy="199705"/>
          </a:xfrm>
          <a:prstGeom prst="rect">
            <a:avLst/>
          </a:prstGeom>
        </p:spPr>
      </p:pic>
      <p:sp>
        <p:nvSpPr>
          <p:cNvPr id="58" name="Text 38"/>
          <p:cNvSpPr txBox="1"/>
          <p:nvPr/>
        </p:nvSpPr>
        <p:spPr>
          <a:xfrm>
            <a:off x="1115568" y="8266176"/>
            <a:ext cx="1399032" cy="384048"/>
          </a:xfrm>
          <a:prstGeom prst="rect">
            <a:avLst/>
          </a:prstGeom>
          <a:noFill/>
          <a:ln/>
        </p:spPr>
        <p:txBody>
          <a:bodyPr wrap="square" lIns="0" tIns="0" rIns="0" bIns="0" rtlCol="0" anchor="ctr"/>
          <a:lstStyle/>
          <a:p>
            <a:pPr indent="0" marL="0">
              <a:lnSpc>
                <a:spcPct val="105000"/>
              </a:lnSpc>
              <a:buNone/>
            </a:pPr>
            <a:r>
              <a:rPr lang="en-US" sz="1350" b="1" dirty="0">
                <a:solidFill>
                  <a:schemeClr val="tx2"/>
                </a:solidFill>
              </a:rPr>
              <a:t>DOANH NGHIỆP</a:t>
            </a:r>
            <a:endParaRPr lang="en-US" sz="1350" dirty="0"/>
          </a:p>
        </p:txBody>
      </p:sp>
      <p:sp>
        <p:nvSpPr>
          <p:cNvPr id="59" name="Text 39"/>
          <p:cNvSpPr txBox="1"/>
          <p:nvPr/>
        </p:nvSpPr>
        <p:spPr>
          <a:xfrm>
            <a:off x="676656" y="8686800"/>
            <a:ext cx="1819656" cy="256032"/>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Quản lý tập trung</a:t>
            </a:r>
            <a:endParaRPr lang="en-US" sz="1400" dirty="0"/>
          </a:p>
        </p:txBody>
      </p:sp>
      <p:sp>
        <p:nvSpPr>
          <p:cNvPr id="60" name="Text 40"/>
          <p:cNvSpPr txBox="1"/>
          <p:nvPr/>
        </p:nvSpPr>
        <p:spPr>
          <a:xfrm>
            <a:off x="676656" y="8942832"/>
            <a:ext cx="1819656" cy="219456"/>
          </a:xfrm>
          <a:prstGeom prst="rect">
            <a:avLst/>
          </a:prstGeom>
          <a:noFill/>
          <a:ln/>
        </p:spPr>
        <p:txBody>
          <a:bodyPr wrap="square" lIns="0" tIns="0" rIns="0" bIns="0" rtlCol="0" anchor="t"/>
          <a:lstStyle/>
          <a:p>
            <a:pPr indent="0" marL="0">
              <a:lnSpc>
                <a:spcPct val="105000"/>
              </a:lnSpc>
              <a:buNone/>
            </a:pPr>
            <a:r>
              <a:rPr lang="en-US" sz="1150" dirty="0">
                <a:solidFill>
                  <a:schemeClr val="accent5"/>
                </a:solidFill>
              </a:rPr>
              <a:t>doanhnghiep.vienstp.com</a:t>
            </a:r>
            <a:endParaRPr lang="en-US" sz="1150" dirty="0"/>
          </a:p>
        </p:txBody>
      </p:sp>
      <p:sp>
        <p:nvSpPr>
          <p:cNvPr id="61" name="Text 41"/>
          <p:cNvSpPr txBox="1"/>
          <p:nvPr/>
        </p:nvSpPr>
        <p:spPr>
          <a:xfrm>
            <a:off x="2551176" y="8503920"/>
            <a:ext cx="228600" cy="365760"/>
          </a:xfrm>
          <a:prstGeom prst="rect">
            <a:avLst/>
          </a:prstGeom>
          <a:noFill/>
          <a:ln/>
        </p:spPr>
        <p:txBody>
          <a:bodyPr wrap="square" lIns="0" tIns="0" rIns="0" bIns="0" rtlCol="0" anchor="ctr"/>
          <a:lstStyle/>
          <a:p>
            <a:pPr algn="ctr" indent="0" marL="0">
              <a:lnSpc>
                <a:spcPct val="105000"/>
              </a:lnSpc>
              <a:buNone/>
            </a:pPr>
            <a:r>
              <a:rPr lang="en-US" sz="1600" b="1" dirty="0">
                <a:solidFill>
                  <a:schemeClr val="accent1"/>
                </a:solidFill>
              </a:rPr>
              <a:t>⇄</a:t>
            </a:r>
            <a:endParaRPr lang="en-US" sz="1600" dirty="0"/>
          </a:p>
        </p:txBody>
      </p:sp>
      <p:sp>
        <p:nvSpPr>
          <p:cNvPr id="62" name="Shape 42"/>
          <p:cNvSpPr/>
          <p:nvPr/>
        </p:nvSpPr>
        <p:spPr>
          <a:xfrm>
            <a:off x="2779776" y="8174736"/>
            <a:ext cx="2002536" cy="1042416"/>
          </a:xfrm>
          <a:prstGeom prst="roundRect">
            <a:avLst>
              <a:gd name="adj" fmla="val 10526"/>
            </a:avLst>
          </a:prstGeom>
          <a:solidFill>
            <a:schemeClr val="tx2"/>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63" name="Shape 43"/>
          <p:cNvSpPr/>
          <p:nvPr/>
        </p:nvSpPr>
        <p:spPr>
          <a:xfrm>
            <a:off x="2889504" y="8266176"/>
            <a:ext cx="384048" cy="384048"/>
          </a:xfrm>
          <a:prstGeom prst="ellipse">
            <a:avLst/>
          </a:prstGeom>
          <a:solidFill>
            <a:schemeClr val="accent2"/>
          </a:solidFill>
          <a:ln/>
        </p:spPr>
      </p:sp>
      <p:pic>
        <p:nvPicPr>
          <p:cNvPr id="64" name="Image 18" descr="preencoded.png">    </p:cNvPr>
          <p:cNvPicPr>
            <a:picLocks noChangeAspect="1"/>
          </p:cNvPicPr>
          <p:nvPr/>
        </p:nvPicPr>
        <p:blipFill>
          <a:blip r:embed="rId19"/>
          <a:stretch>
            <a:fillRect/>
          </a:stretch>
        </p:blipFill>
        <p:spPr>
          <a:xfrm>
            <a:off x="2981676" y="8358348"/>
            <a:ext cx="199705" cy="199705"/>
          </a:xfrm>
          <a:prstGeom prst="rect">
            <a:avLst/>
          </a:prstGeom>
        </p:spPr>
      </p:pic>
      <p:sp>
        <p:nvSpPr>
          <p:cNvPr id="65" name="Text 44"/>
          <p:cNvSpPr txBox="1"/>
          <p:nvPr/>
        </p:nvSpPr>
        <p:spPr>
          <a:xfrm>
            <a:off x="3346704" y="8266176"/>
            <a:ext cx="1399032" cy="384048"/>
          </a:xfrm>
          <a:prstGeom prst="rect">
            <a:avLst/>
          </a:prstGeom>
          <a:noFill/>
          <a:ln/>
        </p:spPr>
        <p:txBody>
          <a:bodyPr wrap="square" lIns="0" tIns="0" rIns="0" bIns="0" rtlCol="0" anchor="ctr"/>
          <a:lstStyle/>
          <a:p>
            <a:pPr indent="0" marL="0">
              <a:lnSpc>
                <a:spcPct val="105000"/>
              </a:lnSpc>
              <a:buNone/>
            </a:pPr>
            <a:r>
              <a:rPr lang="en-US" sz="1350" b="1" dirty="0">
                <a:solidFill>
                  <a:schemeClr val="bg1"/>
                </a:solidFill>
              </a:rPr>
              <a:t>VIỆN STP</a:t>
            </a:r>
            <a:endParaRPr lang="en-US" sz="1350" dirty="0"/>
          </a:p>
        </p:txBody>
      </p:sp>
      <p:sp>
        <p:nvSpPr>
          <p:cNvPr id="66" name="Text 45"/>
          <p:cNvSpPr txBox="1"/>
          <p:nvPr/>
        </p:nvSpPr>
        <p:spPr>
          <a:xfrm>
            <a:off x="2907792" y="8686800"/>
            <a:ext cx="1819656" cy="256032"/>
          </a:xfrm>
          <a:prstGeom prst="rect">
            <a:avLst/>
          </a:prstGeom>
          <a:noFill/>
          <a:ln/>
        </p:spPr>
        <p:txBody>
          <a:bodyPr wrap="square" lIns="0" tIns="0" rIns="0" bIns="0" rtlCol="0" anchor="t"/>
          <a:lstStyle/>
          <a:p>
            <a:pPr indent="0" marL="0">
              <a:lnSpc>
                <a:spcPct val="105000"/>
              </a:lnSpc>
              <a:buNone/>
            </a:pPr>
            <a:r>
              <a:rPr lang="en-US" sz="1400" b="1" dirty="0">
                <a:solidFill>
                  <a:schemeClr val="accent2"/>
                </a:solidFill>
              </a:rPr>
              <a:t>Đồng hành xuyên suốt</a:t>
            </a:r>
            <a:endParaRPr lang="en-US" sz="1400" dirty="0"/>
          </a:p>
        </p:txBody>
      </p:sp>
      <p:sp>
        <p:nvSpPr>
          <p:cNvPr id="67" name="Text 46"/>
          <p:cNvSpPr txBox="1"/>
          <p:nvPr/>
        </p:nvSpPr>
        <p:spPr>
          <a:xfrm>
            <a:off x="2907792" y="8942832"/>
            <a:ext cx="1819656" cy="219456"/>
          </a:xfrm>
          <a:prstGeom prst="rect">
            <a:avLst/>
          </a:prstGeom>
          <a:noFill/>
          <a:ln/>
        </p:spPr>
        <p:txBody>
          <a:bodyPr wrap="square" lIns="0" tIns="0" rIns="0" bIns="0" rtlCol="0" anchor="t"/>
          <a:lstStyle/>
          <a:p>
            <a:pPr indent="0" marL="0">
              <a:lnSpc>
                <a:spcPct val="105000"/>
              </a:lnSpc>
              <a:buNone/>
            </a:pPr>
            <a:r>
              <a:rPr lang="en-US" sz="1150" dirty="0">
                <a:solidFill>
                  <a:schemeClr val="accent3"/>
                </a:solidFill>
              </a:rPr>
              <a:t>Đào tạo &amp; giải pháp</a:t>
            </a:r>
            <a:endParaRPr lang="en-US" sz="1150" dirty="0"/>
          </a:p>
        </p:txBody>
      </p:sp>
      <p:sp>
        <p:nvSpPr>
          <p:cNvPr id="68" name="Text 47"/>
          <p:cNvSpPr txBox="1"/>
          <p:nvPr/>
        </p:nvSpPr>
        <p:spPr>
          <a:xfrm>
            <a:off x="4782312" y="8503920"/>
            <a:ext cx="228600" cy="365760"/>
          </a:xfrm>
          <a:prstGeom prst="rect">
            <a:avLst/>
          </a:prstGeom>
          <a:noFill/>
          <a:ln/>
        </p:spPr>
        <p:txBody>
          <a:bodyPr wrap="square" lIns="0" tIns="0" rIns="0" bIns="0" rtlCol="0" anchor="ctr"/>
          <a:lstStyle/>
          <a:p>
            <a:pPr algn="ctr" indent="0" marL="0">
              <a:lnSpc>
                <a:spcPct val="105000"/>
              </a:lnSpc>
              <a:buNone/>
            </a:pPr>
            <a:r>
              <a:rPr lang="en-US" sz="1600" b="1" dirty="0">
                <a:solidFill>
                  <a:schemeClr val="accent1"/>
                </a:solidFill>
              </a:rPr>
              <a:t>⇄</a:t>
            </a:r>
            <a:endParaRPr lang="en-US" sz="1600" dirty="0"/>
          </a:p>
        </p:txBody>
      </p:sp>
      <p:sp>
        <p:nvSpPr>
          <p:cNvPr id="69" name="Shape 48"/>
          <p:cNvSpPr/>
          <p:nvPr/>
        </p:nvSpPr>
        <p:spPr>
          <a:xfrm>
            <a:off x="5010912" y="8174736"/>
            <a:ext cx="2002536" cy="1042416"/>
          </a:xfrm>
          <a:prstGeom prst="roundRect">
            <a:avLst>
              <a:gd name="adj" fmla="val 10526"/>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70" name="Shape 49"/>
          <p:cNvSpPr/>
          <p:nvPr/>
        </p:nvSpPr>
        <p:spPr>
          <a:xfrm>
            <a:off x="5120640" y="8266176"/>
            <a:ext cx="384048" cy="384048"/>
          </a:xfrm>
          <a:prstGeom prst="ellipse">
            <a:avLst/>
          </a:prstGeom>
          <a:solidFill>
            <a:schemeClr val="bg2"/>
          </a:solidFill>
          <a:ln/>
        </p:spPr>
      </p:sp>
      <p:pic>
        <p:nvPicPr>
          <p:cNvPr id="71" name="Image 19" descr="preencoded.png">    </p:cNvPr>
          <p:cNvPicPr>
            <a:picLocks noChangeAspect="1"/>
          </p:cNvPicPr>
          <p:nvPr/>
        </p:nvPicPr>
        <p:blipFill>
          <a:blip r:embed="rId20"/>
          <a:stretch>
            <a:fillRect/>
          </a:stretch>
        </p:blipFill>
        <p:spPr>
          <a:xfrm>
            <a:off x="5212812" y="8358348"/>
            <a:ext cx="199705" cy="199705"/>
          </a:xfrm>
          <a:prstGeom prst="rect">
            <a:avLst/>
          </a:prstGeom>
        </p:spPr>
      </p:pic>
      <p:sp>
        <p:nvSpPr>
          <p:cNvPr id="72" name="Text 50"/>
          <p:cNvSpPr txBox="1"/>
          <p:nvPr/>
        </p:nvSpPr>
        <p:spPr>
          <a:xfrm>
            <a:off x="5577840" y="8266176"/>
            <a:ext cx="1399032" cy="384048"/>
          </a:xfrm>
          <a:prstGeom prst="rect">
            <a:avLst/>
          </a:prstGeom>
          <a:noFill/>
          <a:ln/>
        </p:spPr>
        <p:txBody>
          <a:bodyPr wrap="square" lIns="0" tIns="0" rIns="0" bIns="0" rtlCol="0" anchor="ctr"/>
          <a:lstStyle/>
          <a:p>
            <a:pPr indent="0" marL="0">
              <a:lnSpc>
                <a:spcPct val="105000"/>
              </a:lnSpc>
              <a:buNone/>
            </a:pPr>
            <a:r>
              <a:rPr lang="en-US" sz="1350" b="1" dirty="0">
                <a:solidFill>
                  <a:schemeClr val="tx2"/>
                </a:solidFill>
              </a:rPr>
              <a:t>NGƯỜI LAO ĐỘNG</a:t>
            </a:r>
            <a:endParaRPr lang="en-US" sz="1350" dirty="0"/>
          </a:p>
        </p:txBody>
      </p:sp>
      <p:sp>
        <p:nvSpPr>
          <p:cNvPr id="73" name="Text 51"/>
          <p:cNvSpPr txBox="1"/>
          <p:nvPr/>
        </p:nvSpPr>
        <p:spPr>
          <a:xfrm>
            <a:off x="5138928" y="8686800"/>
            <a:ext cx="1819656" cy="256032"/>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Chủ động tra cứu</a:t>
            </a:r>
            <a:endParaRPr lang="en-US" sz="1400" dirty="0"/>
          </a:p>
        </p:txBody>
      </p:sp>
      <p:sp>
        <p:nvSpPr>
          <p:cNvPr id="74" name="Text 52"/>
          <p:cNvSpPr txBox="1"/>
          <p:nvPr/>
        </p:nvSpPr>
        <p:spPr>
          <a:xfrm>
            <a:off x="5138928" y="8942832"/>
            <a:ext cx="1819656" cy="219456"/>
          </a:xfrm>
          <a:prstGeom prst="rect">
            <a:avLst/>
          </a:prstGeom>
          <a:noFill/>
          <a:ln/>
        </p:spPr>
        <p:txBody>
          <a:bodyPr wrap="square" lIns="0" tIns="0" rIns="0" bIns="0" rtlCol="0" anchor="t"/>
          <a:lstStyle/>
          <a:p>
            <a:pPr indent="0" marL="0">
              <a:lnSpc>
                <a:spcPct val="105000"/>
              </a:lnSpc>
              <a:buNone/>
            </a:pPr>
            <a:r>
              <a:rPr lang="en-US" sz="1150" dirty="0">
                <a:solidFill>
                  <a:schemeClr val="accent5"/>
                </a:solidFill>
              </a:rPr>
              <a:t>daotao.vienstp.com</a:t>
            </a:r>
            <a:endParaRPr lang="en-US" sz="1150" dirty="0"/>
          </a:p>
        </p:txBody>
      </p:sp>
      <p:sp>
        <p:nvSpPr>
          <p:cNvPr id="75" name="Shape 53"/>
          <p:cNvSpPr/>
          <p:nvPr/>
        </p:nvSpPr>
        <p:spPr>
          <a:xfrm>
            <a:off x="548640" y="9372600"/>
            <a:ext cx="1650492" cy="566928"/>
          </a:xfrm>
          <a:prstGeom prst="homePlate">
            <a:avLst/>
          </a:prstGeom>
          <a:solidFill>
            <a:schemeClr val="accent3"/>
          </a:solidFill>
          <a:ln/>
        </p:spPr>
      </p:sp>
      <p:sp>
        <p:nvSpPr>
          <p:cNvPr id="76" name="Text 54"/>
          <p:cNvSpPr txBox="1"/>
          <p:nvPr/>
        </p:nvSpPr>
        <p:spPr>
          <a:xfrm>
            <a:off x="621792" y="9372600"/>
            <a:ext cx="1229868" cy="566928"/>
          </a:xfrm>
          <a:prstGeom prst="rect">
            <a:avLst/>
          </a:prstGeom>
          <a:noFill/>
          <a:ln/>
        </p:spPr>
        <p:txBody>
          <a:bodyPr wrap="square" lIns="0" tIns="0" rIns="0" bIns="0" rtlCol="0" anchor="ctr"/>
          <a:lstStyle/>
          <a:p>
            <a:pPr algn="ctr" indent="0" marL="0">
              <a:lnSpc>
                <a:spcPct val="105000"/>
              </a:lnSpc>
              <a:buNone/>
            </a:pPr>
            <a:r>
              <a:rPr lang="en-US" sz="1350" b="1" dirty="0">
                <a:solidFill>
                  <a:schemeClr val="tx2"/>
                </a:solidFill>
              </a:rPr>
              <a:t>Quản lý hồ sơ</a:t>
            </a:r>
            <a:endParaRPr lang="en-US" sz="1350" dirty="0"/>
          </a:p>
        </p:txBody>
      </p:sp>
      <p:sp>
        <p:nvSpPr>
          <p:cNvPr id="77" name="Shape 55"/>
          <p:cNvSpPr/>
          <p:nvPr/>
        </p:nvSpPr>
        <p:spPr>
          <a:xfrm>
            <a:off x="2153412" y="9372600"/>
            <a:ext cx="1650492" cy="566928"/>
          </a:xfrm>
          <a:prstGeom prst="chevron">
            <a:avLst/>
          </a:prstGeom>
          <a:solidFill>
            <a:schemeClr val="accent2"/>
          </a:solidFill>
          <a:ln/>
        </p:spPr>
      </p:sp>
      <p:sp>
        <p:nvSpPr>
          <p:cNvPr id="78" name="Text 56"/>
          <p:cNvSpPr txBox="1"/>
          <p:nvPr/>
        </p:nvSpPr>
        <p:spPr>
          <a:xfrm>
            <a:off x="2427732" y="9372600"/>
            <a:ext cx="1229868" cy="566928"/>
          </a:xfrm>
          <a:prstGeom prst="rect">
            <a:avLst/>
          </a:prstGeom>
          <a:noFill/>
          <a:ln/>
        </p:spPr>
        <p:txBody>
          <a:bodyPr wrap="square" lIns="0" tIns="0" rIns="0" bIns="0" rtlCol="0" anchor="ctr"/>
          <a:lstStyle/>
          <a:p>
            <a:pPr algn="ctr" indent="0" marL="0">
              <a:lnSpc>
                <a:spcPct val="105000"/>
              </a:lnSpc>
              <a:buNone/>
            </a:pPr>
            <a:r>
              <a:rPr lang="en-US" sz="1350" b="1" dirty="0">
                <a:solidFill>
                  <a:schemeClr val="tx2"/>
                </a:solidFill>
              </a:rPr>
              <a:t>Quản lý con người</a:t>
            </a:r>
            <a:endParaRPr lang="en-US" sz="1350" dirty="0"/>
          </a:p>
        </p:txBody>
      </p:sp>
      <p:sp>
        <p:nvSpPr>
          <p:cNvPr id="79" name="Shape 57"/>
          <p:cNvSpPr/>
          <p:nvPr/>
        </p:nvSpPr>
        <p:spPr>
          <a:xfrm>
            <a:off x="3758184" y="9372600"/>
            <a:ext cx="1650492" cy="566928"/>
          </a:xfrm>
          <a:prstGeom prst="chevron">
            <a:avLst/>
          </a:prstGeom>
          <a:solidFill>
            <a:schemeClr val="accent1"/>
          </a:solidFill>
          <a:ln/>
        </p:spPr>
      </p:sp>
      <p:sp>
        <p:nvSpPr>
          <p:cNvPr id="80" name="Text 58"/>
          <p:cNvSpPr txBox="1"/>
          <p:nvPr/>
        </p:nvSpPr>
        <p:spPr>
          <a:xfrm>
            <a:off x="4032504" y="9372600"/>
            <a:ext cx="1229868" cy="566928"/>
          </a:xfrm>
          <a:prstGeom prst="rect">
            <a:avLst/>
          </a:prstGeom>
          <a:noFill/>
          <a:ln/>
        </p:spPr>
        <p:txBody>
          <a:bodyPr wrap="square" lIns="0" tIns="0" rIns="0" bIns="0" rtlCol="0" anchor="ctr"/>
          <a:lstStyle/>
          <a:p>
            <a:pPr algn="ctr" indent="0" marL="0">
              <a:lnSpc>
                <a:spcPct val="105000"/>
              </a:lnSpc>
              <a:buNone/>
            </a:pPr>
            <a:r>
              <a:rPr lang="en-US" sz="1350" b="1" dirty="0">
                <a:solidFill>
                  <a:schemeClr val="bg1"/>
                </a:solidFill>
              </a:rPr>
              <a:t>Quản lý nguy cơ</a:t>
            </a:r>
            <a:endParaRPr lang="en-US" sz="1350" dirty="0"/>
          </a:p>
        </p:txBody>
      </p:sp>
      <p:sp>
        <p:nvSpPr>
          <p:cNvPr id="81" name="Shape 59"/>
          <p:cNvSpPr/>
          <p:nvPr/>
        </p:nvSpPr>
        <p:spPr>
          <a:xfrm>
            <a:off x="5362956" y="9372600"/>
            <a:ext cx="1650492" cy="566928"/>
          </a:xfrm>
          <a:prstGeom prst="chevron">
            <a:avLst/>
          </a:prstGeom>
          <a:solidFill>
            <a:schemeClr val="tx2"/>
          </a:solidFill>
          <a:ln/>
        </p:spPr>
      </p:sp>
      <p:sp>
        <p:nvSpPr>
          <p:cNvPr id="82" name="Text 60"/>
          <p:cNvSpPr txBox="1"/>
          <p:nvPr/>
        </p:nvSpPr>
        <p:spPr>
          <a:xfrm>
            <a:off x="5637276" y="9372600"/>
            <a:ext cx="1229868" cy="566928"/>
          </a:xfrm>
          <a:prstGeom prst="rect">
            <a:avLst/>
          </a:prstGeom>
          <a:noFill/>
          <a:ln/>
        </p:spPr>
        <p:txBody>
          <a:bodyPr wrap="square" lIns="0" tIns="0" rIns="0" bIns="0" rtlCol="0" anchor="ctr"/>
          <a:lstStyle/>
          <a:p>
            <a:pPr algn="ctr" indent="0" marL="0">
              <a:lnSpc>
                <a:spcPct val="105000"/>
              </a:lnSpc>
              <a:buNone/>
            </a:pPr>
            <a:r>
              <a:rPr lang="en-US" sz="1350" b="1" dirty="0">
                <a:solidFill>
                  <a:schemeClr val="bg1"/>
                </a:solidFill>
              </a:rPr>
              <a:t>Chủ động phòng ngừa</a:t>
            </a:r>
            <a:endParaRPr lang="en-US" sz="135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03 · (2) SỐ HÓA ATVSLĐ QUA PHẦN MỀM</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NỀN TẢNG QUẢN LÝ SỐ STP</a:t>
            </a:r>
            <a:endParaRPr lang="en-US" sz="2800" dirty="0"/>
          </a:p>
        </p:txBody>
      </p:sp>
      <p:sp>
        <p:nvSpPr>
          <p:cNvPr id="4" name="Text 2"/>
          <p:cNvSpPr txBox="1"/>
          <p:nvPr/>
        </p:nvSpPr>
        <p:spPr>
          <a:xfrm>
            <a:off x="548640" y="1298448"/>
            <a:ext cx="3017520"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TÀI KHOẢN DOANH NGHIỆP</a:t>
            </a:r>
            <a:endParaRPr lang="en-US" sz="1600" dirty="0"/>
          </a:p>
        </p:txBody>
      </p:sp>
      <p:sp>
        <p:nvSpPr>
          <p:cNvPr id="5" name="Shape 3"/>
          <p:cNvSpPr/>
          <p:nvPr/>
        </p:nvSpPr>
        <p:spPr>
          <a:xfrm>
            <a:off x="3310128" y="1307592"/>
            <a:ext cx="2103120" cy="292608"/>
          </a:xfrm>
          <a:prstGeom prst="roundRect">
            <a:avLst>
              <a:gd name="adj" fmla="val 50000"/>
            </a:avLst>
          </a:prstGeom>
          <a:solidFill>
            <a:schemeClr val="bg2"/>
          </a:solidFill>
          <a:ln/>
        </p:spPr>
      </p:sp>
      <p:sp>
        <p:nvSpPr>
          <p:cNvPr id="6" name="Text 4"/>
          <p:cNvSpPr txBox="1"/>
          <p:nvPr/>
        </p:nvSpPr>
        <p:spPr>
          <a:xfrm>
            <a:off x="3310128" y="1307592"/>
            <a:ext cx="2103120" cy="292608"/>
          </a:xfrm>
          <a:prstGeom prst="rect">
            <a:avLst/>
          </a:prstGeom>
          <a:noFill/>
          <a:ln/>
        </p:spPr>
        <p:txBody>
          <a:bodyPr wrap="square" lIns="0" tIns="0" rIns="0" bIns="0" rtlCol="0" anchor="ctr"/>
          <a:lstStyle/>
          <a:p>
            <a:pPr algn="ctr" indent="0" marL="0">
              <a:lnSpc>
                <a:spcPct val="105000"/>
              </a:lnSpc>
              <a:buNone/>
            </a:pPr>
            <a:r>
              <a:rPr lang="en-US" sz="1150" b="1" dirty="0">
                <a:solidFill>
                  <a:schemeClr val="accent1"/>
                </a:solidFill>
              </a:rPr>
              <a:t>doanhnghiep.vienstp.com</a:t>
            </a:r>
            <a:endParaRPr lang="en-US" sz="1150" dirty="0"/>
          </a:p>
        </p:txBody>
      </p:sp>
      <p:sp>
        <p:nvSpPr>
          <p:cNvPr id="7" name="Text 5"/>
          <p:cNvSpPr txBox="1"/>
          <p:nvPr/>
        </p:nvSpPr>
        <p:spPr>
          <a:xfrm>
            <a:off x="548640" y="1645920"/>
            <a:ext cx="6464808" cy="274320"/>
          </a:xfrm>
          <a:prstGeom prst="rect">
            <a:avLst/>
          </a:prstGeom>
          <a:noFill/>
          <a:ln/>
        </p:spPr>
        <p:txBody>
          <a:bodyPr wrap="square" lIns="0" tIns="0" rIns="0" bIns="0" rtlCol="0" anchor="t"/>
          <a:lstStyle/>
          <a:p>
            <a:pPr indent="0" marL="0">
              <a:lnSpc>
                <a:spcPct val="105000"/>
              </a:lnSpc>
              <a:buNone/>
            </a:pPr>
            <a:r>
              <a:rPr lang="en-US" sz="1400" i="1" dirty="0">
                <a:solidFill>
                  <a:schemeClr val="accent5"/>
                </a:solidFill>
              </a:rPr>
              <a:t>Tổng quan an toàn &amp; nhân sự của doanh nghiệp trong một cú click.</a:t>
            </a:r>
            <a:endParaRPr lang="en-US" sz="1400" dirty="0"/>
          </a:p>
        </p:txBody>
      </p:sp>
      <p:sp>
        <p:nvSpPr>
          <p:cNvPr id="8" name="Shape 6"/>
          <p:cNvSpPr/>
          <p:nvPr/>
        </p:nvSpPr>
        <p:spPr>
          <a:xfrm>
            <a:off x="548640" y="2048256"/>
            <a:ext cx="3950208" cy="2010535"/>
          </a:xfrm>
          <a:prstGeom prst="roundRect">
            <a:avLst>
              <a:gd name="adj" fmla="val 3638"/>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9" name="Shape 7"/>
          <p:cNvSpPr/>
          <p:nvPr/>
        </p:nvSpPr>
        <p:spPr>
          <a:xfrm>
            <a:off x="658368" y="2148840"/>
            <a:ext cx="73152" cy="73152"/>
          </a:xfrm>
          <a:prstGeom prst="ellipse">
            <a:avLst/>
          </a:prstGeom>
          <a:solidFill>
            <a:schemeClr val="accent4"/>
          </a:solidFill>
          <a:ln/>
        </p:spPr>
      </p:sp>
      <p:sp>
        <p:nvSpPr>
          <p:cNvPr id="10" name="Shape 8"/>
          <p:cNvSpPr/>
          <p:nvPr/>
        </p:nvSpPr>
        <p:spPr>
          <a:xfrm>
            <a:off x="768096" y="2148840"/>
            <a:ext cx="73152" cy="73152"/>
          </a:xfrm>
          <a:prstGeom prst="ellipse">
            <a:avLst/>
          </a:prstGeom>
          <a:solidFill>
            <a:schemeClr val="accent6"/>
          </a:solidFill>
          <a:ln/>
        </p:spPr>
      </p:sp>
      <p:sp>
        <p:nvSpPr>
          <p:cNvPr id="11" name="Shape 9"/>
          <p:cNvSpPr/>
          <p:nvPr/>
        </p:nvSpPr>
        <p:spPr>
          <a:xfrm>
            <a:off x="877824" y="2148840"/>
            <a:ext cx="73152" cy="73152"/>
          </a:xfrm>
          <a:prstGeom prst="ellipse">
            <a:avLst/>
          </a:prstGeom>
          <a:solidFill>
            <a:schemeClr val="accent2"/>
          </a:solidFill>
          <a:ln/>
        </p:spPr>
      </p:sp>
      <p:pic>
        <p:nvPicPr>
          <p:cNvPr id="12" name="Image 0" descr="/home/user/ATL--DAKO/profile-daotao/assets/atl/image100.jpeg">    </p:cNvPr>
          <p:cNvPicPr>
            <a:picLocks noChangeAspect="1"/>
          </p:cNvPicPr>
          <p:nvPr/>
        </p:nvPicPr>
        <p:blipFill>
          <a:blip r:embed="rId1"/>
          <a:stretch>
            <a:fillRect/>
          </a:stretch>
        </p:blipFill>
        <p:spPr>
          <a:xfrm>
            <a:off x="603504" y="2286000"/>
            <a:ext cx="3840480" cy="1717927"/>
          </a:xfrm>
          <a:prstGeom prst="rect">
            <a:avLst/>
          </a:prstGeom>
        </p:spPr>
      </p:pic>
      <p:sp>
        <p:nvSpPr>
          <p:cNvPr id="13" name="Shape 10"/>
          <p:cNvSpPr/>
          <p:nvPr/>
        </p:nvSpPr>
        <p:spPr>
          <a:xfrm>
            <a:off x="4663440" y="2075688"/>
            <a:ext cx="384048" cy="384048"/>
          </a:xfrm>
          <a:prstGeom prst="ellipse">
            <a:avLst/>
          </a:prstGeom>
          <a:solidFill>
            <a:schemeClr val="bg2"/>
          </a:solidFill>
          <a:ln/>
        </p:spPr>
      </p:sp>
      <p:pic>
        <p:nvPicPr>
          <p:cNvPr id="14" name="Image 1" descr="preencoded.png">    </p:cNvPr>
          <p:cNvPicPr>
            <a:picLocks noChangeAspect="1"/>
          </p:cNvPicPr>
          <p:nvPr/>
        </p:nvPicPr>
        <p:blipFill>
          <a:blip r:embed="rId2"/>
          <a:stretch>
            <a:fillRect/>
          </a:stretch>
        </p:blipFill>
        <p:spPr>
          <a:xfrm>
            <a:off x="4755612" y="2167860"/>
            <a:ext cx="199705" cy="199705"/>
          </a:xfrm>
          <a:prstGeom prst="rect">
            <a:avLst/>
          </a:prstGeom>
        </p:spPr>
      </p:pic>
      <p:sp>
        <p:nvSpPr>
          <p:cNvPr id="15" name="Text 11"/>
          <p:cNvSpPr txBox="1"/>
          <p:nvPr/>
        </p:nvSpPr>
        <p:spPr>
          <a:xfrm>
            <a:off x="5120640" y="2029968"/>
            <a:ext cx="1920240" cy="676656"/>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Chỉ số tuân thủ</a:t>
            </a:r>
            <a:endParaRPr lang="en-US" sz="1400" dirty="0"/>
          </a:p>
          <a:p>
            <a:pPr indent="0" marL="0">
              <a:lnSpc>
                <a:spcPct val="105000"/>
              </a:lnSpc>
              <a:buNone/>
            </a:pPr>
            <a:r>
              <a:rPr lang="en-US" sz="1400" dirty="0">
                <a:solidFill>
                  <a:schemeClr val="tx1"/>
                </a:solidFill>
              </a:rPr>
              <a:t>Tỷ lệ % nhân sự đã / chưa huấn luyện</a:t>
            </a:r>
            <a:endParaRPr lang="en-US" sz="1400" dirty="0"/>
          </a:p>
        </p:txBody>
      </p:sp>
      <p:sp>
        <p:nvSpPr>
          <p:cNvPr id="16" name="Shape 12"/>
          <p:cNvSpPr/>
          <p:nvPr/>
        </p:nvSpPr>
        <p:spPr>
          <a:xfrm>
            <a:off x="4663440" y="2788920"/>
            <a:ext cx="384048" cy="384048"/>
          </a:xfrm>
          <a:prstGeom prst="ellipse">
            <a:avLst/>
          </a:prstGeom>
          <a:solidFill>
            <a:schemeClr val="bg2"/>
          </a:solidFill>
          <a:ln/>
        </p:spPr>
      </p:sp>
      <p:pic>
        <p:nvPicPr>
          <p:cNvPr id="17" name="Image 2" descr="preencoded.png">    </p:cNvPr>
          <p:cNvPicPr>
            <a:picLocks noChangeAspect="1"/>
          </p:cNvPicPr>
          <p:nvPr/>
        </p:nvPicPr>
        <p:blipFill>
          <a:blip r:embed="rId3"/>
          <a:stretch>
            <a:fillRect/>
          </a:stretch>
        </p:blipFill>
        <p:spPr>
          <a:xfrm>
            <a:off x="4755612" y="2881092"/>
            <a:ext cx="199705" cy="199705"/>
          </a:xfrm>
          <a:prstGeom prst="rect">
            <a:avLst/>
          </a:prstGeom>
        </p:spPr>
      </p:pic>
      <p:sp>
        <p:nvSpPr>
          <p:cNvPr id="18" name="Text 13"/>
          <p:cNvSpPr txBox="1"/>
          <p:nvPr/>
        </p:nvSpPr>
        <p:spPr>
          <a:xfrm>
            <a:off x="5120640" y="2743200"/>
            <a:ext cx="1920240" cy="676656"/>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Chứng chỉ sắp hết hạn</a:t>
            </a:r>
            <a:endParaRPr lang="en-US" sz="1400" dirty="0"/>
          </a:p>
          <a:p>
            <a:pPr indent="0" marL="0">
              <a:lnSpc>
                <a:spcPct val="105000"/>
              </a:lnSpc>
              <a:buNone/>
            </a:pPr>
            <a:r>
              <a:rPr lang="en-US" sz="1400" dirty="0">
                <a:solidFill>
                  <a:schemeClr val="tx1"/>
                </a:solidFill>
              </a:rPr>
              <a:t>Cảnh báo trước 30 ngày</a:t>
            </a:r>
            <a:endParaRPr lang="en-US" sz="1400" dirty="0"/>
          </a:p>
        </p:txBody>
      </p:sp>
      <p:sp>
        <p:nvSpPr>
          <p:cNvPr id="19" name="Shape 14"/>
          <p:cNvSpPr/>
          <p:nvPr/>
        </p:nvSpPr>
        <p:spPr>
          <a:xfrm>
            <a:off x="4663440" y="3502152"/>
            <a:ext cx="384048" cy="384048"/>
          </a:xfrm>
          <a:prstGeom prst="ellipse">
            <a:avLst/>
          </a:prstGeom>
          <a:solidFill>
            <a:schemeClr val="bg2"/>
          </a:solidFill>
          <a:ln/>
        </p:spPr>
      </p:sp>
      <p:pic>
        <p:nvPicPr>
          <p:cNvPr id="20" name="Image 3" descr="preencoded.png">    </p:cNvPr>
          <p:cNvPicPr>
            <a:picLocks noChangeAspect="1"/>
          </p:cNvPicPr>
          <p:nvPr/>
        </p:nvPicPr>
        <p:blipFill>
          <a:blip r:embed="rId4"/>
          <a:stretch>
            <a:fillRect/>
          </a:stretch>
        </p:blipFill>
        <p:spPr>
          <a:xfrm>
            <a:off x="4755612" y="3594324"/>
            <a:ext cx="199705" cy="199705"/>
          </a:xfrm>
          <a:prstGeom prst="rect">
            <a:avLst/>
          </a:prstGeom>
        </p:spPr>
      </p:pic>
      <p:sp>
        <p:nvSpPr>
          <p:cNvPr id="21" name="Text 15"/>
          <p:cNvSpPr txBox="1"/>
          <p:nvPr/>
        </p:nvSpPr>
        <p:spPr>
          <a:xfrm>
            <a:off x="5120640" y="3456432"/>
            <a:ext cx="1920240" cy="676656"/>
          </a:xfrm>
          <a:prstGeom prst="rect">
            <a:avLst/>
          </a:prstGeom>
          <a:noFill/>
          <a:ln/>
        </p:spPr>
        <p:txBody>
          <a:bodyPr wrap="square" lIns="0" tIns="0" rIns="0" bIns="0" rtlCol="0" anchor="t"/>
          <a:lstStyle/>
          <a:p>
            <a:pPr indent="0" marL="0">
              <a:lnSpc>
                <a:spcPct val="105000"/>
              </a:lnSpc>
              <a:buNone/>
            </a:pPr>
            <a:r>
              <a:rPr lang="en-US" sz="1400" b="1" dirty="0">
                <a:solidFill>
                  <a:schemeClr val="tx2"/>
                </a:solidFill>
              </a:rPr>
              <a:t>Thiết bị &amp; kiểm định</a:t>
            </a:r>
            <a:endParaRPr lang="en-US" sz="1400" dirty="0"/>
          </a:p>
          <a:p>
            <a:pPr indent="0" marL="0">
              <a:lnSpc>
                <a:spcPct val="105000"/>
              </a:lnSpc>
              <a:buNone/>
            </a:pPr>
            <a:r>
              <a:rPr lang="en-US" sz="1400" dirty="0">
                <a:solidFill>
                  <a:schemeClr val="tx1"/>
                </a:solidFill>
              </a:rPr>
              <a:t>Theo dõi hạn kiểm định máy móc</a:t>
            </a:r>
            <a:endParaRPr lang="en-US" sz="1400" dirty="0"/>
          </a:p>
        </p:txBody>
      </p:sp>
      <p:sp>
        <p:nvSpPr>
          <p:cNvPr id="22" name="Shape 16"/>
          <p:cNvSpPr/>
          <p:nvPr/>
        </p:nvSpPr>
        <p:spPr>
          <a:xfrm>
            <a:off x="548640" y="4224528"/>
            <a:ext cx="3140964" cy="3310128"/>
          </a:xfrm>
          <a:prstGeom prst="roundRect">
            <a:avLst>
              <a:gd name="adj" fmla="val 3493"/>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3" name="Text 17"/>
          <p:cNvSpPr txBox="1"/>
          <p:nvPr/>
        </p:nvSpPr>
        <p:spPr>
          <a:xfrm>
            <a:off x="713232" y="4334256"/>
            <a:ext cx="2866644" cy="274320"/>
          </a:xfrm>
          <a:prstGeom prst="rect">
            <a:avLst/>
          </a:prstGeom>
          <a:noFill/>
          <a:ln/>
        </p:spPr>
        <p:txBody>
          <a:bodyPr wrap="square" lIns="0" tIns="0" rIns="0" bIns="0" rtlCol="0" anchor="t"/>
          <a:lstStyle/>
          <a:p>
            <a:pPr indent="0" marL="0">
              <a:lnSpc>
                <a:spcPct val="105000"/>
              </a:lnSpc>
              <a:buNone/>
            </a:pPr>
            <a:r>
              <a:rPr lang="en-US" sz="1400" b="1" spc="100" kern="0" dirty="0">
                <a:solidFill>
                  <a:schemeClr val="accent1"/>
                </a:solidFill>
              </a:rPr>
              <a:t>MODULE ĐÀO TẠO</a:t>
            </a:r>
            <a:endParaRPr lang="en-US" sz="1400" dirty="0"/>
          </a:p>
        </p:txBody>
      </p:sp>
      <p:sp>
        <p:nvSpPr>
          <p:cNvPr id="24" name="Shape 18"/>
          <p:cNvSpPr/>
          <p:nvPr/>
        </p:nvSpPr>
        <p:spPr>
          <a:xfrm>
            <a:off x="676656" y="4645152"/>
            <a:ext cx="2884932" cy="1759708"/>
          </a:xfrm>
          <a:prstGeom prst="roundRect">
            <a:avLst>
              <a:gd name="adj" fmla="val 415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5" name="Shape 19"/>
          <p:cNvSpPr/>
          <p:nvPr/>
        </p:nvSpPr>
        <p:spPr>
          <a:xfrm>
            <a:off x="786384" y="4745736"/>
            <a:ext cx="73152" cy="73152"/>
          </a:xfrm>
          <a:prstGeom prst="ellipse">
            <a:avLst/>
          </a:prstGeom>
          <a:solidFill>
            <a:schemeClr val="accent4"/>
          </a:solidFill>
          <a:ln/>
        </p:spPr>
      </p:sp>
      <p:sp>
        <p:nvSpPr>
          <p:cNvPr id="26" name="Shape 20"/>
          <p:cNvSpPr/>
          <p:nvPr/>
        </p:nvSpPr>
        <p:spPr>
          <a:xfrm>
            <a:off x="896112" y="4745736"/>
            <a:ext cx="73152" cy="73152"/>
          </a:xfrm>
          <a:prstGeom prst="ellipse">
            <a:avLst/>
          </a:prstGeom>
          <a:solidFill>
            <a:schemeClr val="accent6"/>
          </a:solidFill>
          <a:ln/>
        </p:spPr>
      </p:sp>
      <p:sp>
        <p:nvSpPr>
          <p:cNvPr id="27" name="Shape 21"/>
          <p:cNvSpPr/>
          <p:nvPr/>
        </p:nvSpPr>
        <p:spPr>
          <a:xfrm>
            <a:off x="1005840" y="4745736"/>
            <a:ext cx="73152" cy="73152"/>
          </a:xfrm>
          <a:prstGeom prst="ellipse">
            <a:avLst/>
          </a:prstGeom>
          <a:solidFill>
            <a:schemeClr val="accent2"/>
          </a:solidFill>
          <a:ln/>
        </p:spPr>
      </p:sp>
      <p:pic>
        <p:nvPicPr>
          <p:cNvPr id="28" name="Image 4" descr="/home/user/ATL--DAKO/profile-daotao/assets/atl/image104.jpeg">    </p:cNvPr>
          <p:cNvPicPr>
            <a:picLocks noChangeAspect="1"/>
          </p:cNvPicPr>
          <p:nvPr/>
        </p:nvPicPr>
        <p:blipFill>
          <a:blip r:embed="rId5"/>
          <a:stretch>
            <a:fillRect/>
          </a:stretch>
        </p:blipFill>
        <p:spPr>
          <a:xfrm>
            <a:off x="731520" y="4882896"/>
            <a:ext cx="2775204" cy="1467100"/>
          </a:xfrm>
          <a:prstGeom prst="rect">
            <a:avLst/>
          </a:prstGeom>
        </p:spPr>
      </p:pic>
      <p:sp>
        <p:nvSpPr>
          <p:cNvPr id="29" name="Text 22"/>
          <p:cNvSpPr txBox="1"/>
          <p:nvPr/>
        </p:nvSpPr>
        <p:spPr>
          <a:xfrm>
            <a:off x="694944" y="6510528"/>
            <a:ext cx="2903220" cy="91440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1400" dirty="0">
                <a:solidFill>
                  <a:schemeClr val="tx1"/>
                </a:solidFill>
              </a:rPr>
              <a:t>Danh mục khóa học Nhóm 1–6</a:t>
            </a:r>
            <a:endParaRPr lang="en-US" sz="1400" dirty="0"/>
          </a:p>
          <a:p>
            <a:pPr marL="152400" indent="-152400">
              <a:lnSpc>
                <a:spcPct val="105000"/>
              </a:lnSpc>
              <a:spcAft>
                <a:spcPts val="300"/>
              </a:spcAft>
              <a:buSzPct val="100000"/>
              <a:buChar char="•"/>
            </a:pPr>
            <a:r>
              <a:rPr lang="en-US" sz="1400" dirty="0">
                <a:solidFill>
                  <a:schemeClr val="tx1"/>
                </a:solidFill>
              </a:rPr>
              <a:t>Đăng ký nhanh, thêm nhân sự</a:t>
            </a:r>
            <a:endParaRPr lang="en-US" sz="1400" dirty="0"/>
          </a:p>
          <a:p>
            <a:pPr marL="152400" indent="-152400">
              <a:lnSpc>
                <a:spcPct val="105000"/>
              </a:lnSpc>
              <a:spcAft>
                <a:spcPts val="300"/>
              </a:spcAft>
              <a:buSzPct val="100000"/>
              <a:buChar char="•"/>
            </a:pPr>
            <a:r>
              <a:rPr lang="en-US" sz="1400" dirty="0">
                <a:solidFill>
                  <a:schemeClr val="tx1"/>
                </a:solidFill>
              </a:rPr>
              <a:t>Quản lý lớp, hợp đồng, thanh toán</a:t>
            </a:r>
            <a:endParaRPr lang="en-US" sz="1400" dirty="0"/>
          </a:p>
        </p:txBody>
      </p:sp>
      <p:sp>
        <p:nvSpPr>
          <p:cNvPr id="30" name="Shape 23"/>
          <p:cNvSpPr/>
          <p:nvPr/>
        </p:nvSpPr>
        <p:spPr>
          <a:xfrm>
            <a:off x="3872484" y="4224528"/>
            <a:ext cx="3140964" cy="3310128"/>
          </a:xfrm>
          <a:prstGeom prst="roundRect">
            <a:avLst>
              <a:gd name="adj" fmla="val 3493"/>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1" name="Text 24"/>
          <p:cNvSpPr txBox="1"/>
          <p:nvPr/>
        </p:nvSpPr>
        <p:spPr>
          <a:xfrm>
            <a:off x="4037076" y="4334256"/>
            <a:ext cx="2866644" cy="274320"/>
          </a:xfrm>
          <a:prstGeom prst="rect">
            <a:avLst/>
          </a:prstGeom>
          <a:noFill/>
          <a:ln/>
        </p:spPr>
        <p:txBody>
          <a:bodyPr wrap="square" lIns="0" tIns="0" rIns="0" bIns="0" rtlCol="0" anchor="t"/>
          <a:lstStyle/>
          <a:p>
            <a:pPr indent="0" marL="0">
              <a:lnSpc>
                <a:spcPct val="105000"/>
              </a:lnSpc>
              <a:buNone/>
            </a:pPr>
            <a:r>
              <a:rPr lang="en-US" sz="1400" b="1" spc="100" kern="0" dirty="0">
                <a:solidFill>
                  <a:schemeClr val="accent1"/>
                </a:solidFill>
              </a:rPr>
              <a:t>MODULE AN TOÀN &amp; TÀI SẢN</a:t>
            </a:r>
            <a:endParaRPr lang="en-US" sz="1400" dirty="0"/>
          </a:p>
        </p:txBody>
      </p:sp>
      <p:sp>
        <p:nvSpPr>
          <p:cNvPr id="32" name="Shape 25"/>
          <p:cNvSpPr/>
          <p:nvPr/>
        </p:nvSpPr>
        <p:spPr>
          <a:xfrm>
            <a:off x="4000500" y="4645152"/>
            <a:ext cx="2884932" cy="1710334"/>
          </a:xfrm>
          <a:prstGeom prst="roundRect">
            <a:avLst>
              <a:gd name="adj" fmla="val 427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3" name="Shape 26"/>
          <p:cNvSpPr/>
          <p:nvPr/>
        </p:nvSpPr>
        <p:spPr>
          <a:xfrm>
            <a:off x="4110228" y="4745736"/>
            <a:ext cx="73152" cy="73152"/>
          </a:xfrm>
          <a:prstGeom prst="ellipse">
            <a:avLst/>
          </a:prstGeom>
          <a:solidFill>
            <a:schemeClr val="accent4"/>
          </a:solidFill>
          <a:ln/>
        </p:spPr>
      </p:sp>
      <p:sp>
        <p:nvSpPr>
          <p:cNvPr id="34" name="Shape 27"/>
          <p:cNvSpPr/>
          <p:nvPr/>
        </p:nvSpPr>
        <p:spPr>
          <a:xfrm>
            <a:off x="4219956" y="4745736"/>
            <a:ext cx="73152" cy="73152"/>
          </a:xfrm>
          <a:prstGeom prst="ellipse">
            <a:avLst/>
          </a:prstGeom>
          <a:solidFill>
            <a:schemeClr val="accent6"/>
          </a:solidFill>
          <a:ln/>
        </p:spPr>
      </p:sp>
      <p:sp>
        <p:nvSpPr>
          <p:cNvPr id="35" name="Shape 28"/>
          <p:cNvSpPr/>
          <p:nvPr/>
        </p:nvSpPr>
        <p:spPr>
          <a:xfrm>
            <a:off x="4329684" y="4745736"/>
            <a:ext cx="73152" cy="73152"/>
          </a:xfrm>
          <a:prstGeom prst="ellipse">
            <a:avLst/>
          </a:prstGeom>
          <a:solidFill>
            <a:schemeClr val="accent2"/>
          </a:solidFill>
          <a:ln/>
        </p:spPr>
      </p:sp>
      <p:pic>
        <p:nvPicPr>
          <p:cNvPr id="36" name="Image 5" descr="/home/user/ATL--DAKO/profile-daotao/assets/atl/image106.jpeg">    </p:cNvPr>
          <p:cNvPicPr>
            <a:picLocks noChangeAspect="1"/>
          </p:cNvPicPr>
          <p:nvPr/>
        </p:nvPicPr>
        <p:blipFill>
          <a:blip r:embed="rId6"/>
          <a:stretch>
            <a:fillRect/>
          </a:stretch>
        </p:blipFill>
        <p:spPr>
          <a:xfrm>
            <a:off x="4055364" y="4882896"/>
            <a:ext cx="2775204" cy="1417726"/>
          </a:xfrm>
          <a:prstGeom prst="rect">
            <a:avLst/>
          </a:prstGeom>
        </p:spPr>
      </p:pic>
      <p:sp>
        <p:nvSpPr>
          <p:cNvPr id="37" name="Text 29"/>
          <p:cNvSpPr txBox="1"/>
          <p:nvPr/>
        </p:nvSpPr>
        <p:spPr>
          <a:xfrm>
            <a:off x="4018788" y="6510528"/>
            <a:ext cx="2903220" cy="91440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1400" dirty="0">
                <a:solidFill>
                  <a:schemeClr val="tx1"/>
                </a:solidFill>
              </a:rPr>
              <a:t>Thiết bị, cảnh báo hạn kiểm định</a:t>
            </a:r>
            <a:endParaRPr lang="en-US" sz="1400" dirty="0"/>
          </a:p>
          <a:p>
            <a:pPr marL="152400" indent="-152400">
              <a:lnSpc>
                <a:spcPct val="105000"/>
              </a:lnSpc>
              <a:spcAft>
                <a:spcPts val="300"/>
              </a:spcAft>
              <a:buSzPct val="100000"/>
              <a:buChar char="•"/>
            </a:pPr>
            <a:r>
              <a:rPr lang="en-US" sz="1400" dirty="0">
                <a:solidFill>
                  <a:schemeClr val="tx1"/>
                </a:solidFill>
              </a:rPr>
              <a:t>Tai nạn, sự cố, vật tư, hóa chất</a:t>
            </a:r>
            <a:endParaRPr lang="en-US" sz="1400" dirty="0"/>
          </a:p>
          <a:p>
            <a:pPr marL="152400" indent="-152400">
              <a:lnSpc>
                <a:spcPct val="105000"/>
              </a:lnSpc>
              <a:spcAft>
                <a:spcPts val="300"/>
              </a:spcAft>
              <a:buSzPct val="100000"/>
              <a:buChar char="•"/>
            </a:pPr>
            <a:r>
              <a:rPr lang="en-US" sz="1400" dirty="0">
                <a:solidFill>
                  <a:schemeClr val="tx1"/>
                </a:solidFill>
              </a:rPr>
              <a:t>Cấp phát đồ bảo hộ (PPE)</a:t>
            </a:r>
            <a:endParaRPr lang="en-US" sz="1400" dirty="0"/>
          </a:p>
        </p:txBody>
      </p:sp>
      <p:sp>
        <p:nvSpPr>
          <p:cNvPr id="38" name="Text 30"/>
          <p:cNvSpPr txBox="1"/>
          <p:nvPr/>
        </p:nvSpPr>
        <p:spPr>
          <a:xfrm>
            <a:off x="548640" y="7726680"/>
            <a:ext cx="4206240"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TÀI KHOẢN HỌC VIÊN &amp; TRA CỨU 24/7</a:t>
            </a:r>
            <a:endParaRPr lang="en-US" sz="1600" dirty="0"/>
          </a:p>
        </p:txBody>
      </p:sp>
      <p:sp>
        <p:nvSpPr>
          <p:cNvPr id="39" name="Shape 31"/>
          <p:cNvSpPr/>
          <p:nvPr/>
        </p:nvSpPr>
        <p:spPr>
          <a:xfrm>
            <a:off x="4800600" y="7735824"/>
            <a:ext cx="2212848" cy="292608"/>
          </a:xfrm>
          <a:prstGeom prst="roundRect">
            <a:avLst>
              <a:gd name="adj" fmla="val 50000"/>
            </a:avLst>
          </a:prstGeom>
          <a:solidFill>
            <a:schemeClr val="bg2"/>
          </a:solidFill>
          <a:ln/>
        </p:spPr>
      </p:sp>
      <p:sp>
        <p:nvSpPr>
          <p:cNvPr id="40" name="Text 32"/>
          <p:cNvSpPr txBox="1"/>
          <p:nvPr/>
        </p:nvSpPr>
        <p:spPr>
          <a:xfrm>
            <a:off x="4800600" y="7735824"/>
            <a:ext cx="2212848" cy="292608"/>
          </a:xfrm>
          <a:prstGeom prst="rect">
            <a:avLst/>
          </a:prstGeom>
          <a:noFill/>
          <a:ln/>
        </p:spPr>
        <p:txBody>
          <a:bodyPr wrap="square" lIns="0" tIns="0" rIns="0" bIns="0" rtlCol="0" anchor="ctr"/>
          <a:lstStyle/>
          <a:p>
            <a:pPr algn="ctr" indent="0" marL="0">
              <a:lnSpc>
                <a:spcPct val="105000"/>
              </a:lnSpc>
              <a:buNone/>
            </a:pPr>
            <a:r>
              <a:rPr lang="en-US" sz="1150" b="1" dirty="0">
                <a:solidFill>
                  <a:schemeClr val="accent1"/>
                </a:solidFill>
              </a:rPr>
              <a:t>daotao.vienstp.com</a:t>
            </a:r>
            <a:endParaRPr lang="en-US" sz="1150" dirty="0"/>
          </a:p>
        </p:txBody>
      </p:sp>
      <p:sp>
        <p:nvSpPr>
          <p:cNvPr id="41" name="Shape 33"/>
          <p:cNvSpPr/>
          <p:nvPr/>
        </p:nvSpPr>
        <p:spPr>
          <a:xfrm>
            <a:off x="548640" y="8156448"/>
            <a:ext cx="2121408" cy="1493736"/>
          </a:xfrm>
          <a:prstGeom prst="roundRect">
            <a:avLst>
              <a:gd name="adj" fmla="val 489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42" name="Shape 34"/>
          <p:cNvSpPr/>
          <p:nvPr/>
        </p:nvSpPr>
        <p:spPr>
          <a:xfrm>
            <a:off x="658368" y="8257032"/>
            <a:ext cx="73152" cy="73152"/>
          </a:xfrm>
          <a:prstGeom prst="ellipse">
            <a:avLst/>
          </a:prstGeom>
          <a:solidFill>
            <a:schemeClr val="accent4"/>
          </a:solidFill>
          <a:ln/>
        </p:spPr>
      </p:sp>
      <p:sp>
        <p:nvSpPr>
          <p:cNvPr id="43" name="Shape 35"/>
          <p:cNvSpPr/>
          <p:nvPr/>
        </p:nvSpPr>
        <p:spPr>
          <a:xfrm>
            <a:off x="768096" y="8257032"/>
            <a:ext cx="73152" cy="73152"/>
          </a:xfrm>
          <a:prstGeom prst="ellipse">
            <a:avLst/>
          </a:prstGeom>
          <a:solidFill>
            <a:schemeClr val="accent6"/>
          </a:solidFill>
          <a:ln/>
        </p:spPr>
      </p:sp>
      <p:sp>
        <p:nvSpPr>
          <p:cNvPr id="44" name="Shape 36"/>
          <p:cNvSpPr/>
          <p:nvPr/>
        </p:nvSpPr>
        <p:spPr>
          <a:xfrm>
            <a:off x="877824" y="8257032"/>
            <a:ext cx="73152" cy="73152"/>
          </a:xfrm>
          <a:prstGeom prst="ellipse">
            <a:avLst/>
          </a:prstGeom>
          <a:solidFill>
            <a:schemeClr val="accent2"/>
          </a:solidFill>
          <a:ln/>
        </p:spPr>
      </p:sp>
      <p:pic>
        <p:nvPicPr>
          <p:cNvPr id="45" name="Image 6" descr="/home/user/ATL--DAKO/profile-daotao/assets/atl/image113.jpeg">    </p:cNvPr>
          <p:cNvPicPr>
            <a:picLocks noChangeAspect="1"/>
          </p:cNvPicPr>
          <p:nvPr/>
        </p:nvPicPr>
        <p:blipFill>
          <a:blip r:embed="rId7"/>
          <a:stretch>
            <a:fillRect/>
          </a:stretch>
        </p:blipFill>
        <p:spPr>
          <a:xfrm>
            <a:off x="603504" y="8394192"/>
            <a:ext cx="2011680" cy="1201128"/>
          </a:xfrm>
          <a:prstGeom prst="rect">
            <a:avLst/>
          </a:prstGeom>
        </p:spPr>
      </p:pic>
      <p:sp>
        <p:nvSpPr>
          <p:cNvPr id="46" name="Shape 37"/>
          <p:cNvSpPr/>
          <p:nvPr/>
        </p:nvSpPr>
        <p:spPr>
          <a:xfrm>
            <a:off x="2724912" y="8156448"/>
            <a:ext cx="2121408" cy="1317766"/>
          </a:xfrm>
          <a:prstGeom prst="roundRect">
            <a:avLst>
              <a:gd name="adj" fmla="val 555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47" name="Shape 38"/>
          <p:cNvSpPr/>
          <p:nvPr/>
        </p:nvSpPr>
        <p:spPr>
          <a:xfrm>
            <a:off x="2834640" y="8257032"/>
            <a:ext cx="73152" cy="73152"/>
          </a:xfrm>
          <a:prstGeom prst="ellipse">
            <a:avLst/>
          </a:prstGeom>
          <a:solidFill>
            <a:schemeClr val="accent4"/>
          </a:solidFill>
          <a:ln/>
        </p:spPr>
      </p:sp>
      <p:sp>
        <p:nvSpPr>
          <p:cNvPr id="48" name="Shape 39"/>
          <p:cNvSpPr/>
          <p:nvPr/>
        </p:nvSpPr>
        <p:spPr>
          <a:xfrm>
            <a:off x="2944368" y="8257032"/>
            <a:ext cx="73152" cy="73152"/>
          </a:xfrm>
          <a:prstGeom prst="ellipse">
            <a:avLst/>
          </a:prstGeom>
          <a:solidFill>
            <a:schemeClr val="accent6"/>
          </a:solidFill>
          <a:ln/>
        </p:spPr>
      </p:sp>
      <p:sp>
        <p:nvSpPr>
          <p:cNvPr id="49" name="Shape 40"/>
          <p:cNvSpPr/>
          <p:nvPr/>
        </p:nvSpPr>
        <p:spPr>
          <a:xfrm>
            <a:off x="3054096" y="8257032"/>
            <a:ext cx="73152" cy="73152"/>
          </a:xfrm>
          <a:prstGeom prst="ellipse">
            <a:avLst/>
          </a:prstGeom>
          <a:solidFill>
            <a:schemeClr val="accent2"/>
          </a:solidFill>
          <a:ln/>
        </p:spPr>
      </p:sp>
      <p:pic>
        <p:nvPicPr>
          <p:cNvPr id="50" name="Image 7" descr="/home/user/ATL--DAKO/profile-daotao/assets/atl/image114.jpeg">    </p:cNvPr>
          <p:cNvPicPr>
            <a:picLocks noChangeAspect="1"/>
          </p:cNvPicPr>
          <p:nvPr/>
        </p:nvPicPr>
        <p:blipFill>
          <a:blip r:embed="rId8"/>
          <a:stretch>
            <a:fillRect/>
          </a:stretch>
        </p:blipFill>
        <p:spPr>
          <a:xfrm>
            <a:off x="2779776" y="8394192"/>
            <a:ext cx="2011680" cy="1025158"/>
          </a:xfrm>
          <a:prstGeom prst="rect">
            <a:avLst/>
          </a:prstGeom>
        </p:spPr>
      </p:pic>
      <p:sp>
        <p:nvSpPr>
          <p:cNvPr id="51" name="Text 41"/>
          <p:cNvSpPr txBox="1"/>
          <p:nvPr/>
        </p:nvSpPr>
        <p:spPr>
          <a:xfrm>
            <a:off x="4983480" y="8156448"/>
            <a:ext cx="2057400" cy="1828800"/>
          </a:xfrm>
          <a:prstGeom prst="rect">
            <a:avLst/>
          </a:prstGeom>
          <a:noFill/>
          <a:ln/>
        </p:spPr>
        <p:txBody>
          <a:bodyPr wrap="square" lIns="0" tIns="0" rIns="0" bIns="0" rtlCol="0" anchor="t"/>
          <a:lstStyle/>
          <a:p>
            <a:pPr indent="0" marL="0">
              <a:lnSpc>
                <a:spcPct val="105000"/>
              </a:lnSpc>
              <a:spcAft>
                <a:spcPts val="600"/>
              </a:spcAft>
              <a:buNone/>
            </a:pPr>
            <a:r>
              <a:rPr lang="en-US" sz="1400" b="1" dirty="0">
                <a:solidFill>
                  <a:schemeClr val="tx2"/>
                </a:solidFill>
              </a:rPr>
              <a:t>Tra cứu 24/7 </a:t>
            </a:r>
            <a:pPr indent="0" marL="0">
              <a:lnSpc>
                <a:spcPct val="105000"/>
              </a:lnSpc>
              <a:spcAft>
                <a:spcPts val="600"/>
              </a:spcAft>
              <a:buNone/>
            </a:pPr>
            <a:r>
              <a:rPr lang="en-US" sz="1400" dirty="0">
                <a:solidFill>
                  <a:schemeClr val="tx1"/>
                </a:solidFill>
              </a:rPr>
              <a:t>theo mã chứng chỉ hoặc số CCCD; mã xác thực chống giả mạo.</a:t>
            </a:r>
            <a:endParaRPr lang="en-US" sz="1400" dirty="0"/>
          </a:p>
          <a:p>
            <a:pPr indent="0" marL="0">
              <a:lnSpc>
                <a:spcPct val="105000"/>
              </a:lnSpc>
              <a:spcAft>
                <a:spcPts val="600"/>
              </a:spcAft>
              <a:buNone/>
            </a:pPr>
            <a:r>
              <a:rPr lang="en-US" sz="1400" b="1" dirty="0">
                <a:solidFill>
                  <a:schemeClr val="tx2"/>
                </a:solidFill>
              </a:rPr>
              <a:t>Learner Portal: </a:t>
            </a:r>
            <a:pPr indent="0" marL="0">
              <a:lnSpc>
                <a:spcPct val="105000"/>
              </a:lnSpc>
              <a:spcAft>
                <a:spcPts val="600"/>
              </a:spcAft>
              <a:buNone/>
            </a:pPr>
            <a:r>
              <a:rPr lang="en-US" sz="1400" dirty="0">
                <a:solidFill>
                  <a:schemeClr val="tx1"/>
                </a:solidFill>
              </a:rPr>
              <a:t>khóa học, yêu cầu BHLĐ, báo cáo sự cố.</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user/ATL--DAKO/profile-daotao/assets/bg/sphere.jpg">    </p:cNvPr>
          <p:cNvPicPr>
            <a:picLocks noChangeAspect="1"/>
          </p:cNvPicPr>
          <p:nvPr/>
        </p:nvPicPr>
        <p:blipFill>
          <a:blip r:embed="rId1"/>
          <a:srcRect l="0" r="0" t="4670" b="4670"/>
          <a:stretch/>
        </p:blipFill>
        <p:spPr>
          <a:xfrm>
            <a:off x="3977640" y="0"/>
            <a:ext cx="3584448" cy="3291840"/>
          </a:xfrm>
          <a:prstGeom prst="rect">
            <a:avLst/>
          </a:prstGeom>
        </p:spPr>
      </p:pic>
      <p:sp>
        <p:nvSpPr>
          <p:cNvPr id="3" name="Text 0"/>
          <p:cNvSpPr txBox="1"/>
          <p:nvPr/>
        </p:nvSpPr>
        <p:spPr>
          <a:xfrm>
            <a:off x="548640" y="1188720"/>
            <a:ext cx="3291840" cy="256032"/>
          </a:xfrm>
          <a:prstGeom prst="rect">
            <a:avLst/>
          </a:prstGeom>
          <a:noFill/>
          <a:ln/>
        </p:spPr>
        <p:txBody>
          <a:bodyPr wrap="square" lIns="0" tIns="0" rIns="0" bIns="0" rtlCol="0" anchor="t"/>
          <a:lstStyle/>
          <a:p>
            <a:pPr indent="0" marL="0">
              <a:lnSpc>
                <a:spcPct val="105000"/>
              </a:lnSpc>
              <a:buNone/>
            </a:pPr>
            <a:r>
              <a:rPr lang="en-US" sz="1200" b="1" spc="300" kern="0" dirty="0">
                <a:solidFill>
                  <a:schemeClr val="accent2"/>
                </a:solidFill>
              </a:rPr>
              <a:t>PHẦN 04</a:t>
            </a:r>
            <a:endParaRPr lang="en-US" sz="1200" dirty="0"/>
          </a:p>
        </p:txBody>
      </p:sp>
      <p:sp>
        <p:nvSpPr>
          <p:cNvPr id="4" name="Text 1"/>
          <p:cNvSpPr txBox="1"/>
          <p:nvPr/>
        </p:nvSpPr>
        <p:spPr>
          <a:xfrm>
            <a:off x="548640" y="2743200"/>
            <a:ext cx="3246120" cy="45720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Thiết kế riêng theo nghiệp vụ của từng cơ quan, đơn vị và người học</a:t>
            </a:r>
            <a:endParaRPr lang="en-US" sz="1400" dirty="0"/>
          </a:p>
        </p:txBody>
      </p:sp>
      <p:sp>
        <p:nvSpPr>
          <p:cNvPr id="5" name="Text 1"/>
          <p:cNvSpPr/>
          <p:nvPr>
            <p:ph idx="103" type="title" hasCustomPrompt="1"/>
          </p:nvPr>
        </p:nvSpPr>
        <p:spPr>
          <a:xfrm>
            <a:off x="548640" y="1481328"/>
            <a:ext cx="3291840" cy="1188720"/>
          </a:xfrm>
          <a:prstGeom prst="rect">
            <a:avLst/>
          </a:prstGeom>
          <a:noFill/>
          <a:ln/>
        </p:spPr>
        <p:txBody>
          <a:bodyPr wrap="square" lIns="0" tIns="0" rIns="0" bIns="0" rtlCol="0" anchor="b"/>
          <a:lstStyle/>
          <a:p>
            <a:pPr algn="l" indent="0" marL="0">
              <a:lnSpc>
                <a:spcPct val="95000"/>
              </a:lnSpc>
              <a:buNone/>
            </a:pPr>
            <a:r>
              <a:rPr lang="en-US" sz="2600" b="1" dirty="0">
                <a:solidFill>
                  <a:schemeClr val="bg1"/>
                </a:solidFill>
              </a:rPr>
              <a:t>ĐÀO TẠO</a:t>
            </a:r>
            <a:endParaRPr lang="en-US" sz="2600" dirty="0"/>
          </a:p>
          <a:p>
            <a:pPr algn="l" indent="0" marL="0">
              <a:lnSpc>
                <a:spcPct val="95000"/>
              </a:lnSpc>
              <a:buNone/>
            </a:pPr>
            <a:r>
              <a:rPr lang="en-US" sz="2600" b="1" dirty="0">
                <a:solidFill>
                  <a:schemeClr val="bg1"/>
                </a:solidFill>
              </a:rPr>
              <a:t>ỨNG DỤNG AI</a:t>
            </a:r>
            <a:endParaRPr lang="en-US" sz="2600" dirty="0"/>
          </a:p>
        </p:txBody>
      </p:sp>
      <p:sp>
        <p:nvSpPr>
          <p:cNvPr id="6" name="Text 3"/>
          <p:cNvSpPr txBox="1"/>
          <p:nvPr/>
        </p:nvSpPr>
        <p:spPr>
          <a:xfrm>
            <a:off x="548640" y="3493008"/>
            <a:ext cx="6464808" cy="1234440"/>
          </a:xfrm>
          <a:prstGeom prst="rect">
            <a:avLst/>
          </a:prstGeom>
          <a:noFill/>
          <a:ln/>
        </p:spPr>
        <p:txBody>
          <a:bodyPr wrap="square" lIns="0" tIns="0" rIns="0" bIns="0" rtlCol="0" anchor="t"/>
          <a:lstStyle/>
          <a:p>
            <a:pPr algn="just" indent="0" marL="0">
              <a:lnSpc>
                <a:spcPct val="105000"/>
              </a:lnSpc>
              <a:buNone/>
            </a:pPr>
            <a:r>
              <a:rPr lang="en-US" sz="1400" dirty="0">
                <a:solidFill>
                  <a:schemeClr val="tx1"/>
                </a:solidFill>
              </a:rPr>
              <a:t>Trong kỷ nguyên số, </a:t>
            </a:r>
            <a:pPr algn="just" indent="0" marL="0">
              <a:lnSpc>
                <a:spcPct val="105000"/>
              </a:lnSpc>
              <a:buNone/>
            </a:pPr>
            <a:r>
              <a:rPr lang="en-US" sz="1400" b="1" dirty="0">
                <a:solidFill>
                  <a:schemeClr val="accent1"/>
                </a:solidFill>
              </a:rPr>
              <a:t>Trí tuệ nhân tạo (AI)</a:t>
            </a:r>
            <a:pPr algn="just" indent="0" marL="0">
              <a:lnSpc>
                <a:spcPct val="105000"/>
              </a:lnSpc>
              <a:buNone/>
            </a:pPr>
            <a:r>
              <a:rPr lang="en-US" sz="1400" dirty="0">
                <a:solidFill>
                  <a:schemeClr val="tx1"/>
                </a:solidFill>
              </a:rPr>
              <a:t> là chìa khóa then chốt giúp nhân sự và doanh nghiệp tối ưu hiệu suất vận hành và bứt phá năng lực cạnh tranh. Viện STP là đối tác đồng hành tin cậy, chuyên cung cấp </a:t>
            </a:r>
            <a:pPr algn="just" indent="0" marL="0">
              <a:lnSpc>
                <a:spcPct val="105000"/>
              </a:lnSpc>
              <a:buNone/>
            </a:pPr>
            <a:r>
              <a:rPr lang="en-US" sz="1400" b="1" dirty="0">
                <a:solidFill>
                  <a:schemeClr val="accent1"/>
                </a:solidFill>
              </a:rPr>
              <a:t>các chương trình đào tạo AI chuyên sâu và giải pháp tích hợp đa thể thức</a:t>
            </a:r>
            <a:pPr algn="just" indent="0" marL="0">
              <a:lnSpc>
                <a:spcPct val="105000"/>
              </a:lnSpc>
              <a:buNone/>
            </a:pPr>
            <a:r>
              <a:rPr lang="en-US" sz="1400" dirty="0">
                <a:solidFill>
                  <a:schemeClr val="tx1"/>
                </a:solidFill>
              </a:rPr>
              <a:t> theo đặc thù từng cơ quan, doanh nghiệp.</a:t>
            </a:r>
            <a:endParaRPr lang="en-US" sz="1400" dirty="0"/>
          </a:p>
        </p:txBody>
      </p:sp>
      <p:sp>
        <p:nvSpPr>
          <p:cNvPr id="7" name="Shape 4"/>
          <p:cNvSpPr/>
          <p:nvPr/>
        </p:nvSpPr>
        <p:spPr>
          <a:xfrm>
            <a:off x="548640" y="4846320"/>
            <a:ext cx="2063496" cy="1536192"/>
          </a:xfrm>
          <a:prstGeom prst="roundRect">
            <a:avLst>
              <a:gd name="adj" fmla="val 7143"/>
            </a:avLst>
          </a:prstGeom>
          <a:solidFill>
            <a:schemeClr val="tx2"/>
          </a:solidFill>
          <a:ln/>
          <a:effectLst>
            <a:outerShdw sx="100000" sy="100000" kx="0" ky="0" algn="bl" rotWithShape="0" blurRad="101600" dist="25400" dir="5400000">
              <a:srgbClr val="0B2A00">
                <a:alpha val="16000"/>
              </a:srgbClr>
            </a:outerShdw>
          </a:effectLst>
        </p:spPr>
      </p:sp>
      <p:sp>
        <p:nvSpPr>
          <p:cNvPr id="8" name="Shape 5"/>
          <p:cNvSpPr/>
          <p:nvPr/>
        </p:nvSpPr>
        <p:spPr>
          <a:xfrm>
            <a:off x="685800" y="4974336"/>
            <a:ext cx="420624" cy="420624"/>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786750" y="5075286"/>
            <a:ext cx="218724" cy="218724"/>
          </a:xfrm>
          <a:prstGeom prst="rect">
            <a:avLst/>
          </a:prstGeom>
        </p:spPr>
      </p:pic>
      <p:sp>
        <p:nvSpPr>
          <p:cNvPr id="10" name="Text 6"/>
          <p:cNvSpPr txBox="1"/>
          <p:nvPr/>
        </p:nvSpPr>
        <p:spPr>
          <a:xfrm>
            <a:off x="1188720" y="4974336"/>
            <a:ext cx="1331976" cy="420624"/>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Phổ cập kiến thức AI</a:t>
            </a:r>
            <a:endParaRPr lang="en-US" sz="1400" dirty="0"/>
          </a:p>
        </p:txBody>
      </p:sp>
      <p:sp>
        <p:nvSpPr>
          <p:cNvPr id="11" name="Text 7"/>
          <p:cNvSpPr txBox="1"/>
          <p:nvPr/>
        </p:nvSpPr>
        <p:spPr>
          <a:xfrm>
            <a:off x="685800" y="5468112"/>
            <a:ext cx="1825752" cy="86868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Xây dựng năng lực làm việc cùng AI cho đội ngũ nhân sự</a:t>
            </a:r>
            <a:endParaRPr lang="en-US" sz="1400" dirty="0"/>
          </a:p>
        </p:txBody>
      </p:sp>
      <p:sp>
        <p:nvSpPr>
          <p:cNvPr id="12" name="Shape 8"/>
          <p:cNvSpPr/>
          <p:nvPr/>
        </p:nvSpPr>
        <p:spPr>
          <a:xfrm>
            <a:off x="2749296" y="4846320"/>
            <a:ext cx="2063496" cy="1536192"/>
          </a:xfrm>
          <a:prstGeom prst="roundRect">
            <a:avLst>
              <a:gd name="adj" fmla="val 7143"/>
            </a:avLst>
          </a:prstGeom>
          <a:solidFill>
            <a:schemeClr val="tx2"/>
          </a:solidFill>
          <a:ln/>
          <a:effectLst>
            <a:outerShdw sx="100000" sy="100000" kx="0" ky="0" algn="bl" rotWithShape="0" blurRad="101600" dist="25400" dir="5400000">
              <a:srgbClr val="0B2A00">
                <a:alpha val="16000"/>
              </a:srgbClr>
            </a:outerShdw>
          </a:effectLst>
        </p:spPr>
      </p:sp>
      <p:sp>
        <p:nvSpPr>
          <p:cNvPr id="13" name="Shape 9"/>
          <p:cNvSpPr/>
          <p:nvPr/>
        </p:nvSpPr>
        <p:spPr>
          <a:xfrm>
            <a:off x="2886456" y="4974336"/>
            <a:ext cx="420624" cy="420624"/>
          </a:xfrm>
          <a:prstGeom prst="ellipse">
            <a:avLst/>
          </a:prstGeom>
          <a:solidFill>
            <a:schemeClr val="accent2"/>
          </a:solidFill>
          <a:ln/>
        </p:spPr>
      </p:sp>
      <p:pic>
        <p:nvPicPr>
          <p:cNvPr id="14" name="Image 2" descr="preencoded.png">    </p:cNvPr>
          <p:cNvPicPr>
            <a:picLocks noChangeAspect="1"/>
          </p:cNvPicPr>
          <p:nvPr/>
        </p:nvPicPr>
        <p:blipFill>
          <a:blip r:embed="rId3"/>
          <a:stretch>
            <a:fillRect/>
          </a:stretch>
        </p:blipFill>
        <p:spPr>
          <a:xfrm>
            <a:off x="2987406" y="5075286"/>
            <a:ext cx="218724" cy="218724"/>
          </a:xfrm>
          <a:prstGeom prst="rect">
            <a:avLst/>
          </a:prstGeom>
        </p:spPr>
      </p:pic>
      <p:sp>
        <p:nvSpPr>
          <p:cNvPr id="15" name="Text 10"/>
          <p:cNvSpPr txBox="1"/>
          <p:nvPr/>
        </p:nvSpPr>
        <p:spPr>
          <a:xfrm>
            <a:off x="3389376" y="4974336"/>
            <a:ext cx="1331976" cy="420624"/>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Tư vấn giải pháp</a:t>
            </a:r>
            <a:endParaRPr lang="en-US" sz="1400" dirty="0"/>
          </a:p>
        </p:txBody>
      </p:sp>
      <p:sp>
        <p:nvSpPr>
          <p:cNvPr id="16" name="Text 11"/>
          <p:cNvSpPr txBox="1"/>
          <p:nvPr/>
        </p:nvSpPr>
        <p:spPr>
          <a:xfrm>
            <a:off x="2886456" y="5468112"/>
            <a:ext cx="1825752" cy="86868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Giải pháp AI đa thể thức theo đặc thù từng đơn vị</a:t>
            </a:r>
            <a:endParaRPr lang="en-US" sz="1400" dirty="0"/>
          </a:p>
        </p:txBody>
      </p:sp>
      <p:sp>
        <p:nvSpPr>
          <p:cNvPr id="17" name="Shape 12"/>
          <p:cNvSpPr/>
          <p:nvPr/>
        </p:nvSpPr>
        <p:spPr>
          <a:xfrm>
            <a:off x="4949952" y="4846320"/>
            <a:ext cx="2063496" cy="1536192"/>
          </a:xfrm>
          <a:prstGeom prst="roundRect">
            <a:avLst>
              <a:gd name="adj" fmla="val 7143"/>
            </a:avLst>
          </a:prstGeom>
          <a:solidFill>
            <a:schemeClr val="tx2"/>
          </a:solidFill>
          <a:ln/>
          <a:effectLst>
            <a:outerShdw sx="100000" sy="100000" kx="0" ky="0" algn="bl" rotWithShape="0" blurRad="101600" dist="25400" dir="5400000">
              <a:srgbClr val="0B2A00">
                <a:alpha val="16000"/>
              </a:srgbClr>
            </a:outerShdw>
          </a:effectLst>
        </p:spPr>
      </p:sp>
      <p:sp>
        <p:nvSpPr>
          <p:cNvPr id="18" name="Shape 13"/>
          <p:cNvSpPr/>
          <p:nvPr/>
        </p:nvSpPr>
        <p:spPr>
          <a:xfrm>
            <a:off x="5087112" y="4974336"/>
            <a:ext cx="420624" cy="420624"/>
          </a:xfrm>
          <a:prstGeom prst="ellipse">
            <a:avLst/>
          </a:prstGeom>
          <a:solidFill>
            <a:schemeClr val="accent2"/>
          </a:solidFill>
          <a:ln/>
        </p:spPr>
      </p:sp>
      <p:pic>
        <p:nvPicPr>
          <p:cNvPr id="19" name="Image 3" descr="preencoded.png">    </p:cNvPr>
          <p:cNvPicPr>
            <a:picLocks noChangeAspect="1"/>
          </p:cNvPicPr>
          <p:nvPr/>
        </p:nvPicPr>
        <p:blipFill>
          <a:blip r:embed="rId4"/>
          <a:stretch>
            <a:fillRect/>
          </a:stretch>
        </p:blipFill>
        <p:spPr>
          <a:xfrm>
            <a:off x="5188062" y="5075286"/>
            <a:ext cx="218724" cy="218724"/>
          </a:xfrm>
          <a:prstGeom prst="rect">
            <a:avLst/>
          </a:prstGeom>
        </p:spPr>
      </p:pic>
      <p:sp>
        <p:nvSpPr>
          <p:cNvPr id="20" name="Text 14"/>
          <p:cNvSpPr txBox="1"/>
          <p:nvPr/>
        </p:nvSpPr>
        <p:spPr>
          <a:xfrm>
            <a:off x="5590032" y="4974336"/>
            <a:ext cx="1331976" cy="420624"/>
          </a:xfrm>
          <a:prstGeom prst="rect">
            <a:avLst/>
          </a:prstGeom>
          <a:noFill/>
          <a:ln/>
        </p:spPr>
        <p:txBody>
          <a:bodyPr wrap="square" lIns="0" tIns="0" rIns="0" bIns="0" rtlCol="0" anchor="ctr"/>
          <a:lstStyle/>
          <a:p>
            <a:pPr indent="0" marL="0">
              <a:lnSpc>
                <a:spcPct val="105000"/>
              </a:lnSpc>
              <a:buNone/>
            </a:pPr>
            <a:r>
              <a:rPr lang="en-US" sz="1400" b="1" dirty="0">
                <a:solidFill>
                  <a:schemeClr val="bg1"/>
                </a:solidFill>
              </a:rPr>
              <a:t>Đồng hành thực tiễn</a:t>
            </a:r>
            <a:endParaRPr lang="en-US" sz="1400" dirty="0"/>
          </a:p>
        </p:txBody>
      </p:sp>
      <p:sp>
        <p:nvSpPr>
          <p:cNvPr id="21" name="Text 15"/>
          <p:cNvSpPr txBox="1"/>
          <p:nvPr/>
        </p:nvSpPr>
        <p:spPr>
          <a:xfrm>
            <a:off x="5087112" y="5468112"/>
            <a:ext cx="1825752" cy="86868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Từ khảo sát, lộ trình đến ứng dụng vào công việc</a:t>
            </a:r>
            <a:endParaRPr lang="en-US" sz="1400" dirty="0"/>
          </a:p>
        </p:txBody>
      </p:sp>
      <p:sp>
        <p:nvSpPr>
          <p:cNvPr id="22" name="Text 16"/>
          <p:cNvSpPr txBox="1"/>
          <p:nvPr/>
        </p:nvSpPr>
        <p:spPr>
          <a:xfrm>
            <a:off x="548640" y="6656832"/>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NĂNG LỰC CỐT LÕI</a:t>
            </a:r>
            <a:endParaRPr lang="en-US" sz="1600" dirty="0"/>
          </a:p>
        </p:txBody>
      </p:sp>
      <p:sp>
        <p:nvSpPr>
          <p:cNvPr id="23" name="Shape 17"/>
          <p:cNvSpPr/>
          <p:nvPr/>
        </p:nvSpPr>
        <p:spPr>
          <a:xfrm>
            <a:off x="548640" y="7040880"/>
            <a:ext cx="3159252" cy="1481328"/>
          </a:xfrm>
          <a:prstGeom prst="roundRect">
            <a:avLst>
              <a:gd name="adj" fmla="val 7407"/>
            </a:avLst>
          </a:prstGeom>
          <a:solidFill>
            <a:schemeClr val="bg2"/>
          </a:solidFill>
          <a:ln/>
          <a:effectLst>
            <a:outerShdw sx="100000" sy="100000" kx="0" ky="0" algn="bl" rotWithShape="0" blurRad="101600" dist="25400" dir="5400000">
              <a:srgbClr val="0B2A00">
                <a:alpha val="16000"/>
              </a:srgbClr>
            </a:outerShdw>
          </a:effectLst>
        </p:spPr>
      </p:sp>
      <p:sp>
        <p:nvSpPr>
          <p:cNvPr id="24" name="Shape 18"/>
          <p:cNvSpPr/>
          <p:nvPr/>
        </p:nvSpPr>
        <p:spPr>
          <a:xfrm>
            <a:off x="694944" y="7196328"/>
            <a:ext cx="384048" cy="384048"/>
          </a:xfrm>
          <a:prstGeom prst="roundRect">
            <a:avLst>
              <a:gd name="adj" fmla="val 19048"/>
            </a:avLst>
          </a:prstGeom>
          <a:solidFill>
            <a:schemeClr val="accent1"/>
          </a:solidFill>
          <a:ln/>
        </p:spPr>
      </p:sp>
      <p:sp>
        <p:nvSpPr>
          <p:cNvPr id="25" name="Text 19"/>
          <p:cNvSpPr txBox="1"/>
          <p:nvPr/>
        </p:nvSpPr>
        <p:spPr>
          <a:xfrm>
            <a:off x="694944" y="7196328"/>
            <a:ext cx="384048" cy="384048"/>
          </a:xfrm>
          <a:prstGeom prst="rect">
            <a:avLst/>
          </a:prstGeom>
          <a:noFill/>
          <a:ln/>
        </p:spPr>
        <p:txBody>
          <a:bodyPr wrap="square" lIns="0" tIns="0" rIns="0" bIns="0" rtlCol="0" anchor="ctr"/>
          <a:lstStyle/>
          <a:p>
            <a:pPr algn="ctr" indent="0" marL="0">
              <a:lnSpc>
                <a:spcPct val="105000"/>
              </a:lnSpc>
              <a:buNone/>
            </a:pPr>
            <a:r>
              <a:rPr lang="en-US" sz="1800" b="1" dirty="0">
                <a:solidFill>
                  <a:schemeClr val="bg1"/>
                </a:solidFill>
              </a:rPr>
              <a:t>1</a:t>
            </a:r>
            <a:endParaRPr lang="en-US" sz="1800" dirty="0"/>
          </a:p>
        </p:txBody>
      </p:sp>
      <p:sp>
        <p:nvSpPr>
          <p:cNvPr id="26" name="Text 20"/>
          <p:cNvSpPr txBox="1"/>
          <p:nvPr/>
        </p:nvSpPr>
        <p:spPr>
          <a:xfrm>
            <a:off x="1188720" y="7132320"/>
            <a:ext cx="2409444"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Tư vấn Chiến lược &amp; Đào tạo “May đo”</a:t>
            </a:r>
            <a:endParaRPr lang="en-US" sz="1400" dirty="0"/>
          </a:p>
        </p:txBody>
      </p:sp>
      <p:sp>
        <p:nvSpPr>
          <p:cNvPr id="27" name="Text 21"/>
          <p:cNvSpPr txBox="1"/>
          <p:nvPr/>
        </p:nvSpPr>
        <p:spPr>
          <a:xfrm>
            <a:off x="694944" y="7680960"/>
            <a:ext cx="2903220" cy="786384"/>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Không dùng giáo trình rập khuôn; khảo sát “điểm nghẽn” vận hành để thiết kế nội dung riêng.</a:t>
            </a:r>
            <a:endParaRPr lang="en-US" sz="1400" dirty="0"/>
          </a:p>
        </p:txBody>
      </p:sp>
      <p:sp>
        <p:nvSpPr>
          <p:cNvPr id="28" name="Shape 22"/>
          <p:cNvSpPr/>
          <p:nvPr/>
        </p:nvSpPr>
        <p:spPr>
          <a:xfrm>
            <a:off x="3854196" y="7040880"/>
            <a:ext cx="3159252" cy="1481328"/>
          </a:xfrm>
          <a:prstGeom prst="roundRect">
            <a:avLst>
              <a:gd name="adj" fmla="val 7407"/>
            </a:avLst>
          </a:prstGeom>
          <a:solidFill>
            <a:schemeClr val="bg2"/>
          </a:solidFill>
          <a:ln/>
          <a:effectLst>
            <a:outerShdw sx="100000" sy="100000" kx="0" ky="0" algn="bl" rotWithShape="0" blurRad="101600" dist="25400" dir="5400000">
              <a:srgbClr val="0B2A00">
                <a:alpha val="16000"/>
              </a:srgbClr>
            </a:outerShdw>
          </a:effectLst>
        </p:spPr>
      </p:sp>
      <p:sp>
        <p:nvSpPr>
          <p:cNvPr id="29" name="Shape 23"/>
          <p:cNvSpPr/>
          <p:nvPr/>
        </p:nvSpPr>
        <p:spPr>
          <a:xfrm>
            <a:off x="4000500" y="7196328"/>
            <a:ext cx="384048" cy="384048"/>
          </a:xfrm>
          <a:prstGeom prst="roundRect">
            <a:avLst>
              <a:gd name="adj" fmla="val 19048"/>
            </a:avLst>
          </a:prstGeom>
          <a:solidFill>
            <a:schemeClr val="accent1"/>
          </a:solidFill>
          <a:ln/>
        </p:spPr>
      </p:sp>
      <p:sp>
        <p:nvSpPr>
          <p:cNvPr id="30" name="Text 24"/>
          <p:cNvSpPr txBox="1"/>
          <p:nvPr/>
        </p:nvSpPr>
        <p:spPr>
          <a:xfrm>
            <a:off x="4000500" y="7196328"/>
            <a:ext cx="384048" cy="384048"/>
          </a:xfrm>
          <a:prstGeom prst="rect">
            <a:avLst/>
          </a:prstGeom>
          <a:noFill/>
          <a:ln/>
        </p:spPr>
        <p:txBody>
          <a:bodyPr wrap="square" lIns="0" tIns="0" rIns="0" bIns="0" rtlCol="0" anchor="ctr"/>
          <a:lstStyle/>
          <a:p>
            <a:pPr algn="ctr" indent="0" marL="0">
              <a:lnSpc>
                <a:spcPct val="105000"/>
              </a:lnSpc>
              <a:buNone/>
            </a:pPr>
            <a:r>
              <a:rPr lang="en-US" sz="1800" b="1" dirty="0">
                <a:solidFill>
                  <a:schemeClr val="bg1"/>
                </a:solidFill>
              </a:rPr>
              <a:t>2</a:t>
            </a:r>
            <a:endParaRPr lang="en-US" sz="1800" dirty="0"/>
          </a:p>
        </p:txBody>
      </p:sp>
      <p:sp>
        <p:nvSpPr>
          <p:cNvPr id="31" name="Text 25"/>
          <p:cNvSpPr txBox="1"/>
          <p:nvPr/>
        </p:nvSpPr>
        <p:spPr>
          <a:xfrm>
            <a:off x="4494276" y="7132320"/>
            <a:ext cx="2409444"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Phát triển Giải pháp &amp; Tự động hóa</a:t>
            </a:r>
            <a:endParaRPr lang="en-US" sz="1400" dirty="0"/>
          </a:p>
        </p:txBody>
      </p:sp>
      <p:sp>
        <p:nvSpPr>
          <p:cNvPr id="32" name="Text 26"/>
          <p:cNvSpPr txBox="1"/>
          <p:nvPr/>
        </p:nvSpPr>
        <p:spPr>
          <a:xfrm>
            <a:off x="4000500" y="7680960"/>
            <a:ext cx="2903220" cy="786384"/>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Làm chủ lõi công nghệ AI; phần mềm chuyên ngành, Chatbot, tự động hóa quy trình.</a:t>
            </a:r>
            <a:endParaRPr lang="en-US" sz="1400" dirty="0"/>
          </a:p>
        </p:txBody>
      </p:sp>
      <p:sp>
        <p:nvSpPr>
          <p:cNvPr id="33" name="Shape 27"/>
          <p:cNvSpPr/>
          <p:nvPr/>
        </p:nvSpPr>
        <p:spPr>
          <a:xfrm>
            <a:off x="548640" y="8650224"/>
            <a:ext cx="3159252" cy="1481328"/>
          </a:xfrm>
          <a:prstGeom prst="roundRect">
            <a:avLst>
              <a:gd name="adj" fmla="val 7407"/>
            </a:avLst>
          </a:prstGeom>
          <a:solidFill>
            <a:schemeClr val="bg2"/>
          </a:solidFill>
          <a:ln/>
          <a:effectLst>
            <a:outerShdw sx="100000" sy="100000" kx="0" ky="0" algn="bl" rotWithShape="0" blurRad="101600" dist="25400" dir="5400000">
              <a:srgbClr val="0B2A00">
                <a:alpha val="16000"/>
              </a:srgbClr>
            </a:outerShdw>
          </a:effectLst>
        </p:spPr>
      </p:sp>
      <p:sp>
        <p:nvSpPr>
          <p:cNvPr id="34" name="Shape 28"/>
          <p:cNvSpPr/>
          <p:nvPr/>
        </p:nvSpPr>
        <p:spPr>
          <a:xfrm>
            <a:off x="694944" y="8805672"/>
            <a:ext cx="384048" cy="384048"/>
          </a:xfrm>
          <a:prstGeom prst="roundRect">
            <a:avLst>
              <a:gd name="adj" fmla="val 19048"/>
            </a:avLst>
          </a:prstGeom>
          <a:solidFill>
            <a:schemeClr val="accent1"/>
          </a:solidFill>
          <a:ln/>
        </p:spPr>
      </p:sp>
      <p:sp>
        <p:nvSpPr>
          <p:cNvPr id="35" name="Text 29"/>
          <p:cNvSpPr txBox="1"/>
          <p:nvPr/>
        </p:nvSpPr>
        <p:spPr>
          <a:xfrm>
            <a:off x="694944" y="8805672"/>
            <a:ext cx="384048" cy="384048"/>
          </a:xfrm>
          <a:prstGeom prst="rect">
            <a:avLst/>
          </a:prstGeom>
          <a:noFill/>
          <a:ln/>
        </p:spPr>
        <p:txBody>
          <a:bodyPr wrap="square" lIns="0" tIns="0" rIns="0" bIns="0" rtlCol="0" anchor="ctr"/>
          <a:lstStyle/>
          <a:p>
            <a:pPr algn="ctr" indent="0" marL="0">
              <a:lnSpc>
                <a:spcPct val="105000"/>
              </a:lnSpc>
              <a:buNone/>
            </a:pPr>
            <a:r>
              <a:rPr lang="en-US" sz="1800" b="1" dirty="0">
                <a:solidFill>
                  <a:schemeClr val="bg1"/>
                </a:solidFill>
              </a:rPr>
              <a:t>3</a:t>
            </a:r>
            <a:endParaRPr lang="en-US" sz="1800" dirty="0"/>
          </a:p>
        </p:txBody>
      </p:sp>
      <p:sp>
        <p:nvSpPr>
          <p:cNvPr id="36" name="Text 30"/>
          <p:cNvSpPr txBox="1"/>
          <p:nvPr/>
        </p:nvSpPr>
        <p:spPr>
          <a:xfrm>
            <a:off x="1188720" y="8741664"/>
            <a:ext cx="2409444"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Đội ngũ Chuyên gia “Thực thi kép”</a:t>
            </a:r>
            <a:endParaRPr lang="en-US" sz="1400" dirty="0"/>
          </a:p>
        </p:txBody>
      </p:sp>
      <p:sp>
        <p:nvSpPr>
          <p:cNvPr id="37" name="Text 31"/>
          <p:cNvSpPr txBox="1"/>
          <p:nvPr/>
        </p:nvSpPr>
        <p:spPr>
          <a:xfrm>
            <a:off x="694944" y="9290304"/>
            <a:ext cx="2903220" cy="786384"/>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Cố vấn chuyển đổi số, giám đốc đào tạo cùng kỹ sư, PM giàu kinh nghiệm (Agile/Scrum).</a:t>
            </a:r>
            <a:endParaRPr lang="en-US" sz="1400" dirty="0"/>
          </a:p>
        </p:txBody>
      </p:sp>
      <p:sp>
        <p:nvSpPr>
          <p:cNvPr id="38" name="Shape 32"/>
          <p:cNvSpPr/>
          <p:nvPr/>
        </p:nvSpPr>
        <p:spPr>
          <a:xfrm>
            <a:off x="3854196" y="8650224"/>
            <a:ext cx="3159252" cy="1481328"/>
          </a:xfrm>
          <a:prstGeom prst="roundRect">
            <a:avLst>
              <a:gd name="adj" fmla="val 7407"/>
            </a:avLst>
          </a:prstGeom>
          <a:solidFill>
            <a:schemeClr val="bg2"/>
          </a:solidFill>
          <a:ln/>
          <a:effectLst>
            <a:outerShdw sx="100000" sy="100000" kx="0" ky="0" algn="bl" rotWithShape="0" blurRad="101600" dist="25400" dir="5400000">
              <a:srgbClr val="0B2A00">
                <a:alpha val="16000"/>
              </a:srgbClr>
            </a:outerShdw>
          </a:effectLst>
        </p:spPr>
      </p:sp>
      <p:sp>
        <p:nvSpPr>
          <p:cNvPr id="39" name="Shape 33"/>
          <p:cNvSpPr/>
          <p:nvPr/>
        </p:nvSpPr>
        <p:spPr>
          <a:xfrm>
            <a:off x="4000500" y="8805672"/>
            <a:ext cx="384048" cy="384048"/>
          </a:xfrm>
          <a:prstGeom prst="roundRect">
            <a:avLst>
              <a:gd name="adj" fmla="val 19048"/>
            </a:avLst>
          </a:prstGeom>
          <a:solidFill>
            <a:schemeClr val="accent1"/>
          </a:solidFill>
          <a:ln/>
        </p:spPr>
      </p:sp>
      <p:sp>
        <p:nvSpPr>
          <p:cNvPr id="40" name="Text 34"/>
          <p:cNvSpPr txBox="1"/>
          <p:nvPr/>
        </p:nvSpPr>
        <p:spPr>
          <a:xfrm>
            <a:off x="4000500" y="8805672"/>
            <a:ext cx="384048" cy="384048"/>
          </a:xfrm>
          <a:prstGeom prst="rect">
            <a:avLst/>
          </a:prstGeom>
          <a:noFill/>
          <a:ln/>
        </p:spPr>
        <p:txBody>
          <a:bodyPr wrap="square" lIns="0" tIns="0" rIns="0" bIns="0" rtlCol="0" anchor="ctr"/>
          <a:lstStyle/>
          <a:p>
            <a:pPr algn="ctr" indent="0" marL="0">
              <a:lnSpc>
                <a:spcPct val="105000"/>
              </a:lnSpc>
              <a:buNone/>
            </a:pPr>
            <a:r>
              <a:rPr lang="en-US" sz="1800" b="1" dirty="0">
                <a:solidFill>
                  <a:schemeClr val="bg1"/>
                </a:solidFill>
              </a:rPr>
              <a:t>4</a:t>
            </a:r>
            <a:endParaRPr lang="en-US" sz="1800" dirty="0"/>
          </a:p>
        </p:txBody>
      </p:sp>
      <p:sp>
        <p:nvSpPr>
          <p:cNvPr id="41" name="Text 35"/>
          <p:cNvSpPr txBox="1"/>
          <p:nvPr/>
        </p:nvSpPr>
        <p:spPr>
          <a:xfrm>
            <a:off x="4494276" y="8741664"/>
            <a:ext cx="2409444" cy="512064"/>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Bề dày Triển khai Đa ngành</a:t>
            </a:r>
            <a:endParaRPr lang="en-US" sz="1400" dirty="0"/>
          </a:p>
        </p:txBody>
      </p:sp>
      <p:sp>
        <p:nvSpPr>
          <p:cNvPr id="42" name="Text 36"/>
          <p:cNvSpPr txBox="1"/>
          <p:nvPr/>
        </p:nvSpPr>
        <p:spPr>
          <a:xfrm>
            <a:off x="4000500" y="9290304"/>
            <a:ext cx="2903220" cy="786384"/>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Dự án quy mô lớn: Y tế, Khối Nhà nước/Xã hội, Tập đoàn/Vận hành (AI Office).</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04 · ĐÀO TẠO ỨNG DỤNG AI</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CHƯƠNG TRÌNH ĐÀO TẠO AI</a:t>
            </a:r>
            <a:endParaRPr lang="en-US" sz="2800" dirty="0"/>
          </a:p>
        </p:txBody>
      </p:sp>
      <p:sp>
        <p:nvSpPr>
          <p:cNvPr id="4" name="Shape 2"/>
          <p:cNvSpPr/>
          <p:nvPr/>
        </p:nvSpPr>
        <p:spPr>
          <a:xfrm>
            <a:off x="548640" y="1325880"/>
            <a:ext cx="6464808" cy="2057400"/>
          </a:xfrm>
          <a:prstGeom prst="roundRect">
            <a:avLst>
              <a:gd name="adj" fmla="val 5333"/>
            </a:avLst>
          </a:prstGeom>
          <a:solidFill>
            <a:schemeClr val="bg2"/>
          </a:solidFill>
          <a:ln/>
          <a:effectLst>
            <a:outerShdw sx="100000" sy="100000" kx="0" ky="0" algn="bl" rotWithShape="0" blurRad="101600" dist="25400" dir="5400000">
              <a:srgbClr val="0B2A00">
                <a:alpha val="16000"/>
              </a:srgbClr>
            </a:outerShdw>
          </a:effectLst>
        </p:spPr>
      </p:sp>
      <p:sp>
        <p:nvSpPr>
          <p:cNvPr id="5" name="Shape 3"/>
          <p:cNvSpPr/>
          <p:nvPr/>
        </p:nvSpPr>
        <p:spPr>
          <a:xfrm>
            <a:off x="713232" y="1508760"/>
            <a:ext cx="475488" cy="47548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27349" y="1622877"/>
            <a:ext cx="247254" cy="247254"/>
          </a:xfrm>
          <a:prstGeom prst="rect">
            <a:avLst/>
          </a:prstGeom>
        </p:spPr>
      </p:pic>
      <p:sp>
        <p:nvSpPr>
          <p:cNvPr id="7" name="Text 4"/>
          <p:cNvSpPr txBox="1"/>
          <p:nvPr/>
        </p:nvSpPr>
        <p:spPr>
          <a:xfrm>
            <a:off x="1298448" y="1472184"/>
            <a:ext cx="2194560" cy="548640"/>
          </a:xfrm>
          <a:prstGeom prst="rect">
            <a:avLst/>
          </a:prstGeom>
          <a:noFill/>
          <a:ln/>
        </p:spPr>
        <p:txBody>
          <a:bodyPr wrap="square" lIns="0" tIns="0" rIns="0" bIns="0" rtlCol="0" anchor="ctr"/>
          <a:lstStyle/>
          <a:p>
            <a:pPr indent="0" marL="0">
              <a:lnSpc>
                <a:spcPct val="105000"/>
              </a:lnSpc>
              <a:buNone/>
            </a:pPr>
            <a:r>
              <a:rPr lang="en-US" sz="1100" b="1" spc="100" kern="0" dirty="0">
                <a:solidFill>
                  <a:schemeClr val="accent5"/>
                </a:solidFill>
              </a:rPr>
              <a:t>ĐÀO TẠO AI CHO</a:t>
            </a:r>
            <a:endParaRPr lang="en-US" sz="1400" dirty="0"/>
          </a:p>
          <a:p>
            <a:pPr indent="0" marL="0">
              <a:lnSpc>
                <a:spcPct val="105000"/>
              </a:lnSpc>
              <a:buNone/>
            </a:pPr>
            <a:r>
              <a:rPr lang="en-US" sz="1600" b="1" dirty="0">
                <a:solidFill>
                  <a:schemeClr val="tx2"/>
                </a:solidFill>
              </a:rPr>
              <a:t>CƠ QUAN NHÀ NƯỚC</a:t>
            </a:r>
            <a:endParaRPr lang="en-US" sz="1400" dirty="0"/>
          </a:p>
        </p:txBody>
      </p:sp>
      <p:sp>
        <p:nvSpPr>
          <p:cNvPr id="8" name="Text 5"/>
          <p:cNvSpPr txBox="1"/>
          <p:nvPr/>
        </p:nvSpPr>
        <p:spPr>
          <a:xfrm>
            <a:off x="713232" y="2112264"/>
            <a:ext cx="2788920" cy="118872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Ứng dụng AI chuyên biệt nhằm tối ưu hóa quy trình xử lý văn bản, rút ngắn thời gian tác nghiệp và nâng cao hiệu suất làm việc.</a:t>
            </a:r>
            <a:endParaRPr lang="en-US" sz="1400" dirty="0"/>
          </a:p>
        </p:txBody>
      </p:sp>
      <p:sp>
        <p:nvSpPr>
          <p:cNvPr id="9" name="Shape 6"/>
          <p:cNvSpPr/>
          <p:nvPr/>
        </p:nvSpPr>
        <p:spPr>
          <a:xfrm>
            <a:off x="3675888" y="1508760"/>
            <a:ext cx="1558138" cy="310896"/>
          </a:xfrm>
          <a:prstGeom prst="roundRect">
            <a:avLst>
              <a:gd name="adj" fmla="val 50000"/>
            </a:avLst>
          </a:prstGeom>
          <a:solidFill>
            <a:schemeClr val="accent1"/>
          </a:solidFill>
          <a:ln/>
        </p:spPr>
      </p:sp>
      <p:sp>
        <p:nvSpPr>
          <p:cNvPr id="10" name="Text 7"/>
          <p:cNvSpPr txBox="1"/>
          <p:nvPr/>
        </p:nvSpPr>
        <p:spPr>
          <a:xfrm>
            <a:off x="3675888" y="1508760"/>
            <a:ext cx="1558138"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Văn phòng Quốc hội</a:t>
            </a:r>
            <a:endParaRPr lang="en-US" sz="1300" dirty="0"/>
          </a:p>
        </p:txBody>
      </p:sp>
      <p:sp>
        <p:nvSpPr>
          <p:cNvPr id="11" name="Shape 8"/>
          <p:cNvSpPr/>
          <p:nvPr/>
        </p:nvSpPr>
        <p:spPr>
          <a:xfrm>
            <a:off x="5307178" y="1508760"/>
            <a:ext cx="987552" cy="310896"/>
          </a:xfrm>
          <a:prstGeom prst="roundRect">
            <a:avLst>
              <a:gd name="adj" fmla="val 50000"/>
            </a:avLst>
          </a:prstGeom>
          <a:solidFill>
            <a:schemeClr val="accent1"/>
          </a:solidFill>
          <a:ln/>
        </p:spPr>
      </p:sp>
      <p:sp>
        <p:nvSpPr>
          <p:cNvPr id="12" name="Text 9"/>
          <p:cNvSpPr txBox="1"/>
          <p:nvPr/>
        </p:nvSpPr>
        <p:spPr>
          <a:xfrm>
            <a:off x="5307178" y="1508760"/>
            <a:ext cx="987552"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Bộ Văn Hóa</a:t>
            </a:r>
            <a:endParaRPr lang="en-US" sz="1300" dirty="0"/>
          </a:p>
        </p:txBody>
      </p:sp>
      <p:sp>
        <p:nvSpPr>
          <p:cNvPr id="13" name="Shape 10"/>
          <p:cNvSpPr/>
          <p:nvPr/>
        </p:nvSpPr>
        <p:spPr>
          <a:xfrm>
            <a:off x="3675888" y="1892808"/>
            <a:ext cx="1914754" cy="310896"/>
          </a:xfrm>
          <a:prstGeom prst="roundRect">
            <a:avLst>
              <a:gd name="adj" fmla="val 50000"/>
            </a:avLst>
          </a:prstGeom>
          <a:solidFill>
            <a:schemeClr val="accent1"/>
          </a:solidFill>
          <a:ln/>
        </p:spPr>
      </p:sp>
      <p:sp>
        <p:nvSpPr>
          <p:cNvPr id="14" name="Text 11"/>
          <p:cNvSpPr txBox="1"/>
          <p:nvPr/>
        </p:nvSpPr>
        <p:spPr>
          <a:xfrm>
            <a:off x="3675888" y="1892808"/>
            <a:ext cx="1914754"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Sở Khoa học &amp; Công nghệ</a:t>
            </a:r>
            <a:endParaRPr lang="en-US" sz="1300" dirty="0"/>
          </a:p>
        </p:txBody>
      </p:sp>
      <p:sp>
        <p:nvSpPr>
          <p:cNvPr id="15" name="Shape 12"/>
          <p:cNvSpPr/>
          <p:nvPr/>
        </p:nvSpPr>
        <p:spPr>
          <a:xfrm>
            <a:off x="5663794" y="1892808"/>
            <a:ext cx="773582" cy="310896"/>
          </a:xfrm>
          <a:prstGeom prst="roundRect">
            <a:avLst>
              <a:gd name="adj" fmla="val 50000"/>
            </a:avLst>
          </a:prstGeom>
          <a:solidFill>
            <a:schemeClr val="accent1"/>
          </a:solidFill>
          <a:ln/>
        </p:spPr>
      </p:sp>
      <p:sp>
        <p:nvSpPr>
          <p:cNvPr id="16" name="Text 13"/>
          <p:cNvSpPr txBox="1"/>
          <p:nvPr/>
        </p:nvSpPr>
        <p:spPr>
          <a:xfrm>
            <a:off x="5663794" y="1892808"/>
            <a:ext cx="773582"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Sở Y tế</a:t>
            </a:r>
            <a:endParaRPr lang="en-US" sz="1300" dirty="0"/>
          </a:p>
        </p:txBody>
      </p:sp>
      <p:sp>
        <p:nvSpPr>
          <p:cNvPr id="17" name="Shape 14"/>
          <p:cNvSpPr/>
          <p:nvPr/>
        </p:nvSpPr>
        <p:spPr>
          <a:xfrm>
            <a:off x="3675888" y="2276856"/>
            <a:ext cx="1272845" cy="310896"/>
          </a:xfrm>
          <a:prstGeom prst="roundRect">
            <a:avLst>
              <a:gd name="adj" fmla="val 50000"/>
            </a:avLst>
          </a:prstGeom>
          <a:solidFill>
            <a:schemeClr val="accent1"/>
          </a:solidFill>
          <a:ln/>
        </p:spPr>
      </p:sp>
      <p:sp>
        <p:nvSpPr>
          <p:cNvPr id="18" name="Text 15"/>
          <p:cNvSpPr txBox="1"/>
          <p:nvPr/>
        </p:nvSpPr>
        <p:spPr>
          <a:xfrm>
            <a:off x="3675888" y="2276856"/>
            <a:ext cx="1272845"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Sở Công Thương</a:t>
            </a:r>
            <a:endParaRPr lang="en-US" sz="1300" dirty="0"/>
          </a:p>
        </p:txBody>
      </p:sp>
      <p:sp>
        <p:nvSpPr>
          <p:cNvPr id="19" name="Shape 16"/>
          <p:cNvSpPr/>
          <p:nvPr/>
        </p:nvSpPr>
        <p:spPr>
          <a:xfrm>
            <a:off x="5021885" y="2276856"/>
            <a:ext cx="916229" cy="310896"/>
          </a:xfrm>
          <a:prstGeom prst="roundRect">
            <a:avLst>
              <a:gd name="adj" fmla="val 50000"/>
            </a:avLst>
          </a:prstGeom>
          <a:solidFill>
            <a:schemeClr val="accent1"/>
          </a:solidFill>
          <a:ln/>
        </p:spPr>
      </p:sp>
      <p:sp>
        <p:nvSpPr>
          <p:cNvPr id="20" name="Text 17"/>
          <p:cNvSpPr txBox="1"/>
          <p:nvPr/>
        </p:nvSpPr>
        <p:spPr>
          <a:xfrm>
            <a:off x="5021885" y="2276856"/>
            <a:ext cx="916229"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Sở Nội Vụ</a:t>
            </a:r>
            <a:endParaRPr lang="en-US" sz="1300" dirty="0"/>
          </a:p>
        </p:txBody>
      </p:sp>
      <p:sp>
        <p:nvSpPr>
          <p:cNvPr id="21" name="Shape 18"/>
          <p:cNvSpPr/>
          <p:nvPr/>
        </p:nvSpPr>
        <p:spPr>
          <a:xfrm>
            <a:off x="3675888" y="2907792"/>
            <a:ext cx="581558" cy="329184"/>
          </a:xfrm>
          <a:prstGeom prst="roundRect">
            <a:avLst>
              <a:gd name="adj" fmla="val 13889"/>
            </a:avLst>
          </a:prstGeom>
          <a:solidFill>
            <a:schemeClr val="bg1"/>
          </a:solidFill>
          <a:ln w="6350">
            <a:solidFill>
              <a:srgbClr val="DDE5D6"/>
            </a:solidFill>
            <a:prstDash val="solid"/>
          </a:ln>
        </p:spPr>
      </p:sp>
      <p:pic>
        <p:nvPicPr>
          <p:cNvPr id="22" name="Image 1" descr="/home/user/ATL--DAKO/profile-daotao/assets/ai/gov1.png">    </p:cNvPr>
          <p:cNvPicPr>
            <a:picLocks noChangeAspect="1"/>
          </p:cNvPicPr>
          <p:nvPr/>
        </p:nvPicPr>
        <p:blipFill>
          <a:blip r:embed="rId2"/>
          <a:stretch>
            <a:fillRect/>
          </a:stretch>
        </p:blipFill>
        <p:spPr>
          <a:xfrm>
            <a:off x="3703320" y="2968063"/>
            <a:ext cx="526694" cy="208642"/>
          </a:xfrm>
          <a:prstGeom prst="rect">
            <a:avLst/>
          </a:prstGeom>
        </p:spPr>
      </p:pic>
      <p:sp>
        <p:nvSpPr>
          <p:cNvPr id="23" name="Shape 19"/>
          <p:cNvSpPr/>
          <p:nvPr/>
        </p:nvSpPr>
        <p:spPr>
          <a:xfrm>
            <a:off x="4330598" y="2907792"/>
            <a:ext cx="581558" cy="329184"/>
          </a:xfrm>
          <a:prstGeom prst="roundRect">
            <a:avLst>
              <a:gd name="adj" fmla="val 13889"/>
            </a:avLst>
          </a:prstGeom>
          <a:solidFill>
            <a:schemeClr val="bg1"/>
          </a:solidFill>
          <a:ln w="6350">
            <a:solidFill>
              <a:srgbClr val="DDE5D6"/>
            </a:solidFill>
            <a:prstDash val="solid"/>
          </a:ln>
        </p:spPr>
      </p:sp>
      <p:pic>
        <p:nvPicPr>
          <p:cNvPr id="24" name="Image 2" descr="/home/user/ATL--DAKO/profile-daotao/assets/ai/gov2.png">    </p:cNvPr>
          <p:cNvPicPr>
            <a:picLocks noChangeAspect="1"/>
          </p:cNvPicPr>
          <p:nvPr/>
        </p:nvPicPr>
        <p:blipFill>
          <a:blip r:embed="rId3"/>
          <a:stretch>
            <a:fillRect/>
          </a:stretch>
        </p:blipFill>
        <p:spPr>
          <a:xfrm>
            <a:off x="4358030" y="2968063"/>
            <a:ext cx="526694" cy="208642"/>
          </a:xfrm>
          <a:prstGeom prst="rect">
            <a:avLst/>
          </a:prstGeom>
        </p:spPr>
      </p:pic>
      <p:sp>
        <p:nvSpPr>
          <p:cNvPr id="25" name="Shape 20"/>
          <p:cNvSpPr/>
          <p:nvPr/>
        </p:nvSpPr>
        <p:spPr>
          <a:xfrm>
            <a:off x="4985309" y="2907792"/>
            <a:ext cx="581558" cy="329184"/>
          </a:xfrm>
          <a:prstGeom prst="roundRect">
            <a:avLst>
              <a:gd name="adj" fmla="val 13889"/>
            </a:avLst>
          </a:prstGeom>
          <a:solidFill>
            <a:schemeClr val="bg1"/>
          </a:solidFill>
          <a:ln w="6350">
            <a:solidFill>
              <a:srgbClr val="DDE5D6"/>
            </a:solidFill>
            <a:prstDash val="solid"/>
          </a:ln>
        </p:spPr>
      </p:sp>
      <p:pic>
        <p:nvPicPr>
          <p:cNvPr id="26" name="Image 3" descr="/home/user/ATL--DAKO/profile-daotao/assets/ai/gov3.png">    </p:cNvPr>
          <p:cNvPicPr>
            <a:picLocks noChangeAspect="1"/>
          </p:cNvPicPr>
          <p:nvPr/>
        </p:nvPicPr>
        <p:blipFill>
          <a:blip r:embed="rId4"/>
          <a:stretch>
            <a:fillRect/>
          </a:stretch>
        </p:blipFill>
        <p:spPr>
          <a:xfrm>
            <a:off x="5012741" y="2968564"/>
            <a:ext cx="526694" cy="207639"/>
          </a:xfrm>
          <a:prstGeom prst="rect">
            <a:avLst/>
          </a:prstGeom>
        </p:spPr>
      </p:pic>
      <p:sp>
        <p:nvSpPr>
          <p:cNvPr id="27" name="Shape 21"/>
          <p:cNvSpPr/>
          <p:nvPr/>
        </p:nvSpPr>
        <p:spPr>
          <a:xfrm>
            <a:off x="5640019" y="2907792"/>
            <a:ext cx="581558" cy="329184"/>
          </a:xfrm>
          <a:prstGeom prst="roundRect">
            <a:avLst>
              <a:gd name="adj" fmla="val 13889"/>
            </a:avLst>
          </a:prstGeom>
          <a:solidFill>
            <a:schemeClr val="bg1"/>
          </a:solidFill>
          <a:ln w="6350">
            <a:solidFill>
              <a:srgbClr val="DDE5D6"/>
            </a:solidFill>
            <a:prstDash val="solid"/>
          </a:ln>
        </p:spPr>
      </p:sp>
      <p:pic>
        <p:nvPicPr>
          <p:cNvPr id="28" name="Image 4" descr="/home/user/ATL--DAKO/profile-daotao/assets/ai/gov4.png">    </p:cNvPr>
          <p:cNvPicPr>
            <a:picLocks noChangeAspect="1"/>
          </p:cNvPicPr>
          <p:nvPr/>
        </p:nvPicPr>
        <p:blipFill>
          <a:blip r:embed="rId5"/>
          <a:stretch>
            <a:fillRect/>
          </a:stretch>
        </p:blipFill>
        <p:spPr>
          <a:xfrm>
            <a:off x="5667451" y="2968564"/>
            <a:ext cx="526694" cy="207639"/>
          </a:xfrm>
          <a:prstGeom prst="rect">
            <a:avLst/>
          </a:prstGeom>
        </p:spPr>
      </p:pic>
      <p:sp>
        <p:nvSpPr>
          <p:cNvPr id="29" name="Shape 22"/>
          <p:cNvSpPr/>
          <p:nvPr/>
        </p:nvSpPr>
        <p:spPr>
          <a:xfrm>
            <a:off x="6294730" y="2907792"/>
            <a:ext cx="581558" cy="329184"/>
          </a:xfrm>
          <a:prstGeom prst="roundRect">
            <a:avLst>
              <a:gd name="adj" fmla="val 13889"/>
            </a:avLst>
          </a:prstGeom>
          <a:solidFill>
            <a:schemeClr val="bg1"/>
          </a:solidFill>
          <a:ln w="6350">
            <a:solidFill>
              <a:srgbClr val="DDE5D6"/>
            </a:solidFill>
            <a:prstDash val="solid"/>
          </a:ln>
        </p:spPr>
      </p:sp>
      <p:pic>
        <p:nvPicPr>
          <p:cNvPr id="30" name="Image 5" descr="/home/user/ATL--DAKO/profile-daotao/assets/ai/gov5.png">    </p:cNvPr>
          <p:cNvPicPr>
            <a:picLocks noChangeAspect="1"/>
          </p:cNvPicPr>
          <p:nvPr/>
        </p:nvPicPr>
        <p:blipFill>
          <a:blip r:embed="rId6"/>
          <a:stretch>
            <a:fillRect/>
          </a:stretch>
        </p:blipFill>
        <p:spPr>
          <a:xfrm>
            <a:off x="6322162" y="2968063"/>
            <a:ext cx="526694" cy="208642"/>
          </a:xfrm>
          <a:prstGeom prst="rect">
            <a:avLst/>
          </a:prstGeom>
        </p:spPr>
      </p:pic>
      <p:sp>
        <p:nvSpPr>
          <p:cNvPr id="31" name="Shape 23"/>
          <p:cNvSpPr/>
          <p:nvPr/>
        </p:nvSpPr>
        <p:spPr>
          <a:xfrm>
            <a:off x="548640" y="3511296"/>
            <a:ext cx="6464808" cy="1965960"/>
          </a:xfrm>
          <a:prstGeom prst="roundRect">
            <a:avLst>
              <a:gd name="adj" fmla="val 558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2" name="Shape 24"/>
          <p:cNvSpPr/>
          <p:nvPr/>
        </p:nvSpPr>
        <p:spPr>
          <a:xfrm>
            <a:off x="713232" y="3694176"/>
            <a:ext cx="475488" cy="475488"/>
          </a:xfrm>
          <a:prstGeom prst="ellipse">
            <a:avLst/>
          </a:prstGeom>
          <a:solidFill>
            <a:schemeClr val="accent1"/>
          </a:solidFill>
          <a:ln/>
        </p:spPr>
      </p:sp>
      <p:pic>
        <p:nvPicPr>
          <p:cNvPr id="33" name="Image 6" descr="preencoded.png">    </p:cNvPr>
          <p:cNvPicPr>
            <a:picLocks noChangeAspect="1"/>
          </p:cNvPicPr>
          <p:nvPr/>
        </p:nvPicPr>
        <p:blipFill>
          <a:blip r:embed="rId7"/>
          <a:stretch>
            <a:fillRect/>
          </a:stretch>
        </p:blipFill>
        <p:spPr>
          <a:xfrm>
            <a:off x="827349" y="3808293"/>
            <a:ext cx="247254" cy="247254"/>
          </a:xfrm>
          <a:prstGeom prst="rect">
            <a:avLst/>
          </a:prstGeom>
        </p:spPr>
      </p:pic>
      <p:sp>
        <p:nvSpPr>
          <p:cNvPr id="34" name="Text 25"/>
          <p:cNvSpPr txBox="1"/>
          <p:nvPr/>
        </p:nvSpPr>
        <p:spPr>
          <a:xfrm>
            <a:off x="1298448" y="3657600"/>
            <a:ext cx="2194560" cy="548640"/>
          </a:xfrm>
          <a:prstGeom prst="rect">
            <a:avLst/>
          </a:prstGeom>
          <a:noFill/>
          <a:ln/>
        </p:spPr>
        <p:txBody>
          <a:bodyPr wrap="square" lIns="0" tIns="0" rIns="0" bIns="0" rtlCol="0" anchor="ctr"/>
          <a:lstStyle/>
          <a:p>
            <a:pPr indent="0" marL="0">
              <a:lnSpc>
                <a:spcPct val="105000"/>
              </a:lnSpc>
              <a:buNone/>
            </a:pPr>
            <a:r>
              <a:rPr lang="en-US" sz="1100" b="1" spc="100" kern="0" dirty="0">
                <a:solidFill>
                  <a:schemeClr val="accent5"/>
                </a:solidFill>
              </a:rPr>
              <a:t>ĐÀO TẠO AI CHO</a:t>
            </a:r>
            <a:endParaRPr lang="en-US" sz="1400" dirty="0"/>
          </a:p>
          <a:p>
            <a:pPr indent="0" marL="0">
              <a:lnSpc>
                <a:spcPct val="105000"/>
              </a:lnSpc>
              <a:buNone/>
            </a:pPr>
            <a:r>
              <a:rPr lang="en-US" sz="1600" b="1" dirty="0">
                <a:solidFill>
                  <a:schemeClr val="tx2"/>
                </a:solidFill>
              </a:rPr>
              <a:t>DOANH NGHIỆP</a:t>
            </a:r>
            <a:endParaRPr lang="en-US" sz="1400" dirty="0"/>
          </a:p>
        </p:txBody>
      </p:sp>
      <p:sp>
        <p:nvSpPr>
          <p:cNvPr id="35" name="Text 26"/>
          <p:cNvSpPr txBox="1"/>
          <p:nvPr/>
        </p:nvSpPr>
        <p:spPr>
          <a:xfrm>
            <a:off x="713232" y="4297680"/>
            <a:ext cx="2788920" cy="109728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Ứng dụng AI thực chiến trong quản lý và công việc hàng ngày, giải quyết các bài toán đặc thù cho từng phòng ban.</a:t>
            </a:r>
            <a:endParaRPr lang="en-US" sz="1400" dirty="0"/>
          </a:p>
        </p:txBody>
      </p:sp>
      <p:sp>
        <p:nvSpPr>
          <p:cNvPr id="36" name="Shape 27"/>
          <p:cNvSpPr/>
          <p:nvPr/>
        </p:nvSpPr>
        <p:spPr>
          <a:xfrm>
            <a:off x="3675888" y="3694176"/>
            <a:ext cx="844906" cy="310896"/>
          </a:xfrm>
          <a:prstGeom prst="roundRect">
            <a:avLst>
              <a:gd name="adj" fmla="val 50000"/>
            </a:avLst>
          </a:prstGeom>
          <a:solidFill>
            <a:schemeClr val="accent1"/>
          </a:solidFill>
          <a:ln/>
        </p:spPr>
      </p:sp>
      <p:sp>
        <p:nvSpPr>
          <p:cNvPr id="37" name="Text 28"/>
          <p:cNvSpPr txBox="1"/>
          <p:nvPr/>
        </p:nvSpPr>
        <p:spPr>
          <a:xfrm>
            <a:off x="3675888" y="3694176"/>
            <a:ext cx="844906"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Lãnh đạo</a:t>
            </a:r>
            <a:endParaRPr lang="en-US" sz="1300" dirty="0"/>
          </a:p>
        </p:txBody>
      </p:sp>
      <p:sp>
        <p:nvSpPr>
          <p:cNvPr id="38" name="Shape 29"/>
          <p:cNvSpPr/>
          <p:nvPr/>
        </p:nvSpPr>
        <p:spPr>
          <a:xfrm>
            <a:off x="4593946" y="3694176"/>
            <a:ext cx="916229" cy="310896"/>
          </a:xfrm>
          <a:prstGeom prst="roundRect">
            <a:avLst>
              <a:gd name="adj" fmla="val 50000"/>
            </a:avLst>
          </a:prstGeom>
          <a:solidFill>
            <a:schemeClr val="accent1"/>
          </a:solidFill>
          <a:ln/>
        </p:spPr>
      </p:sp>
      <p:sp>
        <p:nvSpPr>
          <p:cNvPr id="39" name="Text 30"/>
          <p:cNvSpPr txBox="1"/>
          <p:nvPr/>
        </p:nvSpPr>
        <p:spPr>
          <a:xfrm>
            <a:off x="4593946" y="3694176"/>
            <a:ext cx="916229"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Marketing</a:t>
            </a:r>
            <a:endParaRPr lang="en-US" sz="1300" dirty="0"/>
          </a:p>
        </p:txBody>
      </p:sp>
      <p:sp>
        <p:nvSpPr>
          <p:cNvPr id="40" name="Shape 31"/>
          <p:cNvSpPr/>
          <p:nvPr/>
        </p:nvSpPr>
        <p:spPr>
          <a:xfrm>
            <a:off x="5583326" y="3694176"/>
            <a:ext cx="416966" cy="310896"/>
          </a:xfrm>
          <a:prstGeom prst="roundRect">
            <a:avLst>
              <a:gd name="adj" fmla="val 50000"/>
            </a:avLst>
          </a:prstGeom>
          <a:solidFill>
            <a:schemeClr val="accent1"/>
          </a:solidFill>
          <a:ln/>
        </p:spPr>
      </p:sp>
      <p:sp>
        <p:nvSpPr>
          <p:cNvPr id="41" name="Text 32"/>
          <p:cNvSpPr txBox="1"/>
          <p:nvPr/>
        </p:nvSpPr>
        <p:spPr>
          <a:xfrm>
            <a:off x="5583326" y="3694176"/>
            <a:ext cx="416966"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HR</a:t>
            </a:r>
            <a:endParaRPr lang="en-US" sz="1300" dirty="0"/>
          </a:p>
        </p:txBody>
      </p:sp>
      <p:sp>
        <p:nvSpPr>
          <p:cNvPr id="42" name="Shape 33"/>
          <p:cNvSpPr/>
          <p:nvPr/>
        </p:nvSpPr>
        <p:spPr>
          <a:xfrm>
            <a:off x="3675888" y="4078224"/>
            <a:ext cx="1772107" cy="310896"/>
          </a:xfrm>
          <a:prstGeom prst="roundRect">
            <a:avLst>
              <a:gd name="adj" fmla="val 50000"/>
            </a:avLst>
          </a:prstGeom>
          <a:solidFill>
            <a:schemeClr val="accent1"/>
          </a:solidFill>
          <a:ln/>
        </p:spPr>
      </p:sp>
      <p:sp>
        <p:nvSpPr>
          <p:cNvPr id="43" name="Text 34"/>
          <p:cNvSpPr txBox="1"/>
          <p:nvPr/>
        </p:nvSpPr>
        <p:spPr>
          <a:xfrm>
            <a:off x="3675888" y="4078224"/>
            <a:ext cx="1772107"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Doanh nghiệp sản xuất</a:t>
            </a:r>
            <a:endParaRPr lang="en-US" sz="1300" dirty="0"/>
          </a:p>
        </p:txBody>
      </p:sp>
      <p:sp>
        <p:nvSpPr>
          <p:cNvPr id="44" name="Shape 35"/>
          <p:cNvSpPr/>
          <p:nvPr/>
        </p:nvSpPr>
        <p:spPr>
          <a:xfrm>
            <a:off x="3675888" y="4462272"/>
            <a:ext cx="1843430" cy="310896"/>
          </a:xfrm>
          <a:prstGeom prst="roundRect">
            <a:avLst>
              <a:gd name="adj" fmla="val 50000"/>
            </a:avLst>
          </a:prstGeom>
          <a:solidFill>
            <a:schemeClr val="accent1"/>
          </a:solidFill>
          <a:ln/>
        </p:spPr>
      </p:sp>
      <p:sp>
        <p:nvSpPr>
          <p:cNvPr id="45" name="Text 36"/>
          <p:cNvSpPr txBox="1"/>
          <p:nvPr/>
        </p:nvSpPr>
        <p:spPr>
          <a:xfrm>
            <a:off x="3675888" y="4462272"/>
            <a:ext cx="1843430"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Kinh doanh và bán hàng</a:t>
            </a:r>
            <a:endParaRPr lang="en-US" sz="1300" dirty="0"/>
          </a:p>
        </p:txBody>
      </p:sp>
      <p:sp>
        <p:nvSpPr>
          <p:cNvPr id="46" name="Shape 37"/>
          <p:cNvSpPr/>
          <p:nvPr/>
        </p:nvSpPr>
        <p:spPr>
          <a:xfrm>
            <a:off x="3675888" y="5001768"/>
            <a:ext cx="581558" cy="329184"/>
          </a:xfrm>
          <a:prstGeom prst="roundRect">
            <a:avLst>
              <a:gd name="adj" fmla="val 13889"/>
            </a:avLst>
          </a:prstGeom>
          <a:solidFill>
            <a:schemeClr val="bg1"/>
          </a:solidFill>
          <a:ln w="6350">
            <a:solidFill>
              <a:srgbClr val="DDE5D6"/>
            </a:solidFill>
            <a:prstDash val="solid"/>
          </a:ln>
        </p:spPr>
      </p:sp>
      <p:pic>
        <p:nvPicPr>
          <p:cNvPr id="47" name="Image 7" descr="/home/user/ATL--DAKO/profile-daotao/assets/ai/biz1.png">    </p:cNvPr>
          <p:cNvPicPr>
            <a:picLocks noChangeAspect="1"/>
          </p:cNvPicPr>
          <p:nvPr/>
        </p:nvPicPr>
        <p:blipFill>
          <a:blip r:embed="rId8"/>
          <a:stretch>
            <a:fillRect/>
          </a:stretch>
        </p:blipFill>
        <p:spPr>
          <a:xfrm>
            <a:off x="3703320" y="5062039"/>
            <a:ext cx="526694" cy="208642"/>
          </a:xfrm>
          <a:prstGeom prst="rect">
            <a:avLst/>
          </a:prstGeom>
        </p:spPr>
      </p:pic>
      <p:sp>
        <p:nvSpPr>
          <p:cNvPr id="48" name="Shape 38"/>
          <p:cNvSpPr/>
          <p:nvPr/>
        </p:nvSpPr>
        <p:spPr>
          <a:xfrm>
            <a:off x="4330598" y="5001768"/>
            <a:ext cx="581558" cy="329184"/>
          </a:xfrm>
          <a:prstGeom prst="roundRect">
            <a:avLst>
              <a:gd name="adj" fmla="val 13889"/>
            </a:avLst>
          </a:prstGeom>
          <a:solidFill>
            <a:schemeClr val="bg1"/>
          </a:solidFill>
          <a:ln w="6350">
            <a:solidFill>
              <a:srgbClr val="DDE5D6"/>
            </a:solidFill>
            <a:prstDash val="solid"/>
          </a:ln>
        </p:spPr>
      </p:sp>
      <p:pic>
        <p:nvPicPr>
          <p:cNvPr id="49" name="Image 8" descr="/home/user/ATL--DAKO/profile-daotao/assets/ai/biz2.png">    </p:cNvPr>
          <p:cNvPicPr>
            <a:picLocks noChangeAspect="1"/>
          </p:cNvPicPr>
          <p:nvPr/>
        </p:nvPicPr>
        <p:blipFill>
          <a:blip r:embed="rId9"/>
          <a:stretch>
            <a:fillRect/>
          </a:stretch>
        </p:blipFill>
        <p:spPr>
          <a:xfrm>
            <a:off x="4358030" y="5062039"/>
            <a:ext cx="526694" cy="208642"/>
          </a:xfrm>
          <a:prstGeom prst="rect">
            <a:avLst/>
          </a:prstGeom>
        </p:spPr>
      </p:pic>
      <p:sp>
        <p:nvSpPr>
          <p:cNvPr id="50" name="Shape 39"/>
          <p:cNvSpPr/>
          <p:nvPr/>
        </p:nvSpPr>
        <p:spPr>
          <a:xfrm>
            <a:off x="4985309" y="5001768"/>
            <a:ext cx="581558" cy="329184"/>
          </a:xfrm>
          <a:prstGeom prst="roundRect">
            <a:avLst>
              <a:gd name="adj" fmla="val 13889"/>
            </a:avLst>
          </a:prstGeom>
          <a:solidFill>
            <a:schemeClr val="bg1"/>
          </a:solidFill>
          <a:ln w="6350">
            <a:solidFill>
              <a:srgbClr val="DDE5D6"/>
            </a:solidFill>
            <a:prstDash val="solid"/>
          </a:ln>
        </p:spPr>
      </p:sp>
      <p:pic>
        <p:nvPicPr>
          <p:cNvPr id="51" name="Image 9" descr="/home/user/ATL--DAKO/profile-daotao/assets/ai/biz3.png">    </p:cNvPr>
          <p:cNvPicPr>
            <a:picLocks noChangeAspect="1"/>
          </p:cNvPicPr>
          <p:nvPr/>
        </p:nvPicPr>
        <p:blipFill>
          <a:blip r:embed="rId10"/>
          <a:stretch>
            <a:fillRect/>
          </a:stretch>
        </p:blipFill>
        <p:spPr>
          <a:xfrm>
            <a:off x="5012741" y="5062540"/>
            <a:ext cx="526694" cy="207639"/>
          </a:xfrm>
          <a:prstGeom prst="rect">
            <a:avLst/>
          </a:prstGeom>
        </p:spPr>
      </p:pic>
      <p:sp>
        <p:nvSpPr>
          <p:cNvPr id="52" name="Shape 40"/>
          <p:cNvSpPr/>
          <p:nvPr/>
        </p:nvSpPr>
        <p:spPr>
          <a:xfrm>
            <a:off x="5640019" y="5001768"/>
            <a:ext cx="581558" cy="329184"/>
          </a:xfrm>
          <a:prstGeom prst="roundRect">
            <a:avLst>
              <a:gd name="adj" fmla="val 13889"/>
            </a:avLst>
          </a:prstGeom>
          <a:solidFill>
            <a:schemeClr val="bg1"/>
          </a:solidFill>
          <a:ln w="6350">
            <a:solidFill>
              <a:srgbClr val="DDE5D6"/>
            </a:solidFill>
            <a:prstDash val="solid"/>
          </a:ln>
        </p:spPr>
      </p:sp>
      <p:pic>
        <p:nvPicPr>
          <p:cNvPr id="53" name="Image 10" descr="/home/user/ATL--DAKO/profile-daotao/assets/ai/biz4.png">    </p:cNvPr>
          <p:cNvPicPr>
            <a:picLocks noChangeAspect="1"/>
          </p:cNvPicPr>
          <p:nvPr/>
        </p:nvPicPr>
        <p:blipFill>
          <a:blip r:embed="rId11"/>
          <a:stretch>
            <a:fillRect/>
          </a:stretch>
        </p:blipFill>
        <p:spPr>
          <a:xfrm>
            <a:off x="5667451" y="5062540"/>
            <a:ext cx="526694" cy="207639"/>
          </a:xfrm>
          <a:prstGeom prst="rect">
            <a:avLst/>
          </a:prstGeom>
        </p:spPr>
      </p:pic>
      <p:sp>
        <p:nvSpPr>
          <p:cNvPr id="54" name="Shape 41"/>
          <p:cNvSpPr/>
          <p:nvPr/>
        </p:nvSpPr>
        <p:spPr>
          <a:xfrm>
            <a:off x="6294730" y="5001768"/>
            <a:ext cx="581558" cy="329184"/>
          </a:xfrm>
          <a:prstGeom prst="roundRect">
            <a:avLst>
              <a:gd name="adj" fmla="val 13889"/>
            </a:avLst>
          </a:prstGeom>
          <a:solidFill>
            <a:schemeClr val="bg1"/>
          </a:solidFill>
          <a:ln w="6350">
            <a:solidFill>
              <a:srgbClr val="DDE5D6"/>
            </a:solidFill>
            <a:prstDash val="solid"/>
          </a:ln>
        </p:spPr>
      </p:sp>
      <p:pic>
        <p:nvPicPr>
          <p:cNvPr id="55" name="Image 11" descr="/home/user/ATL--DAKO/profile-daotao/assets/ai/biz5.png">    </p:cNvPr>
          <p:cNvPicPr>
            <a:picLocks noChangeAspect="1"/>
          </p:cNvPicPr>
          <p:nvPr/>
        </p:nvPicPr>
        <p:blipFill>
          <a:blip r:embed="rId12"/>
          <a:stretch>
            <a:fillRect/>
          </a:stretch>
        </p:blipFill>
        <p:spPr>
          <a:xfrm>
            <a:off x="6322162" y="5062540"/>
            <a:ext cx="526694" cy="207639"/>
          </a:xfrm>
          <a:prstGeom prst="rect">
            <a:avLst/>
          </a:prstGeom>
        </p:spPr>
      </p:pic>
      <p:sp>
        <p:nvSpPr>
          <p:cNvPr id="56" name="Shape 42"/>
          <p:cNvSpPr/>
          <p:nvPr/>
        </p:nvSpPr>
        <p:spPr>
          <a:xfrm>
            <a:off x="548640" y="5605272"/>
            <a:ext cx="6464808" cy="2057400"/>
          </a:xfrm>
          <a:prstGeom prst="roundRect">
            <a:avLst>
              <a:gd name="adj" fmla="val 5333"/>
            </a:avLst>
          </a:prstGeom>
          <a:solidFill>
            <a:schemeClr val="bg2"/>
          </a:solidFill>
          <a:ln/>
          <a:effectLst>
            <a:outerShdw sx="100000" sy="100000" kx="0" ky="0" algn="bl" rotWithShape="0" blurRad="101600" dist="25400" dir="5400000">
              <a:srgbClr val="0B2A00">
                <a:alpha val="16000"/>
              </a:srgbClr>
            </a:outerShdw>
          </a:effectLst>
        </p:spPr>
      </p:sp>
      <p:sp>
        <p:nvSpPr>
          <p:cNvPr id="57" name="Shape 43"/>
          <p:cNvSpPr/>
          <p:nvPr/>
        </p:nvSpPr>
        <p:spPr>
          <a:xfrm>
            <a:off x="713232" y="5788152"/>
            <a:ext cx="475488" cy="475488"/>
          </a:xfrm>
          <a:prstGeom prst="ellipse">
            <a:avLst/>
          </a:prstGeom>
          <a:solidFill>
            <a:schemeClr val="accent1"/>
          </a:solidFill>
          <a:ln/>
        </p:spPr>
      </p:sp>
      <p:pic>
        <p:nvPicPr>
          <p:cNvPr id="58" name="Image 12" descr="preencoded.png">    </p:cNvPr>
          <p:cNvPicPr>
            <a:picLocks noChangeAspect="1"/>
          </p:cNvPicPr>
          <p:nvPr/>
        </p:nvPicPr>
        <p:blipFill>
          <a:blip r:embed="rId13"/>
          <a:stretch>
            <a:fillRect/>
          </a:stretch>
        </p:blipFill>
        <p:spPr>
          <a:xfrm>
            <a:off x="827349" y="5902269"/>
            <a:ext cx="247254" cy="247254"/>
          </a:xfrm>
          <a:prstGeom prst="rect">
            <a:avLst/>
          </a:prstGeom>
        </p:spPr>
      </p:pic>
      <p:sp>
        <p:nvSpPr>
          <p:cNvPr id="59" name="Text 44"/>
          <p:cNvSpPr txBox="1"/>
          <p:nvPr/>
        </p:nvSpPr>
        <p:spPr>
          <a:xfrm>
            <a:off x="1298448" y="5751576"/>
            <a:ext cx="2194560" cy="548640"/>
          </a:xfrm>
          <a:prstGeom prst="rect">
            <a:avLst/>
          </a:prstGeom>
          <a:noFill/>
          <a:ln/>
        </p:spPr>
        <p:txBody>
          <a:bodyPr wrap="square" lIns="0" tIns="0" rIns="0" bIns="0" rtlCol="0" anchor="ctr"/>
          <a:lstStyle/>
          <a:p>
            <a:pPr indent="0" marL="0">
              <a:lnSpc>
                <a:spcPct val="105000"/>
              </a:lnSpc>
              <a:buNone/>
            </a:pPr>
            <a:r>
              <a:rPr lang="en-US" sz="1100" b="1" spc="100" kern="0" dirty="0">
                <a:solidFill>
                  <a:schemeClr val="accent5"/>
                </a:solidFill>
              </a:rPr>
              <a:t>ĐÀO TẠO AI CHO</a:t>
            </a:r>
            <a:endParaRPr lang="en-US" sz="1400" dirty="0"/>
          </a:p>
          <a:p>
            <a:pPr indent="0" marL="0">
              <a:lnSpc>
                <a:spcPct val="105000"/>
              </a:lnSpc>
              <a:buNone/>
            </a:pPr>
            <a:r>
              <a:rPr lang="en-US" sz="1600" b="1" dirty="0">
                <a:solidFill>
                  <a:schemeClr val="tx2"/>
                </a:solidFill>
              </a:rPr>
              <a:t>ĐƠN VỊ GIÁO DỤC</a:t>
            </a:r>
            <a:endParaRPr lang="en-US" sz="1400" dirty="0"/>
          </a:p>
        </p:txBody>
      </p:sp>
      <p:sp>
        <p:nvSpPr>
          <p:cNvPr id="60" name="Text 45"/>
          <p:cNvSpPr txBox="1"/>
          <p:nvPr/>
        </p:nvSpPr>
        <p:spPr>
          <a:xfrm>
            <a:off x="713232" y="6391656"/>
            <a:ext cx="2788920" cy="118872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Chuẩn hóa năng lực số, đổi mới phương pháp giảng dạy cho hệ thống giáo dục.</a:t>
            </a:r>
            <a:endParaRPr lang="en-US" sz="1400" dirty="0"/>
          </a:p>
        </p:txBody>
      </p:sp>
      <p:sp>
        <p:nvSpPr>
          <p:cNvPr id="61" name="Shape 46"/>
          <p:cNvSpPr/>
          <p:nvPr/>
        </p:nvSpPr>
        <p:spPr>
          <a:xfrm>
            <a:off x="3675888" y="5788152"/>
            <a:ext cx="1201522" cy="310896"/>
          </a:xfrm>
          <a:prstGeom prst="roundRect">
            <a:avLst>
              <a:gd name="adj" fmla="val 50000"/>
            </a:avLst>
          </a:prstGeom>
          <a:solidFill>
            <a:schemeClr val="accent1"/>
          </a:solidFill>
          <a:ln/>
        </p:spPr>
      </p:sp>
      <p:sp>
        <p:nvSpPr>
          <p:cNvPr id="62" name="Text 47"/>
          <p:cNvSpPr txBox="1"/>
          <p:nvPr/>
        </p:nvSpPr>
        <p:spPr>
          <a:xfrm>
            <a:off x="3675888" y="5788152"/>
            <a:ext cx="1201522"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Ban giám hiệu</a:t>
            </a:r>
            <a:endParaRPr lang="en-US" sz="1300" dirty="0"/>
          </a:p>
        </p:txBody>
      </p:sp>
      <p:sp>
        <p:nvSpPr>
          <p:cNvPr id="63" name="Shape 48"/>
          <p:cNvSpPr/>
          <p:nvPr/>
        </p:nvSpPr>
        <p:spPr>
          <a:xfrm>
            <a:off x="4950562" y="5788152"/>
            <a:ext cx="1558138" cy="310896"/>
          </a:xfrm>
          <a:prstGeom prst="roundRect">
            <a:avLst>
              <a:gd name="adj" fmla="val 50000"/>
            </a:avLst>
          </a:prstGeom>
          <a:solidFill>
            <a:schemeClr val="accent1"/>
          </a:solidFill>
          <a:ln/>
        </p:spPr>
      </p:sp>
      <p:sp>
        <p:nvSpPr>
          <p:cNvPr id="64" name="Text 49"/>
          <p:cNvSpPr txBox="1"/>
          <p:nvPr/>
        </p:nvSpPr>
        <p:spPr>
          <a:xfrm>
            <a:off x="4950562" y="5788152"/>
            <a:ext cx="1558138"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Giảng viên đại học</a:t>
            </a:r>
            <a:endParaRPr lang="en-US" sz="1300" dirty="0"/>
          </a:p>
        </p:txBody>
      </p:sp>
      <p:sp>
        <p:nvSpPr>
          <p:cNvPr id="65" name="Shape 50"/>
          <p:cNvSpPr/>
          <p:nvPr/>
        </p:nvSpPr>
        <p:spPr>
          <a:xfrm>
            <a:off x="3675888" y="6172200"/>
            <a:ext cx="1486814" cy="310896"/>
          </a:xfrm>
          <a:prstGeom prst="roundRect">
            <a:avLst>
              <a:gd name="adj" fmla="val 50000"/>
            </a:avLst>
          </a:prstGeom>
          <a:solidFill>
            <a:schemeClr val="accent1"/>
          </a:solidFill>
          <a:ln/>
        </p:spPr>
      </p:sp>
      <p:sp>
        <p:nvSpPr>
          <p:cNvPr id="66" name="Text 51"/>
          <p:cNvSpPr txBox="1"/>
          <p:nvPr/>
        </p:nvSpPr>
        <p:spPr>
          <a:xfrm>
            <a:off x="3675888" y="6172200"/>
            <a:ext cx="1486814"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Giáo viên các cấp</a:t>
            </a:r>
            <a:endParaRPr lang="en-US" sz="1300" dirty="0"/>
          </a:p>
        </p:txBody>
      </p:sp>
      <p:sp>
        <p:nvSpPr>
          <p:cNvPr id="67" name="Shape 52"/>
          <p:cNvSpPr/>
          <p:nvPr/>
        </p:nvSpPr>
        <p:spPr>
          <a:xfrm>
            <a:off x="5235854" y="6172200"/>
            <a:ext cx="916229" cy="310896"/>
          </a:xfrm>
          <a:prstGeom prst="roundRect">
            <a:avLst>
              <a:gd name="adj" fmla="val 50000"/>
            </a:avLst>
          </a:prstGeom>
          <a:solidFill>
            <a:schemeClr val="accent1"/>
          </a:solidFill>
          <a:ln/>
        </p:spPr>
      </p:sp>
      <p:sp>
        <p:nvSpPr>
          <p:cNvPr id="68" name="Text 53"/>
          <p:cNvSpPr txBox="1"/>
          <p:nvPr/>
        </p:nvSpPr>
        <p:spPr>
          <a:xfrm>
            <a:off x="5235854" y="6172200"/>
            <a:ext cx="916229"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Sinh viên</a:t>
            </a:r>
            <a:endParaRPr lang="en-US" sz="1300" dirty="0"/>
          </a:p>
        </p:txBody>
      </p:sp>
      <p:sp>
        <p:nvSpPr>
          <p:cNvPr id="69" name="Shape 54"/>
          <p:cNvSpPr/>
          <p:nvPr/>
        </p:nvSpPr>
        <p:spPr>
          <a:xfrm>
            <a:off x="3675888" y="6556248"/>
            <a:ext cx="1415491" cy="310896"/>
          </a:xfrm>
          <a:prstGeom prst="roundRect">
            <a:avLst>
              <a:gd name="adj" fmla="val 50000"/>
            </a:avLst>
          </a:prstGeom>
          <a:solidFill>
            <a:schemeClr val="accent1"/>
          </a:solidFill>
          <a:ln/>
        </p:spPr>
      </p:sp>
      <p:sp>
        <p:nvSpPr>
          <p:cNvPr id="70" name="Text 55"/>
          <p:cNvSpPr txBox="1"/>
          <p:nvPr/>
        </p:nvSpPr>
        <p:spPr>
          <a:xfrm>
            <a:off x="3675888" y="6556248"/>
            <a:ext cx="1415491"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Học sinh các cấp</a:t>
            </a:r>
            <a:endParaRPr lang="en-US" sz="1300" dirty="0"/>
          </a:p>
        </p:txBody>
      </p:sp>
      <p:sp>
        <p:nvSpPr>
          <p:cNvPr id="71" name="Shape 56"/>
          <p:cNvSpPr/>
          <p:nvPr/>
        </p:nvSpPr>
        <p:spPr>
          <a:xfrm>
            <a:off x="5164531" y="6556248"/>
            <a:ext cx="1558138" cy="310896"/>
          </a:xfrm>
          <a:prstGeom prst="roundRect">
            <a:avLst>
              <a:gd name="adj" fmla="val 50000"/>
            </a:avLst>
          </a:prstGeom>
          <a:solidFill>
            <a:schemeClr val="accent1"/>
          </a:solidFill>
          <a:ln/>
        </p:spPr>
      </p:sp>
      <p:sp>
        <p:nvSpPr>
          <p:cNvPr id="72" name="Text 57"/>
          <p:cNvSpPr txBox="1"/>
          <p:nvPr/>
        </p:nvSpPr>
        <p:spPr>
          <a:xfrm>
            <a:off x="5164531" y="6556248"/>
            <a:ext cx="1558138"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Trung tâm giáo dục</a:t>
            </a:r>
            <a:endParaRPr lang="en-US" sz="1300" dirty="0"/>
          </a:p>
        </p:txBody>
      </p:sp>
      <p:sp>
        <p:nvSpPr>
          <p:cNvPr id="73" name="Shape 58"/>
          <p:cNvSpPr/>
          <p:nvPr/>
        </p:nvSpPr>
        <p:spPr>
          <a:xfrm>
            <a:off x="3675888" y="7187184"/>
            <a:ext cx="581558" cy="329184"/>
          </a:xfrm>
          <a:prstGeom prst="roundRect">
            <a:avLst>
              <a:gd name="adj" fmla="val 13889"/>
            </a:avLst>
          </a:prstGeom>
          <a:solidFill>
            <a:schemeClr val="bg1"/>
          </a:solidFill>
          <a:ln w="6350">
            <a:solidFill>
              <a:srgbClr val="DDE5D6"/>
            </a:solidFill>
            <a:prstDash val="solid"/>
          </a:ln>
        </p:spPr>
      </p:sp>
      <p:pic>
        <p:nvPicPr>
          <p:cNvPr id="74" name="Image 13" descr="/home/user/ATL--DAKO/profile-daotao/assets/ai/edu1.png">    </p:cNvPr>
          <p:cNvPicPr>
            <a:picLocks noChangeAspect="1"/>
          </p:cNvPicPr>
          <p:nvPr/>
        </p:nvPicPr>
        <p:blipFill>
          <a:blip r:embed="rId14"/>
          <a:stretch>
            <a:fillRect/>
          </a:stretch>
        </p:blipFill>
        <p:spPr>
          <a:xfrm>
            <a:off x="3703320" y="7247956"/>
            <a:ext cx="526694" cy="207639"/>
          </a:xfrm>
          <a:prstGeom prst="rect">
            <a:avLst/>
          </a:prstGeom>
        </p:spPr>
      </p:pic>
      <p:sp>
        <p:nvSpPr>
          <p:cNvPr id="75" name="Shape 59"/>
          <p:cNvSpPr/>
          <p:nvPr/>
        </p:nvSpPr>
        <p:spPr>
          <a:xfrm>
            <a:off x="4330598" y="7187184"/>
            <a:ext cx="581558" cy="329184"/>
          </a:xfrm>
          <a:prstGeom prst="roundRect">
            <a:avLst>
              <a:gd name="adj" fmla="val 13889"/>
            </a:avLst>
          </a:prstGeom>
          <a:solidFill>
            <a:schemeClr val="bg1"/>
          </a:solidFill>
          <a:ln w="6350">
            <a:solidFill>
              <a:srgbClr val="DDE5D6"/>
            </a:solidFill>
            <a:prstDash val="solid"/>
          </a:ln>
        </p:spPr>
      </p:sp>
      <p:pic>
        <p:nvPicPr>
          <p:cNvPr id="76" name="Image 14" descr="/home/user/ATL--DAKO/profile-daotao/assets/ai/edu2.png">    </p:cNvPr>
          <p:cNvPicPr>
            <a:picLocks noChangeAspect="1"/>
          </p:cNvPicPr>
          <p:nvPr/>
        </p:nvPicPr>
        <p:blipFill>
          <a:blip r:embed="rId15"/>
          <a:stretch>
            <a:fillRect/>
          </a:stretch>
        </p:blipFill>
        <p:spPr>
          <a:xfrm>
            <a:off x="4358030" y="7247956"/>
            <a:ext cx="526694" cy="207639"/>
          </a:xfrm>
          <a:prstGeom prst="rect">
            <a:avLst/>
          </a:prstGeom>
        </p:spPr>
      </p:pic>
      <p:sp>
        <p:nvSpPr>
          <p:cNvPr id="77" name="Shape 60"/>
          <p:cNvSpPr/>
          <p:nvPr/>
        </p:nvSpPr>
        <p:spPr>
          <a:xfrm>
            <a:off x="4985309" y="7187184"/>
            <a:ext cx="581558" cy="329184"/>
          </a:xfrm>
          <a:prstGeom prst="roundRect">
            <a:avLst>
              <a:gd name="adj" fmla="val 13889"/>
            </a:avLst>
          </a:prstGeom>
          <a:solidFill>
            <a:schemeClr val="bg1"/>
          </a:solidFill>
          <a:ln w="6350">
            <a:solidFill>
              <a:srgbClr val="DDE5D6"/>
            </a:solidFill>
            <a:prstDash val="solid"/>
          </a:ln>
        </p:spPr>
      </p:sp>
      <p:pic>
        <p:nvPicPr>
          <p:cNvPr id="78" name="Image 15" descr="/home/user/ATL--DAKO/profile-daotao/assets/ai/edu3.png">    </p:cNvPr>
          <p:cNvPicPr>
            <a:picLocks noChangeAspect="1"/>
          </p:cNvPicPr>
          <p:nvPr/>
        </p:nvPicPr>
        <p:blipFill>
          <a:blip r:embed="rId16"/>
          <a:stretch>
            <a:fillRect/>
          </a:stretch>
        </p:blipFill>
        <p:spPr>
          <a:xfrm>
            <a:off x="5012741" y="7247455"/>
            <a:ext cx="526694" cy="208642"/>
          </a:xfrm>
          <a:prstGeom prst="rect">
            <a:avLst/>
          </a:prstGeom>
        </p:spPr>
      </p:pic>
      <p:sp>
        <p:nvSpPr>
          <p:cNvPr id="79" name="Shape 61"/>
          <p:cNvSpPr/>
          <p:nvPr/>
        </p:nvSpPr>
        <p:spPr>
          <a:xfrm>
            <a:off x="5640019" y="7187184"/>
            <a:ext cx="581558" cy="329184"/>
          </a:xfrm>
          <a:prstGeom prst="roundRect">
            <a:avLst>
              <a:gd name="adj" fmla="val 13889"/>
            </a:avLst>
          </a:prstGeom>
          <a:solidFill>
            <a:schemeClr val="bg1"/>
          </a:solidFill>
          <a:ln w="6350">
            <a:solidFill>
              <a:srgbClr val="DDE5D6"/>
            </a:solidFill>
            <a:prstDash val="solid"/>
          </a:ln>
        </p:spPr>
      </p:sp>
      <p:pic>
        <p:nvPicPr>
          <p:cNvPr id="80" name="Image 16" descr="/home/user/ATL--DAKO/profile-daotao/assets/ai/edu4.png">    </p:cNvPr>
          <p:cNvPicPr>
            <a:picLocks noChangeAspect="1"/>
          </p:cNvPicPr>
          <p:nvPr/>
        </p:nvPicPr>
        <p:blipFill>
          <a:blip r:embed="rId17"/>
          <a:stretch>
            <a:fillRect/>
          </a:stretch>
        </p:blipFill>
        <p:spPr>
          <a:xfrm>
            <a:off x="5667451" y="7247956"/>
            <a:ext cx="526694" cy="207639"/>
          </a:xfrm>
          <a:prstGeom prst="rect">
            <a:avLst/>
          </a:prstGeom>
        </p:spPr>
      </p:pic>
      <p:sp>
        <p:nvSpPr>
          <p:cNvPr id="81" name="Shape 62"/>
          <p:cNvSpPr/>
          <p:nvPr/>
        </p:nvSpPr>
        <p:spPr>
          <a:xfrm>
            <a:off x="6294730" y="7187184"/>
            <a:ext cx="581558" cy="329184"/>
          </a:xfrm>
          <a:prstGeom prst="roundRect">
            <a:avLst>
              <a:gd name="adj" fmla="val 13889"/>
            </a:avLst>
          </a:prstGeom>
          <a:solidFill>
            <a:schemeClr val="bg1"/>
          </a:solidFill>
          <a:ln w="6350">
            <a:solidFill>
              <a:srgbClr val="DDE5D6"/>
            </a:solidFill>
            <a:prstDash val="solid"/>
          </a:ln>
        </p:spPr>
      </p:sp>
      <p:pic>
        <p:nvPicPr>
          <p:cNvPr id="82" name="Image 17" descr="/home/user/ATL--DAKO/profile-daotao/assets/ai/edu5.png">    </p:cNvPr>
          <p:cNvPicPr>
            <a:picLocks noChangeAspect="1"/>
          </p:cNvPicPr>
          <p:nvPr/>
        </p:nvPicPr>
        <p:blipFill>
          <a:blip r:embed="rId18"/>
          <a:stretch>
            <a:fillRect/>
          </a:stretch>
        </p:blipFill>
        <p:spPr>
          <a:xfrm>
            <a:off x="6322162" y="7247956"/>
            <a:ext cx="526694" cy="207639"/>
          </a:xfrm>
          <a:prstGeom prst="rect">
            <a:avLst/>
          </a:prstGeom>
        </p:spPr>
      </p:pic>
      <p:sp>
        <p:nvSpPr>
          <p:cNvPr id="83" name="Shape 63"/>
          <p:cNvSpPr/>
          <p:nvPr/>
        </p:nvSpPr>
        <p:spPr>
          <a:xfrm>
            <a:off x="548640" y="7790688"/>
            <a:ext cx="6464808" cy="2011680"/>
          </a:xfrm>
          <a:prstGeom prst="roundRect">
            <a:avLst>
              <a:gd name="adj" fmla="val 5455"/>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84" name="Shape 64"/>
          <p:cNvSpPr/>
          <p:nvPr/>
        </p:nvSpPr>
        <p:spPr>
          <a:xfrm>
            <a:off x="713232" y="7973568"/>
            <a:ext cx="475488" cy="475488"/>
          </a:xfrm>
          <a:prstGeom prst="ellipse">
            <a:avLst/>
          </a:prstGeom>
          <a:solidFill>
            <a:schemeClr val="accent1"/>
          </a:solidFill>
          <a:ln/>
        </p:spPr>
      </p:sp>
      <p:pic>
        <p:nvPicPr>
          <p:cNvPr id="85" name="Image 18" descr="preencoded.png">    </p:cNvPr>
          <p:cNvPicPr>
            <a:picLocks noChangeAspect="1"/>
          </p:cNvPicPr>
          <p:nvPr/>
        </p:nvPicPr>
        <p:blipFill>
          <a:blip r:embed="rId19"/>
          <a:stretch>
            <a:fillRect/>
          </a:stretch>
        </p:blipFill>
        <p:spPr>
          <a:xfrm>
            <a:off x="827349" y="8087685"/>
            <a:ext cx="247254" cy="247254"/>
          </a:xfrm>
          <a:prstGeom prst="rect">
            <a:avLst/>
          </a:prstGeom>
        </p:spPr>
      </p:pic>
      <p:sp>
        <p:nvSpPr>
          <p:cNvPr id="86" name="Text 65"/>
          <p:cNvSpPr txBox="1"/>
          <p:nvPr/>
        </p:nvSpPr>
        <p:spPr>
          <a:xfrm>
            <a:off x="1298448" y="7936992"/>
            <a:ext cx="2194560" cy="548640"/>
          </a:xfrm>
          <a:prstGeom prst="rect">
            <a:avLst/>
          </a:prstGeom>
          <a:noFill/>
          <a:ln/>
        </p:spPr>
        <p:txBody>
          <a:bodyPr wrap="square" lIns="0" tIns="0" rIns="0" bIns="0" rtlCol="0" anchor="ctr"/>
          <a:lstStyle/>
          <a:p>
            <a:pPr indent="0" marL="0">
              <a:lnSpc>
                <a:spcPct val="105000"/>
              </a:lnSpc>
              <a:buNone/>
            </a:pPr>
            <a:r>
              <a:rPr lang="en-US" sz="1100" b="1" spc="100" kern="0" dirty="0">
                <a:solidFill>
                  <a:schemeClr val="accent5"/>
                </a:solidFill>
              </a:rPr>
              <a:t>ĐÀO TẠO AI CHO</a:t>
            </a:r>
            <a:endParaRPr lang="en-US" sz="1400" dirty="0"/>
          </a:p>
          <a:p>
            <a:pPr indent="0" marL="0">
              <a:lnSpc>
                <a:spcPct val="105000"/>
              </a:lnSpc>
              <a:buNone/>
            </a:pPr>
            <a:r>
              <a:rPr lang="en-US" sz="1600" b="1" dirty="0">
                <a:solidFill>
                  <a:schemeClr val="tx2"/>
                </a:solidFill>
              </a:rPr>
              <a:t>CÁ NHÂN</a:t>
            </a:r>
            <a:endParaRPr lang="en-US" sz="1400" dirty="0"/>
          </a:p>
        </p:txBody>
      </p:sp>
      <p:sp>
        <p:nvSpPr>
          <p:cNvPr id="87" name="Text 66"/>
          <p:cNvSpPr txBox="1"/>
          <p:nvPr/>
        </p:nvSpPr>
        <p:spPr>
          <a:xfrm>
            <a:off x="713232" y="8577072"/>
            <a:ext cx="2788920" cy="114300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Biến AI thành “trợ lý đắc lực” giúp bứt phá năng suất gấp nhiều lần trong công việc, giảng dạy, học tập và đời sống.</a:t>
            </a:r>
            <a:endParaRPr lang="en-US" sz="1400" dirty="0"/>
          </a:p>
        </p:txBody>
      </p:sp>
      <p:sp>
        <p:nvSpPr>
          <p:cNvPr id="88" name="Shape 67"/>
          <p:cNvSpPr/>
          <p:nvPr/>
        </p:nvSpPr>
        <p:spPr>
          <a:xfrm>
            <a:off x="3675888" y="7973568"/>
            <a:ext cx="1415491" cy="310896"/>
          </a:xfrm>
          <a:prstGeom prst="roundRect">
            <a:avLst>
              <a:gd name="adj" fmla="val 50000"/>
            </a:avLst>
          </a:prstGeom>
          <a:solidFill>
            <a:schemeClr val="accent1"/>
          </a:solidFill>
          <a:ln/>
        </p:spPr>
      </p:sp>
      <p:sp>
        <p:nvSpPr>
          <p:cNvPr id="89" name="Text 68"/>
          <p:cNvSpPr txBox="1"/>
          <p:nvPr/>
        </p:nvSpPr>
        <p:spPr>
          <a:xfrm>
            <a:off x="3675888" y="7973568"/>
            <a:ext cx="1415491"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cho mọi người</a:t>
            </a:r>
            <a:endParaRPr lang="en-US" sz="1300" dirty="0"/>
          </a:p>
        </p:txBody>
      </p:sp>
      <p:sp>
        <p:nvSpPr>
          <p:cNvPr id="90" name="Shape 69"/>
          <p:cNvSpPr/>
          <p:nvPr/>
        </p:nvSpPr>
        <p:spPr>
          <a:xfrm>
            <a:off x="5164531" y="7973568"/>
            <a:ext cx="1629461" cy="310896"/>
          </a:xfrm>
          <a:prstGeom prst="roundRect">
            <a:avLst>
              <a:gd name="adj" fmla="val 50000"/>
            </a:avLst>
          </a:prstGeom>
          <a:solidFill>
            <a:schemeClr val="accent1"/>
          </a:solidFill>
          <a:ln/>
        </p:spPr>
      </p:sp>
      <p:sp>
        <p:nvSpPr>
          <p:cNvPr id="91" name="Text 70"/>
          <p:cNvSpPr txBox="1"/>
          <p:nvPr/>
        </p:nvSpPr>
        <p:spPr>
          <a:xfrm>
            <a:off x="5164531" y="7973568"/>
            <a:ext cx="1629461"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cho nhà lãnh đạo</a:t>
            </a:r>
            <a:endParaRPr lang="en-US" sz="1300" dirty="0"/>
          </a:p>
        </p:txBody>
      </p:sp>
      <p:sp>
        <p:nvSpPr>
          <p:cNvPr id="92" name="Shape 71"/>
          <p:cNvSpPr/>
          <p:nvPr/>
        </p:nvSpPr>
        <p:spPr>
          <a:xfrm>
            <a:off x="3675888" y="8357616"/>
            <a:ext cx="1415491" cy="310896"/>
          </a:xfrm>
          <a:prstGeom prst="roundRect">
            <a:avLst>
              <a:gd name="adj" fmla="val 50000"/>
            </a:avLst>
          </a:prstGeom>
          <a:solidFill>
            <a:schemeClr val="accent1"/>
          </a:solidFill>
          <a:ln/>
        </p:spPr>
      </p:sp>
      <p:sp>
        <p:nvSpPr>
          <p:cNvPr id="93" name="Text 72"/>
          <p:cNvSpPr txBox="1"/>
          <p:nvPr/>
        </p:nvSpPr>
        <p:spPr>
          <a:xfrm>
            <a:off x="3675888" y="8357616"/>
            <a:ext cx="1415491"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Xây dựng Chatbot</a:t>
            </a:r>
            <a:endParaRPr lang="en-US" sz="1300" dirty="0"/>
          </a:p>
        </p:txBody>
      </p:sp>
      <p:sp>
        <p:nvSpPr>
          <p:cNvPr id="94" name="Shape 73"/>
          <p:cNvSpPr/>
          <p:nvPr/>
        </p:nvSpPr>
        <p:spPr>
          <a:xfrm>
            <a:off x="5164531" y="8357616"/>
            <a:ext cx="1201522" cy="310896"/>
          </a:xfrm>
          <a:prstGeom prst="roundRect">
            <a:avLst>
              <a:gd name="adj" fmla="val 50000"/>
            </a:avLst>
          </a:prstGeom>
          <a:solidFill>
            <a:schemeClr val="accent1"/>
          </a:solidFill>
          <a:ln/>
        </p:spPr>
      </p:sp>
      <p:sp>
        <p:nvSpPr>
          <p:cNvPr id="95" name="Text 74"/>
          <p:cNvSpPr txBox="1"/>
          <p:nvPr/>
        </p:nvSpPr>
        <p:spPr>
          <a:xfrm>
            <a:off x="5164531" y="8357616"/>
            <a:ext cx="1201522"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Automation</a:t>
            </a:r>
            <a:endParaRPr lang="en-US" sz="1300" dirty="0"/>
          </a:p>
        </p:txBody>
      </p:sp>
      <p:sp>
        <p:nvSpPr>
          <p:cNvPr id="96" name="Shape 75"/>
          <p:cNvSpPr/>
          <p:nvPr/>
        </p:nvSpPr>
        <p:spPr>
          <a:xfrm>
            <a:off x="3675888" y="8741664"/>
            <a:ext cx="1058875" cy="310896"/>
          </a:xfrm>
          <a:prstGeom prst="roundRect">
            <a:avLst>
              <a:gd name="adj" fmla="val 50000"/>
            </a:avLst>
          </a:prstGeom>
          <a:solidFill>
            <a:schemeClr val="accent1"/>
          </a:solidFill>
          <a:ln/>
        </p:spPr>
      </p:sp>
      <p:sp>
        <p:nvSpPr>
          <p:cNvPr id="97" name="Text 76"/>
          <p:cNvSpPr txBox="1"/>
          <p:nvPr/>
        </p:nvSpPr>
        <p:spPr>
          <a:xfrm>
            <a:off x="3675888" y="8741664"/>
            <a:ext cx="1058875"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Vibe Coding</a:t>
            </a:r>
            <a:endParaRPr lang="en-US" sz="1300" dirty="0"/>
          </a:p>
        </p:txBody>
      </p:sp>
      <p:sp>
        <p:nvSpPr>
          <p:cNvPr id="98" name="Shape 77"/>
          <p:cNvSpPr/>
          <p:nvPr/>
        </p:nvSpPr>
        <p:spPr>
          <a:xfrm>
            <a:off x="4807915" y="8741664"/>
            <a:ext cx="916229" cy="310896"/>
          </a:xfrm>
          <a:prstGeom prst="roundRect">
            <a:avLst>
              <a:gd name="adj" fmla="val 50000"/>
            </a:avLst>
          </a:prstGeom>
          <a:solidFill>
            <a:schemeClr val="accent1"/>
          </a:solidFill>
          <a:ln/>
        </p:spPr>
      </p:sp>
      <p:sp>
        <p:nvSpPr>
          <p:cNvPr id="99" name="Text 78"/>
          <p:cNvSpPr txBox="1"/>
          <p:nvPr/>
        </p:nvSpPr>
        <p:spPr>
          <a:xfrm>
            <a:off x="4807915" y="8741664"/>
            <a:ext cx="916229"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cho HR</a:t>
            </a:r>
            <a:endParaRPr lang="en-US" sz="1300" dirty="0"/>
          </a:p>
        </p:txBody>
      </p:sp>
      <p:sp>
        <p:nvSpPr>
          <p:cNvPr id="100" name="Shape 79"/>
          <p:cNvSpPr/>
          <p:nvPr/>
        </p:nvSpPr>
        <p:spPr>
          <a:xfrm>
            <a:off x="3675888" y="9125712"/>
            <a:ext cx="1486814" cy="310896"/>
          </a:xfrm>
          <a:prstGeom prst="roundRect">
            <a:avLst>
              <a:gd name="adj" fmla="val 50000"/>
            </a:avLst>
          </a:prstGeom>
          <a:solidFill>
            <a:schemeClr val="accent1"/>
          </a:solidFill>
          <a:ln/>
        </p:spPr>
      </p:sp>
      <p:sp>
        <p:nvSpPr>
          <p:cNvPr id="101" name="Text 80"/>
          <p:cNvSpPr txBox="1"/>
          <p:nvPr/>
        </p:nvSpPr>
        <p:spPr>
          <a:xfrm>
            <a:off x="3675888" y="9125712"/>
            <a:ext cx="1486814"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sản xuất Media</a:t>
            </a:r>
            <a:endParaRPr lang="en-US" sz="1300" dirty="0"/>
          </a:p>
        </p:txBody>
      </p:sp>
      <p:sp>
        <p:nvSpPr>
          <p:cNvPr id="102" name="Shape 81"/>
          <p:cNvSpPr/>
          <p:nvPr/>
        </p:nvSpPr>
        <p:spPr>
          <a:xfrm>
            <a:off x="5235854" y="9125712"/>
            <a:ext cx="1415491" cy="310896"/>
          </a:xfrm>
          <a:prstGeom prst="roundRect">
            <a:avLst>
              <a:gd name="adj" fmla="val 50000"/>
            </a:avLst>
          </a:prstGeom>
          <a:solidFill>
            <a:schemeClr val="accent1"/>
          </a:solidFill>
          <a:ln/>
        </p:spPr>
      </p:sp>
      <p:sp>
        <p:nvSpPr>
          <p:cNvPr id="103" name="Text 82"/>
          <p:cNvSpPr txBox="1"/>
          <p:nvPr/>
        </p:nvSpPr>
        <p:spPr>
          <a:xfrm>
            <a:off x="5235854" y="9125712"/>
            <a:ext cx="1415491"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cho Giảng dạy</a:t>
            </a:r>
            <a:endParaRPr lang="en-US" sz="1300" dirty="0"/>
          </a:p>
        </p:txBody>
      </p:sp>
      <p:sp>
        <p:nvSpPr>
          <p:cNvPr id="104" name="Shape 83"/>
          <p:cNvSpPr/>
          <p:nvPr/>
        </p:nvSpPr>
        <p:spPr>
          <a:xfrm>
            <a:off x="3675888" y="9509760"/>
            <a:ext cx="1201522" cy="310896"/>
          </a:xfrm>
          <a:prstGeom prst="roundRect">
            <a:avLst>
              <a:gd name="adj" fmla="val 50000"/>
            </a:avLst>
          </a:prstGeom>
          <a:solidFill>
            <a:schemeClr val="accent1"/>
          </a:solidFill>
          <a:ln/>
        </p:spPr>
      </p:sp>
      <p:sp>
        <p:nvSpPr>
          <p:cNvPr id="105" name="Text 84"/>
          <p:cNvSpPr txBox="1"/>
          <p:nvPr/>
        </p:nvSpPr>
        <p:spPr>
          <a:xfrm>
            <a:off x="3675888" y="9509760"/>
            <a:ext cx="1201522" cy="310896"/>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AI cho trẻ em</a:t>
            </a:r>
            <a:endParaRPr lang="en-US" sz="13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04 · CHƯƠNG TRÌNH CHUYÊN SÂU</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AI CHO KHỐI HÀNH CHÍNH</a:t>
            </a:r>
            <a:endParaRPr lang="en-US" sz="2800" dirty="0"/>
          </a:p>
        </p:txBody>
      </p:sp>
      <p:sp>
        <p:nvSpPr>
          <p:cNvPr id="4" name="Text 2"/>
          <p:cNvSpPr txBox="1"/>
          <p:nvPr/>
        </p:nvSpPr>
        <p:spPr>
          <a:xfrm>
            <a:off x="548640" y="1243584"/>
            <a:ext cx="6464808" cy="54864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Ứng dụng Trí tuệ nhân tạo trong công tác văn phòng – hành chính</a:t>
            </a:r>
            <a:endParaRPr lang="en-US" sz="1400" dirty="0"/>
          </a:p>
          <a:p>
            <a:pPr indent="0" marL="0">
              <a:lnSpc>
                <a:spcPct val="105000"/>
              </a:lnSpc>
              <a:buNone/>
            </a:pPr>
            <a:r>
              <a:rPr lang="en-US" sz="1400" i="1" dirty="0">
                <a:solidFill>
                  <a:schemeClr val="accent5"/>
                </a:solidFill>
              </a:rPr>
              <a:t>Dành cho cán bộ, công chức, viên chức các cơ quan hành chính nhà nước các cấp</a:t>
            </a:r>
            <a:endParaRPr lang="en-US" sz="1400" dirty="0"/>
          </a:p>
        </p:txBody>
      </p:sp>
      <p:sp>
        <p:nvSpPr>
          <p:cNvPr id="5" name="Shape 3"/>
          <p:cNvSpPr/>
          <p:nvPr/>
        </p:nvSpPr>
        <p:spPr>
          <a:xfrm>
            <a:off x="548640" y="1920240"/>
            <a:ext cx="6464808" cy="1572768"/>
          </a:xfrm>
          <a:prstGeom prst="roundRect">
            <a:avLst>
              <a:gd name="adj" fmla="val 6977"/>
            </a:avLst>
          </a:prstGeom>
          <a:solidFill>
            <a:schemeClr val="tx2"/>
          </a:solidFill>
          <a:ln/>
          <a:effectLst>
            <a:outerShdw sx="100000" sy="100000" kx="0" ky="0" algn="bl" rotWithShape="0" blurRad="101600" dist="25400" dir="5400000">
              <a:srgbClr val="0B2A00">
                <a:alpha val="16000"/>
              </a:srgbClr>
            </a:outerShdw>
          </a:effectLst>
        </p:spPr>
      </p:sp>
      <p:sp>
        <p:nvSpPr>
          <p:cNvPr id="6" name="Shape 4"/>
          <p:cNvSpPr/>
          <p:nvPr/>
        </p:nvSpPr>
        <p:spPr>
          <a:xfrm>
            <a:off x="777240" y="2286000"/>
            <a:ext cx="777240" cy="77724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63778" y="2472538"/>
            <a:ext cx="404165" cy="404165"/>
          </a:xfrm>
          <a:prstGeom prst="rect">
            <a:avLst/>
          </a:prstGeom>
        </p:spPr>
      </p:pic>
      <p:sp>
        <p:nvSpPr>
          <p:cNvPr id="8" name="Text 5"/>
          <p:cNvSpPr txBox="1"/>
          <p:nvPr/>
        </p:nvSpPr>
        <p:spPr>
          <a:xfrm>
            <a:off x="1737360" y="2011680"/>
            <a:ext cx="5029200" cy="256032"/>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2"/>
                </a:solidFill>
              </a:rPr>
              <a:t>ĐIỂM NỔI BẬT</a:t>
            </a:r>
            <a:endParaRPr lang="en-US" sz="1200" dirty="0"/>
          </a:p>
        </p:txBody>
      </p:sp>
      <p:sp>
        <p:nvSpPr>
          <p:cNvPr id="9" name="Text 6"/>
          <p:cNvSpPr txBox="1"/>
          <p:nvPr/>
        </p:nvSpPr>
        <p:spPr>
          <a:xfrm>
            <a:off x="1737360" y="2267712"/>
            <a:ext cx="5120640" cy="566928"/>
          </a:xfrm>
          <a:prstGeom prst="rect">
            <a:avLst/>
          </a:prstGeom>
          <a:noFill/>
          <a:ln/>
        </p:spPr>
        <p:txBody>
          <a:bodyPr wrap="square" lIns="0" tIns="0" rIns="0" bIns="0" rtlCol="0" anchor="t"/>
          <a:lstStyle/>
          <a:p>
            <a:pPr indent="0" marL="0">
              <a:lnSpc>
                <a:spcPct val="105000"/>
              </a:lnSpc>
              <a:buNone/>
            </a:pPr>
            <a:r>
              <a:rPr lang="en-US" sz="1700" b="1" dirty="0">
                <a:solidFill>
                  <a:schemeClr val="bg1"/>
                </a:solidFill>
              </a:rPr>
              <a:t>Chương trình đào tạo được thiết kế riêng </a:t>
            </a:r>
            <a:pPr indent="0" marL="0">
              <a:lnSpc>
                <a:spcPct val="105000"/>
              </a:lnSpc>
              <a:buNone/>
            </a:pPr>
            <a:r>
              <a:rPr lang="en-US" sz="1700" b="1" dirty="0">
                <a:solidFill>
                  <a:schemeClr val="accent2"/>
                </a:solidFill>
              </a:rPr>
              <a:t>theo nghiệp vụ của từng cơ quan, đơn vị</a:t>
            </a:r>
            <a:endParaRPr lang="en-US" sz="1700" dirty="0"/>
          </a:p>
        </p:txBody>
      </p:sp>
      <p:sp>
        <p:nvSpPr>
          <p:cNvPr id="10" name="Text 7"/>
          <p:cNvSpPr txBox="1"/>
          <p:nvPr/>
        </p:nvSpPr>
        <p:spPr>
          <a:xfrm>
            <a:off x="1737360" y="2834640"/>
            <a:ext cx="5166360" cy="603504"/>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Thực hành trên chính tác vụ hằng ngày của đơn vị: văn bản, báo cáo, thủ tục hành chính, cuộc họp – học đến đâu, làm được đến đó.</a:t>
            </a:r>
            <a:endParaRPr lang="en-US" sz="1400" dirty="0"/>
          </a:p>
        </p:txBody>
      </p:sp>
      <p:sp>
        <p:nvSpPr>
          <p:cNvPr id="11" name="Text 8"/>
          <p:cNvSpPr txBox="1"/>
          <p:nvPr/>
        </p:nvSpPr>
        <p:spPr>
          <a:xfrm>
            <a:off x="548640" y="3657600"/>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MỤC TIÊU CỦA CHƯƠNG TRÌNH</a:t>
            </a:r>
            <a:endParaRPr lang="en-US" sz="1600" dirty="0"/>
          </a:p>
        </p:txBody>
      </p:sp>
      <p:sp>
        <p:nvSpPr>
          <p:cNvPr id="12" name="Shape 9"/>
          <p:cNvSpPr/>
          <p:nvPr/>
        </p:nvSpPr>
        <p:spPr>
          <a:xfrm>
            <a:off x="548640" y="4041648"/>
            <a:ext cx="1261872" cy="1371600"/>
          </a:xfrm>
          <a:prstGeom prst="roundRect">
            <a:avLst>
              <a:gd name="adj" fmla="val 8696"/>
            </a:avLst>
          </a:prstGeom>
          <a:solidFill>
            <a:schemeClr val="bg2"/>
          </a:solidFill>
          <a:ln w="9525">
            <a:solidFill>
              <a:schemeClr val="accent3"/>
            </a:solidFill>
            <a:prstDash val="solid"/>
          </a:ln>
        </p:spPr>
      </p:sp>
      <p:sp>
        <p:nvSpPr>
          <p:cNvPr id="13" name="Text 10"/>
          <p:cNvSpPr txBox="1"/>
          <p:nvPr/>
        </p:nvSpPr>
        <p:spPr>
          <a:xfrm>
            <a:off x="548640" y="4114800"/>
            <a:ext cx="1261872" cy="566928"/>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1"/>
                </a:solidFill>
              </a:rPr>
              <a:t>30%</a:t>
            </a:r>
            <a:endParaRPr lang="en-US" sz="3000" dirty="0"/>
          </a:p>
        </p:txBody>
      </p:sp>
      <p:sp>
        <p:nvSpPr>
          <p:cNvPr id="14" name="Text 11"/>
          <p:cNvSpPr txBox="1"/>
          <p:nvPr/>
        </p:nvSpPr>
        <p:spPr>
          <a:xfrm>
            <a:off x="603504" y="4663440"/>
            <a:ext cx="1152144" cy="694944"/>
          </a:xfrm>
          <a:prstGeom prst="rect">
            <a:avLst/>
          </a:prstGeom>
          <a:noFill/>
          <a:ln/>
        </p:spPr>
        <p:txBody>
          <a:bodyPr wrap="square" lIns="0" tIns="0" rIns="0" bIns="0" rtlCol="0" anchor="t"/>
          <a:lstStyle/>
          <a:p>
            <a:pPr algn="ctr" indent="0" marL="0">
              <a:lnSpc>
                <a:spcPct val="105000"/>
              </a:lnSpc>
              <a:buNone/>
            </a:pPr>
            <a:r>
              <a:rPr lang="en-US" sz="1400" b="1" dirty="0">
                <a:solidFill>
                  <a:schemeClr val="accent1"/>
                </a:solidFill>
              </a:rPr>
              <a:t>Kiến thức nền tảng</a:t>
            </a:r>
            <a:endParaRPr lang="en-US" sz="1400" dirty="0"/>
          </a:p>
        </p:txBody>
      </p:sp>
      <p:sp>
        <p:nvSpPr>
          <p:cNvPr id="15" name="Shape 12"/>
          <p:cNvSpPr/>
          <p:nvPr/>
        </p:nvSpPr>
        <p:spPr>
          <a:xfrm>
            <a:off x="1920240" y="4041648"/>
            <a:ext cx="1261872" cy="1371600"/>
          </a:xfrm>
          <a:prstGeom prst="roundRect">
            <a:avLst>
              <a:gd name="adj" fmla="val 8696"/>
            </a:avLst>
          </a:prstGeom>
          <a:solidFill>
            <a:schemeClr val="accent1"/>
          </a:solidFill>
          <a:ln w="9525">
            <a:solidFill>
              <a:schemeClr val="accent3"/>
            </a:solidFill>
            <a:prstDash val="solid"/>
          </a:ln>
        </p:spPr>
      </p:sp>
      <p:sp>
        <p:nvSpPr>
          <p:cNvPr id="16" name="Text 13"/>
          <p:cNvSpPr txBox="1"/>
          <p:nvPr/>
        </p:nvSpPr>
        <p:spPr>
          <a:xfrm>
            <a:off x="1920240" y="4114800"/>
            <a:ext cx="1261872" cy="566928"/>
          </a:xfrm>
          <a:prstGeom prst="rect">
            <a:avLst/>
          </a:prstGeom>
          <a:noFill/>
          <a:ln/>
        </p:spPr>
        <p:txBody>
          <a:bodyPr wrap="square" lIns="0" tIns="0" rIns="0" bIns="0" rtlCol="0" anchor="ctr"/>
          <a:lstStyle/>
          <a:p>
            <a:pPr algn="ctr" indent="0" marL="0">
              <a:lnSpc>
                <a:spcPct val="105000"/>
              </a:lnSpc>
              <a:buNone/>
            </a:pPr>
            <a:r>
              <a:rPr lang="en-US" sz="3000" b="1" dirty="0">
                <a:solidFill>
                  <a:schemeClr val="bg1"/>
                </a:solidFill>
              </a:rPr>
              <a:t>70%</a:t>
            </a:r>
            <a:endParaRPr lang="en-US" sz="3000" dirty="0"/>
          </a:p>
        </p:txBody>
      </p:sp>
      <p:sp>
        <p:nvSpPr>
          <p:cNvPr id="17" name="Text 14"/>
          <p:cNvSpPr txBox="1"/>
          <p:nvPr/>
        </p:nvSpPr>
        <p:spPr>
          <a:xfrm>
            <a:off x="1975104" y="4663440"/>
            <a:ext cx="1152144" cy="694944"/>
          </a:xfrm>
          <a:prstGeom prst="rect">
            <a:avLst/>
          </a:prstGeom>
          <a:noFill/>
          <a:ln/>
        </p:spPr>
        <p:txBody>
          <a:bodyPr wrap="square" lIns="0" tIns="0" rIns="0" bIns="0" rtlCol="0" anchor="t"/>
          <a:lstStyle/>
          <a:p>
            <a:pPr algn="ctr" indent="0" marL="0">
              <a:lnSpc>
                <a:spcPct val="105000"/>
              </a:lnSpc>
              <a:buNone/>
            </a:pPr>
            <a:r>
              <a:rPr lang="en-US" sz="1400" b="1" dirty="0">
                <a:solidFill>
                  <a:schemeClr val="bg1"/>
                </a:solidFill>
              </a:rPr>
              <a:t>Thực hành nghiệp vụ thực tế</a:t>
            </a:r>
            <a:endParaRPr lang="en-US" sz="1400" dirty="0"/>
          </a:p>
        </p:txBody>
      </p:sp>
      <p:sp>
        <p:nvSpPr>
          <p:cNvPr id="18" name="Text 15"/>
          <p:cNvSpPr txBox="1"/>
          <p:nvPr/>
        </p:nvSpPr>
        <p:spPr>
          <a:xfrm>
            <a:off x="3401568" y="4041648"/>
            <a:ext cx="3611880" cy="1371600"/>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Học đến đâu – làm được đến đó. </a:t>
            </a:r>
            <a:pPr indent="0" marL="0">
              <a:lnSpc>
                <a:spcPct val="105000"/>
              </a:lnSpc>
              <a:buNone/>
            </a:pPr>
            <a:r>
              <a:rPr lang="en-US" sz="1400" dirty="0">
                <a:solidFill>
                  <a:schemeClr val="tx1"/>
                </a:solidFill>
              </a:rPr>
              <a:t>Người học biết giao việc cho AI, chỉ dùng dữ liệu được phép và kiểm chứng kết quả trước khi trình ký – </a:t>
            </a:r>
            <a:pPr indent="0" marL="0">
              <a:lnSpc>
                <a:spcPct val="105000"/>
              </a:lnSpc>
              <a:buNone/>
            </a:pPr>
            <a:r>
              <a:rPr lang="en-US" sz="1400" b="1" dirty="0">
                <a:solidFill>
                  <a:schemeClr val="tx2"/>
                </a:solidFill>
              </a:rPr>
              <a:t>AI hỗ trợ, cán bộ chịu trách nhiệm.</a:t>
            </a:r>
            <a:endParaRPr lang="en-US" sz="1400" dirty="0"/>
          </a:p>
        </p:txBody>
      </p:sp>
      <p:sp>
        <p:nvSpPr>
          <p:cNvPr id="19" name="Text 16"/>
          <p:cNvSpPr txBox="1"/>
          <p:nvPr/>
        </p:nvSpPr>
        <p:spPr>
          <a:xfrm>
            <a:off x="548640" y="5596128"/>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NGƯỜI HỌC SẼ ĐẠT ĐƯỢC</a:t>
            </a:r>
            <a:endParaRPr lang="en-US" sz="1600" dirty="0"/>
          </a:p>
        </p:txBody>
      </p:sp>
      <p:sp>
        <p:nvSpPr>
          <p:cNvPr id="20" name="Shape 17"/>
          <p:cNvSpPr/>
          <p:nvPr/>
        </p:nvSpPr>
        <p:spPr>
          <a:xfrm>
            <a:off x="548640" y="5961888"/>
            <a:ext cx="6464808" cy="512064"/>
          </a:xfrm>
          <a:prstGeom prst="roundRect">
            <a:avLst>
              <a:gd name="adj" fmla="val 14286"/>
            </a:avLst>
          </a:prstGeom>
          <a:solidFill>
            <a:schemeClr val="bg2"/>
          </a:solidFill>
          <a:ln/>
        </p:spPr>
      </p:sp>
      <p:pic>
        <p:nvPicPr>
          <p:cNvPr id="21" name="Image 1" descr="preencoded.png">    </p:cNvPr>
          <p:cNvPicPr>
            <a:picLocks noChangeAspect="1"/>
          </p:cNvPicPr>
          <p:nvPr/>
        </p:nvPicPr>
        <p:blipFill>
          <a:blip r:embed="rId2"/>
          <a:stretch>
            <a:fillRect/>
          </a:stretch>
        </p:blipFill>
        <p:spPr>
          <a:xfrm>
            <a:off x="676656" y="6099048"/>
            <a:ext cx="237744" cy="237744"/>
          </a:xfrm>
          <a:prstGeom prst="rect">
            <a:avLst/>
          </a:prstGeom>
        </p:spPr>
      </p:pic>
      <p:sp>
        <p:nvSpPr>
          <p:cNvPr id="22" name="Text 18"/>
          <p:cNvSpPr txBox="1"/>
          <p:nvPr/>
        </p:nvSpPr>
        <p:spPr>
          <a:xfrm>
            <a:off x="1005840" y="5971032"/>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Sử dụng AI an toàn, đúng quy định: </a:t>
            </a:r>
            <a:pPr indent="0" marL="0">
              <a:lnSpc>
                <a:spcPct val="105000"/>
              </a:lnSpc>
              <a:buNone/>
            </a:pPr>
            <a:r>
              <a:rPr lang="en-US" sz="1400" dirty="0">
                <a:solidFill>
                  <a:schemeClr val="tx1"/>
                </a:solidFill>
              </a:rPr>
              <a:t>không đưa bí mật nhà nước, dữ liệu cá nhân lên AI công cộng; kiểm chứng kết quả trước khi dùng.</a:t>
            </a:r>
            <a:endParaRPr lang="en-US" sz="1400" dirty="0"/>
          </a:p>
        </p:txBody>
      </p:sp>
      <p:sp>
        <p:nvSpPr>
          <p:cNvPr id="23" name="Shape 19"/>
          <p:cNvSpPr/>
          <p:nvPr/>
        </p:nvSpPr>
        <p:spPr>
          <a:xfrm>
            <a:off x="548640" y="6537960"/>
            <a:ext cx="6464808" cy="512064"/>
          </a:xfrm>
          <a:prstGeom prst="roundRect">
            <a:avLst>
              <a:gd name="adj" fmla="val 14286"/>
            </a:avLst>
          </a:prstGeom>
          <a:solidFill>
            <a:schemeClr val="bg1"/>
          </a:solidFill>
          <a:ln w="6350">
            <a:solidFill>
              <a:srgbClr val="E1EADB"/>
            </a:solidFill>
            <a:prstDash val="solid"/>
          </a:ln>
        </p:spPr>
      </p:sp>
      <p:pic>
        <p:nvPicPr>
          <p:cNvPr id="24" name="Image 2" descr="preencoded.png">    </p:cNvPr>
          <p:cNvPicPr>
            <a:picLocks noChangeAspect="1"/>
          </p:cNvPicPr>
          <p:nvPr/>
        </p:nvPicPr>
        <p:blipFill>
          <a:blip r:embed="rId3"/>
          <a:stretch>
            <a:fillRect/>
          </a:stretch>
        </p:blipFill>
        <p:spPr>
          <a:xfrm>
            <a:off x="676656" y="6675120"/>
            <a:ext cx="237744" cy="237744"/>
          </a:xfrm>
          <a:prstGeom prst="rect">
            <a:avLst/>
          </a:prstGeom>
        </p:spPr>
      </p:pic>
      <p:sp>
        <p:nvSpPr>
          <p:cNvPr id="25" name="Text 20"/>
          <p:cNvSpPr txBox="1"/>
          <p:nvPr/>
        </p:nvSpPr>
        <p:spPr>
          <a:xfrm>
            <a:off x="1005840" y="6547104"/>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Soạn thảo văn bản hành chính với AI </a:t>
            </a:r>
            <a:pPr indent="0" marL="0">
              <a:lnSpc>
                <a:spcPct val="105000"/>
              </a:lnSpc>
              <a:buNone/>
            </a:pPr>
            <a:r>
              <a:rPr lang="en-US" sz="1400" dirty="0">
                <a:solidFill>
                  <a:schemeClr val="tx1"/>
                </a:solidFill>
              </a:rPr>
              <a:t>(công văn, tờ trình, kế hoạch, báo cáo…) đúng thể thức Nghị định 30/2020/NĐ-CP.</a:t>
            </a:r>
            <a:endParaRPr lang="en-US" sz="1400" dirty="0"/>
          </a:p>
        </p:txBody>
      </p:sp>
      <p:sp>
        <p:nvSpPr>
          <p:cNvPr id="26" name="Shape 21"/>
          <p:cNvSpPr/>
          <p:nvPr/>
        </p:nvSpPr>
        <p:spPr>
          <a:xfrm>
            <a:off x="548640" y="7114032"/>
            <a:ext cx="6464808" cy="512064"/>
          </a:xfrm>
          <a:prstGeom prst="roundRect">
            <a:avLst>
              <a:gd name="adj" fmla="val 14286"/>
            </a:avLst>
          </a:prstGeom>
          <a:solidFill>
            <a:schemeClr val="bg2"/>
          </a:solidFill>
          <a:ln/>
        </p:spPr>
      </p:sp>
      <p:pic>
        <p:nvPicPr>
          <p:cNvPr id="27" name="Image 3" descr="preencoded.png">    </p:cNvPr>
          <p:cNvPicPr>
            <a:picLocks noChangeAspect="1"/>
          </p:cNvPicPr>
          <p:nvPr/>
        </p:nvPicPr>
        <p:blipFill>
          <a:blip r:embed="rId4"/>
          <a:stretch>
            <a:fillRect/>
          </a:stretch>
        </p:blipFill>
        <p:spPr>
          <a:xfrm>
            <a:off x="676656" y="7251192"/>
            <a:ext cx="237744" cy="237744"/>
          </a:xfrm>
          <a:prstGeom prst="rect">
            <a:avLst/>
          </a:prstGeom>
        </p:spPr>
      </p:pic>
      <p:sp>
        <p:nvSpPr>
          <p:cNvPr id="28" name="Text 22"/>
          <p:cNvSpPr txBox="1"/>
          <p:nvPr/>
        </p:nvSpPr>
        <p:spPr>
          <a:xfrm>
            <a:off x="1005840" y="7123176"/>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Xử lý nhanh văn bản đến: </a:t>
            </a:r>
            <a:pPr indent="0" marL="0">
              <a:lnSpc>
                <a:spcPct val="105000"/>
              </a:lnSpc>
              <a:buNone/>
            </a:pPr>
            <a:r>
              <a:rPr lang="en-US" sz="1400" dirty="0">
                <a:solidFill>
                  <a:schemeClr val="tx1"/>
                </a:solidFill>
              </a:rPr>
              <a:t>tóm tắt, trích xuất nội dung chỉ đạo, việc cần làm, đơn vị chủ trì và thời hạn.</a:t>
            </a:r>
            <a:endParaRPr lang="en-US" sz="1400" dirty="0"/>
          </a:p>
        </p:txBody>
      </p:sp>
      <p:sp>
        <p:nvSpPr>
          <p:cNvPr id="29" name="Shape 23"/>
          <p:cNvSpPr/>
          <p:nvPr/>
        </p:nvSpPr>
        <p:spPr>
          <a:xfrm>
            <a:off x="548640" y="7690104"/>
            <a:ext cx="6464808" cy="512064"/>
          </a:xfrm>
          <a:prstGeom prst="roundRect">
            <a:avLst>
              <a:gd name="adj" fmla="val 14286"/>
            </a:avLst>
          </a:prstGeom>
          <a:solidFill>
            <a:schemeClr val="bg1"/>
          </a:solidFill>
          <a:ln w="6350">
            <a:solidFill>
              <a:srgbClr val="E1EADB"/>
            </a:solidFill>
            <a:prstDash val="solid"/>
          </a:ln>
        </p:spPr>
      </p:sp>
      <p:pic>
        <p:nvPicPr>
          <p:cNvPr id="30" name="Image 4" descr="preencoded.png">    </p:cNvPr>
          <p:cNvPicPr>
            <a:picLocks noChangeAspect="1"/>
          </p:cNvPicPr>
          <p:nvPr/>
        </p:nvPicPr>
        <p:blipFill>
          <a:blip r:embed="rId5"/>
          <a:stretch>
            <a:fillRect/>
          </a:stretch>
        </p:blipFill>
        <p:spPr>
          <a:xfrm>
            <a:off x="676656" y="7827264"/>
            <a:ext cx="237744" cy="237744"/>
          </a:xfrm>
          <a:prstGeom prst="rect">
            <a:avLst/>
          </a:prstGeom>
        </p:spPr>
      </p:pic>
      <p:sp>
        <p:nvSpPr>
          <p:cNvPr id="31" name="Text 24"/>
          <p:cNvSpPr txBox="1"/>
          <p:nvPr/>
        </p:nvSpPr>
        <p:spPr>
          <a:xfrm>
            <a:off x="1005840" y="7699248"/>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Tổng hợp báo cáo định kỳ, chuyên đề </a:t>
            </a:r>
            <a:pPr indent="0" marL="0">
              <a:lnSpc>
                <a:spcPct val="105000"/>
              </a:lnSpc>
              <a:buNone/>
            </a:pPr>
            <a:r>
              <a:rPr lang="en-US" sz="1400" dirty="0">
                <a:solidFill>
                  <a:schemeClr val="tx1"/>
                </a:solidFill>
              </a:rPr>
              <a:t>từ báo cáo các đơn vị và bảng số liệu: so sánh, nhận xét, biểu đồ.</a:t>
            </a:r>
            <a:endParaRPr lang="en-US" sz="1400" dirty="0"/>
          </a:p>
        </p:txBody>
      </p:sp>
      <p:sp>
        <p:nvSpPr>
          <p:cNvPr id="32" name="Shape 25"/>
          <p:cNvSpPr/>
          <p:nvPr/>
        </p:nvSpPr>
        <p:spPr>
          <a:xfrm>
            <a:off x="548640" y="8266176"/>
            <a:ext cx="6464808" cy="512064"/>
          </a:xfrm>
          <a:prstGeom prst="roundRect">
            <a:avLst>
              <a:gd name="adj" fmla="val 14286"/>
            </a:avLst>
          </a:prstGeom>
          <a:solidFill>
            <a:schemeClr val="bg2"/>
          </a:solidFill>
          <a:ln/>
        </p:spPr>
      </p:sp>
      <p:pic>
        <p:nvPicPr>
          <p:cNvPr id="33" name="Image 5" descr="preencoded.png">    </p:cNvPr>
          <p:cNvPicPr>
            <a:picLocks noChangeAspect="1"/>
          </p:cNvPicPr>
          <p:nvPr/>
        </p:nvPicPr>
        <p:blipFill>
          <a:blip r:embed="rId6"/>
          <a:stretch>
            <a:fillRect/>
          </a:stretch>
        </p:blipFill>
        <p:spPr>
          <a:xfrm>
            <a:off x="676656" y="8403336"/>
            <a:ext cx="237744" cy="237744"/>
          </a:xfrm>
          <a:prstGeom prst="rect">
            <a:avLst/>
          </a:prstGeom>
        </p:spPr>
      </p:pic>
      <p:sp>
        <p:nvSpPr>
          <p:cNvPr id="34" name="Text 26"/>
          <p:cNvSpPr txBox="1"/>
          <p:nvPr/>
        </p:nvSpPr>
        <p:spPr>
          <a:xfrm>
            <a:off x="1005840" y="8275320"/>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Tra cứu văn bản pháp luật có căn cứ </a:t>
            </a:r>
            <a:pPr indent="0" marL="0">
              <a:lnSpc>
                <a:spcPct val="105000"/>
              </a:lnSpc>
              <a:buNone/>
            </a:pPr>
            <a:r>
              <a:rPr lang="en-US" sz="1400" dirty="0">
                <a:solidFill>
                  <a:schemeClr val="tx1"/>
                </a:solidFill>
              </a:rPr>
              <a:t>và tự xây dựng Trợ lý AI nghiệp vụ trên bộ tài liệu của đơn vị.</a:t>
            </a:r>
            <a:endParaRPr lang="en-US" sz="1400" dirty="0"/>
          </a:p>
        </p:txBody>
      </p:sp>
      <p:sp>
        <p:nvSpPr>
          <p:cNvPr id="35" name="Shape 27"/>
          <p:cNvSpPr/>
          <p:nvPr/>
        </p:nvSpPr>
        <p:spPr>
          <a:xfrm>
            <a:off x="548640" y="8842248"/>
            <a:ext cx="6464808" cy="512064"/>
          </a:xfrm>
          <a:prstGeom prst="roundRect">
            <a:avLst>
              <a:gd name="adj" fmla="val 14286"/>
            </a:avLst>
          </a:prstGeom>
          <a:solidFill>
            <a:schemeClr val="bg1"/>
          </a:solidFill>
          <a:ln w="6350">
            <a:solidFill>
              <a:srgbClr val="E1EADB"/>
            </a:solidFill>
            <a:prstDash val="solid"/>
          </a:ln>
        </p:spPr>
      </p:sp>
      <p:pic>
        <p:nvPicPr>
          <p:cNvPr id="36" name="Image 6" descr="preencoded.png">    </p:cNvPr>
          <p:cNvPicPr>
            <a:picLocks noChangeAspect="1"/>
          </p:cNvPicPr>
          <p:nvPr/>
        </p:nvPicPr>
        <p:blipFill>
          <a:blip r:embed="rId7"/>
          <a:stretch>
            <a:fillRect/>
          </a:stretch>
        </p:blipFill>
        <p:spPr>
          <a:xfrm>
            <a:off x="676656" y="8979408"/>
            <a:ext cx="237744" cy="237744"/>
          </a:xfrm>
          <a:prstGeom prst="rect">
            <a:avLst/>
          </a:prstGeom>
        </p:spPr>
      </p:pic>
      <p:sp>
        <p:nvSpPr>
          <p:cNvPr id="37" name="Text 28"/>
          <p:cNvSpPr txBox="1"/>
          <p:nvPr/>
        </p:nvSpPr>
        <p:spPr>
          <a:xfrm>
            <a:off x="1005840" y="8851392"/>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Hỗ trợ thủ tục hành chính, cuộc họp, tuyên truyền: </a:t>
            </a:r>
            <a:pPr indent="0" marL="0">
              <a:lnSpc>
                <a:spcPct val="105000"/>
              </a:lnSpc>
              <a:buNone/>
            </a:pPr>
            <a:r>
              <a:rPr lang="en-US" sz="1400" dirty="0">
                <a:solidFill>
                  <a:schemeClr val="tx1"/>
                </a:solidFill>
              </a:rPr>
              <a:t>hướng dẫn hồ sơ, hỏi – đáp, thông báo kết luận, tin bài.</a:t>
            </a:r>
            <a:endParaRPr lang="en-US" sz="1400" dirty="0"/>
          </a:p>
        </p:txBody>
      </p:sp>
      <p:sp>
        <p:nvSpPr>
          <p:cNvPr id="38" name="Shape 29"/>
          <p:cNvSpPr/>
          <p:nvPr/>
        </p:nvSpPr>
        <p:spPr>
          <a:xfrm>
            <a:off x="548640" y="9418320"/>
            <a:ext cx="6464808" cy="512064"/>
          </a:xfrm>
          <a:prstGeom prst="roundRect">
            <a:avLst>
              <a:gd name="adj" fmla="val 14286"/>
            </a:avLst>
          </a:prstGeom>
          <a:solidFill>
            <a:schemeClr val="bg2"/>
          </a:solidFill>
          <a:ln/>
        </p:spPr>
      </p:sp>
      <p:pic>
        <p:nvPicPr>
          <p:cNvPr id="39" name="Image 7" descr="preencoded.png">    </p:cNvPr>
          <p:cNvPicPr>
            <a:picLocks noChangeAspect="1"/>
          </p:cNvPicPr>
          <p:nvPr/>
        </p:nvPicPr>
        <p:blipFill>
          <a:blip r:embed="rId8"/>
          <a:stretch>
            <a:fillRect/>
          </a:stretch>
        </p:blipFill>
        <p:spPr>
          <a:xfrm>
            <a:off x="676656" y="9555480"/>
            <a:ext cx="237744" cy="237744"/>
          </a:xfrm>
          <a:prstGeom prst="rect">
            <a:avLst/>
          </a:prstGeom>
        </p:spPr>
      </p:pic>
      <p:sp>
        <p:nvSpPr>
          <p:cNvPr id="40" name="Text 30"/>
          <p:cNvSpPr txBox="1"/>
          <p:nvPr/>
        </p:nvSpPr>
        <p:spPr>
          <a:xfrm>
            <a:off x="1005840" y="9427464"/>
            <a:ext cx="5934456" cy="49377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Hoàn thành bộ sản phẩm dùng ngay: </a:t>
            </a:r>
            <a:pPr indent="0" marL="0">
              <a:lnSpc>
                <a:spcPct val="105000"/>
              </a:lnSpc>
              <a:buNone/>
            </a:pPr>
            <a:r>
              <a:rPr lang="en-US" sz="1400" dirty="0">
                <a:solidFill>
                  <a:schemeClr val="tx1"/>
                </a:solidFill>
              </a:rPr>
              <a:t>thư viện câu lệnh, Trợ lý AI và quy trình AI cho một nghiệp vụ lặp lại.</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04 · CHƯƠNG TRÌNH CHUYÊN SÂU</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NỘI DUNG CHƯƠNG TRÌNH</a:t>
            </a:r>
            <a:endParaRPr lang="en-US" sz="2800" dirty="0"/>
          </a:p>
        </p:txBody>
      </p:sp>
      <p:sp>
        <p:nvSpPr>
          <p:cNvPr id="4" name="Shape 2"/>
          <p:cNvSpPr/>
          <p:nvPr/>
        </p:nvSpPr>
        <p:spPr>
          <a:xfrm>
            <a:off x="548640" y="1298448"/>
            <a:ext cx="3150108" cy="841248"/>
          </a:xfrm>
          <a:prstGeom prst="roundRect">
            <a:avLst>
              <a:gd name="adj" fmla="val 13043"/>
            </a:avLst>
          </a:prstGeom>
          <a:solidFill>
            <a:schemeClr val="tx2"/>
          </a:solidFill>
          <a:ln/>
          <a:effectLst>
            <a:outerShdw sx="100000" sy="100000" kx="0" ky="0" algn="bl" rotWithShape="0" blurRad="101600" dist="25400" dir="5400000">
              <a:srgbClr val="0B2A00">
                <a:alpha val="16000"/>
              </a:srgbClr>
            </a:outerShdw>
          </a:effectLst>
        </p:spPr>
      </p:sp>
      <p:sp>
        <p:nvSpPr>
          <p:cNvPr id="5" name="Text 3"/>
          <p:cNvSpPr txBox="1"/>
          <p:nvPr/>
        </p:nvSpPr>
        <p:spPr>
          <a:xfrm>
            <a:off x="731520" y="1353312"/>
            <a:ext cx="1828800" cy="237744"/>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2"/>
                </a:solidFill>
              </a:rPr>
              <a:t>PHẦN 1</a:t>
            </a:r>
            <a:endParaRPr lang="en-US" sz="1200" dirty="0"/>
          </a:p>
        </p:txBody>
      </p:sp>
      <p:sp>
        <p:nvSpPr>
          <p:cNvPr id="6" name="Text 4"/>
          <p:cNvSpPr txBox="1"/>
          <p:nvPr/>
        </p:nvSpPr>
        <p:spPr>
          <a:xfrm>
            <a:off x="731520" y="1572768"/>
            <a:ext cx="2875788" cy="530352"/>
          </a:xfrm>
          <a:prstGeom prst="rect">
            <a:avLst/>
          </a:prstGeom>
          <a:noFill/>
          <a:ln/>
        </p:spPr>
        <p:txBody>
          <a:bodyPr wrap="square" lIns="0" tIns="0" rIns="0" bIns="0" rtlCol="0" anchor="t"/>
          <a:lstStyle/>
          <a:p>
            <a:pPr indent="0" marL="0">
              <a:lnSpc>
                <a:spcPct val="105000"/>
              </a:lnSpc>
              <a:buNone/>
            </a:pPr>
            <a:r>
              <a:rPr lang="en-US" sz="1400" b="1" dirty="0">
                <a:solidFill>
                  <a:schemeClr val="bg1"/>
                </a:solidFill>
              </a:rPr>
              <a:t>AI an toàn, khai thác văn bản pháp luật &amp; Trợ lý AI</a:t>
            </a:r>
            <a:endParaRPr lang="en-US" sz="1400" dirty="0"/>
          </a:p>
        </p:txBody>
      </p:sp>
      <p:sp>
        <p:nvSpPr>
          <p:cNvPr id="7" name="Shape 5"/>
          <p:cNvSpPr/>
          <p:nvPr/>
        </p:nvSpPr>
        <p:spPr>
          <a:xfrm>
            <a:off x="548640" y="225856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8" name="Shape 6"/>
          <p:cNvSpPr/>
          <p:nvPr/>
        </p:nvSpPr>
        <p:spPr>
          <a:xfrm>
            <a:off x="676656" y="2386584"/>
            <a:ext cx="329184" cy="329184"/>
          </a:xfrm>
          <a:prstGeom prst="ellipse">
            <a:avLst/>
          </a:prstGeom>
          <a:solidFill>
            <a:schemeClr val="accent1"/>
          </a:solidFill>
          <a:ln/>
        </p:spPr>
      </p:sp>
      <p:sp>
        <p:nvSpPr>
          <p:cNvPr id="9" name="Text 7"/>
          <p:cNvSpPr txBox="1"/>
          <p:nvPr/>
        </p:nvSpPr>
        <p:spPr>
          <a:xfrm>
            <a:off x="676656" y="238658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1</a:t>
            </a:r>
            <a:endParaRPr lang="en-US" sz="1400" dirty="0"/>
          </a:p>
        </p:txBody>
      </p:sp>
      <p:sp>
        <p:nvSpPr>
          <p:cNvPr id="10" name="Text 8"/>
          <p:cNvSpPr txBox="1"/>
          <p:nvPr/>
        </p:nvSpPr>
        <p:spPr>
          <a:xfrm>
            <a:off x="1097280" y="235000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AI an toàn &amp; kỹ thuật câu lệnh</a:t>
            </a:r>
            <a:endParaRPr lang="en-US" sz="1400" dirty="0"/>
          </a:p>
        </p:txBody>
      </p:sp>
      <p:sp>
        <p:nvSpPr>
          <p:cNvPr id="11" name="Text 9"/>
          <p:cNvSpPr txBox="1"/>
          <p:nvPr/>
        </p:nvSpPr>
        <p:spPr>
          <a:xfrm>
            <a:off x="676656" y="273405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Bảo mật trong công vụ; cấu trúc câu lệnh: vai trò – căn cứ – yêu cầu – thể thức.</a:t>
            </a:r>
            <a:endParaRPr lang="en-US" sz="1400" dirty="0"/>
          </a:p>
        </p:txBody>
      </p:sp>
      <p:sp>
        <p:nvSpPr>
          <p:cNvPr id="12" name="Shape 10"/>
          <p:cNvSpPr/>
          <p:nvPr/>
        </p:nvSpPr>
        <p:spPr>
          <a:xfrm>
            <a:off x="621792" y="3447288"/>
            <a:ext cx="3003804" cy="384048"/>
          </a:xfrm>
          <a:prstGeom prst="roundRect">
            <a:avLst>
              <a:gd name="adj" fmla="val 14286"/>
            </a:avLst>
          </a:prstGeom>
          <a:solidFill>
            <a:schemeClr val="bg2"/>
          </a:solidFill>
          <a:ln/>
        </p:spPr>
      </p:sp>
      <p:sp>
        <p:nvSpPr>
          <p:cNvPr id="13" name="Text 11"/>
          <p:cNvSpPr txBox="1"/>
          <p:nvPr/>
        </p:nvSpPr>
        <p:spPr>
          <a:xfrm>
            <a:off x="676656" y="344728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Nguyên tắc AI an toàn, câu lệnh mẫu</a:t>
            </a:r>
            <a:endParaRPr lang="en-US" sz="1400" dirty="0"/>
          </a:p>
        </p:txBody>
      </p:sp>
      <p:sp>
        <p:nvSpPr>
          <p:cNvPr id="14" name="Shape 12"/>
          <p:cNvSpPr/>
          <p:nvPr/>
        </p:nvSpPr>
        <p:spPr>
          <a:xfrm>
            <a:off x="548640" y="399592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15" name="Shape 13"/>
          <p:cNvSpPr/>
          <p:nvPr/>
        </p:nvSpPr>
        <p:spPr>
          <a:xfrm>
            <a:off x="676656" y="4123944"/>
            <a:ext cx="329184" cy="329184"/>
          </a:xfrm>
          <a:prstGeom prst="ellipse">
            <a:avLst/>
          </a:prstGeom>
          <a:solidFill>
            <a:schemeClr val="accent1"/>
          </a:solidFill>
          <a:ln/>
        </p:spPr>
      </p:sp>
      <p:sp>
        <p:nvSpPr>
          <p:cNvPr id="16" name="Text 14"/>
          <p:cNvSpPr txBox="1"/>
          <p:nvPr/>
        </p:nvSpPr>
        <p:spPr>
          <a:xfrm>
            <a:off x="676656" y="412394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2</a:t>
            </a:r>
            <a:endParaRPr lang="en-US" sz="1400" dirty="0"/>
          </a:p>
        </p:txBody>
      </p:sp>
      <p:sp>
        <p:nvSpPr>
          <p:cNvPr id="17" name="Text 15"/>
          <p:cNvSpPr txBox="1"/>
          <p:nvPr/>
        </p:nvSpPr>
        <p:spPr>
          <a:xfrm>
            <a:off x="1097280" y="408736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Khai thác văn bản &amp; Trợ lý AI</a:t>
            </a:r>
            <a:endParaRPr lang="en-US" sz="1400" dirty="0"/>
          </a:p>
        </p:txBody>
      </p:sp>
      <p:sp>
        <p:nvSpPr>
          <p:cNvPr id="18" name="Text 16"/>
          <p:cNvSpPr txBox="1"/>
          <p:nvPr/>
        </p:nvSpPr>
        <p:spPr>
          <a:xfrm>
            <a:off x="676656" y="447141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Data Grounding, NotebookLM có trích dẫn; Custom GPTs, Gemini Gems theo nghiệp vụ.</a:t>
            </a:r>
            <a:endParaRPr lang="en-US" sz="1400" dirty="0"/>
          </a:p>
        </p:txBody>
      </p:sp>
      <p:sp>
        <p:nvSpPr>
          <p:cNvPr id="19" name="Shape 17"/>
          <p:cNvSpPr/>
          <p:nvPr/>
        </p:nvSpPr>
        <p:spPr>
          <a:xfrm>
            <a:off x="621792" y="5184648"/>
            <a:ext cx="3003804" cy="384048"/>
          </a:xfrm>
          <a:prstGeom prst="roundRect">
            <a:avLst>
              <a:gd name="adj" fmla="val 14286"/>
            </a:avLst>
          </a:prstGeom>
          <a:solidFill>
            <a:schemeClr val="bg2"/>
          </a:solidFill>
          <a:ln/>
        </p:spPr>
      </p:sp>
      <p:sp>
        <p:nvSpPr>
          <p:cNvPr id="20" name="Text 18"/>
          <p:cNvSpPr txBox="1"/>
          <p:nvPr/>
        </p:nvSpPr>
        <p:spPr>
          <a:xfrm>
            <a:off x="676656" y="518464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Trợ lý AI hỏi – đáp có trích dẫn</a:t>
            </a:r>
            <a:endParaRPr lang="en-US" sz="1400" dirty="0"/>
          </a:p>
        </p:txBody>
      </p:sp>
      <p:sp>
        <p:nvSpPr>
          <p:cNvPr id="21" name="Shape 19"/>
          <p:cNvSpPr/>
          <p:nvPr/>
        </p:nvSpPr>
        <p:spPr>
          <a:xfrm>
            <a:off x="548640" y="573328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2" name="Shape 20"/>
          <p:cNvSpPr/>
          <p:nvPr/>
        </p:nvSpPr>
        <p:spPr>
          <a:xfrm>
            <a:off x="676656" y="5861304"/>
            <a:ext cx="329184" cy="329184"/>
          </a:xfrm>
          <a:prstGeom prst="ellipse">
            <a:avLst/>
          </a:prstGeom>
          <a:solidFill>
            <a:schemeClr val="accent1"/>
          </a:solidFill>
          <a:ln/>
        </p:spPr>
      </p:sp>
      <p:sp>
        <p:nvSpPr>
          <p:cNvPr id="23" name="Text 21"/>
          <p:cNvSpPr txBox="1"/>
          <p:nvPr/>
        </p:nvSpPr>
        <p:spPr>
          <a:xfrm>
            <a:off x="676656" y="586130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3</a:t>
            </a:r>
            <a:endParaRPr lang="en-US" sz="1400" dirty="0"/>
          </a:p>
        </p:txBody>
      </p:sp>
      <p:sp>
        <p:nvSpPr>
          <p:cNvPr id="24" name="Text 22"/>
          <p:cNvSpPr txBox="1"/>
          <p:nvPr/>
        </p:nvSpPr>
        <p:spPr>
          <a:xfrm>
            <a:off x="1097280" y="582472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Thực hành theo nhóm &amp; Q&amp;A</a:t>
            </a:r>
            <a:endParaRPr lang="en-US" sz="1400" dirty="0"/>
          </a:p>
        </p:txBody>
      </p:sp>
      <p:sp>
        <p:nvSpPr>
          <p:cNvPr id="25" name="Text 23"/>
          <p:cNvSpPr txBox="1"/>
          <p:nvPr/>
        </p:nvSpPr>
        <p:spPr>
          <a:xfrm>
            <a:off x="676656" y="620877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Thiết kế trợ lý văn thư, tổng hợp, một cửa trên tài liệu thực tế, không mật.</a:t>
            </a:r>
            <a:endParaRPr lang="en-US" sz="1400" dirty="0"/>
          </a:p>
        </p:txBody>
      </p:sp>
      <p:sp>
        <p:nvSpPr>
          <p:cNvPr id="26" name="Shape 24"/>
          <p:cNvSpPr/>
          <p:nvPr/>
        </p:nvSpPr>
        <p:spPr>
          <a:xfrm>
            <a:off x="621792" y="6922008"/>
            <a:ext cx="3003804" cy="384048"/>
          </a:xfrm>
          <a:prstGeom prst="roundRect">
            <a:avLst>
              <a:gd name="adj" fmla="val 14286"/>
            </a:avLst>
          </a:prstGeom>
          <a:solidFill>
            <a:schemeClr val="bg2"/>
          </a:solidFill>
          <a:ln/>
        </p:spPr>
      </p:sp>
      <p:sp>
        <p:nvSpPr>
          <p:cNvPr id="27" name="Text 25"/>
          <p:cNvSpPr txBox="1"/>
          <p:nvPr/>
        </p:nvSpPr>
        <p:spPr>
          <a:xfrm>
            <a:off x="676656" y="692200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01 Trợ lý AI nghiệp vụ dùng ngay</a:t>
            </a:r>
            <a:endParaRPr lang="en-US" sz="1400" dirty="0"/>
          </a:p>
        </p:txBody>
      </p:sp>
      <p:sp>
        <p:nvSpPr>
          <p:cNvPr id="28" name="Shape 26"/>
          <p:cNvSpPr/>
          <p:nvPr/>
        </p:nvSpPr>
        <p:spPr>
          <a:xfrm>
            <a:off x="3863340" y="1298448"/>
            <a:ext cx="3150108" cy="841248"/>
          </a:xfrm>
          <a:prstGeom prst="roundRect">
            <a:avLst>
              <a:gd name="adj" fmla="val 13043"/>
            </a:avLst>
          </a:prstGeom>
          <a:solidFill>
            <a:schemeClr val="tx2"/>
          </a:solidFill>
          <a:ln/>
          <a:effectLst>
            <a:outerShdw sx="100000" sy="100000" kx="0" ky="0" algn="bl" rotWithShape="0" blurRad="101600" dist="25400" dir="5400000">
              <a:srgbClr val="0B2A00">
                <a:alpha val="16000"/>
              </a:srgbClr>
            </a:outerShdw>
          </a:effectLst>
        </p:spPr>
      </p:sp>
      <p:sp>
        <p:nvSpPr>
          <p:cNvPr id="29" name="Text 27"/>
          <p:cNvSpPr txBox="1"/>
          <p:nvPr/>
        </p:nvSpPr>
        <p:spPr>
          <a:xfrm>
            <a:off x="4046220" y="1353312"/>
            <a:ext cx="1828800" cy="237744"/>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2"/>
                </a:solidFill>
              </a:rPr>
              <a:t>PHẦN 2</a:t>
            </a:r>
            <a:endParaRPr lang="en-US" sz="1200" dirty="0"/>
          </a:p>
        </p:txBody>
      </p:sp>
      <p:sp>
        <p:nvSpPr>
          <p:cNvPr id="30" name="Text 28"/>
          <p:cNvSpPr txBox="1"/>
          <p:nvPr/>
        </p:nvSpPr>
        <p:spPr>
          <a:xfrm>
            <a:off x="4046220" y="1572768"/>
            <a:ext cx="2875788" cy="530352"/>
          </a:xfrm>
          <a:prstGeom prst="rect">
            <a:avLst/>
          </a:prstGeom>
          <a:noFill/>
          <a:ln/>
        </p:spPr>
        <p:txBody>
          <a:bodyPr wrap="square" lIns="0" tIns="0" rIns="0" bIns="0" rtlCol="0" anchor="t"/>
          <a:lstStyle/>
          <a:p>
            <a:pPr indent="0" marL="0">
              <a:lnSpc>
                <a:spcPct val="105000"/>
              </a:lnSpc>
              <a:buNone/>
            </a:pPr>
            <a:r>
              <a:rPr lang="en-US" sz="1400" b="1" dirty="0">
                <a:solidFill>
                  <a:schemeClr val="bg1"/>
                </a:solidFill>
              </a:rPr>
              <a:t>Ứng dụng AI trong nghiệp vụ văn phòng – hành chính</a:t>
            </a:r>
            <a:endParaRPr lang="en-US" sz="1400" dirty="0"/>
          </a:p>
        </p:txBody>
      </p:sp>
      <p:sp>
        <p:nvSpPr>
          <p:cNvPr id="31" name="Shape 29"/>
          <p:cNvSpPr/>
          <p:nvPr/>
        </p:nvSpPr>
        <p:spPr>
          <a:xfrm>
            <a:off x="3863340" y="225856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2" name="Shape 30"/>
          <p:cNvSpPr/>
          <p:nvPr/>
        </p:nvSpPr>
        <p:spPr>
          <a:xfrm>
            <a:off x="3991356" y="2386584"/>
            <a:ext cx="329184" cy="329184"/>
          </a:xfrm>
          <a:prstGeom prst="ellipse">
            <a:avLst/>
          </a:prstGeom>
          <a:solidFill>
            <a:schemeClr val="accent1"/>
          </a:solidFill>
          <a:ln/>
        </p:spPr>
      </p:sp>
      <p:sp>
        <p:nvSpPr>
          <p:cNvPr id="33" name="Text 31"/>
          <p:cNvSpPr txBox="1"/>
          <p:nvPr/>
        </p:nvSpPr>
        <p:spPr>
          <a:xfrm>
            <a:off x="3991356" y="238658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1</a:t>
            </a:r>
            <a:endParaRPr lang="en-US" sz="1400" dirty="0"/>
          </a:p>
        </p:txBody>
      </p:sp>
      <p:sp>
        <p:nvSpPr>
          <p:cNvPr id="34" name="Text 32"/>
          <p:cNvSpPr txBox="1"/>
          <p:nvPr/>
        </p:nvSpPr>
        <p:spPr>
          <a:xfrm>
            <a:off x="4411980" y="235000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Văn bản đi – đến</a:t>
            </a:r>
            <a:endParaRPr lang="en-US" sz="1400" dirty="0"/>
          </a:p>
        </p:txBody>
      </p:sp>
      <p:sp>
        <p:nvSpPr>
          <p:cNvPr id="35" name="Text 33"/>
          <p:cNvSpPr txBox="1"/>
          <p:nvPr/>
        </p:nvSpPr>
        <p:spPr>
          <a:xfrm>
            <a:off x="3991356" y="273405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Dự thảo từ ý kiến chỉ đạo; rà soát thể thức NĐ 30/2020/NĐ-CP; tóm tắt văn bản đến.</a:t>
            </a:r>
            <a:endParaRPr lang="en-US" sz="1400" dirty="0"/>
          </a:p>
        </p:txBody>
      </p:sp>
      <p:sp>
        <p:nvSpPr>
          <p:cNvPr id="36" name="Shape 34"/>
          <p:cNvSpPr/>
          <p:nvPr/>
        </p:nvSpPr>
        <p:spPr>
          <a:xfrm>
            <a:off x="3936492" y="3447288"/>
            <a:ext cx="3003804" cy="384048"/>
          </a:xfrm>
          <a:prstGeom prst="roundRect">
            <a:avLst>
              <a:gd name="adj" fmla="val 14286"/>
            </a:avLst>
          </a:prstGeom>
          <a:solidFill>
            <a:schemeClr val="bg2"/>
          </a:solidFill>
          <a:ln/>
        </p:spPr>
      </p:sp>
      <p:sp>
        <p:nvSpPr>
          <p:cNvPr id="37" name="Text 35"/>
          <p:cNvSpPr txBox="1"/>
          <p:nvPr/>
        </p:nvSpPr>
        <p:spPr>
          <a:xfrm>
            <a:off x="3991356" y="344728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Dự thảo + phiếu tóm tắt 1 trang</a:t>
            </a:r>
            <a:endParaRPr lang="en-US" sz="1400" dirty="0"/>
          </a:p>
        </p:txBody>
      </p:sp>
      <p:sp>
        <p:nvSpPr>
          <p:cNvPr id="38" name="Shape 36"/>
          <p:cNvSpPr/>
          <p:nvPr/>
        </p:nvSpPr>
        <p:spPr>
          <a:xfrm>
            <a:off x="3863340" y="399592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9" name="Shape 37"/>
          <p:cNvSpPr/>
          <p:nvPr/>
        </p:nvSpPr>
        <p:spPr>
          <a:xfrm>
            <a:off x="3991356" y="4123944"/>
            <a:ext cx="329184" cy="329184"/>
          </a:xfrm>
          <a:prstGeom prst="ellipse">
            <a:avLst/>
          </a:prstGeom>
          <a:solidFill>
            <a:schemeClr val="accent1"/>
          </a:solidFill>
          <a:ln/>
        </p:spPr>
      </p:sp>
      <p:sp>
        <p:nvSpPr>
          <p:cNvPr id="40" name="Text 38"/>
          <p:cNvSpPr txBox="1"/>
          <p:nvPr/>
        </p:nvSpPr>
        <p:spPr>
          <a:xfrm>
            <a:off x="3991356" y="412394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2</a:t>
            </a:r>
            <a:endParaRPr lang="en-US" sz="1400" dirty="0"/>
          </a:p>
        </p:txBody>
      </p:sp>
      <p:sp>
        <p:nvSpPr>
          <p:cNvPr id="41" name="Text 39"/>
          <p:cNvSpPr txBox="1"/>
          <p:nvPr/>
        </p:nvSpPr>
        <p:spPr>
          <a:xfrm>
            <a:off x="4411980" y="408736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Báo cáo tổng hợp &amp; số liệu</a:t>
            </a:r>
            <a:endParaRPr lang="en-US" sz="1400" dirty="0"/>
          </a:p>
        </p:txBody>
      </p:sp>
      <p:sp>
        <p:nvSpPr>
          <p:cNvPr id="42" name="Text 40"/>
          <p:cNvSpPr txBox="1"/>
          <p:nvPr/>
        </p:nvSpPr>
        <p:spPr>
          <a:xfrm>
            <a:off x="3991356" y="447141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Báo cáo tháng, quý, năm (NĐ 09/2019/NĐ-CP); so sánh cùng kỳ, phát hiện bất thường.</a:t>
            </a:r>
            <a:endParaRPr lang="en-US" sz="1400" dirty="0"/>
          </a:p>
        </p:txBody>
      </p:sp>
      <p:sp>
        <p:nvSpPr>
          <p:cNvPr id="43" name="Shape 41"/>
          <p:cNvSpPr/>
          <p:nvPr/>
        </p:nvSpPr>
        <p:spPr>
          <a:xfrm>
            <a:off x="3936492" y="5184648"/>
            <a:ext cx="3003804" cy="384048"/>
          </a:xfrm>
          <a:prstGeom prst="roundRect">
            <a:avLst>
              <a:gd name="adj" fmla="val 14286"/>
            </a:avLst>
          </a:prstGeom>
          <a:solidFill>
            <a:schemeClr val="bg2"/>
          </a:solidFill>
          <a:ln/>
        </p:spPr>
      </p:sp>
      <p:sp>
        <p:nvSpPr>
          <p:cNvPr id="44" name="Text 42"/>
          <p:cNvSpPr txBox="1"/>
          <p:nvPr/>
        </p:nvSpPr>
        <p:spPr>
          <a:xfrm>
            <a:off x="3991356" y="518464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Báo cáo đúng đề cương, có biểu đồ</a:t>
            </a:r>
            <a:endParaRPr lang="en-US" sz="1400" dirty="0"/>
          </a:p>
        </p:txBody>
      </p:sp>
      <p:sp>
        <p:nvSpPr>
          <p:cNvPr id="45" name="Shape 43"/>
          <p:cNvSpPr/>
          <p:nvPr/>
        </p:nvSpPr>
        <p:spPr>
          <a:xfrm>
            <a:off x="3863340" y="5733288"/>
            <a:ext cx="3150108" cy="1645920"/>
          </a:xfrm>
          <a:prstGeom prst="roundRect">
            <a:avLst>
              <a:gd name="adj" fmla="val 6667"/>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46" name="Shape 44"/>
          <p:cNvSpPr/>
          <p:nvPr/>
        </p:nvSpPr>
        <p:spPr>
          <a:xfrm>
            <a:off x="3991356" y="5861304"/>
            <a:ext cx="329184" cy="329184"/>
          </a:xfrm>
          <a:prstGeom prst="ellipse">
            <a:avLst/>
          </a:prstGeom>
          <a:solidFill>
            <a:schemeClr val="accent1"/>
          </a:solidFill>
          <a:ln/>
        </p:spPr>
      </p:sp>
      <p:sp>
        <p:nvSpPr>
          <p:cNvPr id="47" name="Text 45"/>
          <p:cNvSpPr txBox="1"/>
          <p:nvPr/>
        </p:nvSpPr>
        <p:spPr>
          <a:xfrm>
            <a:off x="3991356" y="5861304"/>
            <a:ext cx="329184" cy="329184"/>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3</a:t>
            </a:r>
            <a:endParaRPr lang="en-US" sz="1400" dirty="0"/>
          </a:p>
        </p:txBody>
      </p:sp>
      <p:sp>
        <p:nvSpPr>
          <p:cNvPr id="48" name="Text 46"/>
          <p:cNvSpPr txBox="1"/>
          <p:nvPr/>
        </p:nvSpPr>
        <p:spPr>
          <a:xfrm>
            <a:off x="4411980" y="5824728"/>
            <a:ext cx="2491740" cy="402336"/>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TTHC, cuộc họp &amp; tuyên truyền</a:t>
            </a:r>
            <a:endParaRPr lang="en-US" sz="1400" dirty="0"/>
          </a:p>
        </p:txBody>
      </p:sp>
      <p:sp>
        <p:nvSpPr>
          <p:cNvPr id="49" name="Text 47"/>
          <p:cNvSpPr txBox="1"/>
          <p:nvPr/>
        </p:nvSpPr>
        <p:spPr>
          <a:xfrm>
            <a:off x="3991356" y="6208776"/>
            <a:ext cx="2930652" cy="676656"/>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Hướng dẫn hồ sơ TTHC (NĐ 118/2025/NĐ-CP); thông báo kết luận họp (QĐ 45/2018/QĐ-TTg).</a:t>
            </a:r>
            <a:endParaRPr lang="en-US" sz="1400" dirty="0"/>
          </a:p>
        </p:txBody>
      </p:sp>
      <p:sp>
        <p:nvSpPr>
          <p:cNvPr id="50" name="Shape 48"/>
          <p:cNvSpPr/>
          <p:nvPr/>
        </p:nvSpPr>
        <p:spPr>
          <a:xfrm>
            <a:off x="3936492" y="6922008"/>
            <a:ext cx="3003804" cy="384048"/>
          </a:xfrm>
          <a:prstGeom prst="roundRect">
            <a:avLst>
              <a:gd name="adj" fmla="val 14286"/>
            </a:avLst>
          </a:prstGeom>
          <a:solidFill>
            <a:schemeClr val="bg2"/>
          </a:solidFill>
          <a:ln/>
        </p:spPr>
      </p:sp>
      <p:sp>
        <p:nvSpPr>
          <p:cNvPr id="51" name="Text 49"/>
          <p:cNvSpPr txBox="1"/>
          <p:nvPr/>
        </p:nvSpPr>
        <p:spPr>
          <a:xfrm>
            <a:off x="3991356" y="6922008"/>
            <a:ext cx="2967228" cy="384048"/>
          </a:xfrm>
          <a:prstGeom prst="rect">
            <a:avLst/>
          </a:prstGeom>
          <a:noFill/>
          <a:ln/>
        </p:spPr>
        <p:txBody>
          <a:bodyPr wrap="square" lIns="0" tIns="0" rIns="0" bIns="0" rtlCol="0" anchor="ctr"/>
          <a:lstStyle/>
          <a:p>
            <a:pPr indent="0" marL="0">
              <a:lnSpc>
                <a:spcPct val="105000"/>
              </a:lnSpc>
              <a:buNone/>
            </a:pPr>
            <a:r>
              <a:rPr lang="en-US" sz="1400" b="1" dirty="0">
                <a:solidFill>
                  <a:schemeClr val="accent1"/>
                </a:solidFill>
              </a:rPr>
              <a:t>→ </a:t>
            </a:r>
            <a:pPr indent="0" marL="0">
              <a:lnSpc>
                <a:spcPct val="105000"/>
              </a:lnSpc>
              <a:buNone/>
            </a:pPr>
            <a:r>
              <a:rPr lang="en-US" sz="1400" b="1" dirty="0">
                <a:solidFill>
                  <a:schemeClr val="tx2"/>
                </a:solidFill>
              </a:rPr>
              <a:t>“Gói nghiệp vụ” TTHC – họp</a:t>
            </a:r>
            <a:endParaRPr lang="en-US" sz="1400" dirty="0"/>
          </a:p>
        </p:txBody>
      </p:sp>
      <p:sp>
        <p:nvSpPr>
          <p:cNvPr id="52" name="Text 50"/>
          <p:cNvSpPr txBox="1"/>
          <p:nvPr/>
        </p:nvSpPr>
        <p:spPr>
          <a:xfrm>
            <a:off x="548640" y="7534656"/>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SẢN PHẨM ĐẦU RA SAU TẬP HUẤN</a:t>
            </a:r>
            <a:endParaRPr lang="en-US" sz="1600" dirty="0"/>
          </a:p>
        </p:txBody>
      </p:sp>
      <p:sp>
        <p:nvSpPr>
          <p:cNvPr id="53" name="Text 51"/>
          <p:cNvSpPr txBox="1"/>
          <p:nvPr/>
        </p:nvSpPr>
        <p:spPr>
          <a:xfrm>
            <a:off x="548640" y="7936992"/>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54" name="Text 52"/>
          <p:cNvSpPr txBox="1"/>
          <p:nvPr/>
        </p:nvSpPr>
        <p:spPr>
          <a:xfrm>
            <a:off x="1042416" y="7900416"/>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Trợ lý AI nghiệp vụ của đơn vị</a:t>
            </a:r>
            <a:endParaRPr lang="en-US" sz="1400" dirty="0"/>
          </a:p>
        </p:txBody>
      </p:sp>
      <p:sp>
        <p:nvSpPr>
          <p:cNvPr id="55" name="Text 53"/>
          <p:cNvSpPr txBox="1"/>
          <p:nvPr/>
        </p:nvSpPr>
        <p:spPr>
          <a:xfrm>
            <a:off x="3863340" y="7936992"/>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56" name="Text 54"/>
          <p:cNvSpPr txBox="1"/>
          <p:nvPr/>
        </p:nvSpPr>
        <p:spPr>
          <a:xfrm>
            <a:off x="4357116" y="7900416"/>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Thư viện câu lệnh hành chính</a:t>
            </a:r>
            <a:endParaRPr lang="en-US" sz="1400" dirty="0"/>
          </a:p>
        </p:txBody>
      </p:sp>
      <p:sp>
        <p:nvSpPr>
          <p:cNvPr id="57" name="Text 55"/>
          <p:cNvSpPr txBox="1"/>
          <p:nvPr/>
        </p:nvSpPr>
        <p:spPr>
          <a:xfrm>
            <a:off x="548640" y="8339328"/>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58" name="Text 56"/>
          <p:cNvSpPr txBox="1"/>
          <p:nvPr/>
        </p:nvSpPr>
        <p:spPr>
          <a:xfrm>
            <a:off x="1042416" y="8302752"/>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Văn bản đi &amp; phiếu tóm tắt</a:t>
            </a:r>
            <a:endParaRPr lang="en-US" sz="1400" dirty="0"/>
          </a:p>
        </p:txBody>
      </p:sp>
      <p:sp>
        <p:nvSpPr>
          <p:cNvPr id="59" name="Text 57"/>
          <p:cNvSpPr txBox="1"/>
          <p:nvPr/>
        </p:nvSpPr>
        <p:spPr>
          <a:xfrm>
            <a:off x="3863340" y="8339328"/>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60" name="Text 58"/>
          <p:cNvSpPr txBox="1"/>
          <p:nvPr/>
        </p:nvSpPr>
        <p:spPr>
          <a:xfrm>
            <a:off x="4357116" y="8302752"/>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Báo cáo tổng hợp có biểu đồ</a:t>
            </a:r>
            <a:endParaRPr lang="en-US" sz="1400" dirty="0"/>
          </a:p>
        </p:txBody>
      </p:sp>
      <p:sp>
        <p:nvSpPr>
          <p:cNvPr id="61" name="Text 59"/>
          <p:cNvSpPr txBox="1"/>
          <p:nvPr/>
        </p:nvSpPr>
        <p:spPr>
          <a:xfrm>
            <a:off x="548640" y="8741664"/>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62" name="Text 60"/>
          <p:cNvSpPr txBox="1"/>
          <p:nvPr/>
        </p:nvSpPr>
        <p:spPr>
          <a:xfrm>
            <a:off x="1042416" y="8705088"/>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Hướng dẫn TTHC, hỏi – đáp</a:t>
            </a:r>
            <a:endParaRPr lang="en-US" sz="1400" dirty="0"/>
          </a:p>
        </p:txBody>
      </p:sp>
      <p:sp>
        <p:nvSpPr>
          <p:cNvPr id="63" name="Text 61"/>
          <p:cNvSpPr txBox="1"/>
          <p:nvPr/>
        </p:nvSpPr>
        <p:spPr>
          <a:xfrm>
            <a:off x="3863340" y="8741664"/>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64" name="Text 62"/>
          <p:cNvSpPr txBox="1"/>
          <p:nvPr/>
        </p:nvSpPr>
        <p:spPr>
          <a:xfrm>
            <a:off x="4357116" y="8705088"/>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Quy trình AI nghiệp vụ lặp lại</a:t>
            </a:r>
            <a:endParaRPr lang="en-US" sz="1400" dirty="0"/>
          </a:p>
        </p:txBody>
      </p:sp>
      <p:sp>
        <p:nvSpPr>
          <p:cNvPr id="65" name="Text 63"/>
          <p:cNvSpPr txBox="1"/>
          <p:nvPr/>
        </p:nvSpPr>
        <p:spPr>
          <a:xfrm>
            <a:off x="548640" y="9144000"/>
            <a:ext cx="402336" cy="329184"/>
          </a:xfrm>
          <a:prstGeom prst="rect">
            <a:avLst/>
          </a:prstGeom>
          <a:solidFill>
            <a:schemeClr val="accent1"/>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66" name="Text 64"/>
          <p:cNvSpPr txBox="1"/>
          <p:nvPr/>
        </p:nvSpPr>
        <p:spPr>
          <a:xfrm>
            <a:off x="1042416" y="9107424"/>
            <a:ext cx="2638044" cy="402336"/>
          </a:xfrm>
          <a:prstGeom prst="rect">
            <a:avLst/>
          </a:prstGeom>
          <a:noFill/>
          <a:ln/>
        </p:spPr>
        <p:txBody>
          <a:bodyPr wrap="square" lIns="0" tIns="0" rIns="0" bIns="0" rtlCol="0" anchor="ctr"/>
          <a:lstStyle/>
          <a:p>
            <a:pPr indent="0" marL="0">
              <a:lnSpc>
                <a:spcPct val="105000"/>
              </a:lnSpc>
              <a:buNone/>
            </a:pPr>
            <a:r>
              <a:rPr lang="en-US" sz="1400" dirty="0">
                <a:solidFill>
                  <a:schemeClr val="tx1"/>
                </a:solidFill>
              </a:rPr>
              <a:t>Nguyên tắc dùng AI an toàn</a:t>
            </a:r>
            <a:endParaRPr lang="en-US" sz="1400" dirty="0"/>
          </a:p>
        </p:txBody>
      </p:sp>
      <p:sp>
        <p:nvSpPr>
          <p:cNvPr id="67" name="Text 65"/>
          <p:cNvSpPr txBox="1"/>
          <p:nvPr/>
        </p:nvSpPr>
        <p:spPr>
          <a:xfrm>
            <a:off x="3863340" y="9144000"/>
            <a:ext cx="402336" cy="329184"/>
          </a:xfrm>
          <a:prstGeom prst="rect">
            <a:avLst/>
          </a:prstGeom>
          <a:solidFill>
            <a:schemeClr val="accent2"/>
          </a:solidFill>
          <a:ln/>
        </p:spPr>
        <p:txBody>
          <a:bodyPr wrap="square" lIns="0" tIns="0" rIns="0" bIns="0" rtlCol="0" anchor="ctr"/>
          <a:lstStyle/>
          <a:p>
            <a:pPr algn="ctr" indent="0" marL="0">
              <a:lnSpc>
                <a:spcPct val="105000"/>
              </a:lnSpc>
              <a:buNone/>
            </a:pPr>
            <a:r>
              <a:rPr lang="en-US" sz="1300" b="1" dirty="0">
                <a:solidFill>
                  <a:schemeClr val="bg1"/>
                </a:solidFill>
              </a:rPr>
              <a:t>01</a:t>
            </a:r>
            <a:endParaRPr lang="en-US" sz="1300" dirty="0"/>
          </a:p>
        </p:txBody>
      </p:sp>
      <p:sp>
        <p:nvSpPr>
          <p:cNvPr id="68" name="Text 66"/>
          <p:cNvSpPr txBox="1"/>
          <p:nvPr/>
        </p:nvSpPr>
        <p:spPr>
          <a:xfrm>
            <a:off x="4357116" y="9107424"/>
            <a:ext cx="2638044" cy="402336"/>
          </a:xfrm>
          <a:prstGeom prst="rect">
            <a:avLst/>
          </a:prstGeom>
          <a:noFill/>
          <a:ln/>
        </p:spPr>
        <p:txBody>
          <a:bodyPr wrap="square" lIns="0" tIns="0" rIns="0" bIns="0" rtlCol="0" anchor="ctr"/>
          <a:lstStyle/>
          <a:p>
            <a:pPr indent="0" marL="0">
              <a:lnSpc>
                <a:spcPct val="105000"/>
              </a:lnSpc>
              <a:buNone/>
            </a:pPr>
            <a:r>
              <a:rPr lang="en-US" sz="1400" b="1" dirty="0">
                <a:solidFill>
                  <a:schemeClr val="tx1"/>
                </a:solidFill>
              </a:rPr>
              <a:t>Áp dụng ngay vào chuyên môn</a:t>
            </a:r>
            <a:endParaRPr lang="en-US" sz="1400" dirty="0"/>
          </a:p>
        </p:txBody>
      </p:sp>
      <p:sp>
        <p:nvSpPr>
          <p:cNvPr id="69" name="Text 67"/>
          <p:cNvSpPr txBox="1"/>
          <p:nvPr/>
        </p:nvSpPr>
        <p:spPr>
          <a:xfrm>
            <a:off x="548640" y="9564624"/>
            <a:ext cx="6464808" cy="548640"/>
          </a:xfrm>
          <a:prstGeom prst="rect">
            <a:avLst/>
          </a:prstGeom>
          <a:noFill/>
          <a:ln/>
        </p:spPr>
        <p:txBody>
          <a:bodyPr wrap="square" lIns="0" tIns="0" rIns="0" bIns="0" rtlCol="0" anchor="t"/>
          <a:lstStyle/>
          <a:p>
            <a:pPr indent="0" marL="0">
              <a:lnSpc>
                <a:spcPct val="105000"/>
              </a:lnSpc>
              <a:buNone/>
            </a:pPr>
            <a:r>
              <a:rPr lang="en-US" sz="950" i="1" dirty="0">
                <a:solidFill>
                  <a:schemeClr val="accent5"/>
                </a:solidFill>
              </a:rPr>
              <a:t>Căn cứ xây dựng nội dung: NĐ 30/2020/NĐ-CP về công tác văn thư · NĐ 09/2019/NĐ-CP về chế độ báo cáo · NĐ 118/2025/NĐ-CP về cơ chế một cửa, một cửa liên thông · QĐ 45/2018/QĐ-TTg về chế độ họp · Luật Bảo vệ bí mật nhà nước 2018 · Luật Bảo vệ dữ liệu cá nhân 2025 · Luật Trí tuệ nhân tạo 2025 · Công văn 557/BKHCN-CĐSQG về nguyên tắc sử dụng chatbot AI.</a:t>
            </a:r>
            <a:endParaRPr lang="en-US" sz="95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user/ATL--DAKO/profile-daotao/assets/crop/ts3.jpg">    </p:cNvPr>
          <p:cNvPicPr>
            <a:picLocks noChangeAspect="1"/>
          </p:cNvPicPr>
          <p:nvPr/>
        </p:nvPicPr>
        <p:blipFill>
          <a:blip r:embed="rId1"/>
          <a:srcRect l="0" r="0" t="25902" b="25902"/>
          <a:stretch/>
        </p:blipFill>
        <p:spPr>
          <a:xfrm>
            <a:off x="3977640" y="0"/>
            <a:ext cx="3584448" cy="3291840"/>
          </a:xfrm>
          <a:prstGeom prst="rect">
            <a:avLst/>
          </a:prstGeom>
        </p:spPr>
      </p:pic>
      <p:sp>
        <p:nvSpPr>
          <p:cNvPr id="3" name="Text 0"/>
          <p:cNvSpPr txBox="1"/>
          <p:nvPr/>
        </p:nvSpPr>
        <p:spPr>
          <a:xfrm>
            <a:off x="548640" y="1188720"/>
            <a:ext cx="3291840" cy="256032"/>
          </a:xfrm>
          <a:prstGeom prst="rect">
            <a:avLst/>
          </a:prstGeom>
          <a:noFill/>
          <a:ln/>
        </p:spPr>
        <p:txBody>
          <a:bodyPr wrap="square" lIns="0" tIns="0" rIns="0" bIns="0" rtlCol="0" anchor="t"/>
          <a:lstStyle/>
          <a:p>
            <a:pPr indent="0" marL="0">
              <a:lnSpc>
                <a:spcPct val="105000"/>
              </a:lnSpc>
              <a:buNone/>
            </a:pPr>
            <a:r>
              <a:rPr lang="en-US" sz="1200" b="1" spc="300" kern="0" dirty="0">
                <a:solidFill>
                  <a:schemeClr val="accent2"/>
                </a:solidFill>
              </a:rPr>
              <a:t>PHẦN 05</a:t>
            </a:r>
            <a:endParaRPr lang="en-US" sz="1200" dirty="0"/>
          </a:p>
        </p:txBody>
      </p:sp>
      <p:sp>
        <p:nvSpPr>
          <p:cNvPr id="4" name="Text 1"/>
          <p:cNvSpPr txBox="1"/>
          <p:nvPr/>
        </p:nvSpPr>
        <p:spPr>
          <a:xfrm>
            <a:off x="548640" y="2743200"/>
            <a:ext cx="3246120" cy="457200"/>
          </a:xfrm>
          <a:prstGeom prst="rect">
            <a:avLst/>
          </a:prstGeom>
          <a:noFill/>
          <a:ln/>
        </p:spPr>
        <p:txBody>
          <a:bodyPr wrap="square" lIns="0" tIns="0" rIns="0" bIns="0" rtlCol="0" anchor="t"/>
          <a:lstStyle/>
          <a:p>
            <a:pPr indent="0" marL="0">
              <a:lnSpc>
                <a:spcPct val="105000"/>
              </a:lnSpc>
              <a:buNone/>
            </a:pPr>
            <a:r>
              <a:rPr lang="en-US" sz="1400" dirty="0">
                <a:solidFill>
                  <a:schemeClr val="accent3"/>
                </a:solidFill>
              </a:rPr>
              <a:t>Liên kết tuyển sinh chính quy từ Sơ cấp đến Tiến sĩ</a:t>
            </a:r>
            <a:endParaRPr lang="en-US" sz="1400" dirty="0"/>
          </a:p>
        </p:txBody>
      </p:sp>
      <p:sp>
        <p:nvSpPr>
          <p:cNvPr id="5" name="Text 1"/>
          <p:cNvSpPr/>
          <p:nvPr>
            <p:ph idx="103" type="title" hasCustomPrompt="1"/>
          </p:nvPr>
        </p:nvSpPr>
        <p:spPr>
          <a:xfrm>
            <a:off x="548640" y="1481328"/>
            <a:ext cx="3291840" cy="1188720"/>
          </a:xfrm>
          <a:prstGeom prst="rect">
            <a:avLst/>
          </a:prstGeom>
          <a:noFill/>
          <a:ln/>
        </p:spPr>
        <p:txBody>
          <a:bodyPr wrap="square" lIns="0" tIns="0" rIns="0" bIns="0" rtlCol="0" anchor="b"/>
          <a:lstStyle/>
          <a:p>
            <a:pPr algn="l" indent="0" marL="0">
              <a:lnSpc>
                <a:spcPct val="95000"/>
              </a:lnSpc>
              <a:buNone/>
            </a:pPr>
            <a:r>
              <a:rPr lang="en-US" sz="2600" b="1" dirty="0">
                <a:solidFill>
                  <a:schemeClr val="bg1"/>
                </a:solidFill>
              </a:rPr>
              <a:t>TRUNG TÂM</a:t>
            </a:r>
            <a:endParaRPr lang="en-US" sz="2600" dirty="0"/>
          </a:p>
          <a:p>
            <a:pPr algn="l" indent="0" marL="0">
              <a:lnSpc>
                <a:spcPct val="95000"/>
              </a:lnSpc>
              <a:buNone/>
            </a:pPr>
            <a:r>
              <a:rPr lang="en-US" sz="2600" b="1" dirty="0">
                <a:solidFill>
                  <a:schemeClr val="bg1"/>
                </a:solidFill>
              </a:rPr>
              <a:t>TUYỂN SINH</a:t>
            </a:r>
            <a:endParaRPr lang="en-US" sz="2600" dirty="0"/>
          </a:p>
        </p:txBody>
      </p:sp>
      <p:sp>
        <p:nvSpPr>
          <p:cNvPr id="6" name="Text 3"/>
          <p:cNvSpPr txBox="1"/>
          <p:nvPr/>
        </p:nvSpPr>
        <p:spPr>
          <a:xfrm>
            <a:off x="548640" y="3520440"/>
            <a:ext cx="3246120" cy="3154680"/>
          </a:xfrm>
          <a:prstGeom prst="rect">
            <a:avLst/>
          </a:prstGeom>
          <a:noFill/>
          <a:ln/>
        </p:spPr>
        <p:txBody>
          <a:bodyPr wrap="square" lIns="0" tIns="0" rIns="0" bIns="0" rtlCol="0" anchor="t"/>
          <a:lstStyle/>
          <a:p>
            <a:pPr algn="just" indent="0" marL="0">
              <a:lnSpc>
                <a:spcPct val="105000"/>
              </a:lnSpc>
              <a:spcAft>
                <a:spcPts val="800"/>
              </a:spcAft>
              <a:buNone/>
            </a:pPr>
            <a:r>
              <a:rPr lang="en-US" sz="1400" dirty="0">
                <a:solidFill>
                  <a:schemeClr val="tx1"/>
                </a:solidFill>
              </a:rPr>
              <a:t>Trung tâm Tuyển sinh của Viện STP đóng vai trò là </a:t>
            </a:r>
            <a:pPr algn="just" indent="0" marL="0">
              <a:lnSpc>
                <a:spcPct val="105000"/>
              </a:lnSpc>
              <a:spcAft>
                <a:spcPts val="800"/>
              </a:spcAft>
              <a:buNone/>
            </a:pPr>
            <a:r>
              <a:rPr lang="en-US" sz="1400" b="1" dirty="0">
                <a:solidFill>
                  <a:schemeClr val="accent1"/>
                </a:solidFill>
              </a:rPr>
              <a:t>đầu mối tư vấn và tuyển sinh</a:t>
            </a:r>
            <a:pPr algn="just" indent="0" marL="0">
              <a:lnSpc>
                <a:spcPct val="105000"/>
              </a:lnSpc>
              <a:spcAft>
                <a:spcPts val="800"/>
              </a:spcAft>
              <a:buNone/>
            </a:pPr>
            <a:r>
              <a:rPr lang="en-US" sz="1400" dirty="0">
                <a:solidFill>
                  <a:schemeClr val="tx1"/>
                </a:solidFill>
              </a:rPr>
              <a:t> cho các chương trình đào tạo chính quy từ cao đẳng đến sau đại học của các trường đại học, cao đẳng uy tín trong nước và quốc tế.</a:t>
            </a:r>
            <a:endParaRPr lang="en-US" sz="1400" dirty="0"/>
          </a:p>
          <a:p>
            <a:pPr algn="just" indent="0" marL="0">
              <a:lnSpc>
                <a:spcPct val="105000"/>
              </a:lnSpc>
              <a:spcAft>
                <a:spcPts val="800"/>
              </a:spcAft>
              <a:buNone/>
            </a:pPr>
            <a:r>
              <a:rPr lang="en-US" sz="1400" dirty="0">
                <a:solidFill>
                  <a:schemeClr val="tx1"/>
                </a:solidFill>
              </a:rPr>
              <a:t>Viện thực hiện chức năng </a:t>
            </a:r>
            <a:pPr algn="just" indent="0" marL="0">
              <a:lnSpc>
                <a:spcPct val="105000"/>
              </a:lnSpc>
              <a:spcAft>
                <a:spcPts val="800"/>
              </a:spcAft>
              <a:buNone/>
            </a:pPr>
            <a:r>
              <a:rPr lang="en-US" sz="1400" b="1" dirty="0">
                <a:solidFill>
                  <a:schemeClr val="accent1"/>
                </a:solidFill>
              </a:rPr>
              <a:t>kết nối, định hướng và hỗ trợ người học</a:t>
            </a:r>
            <a:pPr algn="just" indent="0" marL="0">
              <a:lnSpc>
                <a:spcPct val="105000"/>
              </a:lnSpc>
              <a:spcAft>
                <a:spcPts val="800"/>
              </a:spcAft>
              <a:buNone/>
            </a:pPr>
            <a:r>
              <a:rPr lang="en-US" sz="1400" dirty="0">
                <a:solidFill>
                  <a:schemeClr val="tx1"/>
                </a:solidFill>
              </a:rPr>
              <a:t> tiếp cận đúng chương trình, đúng đối tác đào tạo, trên cơ sở minh bạch thông tin và tuân thủ quy định pháp luật.</a:t>
            </a:r>
            <a:endParaRPr lang="en-US" sz="1400" dirty="0"/>
          </a:p>
        </p:txBody>
      </p:sp>
      <p:pic>
        <p:nvPicPr>
          <p:cNvPr id="7" name="Image 1" descr="/home/user/ATL--DAKO/profile-daotao/assets/crop/ts4.jpg">    </p:cNvPr>
          <p:cNvPicPr>
            <a:picLocks noChangeAspect="1"/>
          </p:cNvPicPr>
          <p:nvPr/>
        </p:nvPicPr>
        <p:blipFill>
          <a:blip r:embed="rId2"/>
          <a:srcRect l="13994" r="13994" t="0" b="0"/>
          <a:stretch/>
        </p:blipFill>
        <p:spPr>
          <a:xfrm>
            <a:off x="3977640" y="3611880"/>
            <a:ext cx="3035808" cy="2926080"/>
          </a:xfrm>
          <a:prstGeom prst="rect">
            <a:avLst/>
          </a:prstGeom>
          <a:effectLst>
            <a:outerShdw sx="100000" sy="100000" kx="0" ky="0" algn="bl" rotWithShape="0" blurRad="101600" dist="25400" dir="5400000">
              <a:srgbClr val="0B2A00">
                <a:alpha val="16000"/>
              </a:srgbClr>
            </a:outerShdw>
          </a:effectLst>
        </p:spPr>
      </p:pic>
      <p:sp>
        <p:nvSpPr>
          <p:cNvPr id="8" name="Text 4"/>
          <p:cNvSpPr txBox="1"/>
          <p:nvPr/>
        </p:nvSpPr>
        <p:spPr>
          <a:xfrm>
            <a:off x="548640" y="6812280"/>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TRÌNH ĐỘ TUYỂN SINH</a:t>
            </a:r>
            <a:endParaRPr lang="en-US" sz="1600" dirty="0"/>
          </a:p>
        </p:txBody>
      </p:sp>
      <p:sp>
        <p:nvSpPr>
          <p:cNvPr id="9" name="Shape 5"/>
          <p:cNvSpPr/>
          <p:nvPr/>
        </p:nvSpPr>
        <p:spPr>
          <a:xfrm>
            <a:off x="548640" y="7205472"/>
            <a:ext cx="1115568" cy="457200"/>
          </a:xfrm>
          <a:prstGeom prst="homePlate">
            <a:avLst/>
          </a:prstGeom>
          <a:solidFill>
            <a:schemeClr val="accent3"/>
          </a:solidFill>
          <a:ln/>
        </p:spPr>
      </p:sp>
      <p:sp>
        <p:nvSpPr>
          <p:cNvPr id="10" name="Text 6"/>
          <p:cNvSpPr txBox="1"/>
          <p:nvPr/>
        </p:nvSpPr>
        <p:spPr>
          <a:xfrm>
            <a:off x="594360"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tx2"/>
                </a:solidFill>
              </a:rPr>
              <a:t>Sơ cấp</a:t>
            </a:r>
            <a:endParaRPr lang="en-US" sz="1300" dirty="0"/>
          </a:p>
        </p:txBody>
      </p:sp>
      <p:sp>
        <p:nvSpPr>
          <p:cNvPr id="11" name="Shape 7"/>
          <p:cNvSpPr/>
          <p:nvPr/>
        </p:nvSpPr>
        <p:spPr>
          <a:xfrm>
            <a:off x="1618488" y="7205472"/>
            <a:ext cx="1115568" cy="457200"/>
          </a:xfrm>
          <a:prstGeom prst="chevron">
            <a:avLst/>
          </a:prstGeom>
          <a:solidFill>
            <a:schemeClr val="accent3"/>
          </a:solidFill>
          <a:ln/>
        </p:spPr>
      </p:sp>
      <p:sp>
        <p:nvSpPr>
          <p:cNvPr id="12" name="Text 8"/>
          <p:cNvSpPr txBox="1"/>
          <p:nvPr/>
        </p:nvSpPr>
        <p:spPr>
          <a:xfrm>
            <a:off x="1801368"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tx2"/>
                </a:solidFill>
              </a:rPr>
              <a:t>Trung cấp</a:t>
            </a:r>
            <a:endParaRPr lang="en-US" sz="1300" dirty="0"/>
          </a:p>
        </p:txBody>
      </p:sp>
      <p:sp>
        <p:nvSpPr>
          <p:cNvPr id="13" name="Shape 9"/>
          <p:cNvSpPr/>
          <p:nvPr/>
        </p:nvSpPr>
        <p:spPr>
          <a:xfrm>
            <a:off x="2688336" y="7205472"/>
            <a:ext cx="1115568" cy="457200"/>
          </a:xfrm>
          <a:prstGeom prst="chevron">
            <a:avLst/>
          </a:prstGeom>
          <a:solidFill>
            <a:schemeClr val="accent2"/>
          </a:solidFill>
          <a:ln/>
        </p:spPr>
      </p:sp>
      <p:sp>
        <p:nvSpPr>
          <p:cNvPr id="14" name="Text 10"/>
          <p:cNvSpPr txBox="1"/>
          <p:nvPr/>
        </p:nvSpPr>
        <p:spPr>
          <a:xfrm>
            <a:off x="2871216"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tx2"/>
                </a:solidFill>
              </a:rPr>
              <a:t>Cao đẳng</a:t>
            </a:r>
            <a:endParaRPr lang="en-US" sz="1300" dirty="0"/>
          </a:p>
        </p:txBody>
      </p:sp>
      <p:sp>
        <p:nvSpPr>
          <p:cNvPr id="15" name="Shape 11"/>
          <p:cNvSpPr/>
          <p:nvPr/>
        </p:nvSpPr>
        <p:spPr>
          <a:xfrm>
            <a:off x="3758184" y="7205472"/>
            <a:ext cx="1115568" cy="457200"/>
          </a:xfrm>
          <a:prstGeom prst="chevron">
            <a:avLst/>
          </a:prstGeom>
          <a:solidFill>
            <a:schemeClr val="accent2"/>
          </a:solidFill>
          <a:ln/>
        </p:spPr>
      </p:sp>
      <p:sp>
        <p:nvSpPr>
          <p:cNvPr id="16" name="Text 12"/>
          <p:cNvSpPr txBox="1"/>
          <p:nvPr/>
        </p:nvSpPr>
        <p:spPr>
          <a:xfrm>
            <a:off x="3941064"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tx2"/>
                </a:solidFill>
              </a:rPr>
              <a:t>Đại học</a:t>
            </a:r>
            <a:endParaRPr lang="en-US" sz="1300" dirty="0"/>
          </a:p>
        </p:txBody>
      </p:sp>
      <p:sp>
        <p:nvSpPr>
          <p:cNvPr id="17" name="Shape 13"/>
          <p:cNvSpPr/>
          <p:nvPr/>
        </p:nvSpPr>
        <p:spPr>
          <a:xfrm>
            <a:off x="4828032" y="7205472"/>
            <a:ext cx="1115568" cy="457200"/>
          </a:xfrm>
          <a:prstGeom prst="chevron">
            <a:avLst/>
          </a:prstGeom>
          <a:solidFill>
            <a:schemeClr val="accent1"/>
          </a:solidFill>
          <a:ln/>
        </p:spPr>
      </p:sp>
      <p:sp>
        <p:nvSpPr>
          <p:cNvPr id="18" name="Text 14"/>
          <p:cNvSpPr txBox="1"/>
          <p:nvPr/>
        </p:nvSpPr>
        <p:spPr>
          <a:xfrm>
            <a:off x="5010912"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Thạc sĩ</a:t>
            </a:r>
            <a:endParaRPr lang="en-US" sz="1300" dirty="0"/>
          </a:p>
        </p:txBody>
      </p:sp>
      <p:sp>
        <p:nvSpPr>
          <p:cNvPr id="19" name="Shape 15"/>
          <p:cNvSpPr/>
          <p:nvPr/>
        </p:nvSpPr>
        <p:spPr>
          <a:xfrm>
            <a:off x="5897880" y="7205472"/>
            <a:ext cx="1115568" cy="457200"/>
          </a:xfrm>
          <a:prstGeom prst="chevron">
            <a:avLst/>
          </a:prstGeom>
          <a:solidFill>
            <a:schemeClr val="tx2"/>
          </a:solidFill>
          <a:ln/>
        </p:spPr>
      </p:sp>
      <p:sp>
        <p:nvSpPr>
          <p:cNvPr id="20" name="Text 16"/>
          <p:cNvSpPr txBox="1"/>
          <p:nvPr/>
        </p:nvSpPr>
        <p:spPr>
          <a:xfrm>
            <a:off x="6080760" y="7205472"/>
            <a:ext cx="795528" cy="457200"/>
          </a:xfrm>
          <a:prstGeom prst="rect">
            <a:avLst/>
          </a:prstGeom>
          <a:noFill/>
          <a:ln/>
        </p:spPr>
        <p:txBody>
          <a:bodyPr wrap="square" lIns="0" tIns="0" rIns="0" bIns="0" rtlCol="0" anchor="ctr"/>
          <a:lstStyle/>
          <a:p>
            <a:pPr algn="ctr" indent="0" marL="0">
              <a:lnSpc>
                <a:spcPct val="105000"/>
              </a:lnSpc>
              <a:buNone/>
            </a:pPr>
            <a:r>
              <a:rPr lang="en-US" sz="1300" b="1" dirty="0">
                <a:solidFill>
                  <a:schemeClr val="bg1"/>
                </a:solidFill>
              </a:rPr>
              <a:t>Tiến sĩ</a:t>
            </a:r>
            <a:endParaRPr lang="en-US" sz="1300" dirty="0"/>
          </a:p>
        </p:txBody>
      </p:sp>
      <p:pic>
        <p:nvPicPr>
          <p:cNvPr id="21" name="Image 2" descr="/home/user/ATL--DAKO/profile-daotao/assets/crop/ts1.jpg">    </p:cNvPr>
          <p:cNvPicPr>
            <a:picLocks noChangeAspect="1"/>
          </p:cNvPicPr>
          <p:nvPr/>
        </p:nvPicPr>
        <p:blipFill>
          <a:blip r:embed="rId3"/>
          <a:srcRect l="0" r="0" t="23837" b="23837"/>
          <a:stretch/>
        </p:blipFill>
        <p:spPr>
          <a:xfrm>
            <a:off x="548640" y="7882128"/>
            <a:ext cx="2063496" cy="2057400"/>
          </a:xfrm>
          <a:prstGeom prst="rect">
            <a:avLst/>
          </a:prstGeom>
        </p:spPr>
      </p:pic>
      <p:pic>
        <p:nvPicPr>
          <p:cNvPr id="22" name="Image 3" descr="/home/user/ATL--DAKO/profile-daotao/assets/crop/ts2.jpg">    </p:cNvPr>
          <p:cNvPicPr>
            <a:picLocks noChangeAspect="1"/>
          </p:cNvPicPr>
          <p:nvPr/>
        </p:nvPicPr>
        <p:blipFill>
          <a:blip r:embed="rId4"/>
          <a:srcRect l="0" r="0" t="22304" b="22304"/>
          <a:stretch/>
        </p:blipFill>
        <p:spPr>
          <a:xfrm>
            <a:off x="2749296" y="7882128"/>
            <a:ext cx="2063496" cy="2057400"/>
          </a:xfrm>
          <a:prstGeom prst="rect">
            <a:avLst/>
          </a:prstGeom>
        </p:spPr>
      </p:pic>
      <p:sp>
        <p:nvSpPr>
          <p:cNvPr id="23" name="Shape 17"/>
          <p:cNvSpPr/>
          <p:nvPr/>
        </p:nvSpPr>
        <p:spPr>
          <a:xfrm>
            <a:off x="4949952" y="7882128"/>
            <a:ext cx="2063496" cy="2057400"/>
          </a:xfrm>
          <a:prstGeom prst="roundRect">
            <a:avLst>
              <a:gd name="adj" fmla="val 5333"/>
            </a:avLst>
          </a:prstGeom>
          <a:solidFill>
            <a:schemeClr val="tx2"/>
          </a:solidFill>
          <a:ln/>
        </p:spPr>
      </p:sp>
      <p:sp>
        <p:nvSpPr>
          <p:cNvPr id="24" name="Shape 18"/>
          <p:cNvSpPr/>
          <p:nvPr/>
        </p:nvSpPr>
        <p:spPr>
          <a:xfrm>
            <a:off x="5132832" y="8046720"/>
            <a:ext cx="502920" cy="502920"/>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5253533" y="8167421"/>
            <a:ext cx="261518" cy="261518"/>
          </a:xfrm>
          <a:prstGeom prst="rect">
            <a:avLst/>
          </a:prstGeom>
        </p:spPr>
      </p:pic>
      <p:sp>
        <p:nvSpPr>
          <p:cNvPr id="26" name="Text 19"/>
          <p:cNvSpPr txBox="1"/>
          <p:nvPr/>
        </p:nvSpPr>
        <p:spPr>
          <a:xfrm>
            <a:off x="5132832" y="8641080"/>
            <a:ext cx="1743456" cy="1188720"/>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2"/>
                </a:solidFill>
              </a:rPr>
              <a:t>TỔ CHỨC</a:t>
            </a:r>
            <a:endParaRPr lang="en-US" sz="1400" dirty="0"/>
          </a:p>
          <a:p>
            <a:pPr indent="0" marL="0">
              <a:lnSpc>
                <a:spcPct val="105000"/>
              </a:lnSpc>
              <a:buNone/>
            </a:pPr>
            <a:r>
              <a:rPr lang="en-US" sz="1500" b="1" dirty="0">
                <a:solidFill>
                  <a:schemeClr val="bg1"/>
                </a:solidFill>
              </a:rPr>
              <a:t>Hội nghị, hội thảo khoa học, giáo dục, công nghệ</a:t>
            </a:r>
            <a:endParaRPr lang="en-US" sz="14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05 · TRUNG TÂM ĐÀO TẠO &amp; KHẢO THÍ</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ĐÀO TẠO &amp; KHẢO THÍ</a:t>
            </a:r>
            <a:endParaRPr lang="en-US" sz="2800" dirty="0"/>
          </a:p>
        </p:txBody>
      </p:sp>
      <p:pic>
        <p:nvPicPr>
          <p:cNvPr id="4" name="Image 0" descr="/home/user/ATL--DAKO/profile-daotao/assets/crop/cam_building.jpg">    </p:cNvPr>
          <p:cNvPicPr>
            <a:picLocks noChangeAspect="1"/>
          </p:cNvPicPr>
          <p:nvPr/>
        </p:nvPicPr>
        <p:blipFill>
          <a:blip r:embed="rId1"/>
          <a:srcRect l="2729" r="2729" t="0" b="0"/>
          <a:stretch/>
        </p:blipFill>
        <p:spPr>
          <a:xfrm>
            <a:off x="548640" y="1325880"/>
            <a:ext cx="3200400" cy="5120640"/>
          </a:xfrm>
          <a:prstGeom prst="rect">
            <a:avLst/>
          </a:prstGeom>
          <a:effectLst>
            <a:outerShdw sx="100000" sy="100000" kx="0" ky="0" algn="bl" rotWithShape="0" blurRad="101600" dist="25400" dir="5400000">
              <a:srgbClr val="0B2A00">
                <a:alpha val="16000"/>
              </a:srgbClr>
            </a:outerShdw>
          </a:effectLst>
        </p:spPr>
      </p:pic>
      <p:sp>
        <p:nvSpPr>
          <p:cNvPr id="5" name="Shape 2"/>
          <p:cNvSpPr/>
          <p:nvPr/>
        </p:nvSpPr>
        <p:spPr>
          <a:xfrm>
            <a:off x="4005072" y="1371600"/>
            <a:ext cx="566928" cy="566928"/>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4141135" y="1507663"/>
            <a:ext cx="294803" cy="294803"/>
          </a:xfrm>
          <a:prstGeom prst="rect">
            <a:avLst/>
          </a:prstGeom>
        </p:spPr>
      </p:pic>
      <p:sp>
        <p:nvSpPr>
          <p:cNvPr id="7" name="Text 3"/>
          <p:cNvSpPr txBox="1"/>
          <p:nvPr/>
        </p:nvSpPr>
        <p:spPr>
          <a:xfrm>
            <a:off x="4690872" y="1325880"/>
            <a:ext cx="2322576" cy="685800"/>
          </a:xfrm>
          <a:prstGeom prst="rect">
            <a:avLst/>
          </a:prstGeom>
          <a:noFill/>
          <a:ln/>
        </p:spPr>
        <p:txBody>
          <a:bodyPr wrap="square" lIns="0" tIns="0" rIns="0" bIns="0" rtlCol="0" anchor="ctr"/>
          <a:lstStyle/>
          <a:p>
            <a:pPr indent="0" marL="0">
              <a:lnSpc>
                <a:spcPct val="105000"/>
              </a:lnSpc>
              <a:buNone/>
            </a:pPr>
            <a:r>
              <a:rPr lang="en-US" sz="1300" b="1" spc="100" kern="0" dirty="0">
                <a:solidFill>
                  <a:schemeClr val="accent1"/>
                </a:solidFill>
              </a:rPr>
              <a:t>CHUẨN TIẾNG ANH</a:t>
            </a:r>
            <a:endParaRPr lang="en-US" sz="1400" dirty="0"/>
          </a:p>
          <a:p>
            <a:pPr indent="0" marL="0">
              <a:lnSpc>
                <a:spcPct val="105000"/>
              </a:lnSpc>
              <a:buNone/>
            </a:pPr>
            <a:r>
              <a:rPr lang="en-US" sz="2600" b="1" dirty="0">
                <a:solidFill>
                  <a:schemeClr val="tx2"/>
                </a:solidFill>
              </a:rPr>
              <a:t>CAMBRIDGE</a:t>
            </a:r>
            <a:endParaRPr lang="en-US" sz="1400" dirty="0"/>
          </a:p>
        </p:txBody>
      </p:sp>
      <p:sp>
        <p:nvSpPr>
          <p:cNvPr id="8" name="Shape 4"/>
          <p:cNvSpPr/>
          <p:nvPr/>
        </p:nvSpPr>
        <p:spPr>
          <a:xfrm>
            <a:off x="4005072" y="2176272"/>
            <a:ext cx="3008376" cy="0"/>
          </a:xfrm>
          <a:prstGeom prst="line">
            <a:avLst/>
          </a:prstGeom>
          <a:noFill/>
          <a:ln w="12700">
            <a:solidFill>
              <a:schemeClr val="accent1"/>
            </a:solidFill>
            <a:prstDash val="solid"/>
          </a:ln>
        </p:spPr>
      </p:sp>
      <p:pic>
        <p:nvPicPr>
          <p:cNvPr id="9" name="Image 2" descr="preencoded.png">    </p:cNvPr>
          <p:cNvPicPr>
            <a:picLocks noChangeAspect="1"/>
          </p:cNvPicPr>
          <p:nvPr/>
        </p:nvPicPr>
        <p:blipFill>
          <a:blip r:embed="rId3"/>
          <a:stretch>
            <a:fillRect/>
          </a:stretch>
        </p:blipFill>
        <p:spPr>
          <a:xfrm>
            <a:off x="4078224" y="2359152"/>
            <a:ext cx="219456" cy="219456"/>
          </a:xfrm>
          <a:prstGeom prst="rect">
            <a:avLst/>
          </a:prstGeom>
        </p:spPr>
      </p:pic>
      <p:sp>
        <p:nvSpPr>
          <p:cNvPr id="10" name="Text 5"/>
          <p:cNvSpPr txBox="1"/>
          <p:nvPr/>
        </p:nvSpPr>
        <p:spPr>
          <a:xfrm>
            <a:off x="4443984" y="230428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CEST</a:t>
            </a:r>
            <a:endParaRPr lang="en-US" sz="1500" dirty="0"/>
          </a:p>
        </p:txBody>
      </p:sp>
      <p:pic>
        <p:nvPicPr>
          <p:cNvPr id="11" name="Image 3" descr="preencoded.png">    </p:cNvPr>
          <p:cNvPicPr>
            <a:picLocks noChangeAspect="1"/>
          </p:cNvPicPr>
          <p:nvPr/>
        </p:nvPicPr>
        <p:blipFill>
          <a:blip r:embed="rId4"/>
          <a:stretch>
            <a:fillRect/>
          </a:stretch>
        </p:blipFill>
        <p:spPr>
          <a:xfrm>
            <a:off x="4078224" y="2724912"/>
            <a:ext cx="219456" cy="219456"/>
          </a:xfrm>
          <a:prstGeom prst="rect">
            <a:avLst/>
          </a:prstGeom>
        </p:spPr>
      </p:pic>
      <p:sp>
        <p:nvSpPr>
          <p:cNvPr id="12" name="Text 6"/>
          <p:cNvSpPr txBox="1"/>
          <p:nvPr/>
        </p:nvSpPr>
        <p:spPr>
          <a:xfrm>
            <a:off x="4443984" y="267004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LINGUASKILL</a:t>
            </a:r>
            <a:endParaRPr lang="en-US" sz="1500" dirty="0"/>
          </a:p>
        </p:txBody>
      </p:sp>
      <p:pic>
        <p:nvPicPr>
          <p:cNvPr id="13" name="Image 4" descr="preencoded.png">    </p:cNvPr>
          <p:cNvPicPr>
            <a:picLocks noChangeAspect="1"/>
          </p:cNvPicPr>
          <p:nvPr/>
        </p:nvPicPr>
        <p:blipFill>
          <a:blip r:embed="rId5"/>
          <a:stretch>
            <a:fillRect/>
          </a:stretch>
        </p:blipFill>
        <p:spPr>
          <a:xfrm>
            <a:off x="4078224" y="3090672"/>
            <a:ext cx="219456" cy="219456"/>
          </a:xfrm>
          <a:prstGeom prst="rect">
            <a:avLst/>
          </a:prstGeom>
        </p:spPr>
      </p:pic>
      <p:sp>
        <p:nvSpPr>
          <p:cNvPr id="14" name="Text 7"/>
          <p:cNvSpPr txBox="1"/>
          <p:nvPr/>
        </p:nvSpPr>
        <p:spPr>
          <a:xfrm>
            <a:off x="4443984" y="303580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PROFICIENCY (CPE)</a:t>
            </a:r>
            <a:endParaRPr lang="en-US" sz="1500" dirty="0"/>
          </a:p>
        </p:txBody>
      </p:sp>
      <p:pic>
        <p:nvPicPr>
          <p:cNvPr id="15" name="Image 5" descr="preencoded.png">    </p:cNvPr>
          <p:cNvPicPr>
            <a:picLocks noChangeAspect="1"/>
          </p:cNvPicPr>
          <p:nvPr/>
        </p:nvPicPr>
        <p:blipFill>
          <a:blip r:embed="rId6"/>
          <a:stretch>
            <a:fillRect/>
          </a:stretch>
        </p:blipFill>
        <p:spPr>
          <a:xfrm>
            <a:off x="4078224" y="3456432"/>
            <a:ext cx="219456" cy="219456"/>
          </a:xfrm>
          <a:prstGeom prst="rect">
            <a:avLst/>
          </a:prstGeom>
        </p:spPr>
      </p:pic>
      <p:sp>
        <p:nvSpPr>
          <p:cNvPr id="16" name="Text 8"/>
          <p:cNvSpPr txBox="1"/>
          <p:nvPr/>
        </p:nvSpPr>
        <p:spPr>
          <a:xfrm>
            <a:off x="4443984" y="340156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ADVANCED (CAE)</a:t>
            </a:r>
            <a:endParaRPr lang="en-US" sz="1500" dirty="0"/>
          </a:p>
        </p:txBody>
      </p:sp>
      <p:pic>
        <p:nvPicPr>
          <p:cNvPr id="17" name="Image 6" descr="preencoded.png">    </p:cNvPr>
          <p:cNvPicPr>
            <a:picLocks noChangeAspect="1"/>
          </p:cNvPicPr>
          <p:nvPr/>
        </p:nvPicPr>
        <p:blipFill>
          <a:blip r:embed="rId7"/>
          <a:stretch>
            <a:fillRect/>
          </a:stretch>
        </p:blipFill>
        <p:spPr>
          <a:xfrm>
            <a:off x="4078224" y="3822192"/>
            <a:ext cx="219456" cy="219456"/>
          </a:xfrm>
          <a:prstGeom prst="rect">
            <a:avLst/>
          </a:prstGeom>
        </p:spPr>
      </p:pic>
      <p:sp>
        <p:nvSpPr>
          <p:cNvPr id="18" name="Text 9"/>
          <p:cNvSpPr txBox="1"/>
          <p:nvPr/>
        </p:nvSpPr>
        <p:spPr>
          <a:xfrm>
            <a:off x="4443984" y="376732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FIRST (FCE)</a:t>
            </a:r>
            <a:endParaRPr lang="en-US" sz="1500" dirty="0"/>
          </a:p>
        </p:txBody>
      </p:sp>
      <p:pic>
        <p:nvPicPr>
          <p:cNvPr id="19" name="Image 7" descr="preencoded.png">    </p:cNvPr>
          <p:cNvPicPr>
            <a:picLocks noChangeAspect="1"/>
          </p:cNvPicPr>
          <p:nvPr/>
        </p:nvPicPr>
        <p:blipFill>
          <a:blip r:embed="rId8"/>
          <a:stretch>
            <a:fillRect/>
          </a:stretch>
        </p:blipFill>
        <p:spPr>
          <a:xfrm>
            <a:off x="4078224" y="4187952"/>
            <a:ext cx="219456" cy="219456"/>
          </a:xfrm>
          <a:prstGeom prst="rect">
            <a:avLst/>
          </a:prstGeom>
        </p:spPr>
      </p:pic>
      <p:sp>
        <p:nvSpPr>
          <p:cNvPr id="20" name="Text 10"/>
          <p:cNvSpPr txBox="1"/>
          <p:nvPr/>
        </p:nvSpPr>
        <p:spPr>
          <a:xfrm>
            <a:off x="4443984" y="413308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PRELIMINARY (PET)</a:t>
            </a:r>
            <a:endParaRPr lang="en-US" sz="1500" dirty="0"/>
          </a:p>
        </p:txBody>
      </p:sp>
      <p:pic>
        <p:nvPicPr>
          <p:cNvPr id="21" name="Image 8" descr="preencoded.png">    </p:cNvPr>
          <p:cNvPicPr>
            <a:picLocks noChangeAspect="1"/>
          </p:cNvPicPr>
          <p:nvPr/>
        </p:nvPicPr>
        <p:blipFill>
          <a:blip r:embed="rId9"/>
          <a:stretch>
            <a:fillRect/>
          </a:stretch>
        </p:blipFill>
        <p:spPr>
          <a:xfrm>
            <a:off x="4078224" y="4553712"/>
            <a:ext cx="219456" cy="219456"/>
          </a:xfrm>
          <a:prstGeom prst="rect">
            <a:avLst/>
          </a:prstGeom>
        </p:spPr>
      </p:pic>
      <p:sp>
        <p:nvSpPr>
          <p:cNvPr id="22" name="Text 11"/>
          <p:cNvSpPr txBox="1"/>
          <p:nvPr/>
        </p:nvSpPr>
        <p:spPr>
          <a:xfrm>
            <a:off x="4443984" y="449884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KEY (KET)</a:t>
            </a:r>
            <a:endParaRPr lang="en-US" sz="1500" dirty="0"/>
          </a:p>
        </p:txBody>
      </p:sp>
      <p:pic>
        <p:nvPicPr>
          <p:cNvPr id="23" name="Image 9" descr="preencoded.png">    </p:cNvPr>
          <p:cNvPicPr>
            <a:picLocks noChangeAspect="1"/>
          </p:cNvPicPr>
          <p:nvPr/>
        </p:nvPicPr>
        <p:blipFill>
          <a:blip r:embed="rId10"/>
          <a:stretch>
            <a:fillRect/>
          </a:stretch>
        </p:blipFill>
        <p:spPr>
          <a:xfrm>
            <a:off x="4078224" y="4919472"/>
            <a:ext cx="219456" cy="219456"/>
          </a:xfrm>
          <a:prstGeom prst="rect">
            <a:avLst/>
          </a:prstGeom>
        </p:spPr>
      </p:pic>
      <p:sp>
        <p:nvSpPr>
          <p:cNvPr id="24" name="Text 12"/>
          <p:cNvSpPr txBox="1"/>
          <p:nvPr/>
        </p:nvSpPr>
        <p:spPr>
          <a:xfrm>
            <a:off x="4443984" y="486460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FLYERS</a:t>
            </a:r>
            <a:endParaRPr lang="en-US" sz="1500" dirty="0"/>
          </a:p>
        </p:txBody>
      </p:sp>
      <p:pic>
        <p:nvPicPr>
          <p:cNvPr id="25" name="Image 10" descr="preencoded.png">    </p:cNvPr>
          <p:cNvPicPr>
            <a:picLocks noChangeAspect="1"/>
          </p:cNvPicPr>
          <p:nvPr/>
        </p:nvPicPr>
        <p:blipFill>
          <a:blip r:embed="rId11"/>
          <a:stretch>
            <a:fillRect/>
          </a:stretch>
        </p:blipFill>
        <p:spPr>
          <a:xfrm>
            <a:off x="4078224" y="5285232"/>
            <a:ext cx="219456" cy="219456"/>
          </a:xfrm>
          <a:prstGeom prst="rect">
            <a:avLst/>
          </a:prstGeom>
        </p:spPr>
      </p:pic>
      <p:sp>
        <p:nvSpPr>
          <p:cNvPr id="26" name="Text 13"/>
          <p:cNvSpPr txBox="1"/>
          <p:nvPr/>
        </p:nvSpPr>
        <p:spPr>
          <a:xfrm>
            <a:off x="4443984" y="523036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MOVERS</a:t>
            </a:r>
            <a:endParaRPr lang="en-US" sz="1500" dirty="0"/>
          </a:p>
        </p:txBody>
      </p:sp>
      <p:pic>
        <p:nvPicPr>
          <p:cNvPr id="27" name="Image 11" descr="preencoded.png">    </p:cNvPr>
          <p:cNvPicPr>
            <a:picLocks noChangeAspect="1"/>
          </p:cNvPicPr>
          <p:nvPr/>
        </p:nvPicPr>
        <p:blipFill>
          <a:blip r:embed="rId12"/>
          <a:stretch>
            <a:fillRect/>
          </a:stretch>
        </p:blipFill>
        <p:spPr>
          <a:xfrm>
            <a:off x="4078224" y="5650992"/>
            <a:ext cx="219456" cy="219456"/>
          </a:xfrm>
          <a:prstGeom prst="rect">
            <a:avLst/>
          </a:prstGeom>
        </p:spPr>
      </p:pic>
      <p:sp>
        <p:nvSpPr>
          <p:cNvPr id="28" name="Text 14"/>
          <p:cNvSpPr txBox="1"/>
          <p:nvPr/>
        </p:nvSpPr>
        <p:spPr>
          <a:xfrm>
            <a:off x="4443984" y="5596128"/>
            <a:ext cx="2551176" cy="329184"/>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STARTERS</a:t>
            </a:r>
            <a:endParaRPr lang="en-US" sz="1500" dirty="0"/>
          </a:p>
        </p:txBody>
      </p:sp>
      <p:sp>
        <p:nvSpPr>
          <p:cNvPr id="29" name="Shape 15"/>
          <p:cNvSpPr/>
          <p:nvPr/>
        </p:nvSpPr>
        <p:spPr>
          <a:xfrm>
            <a:off x="4005072" y="6035040"/>
            <a:ext cx="2139696" cy="411480"/>
          </a:xfrm>
          <a:prstGeom prst="roundRect">
            <a:avLst>
              <a:gd name="adj" fmla="val 48889"/>
            </a:avLst>
          </a:prstGeom>
          <a:solidFill>
            <a:schemeClr val="bg1"/>
          </a:solidFill>
          <a:ln w="15875">
            <a:solidFill>
              <a:schemeClr val="accent1"/>
            </a:solidFill>
            <a:prstDash val="solid"/>
          </a:ln>
        </p:spPr>
      </p:sp>
      <p:sp>
        <p:nvSpPr>
          <p:cNvPr id="30" name="Text 16"/>
          <p:cNvSpPr txBox="1"/>
          <p:nvPr/>
        </p:nvSpPr>
        <p:spPr>
          <a:xfrm>
            <a:off x="4005072" y="6035040"/>
            <a:ext cx="2139696" cy="411480"/>
          </a:xfrm>
          <a:prstGeom prst="rect">
            <a:avLst/>
          </a:prstGeom>
          <a:noFill/>
          <a:ln/>
        </p:spPr>
        <p:txBody>
          <a:bodyPr wrap="square" lIns="0" tIns="0" rIns="0" bIns="0" rtlCol="0" anchor="ctr"/>
          <a:lstStyle/>
          <a:p>
            <a:pPr algn="ctr" indent="0" marL="0">
              <a:lnSpc>
                <a:spcPct val="105000"/>
              </a:lnSpc>
              <a:buNone/>
            </a:pPr>
            <a:r>
              <a:rPr lang="en-US" sz="1300" b="1" dirty="0">
                <a:solidFill>
                  <a:schemeClr val="tx2"/>
                </a:solidFill>
              </a:rPr>
              <a:t>QR hướng dẫn đường đi  →</a:t>
            </a:r>
            <a:endParaRPr lang="en-US" sz="1300" dirty="0"/>
          </a:p>
        </p:txBody>
      </p:sp>
      <p:sp>
        <p:nvSpPr>
          <p:cNvPr id="31" name="Shape 17"/>
          <p:cNvSpPr/>
          <p:nvPr/>
        </p:nvSpPr>
        <p:spPr>
          <a:xfrm>
            <a:off x="6236208" y="5687568"/>
            <a:ext cx="777240" cy="777240"/>
          </a:xfrm>
          <a:prstGeom prst="roundRect">
            <a:avLst>
              <a:gd name="adj" fmla="val 4706"/>
            </a:avLst>
          </a:prstGeom>
          <a:solidFill>
            <a:schemeClr val="bg1"/>
          </a:solidFill>
          <a:ln w="15875">
            <a:solidFill>
              <a:schemeClr val="accent1"/>
            </a:solidFill>
            <a:prstDash val="solid"/>
          </a:ln>
        </p:spPr>
      </p:sp>
      <p:pic>
        <p:nvPicPr>
          <p:cNvPr id="32" name="Image 12" descr="/home/user/ATL--DAKO/profile-daotao/assets/logo/qr_map.png">    </p:cNvPr>
          <p:cNvPicPr>
            <a:picLocks noChangeAspect="1"/>
          </p:cNvPicPr>
          <p:nvPr/>
        </p:nvPicPr>
        <p:blipFill>
          <a:blip r:embed="rId13"/>
          <a:stretch>
            <a:fillRect/>
          </a:stretch>
        </p:blipFill>
        <p:spPr>
          <a:xfrm>
            <a:off x="6281928" y="5733288"/>
            <a:ext cx="685800" cy="685800"/>
          </a:xfrm>
          <a:prstGeom prst="rect">
            <a:avLst/>
          </a:prstGeom>
        </p:spPr>
      </p:pic>
      <p:sp>
        <p:nvSpPr>
          <p:cNvPr id="33" name="Text 18"/>
          <p:cNvSpPr txBox="1"/>
          <p:nvPr/>
        </p:nvSpPr>
        <p:spPr>
          <a:xfrm>
            <a:off x="548640" y="6656832"/>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KHÔNG GIAN HỌC TẬP</a:t>
            </a:r>
            <a:endParaRPr lang="en-US" sz="1600" dirty="0"/>
          </a:p>
        </p:txBody>
      </p:sp>
      <p:pic>
        <p:nvPicPr>
          <p:cNvPr id="34" name="Image 13" descr="/home/user/ATL--DAKO/profile-daotao/assets/crop/class2.jpg">    </p:cNvPr>
          <p:cNvPicPr>
            <a:picLocks noChangeAspect="1"/>
          </p:cNvPicPr>
          <p:nvPr/>
        </p:nvPicPr>
        <p:blipFill>
          <a:blip r:embed="rId14"/>
          <a:srcRect l="0" r="0" t="2561" b="2561"/>
          <a:stretch/>
        </p:blipFill>
        <p:spPr>
          <a:xfrm>
            <a:off x="548640" y="7040880"/>
            <a:ext cx="3977640" cy="2926080"/>
          </a:xfrm>
          <a:prstGeom prst="rect">
            <a:avLst/>
          </a:prstGeom>
        </p:spPr>
      </p:pic>
      <p:pic>
        <p:nvPicPr>
          <p:cNvPr id="35" name="Image 14" descr="/home/user/ATL--DAKO/profile-daotao/assets/crop/class1.jpg">    </p:cNvPr>
          <p:cNvPicPr>
            <a:picLocks noChangeAspect="1"/>
          </p:cNvPicPr>
          <p:nvPr/>
        </p:nvPicPr>
        <p:blipFill>
          <a:blip r:embed="rId15"/>
          <a:srcRect l="0" r="0" t="13943" b="13943"/>
          <a:stretch/>
        </p:blipFill>
        <p:spPr>
          <a:xfrm>
            <a:off x="4663440" y="7040880"/>
            <a:ext cx="2350008" cy="1399032"/>
          </a:xfrm>
          <a:prstGeom prst="rect">
            <a:avLst/>
          </a:prstGeom>
        </p:spPr>
      </p:pic>
      <p:pic>
        <p:nvPicPr>
          <p:cNvPr id="36" name="Image 15" descr="/home/user/ATL--DAKO/profile-daotao/assets/crop/class3.jpg">    </p:cNvPr>
          <p:cNvPicPr>
            <a:picLocks noChangeAspect="1"/>
          </p:cNvPicPr>
          <p:nvPr/>
        </p:nvPicPr>
        <p:blipFill>
          <a:blip r:embed="rId16"/>
          <a:srcRect l="0" r="0" t="14527" b="14527"/>
          <a:stretch/>
        </p:blipFill>
        <p:spPr>
          <a:xfrm>
            <a:off x="4663440" y="8567928"/>
            <a:ext cx="2350008" cy="1399032"/>
          </a:xfrm>
          <a:prstGeom prst="rect">
            <a:avLst/>
          </a:prstGeom>
        </p:spPr>
      </p:pic>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05 · TRUNG TÂM ĐÀO TẠO &amp; KHẢO THÍ</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PHÒNG THI MÁY TÍNH</a:t>
            </a:r>
            <a:endParaRPr lang="en-US" sz="2800" dirty="0"/>
          </a:p>
        </p:txBody>
      </p:sp>
      <p:sp>
        <p:nvSpPr>
          <p:cNvPr id="4" name="Shape 2"/>
          <p:cNvSpPr/>
          <p:nvPr/>
        </p:nvSpPr>
        <p:spPr>
          <a:xfrm>
            <a:off x="548640" y="1325880"/>
            <a:ext cx="6464808" cy="1188720"/>
          </a:xfrm>
          <a:prstGeom prst="roundRect">
            <a:avLst>
              <a:gd name="adj" fmla="val 9231"/>
            </a:avLst>
          </a:prstGeom>
          <a:solidFill>
            <a:schemeClr val="tx2"/>
          </a:solidFill>
          <a:ln/>
          <a:effectLst>
            <a:outerShdw sx="100000" sy="100000" kx="0" ky="0" algn="bl" rotWithShape="0" blurRad="101600" dist="25400" dir="5400000">
              <a:srgbClr val="0B2A00">
                <a:alpha val="16000"/>
              </a:srgbClr>
            </a:outerShdw>
          </a:effectLst>
        </p:spPr>
      </p:sp>
      <p:sp>
        <p:nvSpPr>
          <p:cNvPr id="5" name="Text 3"/>
          <p:cNvSpPr txBox="1"/>
          <p:nvPr/>
        </p:nvSpPr>
        <p:spPr>
          <a:xfrm>
            <a:off x="777240" y="1371600"/>
            <a:ext cx="1737360" cy="1097280"/>
          </a:xfrm>
          <a:prstGeom prst="rect">
            <a:avLst/>
          </a:prstGeom>
          <a:noFill/>
          <a:ln/>
        </p:spPr>
        <p:txBody>
          <a:bodyPr wrap="square" lIns="0" tIns="0" rIns="0" bIns="0" rtlCol="0" anchor="ctr"/>
          <a:lstStyle/>
          <a:p>
            <a:pPr indent="0" marL="0">
              <a:lnSpc>
                <a:spcPct val="105000"/>
              </a:lnSpc>
              <a:buNone/>
            </a:pPr>
            <a:r>
              <a:rPr lang="en-US" sz="6000" b="1" dirty="0">
                <a:solidFill>
                  <a:schemeClr val="accent2"/>
                </a:solidFill>
              </a:rPr>
              <a:t>250</a:t>
            </a:r>
            <a:endParaRPr lang="en-US" sz="6000" dirty="0"/>
          </a:p>
        </p:txBody>
      </p:sp>
      <p:sp>
        <p:nvSpPr>
          <p:cNvPr id="6" name="Text 4"/>
          <p:cNvSpPr txBox="1"/>
          <p:nvPr/>
        </p:nvSpPr>
        <p:spPr>
          <a:xfrm>
            <a:off x="2606040" y="1417320"/>
            <a:ext cx="4251960" cy="1005840"/>
          </a:xfrm>
          <a:prstGeom prst="rect">
            <a:avLst/>
          </a:prstGeom>
          <a:noFill/>
          <a:ln/>
        </p:spPr>
        <p:txBody>
          <a:bodyPr wrap="square" lIns="0" tIns="0" rIns="0" bIns="0" rtlCol="0" anchor="ctr"/>
          <a:lstStyle/>
          <a:p>
            <a:pPr indent="0" marL="0">
              <a:lnSpc>
                <a:spcPct val="105000"/>
              </a:lnSpc>
              <a:buNone/>
            </a:pPr>
            <a:r>
              <a:rPr lang="en-US" sz="2000" b="1" spc="200" kern="0" dirty="0">
                <a:solidFill>
                  <a:schemeClr val="bg1"/>
                </a:solidFill>
              </a:rPr>
              <a:t>THÍ SINH / CA THI</a:t>
            </a:r>
            <a:endParaRPr lang="en-US" sz="1400" dirty="0"/>
          </a:p>
          <a:p>
            <a:pPr indent="0" marL="0">
              <a:lnSpc>
                <a:spcPct val="105000"/>
              </a:lnSpc>
              <a:buNone/>
            </a:pPr>
            <a:r>
              <a:rPr lang="en-US" sz="1400" dirty="0">
                <a:solidFill>
                  <a:schemeClr val="accent3"/>
                </a:solidFill>
              </a:rPr>
              <a:t>Phòng thi với hệ thống máy đáp ứng lên đến 250 thí sinh / ca thi</a:t>
            </a:r>
            <a:endParaRPr lang="en-US" sz="1400" dirty="0"/>
          </a:p>
        </p:txBody>
      </p:sp>
      <p:pic>
        <p:nvPicPr>
          <p:cNvPr id="7" name="Image 0" descr="/home/user/ATL--DAKO/profile-daotao/assets/crop/exam1.jpg">    </p:cNvPr>
          <p:cNvPicPr>
            <a:picLocks noChangeAspect="1"/>
          </p:cNvPicPr>
          <p:nvPr/>
        </p:nvPicPr>
        <p:blipFill>
          <a:blip r:embed="rId1"/>
          <a:srcRect l="1233" r="1233" t="0" b="0"/>
          <a:stretch/>
        </p:blipFill>
        <p:spPr>
          <a:xfrm>
            <a:off x="548640" y="2697480"/>
            <a:ext cx="3163824" cy="1783080"/>
          </a:xfrm>
          <a:prstGeom prst="rect">
            <a:avLst/>
          </a:prstGeom>
        </p:spPr>
      </p:pic>
      <p:pic>
        <p:nvPicPr>
          <p:cNvPr id="8" name="Image 1" descr="/home/user/ATL--DAKO/profile-daotao/assets/crop/exam2.jpg">    </p:cNvPr>
          <p:cNvPicPr>
            <a:picLocks noChangeAspect="1"/>
          </p:cNvPicPr>
          <p:nvPr/>
        </p:nvPicPr>
        <p:blipFill>
          <a:blip r:embed="rId2"/>
          <a:srcRect l="0" r="0" t="1952" b="1952"/>
          <a:stretch/>
        </p:blipFill>
        <p:spPr>
          <a:xfrm>
            <a:off x="3849624" y="2697480"/>
            <a:ext cx="3163824" cy="1783080"/>
          </a:xfrm>
          <a:prstGeom prst="rect">
            <a:avLst/>
          </a:prstGeom>
        </p:spPr>
      </p:pic>
      <p:pic>
        <p:nvPicPr>
          <p:cNvPr id="9" name="Image 2" descr="/home/user/ATL--DAKO/profile-daotao/assets/crop/exam3.jpg">    </p:cNvPr>
          <p:cNvPicPr>
            <a:picLocks noChangeAspect="1"/>
          </p:cNvPicPr>
          <p:nvPr/>
        </p:nvPicPr>
        <p:blipFill>
          <a:blip r:embed="rId3"/>
          <a:srcRect l="0" r="0" t="1025" b="1025"/>
          <a:stretch/>
        </p:blipFill>
        <p:spPr>
          <a:xfrm>
            <a:off x="548640" y="4599432"/>
            <a:ext cx="3163824" cy="1783080"/>
          </a:xfrm>
          <a:prstGeom prst="rect">
            <a:avLst/>
          </a:prstGeom>
        </p:spPr>
      </p:pic>
      <p:pic>
        <p:nvPicPr>
          <p:cNvPr id="10" name="Image 3" descr="/home/user/ATL--DAKO/profile-daotao/assets/crop/exam4.jpg">    </p:cNvPr>
          <p:cNvPicPr>
            <a:picLocks noChangeAspect="1"/>
          </p:cNvPicPr>
          <p:nvPr/>
        </p:nvPicPr>
        <p:blipFill>
          <a:blip r:embed="rId4"/>
          <a:srcRect l="0" r="0" t="2080" b="2080"/>
          <a:stretch/>
        </p:blipFill>
        <p:spPr>
          <a:xfrm>
            <a:off x="3849624" y="4599432"/>
            <a:ext cx="3163824" cy="1783080"/>
          </a:xfrm>
          <a:prstGeom prst="rect">
            <a:avLst/>
          </a:prstGeom>
        </p:spPr>
      </p:pic>
      <p:pic>
        <p:nvPicPr>
          <p:cNvPr id="11" name="Image 4" descr="/home/user/ATL--DAKO/profile-daotao/assets/crop/exam5.jpg">    </p:cNvPr>
          <p:cNvPicPr>
            <a:picLocks noChangeAspect="1"/>
          </p:cNvPicPr>
          <p:nvPr/>
        </p:nvPicPr>
        <p:blipFill>
          <a:blip r:embed="rId5"/>
          <a:srcRect l="0" r="0" t="3688" b="3688"/>
          <a:stretch/>
        </p:blipFill>
        <p:spPr>
          <a:xfrm>
            <a:off x="548640" y="6519672"/>
            <a:ext cx="2063496" cy="3474720"/>
          </a:xfrm>
          <a:prstGeom prst="rect">
            <a:avLst/>
          </a:prstGeom>
        </p:spPr>
      </p:pic>
      <p:pic>
        <p:nvPicPr>
          <p:cNvPr id="12" name="Image 5" descr="/home/user/ATL--DAKO/profile-daotao/assets/crop/exam6.jpg">    </p:cNvPr>
          <p:cNvPicPr>
            <a:picLocks noChangeAspect="1"/>
          </p:cNvPicPr>
          <p:nvPr/>
        </p:nvPicPr>
        <p:blipFill>
          <a:blip r:embed="rId6"/>
          <a:srcRect l="0" r="0" t="6869" b="6869"/>
          <a:stretch/>
        </p:blipFill>
        <p:spPr>
          <a:xfrm>
            <a:off x="2749296" y="6519672"/>
            <a:ext cx="2063496" cy="3474720"/>
          </a:xfrm>
          <a:prstGeom prst="rect">
            <a:avLst/>
          </a:prstGeom>
        </p:spPr>
      </p:pic>
      <p:pic>
        <p:nvPicPr>
          <p:cNvPr id="13" name="Image 6" descr="/home/user/ATL--DAKO/profile-daotao/assets/crop/exam7.jpg">    </p:cNvPr>
          <p:cNvPicPr>
            <a:picLocks noChangeAspect="1"/>
          </p:cNvPicPr>
          <p:nvPr/>
        </p:nvPicPr>
        <p:blipFill>
          <a:blip r:embed="rId7"/>
          <a:srcRect l="0" r="0" t="13336" b="13336"/>
          <a:stretch/>
        </p:blipFill>
        <p:spPr>
          <a:xfrm>
            <a:off x="4949952" y="6519672"/>
            <a:ext cx="2063496" cy="3474720"/>
          </a:xfrm>
          <a:prstGeom prst="rect">
            <a:avLst/>
          </a:prstGeom>
        </p:spPr>
      </p:pic>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06 · ĐỐI TÁC &amp; MẠNG LƯỚI LIÊN KẾT</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ĐỐI TÁC &amp; KHÁCH HÀNG</a:t>
            </a:r>
            <a:endParaRPr lang="en-US" sz="2800" dirty="0"/>
          </a:p>
        </p:txBody>
      </p:sp>
      <p:sp>
        <p:nvSpPr>
          <p:cNvPr id="4" name="Text 2"/>
          <p:cNvSpPr txBox="1"/>
          <p:nvPr/>
        </p:nvSpPr>
        <p:spPr>
          <a:xfrm>
            <a:off x="548640" y="1261872"/>
            <a:ext cx="6464808" cy="1481328"/>
          </a:xfrm>
          <a:prstGeom prst="rect">
            <a:avLst/>
          </a:prstGeom>
          <a:noFill/>
          <a:ln/>
        </p:spPr>
        <p:txBody>
          <a:bodyPr wrap="square" lIns="0" tIns="0" rIns="0" bIns="0" rtlCol="0" anchor="t"/>
          <a:lstStyle/>
          <a:p>
            <a:pPr algn="just" indent="0" marL="0">
              <a:lnSpc>
                <a:spcPct val="105000"/>
              </a:lnSpc>
              <a:spcAft>
                <a:spcPts val="600"/>
              </a:spcAft>
              <a:buNone/>
            </a:pPr>
            <a:r>
              <a:rPr lang="en-US" sz="1400" dirty="0">
                <a:solidFill>
                  <a:schemeClr val="tx1"/>
                </a:solidFill>
              </a:rPr>
              <a:t>Viện STP xây dựng và phát triển </a:t>
            </a:r>
            <a:pPr algn="just" indent="0" marL="0">
              <a:lnSpc>
                <a:spcPct val="105000"/>
              </a:lnSpc>
              <a:spcAft>
                <a:spcPts val="600"/>
              </a:spcAft>
              <a:buNone/>
            </a:pPr>
            <a:r>
              <a:rPr lang="en-US" sz="1400" b="1" dirty="0">
                <a:solidFill>
                  <a:schemeClr val="accent1"/>
                </a:solidFill>
              </a:rPr>
              <a:t>mạng lưới hợp tác rộng khắp</a:t>
            </a:r>
            <a:pPr algn="just" indent="0" marL="0">
              <a:lnSpc>
                <a:spcPct val="105000"/>
              </a:lnSpc>
              <a:spcAft>
                <a:spcPts val="600"/>
              </a:spcAft>
              <a:buNone/>
            </a:pPr>
            <a:r>
              <a:rPr lang="en-US" sz="1400" dirty="0">
                <a:solidFill>
                  <a:schemeClr val="tx1"/>
                </a:solidFill>
              </a:rPr>
              <a:t> với các trường đại học, cao đẳng, viện nghiên cứu, doanh nghiệp và tổ chức trong nước và quốc tế.</a:t>
            </a:r>
            <a:endParaRPr lang="en-US" sz="1400" dirty="0"/>
          </a:p>
          <a:p>
            <a:pPr algn="just" indent="0" marL="0">
              <a:lnSpc>
                <a:spcPct val="105000"/>
              </a:lnSpc>
              <a:spcAft>
                <a:spcPts val="600"/>
              </a:spcAft>
              <a:buNone/>
            </a:pPr>
            <a:r>
              <a:rPr lang="en-US" sz="1400" dirty="0">
                <a:solidFill>
                  <a:schemeClr val="tx1"/>
                </a:solidFill>
              </a:rPr>
              <a:t>Thông qua mạng lưới này, chúng tôi đóng vai trò kết nối, phối hợp và đồng hành cùng đối tác trong việc triển khai các chương trình đào tạo, nghiên cứu khoa học, tư vấn chuyên môn và hoạt động phát triển nguồn nhân lực bền vững.</a:t>
            </a:r>
            <a:endParaRPr lang="en-US" sz="1400" dirty="0"/>
          </a:p>
        </p:txBody>
      </p:sp>
      <p:sp>
        <p:nvSpPr>
          <p:cNvPr id="5" name="Shape 3"/>
          <p:cNvSpPr/>
          <p:nvPr/>
        </p:nvSpPr>
        <p:spPr>
          <a:xfrm>
            <a:off x="548640" y="2834640"/>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6" name="Image 0" descr="/home/user/ATL--DAKO/profile-daotao/assets/crop/partner01.jpg">    </p:cNvPr>
          <p:cNvPicPr>
            <a:picLocks noChangeAspect="1"/>
          </p:cNvPicPr>
          <p:nvPr/>
        </p:nvPicPr>
        <p:blipFill>
          <a:blip r:embed="rId1"/>
          <a:stretch>
            <a:fillRect/>
          </a:stretch>
        </p:blipFill>
        <p:spPr>
          <a:xfrm>
            <a:off x="908837" y="2880360"/>
            <a:ext cx="799795" cy="749808"/>
          </a:xfrm>
          <a:prstGeom prst="rect">
            <a:avLst/>
          </a:prstGeom>
        </p:spPr>
      </p:pic>
      <p:sp>
        <p:nvSpPr>
          <p:cNvPr id="7" name="Shape 4"/>
          <p:cNvSpPr/>
          <p:nvPr/>
        </p:nvSpPr>
        <p:spPr>
          <a:xfrm>
            <a:off x="2196846" y="2834640"/>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8" name="Image 1" descr="/home/user/ATL--DAKO/profile-daotao/assets/crop/partner02.jpg">    </p:cNvPr>
          <p:cNvPicPr>
            <a:picLocks noChangeAspect="1"/>
          </p:cNvPicPr>
          <p:nvPr/>
        </p:nvPicPr>
        <p:blipFill>
          <a:blip r:embed="rId2"/>
          <a:stretch>
            <a:fillRect/>
          </a:stretch>
        </p:blipFill>
        <p:spPr>
          <a:xfrm>
            <a:off x="2557043" y="2880360"/>
            <a:ext cx="799795" cy="749808"/>
          </a:xfrm>
          <a:prstGeom prst="rect">
            <a:avLst/>
          </a:prstGeom>
        </p:spPr>
      </p:pic>
      <p:sp>
        <p:nvSpPr>
          <p:cNvPr id="9" name="Shape 5"/>
          <p:cNvSpPr/>
          <p:nvPr/>
        </p:nvSpPr>
        <p:spPr>
          <a:xfrm>
            <a:off x="3845052" y="2834640"/>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10" name="Image 2" descr="/home/user/ATL--DAKO/profile-daotao/assets/crop/partner03.jpg">    </p:cNvPr>
          <p:cNvPicPr>
            <a:picLocks noChangeAspect="1"/>
          </p:cNvPicPr>
          <p:nvPr/>
        </p:nvPicPr>
        <p:blipFill>
          <a:blip r:embed="rId3"/>
          <a:stretch>
            <a:fillRect/>
          </a:stretch>
        </p:blipFill>
        <p:spPr>
          <a:xfrm>
            <a:off x="4206811" y="2880360"/>
            <a:ext cx="796671" cy="749808"/>
          </a:xfrm>
          <a:prstGeom prst="rect">
            <a:avLst/>
          </a:prstGeom>
        </p:spPr>
      </p:pic>
      <p:sp>
        <p:nvSpPr>
          <p:cNvPr id="11" name="Shape 6"/>
          <p:cNvSpPr/>
          <p:nvPr/>
        </p:nvSpPr>
        <p:spPr>
          <a:xfrm>
            <a:off x="5493258" y="2834640"/>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12" name="Image 3" descr="/home/user/ATL--DAKO/profile-daotao/assets/crop/partner04.jpg">    </p:cNvPr>
          <p:cNvPicPr>
            <a:picLocks noChangeAspect="1"/>
          </p:cNvPicPr>
          <p:nvPr/>
        </p:nvPicPr>
        <p:blipFill>
          <a:blip r:embed="rId4"/>
          <a:stretch>
            <a:fillRect/>
          </a:stretch>
        </p:blipFill>
        <p:spPr>
          <a:xfrm>
            <a:off x="5853455" y="2880360"/>
            <a:ext cx="799795" cy="749808"/>
          </a:xfrm>
          <a:prstGeom prst="rect">
            <a:avLst/>
          </a:prstGeom>
        </p:spPr>
      </p:pic>
      <p:sp>
        <p:nvSpPr>
          <p:cNvPr id="13" name="Shape 7"/>
          <p:cNvSpPr/>
          <p:nvPr/>
        </p:nvSpPr>
        <p:spPr>
          <a:xfrm>
            <a:off x="548640" y="3767328"/>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14" name="Image 4" descr="/home/user/ATL--DAKO/profile-daotao/assets/crop/partner05.jpg">    </p:cNvPr>
          <p:cNvPicPr>
            <a:picLocks noChangeAspect="1"/>
          </p:cNvPicPr>
          <p:nvPr/>
        </p:nvPicPr>
        <p:blipFill>
          <a:blip r:embed="rId5"/>
          <a:stretch>
            <a:fillRect/>
          </a:stretch>
        </p:blipFill>
        <p:spPr>
          <a:xfrm>
            <a:off x="908837" y="3813048"/>
            <a:ext cx="799795" cy="749808"/>
          </a:xfrm>
          <a:prstGeom prst="rect">
            <a:avLst/>
          </a:prstGeom>
        </p:spPr>
      </p:pic>
      <p:sp>
        <p:nvSpPr>
          <p:cNvPr id="15" name="Shape 8"/>
          <p:cNvSpPr/>
          <p:nvPr/>
        </p:nvSpPr>
        <p:spPr>
          <a:xfrm>
            <a:off x="2196846" y="3767328"/>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16" name="Image 5" descr="/home/user/ATL--DAKO/profile-daotao/assets/crop/partner06.jpg">    </p:cNvPr>
          <p:cNvPicPr>
            <a:picLocks noChangeAspect="1"/>
          </p:cNvPicPr>
          <p:nvPr/>
        </p:nvPicPr>
        <p:blipFill>
          <a:blip r:embed="rId6"/>
          <a:stretch>
            <a:fillRect/>
          </a:stretch>
        </p:blipFill>
        <p:spPr>
          <a:xfrm>
            <a:off x="2557043" y="3813048"/>
            <a:ext cx="799795" cy="749808"/>
          </a:xfrm>
          <a:prstGeom prst="rect">
            <a:avLst/>
          </a:prstGeom>
        </p:spPr>
      </p:pic>
      <p:sp>
        <p:nvSpPr>
          <p:cNvPr id="17" name="Shape 9"/>
          <p:cNvSpPr/>
          <p:nvPr/>
        </p:nvSpPr>
        <p:spPr>
          <a:xfrm>
            <a:off x="3845052" y="3767328"/>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18" name="Image 6" descr="/home/user/ATL--DAKO/profile-daotao/assets/crop/partner07.jpg">    </p:cNvPr>
          <p:cNvPicPr>
            <a:picLocks noChangeAspect="1"/>
          </p:cNvPicPr>
          <p:nvPr/>
        </p:nvPicPr>
        <p:blipFill>
          <a:blip r:embed="rId7"/>
          <a:stretch>
            <a:fillRect/>
          </a:stretch>
        </p:blipFill>
        <p:spPr>
          <a:xfrm>
            <a:off x="4206811" y="3813048"/>
            <a:ext cx="796671" cy="749808"/>
          </a:xfrm>
          <a:prstGeom prst="rect">
            <a:avLst/>
          </a:prstGeom>
        </p:spPr>
      </p:pic>
      <p:sp>
        <p:nvSpPr>
          <p:cNvPr id="19" name="Shape 10"/>
          <p:cNvSpPr/>
          <p:nvPr/>
        </p:nvSpPr>
        <p:spPr>
          <a:xfrm>
            <a:off x="5493258" y="3767328"/>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20" name="Image 7" descr="/home/user/ATL--DAKO/profile-daotao/assets/crop/partner08.jpg">    </p:cNvPr>
          <p:cNvPicPr>
            <a:picLocks noChangeAspect="1"/>
          </p:cNvPicPr>
          <p:nvPr/>
        </p:nvPicPr>
        <p:blipFill>
          <a:blip r:embed="rId8"/>
          <a:stretch>
            <a:fillRect/>
          </a:stretch>
        </p:blipFill>
        <p:spPr>
          <a:xfrm>
            <a:off x="5853455" y="3813048"/>
            <a:ext cx="799795" cy="749808"/>
          </a:xfrm>
          <a:prstGeom prst="rect">
            <a:avLst/>
          </a:prstGeom>
        </p:spPr>
      </p:pic>
      <p:sp>
        <p:nvSpPr>
          <p:cNvPr id="21" name="Shape 11"/>
          <p:cNvSpPr/>
          <p:nvPr/>
        </p:nvSpPr>
        <p:spPr>
          <a:xfrm>
            <a:off x="548640" y="4700016"/>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22" name="Image 8" descr="/home/user/ATL--DAKO/profile-daotao/assets/crop/partner09.jpg">    </p:cNvPr>
          <p:cNvPicPr>
            <a:picLocks noChangeAspect="1"/>
          </p:cNvPicPr>
          <p:nvPr/>
        </p:nvPicPr>
        <p:blipFill>
          <a:blip r:embed="rId9"/>
          <a:stretch>
            <a:fillRect/>
          </a:stretch>
        </p:blipFill>
        <p:spPr>
          <a:xfrm>
            <a:off x="908837" y="4745736"/>
            <a:ext cx="799795" cy="749808"/>
          </a:xfrm>
          <a:prstGeom prst="rect">
            <a:avLst/>
          </a:prstGeom>
        </p:spPr>
      </p:pic>
      <p:sp>
        <p:nvSpPr>
          <p:cNvPr id="23" name="Shape 12"/>
          <p:cNvSpPr/>
          <p:nvPr/>
        </p:nvSpPr>
        <p:spPr>
          <a:xfrm>
            <a:off x="2196846" y="4700016"/>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24" name="Image 9" descr="/home/user/ATL--DAKO/profile-daotao/assets/crop/partner10.jpg">    </p:cNvPr>
          <p:cNvPicPr>
            <a:picLocks noChangeAspect="1"/>
          </p:cNvPicPr>
          <p:nvPr/>
        </p:nvPicPr>
        <p:blipFill>
          <a:blip r:embed="rId10"/>
          <a:stretch>
            <a:fillRect/>
          </a:stretch>
        </p:blipFill>
        <p:spPr>
          <a:xfrm>
            <a:off x="2557043" y="4745736"/>
            <a:ext cx="799795" cy="749808"/>
          </a:xfrm>
          <a:prstGeom prst="rect">
            <a:avLst/>
          </a:prstGeom>
        </p:spPr>
      </p:pic>
      <p:sp>
        <p:nvSpPr>
          <p:cNvPr id="25" name="Shape 13"/>
          <p:cNvSpPr/>
          <p:nvPr/>
        </p:nvSpPr>
        <p:spPr>
          <a:xfrm>
            <a:off x="3845052" y="4700016"/>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26" name="Image 10" descr="/home/user/ATL--DAKO/profile-daotao/assets/crop/partner11.jpg">    </p:cNvPr>
          <p:cNvPicPr>
            <a:picLocks noChangeAspect="1"/>
          </p:cNvPicPr>
          <p:nvPr/>
        </p:nvPicPr>
        <p:blipFill>
          <a:blip r:embed="rId11"/>
          <a:stretch>
            <a:fillRect/>
          </a:stretch>
        </p:blipFill>
        <p:spPr>
          <a:xfrm>
            <a:off x="4206811" y="4745736"/>
            <a:ext cx="796671" cy="749808"/>
          </a:xfrm>
          <a:prstGeom prst="rect">
            <a:avLst/>
          </a:prstGeom>
        </p:spPr>
      </p:pic>
      <p:sp>
        <p:nvSpPr>
          <p:cNvPr id="27" name="Shape 14"/>
          <p:cNvSpPr/>
          <p:nvPr/>
        </p:nvSpPr>
        <p:spPr>
          <a:xfrm>
            <a:off x="5493258" y="4700016"/>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28" name="Image 11" descr="/home/user/ATL--DAKO/profile-daotao/assets/crop/partner12.jpg">    </p:cNvPr>
          <p:cNvPicPr>
            <a:picLocks noChangeAspect="1"/>
          </p:cNvPicPr>
          <p:nvPr/>
        </p:nvPicPr>
        <p:blipFill>
          <a:blip r:embed="rId12"/>
          <a:stretch>
            <a:fillRect/>
          </a:stretch>
        </p:blipFill>
        <p:spPr>
          <a:xfrm>
            <a:off x="5853455" y="4745736"/>
            <a:ext cx="799795" cy="749808"/>
          </a:xfrm>
          <a:prstGeom prst="rect">
            <a:avLst/>
          </a:prstGeom>
        </p:spPr>
      </p:pic>
      <p:sp>
        <p:nvSpPr>
          <p:cNvPr id="29" name="Shape 15"/>
          <p:cNvSpPr/>
          <p:nvPr/>
        </p:nvSpPr>
        <p:spPr>
          <a:xfrm>
            <a:off x="548640" y="5632704"/>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30" name="Image 12" descr="/home/user/ATL--DAKO/profile-daotao/assets/crop/partner13.jpg">    </p:cNvPr>
          <p:cNvPicPr>
            <a:picLocks noChangeAspect="1"/>
          </p:cNvPicPr>
          <p:nvPr/>
        </p:nvPicPr>
        <p:blipFill>
          <a:blip r:embed="rId13"/>
          <a:stretch>
            <a:fillRect/>
          </a:stretch>
        </p:blipFill>
        <p:spPr>
          <a:xfrm>
            <a:off x="907164" y="5678424"/>
            <a:ext cx="803142" cy="749808"/>
          </a:xfrm>
          <a:prstGeom prst="rect">
            <a:avLst/>
          </a:prstGeom>
        </p:spPr>
      </p:pic>
      <p:sp>
        <p:nvSpPr>
          <p:cNvPr id="31" name="Shape 16"/>
          <p:cNvSpPr/>
          <p:nvPr/>
        </p:nvSpPr>
        <p:spPr>
          <a:xfrm>
            <a:off x="2196846" y="5632704"/>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32" name="Image 13" descr="/home/user/ATL--DAKO/profile-daotao/assets/crop/partner14.jpg">    </p:cNvPr>
          <p:cNvPicPr>
            <a:picLocks noChangeAspect="1"/>
          </p:cNvPicPr>
          <p:nvPr/>
        </p:nvPicPr>
        <p:blipFill>
          <a:blip r:embed="rId14"/>
          <a:stretch>
            <a:fillRect/>
          </a:stretch>
        </p:blipFill>
        <p:spPr>
          <a:xfrm>
            <a:off x="2555370" y="5678424"/>
            <a:ext cx="803142" cy="749808"/>
          </a:xfrm>
          <a:prstGeom prst="rect">
            <a:avLst/>
          </a:prstGeom>
        </p:spPr>
      </p:pic>
      <p:sp>
        <p:nvSpPr>
          <p:cNvPr id="33" name="Shape 17"/>
          <p:cNvSpPr/>
          <p:nvPr/>
        </p:nvSpPr>
        <p:spPr>
          <a:xfrm>
            <a:off x="3845052" y="5632704"/>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34" name="Image 14" descr="/home/user/ATL--DAKO/profile-daotao/assets/crop/partner15.jpg">    </p:cNvPr>
          <p:cNvPicPr>
            <a:picLocks noChangeAspect="1"/>
          </p:cNvPicPr>
          <p:nvPr/>
        </p:nvPicPr>
        <p:blipFill>
          <a:blip r:embed="rId15"/>
          <a:stretch>
            <a:fillRect/>
          </a:stretch>
        </p:blipFill>
        <p:spPr>
          <a:xfrm>
            <a:off x="4205145" y="5678424"/>
            <a:ext cx="800004" cy="749808"/>
          </a:xfrm>
          <a:prstGeom prst="rect">
            <a:avLst/>
          </a:prstGeom>
        </p:spPr>
      </p:pic>
      <p:sp>
        <p:nvSpPr>
          <p:cNvPr id="35" name="Shape 18"/>
          <p:cNvSpPr/>
          <p:nvPr/>
        </p:nvSpPr>
        <p:spPr>
          <a:xfrm>
            <a:off x="5493258" y="5632704"/>
            <a:ext cx="1520190" cy="841248"/>
          </a:xfrm>
          <a:prstGeom prst="roundRect">
            <a:avLst>
              <a:gd name="adj" fmla="val 8696"/>
            </a:avLst>
          </a:prstGeom>
          <a:solidFill>
            <a:schemeClr val="bg1"/>
          </a:solidFill>
          <a:ln w="6350">
            <a:solidFill>
              <a:srgbClr val="E1EADB"/>
            </a:solidFill>
            <a:prstDash val="solid"/>
          </a:ln>
          <a:effectLst>
            <a:outerShdw sx="100000" sy="100000" kx="0" ky="0" algn="bl" rotWithShape="0" blurRad="101600" dist="25400" dir="5400000">
              <a:srgbClr val="0B2A00">
                <a:alpha val="16000"/>
              </a:srgbClr>
            </a:outerShdw>
          </a:effectLst>
        </p:spPr>
      </p:sp>
      <p:pic>
        <p:nvPicPr>
          <p:cNvPr id="36" name="Image 15" descr="/home/user/ATL--DAKO/profile-daotao/assets/crop/partner16.jpg">    </p:cNvPr>
          <p:cNvPicPr>
            <a:picLocks noChangeAspect="1"/>
          </p:cNvPicPr>
          <p:nvPr/>
        </p:nvPicPr>
        <p:blipFill>
          <a:blip r:embed="rId16"/>
          <a:stretch>
            <a:fillRect/>
          </a:stretch>
        </p:blipFill>
        <p:spPr>
          <a:xfrm>
            <a:off x="5851782" y="5678424"/>
            <a:ext cx="803142" cy="749808"/>
          </a:xfrm>
          <a:prstGeom prst="rect">
            <a:avLst/>
          </a:prstGeom>
        </p:spPr>
      </p:pic>
      <p:sp>
        <p:nvSpPr>
          <p:cNvPr id="37" name="Text 19"/>
          <p:cNvSpPr txBox="1"/>
          <p:nvPr/>
        </p:nvSpPr>
        <p:spPr>
          <a:xfrm>
            <a:off x="548640" y="6693408"/>
            <a:ext cx="6464808" cy="310896"/>
          </a:xfrm>
          <a:prstGeom prst="rect">
            <a:avLst/>
          </a:prstGeom>
          <a:noFill/>
          <a:ln/>
        </p:spPr>
        <p:txBody>
          <a:bodyPr wrap="square" lIns="0" tIns="0" rIns="0" bIns="0" rtlCol="0" anchor="t"/>
          <a:lstStyle/>
          <a:p>
            <a:pPr indent="0" marL="0">
              <a:lnSpc>
                <a:spcPct val="105000"/>
              </a:lnSpc>
              <a:buNone/>
            </a:pPr>
            <a:r>
              <a:rPr lang="en-US" sz="1600" b="1" spc="100" kern="0" dirty="0">
                <a:solidFill>
                  <a:schemeClr val="tx2"/>
                </a:solidFill>
              </a:rPr>
              <a:t>KHÁCH HÀNG TIÊU BIỂU – HUẤN LUYỆN ATLĐ</a:t>
            </a:r>
            <a:endParaRPr lang="en-US" sz="1600" dirty="0"/>
          </a:p>
        </p:txBody>
      </p:sp>
      <p:pic>
        <p:nvPicPr>
          <p:cNvPr id="38" name="Image 16" descr="/home/user/ATL--DAKO/profile-daotao/assets/atl/image128.jpeg">    </p:cNvPr>
          <p:cNvPicPr>
            <a:picLocks noChangeAspect="1"/>
          </p:cNvPicPr>
          <p:nvPr/>
        </p:nvPicPr>
        <p:blipFill>
          <a:blip r:embed="rId17"/>
          <a:srcRect l="4212" r="4212" t="0" b="0"/>
          <a:stretch/>
        </p:blipFill>
        <p:spPr>
          <a:xfrm>
            <a:off x="548640" y="7077456"/>
            <a:ext cx="1533906" cy="1417320"/>
          </a:xfrm>
          <a:prstGeom prst="rect">
            <a:avLst/>
          </a:prstGeom>
        </p:spPr>
      </p:pic>
      <p:sp>
        <p:nvSpPr>
          <p:cNvPr id="39" name="Text 20"/>
          <p:cNvSpPr txBox="1"/>
          <p:nvPr/>
        </p:nvSpPr>
        <p:spPr>
          <a:xfrm>
            <a:off x="621792" y="801928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SX-TM-DV Asanka</a:t>
            </a:r>
            <a:endParaRPr lang="en-US" sz="1100" dirty="0"/>
          </a:p>
        </p:txBody>
      </p:sp>
      <p:pic>
        <p:nvPicPr>
          <p:cNvPr id="40" name="Image 17" descr="/home/user/ATL--DAKO/profile-daotao/assets/atl/image129.jpeg">    </p:cNvPr>
          <p:cNvPicPr>
            <a:picLocks noChangeAspect="1"/>
          </p:cNvPicPr>
          <p:nvPr/>
        </p:nvPicPr>
        <p:blipFill>
          <a:blip r:embed="rId18"/>
          <a:srcRect l="4212" r="4212" t="0" b="0"/>
          <a:stretch/>
        </p:blipFill>
        <p:spPr>
          <a:xfrm>
            <a:off x="2192274" y="7077456"/>
            <a:ext cx="1533906" cy="1417320"/>
          </a:xfrm>
          <a:prstGeom prst="rect">
            <a:avLst/>
          </a:prstGeom>
        </p:spPr>
      </p:pic>
      <p:sp>
        <p:nvSpPr>
          <p:cNvPr id="41" name="Text 21"/>
          <p:cNvSpPr txBox="1"/>
          <p:nvPr/>
        </p:nvSpPr>
        <p:spPr>
          <a:xfrm>
            <a:off x="2265426" y="801928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Emivest Feedmill V.N</a:t>
            </a:r>
            <a:endParaRPr lang="en-US" sz="1100" dirty="0"/>
          </a:p>
        </p:txBody>
      </p:sp>
      <p:pic>
        <p:nvPicPr>
          <p:cNvPr id="42" name="Image 18" descr="/home/user/ATL--DAKO/profile-daotao/assets/atl/image130.jpeg">    </p:cNvPr>
          <p:cNvPicPr>
            <a:picLocks noChangeAspect="1"/>
          </p:cNvPicPr>
          <p:nvPr/>
        </p:nvPicPr>
        <p:blipFill>
          <a:blip r:embed="rId19"/>
          <a:srcRect l="4212" r="4212" t="0" b="0"/>
          <a:stretch/>
        </p:blipFill>
        <p:spPr>
          <a:xfrm>
            <a:off x="3835908" y="7077456"/>
            <a:ext cx="1533906" cy="1417320"/>
          </a:xfrm>
          <a:prstGeom prst="rect">
            <a:avLst/>
          </a:prstGeom>
        </p:spPr>
      </p:pic>
      <p:sp>
        <p:nvSpPr>
          <p:cNvPr id="43" name="Text 22"/>
          <p:cNvSpPr txBox="1"/>
          <p:nvPr/>
        </p:nvSpPr>
        <p:spPr>
          <a:xfrm>
            <a:off x="3909060" y="801928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Hogetsu Việt Nam</a:t>
            </a:r>
            <a:endParaRPr lang="en-US" sz="1100" dirty="0"/>
          </a:p>
        </p:txBody>
      </p:sp>
      <p:pic>
        <p:nvPicPr>
          <p:cNvPr id="44" name="Image 19" descr="/home/user/ATL--DAKO/profile-daotao/assets/atl/image131.jpeg">    </p:cNvPr>
          <p:cNvPicPr>
            <a:picLocks noChangeAspect="1"/>
          </p:cNvPicPr>
          <p:nvPr/>
        </p:nvPicPr>
        <p:blipFill>
          <a:blip r:embed="rId20"/>
          <a:srcRect l="4212" r="4212" t="0" b="0"/>
          <a:stretch/>
        </p:blipFill>
        <p:spPr>
          <a:xfrm>
            <a:off x="5479542" y="7077456"/>
            <a:ext cx="1533906" cy="1417320"/>
          </a:xfrm>
          <a:prstGeom prst="rect">
            <a:avLst/>
          </a:prstGeom>
        </p:spPr>
      </p:pic>
      <p:sp>
        <p:nvSpPr>
          <p:cNvPr id="45" name="Text 23"/>
          <p:cNvSpPr txBox="1"/>
          <p:nvPr/>
        </p:nvSpPr>
        <p:spPr>
          <a:xfrm>
            <a:off x="5552694" y="801928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Thang máy Pacific</a:t>
            </a:r>
            <a:endParaRPr lang="en-US" sz="1100" dirty="0"/>
          </a:p>
        </p:txBody>
      </p:sp>
      <p:pic>
        <p:nvPicPr>
          <p:cNvPr id="46" name="Image 20" descr="/home/user/ATL--DAKO/profile-daotao/assets/atl/image132.jpeg">    </p:cNvPr>
          <p:cNvPicPr>
            <a:picLocks noChangeAspect="1"/>
          </p:cNvPicPr>
          <p:nvPr/>
        </p:nvPicPr>
        <p:blipFill>
          <a:blip r:embed="rId21"/>
          <a:srcRect l="4212" r="4212" t="0" b="0"/>
          <a:stretch/>
        </p:blipFill>
        <p:spPr>
          <a:xfrm>
            <a:off x="548640" y="8586216"/>
            <a:ext cx="1533906" cy="1417320"/>
          </a:xfrm>
          <a:prstGeom prst="rect">
            <a:avLst/>
          </a:prstGeom>
        </p:spPr>
      </p:pic>
      <p:sp>
        <p:nvSpPr>
          <p:cNvPr id="47" name="Text 24"/>
          <p:cNvSpPr txBox="1"/>
          <p:nvPr/>
        </p:nvSpPr>
        <p:spPr>
          <a:xfrm>
            <a:off x="621792" y="952804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Cổ phần đầu tư HT Vina</a:t>
            </a:r>
            <a:endParaRPr lang="en-US" sz="1100" dirty="0"/>
          </a:p>
        </p:txBody>
      </p:sp>
      <p:pic>
        <p:nvPicPr>
          <p:cNvPr id="48" name="Image 21" descr="/home/user/ATL--DAKO/profile-daotao/assets/atl/image133.jpeg">    </p:cNvPr>
          <p:cNvPicPr>
            <a:picLocks noChangeAspect="1"/>
          </p:cNvPicPr>
          <p:nvPr/>
        </p:nvPicPr>
        <p:blipFill>
          <a:blip r:embed="rId22"/>
          <a:srcRect l="4212" r="4212" t="0" b="0"/>
          <a:stretch/>
        </p:blipFill>
        <p:spPr>
          <a:xfrm>
            <a:off x="2192274" y="8586216"/>
            <a:ext cx="1533906" cy="1417320"/>
          </a:xfrm>
          <a:prstGeom prst="rect">
            <a:avLst/>
          </a:prstGeom>
        </p:spPr>
      </p:pic>
      <p:sp>
        <p:nvSpPr>
          <p:cNvPr id="49" name="Text 25"/>
          <p:cNvSpPr txBox="1"/>
          <p:nvPr/>
        </p:nvSpPr>
        <p:spPr>
          <a:xfrm>
            <a:off x="2265426" y="952804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Toyota Thanh Xuân</a:t>
            </a:r>
            <a:endParaRPr lang="en-US" sz="1100" dirty="0"/>
          </a:p>
        </p:txBody>
      </p:sp>
      <p:pic>
        <p:nvPicPr>
          <p:cNvPr id="50" name="Image 22" descr="/home/user/ATL--DAKO/profile-daotao/assets/atl/image134.jpeg">    </p:cNvPr>
          <p:cNvPicPr>
            <a:picLocks noChangeAspect="1"/>
          </p:cNvPicPr>
          <p:nvPr/>
        </p:nvPicPr>
        <p:blipFill>
          <a:blip r:embed="rId23"/>
          <a:srcRect l="4212" r="4212" t="0" b="0"/>
          <a:stretch/>
        </p:blipFill>
        <p:spPr>
          <a:xfrm>
            <a:off x="3835908" y="8586216"/>
            <a:ext cx="1533906" cy="1417320"/>
          </a:xfrm>
          <a:prstGeom prst="rect">
            <a:avLst/>
          </a:prstGeom>
        </p:spPr>
      </p:pic>
      <p:sp>
        <p:nvSpPr>
          <p:cNvPr id="51" name="Text 26"/>
          <p:cNvSpPr txBox="1"/>
          <p:nvPr/>
        </p:nvSpPr>
        <p:spPr>
          <a:xfrm>
            <a:off x="3909060" y="952804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TM-DV-XNK Vina T&amp;T</a:t>
            </a:r>
            <a:endParaRPr lang="en-US" sz="1100" dirty="0"/>
          </a:p>
        </p:txBody>
      </p:sp>
      <p:pic>
        <p:nvPicPr>
          <p:cNvPr id="52" name="Image 23" descr="/home/user/ATL--DAKO/profile-daotao/assets/atl/image135.jpeg">    </p:cNvPr>
          <p:cNvPicPr>
            <a:picLocks noChangeAspect="1"/>
          </p:cNvPicPr>
          <p:nvPr/>
        </p:nvPicPr>
        <p:blipFill>
          <a:blip r:embed="rId24"/>
          <a:srcRect l="4212" r="4212" t="0" b="0"/>
          <a:stretch/>
        </p:blipFill>
        <p:spPr>
          <a:xfrm>
            <a:off x="5479542" y="8586216"/>
            <a:ext cx="1533906" cy="1417320"/>
          </a:xfrm>
          <a:prstGeom prst="rect">
            <a:avLst/>
          </a:prstGeom>
        </p:spPr>
      </p:pic>
      <p:sp>
        <p:nvSpPr>
          <p:cNvPr id="53" name="Text 27"/>
          <p:cNvSpPr txBox="1"/>
          <p:nvPr/>
        </p:nvSpPr>
        <p:spPr>
          <a:xfrm>
            <a:off x="5552694" y="9528048"/>
            <a:ext cx="1405890" cy="420624"/>
          </a:xfrm>
          <a:prstGeom prst="rect">
            <a:avLst/>
          </a:prstGeom>
          <a:noFill/>
          <a:ln/>
        </p:spPr>
        <p:txBody>
          <a:bodyPr wrap="square" lIns="0" tIns="0" rIns="0" bIns="0" rtlCol="0" anchor="b"/>
          <a:lstStyle/>
          <a:p>
            <a:pPr indent="0" marL="0">
              <a:lnSpc>
                <a:spcPct val="105000"/>
              </a:lnSpc>
              <a:buNone/>
            </a:pPr>
            <a:r>
              <a:rPr lang="en-US" sz="1100" b="1" dirty="0">
                <a:solidFill>
                  <a:schemeClr val="bg1"/>
                </a:solidFill>
              </a:rPr>
              <a:t>Công ty TNHH P.Dussmann Việt Nam</a:t>
            </a:r>
            <a:endParaRPr lang="en-US" sz="1100" dirty="0"/>
          </a:p>
        </p:txBody>
      </p:sp>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65760"/>
            <a:ext cx="5669280" cy="256032"/>
          </a:xfrm>
          <a:prstGeom prst="rect">
            <a:avLst/>
          </a:prstGeom>
          <a:noFill/>
          <a:ln/>
        </p:spPr>
        <p:txBody>
          <a:bodyPr wrap="square" lIns="0" tIns="0" rIns="0" bIns="0" rtlCol="0" anchor="t"/>
          <a:lstStyle/>
          <a:p>
            <a:pPr indent="0" marL="0">
              <a:lnSpc>
                <a:spcPct val="105000"/>
              </a:lnSpc>
              <a:buNone/>
            </a:pPr>
            <a:r>
              <a:rPr lang="en-US" sz="1100" b="1" spc="200" kern="0" dirty="0">
                <a:solidFill>
                  <a:schemeClr val="accent1"/>
                </a:solidFill>
              </a:rPr>
              <a:t>PHẦN 06 · ĐỐI TÁC &amp; HỆ THỐNG VĂN PHÒNG</a:t>
            </a:r>
            <a:endParaRPr lang="en-US" sz="1100" dirty="0"/>
          </a:p>
        </p:txBody>
      </p:sp>
      <p:sp>
        <p:nvSpPr>
          <p:cNvPr id="3" name="Text 1"/>
          <p:cNvSpPr/>
          <p:nvPr>
            <p:ph idx="102" type="title" hasCustomPrompt="1"/>
          </p:nvPr>
        </p:nvSpPr>
        <p:spPr>
          <a:xfrm>
            <a:off x="548640" y="603504"/>
            <a:ext cx="5715000" cy="512064"/>
          </a:xfrm>
          <a:prstGeom prst="rect">
            <a:avLst/>
          </a:prstGeom>
          <a:noFill/>
          <a:ln/>
        </p:spPr>
        <p:txBody>
          <a:bodyPr wrap="square" lIns="0" tIns="0" rIns="0" bIns="0" rtlCol="0" anchor="ctr"/>
          <a:lstStyle/>
          <a:p>
            <a:pPr algn="l" indent="0" marL="0">
              <a:buNone/>
            </a:pPr>
            <a:r>
              <a:rPr lang="en-US" sz="2800" b="1" dirty="0">
                <a:solidFill>
                  <a:schemeClr val="tx2"/>
                </a:solidFill>
              </a:rPr>
              <a:t>HỆ THỐNG VĂN PHÒNG</a:t>
            </a:r>
            <a:endParaRPr lang="en-US" sz="2800" dirty="0"/>
          </a:p>
        </p:txBody>
      </p:sp>
      <p:pic>
        <p:nvPicPr>
          <p:cNvPr id="4" name="Image 0" descr="/home/user/ATL--DAKO/profile-daotao/assets/crop/map_vn.png">    </p:cNvPr>
          <p:cNvPicPr>
            <a:picLocks noChangeAspect="1"/>
          </p:cNvPicPr>
          <p:nvPr/>
        </p:nvPicPr>
        <p:blipFill>
          <a:blip r:embed="rId1"/>
          <a:stretch>
            <a:fillRect/>
          </a:stretch>
        </p:blipFill>
        <p:spPr>
          <a:xfrm>
            <a:off x="91440" y="1325880"/>
            <a:ext cx="4800600" cy="6962854"/>
          </a:xfrm>
          <a:prstGeom prst="rect">
            <a:avLst/>
          </a:prstGeom>
        </p:spPr>
      </p:pic>
      <p:sp>
        <p:nvSpPr>
          <p:cNvPr id="5" name="Shape 2"/>
          <p:cNvSpPr/>
          <p:nvPr/>
        </p:nvSpPr>
        <p:spPr>
          <a:xfrm>
            <a:off x="1972818" y="2321316"/>
            <a:ext cx="365760" cy="365760"/>
          </a:xfrm>
          <a:prstGeom prst="ellipse">
            <a:avLst/>
          </a:prstGeom>
          <a:solidFill>
            <a:schemeClr val="tx2"/>
          </a:solidFill>
          <a:ln w="19050">
            <a:solidFill>
              <a:schemeClr val="bg1"/>
            </a:solidFill>
            <a:prstDash val="solid"/>
          </a:ln>
        </p:spPr>
      </p:sp>
      <p:sp>
        <p:nvSpPr>
          <p:cNvPr id="6" name="Text 3"/>
          <p:cNvSpPr txBox="1"/>
          <p:nvPr/>
        </p:nvSpPr>
        <p:spPr>
          <a:xfrm>
            <a:off x="1972818" y="2321316"/>
            <a:ext cx="365760" cy="36576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1</a:t>
            </a:r>
            <a:endParaRPr lang="en-US" sz="1400" dirty="0"/>
          </a:p>
        </p:txBody>
      </p:sp>
      <p:sp>
        <p:nvSpPr>
          <p:cNvPr id="7" name="Shape 4"/>
          <p:cNvSpPr/>
          <p:nvPr/>
        </p:nvSpPr>
        <p:spPr>
          <a:xfrm>
            <a:off x="3566617" y="6004665"/>
            <a:ext cx="365760" cy="365760"/>
          </a:xfrm>
          <a:prstGeom prst="ellipse">
            <a:avLst/>
          </a:prstGeom>
          <a:solidFill>
            <a:schemeClr val="tx2"/>
          </a:solidFill>
          <a:ln w="19050">
            <a:solidFill>
              <a:schemeClr val="bg1"/>
            </a:solidFill>
            <a:prstDash val="solid"/>
          </a:ln>
        </p:spPr>
      </p:sp>
      <p:sp>
        <p:nvSpPr>
          <p:cNvPr id="8" name="Text 5"/>
          <p:cNvSpPr txBox="1"/>
          <p:nvPr/>
        </p:nvSpPr>
        <p:spPr>
          <a:xfrm>
            <a:off x="3566617" y="6004665"/>
            <a:ext cx="365760" cy="36576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2</a:t>
            </a:r>
            <a:endParaRPr lang="en-US" sz="1400" dirty="0"/>
          </a:p>
        </p:txBody>
      </p:sp>
      <p:sp>
        <p:nvSpPr>
          <p:cNvPr id="9" name="Shape 6"/>
          <p:cNvSpPr/>
          <p:nvPr/>
        </p:nvSpPr>
        <p:spPr>
          <a:xfrm>
            <a:off x="2505685" y="6721839"/>
            <a:ext cx="365760" cy="365760"/>
          </a:xfrm>
          <a:prstGeom prst="ellipse">
            <a:avLst/>
          </a:prstGeom>
          <a:solidFill>
            <a:schemeClr val="tx2"/>
          </a:solidFill>
          <a:ln w="19050">
            <a:solidFill>
              <a:schemeClr val="bg1"/>
            </a:solidFill>
            <a:prstDash val="solid"/>
          </a:ln>
        </p:spPr>
      </p:sp>
      <p:sp>
        <p:nvSpPr>
          <p:cNvPr id="10" name="Text 7"/>
          <p:cNvSpPr txBox="1"/>
          <p:nvPr/>
        </p:nvSpPr>
        <p:spPr>
          <a:xfrm>
            <a:off x="2505685" y="6721839"/>
            <a:ext cx="365760" cy="36576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3</a:t>
            </a:r>
            <a:endParaRPr lang="en-US" sz="1400" dirty="0"/>
          </a:p>
        </p:txBody>
      </p:sp>
      <p:sp>
        <p:nvSpPr>
          <p:cNvPr id="11" name="Text 8"/>
          <p:cNvSpPr txBox="1"/>
          <p:nvPr/>
        </p:nvSpPr>
        <p:spPr>
          <a:xfrm>
            <a:off x="829818" y="2376180"/>
            <a:ext cx="1097280" cy="274320"/>
          </a:xfrm>
          <a:prstGeom prst="rect">
            <a:avLst/>
          </a:prstGeom>
          <a:noFill/>
          <a:ln/>
        </p:spPr>
        <p:txBody>
          <a:bodyPr wrap="square" lIns="0" tIns="0" rIns="0" bIns="0" rtlCol="0" anchor="t"/>
          <a:lstStyle/>
          <a:p>
            <a:pPr algn="r" indent="0" marL="0">
              <a:lnSpc>
                <a:spcPct val="105000"/>
              </a:lnSpc>
              <a:buNone/>
            </a:pPr>
            <a:r>
              <a:rPr lang="en-US" sz="1400" b="1" dirty="0">
                <a:solidFill>
                  <a:schemeClr val="tx2"/>
                </a:solidFill>
              </a:rPr>
              <a:t>HÀ NỘI</a:t>
            </a:r>
            <a:endParaRPr lang="en-US" sz="1400" dirty="0"/>
          </a:p>
        </p:txBody>
      </p:sp>
      <p:sp>
        <p:nvSpPr>
          <p:cNvPr id="12" name="Text 9"/>
          <p:cNvSpPr txBox="1"/>
          <p:nvPr/>
        </p:nvSpPr>
        <p:spPr>
          <a:xfrm>
            <a:off x="2332177" y="6059529"/>
            <a:ext cx="1188720" cy="274320"/>
          </a:xfrm>
          <a:prstGeom prst="rect">
            <a:avLst/>
          </a:prstGeom>
          <a:noFill/>
          <a:ln/>
        </p:spPr>
        <p:txBody>
          <a:bodyPr wrap="square" lIns="0" tIns="0" rIns="0" bIns="0" rtlCol="0" anchor="t"/>
          <a:lstStyle/>
          <a:p>
            <a:pPr algn="r" indent="0" marL="0">
              <a:lnSpc>
                <a:spcPct val="105000"/>
              </a:lnSpc>
              <a:buNone/>
            </a:pPr>
            <a:r>
              <a:rPr lang="en-US" sz="1400" b="1" dirty="0">
                <a:solidFill>
                  <a:schemeClr val="tx2"/>
                </a:solidFill>
              </a:rPr>
              <a:t>NHA TRANG</a:t>
            </a:r>
            <a:endParaRPr lang="en-US" sz="1400" dirty="0"/>
          </a:p>
        </p:txBody>
      </p:sp>
      <p:sp>
        <p:nvSpPr>
          <p:cNvPr id="13" name="Text 10"/>
          <p:cNvSpPr txBox="1"/>
          <p:nvPr/>
        </p:nvSpPr>
        <p:spPr>
          <a:xfrm>
            <a:off x="676885" y="6776703"/>
            <a:ext cx="1783080" cy="274320"/>
          </a:xfrm>
          <a:prstGeom prst="rect">
            <a:avLst/>
          </a:prstGeom>
          <a:noFill/>
          <a:ln/>
        </p:spPr>
        <p:txBody>
          <a:bodyPr wrap="square" lIns="0" tIns="0" rIns="0" bIns="0" rtlCol="0" anchor="t"/>
          <a:lstStyle/>
          <a:p>
            <a:pPr algn="r" indent="0" marL="0">
              <a:lnSpc>
                <a:spcPct val="105000"/>
              </a:lnSpc>
              <a:buNone/>
            </a:pPr>
            <a:r>
              <a:rPr lang="en-US" sz="1400" b="1" dirty="0">
                <a:solidFill>
                  <a:schemeClr val="tx2"/>
                </a:solidFill>
              </a:rPr>
              <a:t>TP. HỒ CHÍ MINH</a:t>
            </a:r>
            <a:endParaRPr lang="en-US" sz="1400" dirty="0"/>
          </a:p>
        </p:txBody>
      </p:sp>
      <p:sp>
        <p:nvSpPr>
          <p:cNvPr id="14" name="Shape 11"/>
          <p:cNvSpPr/>
          <p:nvPr/>
        </p:nvSpPr>
        <p:spPr>
          <a:xfrm>
            <a:off x="4828032" y="1325880"/>
            <a:ext cx="2185416" cy="2560320"/>
          </a:xfrm>
          <a:prstGeom prst="roundRect">
            <a:avLst>
              <a:gd name="adj" fmla="val 502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15" name="Shape 12"/>
          <p:cNvSpPr/>
          <p:nvPr/>
        </p:nvSpPr>
        <p:spPr>
          <a:xfrm>
            <a:off x="4828032" y="1325880"/>
            <a:ext cx="2185416" cy="420624"/>
          </a:xfrm>
          <a:prstGeom prst="roundRect">
            <a:avLst>
              <a:gd name="adj" fmla="val 26087"/>
            </a:avLst>
          </a:prstGeom>
          <a:solidFill>
            <a:schemeClr val="tx2"/>
          </a:solidFill>
          <a:ln/>
        </p:spPr>
      </p:sp>
      <p:sp>
        <p:nvSpPr>
          <p:cNvPr id="16" name="Shape 13"/>
          <p:cNvSpPr/>
          <p:nvPr/>
        </p:nvSpPr>
        <p:spPr>
          <a:xfrm>
            <a:off x="4828032" y="1600200"/>
            <a:ext cx="2185416" cy="146304"/>
          </a:xfrm>
          <a:prstGeom prst="rect">
            <a:avLst/>
          </a:prstGeom>
          <a:solidFill>
            <a:schemeClr val="tx2"/>
          </a:solidFill>
          <a:ln/>
        </p:spPr>
      </p:sp>
      <p:sp>
        <p:nvSpPr>
          <p:cNvPr id="17" name="Shape 14"/>
          <p:cNvSpPr/>
          <p:nvPr/>
        </p:nvSpPr>
        <p:spPr>
          <a:xfrm>
            <a:off x="4919472" y="1389888"/>
            <a:ext cx="292608" cy="292608"/>
          </a:xfrm>
          <a:prstGeom prst="ellipse">
            <a:avLst/>
          </a:prstGeom>
          <a:solidFill>
            <a:schemeClr val="accent2"/>
          </a:solidFill>
          <a:ln/>
        </p:spPr>
      </p:sp>
      <p:sp>
        <p:nvSpPr>
          <p:cNvPr id="18" name="Text 15"/>
          <p:cNvSpPr txBox="1"/>
          <p:nvPr/>
        </p:nvSpPr>
        <p:spPr>
          <a:xfrm>
            <a:off x="4919472" y="1389888"/>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tx2"/>
                </a:solidFill>
              </a:rPr>
              <a:t>1</a:t>
            </a:r>
            <a:endParaRPr lang="en-US" sz="1200" dirty="0"/>
          </a:p>
        </p:txBody>
      </p:sp>
      <p:sp>
        <p:nvSpPr>
          <p:cNvPr id="19" name="Text 16"/>
          <p:cNvSpPr txBox="1"/>
          <p:nvPr/>
        </p:nvSpPr>
        <p:spPr>
          <a:xfrm>
            <a:off x="5285232" y="1325880"/>
            <a:ext cx="1682496" cy="420624"/>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Trụ sở tại Hà Nội</a:t>
            </a:r>
            <a:endParaRPr lang="en-US" sz="1300" dirty="0"/>
          </a:p>
        </p:txBody>
      </p:sp>
      <p:pic>
        <p:nvPicPr>
          <p:cNvPr id="20" name="Image 1" descr="/home/user/ATL--DAKO/profile-daotao/assets/crop/office_hn.jpg">    </p:cNvPr>
          <p:cNvPicPr>
            <a:picLocks noChangeAspect="1"/>
          </p:cNvPicPr>
          <p:nvPr/>
        </p:nvPicPr>
        <p:blipFill>
          <a:blip r:embed="rId2"/>
          <a:srcRect l="0" r="0" t="16207" b="16207"/>
          <a:stretch/>
        </p:blipFill>
        <p:spPr>
          <a:xfrm>
            <a:off x="4937760" y="1837944"/>
            <a:ext cx="1965960" cy="786384"/>
          </a:xfrm>
          <a:prstGeom prst="rect">
            <a:avLst/>
          </a:prstGeom>
        </p:spPr>
      </p:pic>
      <p:sp>
        <p:nvSpPr>
          <p:cNvPr id="21" name="Text 17"/>
          <p:cNvSpPr txBox="1"/>
          <p:nvPr/>
        </p:nvSpPr>
        <p:spPr>
          <a:xfrm>
            <a:off x="4937760" y="2697480"/>
            <a:ext cx="2020824" cy="114300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Tầng 12 - Tòa nhà Diamond Flower, </a:t>
            </a:r>
            <a:pPr indent="0" marL="0">
              <a:lnSpc>
                <a:spcPct val="105000"/>
              </a:lnSpc>
              <a:buNone/>
            </a:pPr>
            <a:r>
              <a:rPr lang="en-US" sz="1400" dirty="0">
                <a:solidFill>
                  <a:schemeClr val="tx1"/>
                </a:solidFill>
              </a:rPr>
              <a:t>số 48 đường Lê Văn Lương, Khu đô thị mới N1, phường Yên Hoà, TP Hà Nội</a:t>
            </a:r>
            <a:endParaRPr lang="en-US" sz="1400" dirty="0"/>
          </a:p>
        </p:txBody>
      </p:sp>
      <p:sp>
        <p:nvSpPr>
          <p:cNvPr id="22" name="Shape 18"/>
          <p:cNvSpPr/>
          <p:nvPr/>
        </p:nvSpPr>
        <p:spPr>
          <a:xfrm>
            <a:off x="4828032" y="4005072"/>
            <a:ext cx="2185416" cy="2331720"/>
          </a:xfrm>
          <a:prstGeom prst="roundRect">
            <a:avLst>
              <a:gd name="adj" fmla="val 502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23" name="Shape 19"/>
          <p:cNvSpPr/>
          <p:nvPr/>
        </p:nvSpPr>
        <p:spPr>
          <a:xfrm>
            <a:off x="4828032" y="4005072"/>
            <a:ext cx="2185416" cy="420624"/>
          </a:xfrm>
          <a:prstGeom prst="roundRect">
            <a:avLst>
              <a:gd name="adj" fmla="val 26087"/>
            </a:avLst>
          </a:prstGeom>
          <a:solidFill>
            <a:schemeClr val="tx2"/>
          </a:solidFill>
          <a:ln/>
        </p:spPr>
      </p:sp>
      <p:sp>
        <p:nvSpPr>
          <p:cNvPr id="24" name="Shape 20"/>
          <p:cNvSpPr/>
          <p:nvPr/>
        </p:nvSpPr>
        <p:spPr>
          <a:xfrm>
            <a:off x="4828032" y="4279392"/>
            <a:ext cx="2185416" cy="146304"/>
          </a:xfrm>
          <a:prstGeom prst="rect">
            <a:avLst/>
          </a:prstGeom>
          <a:solidFill>
            <a:schemeClr val="tx2"/>
          </a:solidFill>
          <a:ln/>
        </p:spPr>
      </p:sp>
      <p:sp>
        <p:nvSpPr>
          <p:cNvPr id="25" name="Shape 21"/>
          <p:cNvSpPr/>
          <p:nvPr/>
        </p:nvSpPr>
        <p:spPr>
          <a:xfrm>
            <a:off x="4919472" y="4069080"/>
            <a:ext cx="292608" cy="292608"/>
          </a:xfrm>
          <a:prstGeom prst="ellipse">
            <a:avLst/>
          </a:prstGeom>
          <a:solidFill>
            <a:schemeClr val="accent2"/>
          </a:solidFill>
          <a:ln/>
        </p:spPr>
      </p:sp>
      <p:sp>
        <p:nvSpPr>
          <p:cNvPr id="26" name="Text 22"/>
          <p:cNvSpPr txBox="1"/>
          <p:nvPr/>
        </p:nvSpPr>
        <p:spPr>
          <a:xfrm>
            <a:off x="4919472" y="4069080"/>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tx2"/>
                </a:solidFill>
              </a:rPr>
              <a:t>2</a:t>
            </a:r>
            <a:endParaRPr lang="en-US" sz="1200" dirty="0"/>
          </a:p>
        </p:txBody>
      </p:sp>
      <p:sp>
        <p:nvSpPr>
          <p:cNvPr id="27" name="Text 23"/>
          <p:cNvSpPr txBox="1"/>
          <p:nvPr/>
        </p:nvSpPr>
        <p:spPr>
          <a:xfrm>
            <a:off x="5285232" y="4005072"/>
            <a:ext cx="1682496" cy="420624"/>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Văn phòng tại Nha Trang</a:t>
            </a:r>
            <a:endParaRPr lang="en-US" sz="1300" dirty="0"/>
          </a:p>
        </p:txBody>
      </p:sp>
      <p:pic>
        <p:nvPicPr>
          <p:cNvPr id="28" name="Image 2" descr="/home/user/ATL--DAKO/profile-daotao/assets/crop/office_nt.jpg">    </p:cNvPr>
          <p:cNvPicPr>
            <a:picLocks noChangeAspect="1"/>
          </p:cNvPicPr>
          <p:nvPr/>
        </p:nvPicPr>
        <p:blipFill>
          <a:blip r:embed="rId3"/>
          <a:srcRect l="0" r="0" t="16373" b="16373"/>
          <a:stretch/>
        </p:blipFill>
        <p:spPr>
          <a:xfrm>
            <a:off x="4937760" y="4517136"/>
            <a:ext cx="1965960" cy="786384"/>
          </a:xfrm>
          <a:prstGeom prst="rect">
            <a:avLst/>
          </a:prstGeom>
        </p:spPr>
      </p:pic>
      <p:sp>
        <p:nvSpPr>
          <p:cNvPr id="29" name="Text 24"/>
          <p:cNvSpPr txBox="1"/>
          <p:nvPr/>
        </p:nvSpPr>
        <p:spPr>
          <a:xfrm>
            <a:off x="4937760" y="5376672"/>
            <a:ext cx="2020824" cy="91440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B19-03 Khu Đô Thị An Bình Tân, </a:t>
            </a:r>
            <a:pPr indent="0" marL="0">
              <a:lnSpc>
                <a:spcPct val="105000"/>
              </a:lnSpc>
              <a:buNone/>
            </a:pPr>
            <a:r>
              <a:rPr lang="en-US" sz="1400" dirty="0">
                <a:solidFill>
                  <a:schemeClr val="tx1"/>
                </a:solidFill>
              </a:rPr>
              <a:t>Phường Nam Nha Trang, Tỉnh Khánh Hòa</a:t>
            </a:r>
            <a:endParaRPr lang="en-US" sz="1400" dirty="0"/>
          </a:p>
        </p:txBody>
      </p:sp>
      <p:sp>
        <p:nvSpPr>
          <p:cNvPr id="30" name="Shape 25"/>
          <p:cNvSpPr/>
          <p:nvPr/>
        </p:nvSpPr>
        <p:spPr>
          <a:xfrm>
            <a:off x="4828032" y="6455664"/>
            <a:ext cx="2185416" cy="2331720"/>
          </a:xfrm>
          <a:prstGeom prst="roundRect">
            <a:avLst>
              <a:gd name="adj" fmla="val 5021"/>
            </a:avLst>
          </a:prstGeom>
          <a:solidFill>
            <a:schemeClr val="bg1"/>
          </a:solidFill>
          <a:ln w="9525">
            <a:solidFill>
              <a:schemeClr val="accent3"/>
            </a:solidFill>
            <a:prstDash val="solid"/>
          </a:ln>
          <a:effectLst>
            <a:outerShdw sx="100000" sy="100000" kx="0" ky="0" algn="bl" rotWithShape="0" blurRad="101600" dist="25400" dir="5400000">
              <a:srgbClr val="0B2A00">
                <a:alpha val="16000"/>
              </a:srgbClr>
            </a:outerShdw>
          </a:effectLst>
        </p:spPr>
      </p:sp>
      <p:sp>
        <p:nvSpPr>
          <p:cNvPr id="31" name="Shape 26"/>
          <p:cNvSpPr/>
          <p:nvPr/>
        </p:nvSpPr>
        <p:spPr>
          <a:xfrm>
            <a:off x="4828032" y="6455664"/>
            <a:ext cx="2185416" cy="420624"/>
          </a:xfrm>
          <a:prstGeom prst="roundRect">
            <a:avLst>
              <a:gd name="adj" fmla="val 26087"/>
            </a:avLst>
          </a:prstGeom>
          <a:solidFill>
            <a:schemeClr val="tx2"/>
          </a:solidFill>
          <a:ln/>
        </p:spPr>
      </p:sp>
      <p:sp>
        <p:nvSpPr>
          <p:cNvPr id="32" name="Shape 27"/>
          <p:cNvSpPr/>
          <p:nvPr/>
        </p:nvSpPr>
        <p:spPr>
          <a:xfrm>
            <a:off x="4828032" y="6729984"/>
            <a:ext cx="2185416" cy="146304"/>
          </a:xfrm>
          <a:prstGeom prst="rect">
            <a:avLst/>
          </a:prstGeom>
          <a:solidFill>
            <a:schemeClr val="tx2"/>
          </a:solidFill>
          <a:ln/>
        </p:spPr>
      </p:sp>
      <p:sp>
        <p:nvSpPr>
          <p:cNvPr id="33" name="Shape 28"/>
          <p:cNvSpPr/>
          <p:nvPr/>
        </p:nvSpPr>
        <p:spPr>
          <a:xfrm>
            <a:off x="4919472" y="6519672"/>
            <a:ext cx="292608" cy="292608"/>
          </a:xfrm>
          <a:prstGeom prst="ellipse">
            <a:avLst/>
          </a:prstGeom>
          <a:solidFill>
            <a:schemeClr val="accent2"/>
          </a:solidFill>
          <a:ln/>
        </p:spPr>
      </p:sp>
      <p:sp>
        <p:nvSpPr>
          <p:cNvPr id="34" name="Text 29"/>
          <p:cNvSpPr txBox="1"/>
          <p:nvPr/>
        </p:nvSpPr>
        <p:spPr>
          <a:xfrm>
            <a:off x="4919472" y="6519672"/>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tx2"/>
                </a:solidFill>
              </a:rPr>
              <a:t>3</a:t>
            </a:r>
            <a:endParaRPr lang="en-US" sz="1200" dirty="0"/>
          </a:p>
        </p:txBody>
      </p:sp>
      <p:sp>
        <p:nvSpPr>
          <p:cNvPr id="35" name="Text 30"/>
          <p:cNvSpPr txBox="1"/>
          <p:nvPr/>
        </p:nvSpPr>
        <p:spPr>
          <a:xfrm>
            <a:off x="5285232" y="6455664"/>
            <a:ext cx="1682496" cy="420624"/>
          </a:xfrm>
          <a:prstGeom prst="rect">
            <a:avLst/>
          </a:prstGeom>
          <a:noFill/>
          <a:ln/>
        </p:spPr>
        <p:txBody>
          <a:bodyPr wrap="square" lIns="0" tIns="0" rIns="0" bIns="0" rtlCol="0" anchor="ctr"/>
          <a:lstStyle/>
          <a:p>
            <a:pPr indent="0" marL="0">
              <a:lnSpc>
                <a:spcPct val="105000"/>
              </a:lnSpc>
              <a:buNone/>
            </a:pPr>
            <a:r>
              <a:rPr lang="en-US" sz="1300" b="1" dirty="0">
                <a:solidFill>
                  <a:schemeClr val="bg1"/>
                </a:solidFill>
              </a:rPr>
              <a:t>Trung tâm tuyển sinh tại TP.HCM</a:t>
            </a:r>
            <a:endParaRPr lang="en-US" sz="1300" dirty="0"/>
          </a:p>
        </p:txBody>
      </p:sp>
      <p:pic>
        <p:nvPicPr>
          <p:cNvPr id="36" name="Image 3" descr="/home/user/ATL--DAKO/profile-daotao/assets/crop/office_hcm.jpg">    </p:cNvPr>
          <p:cNvPicPr>
            <a:picLocks noChangeAspect="1"/>
          </p:cNvPicPr>
          <p:nvPr/>
        </p:nvPicPr>
        <p:blipFill>
          <a:blip r:embed="rId4"/>
          <a:srcRect l="0" r="0" t="15941" b="15941"/>
          <a:stretch/>
        </p:blipFill>
        <p:spPr>
          <a:xfrm>
            <a:off x="4937760" y="6967728"/>
            <a:ext cx="1965960" cy="786384"/>
          </a:xfrm>
          <a:prstGeom prst="rect">
            <a:avLst/>
          </a:prstGeom>
        </p:spPr>
      </p:pic>
      <p:sp>
        <p:nvSpPr>
          <p:cNvPr id="37" name="Text 31"/>
          <p:cNvSpPr txBox="1"/>
          <p:nvPr/>
        </p:nvSpPr>
        <p:spPr>
          <a:xfrm>
            <a:off x="4937760" y="7827264"/>
            <a:ext cx="2020824" cy="91440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Số 28, D9 KDC Carric, </a:t>
            </a:r>
            <a:pPr indent="0" marL="0">
              <a:lnSpc>
                <a:spcPct val="105000"/>
              </a:lnSpc>
              <a:buNone/>
            </a:pPr>
            <a:r>
              <a:rPr lang="en-US" sz="1400" dirty="0">
                <a:solidFill>
                  <a:schemeClr val="tx1"/>
                </a:solidFill>
              </a:rPr>
              <a:t>phường An Khánh, Thành Phố Hồ Chí Minh</a:t>
            </a:r>
            <a:endParaRPr lang="en-US" sz="1400" dirty="0"/>
          </a:p>
        </p:txBody>
      </p:sp>
      <p:sp>
        <p:nvSpPr>
          <p:cNvPr id="38" name="Shape 32"/>
          <p:cNvSpPr/>
          <p:nvPr/>
        </p:nvSpPr>
        <p:spPr>
          <a:xfrm>
            <a:off x="548640" y="8906256"/>
            <a:ext cx="6464808" cy="1188720"/>
          </a:xfrm>
          <a:prstGeom prst="roundRect">
            <a:avLst>
              <a:gd name="adj" fmla="val 7692"/>
            </a:avLst>
          </a:prstGeom>
          <a:solidFill>
            <a:schemeClr val="bg2"/>
          </a:solidFill>
          <a:ln/>
        </p:spPr>
      </p:sp>
      <p:sp>
        <p:nvSpPr>
          <p:cNvPr id="39" name="Text 33"/>
          <p:cNvSpPr txBox="1"/>
          <p:nvPr/>
        </p:nvSpPr>
        <p:spPr>
          <a:xfrm>
            <a:off x="777240" y="8961120"/>
            <a:ext cx="2743200" cy="274320"/>
          </a:xfrm>
          <a:prstGeom prst="rect">
            <a:avLst/>
          </a:prstGeom>
          <a:noFill/>
          <a:ln/>
        </p:spPr>
        <p:txBody>
          <a:bodyPr wrap="square" lIns="0" tIns="0" rIns="0" bIns="0" rtlCol="0" anchor="t"/>
          <a:lstStyle/>
          <a:p>
            <a:pPr indent="0" marL="0">
              <a:lnSpc>
                <a:spcPct val="105000"/>
              </a:lnSpc>
              <a:buNone/>
            </a:pPr>
            <a:r>
              <a:rPr lang="en-US" sz="1200" b="1" spc="200" kern="0" dirty="0">
                <a:solidFill>
                  <a:schemeClr val="accent1"/>
                </a:solidFill>
              </a:rPr>
              <a:t>LIÊN HỆ NHANH</a:t>
            </a:r>
            <a:endParaRPr lang="en-US" sz="1200" dirty="0"/>
          </a:p>
        </p:txBody>
      </p:sp>
      <p:pic>
        <p:nvPicPr>
          <p:cNvPr id="40" name="Image 4" descr="preencoded.png">    </p:cNvPr>
          <p:cNvPicPr>
            <a:picLocks noChangeAspect="1"/>
          </p:cNvPicPr>
          <p:nvPr/>
        </p:nvPicPr>
        <p:blipFill>
          <a:blip r:embed="rId5"/>
          <a:stretch>
            <a:fillRect/>
          </a:stretch>
        </p:blipFill>
        <p:spPr>
          <a:xfrm>
            <a:off x="804672" y="9290304"/>
            <a:ext cx="182880" cy="182880"/>
          </a:xfrm>
          <a:prstGeom prst="rect">
            <a:avLst/>
          </a:prstGeom>
        </p:spPr>
      </p:pic>
      <p:sp>
        <p:nvSpPr>
          <p:cNvPr id="41" name="Text 34"/>
          <p:cNvSpPr txBox="1"/>
          <p:nvPr/>
        </p:nvSpPr>
        <p:spPr>
          <a:xfrm>
            <a:off x="1097280" y="9253728"/>
            <a:ext cx="4389120" cy="256032"/>
          </a:xfrm>
          <a:prstGeom prst="rect">
            <a:avLst/>
          </a:prstGeom>
          <a:noFill/>
          <a:ln/>
        </p:spPr>
        <p:txBody>
          <a:bodyPr wrap="square" lIns="0" tIns="0" rIns="0" bIns="0" rtlCol="0" anchor="ctr"/>
          <a:lstStyle/>
          <a:p>
            <a:pPr indent="0" marL="0">
              <a:lnSpc>
                <a:spcPct val="105000"/>
              </a:lnSpc>
              <a:buNone/>
            </a:pPr>
            <a:r>
              <a:rPr lang="en-US" sz="1350" b="1" dirty="0">
                <a:solidFill>
                  <a:schemeClr val="tx2"/>
                </a:solidFill>
              </a:rPr>
              <a:t>Hotline: 0827.695.368 · 0968.702.701</a:t>
            </a:r>
            <a:endParaRPr lang="en-US" sz="1350" dirty="0"/>
          </a:p>
        </p:txBody>
      </p:sp>
      <p:pic>
        <p:nvPicPr>
          <p:cNvPr id="42" name="Image 5" descr="preencoded.png">    </p:cNvPr>
          <p:cNvPicPr>
            <a:picLocks noChangeAspect="1"/>
          </p:cNvPicPr>
          <p:nvPr/>
        </p:nvPicPr>
        <p:blipFill>
          <a:blip r:embed="rId6"/>
          <a:stretch>
            <a:fillRect/>
          </a:stretch>
        </p:blipFill>
        <p:spPr>
          <a:xfrm>
            <a:off x="804672" y="9555480"/>
            <a:ext cx="182880" cy="182880"/>
          </a:xfrm>
          <a:prstGeom prst="rect">
            <a:avLst/>
          </a:prstGeom>
        </p:spPr>
      </p:pic>
      <p:sp>
        <p:nvSpPr>
          <p:cNvPr id="43" name="Text 35"/>
          <p:cNvSpPr txBox="1"/>
          <p:nvPr/>
        </p:nvSpPr>
        <p:spPr>
          <a:xfrm>
            <a:off x="1097280" y="9518904"/>
            <a:ext cx="4389120" cy="256032"/>
          </a:xfrm>
          <a:prstGeom prst="rect">
            <a:avLst/>
          </a:prstGeom>
          <a:noFill/>
          <a:ln/>
        </p:spPr>
        <p:txBody>
          <a:bodyPr wrap="square" lIns="0" tIns="0" rIns="0" bIns="0" rtlCol="0" anchor="ctr"/>
          <a:lstStyle/>
          <a:p>
            <a:pPr indent="0" marL="0">
              <a:lnSpc>
                <a:spcPct val="105000"/>
              </a:lnSpc>
              <a:buNone/>
            </a:pPr>
            <a:r>
              <a:rPr lang="en-US" sz="1350" b="1" dirty="0">
                <a:solidFill>
                  <a:schemeClr val="tx2"/>
                </a:solidFill>
              </a:rPr>
              <a:t>Email: viencongnghestp@gmail.com</a:t>
            </a:r>
            <a:endParaRPr lang="en-US" sz="1350" dirty="0"/>
          </a:p>
        </p:txBody>
      </p:sp>
      <p:pic>
        <p:nvPicPr>
          <p:cNvPr id="44" name="Image 6" descr="preencoded.png">    </p:cNvPr>
          <p:cNvPicPr>
            <a:picLocks noChangeAspect="1"/>
          </p:cNvPicPr>
          <p:nvPr/>
        </p:nvPicPr>
        <p:blipFill>
          <a:blip r:embed="rId7"/>
          <a:stretch>
            <a:fillRect/>
          </a:stretch>
        </p:blipFill>
        <p:spPr>
          <a:xfrm>
            <a:off x="804672" y="9820656"/>
            <a:ext cx="182880" cy="182880"/>
          </a:xfrm>
          <a:prstGeom prst="rect">
            <a:avLst/>
          </a:prstGeom>
        </p:spPr>
      </p:pic>
      <p:sp>
        <p:nvSpPr>
          <p:cNvPr id="45" name="Text 36"/>
          <p:cNvSpPr txBox="1"/>
          <p:nvPr/>
        </p:nvSpPr>
        <p:spPr>
          <a:xfrm>
            <a:off x="1097280" y="9784080"/>
            <a:ext cx="4389120" cy="256032"/>
          </a:xfrm>
          <a:prstGeom prst="rect">
            <a:avLst/>
          </a:prstGeom>
          <a:noFill/>
          <a:ln/>
        </p:spPr>
        <p:txBody>
          <a:bodyPr wrap="square" lIns="0" tIns="0" rIns="0" bIns="0" rtlCol="0" anchor="ctr"/>
          <a:lstStyle/>
          <a:p>
            <a:pPr indent="0" marL="0">
              <a:lnSpc>
                <a:spcPct val="105000"/>
              </a:lnSpc>
              <a:buNone/>
            </a:pPr>
            <a:r>
              <a:rPr lang="en-US" sz="1350" b="1" dirty="0">
                <a:solidFill>
                  <a:schemeClr val="tx2"/>
                </a:solidFill>
              </a:rPr>
              <a:t>Website: www.vienstp.com</a:t>
            </a:r>
            <a:endParaRPr lang="en-US" sz="1350" dirty="0"/>
          </a:p>
        </p:txBody>
      </p:sp>
      <p:pic>
        <p:nvPicPr>
          <p:cNvPr id="46" name="Image 7" descr="/home/user/ATL--DAKO/profile-daotao/assets/logo/qr_web.png">    </p:cNvPr>
          <p:cNvPicPr>
            <a:picLocks noChangeAspect="1"/>
          </p:cNvPicPr>
          <p:nvPr/>
        </p:nvPicPr>
        <p:blipFill>
          <a:blip r:embed="rId8"/>
          <a:stretch>
            <a:fillRect/>
          </a:stretch>
        </p:blipFill>
        <p:spPr>
          <a:xfrm>
            <a:off x="5934456" y="8979408"/>
            <a:ext cx="1024128" cy="1024128"/>
          </a:xfrm>
          <a:prstGeom prst="rect">
            <a:avLst/>
          </a:prstGeom>
        </p:spPr>
      </p:pic>
      <p:sp>
        <p:nvSpPr>
          <p:cNvPr id="25" name="Slide Number Placeholder 0"/>
          <p:cNvSpPr>
            <a:spLocks noGrp="1"/>
          </p:cNvSpPr>
          <p:nvPr>
            <p:ph type="sldNum" sz="quarter" idx="4294967295"/>
          </p:nvPr>
        </p:nvSpPr>
        <p:spPr>
          <a:xfrm>
            <a:off x="6464808" y="10222992"/>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user/ATL--DAKO/profile-daotao/assets/logo/stp.png">    </p:cNvPr>
          <p:cNvPicPr>
            <a:picLocks noChangeAspect="1"/>
          </p:cNvPicPr>
          <p:nvPr/>
        </p:nvPicPr>
        <p:blipFill>
          <a:blip r:embed="rId1"/>
          <a:stretch>
            <a:fillRect/>
          </a:stretch>
        </p:blipFill>
        <p:spPr>
          <a:xfrm>
            <a:off x="2912364" y="640080"/>
            <a:ext cx="1737360" cy="1737360"/>
          </a:xfrm>
          <a:prstGeom prst="rect">
            <a:avLst/>
          </a:prstGeom>
        </p:spPr>
      </p:pic>
      <p:sp>
        <p:nvSpPr>
          <p:cNvPr id="3" name="Text 0"/>
          <p:cNvSpPr txBox="1"/>
          <p:nvPr/>
        </p:nvSpPr>
        <p:spPr>
          <a:xfrm>
            <a:off x="731520" y="2514600"/>
            <a:ext cx="6099048" cy="594360"/>
          </a:xfrm>
          <a:prstGeom prst="rect">
            <a:avLst/>
          </a:prstGeom>
          <a:noFill/>
          <a:ln/>
        </p:spPr>
        <p:txBody>
          <a:bodyPr wrap="square" lIns="0" tIns="0" rIns="0" bIns="0" rtlCol="0" anchor="ctr"/>
          <a:lstStyle/>
          <a:p>
            <a:pPr algn="ctr" indent="0" marL="0">
              <a:lnSpc>
                <a:spcPct val="105000"/>
              </a:lnSpc>
              <a:buNone/>
            </a:pPr>
            <a:r>
              <a:rPr lang="en-US" sz="1800" b="1" dirty="0">
                <a:solidFill>
                  <a:schemeClr val="bg1"/>
                </a:solidFill>
              </a:rPr>
              <a:t>VIỆN NGHIÊN CỨU PHÁT TRIỂN GIÁO DỤC &amp; NGHỀ NGHIỆP STP</a:t>
            </a:r>
            <a:endParaRPr lang="en-US" sz="1800" dirty="0"/>
          </a:p>
        </p:txBody>
      </p:sp>
      <p:sp>
        <p:nvSpPr>
          <p:cNvPr id="4" name="Text 1"/>
          <p:cNvSpPr txBox="1"/>
          <p:nvPr/>
        </p:nvSpPr>
        <p:spPr>
          <a:xfrm>
            <a:off x="731520" y="3108960"/>
            <a:ext cx="6099048" cy="274320"/>
          </a:xfrm>
          <a:prstGeom prst="rect">
            <a:avLst/>
          </a:prstGeom>
          <a:noFill/>
          <a:ln/>
        </p:spPr>
        <p:txBody>
          <a:bodyPr wrap="square" lIns="0" tIns="0" rIns="0" bIns="0" rtlCol="0" anchor="t"/>
          <a:lstStyle/>
          <a:p>
            <a:pPr algn="ctr" indent="0" marL="0">
              <a:lnSpc>
                <a:spcPct val="105000"/>
              </a:lnSpc>
              <a:buNone/>
            </a:pPr>
            <a:r>
              <a:rPr lang="en-US" sz="1100" spc="100" kern="0" dirty="0">
                <a:solidFill>
                  <a:schemeClr val="accent3"/>
                </a:solidFill>
              </a:rPr>
              <a:t>STP INSTITUTE OF EDUCATION AND PROFESSIONALS DEVELOPMENT RESEARCH</a:t>
            </a:r>
            <a:endParaRPr lang="en-US" sz="1100" dirty="0"/>
          </a:p>
        </p:txBody>
      </p:sp>
      <p:sp>
        <p:nvSpPr>
          <p:cNvPr id="5" name="Text 2"/>
          <p:cNvSpPr txBox="1"/>
          <p:nvPr/>
        </p:nvSpPr>
        <p:spPr>
          <a:xfrm>
            <a:off x="731520" y="3611880"/>
            <a:ext cx="6099048" cy="777240"/>
          </a:xfrm>
          <a:prstGeom prst="rect">
            <a:avLst/>
          </a:prstGeom>
          <a:noFill/>
          <a:ln/>
        </p:spPr>
        <p:txBody>
          <a:bodyPr wrap="square" lIns="0" tIns="0" rIns="0" bIns="0" rtlCol="0" anchor="ctr"/>
          <a:lstStyle/>
          <a:p>
            <a:pPr algn="ctr" indent="0" marL="0">
              <a:lnSpc>
                <a:spcPct val="105000"/>
              </a:lnSpc>
              <a:buNone/>
            </a:pPr>
            <a:r>
              <a:rPr lang="en-US" sz="4800" b="1" dirty="0">
                <a:solidFill>
                  <a:schemeClr val="accent2"/>
                </a:solidFill>
              </a:rPr>
              <a:t>XIN CẢM ƠN!</a:t>
            </a:r>
            <a:endParaRPr lang="en-US" sz="4800" dirty="0"/>
          </a:p>
        </p:txBody>
      </p:sp>
      <p:sp>
        <p:nvSpPr>
          <p:cNvPr id="6" name="Text 3"/>
          <p:cNvSpPr txBox="1"/>
          <p:nvPr/>
        </p:nvSpPr>
        <p:spPr>
          <a:xfrm>
            <a:off x="914400" y="4434840"/>
            <a:ext cx="5733288" cy="548640"/>
          </a:xfrm>
          <a:prstGeom prst="rect">
            <a:avLst/>
          </a:prstGeom>
          <a:noFill/>
          <a:ln/>
        </p:spPr>
        <p:txBody>
          <a:bodyPr wrap="square" lIns="0" tIns="0" rIns="0" bIns="0" rtlCol="0" anchor="t"/>
          <a:lstStyle/>
          <a:p>
            <a:pPr algn="ctr" indent="0" marL="0">
              <a:lnSpc>
                <a:spcPct val="105000"/>
              </a:lnSpc>
              <a:buNone/>
            </a:pPr>
            <a:r>
              <a:rPr lang="en-US" sz="1400" dirty="0">
                <a:solidFill>
                  <a:schemeClr val="bg1"/>
                </a:solidFill>
              </a:rPr>
              <a:t>Hãy để Viện STP đồng hành cùng Quý cơ quan, doanh nghiệp trong hành trình phát triển nguồn nhân lực.</a:t>
            </a:r>
            <a:endParaRPr lang="en-US" sz="1400" dirty="0"/>
          </a:p>
        </p:txBody>
      </p:sp>
      <p:sp>
        <p:nvSpPr>
          <p:cNvPr id="7" name="Shape 4"/>
          <p:cNvSpPr/>
          <p:nvPr/>
        </p:nvSpPr>
        <p:spPr>
          <a:xfrm>
            <a:off x="548640" y="5257800"/>
            <a:ext cx="6464808" cy="4526280"/>
          </a:xfrm>
          <a:prstGeom prst="roundRect">
            <a:avLst>
              <a:gd name="adj" fmla="val 2424"/>
            </a:avLst>
          </a:prstGeom>
          <a:solidFill>
            <a:schemeClr val="bg1">
              <a:alpha val="92000"/>
            </a:schemeClr>
          </a:solidFill>
          <a:ln/>
        </p:spPr>
      </p:sp>
      <p:sp>
        <p:nvSpPr>
          <p:cNvPr id="8" name="Text 5"/>
          <p:cNvSpPr txBox="1"/>
          <p:nvPr/>
        </p:nvSpPr>
        <p:spPr>
          <a:xfrm>
            <a:off x="822960" y="5394960"/>
            <a:ext cx="3657600" cy="320040"/>
          </a:xfrm>
          <a:prstGeom prst="rect">
            <a:avLst/>
          </a:prstGeom>
          <a:noFill/>
          <a:ln/>
        </p:spPr>
        <p:txBody>
          <a:bodyPr wrap="square" lIns="0" tIns="0" rIns="0" bIns="0" rtlCol="0" anchor="t"/>
          <a:lstStyle/>
          <a:p>
            <a:pPr indent="0" marL="0">
              <a:lnSpc>
                <a:spcPct val="105000"/>
              </a:lnSpc>
              <a:buNone/>
            </a:pPr>
            <a:r>
              <a:rPr lang="en-US" sz="1500" b="1" spc="200" kern="0" dirty="0">
                <a:solidFill>
                  <a:schemeClr val="accent1"/>
                </a:solidFill>
              </a:rPr>
              <a:t>THÔNG TIN LIÊN HỆ</a:t>
            </a:r>
            <a:endParaRPr lang="en-US" sz="1500" dirty="0"/>
          </a:p>
        </p:txBody>
      </p:sp>
      <p:sp>
        <p:nvSpPr>
          <p:cNvPr id="9" name="Shape 6"/>
          <p:cNvSpPr/>
          <p:nvPr/>
        </p:nvSpPr>
        <p:spPr>
          <a:xfrm>
            <a:off x="822960" y="5833872"/>
            <a:ext cx="347472" cy="347472"/>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906353" y="5917265"/>
            <a:ext cx="180685" cy="180685"/>
          </a:xfrm>
          <a:prstGeom prst="rect">
            <a:avLst/>
          </a:prstGeom>
        </p:spPr>
      </p:pic>
      <p:sp>
        <p:nvSpPr>
          <p:cNvPr id="11" name="Text 7"/>
          <p:cNvSpPr txBox="1"/>
          <p:nvPr/>
        </p:nvSpPr>
        <p:spPr>
          <a:xfrm>
            <a:off x="1280160" y="5806440"/>
            <a:ext cx="4023360" cy="402336"/>
          </a:xfrm>
          <a:prstGeom prst="rect">
            <a:avLst/>
          </a:prstGeom>
          <a:noFill/>
          <a:ln/>
        </p:spPr>
        <p:txBody>
          <a:bodyPr wrap="square" lIns="0" tIns="0" rIns="0" bIns="0" rtlCol="0" anchor="ctr"/>
          <a:lstStyle/>
          <a:p>
            <a:pPr indent="0" marL="0">
              <a:lnSpc>
                <a:spcPct val="105000"/>
              </a:lnSpc>
              <a:buNone/>
            </a:pPr>
            <a:r>
              <a:rPr lang="en-US" sz="1400" dirty="0">
                <a:solidFill>
                  <a:schemeClr val="accent5"/>
                </a:solidFill>
              </a:rPr>
              <a:t>Website:  </a:t>
            </a:r>
            <a:pPr indent="0" marL="0">
              <a:lnSpc>
                <a:spcPct val="105000"/>
              </a:lnSpc>
              <a:buNone/>
            </a:pPr>
            <a:r>
              <a:rPr lang="en-US" sz="1400" b="1" dirty="0">
                <a:solidFill>
                  <a:schemeClr val="tx2"/>
                </a:solidFill>
              </a:rPr>
              <a:t>www.vienstp.com</a:t>
            </a:r>
            <a:endParaRPr lang="en-US" sz="1400" dirty="0"/>
          </a:p>
        </p:txBody>
      </p:sp>
      <p:sp>
        <p:nvSpPr>
          <p:cNvPr id="12" name="Shape 8"/>
          <p:cNvSpPr/>
          <p:nvPr/>
        </p:nvSpPr>
        <p:spPr>
          <a:xfrm>
            <a:off x="822960" y="6291072"/>
            <a:ext cx="347472" cy="347472"/>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906353" y="6374465"/>
            <a:ext cx="180685" cy="180685"/>
          </a:xfrm>
          <a:prstGeom prst="rect">
            <a:avLst/>
          </a:prstGeom>
        </p:spPr>
      </p:pic>
      <p:sp>
        <p:nvSpPr>
          <p:cNvPr id="14" name="Text 9"/>
          <p:cNvSpPr txBox="1"/>
          <p:nvPr/>
        </p:nvSpPr>
        <p:spPr>
          <a:xfrm>
            <a:off x="1280160" y="6263640"/>
            <a:ext cx="4023360" cy="402336"/>
          </a:xfrm>
          <a:prstGeom prst="rect">
            <a:avLst/>
          </a:prstGeom>
          <a:noFill/>
          <a:ln/>
        </p:spPr>
        <p:txBody>
          <a:bodyPr wrap="square" lIns="0" tIns="0" rIns="0" bIns="0" rtlCol="0" anchor="ctr"/>
          <a:lstStyle/>
          <a:p>
            <a:pPr indent="0" marL="0">
              <a:lnSpc>
                <a:spcPct val="105000"/>
              </a:lnSpc>
              <a:buNone/>
            </a:pPr>
            <a:r>
              <a:rPr lang="en-US" sz="1400" dirty="0">
                <a:solidFill>
                  <a:schemeClr val="accent5"/>
                </a:solidFill>
              </a:rPr>
              <a:t>Email:  </a:t>
            </a:r>
            <a:pPr indent="0" marL="0">
              <a:lnSpc>
                <a:spcPct val="105000"/>
              </a:lnSpc>
              <a:buNone/>
            </a:pPr>
            <a:r>
              <a:rPr lang="en-US" sz="1400" b="1" dirty="0">
                <a:solidFill>
                  <a:schemeClr val="tx2"/>
                </a:solidFill>
              </a:rPr>
              <a:t>viencongnghestp@gmail.com</a:t>
            </a:r>
            <a:endParaRPr lang="en-US" sz="1400" dirty="0"/>
          </a:p>
        </p:txBody>
      </p:sp>
      <p:sp>
        <p:nvSpPr>
          <p:cNvPr id="15" name="Shape 10"/>
          <p:cNvSpPr/>
          <p:nvPr/>
        </p:nvSpPr>
        <p:spPr>
          <a:xfrm>
            <a:off x="822960" y="6748272"/>
            <a:ext cx="347472" cy="347472"/>
          </a:xfrm>
          <a:prstGeom prst="ellipse">
            <a:avLst/>
          </a:prstGeom>
          <a:solidFill>
            <a:schemeClr val="accent1"/>
          </a:solidFill>
          <a:ln/>
        </p:spPr>
      </p:sp>
      <p:pic>
        <p:nvPicPr>
          <p:cNvPr id="16" name="Image 3" descr="preencoded.png">    </p:cNvPr>
          <p:cNvPicPr>
            <a:picLocks noChangeAspect="1"/>
          </p:cNvPicPr>
          <p:nvPr/>
        </p:nvPicPr>
        <p:blipFill>
          <a:blip r:embed="rId4"/>
          <a:stretch>
            <a:fillRect/>
          </a:stretch>
        </p:blipFill>
        <p:spPr>
          <a:xfrm>
            <a:off x="906353" y="6831665"/>
            <a:ext cx="180685" cy="180685"/>
          </a:xfrm>
          <a:prstGeom prst="rect">
            <a:avLst/>
          </a:prstGeom>
        </p:spPr>
      </p:pic>
      <p:sp>
        <p:nvSpPr>
          <p:cNvPr id="17" name="Text 11"/>
          <p:cNvSpPr txBox="1"/>
          <p:nvPr/>
        </p:nvSpPr>
        <p:spPr>
          <a:xfrm>
            <a:off x="1280160" y="6720840"/>
            <a:ext cx="4023360" cy="402336"/>
          </a:xfrm>
          <a:prstGeom prst="rect">
            <a:avLst/>
          </a:prstGeom>
          <a:noFill/>
          <a:ln/>
        </p:spPr>
        <p:txBody>
          <a:bodyPr wrap="square" lIns="0" tIns="0" rIns="0" bIns="0" rtlCol="0" anchor="ctr"/>
          <a:lstStyle/>
          <a:p>
            <a:pPr indent="0" marL="0">
              <a:lnSpc>
                <a:spcPct val="105000"/>
              </a:lnSpc>
              <a:buNone/>
            </a:pPr>
            <a:r>
              <a:rPr lang="en-US" sz="1400" dirty="0">
                <a:solidFill>
                  <a:schemeClr val="accent5"/>
                </a:solidFill>
              </a:rPr>
              <a:t>Hotline:  </a:t>
            </a:r>
            <a:pPr indent="0" marL="0">
              <a:lnSpc>
                <a:spcPct val="105000"/>
              </a:lnSpc>
              <a:buNone/>
            </a:pPr>
            <a:r>
              <a:rPr lang="en-US" sz="1400" b="1" dirty="0">
                <a:solidFill>
                  <a:schemeClr val="tx2"/>
                </a:solidFill>
              </a:rPr>
              <a:t>0827.695.368 · 0968.702.701</a:t>
            </a:r>
            <a:endParaRPr lang="en-US" sz="1400" dirty="0"/>
          </a:p>
        </p:txBody>
      </p:sp>
      <p:sp>
        <p:nvSpPr>
          <p:cNvPr id="18" name="Shape 12"/>
          <p:cNvSpPr/>
          <p:nvPr/>
        </p:nvSpPr>
        <p:spPr>
          <a:xfrm>
            <a:off x="5596128" y="5760720"/>
            <a:ext cx="1188720" cy="1188720"/>
          </a:xfrm>
          <a:prstGeom prst="roundRect">
            <a:avLst>
              <a:gd name="adj" fmla="val 3846"/>
            </a:avLst>
          </a:prstGeom>
          <a:solidFill>
            <a:schemeClr val="bg1"/>
          </a:solidFill>
          <a:ln w="15875">
            <a:solidFill>
              <a:schemeClr val="accent1"/>
            </a:solidFill>
            <a:prstDash val="solid"/>
          </a:ln>
        </p:spPr>
      </p:sp>
      <p:pic>
        <p:nvPicPr>
          <p:cNvPr id="19" name="Image 4" descr="/home/user/ATL--DAKO/profile-daotao/assets/logo/qr_web.png">    </p:cNvPr>
          <p:cNvPicPr>
            <a:picLocks noChangeAspect="1"/>
          </p:cNvPicPr>
          <p:nvPr/>
        </p:nvPicPr>
        <p:blipFill>
          <a:blip r:embed="rId5"/>
          <a:stretch>
            <a:fillRect/>
          </a:stretch>
        </p:blipFill>
        <p:spPr>
          <a:xfrm>
            <a:off x="5641848" y="5806440"/>
            <a:ext cx="1097280" cy="1097280"/>
          </a:xfrm>
          <a:prstGeom prst="rect">
            <a:avLst/>
          </a:prstGeom>
        </p:spPr>
      </p:pic>
      <p:sp>
        <p:nvSpPr>
          <p:cNvPr id="20" name="Text 13"/>
          <p:cNvSpPr txBox="1"/>
          <p:nvPr/>
        </p:nvSpPr>
        <p:spPr>
          <a:xfrm>
            <a:off x="5486400" y="6967728"/>
            <a:ext cx="1417320" cy="228600"/>
          </a:xfrm>
          <a:prstGeom prst="rect">
            <a:avLst/>
          </a:prstGeom>
          <a:noFill/>
          <a:ln/>
        </p:spPr>
        <p:txBody>
          <a:bodyPr wrap="square" lIns="0" tIns="0" rIns="0" bIns="0" rtlCol="0" anchor="t"/>
          <a:lstStyle/>
          <a:p>
            <a:pPr algn="ctr" indent="0" marL="0">
              <a:lnSpc>
                <a:spcPct val="105000"/>
              </a:lnSpc>
              <a:buNone/>
            </a:pPr>
            <a:r>
              <a:rPr lang="en-US" sz="1100" dirty="0">
                <a:solidFill>
                  <a:schemeClr val="accent5"/>
                </a:solidFill>
              </a:rPr>
              <a:t>Quét mã QR</a:t>
            </a:r>
            <a:endParaRPr lang="en-US" sz="1100" dirty="0"/>
          </a:p>
        </p:txBody>
      </p:sp>
      <p:sp>
        <p:nvSpPr>
          <p:cNvPr id="21" name="Shape 14"/>
          <p:cNvSpPr/>
          <p:nvPr/>
        </p:nvSpPr>
        <p:spPr>
          <a:xfrm>
            <a:off x="822960" y="7296912"/>
            <a:ext cx="5916168" cy="0"/>
          </a:xfrm>
          <a:prstGeom prst="line">
            <a:avLst/>
          </a:prstGeom>
          <a:noFill/>
          <a:ln w="9525">
            <a:solidFill>
              <a:schemeClr val="accent3"/>
            </a:solidFill>
            <a:prstDash val="solid"/>
          </a:ln>
        </p:spPr>
      </p:sp>
      <p:pic>
        <p:nvPicPr>
          <p:cNvPr id="22" name="Image 5" descr="preencoded.png">    </p:cNvPr>
          <p:cNvPicPr>
            <a:picLocks noChangeAspect="1"/>
          </p:cNvPicPr>
          <p:nvPr/>
        </p:nvPicPr>
        <p:blipFill>
          <a:blip r:embed="rId6"/>
          <a:stretch>
            <a:fillRect/>
          </a:stretch>
        </p:blipFill>
        <p:spPr>
          <a:xfrm>
            <a:off x="841248" y="7479792"/>
            <a:ext cx="256032" cy="256032"/>
          </a:xfrm>
          <a:prstGeom prst="rect">
            <a:avLst/>
          </a:prstGeom>
        </p:spPr>
      </p:pic>
      <p:sp>
        <p:nvSpPr>
          <p:cNvPr id="23" name="Text 15"/>
          <p:cNvSpPr txBox="1"/>
          <p:nvPr/>
        </p:nvSpPr>
        <p:spPr>
          <a:xfrm>
            <a:off x="1234440" y="7424928"/>
            <a:ext cx="5577840" cy="713232"/>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Trụ sở tại Hà Nội: </a:t>
            </a:r>
            <a:pPr indent="0" marL="0">
              <a:lnSpc>
                <a:spcPct val="105000"/>
              </a:lnSpc>
              <a:buNone/>
            </a:pPr>
            <a:r>
              <a:rPr lang="en-US" sz="1400" dirty="0">
                <a:solidFill>
                  <a:schemeClr val="tx1"/>
                </a:solidFill>
              </a:rPr>
              <a:t>Tầng 12 - Tòa nhà Diamond Flower, số 48 đường Lê Văn Lương, Khu đô thị mới N1, phường Yên Hoà, TP Hà Nội</a:t>
            </a:r>
            <a:endParaRPr lang="en-US" sz="1400" dirty="0"/>
          </a:p>
        </p:txBody>
      </p:sp>
      <p:pic>
        <p:nvPicPr>
          <p:cNvPr id="24" name="Image 6" descr="preencoded.png">    </p:cNvPr>
          <p:cNvPicPr>
            <a:picLocks noChangeAspect="1"/>
          </p:cNvPicPr>
          <p:nvPr/>
        </p:nvPicPr>
        <p:blipFill>
          <a:blip r:embed="rId7"/>
          <a:stretch>
            <a:fillRect/>
          </a:stretch>
        </p:blipFill>
        <p:spPr>
          <a:xfrm>
            <a:off x="841248" y="8247888"/>
            <a:ext cx="256032" cy="256032"/>
          </a:xfrm>
          <a:prstGeom prst="rect">
            <a:avLst/>
          </a:prstGeom>
        </p:spPr>
      </p:pic>
      <p:sp>
        <p:nvSpPr>
          <p:cNvPr id="25" name="Text 16"/>
          <p:cNvSpPr txBox="1"/>
          <p:nvPr/>
        </p:nvSpPr>
        <p:spPr>
          <a:xfrm>
            <a:off x="1234440" y="8193024"/>
            <a:ext cx="5577840" cy="713232"/>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Văn phòng tại Nha Trang: </a:t>
            </a:r>
            <a:pPr indent="0" marL="0">
              <a:lnSpc>
                <a:spcPct val="105000"/>
              </a:lnSpc>
              <a:buNone/>
            </a:pPr>
            <a:r>
              <a:rPr lang="en-US" sz="1400" dirty="0">
                <a:solidFill>
                  <a:schemeClr val="tx1"/>
                </a:solidFill>
              </a:rPr>
              <a:t>B19-03 Khu Đô Thị An Bình Tân, Phường Nam Nha Trang, Tỉnh Khánh Hòa</a:t>
            </a:r>
            <a:endParaRPr lang="en-US" sz="1400" dirty="0"/>
          </a:p>
        </p:txBody>
      </p:sp>
      <p:pic>
        <p:nvPicPr>
          <p:cNvPr id="26" name="Image 7" descr="preencoded.png">    </p:cNvPr>
          <p:cNvPicPr>
            <a:picLocks noChangeAspect="1"/>
          </p:cNvPicPr>
          <p:nvPr/>
        </p:nvPicPr>
        <p:blipFill>
          <a:blip r:embed="rId8"/>
          <a:stretch>
            <a:fillRect/>
          </a:stretch>
        </p:blipFill>
        <p:spPr>
          <a:xfrm>
            <a:off x="841248" y="9015984"/>
            <a:ext cx="256032" cy="256032"/>
          </a:xfrm>
          <a:prstGeom prst="rect">
            <a:avLst/>
          </a:prstGeom>
        </p:spPr>
      </p:pic>
      <p:sp>
        <p:nvSpPr>
          <p:cNvPr id="27" name="Text 17"/>
          <p:cNvSpPr txBox="1"/>
          <p:nvPr/>
        </p:nvSpPr>
        <p:spPr>
          <a:xfrm>
            <a:off x="1234440" y="8961120"/>
            <a:ext cx="5577840" cy="713232"/>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rPr>
              <a:t>Trung tâm tuyển sinh tại TP.HCM: </a:t>
            </a:r>
            <a:pPr indent="0" marL="0">
              <a:lnSpc>
                <a:spcPct val="105000"/>
              </a:lnSpc>
              <a:buNone/>
            </a:pPr>
            <a:r>
              <a:rPr lang="en-US" sz="1400" dirty="0">
                <a:solidFill>
                  <a:schemeClr val="tx1"/>
                </a:solidFill>
              </a:rPr>
              <a:t>Số 28, D9 KDC Carric, phường An Khánh, Thành Phố Hồ Chí Minh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STP Institute">
      <a:dk1>
        <a:srgbClr val="1F2D1A"/>
      </a:dk1>
      <a:lt1>
        <a:srgbClr val="FFFFFF"/>
      </a:lt1>
      <a:dk2>
        <a:srgbClr val="123A00"/>
      </a:dk2>
      <a:lt2>
        <a:srgbClr val="EBF8E1"/>
      </a:lt2>
      <a:accent1>
        <a:srgbClr val="1A6600"/>
      </a:accent1>
      <a:accent2>
        <a:srgbClr val="7CC43A"/>
      </a:accent2>
      <a:accent3>
        <a:srgbClr val="CFE8B8"/>
      </a:accent3>
      <a:accent4>
        <a:srgbClr val="D32F2F"/>
      </a:accent4>
      <a:accent5>
        <a:srgbClr val="5B6B57"/>
      </a:accent5>
      <a:accent6>
        <a:srgbClr val="E39A00"/>
      </a:accent6>
      <a:hlink>
        <a:srgbClr val="1A6600"/>
      </a:hlink>
      <a:folHlink>
        <a:srgbClr val="5B6B57"/>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STP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Hồ sơ năng lực Lĩnh vực Đào tạo – Viện STP</dc:title>
  <dc:subject>PptxGenJS Presentation</dc:subject>
  <dc:creator>Viện STP</dc:creator>
  <cp:lastModifiedBy>Viện STP</cp:lastModifiedBy>
  <cp:revision>1</cp:revision>
  <dcterms:created xsi:type="dcterms:W3CDTF">2026-10-03T10:53:49Z</dcterms:created>
  <dcterms:modified xsi:type="dcterms:W3CDTF">2026-10-03T10:53:49Z</dcterms:modified>
</cp:coreProperties>
</file>