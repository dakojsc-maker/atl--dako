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bìa. Ảnh, giá vé, giá món ăn và lịch trình là MINH HỌA — kiểm tra và thay bằng thông tin, hình ảnh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jpg"/><Relationship Id="rId7" Type="http://schemas.openxmlformats.org/officeDocument/2006/relationships/image" Target="../media/image6.png"/><Relationship Id="rId8" Type="http://schemas.openxmlformats.org/officeDocument/2006/relationships/image" Target="../media/image5.jpg"/><Relationship Id="rId9" Type="http://schemas.openxmlformats.org/officeDocument/2006/relationships/image" Target="../media/image20.jpg"/><Relationship Id="rId10" Type="http://schemas.openxmlformats.org/officeDocument/2006/relationships/image" Target="../media/image2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.jp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Relationship Id="rId9" Type="http://schemas.openxmlformats.org/officeDocument/2006/relationships/image" Target="../media/image34.jpg"/><Relationship Id="rId10" Type="http://schemas.openxmlformats.org/officeDocument/2006/relationships/image" Target="../media/image6.png"/><Relationship Id="rId11" Type="http://schemas.openxmlformats.org/officeDocument/2006/relationships/image" Target="../media/image12.jpg"/><Relationship Id="rId12" Type="http://schemas.openxmlformats.org/officeDocument/2006/relationships/image" Target="../media/image35.jpg"/><Relationship Id="rId13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7.jpg"/><Relationship Id="rId7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4.jpg"/><Relationship Id="rId7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jpg"/><Relationship Id="rId10" Type="http://schemas.openxmlformats.org/officeDocument/2006/relationships/image" Target="../media/image6.png"/><Relationship Id="rId11" Type="http://schemas.openxmlformats.org/officeDocument/2006/relationships/image" Target="../media/image4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2880" y="137160"/>
            <a:ext cx="868680" cy="125476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54880" y="320040"/>
            <a:ext cx="640080" cy="92456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5760720" y="4297680"/>
            <a:ext cx="502920" cy="72644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3291840" y="5120640"/>
            <a:ext cx="685800" cy="99060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47120" y="5120640"/>
            <a:ext cx="640080" cy="924560"/>
          </a:xfrm>
          <a:prstGeom prst="rect">
            <a:avLst/>
          </a:prstGeom>
        </p:spPr>
      </p:pic>
      <p:grpSp>
        <p:nvGrpSpPr>
          <p:cNvPr id="8" name="!!pol0"/>
          <p:cNvGrpSpPr/>
          <p:nvPr/>
        </p:nvGrpSpPr>
        <p:grpSpPr>
          <a:xfrm rot="-420000">
            <a:off x="6400800" y="603504"/>
            <a:ext cx="3017520" cy="3648456"/>
            <a:chOff x="6400800" y="603504"/>
            <a:chExt cx="3017520" cy="3648456"/>
          </a:xfrm>
        </p:grpSpPr>
        <p:sp>
          <p:nvSpPr>
            <p:cNvPr id="9" name="Rectangle 8"/>
            <p:cNvSpPr/>
            <p:nvPr/>
          </p:nvSpPr>
          <p:spPr>
            <a:xfrm>
              <a:off x="6400800" y="731520"/>
              <a:ext cx="3017520" cy="352044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0" name="Picture 9" descr="9bf92b3209c35699.jpg"/>
            <p:cNvPicPr>
              <a:picLocks noChangeAspect="1"/>
            </p:cNvPicPr>
            <p:nvPr/>
          </p:nvPicPr>
          <p:blipFill>
            <a:blip r:embed="rId6"/>
            <a:srcRect l="18199" r="18199"/>
            <a:stretch>
              <a:fillRect/>
            </a:stretch>
          </p:blipFill>
          <p:spPr>
            <a:xfrm>
              <a:off x="6566764" y="897484"/>
              <a:ext cx="2685593" cy="2787548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6566764" y="3685032"/>
              <a:ext cx="2685593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Sông Hàn</a:t>
              </a:r>
            </a:p>
          </p:txBody>
        </p:sp>
        <p:pic>
          <p:nvPicPr>
            <p:cNvPr id="12" name="Picture 11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300000">
              <a:off x="7338060" y="603504"/>
              <a:ext cx="1143000" cy="331470"/>
            </a:xfrm>
            <a:prstGeom prst="rect">
              <a:avLst/>
            </a:prstGeom>
          </p:spPr>
        </p:pic>
      </p:grpSp>
      <p:grpSp>
        <p:nvGrpSpPr>
          <p:cNvPr id="13" name="!!pol1"/>
          <p:cNvGrpSpPr/>
          <p:nvPr/>
        </p:nvGrpSpPr>
        <p:grpSpPr>
          <a:xfrm rot="360000">
            <a:off x="8869680" y="1014984"/>
            <a:ext cx="2880360" cy="3511296"/>
            <a:chOff x="8869680" y="1014984"/>
            <a:chExt cx="2880360" cy="3511296"/>
          </a:xfrm>
        </p:grpSpPr>
        <p:sp>
          <p:nvSpPr>
            <p:cNvPr id="14" name="Rectangle 13"/>
            <p:cNvSpPr/>
            <p:nvPr/>
          </p:nvSpPr>
          <p:spPr>
            <a:xfrm>
              <a:off x="8869680" y="1143000"/>
              <a:ext cx="2880360" cy="338328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5" name="Picture 14" descr="0c8ae4acded777e5.jpg"/>
            <p:cNvPicPr>
              <a:picLocks noChangeAspect="1"/>
            </p:cNvPicPr>
            <p:nvPr/>
          </p:nvPicPr>
          <p:blipFill>
            <a:blip r:embed="rId8"/>
            <a:srcRect l="17835" r="17835"/>
            <a:stretch>
              <a:fillRect/>
            </a:stretch>
          </p:blipFill>
          <p:spPr>
            <a:xfrm>
              <a:off x="9028100" y="1301420"/>
              <a:ext cx="2563520" cy="2657932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9028100" y="3959352"/>
              <a:ext cx="2563520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Ngũ Hành Sơn</a:t>
              </a:r>
            </a:p>
          </p:txBody>
        </p:sp>
        <p:pic>
          <p:nvPicPr>
            <p:cNvPr id="17" name="Picture 16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21360000">
              <a:off x="9738360" y="1014984"/>
              <a:ext cx="1143000" cy="331470"/>
            </a:xfrm>
            <a:prstGeom prst="rect">
              <a:avLst/>
            </a:prstGeom>
          </p:spPr>
        </p:pic>
      </p:grpSp>
      <p:grpSp>
        <p:nvGrpSpPr>
          <p:cNvPr id="18" name="!!pol2"/>
          <p:cNvGrpSpPr/>
          <p:nvPr/>
        </p:nvGrpSpPr>
        <p:grpSpPr>
          <a:xfrm rot="-120000">
            <a:off x="7406640" y="3026664"/>
            <a:ext cx="2926080" cy="3419856"/>
            <a:chOff x="7406640" y="3026664"/>
            <a:chExt cx="2926080" cy="3419856"/>
          </a:xfrm>
        </p:grpSpPr>
        <p:sp>
          <p:nvSpPr>
            <p:cNvPr id="19" name="Rectangle 18"/>
            <p:cNvSpPr/>
            <p:nvPr/>
          </p:nvSpPr>
          <p:spPr>
            <a:xfrm>
              <a:off x="7406640" y="3154680"/>
              <a:ext cx="2926080" cy="329184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0" name="Picture 19" descr="ae6762f8d7a0a4e9.jpg"/>
            <p:cNvPicPr>
              <a:picLocks noChangeAspect="1"/>
            </p:cNvPicPr>
            <p:nvPr/>
          </p:nvPicPr>
          <p:blipFill>
            <a:blip r:embed="rId9"/>
            <a:srcRect l="11912" r="11912"/>
            <a:stretch>
              <a:fillRect/>
            </a:stretch>
          </p:blipFill>
          <p:spPr>
            <a:xfrm>
              <a:off x="7567574" y="3315614"/>
              <a:ext cx="2604211" cy="2563978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567574" y="5879592"/>
              <a:ext cx="2604211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Cáp treo</a:t>
              </a:r>
            </a:p>
          </p:txBody>
        </p:sp>
        <p:pic>
          <p:nvPicPr>
            <p:cNvPr id="22" name="Picture 21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300000">
              <a:off x="8298180" y="3026664"/>
              <a:ext cx="1143000" cy="331470"/>
            </a:xfrm>
            <a:prstGeom prst="rect">
              <a:avLst/>
            </a:prstGeom>
          </p:spPr>
        </p:pic>
      </p:grpSp>
      <p:pic>
        <p:nvPicPr>
          <p:cNvPr id="23" name="!!cam" descr="cut_leic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4352731"/>
            <a:ext cx="2743200" cy="1910909"/>
          </a:xfrm>
          <a:prstGeom prst="rect">
            <a:avLst/>
          </a:prstGeom>
          <a:effectLst>
            <a:outerShdw blurRad="274320" dist="91440" dir="5400000" algn="ctr" rotWithShape="0">
              <a:srgbClr val="000000">
                <a:alpha val="55000"/>
              </a:srgbClr>
            </a:outerShdw>
          </a:effectLst>
        </p:spPr>
      </p:pic>
      <p:sp>
        <p:nvSpPr>
          <p:cNvPr id="24" name="!!kicker"/>
          <p:cNvSpPr txBox="1"/>
          <p:nvPr/>
        </p:nvSpPr>
        <p:spPr>
          <a:xfrm>
            <a:off x="640080" y="14173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Cẩm nang du lịch</a:t>
            </a:r>
          </a:p>
        </p:txBody>
      </p:sp>
      <p:sp>
        <p:nvSpPr>
          <p:cNvPr id="25" name="!!ttl"/>
          <p:cNvSpPr txBox="1"/>
          <p:nvPr/>
        </p:nvSpPr>
        <p:spPr>
          <a:xfrm>
            <a:off x="548640" y="1828800"/>
            <a:ext cx="6400800" cy="1524000"/>
          </a:xfrm>
          <a:prstGeom prst="rect">
            <a:avLst/>
          </a:prstGeom>
          <a:noFill/>
          <a:effectLst>
            <a:outerShdw blurRad="228600" dist="45720" dir="5400000" algn="ctr" rotWithShape="0">
              <a:srgbClr val="000000">
                <a:alpha val="45000"/>
              </a:srgbClr>
            </a:outerShdw>
          </a:effectLst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600" b="0" i="0" spc="20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ĐÀ NẴNG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3489960"/>
            <a:ext cx="201168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539496" y="343509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728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5ECDD"/>
                </a:solidFill>
                <a:latin typeface="Playfair Display"/>
                <a:ea typeface="Playfair Display"/>
                <a:cs typeface="Playfair Display"/>
              </a:rPr>
              <a:t>Thành phố đáng sống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5ECDD"/>
                </a:solidFill>
                <a:latin typeface="Playfair Display"/>
                <a:ea typeface="Playfair Display"/>
                <a:cs typeface="Playfair Display"/>
              </a:rPr>
              <a:t>bên bờ biển Đông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8D9AB3"/>
                </a:solidFill>
                <a:latin typeface="Be Vietnam Pro SemiBold"/>
                <a:ea typeface="Be Vietnam Pro SemiBold"/>
                <a:cs typeface="Be Vietnam Pro SemiBold"/>
              </a:rPr>
              <a:t>Trình bày: Nhóm Hướng dẫn viên  · 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5760" y="228600"/>
            <a:ext cx="548640" cy="79248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0881360" y="91440"/>
            <a:ext cx="685800" cy="99060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2468880" y="777240"/>
            <a:ext cx="365760" cy="52832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9052560" y="731520"/>
            <a:ext cx="365760" cy="52832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97880" y="6172200"/>
            <a:ext cx="274320" cy="39624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Nội dung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0" y="804672"/>
            <a:ext cx="12191695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Hành trình khám phá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55768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040984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film"/>
          <p:cNvSpPr/>
          <p:nvPr/>
        </p:nvSpPr>
        <p:spPr>
          <a:xfrm>
            <a:off x="-182880" y="2057400"/>
            <a:ext cx="12557455" cy="2606040"/>
          </a:xfrm>
          <a:prstGeom prst="rect">
            <a:avLst/>
          </a:prstGeom>
          <a:solidFill>
            <a:srgbClr val="121212"/>
          </a:solidFill>
          <a:ln>
            <a:noFill/>
          </a:ln>
          <a:effectLst>
            <a:outerShdw blurRad="365760" dist="109728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43584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43584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7632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27632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1168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1168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9572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9572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79776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79776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63824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63824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47872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47872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3192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1596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1596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00016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00016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84064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84064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68112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68112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5216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5216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3620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3620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20256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20256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04304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04304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88352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88352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7240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5644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5644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540496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540496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24544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24544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308592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308592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69264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69264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7668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07668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460736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460736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844784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844784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228832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1228832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612880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612880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996928" y="214884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996928" y="4407408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7" name="Picture 76" descr="0afd354575692a31.jpg"/>
          <p:cNvPicPr>
            <a:picLocks noChangeAspect="1"/>
          </p:cNvPicPr>
          <p:nvPr/>
        </p:nvPicPr>
        <p:blipFill>
          <a:blip r:embed="rId6"/>
          <a:srcRect l="11995" r="11995"/>
          <a:stretch>
            <a:fillRect/>
          </a:stretch>
        </p:blipFill>
        <p:spPr>
          <a:xfrm>
            <a:off x="457200" y="2441448"/>
            <a:ext cx="2094525" cy="183794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57200" y="4846320"/>
            <a:ext cx="209452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413248"/>
            <a:ext cx="209452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Tổng quan &amp; bản đồ</a:t>
            </a:r>
          </a:p>
        </p:txBody>
      </p:sp>
      <p:pic>
        <p:nvPicPr>
          <p:cNvPr id="80" name="Picture 79" descr="e4a54207d2de13e8.jpg"/>
          <p:cNvPicPr>
            <a:picLocks noChangeAspect="1"/>
          </p:cNvPicPr>
          <p:nvPr/>
        </p:nvPicPr>
        <p:blipFill>
          <a:blip r:embed="rId7"/>
          <a:srcRect l="7265" r="7265"/>
          <a:stretch>
            <a:fillRect/>
          </a:stretch>
        </p:blipFill>
        <p:spPr>
          <a:xfrm>
            <a:off x="2752893" y="2441448"/>
            <a:ext cx="2094525" cy="183794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752893" y="4846320"/>
            <a:ext cx="209452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52893" y="5413248"/>
            <a:ext cx="209452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Biển &amp; thiên nhiên</a:t>
            </a:r>
          </a:p>
        </p:txBody>
      </p:sp>
      <p:pic>
        <p:nvPicPr>
          <p:cNvPr id="83" name="Picture 82" descr="42cda569f6e0996e.jpg"/>
          <p:cNvPicPr>
            <a:picLocks noChangeAspect="1"/>
          </p:cNvPicPr>
          <p:nvPr/>
        </p:nvPicPr>
        <p:blipFill>
          <a:blip r:embed="rId8"/>
          <a:srcRect l="11327" r="11327"/>
          <a:stretch>
            <a:fillRect/>
          </a:stretch>
        </p:blipFill>
        <p:spPr>
          <a:xfrm>
            <a:off x="5048585" y="2441448"/>
            <a:ext cx="2094525" cy="183794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048585" y="4846320"/>
            <a:ext cx="209452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48585" y="5413248"/>
            <a:ext cx="209452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Di sản lân cận</a:t>
            </a:r>
          </a:p>
        </p:txBody>
      </p:sp>
      <p:pic>
        <p:nvPicPr>
          <p:cNvPr id="86" name="Picture 85" descr="958dd0ef5110115b.jpg"/>
          <p:cNvPicPr>
            <a:picLocks noChangeAspect="1"/>
          </p:cNvPicPr>
          <p:nvPr/>
        </p:nvPicPr>
        <p:blipFill>
          <a:blip r:embed="rId9"/>
          <a:srcRect l="7265" r="7265"/>
          <a:stretch>
            <a:fillRect/>
          </a:stretch>
        </p:blipFill>
        <p:spPr>
          <a:xfrm>
            <a:off x="7344278" y="2441448"/>
            <a:ext cx="2094525" cy="1837944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7344278" y="4846320"/>
            <a:ext cx="209452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44278" y="5413248"/>
            <a:ext cx="209452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Ẩm thực đặc sắc</a:t>
            </a:r>
          </a:p>
        </p:txBody>
      </p:sp>
      <p:pic>
        <p:nvPicPr>
          <p:cNvPr id="89" name="Picture 88" descr="852ae01c746cfc1f.jpg"/>
          <p:cNvPicPr>
            <a:picLocks noChangeAspect="1"/>
          </p:cNvPicPr>
          <p:nvPr/>
        </p:nvPicPr>
        <p:blipFill>
          <a:blip r:embed="rId10"/>
          <a:srcRect l="12885" r="12885"/>
          <a:stretch>
            <a:fillRect/>
          </a:stretch>
        </p:blipFill>
        <p:spPr>
          <a:xfrm>
            <a:off x="9639971" y="2441448"/>
            <a:ext cx="2094525" cy="183794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639971" y="4846320"/>
            <a:ext cx="209452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39971" y="5413248"/>
            <a:ext cx="209452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Lễ hội &amp; lịch trình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  <p:bldP spid="81" grpId="0" animBg="1"/>
      <p:bldP spid="82" grpId="0" animBg="1"/>
      <p:bldP spid="84" grpId="0" animBg="1"/>
      <p:bldP spid="85" grpId="0" animBg="1"/>
      <p:bldP spid="87" grpId="0" animBg="1"/>
      <p:bldP spid="88" grpId="0" animBg="1"/>
      <p:bldP spid="90" grpId="0" animBg="1"/>
      <p:bldP spid="9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46320" y="365760"/>
            <a:ext cx="777240" cy="112268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60720" y="4480560"/>
            <a:ext cx="548640" cy="79248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4320" y="5212080"/>
            <a:ext cx="457200" cy="66040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11338560" y="91440"/>
            <a:ext cx="502920" cy="72644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07040" y="5486400"/>
            <a:ext cx="548640" cy="792480"/>
          </a:xfrm>
          <a:prstGeom prst="rect">
            <a:avLst/>
          </a:prstGeom>
        </p:spPr>
      </p:pic>
      <p:sp>
        <p:nvSpPr>
          <p:cNvPr id="8" name="!!secnum"/>
          <p:cNvSpPr txBox="1"/>
          <p:nvPr/>
        </p:nvSpPr>
        <p:spPr>
          <a:xfrm>
            <a:off x="457200" y="228600"/>
            <a:ext cx="5486400" cy="2926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0000" b="0" i="0">
                <a:solidFill>
                  <a:srgbClr val="D9B26A"/>
                </a:solidFill>
                <a:latin typeface="Playfair Display"/>
                <a:ea typeface="Playfair Display"/>
                <a:cs typeface="Playfair Display"/>
              </a:rPr>
              <a:t>01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3246120"/>
            <a:ext cx="5852160" cy="75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Tổng quan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4142740"/>
            <a:ext cx="164592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9496" y="4087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7134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Thành phố biển năng động của miền Trung</a:t>
            </a:r>
          </a:p>
        </p:txBody>
      </p:sp>
      <p:grpSp>
        <p:nvGrpSpPr>
          <p:cNvPr id="13" name="!!pol0"/>
          <p:cNvGrpSpPr/>
          <p:nvPr/>
        </p:nvGrpSpPr>
        <p:grpSpPr>
          <a:xfrm rot="240000">
            <a:off x="6675120" y="649224"/>
            <a:ext cx="4572000" cy="5431536"/>
            <a:chOff x="6675120" y="649224"/>
            <a:chExt cx="4572000" cy="5431536"/>
          </a:xfrm>
        </p:grpSpPr>
        <p:sp>
          <p:nvSpPr>
            <p:cNvPr id="14" name="Rectangle 13"/>
            <p:cNvSpPr/>
            <p:nvPr/>
          </p:nvSpPr>
          <p:spPr>
            <a:xfrm>
              <a:off x="6675120" y="777240"/>
              <a:ext cx="4572000" cy="53035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5" name="Picture 14" descr="9bf92b3209c35699.jpg"/>
            <p:cNvPicPr>
              <a:picLocks noChangeAspect="1"/>
            </p:cNvPicPr>
            <p:nvPr/>
          </p:nvPicPr>
          <p:blipFill>
            <a:blip r:embed="rId6"/>
            <a:srcRect l="20054" r="20054"/>
            <a:stretch>
              <a:fillRect/>
            </a:stretch>
          </p:blipFill>
          <p:spPr>
            <a:xfrm>
              <a:off x="6926580" y="1028700"/>
              <a:ext cx="4069080" cy="4485132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926580" y="5513832"/>
              <a:ext cx="4069080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Thuyền buồm trên sông Hàn</a:t>
              </a:r>
            </a:p>
          </p:txBody>
        </p:sp>
        <p:pic>
          <p:nvPicPr>
            <p:cNvPr id="17" name="Picture 16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21360000">
              <a:off x="8389620" y="649224"/>
              <a:ext cx="1143000" cy="331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danang_map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430000" y="-274320"/>
            <a:ext cx="457200" cy="66040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0058400" y="182880"/>
            <a:ext cx="365760" cy="52832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5486400" y="137160"/>
            <a:ext cx="365760" cy="52832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60720" y="5943600"/>
            <a:ext cx="320040" cy="46228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1521440" y="3931920"/>
            <a:ext cx="365760" cy="528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411480"/>
            <a:ext cx="4754880" cy="6035040"/>
          </a:xfrm>
          <a:prstGeom prst="roundRect">
            <a:avLst>
              <a:gd name="adj" fmla="val 2307"/>
            </a:avLst>
          </a:prstGeom>
          <a:solidFill>
            <a:srgbClr val="0D1B34">
              <a:alpha val="78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kicker"/>
          <p:cNvSpPr txBox="1"/>
          <p:nvPr/>
        </p:nvSpPr>
        <p:spPr>
          <a:xfrm>
            <a:off x="777240" y="6858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Vị trí</a:t>
            </a:r>
          </a:p>
        </p:txBody>
      </p:sp>
      <p:sp>
        <p:nvSpPr>
          <p:cNvPr id="10" name="!!ttl"/>
          <p:cNvSpPr txBox="1"/>
          <p:nvPr/>
        </p:nvSpPr>
        <p:spPr>
          <a:xfrm>
            <a:off x="777240" y="1033272"/>
            <a:ext cx="402336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Đà Nẵng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17043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722376" y="16494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745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Trung tâm của miền Trung</a:t>
            </a:r>
            <a:r>
              <a:rPr sz="12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, nằm giữa ba di sản thế giới </a:t>
            </a:r>
            <a:r>
              <a:rPr sz="12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Huế – Hội An – Mỹ Sơn</a:t>
            </a:r>
            <a:r>
              <a:rPr sz="12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. Phía bắc là đèo Hải Vân, phía đông hướng ra biển Đông.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264408"/>
            <a:ext cx="512064" cy="512064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ne_D9B2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392424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3246120"/>
            <a:ext cx="347472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Sân bay quốc tế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7530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cách trung tâm thành phố khoảng 3 km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" y="4014216"/>
            <a:ext cx="512064" cy="512064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andmark_D9B26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142232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8760" y="3995928"/>
            <a:ext cx="347472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3 di sản UNESCO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251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Huế, Hội An, Mỹ Sơn trong bán kính ~100 km</a:t>
            </a:r>
          </a:p>
        </p:txBody>
      </p:sp>
      <p:sp>
        <p:nvSpPr>
          <p:cNvPr id="22" name="Oval 21"/>
          <p:cNvSpPr/>
          <p:nvPr/>
        </p:nvSpPr>
        <p:spPr>
          <a:xfrm>
            <a:off x="795528" y="4764024"/>
            <a:ext cx="512064" cy="512064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ves_D9B26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489204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8760" y="4745736"/>
            <a:ext cx="347472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Biển Mỹ Khê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74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bãi cát trắng dài, sóng êm, nước trong</a:t>
            </a:r>
          </a:p>
        </p:txBody>
      </p:sp>
      <p:sp>
        <p:nvSpPr>
          <p:cNvPr id="26" name="Oval 25"/>
          <p:cNvSpPr/>
          <p:nvPr/>
        </p:nvSpPr>
        <p:spPr>
          <a:xfrm>
            <a:off x="795528" y="5513832"/>
            <a:ext cx="512064" cy="512064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ountain_D9B26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" y="5641848"/>
            <a:ext cx="25603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" y="5495544"/>
            <a:ext cx="347472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Bán đảo Sơn Trà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8247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“lá phổi xanh” của thành phố</a:t>
            </a:r>
          </a:p>
        </p:txBody>
      </p:sp>
      <p:sp>
        <p:nvSpPr>
          <p:cNvPr id="30" name="Oval 29"/>
          <p:cNvSpPr/>
          <p:nvPr/>
        </p:nvSpPr>
        <p:spPr>
          <a:xfrm>
            <a:off x="6865287" y="1856305"/>
            <a:ext cx="310896" cy="310896"/>
          </a:xfrm>
          <a:prstGeom prst="ellipse">
            <a:avLst/>
          </a:prstGeom>
          <a:solidFill>
            <a:srgbClr val="D9B26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47583" y="1938601"/>
            <a:ext cx="146304" cy="146304"/>
          </a:xfrm>
          <a:prstGeom prst="ellipse">
            <a:avLst/>
          </a:prstGeom>
          <a:solidFill>
            <a:srgbClr val="D9B26A"/>
          </a:solidFill>
          <a:ln w="19050">
            <a:solidFill>
              <a:srgbClr val="0D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1903" y="1847161"/>
            <a:ext cx="1218634" cy="329184"/>
          </a:xfrm>
          <a:prstGeom prst="roundRect">
            <a:avLst>
              <a:gd name="adj" fmla="val 50000"/>
            </a:avLst>
          </a:prstGeom>
          <a:solidFill>
            <a:srgbClr val="0D1B34">
              <a:alpha val="85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Đèo Hải Vân</a:t>
            </a:r>
          </a:p>
        </p:txBody>
      </p:sp>
      <p:sp>
        <p:nvSpPr>
          <p:cNvPr id="33" name="Oval 32"/>
          <p:cNvSpPr/>
          <p:nvPr/>
        </p:nvSpPr>
        <p:spPr>
          <a:xfrm>
            <a:off x="8168537" y="2529935"/>
            <a:ext cx="310896" cy="310896"/>
          </a:xfrm>
          <a:prstGeom prst="ellipse">
            <a:avLst/>
          </a:prstGeom>
          <a:solidFill>
            <a:srgbClr val="D9B26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50833" y="2612231"/>
            <a:ext cx="146304" cy="146304"/>
          </a:xfrm>
          <a:prstGeom prst="ellipse">
            <a:avLst/>
          </a:prstGeom>
          <a:solidFill>
            <a:srgbClr val="D9B26A"/>
          </a:solidFill>
          <a:ln w="19050">
            <a:solidFill>
              <a:srgbClr val="0D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25153" y="2520791"/>
            <a:ext cx="1513374" cy="329184"/>
          </a:xfrm>
          <a:prstGeom prst="roundRect">
            <a:avLst>
              <a:gd name="adj" fmla="val 50000"/>
            </a:avLst>
          </a:prstGeom>
          <a:solidFill>
            <a:srgbClr val="0D1B34">
              <a:alpha val="85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Bán đảo Sơn Trà</a:t>
            </a:r>
          </a:p>
        </p:txBody>
      </p:sp>
      <p:sp>
        <p:nvSpPr>
          <p:cNvPr id="36" name="Oval 35"/>
          <p:cNvSpPr/>
          <p:nvPr/>
        </p:nvSpPr>
        <p:spPr>
          <a:xfrm>
            <a:off x="7680869" y="3002350"/>
            <a:ext cx="310896" cy="310896"/>
          </a:xfrm>
          <a:prstGeom prst="ellipse">
            <a:avLst/>
          </a:prstGeom>
          <a:solidFill>
            <a:srgbClr val="D9B26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63165" y="3084646"/>
            <a:ext cx="146304" cy="146304"/>
          </a:xfrm>
          <a:prstGeom prst="ellipse">
            <a:avLst/>
          </a:prstGeom>
          <a:solidFill>
            <a:srgbClr val="D9B26A"/>
          </a:solidFill>
          <a:ln w="19050">
            <a:solidFill>
              <a:srgbClr val="0D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99960" y="2993206"/>
            <a:ext cx="1035189" cy="329184"/>
          </a:xfrm>
          <a:prstGeom prst="roundRect">
            <a:avLst>
              <a:gd name="adj" fmla="val 50000"/>
            </a:avLst>
          </a:prstGeom>
          <a:solidFill>
            <a:srgbClr val="0D1B34">
              <a:alpha val="85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Cầu Rồng</a:t>
            </a:r>
          </a:p>
        </p:txBody>
      </p:sp>
      <p:sp>
        <p:nvSpPr>
          <p:cNvPr id="39" name="Oval 38"/>
          <p:cNvSpPr/>
          <p:nvPr/>
        </p:nvSpPr>
        <p:spPr>
          <a:xfrm>
            <a:off x="7983560" y="3501011"/>
            <a:ext cx="310896" cy="310896"/>
          </a:xfrm>
          <a:prstGeom prst="ellipse">
            <a:avLst/>
          </a:prstGeom>
          <a:solidFill>
            <a:srgbClr val="D9B26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65856" y="3583307"/>
            <a:ext cx="146304" cy="146304"/>
          </a:xfrm>
          <a:prstGeom prst="ellipse">
            <a:avLst/>
          </a:prstGeom>
          <a:solidFill>
            <a:srgbClr val="D9B26A"/>
          </a:solidFill>
          <a:ln w="19050">
            <a:solidFill>
              <a:srgbClr val="0D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40176" y="3491867"/>
            <a:ext cx="1333867" cy="329184"/>
          </a:xfrm>
          <a:prstGeom prst="roundRect">
            <a:avLst>
              <a:gd name="adj" fmla="val 50000"/>
            </a:avLst>
          </a:prstGeom>
          <a:solidFill>
            <a:srgbClr val="0D1B34">
              <a:alpha val="85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Ngũ Hành Sơn</a:t>
            </a:r>
          </a:p>
        </p:txBody>
      </p:sp>
      <p:sp>
        <p:nvSpPr>
          <p:cNvPr id="42" name="Oval 41"/>
          <p:cNvSpPr/>
          <p:nvPr/>
        </p:nvSpPr>
        <p:spPr>
          <a:xfrm>
            <a:off x="5730198" y="3562250"/>
            <a:ext cx="310896" cy="310896"/>
          </a:xfrm>
          <a:prstGeom prst="ellipse">
            <a:avLst/>
          </a:prstGeom>
          <a:solidFill>
            <a:srgbClr val="D9B26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494" y="3644546"/>
            <a:ext cx="146304" cy="146304"/>
          </a:xfrm>
          <a:prstGeom prst="ellipse">
            <a:avLst/>
          </a:prstGeom>
          <a:solidFill>
            <a:srgbClr val="D9B26A"/>
          </a:solidFill>
          <a:ln w="19050">
            <a:solidFill>
              <a:srgbClr val="0D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86814" y="3553106"/>
            <a:ext cx="1107281" cy="329184"/>
          </a:xfrm>
          <a:prstGeom prst="roundRect">
            <a:avLst>
              <a:gd name="adj" fmla="val 50000"/>
            </a:avLst>
          </a:prstGeom>
          <a:solidFill>
            <a:srgbClr val="0D1B34">
              <a:alpha val="85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Bà Nà Hills</a:t>
            </a:r>
          </a:p>
        </p:txBody>
      </p:sp>
      <p:sp>
        <p:nvSpPr>
          <p:cNvPr id="45" name="Oval 44"/>
          <p:cNvSpPr/>
          <p:nvPr/>
        </p:nvSpPr>
        <p:spPr>
          <a:xfrm>
            <a:off x="8614164" y="4585818"/>
            <a:ext cx="310896" cy="310896"/>
          </a:xfrm>
          <a:prstGeom prst="ellipse">
            <a:avLst/>
          </a:prstGeom>
          <a:solidFill>
            <a:srgbClr val="D9B26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96460" y="4668114"/>
            <a:ext cx="146304" cy="146304"/>
          </a:xfrm>
          <a:prstGeom prst="ellipse">
            <a:avLst/>
          </a:prstGeom>
          <a:solidFill>
            <a:srgbClr val="D9B26A"/>
          </a:solidFill>
          <a:ln w="19050">
            <a:solidFill>
              <a:srgbClr val="0D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70780" y="4576674"/>
            <a:ext cx="818386" cy="329184"/>
          </a:xfrm>
          <a:prstGeom prst="roundRect">
            <a:avLst>
              <a:gd name="adj" fmla="val 50000"/>
            </a:avLst>
          </a:prstGeom>
          <a:solidFill>
            <a:srgbClr val="0D1B34">
              <a:alpha val="85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Hội 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9855" y="5943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 i="0" spc="600">
                <a:solidFill>
                  <a:srgbClr val="8A826F"/>
                </a:solidFill>
                <a:latin typeface="Playfair Display Italic Medium"/>
                <a:ea typeface="Playfair Display Italic Medium"/>
                <a:cs typeface="Playfair Display Italic Medium"/>
              </a:rPr>
              <a:t>BIỂN ĐÔNG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1799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1799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1799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1999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1999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1999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2199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2199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2199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30" grpId="0" animBg="1"/>
      <p:bldP spid="31" grpId="0" animBg="1"/>
      <p:bldP spid="32" grpId="0" animBg="1"/>
      <p:bldP spid="26" grpId="0" animBg="1"/>
      <p:bldP spid="28" grpId="0" animBg="1"/>
      <p:bldP spid="29" grpId="0" animBg="1"/>
      <p:bldP spid="33" grpId="0" animBg="1"/>
      <p:bldP spid="34" grpId="0" animBg="1"/>
      <p:bldP spid="35" grpId="0" animBg="1"/>
      <p:bldP spid="48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41280" y="45720"/>
            <a:ext cx="548640" cy="79248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338560" y="548640"/>
            <a:ext cx="411480" cy="59436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91440" y="5669280"/>
            <a:ext cx="365760" cy="52832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8778240" y="-274320"/>
            <a:ext cx="365760" cy="52832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52160" y="6035040"/>
            <a:ext cx="320040" cy="46228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Vì sao chọn Đà Nẵng?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804672"/>
            <a:ext cx="777240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4 lý do để yêu Đà Nẵng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93776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 rot="-240000">
            <a:off x="640080" y="1655064"/>
            <a:ext cx="2282114" cy="2916936"/>
            <a:chOff x="640080" y="1655064"/>
            <a:chExt cx="2282114" cy="2916936"/>
          </a:xfrm>
        </p:grpSpPr>
        <p:sp>
          <p:nvSpPr>
            <p:cNvPr id="13" name="Rectangle 12"/>
            <p:cNvSpPr/>
            <p:nvPr/>
          </p:nvSpPr>
          <p:spPr>
            <a:xfrm>
              <a:off x="640080" y="1783080"/>
              <a:ext cx="2282114" cy="27889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4" name="Picture 13" descr="e4a54207d2de13e8.jpg"/>
            <p:cNvPicPr>
              <a:picLocks noChangeAspect="1"/>
            </p:cNvPicPr>
            <p:nvPr/>
          </p:nvPicPr>
          <p:blipFill>
            <a:blip r:embed="rId6"/>
            <a:srcRect l="14761" r="14761"/>
            <a:stretch>
              <a:fillRect/>
            </a:stretch>
          </p:blipFill>
          <p:spPr>
            <a:xfrm>
              <a:off x="765596" y="1908596"/>
              <a:ext cx="2031081" cy="2161398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65596" y="4069994"/>
              <a:ext cx="2031081" cy="502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Biển xanh</a:t>
              </a:r>
            </a:p>
          </p:txBody>
        </p:sp>
        <p:pic>
          <p:nvPicPr>
            <p:cNvPr id="16" name="Picture 15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300000">
              <a:off x="1301893" y="1655064"/>
              <a:ext cx="958488" cy="277961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/>
        </p:nvSpPr>
        <p:spPr>
          <a:xfrm>
            <a:off x="548640" y="47548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754880"/>
            <a:ext cx="180662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Biển đẹp quanh năm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21808"/>
            <a:ext cx="2464994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Bãi cát trắng dài, nước trong, sóng êm — lý tưởng để tắm biển.</a:t>
            </a:r>
          </a:p>
        </p:txBody>
      </p:sp>
      <p:grpSp>
        <p:nvGrpSpPr>
          <p:cNvPr id="20" name="Group 19"/>
          <p:cNvGrpSpPr/>
          <p:nvPr/>
        </p:nvGrpSpPr>
        <p:grpSpPr>
          <a:xfrm rot="180000">
            <a:off x="3516554" y="1655064"/>
            <a:ext cx="2282114" cy="2916936"/>
            <a:chOff x="3516554" y="1655064"/>
            <a:chExt cx="2282114" cy="2916936"/>
          </a:xfrm>
        </p:grpSpPr>
        <p:sp>
          <p:nvSpPr>
            <p:cNvPr id="21" name="Rectangle 20"/>
            <p:cNvSpPr/>
            <p:nvPr/>
          </p:nvSpPr>
          <p:spPr>
            <a:xfrm>
              <a:off x="3516554" y="1783080"/>
              <a:ext cx="2282114" cy="27889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2" name="Picture 21" descr="9bf92b3209c35699.jpg"/>
            <p:cNvPicPr>
              <a:picLocks noChangeAspect="1"/>
            </p:cNvPicPr>
            <p:nvPr/>
          </p:nvPicPr>
          <p:blipFill>
            <a:blip r:embed="rId8"/>
            <a:srcRect l="18982" r="18982"/>
            <a:stretch>
              <a:fillRect/>
            </a:stretch>
          </p:blipFill>
          <p:spPr>
            <a:xfrm>
              <a:off x="3642070" y="1908596"/>
              <a:ext cx="2031081" cy="216139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642070" y="4069994"/>
              <a:ext cx="2031081" cy="502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Thành phố cầu</a:t>
              </a:r>
            </a:p>
          </p:txBody>
        </p:sp>
        <p:pic>
          <p:nvPicPr>
            <p:cNvPr id="24" name="Picture 23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21360000">
              <a:off x="4178367" y="1655064"/>
              <a:ext cx="958488" cy="277961"/>
            </a:xfrm>
            <a:prstGeom prst="rect">
              <a:avLst/>
            </a:prstGeom>
          </p:spPr>
        </p:pic>
      </p:grpSp>
      <p:sp>
        <p:nvSpPr>
          <p:cNvPr id="25" name="TextBox 24"/>
          <p:cNvSpPr txBox="1"/>
          <p:nvPr/>
        </p:nvSpPr>
        <p:spPr>
          <a:xfrm>
            <a:off x="3425114" y="47548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3482" y="4754880"/>
            <a:ext cx="180662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Thành phố của những cây cầu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5114" y="5321808"/>
            <a:ext cx="2464994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Cầu Rồng phun lửa cuối tuần, cầu sông Hàn rực rỡ về đêm.</a:t>
            </a:r>
          </a:p>
        </p:txBody>
      </p:sp>
      <p:grpSp>
        <p:nvGrpSpPr>
          <p:cNvPr id="28" name="Group 27"/>
          <p:cNvGrpSpPr/>
          <p:nvPr/>
        </p:nvGrpSpPr>
        <p:grpSpPr>
          <a:xfrm rot="-120000">
            <a:off x="6393028" y="1655064"/>
            <a:ext cx="2282114" cy="2916936"/>
            <a:chOff x="6393028" y="1655064"/>
            <a:chExt cx="2282114" cy="2916936"/>
          </a:xfrm>
        </p:grpSpPr>
        <p:sp>
          <p:nvSpPr>
            <p:cNvPr id="29" name="Rectangle 28"/>
            <p:cNvSpPr/>
            <p:nvPr/>
          </p:nvSpPr>
          <p:spPr>
            <a:xfrm>
              <a:off x="6393028" y="1783080"/>
              <a:ext cx="2282114" cy="27889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0" name="Picture 29" descr="6852675af0d9070f.jpg"/>
            <p:cNvPicPr>
              <a:picLocks noChangeAspect="1"/>
            </p:cNvPicPr>
            <p:nvPr/>
          </p:nvPicPr>
          <p:blipFill>
            <a:blip r:embed="rId9"/>
            <a:srcRect l="3015" r="3015"/>
            <a:stretch>
              <a:fillRect/>
            </a:stretch>
          </p:blipFill>
          <p:spPr>
            <a:xfrm>
              <a:off x="6518544" y="1908596"/>
              <a:ext cx="2031081" cy="2161398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518544" y="4069994"/>
              <a:ext cx="2031081" cy="502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Tâm linh</a:t>
              </a:r>
            </a:p>
          </p:txBody>
        </p:sp>
        <p:pic>
          <p:nvPicPr>
            <p:cNvPr id="32" name="Picture 31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300000">
              <a:off x="7054841" y="1655064"/>
              <a:ext cx="958488" cy="277961"/>
            </a:xfrm>
            <a:prstGeom prst="rect">
              <a:avLst/>
            </a:prstGeom>
          </p:spPr>
        </p:pic>
      </p:grpSp>
      <p:sp>
        <p:nvSpPr>
          <p:cNvPr id="33" name="TextBox 32"/>
          <p:cNvSpPr txBox="1"/>
          <p:nvPr/>
        </p:nvSpPr>
        <p:spPr>
          <a:xfrm>
            <a:off x="6301588" y="47548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9956" y="4754880"/>
            <a:ext cx="180662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Danh thắng &amp; tâm linh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1588" y="5321808"/>
            <a:ext cx="2464994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Ngũ Hành Sơn, chùa Linh Ứng, những hang động kỳ thú.</a:t>
            </a:r>
          </a:p>
        </p:txBody>
      </p:sp>
      <p:grpSp>
        <p:nvGrpSpPr>
          <p:cNvPr id="36" name="Group 35"/>
          <p:cNvGrpSpPr/>
          <p:nvPr/>
        </p:nvGrpSpPr>
        <p:grpSpPr>
          <a:xfrm rot="240000">
            <a:off x="9269501" y="1655064"/>
            <a:ext cx="2282114" cy="2916936"/>
            <a:chOff x="9269501" y="1655064"/>
            <a:chExt cx="2282114" cy="2916936"/>
          </a:xfrm>
        </p:grpSpPr>
        <p:sp>
          <p:nvSpPr>
            <p:cNvPr id="37" name="Rectangle 36"/>
            <p:cNvSpPr/>
            <p:nvPr/>
          </p:nvSpPr>
          <p:spPr>
            <a:xfrm>
              <a:off x="9269501" y="1783080"/>
              <a:ext cx="2282114" cy="27889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8" name="Picture 37" descr="17977eb0a71815c7.jpg"/>
            <p:cNvPicPr>
              <a:picLocks noChangeAspect="1"/>
            </p:cNvPicPr>
            <p:nvPr/>
          </p:nvPicPr>
          <p:blipFill>
            <a:blip r:embed="rId10"/>
            <a:srcRect l="14761" r="14761"/>
            <a:stretch>
              <a:fillRect/>
            </a:stretch>
          </p:blipFill>
          <p:spPr>
            <a:xfrm>
              <a:off x="9395018" y="1908596"/>
              <a:ext cx="2031081" cy="2161398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9395018" y="4069994"/>
              <a:ext cx="2031081" cy="502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Ẩm thực</a:t>
              </a:r>
            </a:p>
          </p:txBody>
        </p:sp>
        <p:pic>
          <p:nvPicPr>
            <p:cNvPr id="40" name="Picture 39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21360000">
              <a:off x="9931314" y="1655064"/>
              <a:ext cx="958488" cy="277961"/>
            </a:xfrm>
            <a:prstGeom prst="rect">
              <a:avLst/>
            </a:prstGeom>
          </p:spPr>
        </p:pic>
      </p:grpSp>
      <p:sp>
        <p:nvSpPr>
          <p:cNvPr id="41" name="TextBox 40"/>
          <p:cNvSpPr txBox="1"/>
          <p:nvPr/>
        </p:nvSpPr>
        <p:spPr>
          <a:xfrm>
            <a:off x="9178061" y="47548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6429" y="4754880"/>
            <a:ext cx="180662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Ẩm thực phong phú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8061" y="5321808"/>
            <a:ext cx="2464994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Mì Quảng, bánh tráng cuốn thịt heo, hải sản tươi ngon.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7" grpId="0" animBg="1"/>
      <p:bldP spid="18" grpId="0" animBg="1"/>
      <p:bldP spid="19" grpId="0" animBg="1"/>
      <p:bldP spid="25" grpId="0" animBg="1"/>
      <p:bldP spid="26" grpId="0" animBg="1"/>
      <p:bldP spid="27" grpId="0" animBg="1"/>
      <p:bldP spid="33" grpId="0" animBg="1"/>
      <p:bldP spid="34" grpId="0" animBg="1"/>
      <p:bldP spid="35" grpId="0" animBg="1"/>
      <p:bldP spid="41" grpId="0" animBg="1"/>
      <p:bldP spid="42" grpId="0" animBg="1"/>
      <p:bldP spid="4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38560" y="91440"/>
            <a:ext cx="457200" cy="66040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15600" y="5486400"/>
            <a:ext cx="411480" cy="59436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75120" y="-365760"/>
            <a:ext cx="411480" cy="59436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7160" y="5760720"/>
            <a:ext cx="320040" cy="46228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521440" y="3017520"/>
            <a:ext cx="320040" cy="46228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Lịch du lịch 12 tháng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804672"/>
            <a:ext cx="777240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Thời điểm lý tưởng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93776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78308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3561"/>
          </a:solidFill>
          <a:ln w="12700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 1</a:t>
            </a:r>
          </a:p>
        </p:txBody>
      </p:sp>
      <p:pic>
        <p:nvPicPr>
          <p:cNvPr id="14" name="Picture 13" descr="cloud-sun_F1D7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35000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2350008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22°C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8256" y="178308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E3561"/>
          </a:solidFill>
          <a:ln w="12700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18745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 2</a:t>
            </a:r>
          </a:p>
        </p:txBody>
      </p:sp>
      <p:pic>
        <p:nvPicPr>
          <p:cNvPr id="18" name="Picture 17" descr="cloud-sun_F1D7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416" y="235000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42616" y="2350008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23°C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78308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18745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TH 3</a:t>
            </a:r>
          </a:p>
        </p:txBody>
      </p:sp>
      <p:pic>
        <p:nvPicPr>
          <p:cNvPr id="22" name="Picture 21" descr="su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32" y="235000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42232" y="2350008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25°C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7488" y="178308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648" y="18745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TH 4</a:t>
            </a:r>
          </a:p>
        </p:txBody>
      </p:sp>
      <p:pic>
        <p:nvPicPr>
          <p:cNvPr id="26" name="Picture 25" descr="su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648" y="2350008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41848" y="2350008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27°C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99816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19125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TH 5</a:t>
            </a:r>
          </a:p>
        </p:txBody>
      </p:sp>
      <p:pic>
        <p:nvPicPr>
          <p:cNvPr id="30" name="Picture 29" descr="su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66744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" y="3666744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29°C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8256" y="3099816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85416" y="319125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TH 6</a:t>
            </a:r>
          </a:p>
        </p:txBody>
      </p:sp>
      <p:pic>
        <p:nvPicPr>
          <p:cNvPr id="34" name="Picture 33" descr="su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5416" y="3666744"/>
            <a:ext cx="384048" cy="3840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642616" y="3666744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30°C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47872" y="3099816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5032" y="319125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TH 7</a:t>
            </a:r>
          </a:p>
        </p:txBody>
      </p:sp>
      <p:pic>
        <p:nvPicPr>
          <p:cNvPr id="38" name="Picture 37" descr="su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32" y="3666744"/>
            <a:ext cx="384048" cy="3840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142232" y="3666744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30°C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47488" y="3099816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84648" y="319125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TH 8</a:t>
            </a:r>
          </a:p>
        </p:txBody>
      </p:sp>
      <p:pic>
        <p:nvPicPr>
          <p:cNvPr id="42" name="Picture 41" descr="su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648" y="3666744"/>
            <a:ext cx="384048" cy="3840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641848" y="3666744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30°C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416552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294D"/>
          </a:solidFill>
          <a:ln w="12700">
            <a:solidFill>
              <a:srgbClr val="7FA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5079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 9</a:t>
            </a:r>
          </a:p>
        </p:txBody>
      </p:sp>
      <p:pic>
        <p:nvPicPr>
          <p:cNvPr id="46" name="Picture 45" descr="cloud-sun-rain_7FA7D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983480"/>
            <a:ext cx="384048" cy="3840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43000" y="49834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7FA7D9"/>
                </a:solidFill>
                <a:latin typeface="Be Vietnam Pro SemiBold"/>
                <a:ea typeface="Be Vietnam Pro SemiBold"/>
                <a:cs typeface="Be Vietnam Pro SemiBold"/>
              </a:rPr>
              <a:t>28°C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48256" y="4416552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294D"/>
          </a:solidFill>
          <a:ln w="12700">
            <a:solidFill>
              <a:srgbClr val="7FA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85416" y="45079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 10</a:t>
            </a:r>
          </a:p>
        </p:txBody>
      </p:sp>
      <p:pic>
        <p:nvPicPr>
          <p:cNvPr id="50" name="Picture 49" descr="cloud-rain_7FA7D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5416" y="4983480"/>
            <a:ext cx="384048" cy="3840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642616" y="49834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7FA7D9"/>
                </a:solidFill>
                <a:latin typeface="Be Vietnam Pro SemiBold"/>
                <a:ea typeface="Be Vietnam Pro SemiBold"/>
                <a:cs typeface="Be Vietnam Pro SemiBold"/>
              </a:rPr>
              <a:t>26°C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47872" y="4416552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294D"/>
          </a:solidFill>
          <a:ln w="12700">
            <a:solidFill>
              <a:srgbClr val="7FA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85032" y="45079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 11</a:t>
            </a:r>
          </a:p>
        </p:txBody>
      </p:sp>
      <p:pic>
        <p:nvPicPr>
          <p:cNvPr id="54" name="Picture 53" descr="cloud-rain_7FA7D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5032" y="4983480"/>
            <a:ext cx="384048" cy="3840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142232" y="49834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7FA7D9"/>
                </a:solidFill>
                <a:latin typeface="Be Vietnam Pro SemiBold"/>
                <a:ea typeface="Be Vietnam Pro SemiBold"/>
                <a:cs typeface="Be Vietnam Pro SemiBold"/>
              </a:rPr>
              <a:t>24°C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47488" y="4416552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294D"/>
          </a:solidFill>
          <a:ln w="12700">
            <a:solidFill>
              <a:srgbClr val="7FA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84648" y="45079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TH 12</a:t>
            </a:r>
          </a:p>
        </p:txBody>
      </p:sp>
      <p:pic>
        <p:nvPicPr>
          <p:cNvPr id="58" name="Picture 57" descr="cloud-rain_7FA7D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4648" y="4983480"/>
            <a:ext cx="384048" cy="3840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641848" y="49834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7FA7D9"/>
                </a:solidFill>
                <a:latin typeface="Be Vietnam Pro SemiBold"/>
                <a:ea typeface="Be Vietnam Pro SemiBold"/>
                <a:cs typeface="Be Vietnam Pro SemiBold"/>
              </a:rPr>
              <a:t>22°C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0644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779008"/>
            <a:ext cx="182880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Nắng đẹp – mùa du lịch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78001" y="580644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1E3561"/>
          </a:solidFill>
          <a:ln w="12700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43761" y="5779008"/>
            <a:ext cx="182880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Mát mẻ, ít mưa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46210" y="580644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16294D"/>
          </a:solidFill>
          <a:ln w="12700">
            <a:solidFill>
              <a:srgbClr val="7FA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11970" y="5779008"/>
            <a:ext cx="182880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Mùa mưa bão</a:t>
            </a:r>
          </a:p>
        </p:txBody>
      </p:sp>
      <p:sp>
        <p:nvSpPr>
          <p:cNvPr id="66" name="Oval 65"/>
          <p:cNvSpPr/>
          <p:nvPr/>
        </p:nvSpPr>
        <p:spPr>
          <a:xfrm>
            <a:off x="6894576" y="1709928"/>
            <a:ext cx="786384" cy="786384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967728" y="1783080"/>
            <a:ext cx="640080" cy="640080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un_D9B26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7748" y="1943100"/>
            <a:ext cx="320040" cy="3200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790688" y="1783080"/>
            <a:ext cx="385236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Tháng 3 – 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0688" y="2194560"/>
            <a:ext cx="3852367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Mùa khô, biển êm — </a:t>
            </a:r>
            <a:r>
              <a:rPr sz="115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thời điểm lý tưởng</a:t>
            </a:r>
            <a:r>
              <a:rPr sz="11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 để tắm biển và khám phá.</a:t>
            </a:r>
          </a:p>
        </p:txBody>
      </p:sp>
      <p:sp>
        <p:nvSpPr>
          <p:cNvPr id="71" name="Oval 70"/>
          <p:cNvSpPr/>
          <p:nvPr/>
        </p:nvSpPr>
        <p:spPr>
          <a:xfrm>
            <a:off x="6894576" y="3081528"/>
            <a:ext cx="786384" cy="786384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67728" y="3154680"/>
            <a:ext cx="640080" cy="640080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sparkles_D9B26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7748" y="3314700"/>
            <a:ext cx="320040" cy="32004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790688" y="3154680"/>
            <a:ext cx="385236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Tháng 6 –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90688" y="3566160"/>
            <a:ext cx="3852367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Mùa lễ hội pháo hoa quốc tế, thành phố rực rỡ về đêm.</a:t>
            </a:r>
          </a:p>
        </p:txBody>
      </p:sp>
      <p:sp>
        <p:nvSpPr>
          <p:cNvPr id="76" name="Oval 75"/>
          <p:cNvSpPr/>
          <p:nvPr/>
        </p:nvSpPr>
        <p:spPr>
          <a:xfrm>
            <a:off x="6894576" y="4453128"/>
            <a:ext cx="786384" cy="786384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967728" y="4526280"/>
            <a:ext cx="640080" cy="640080"/>
          </a:xfrm>
          <a:prstGeom prst="ellipse">
            <a:avLst/>
          </a:prstGeom>
          <a:solidFill>
            <a:srgbClr val="1E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umbrella_D9B26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27748" y="4686300"/>
            <a:ext cx="320040" cy="32004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790688" y="4526280"/>
            <a:ext cx="385236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Tháng 9 – 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90688" y="4937760"/>
            <a:ext cx="3852367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Mùa mưa bão: theo dõi thời tiết, ưu tiên điểm tham quan trong nhà.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3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3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3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3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3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3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3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3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3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3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0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3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3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3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3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6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3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3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4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8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9" grpId="0" animBg="1"/>
      <p:bldP spid="66" grpId="0" animBg="1"/>
      <p:bldP spid="67" grpId="0" animBg="1"/>
      <p:bldP spid="69" grpId="0" animBg="1"/>
      <p:bldP spid="70" grpId="0" animBg="1"/>
      <p:bldP spid="60" grpId="0" animBg="1"/>
      <p:bldP spid="61" grpId="0" animBg="1"/>
      <p:bldP spid="62" grpId="0" animBg="1"/>
      <p:bldP spid="63" grpId="0" animBg="1"/>
      <p:bldP spid="71" grpId="0" animBg="1"/>
      <p:bldP spid="72" grpId="0" animBg="1"/>
      <p:bldP spid="74" grpId="0" animBg="1"/>
      <p:bldP spid="75" grpId="0" animBg="1"/>
      <p:bldP spid="64" grpId="0" animBg="1"/>
      <p:bldP spid="65" grpId="0" animBg="1"/>
      <p:bldP spid="76" grpId="0" animBg="1"/>
      <p:bldP spid="77" grpId="0" animBg="1"/>
      <p:bldP spid="79" grpId="0" animBg="1"/>
      <p:bldP spid="8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46320" y="365760"/>
            <a:ext cx="777240" cy="112268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60720" y="4480560"/>
            <a:ext cx="548640" cy="79248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4320" y="5212080"/>
            <a:ext cx="457200" cy="66040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11338560" y="91440"/>
            <a:ext cx="502920" cy="72644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07040" y="5486400"/>
            <a:ext cx="548640" cy="792480"/>
          </a:xfrm>
          <a:prstGeom prst="rect">
            <a:avLst/>
          </a:prstGeom>
        </p:spPr>
      </p:pic>
      <p:sp>
        <p:nvSpPr>
          <p:cNvPr id="8" name="!!secnum"/>
          <p:cNvSpPr txBox="1"/>
          <p:nvPr/>
        </p:nvSpPr>
        <p:spPr>
          <a:xfrm>
            <a:off x="457200" y="228600"/>
            <a:ext cx="5486400" cy="2926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0000" b="0" i="0">
                <a:solidFill>
                  <a:srgbClr val="D9B26A"/>
                </a:solidFill>
                <a:latin typeface="Playfair Display"/>
                <a:ea typeface="Playfair Display"/>
                <a:cs typeface="Playfair Display"/>
              </a:rPr>
              <a:t>02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3246120"/>
            <a:ext cx="5852160" cy="151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Điểm đến</a:t>
            </a:r>
          </a:p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nổi bật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4902200"/>
            <a:ext cx="164592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9496" y="484733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308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Từ núi non hùng vĩ đến biển xanh cát trắng</a:t>
            </a:r>
          </a:p>
        </p:txBody>
      </p:sp>
      <p:grpSp>
        <p:nvGrpSpPr>
          <p:cNvPr id="13" name="!!pol0"/>
          <p:cNvGrpSpPr/>
          <p:nvPr/>
        </p:nvGrpSpPr>
        <p:grpSpPr>
          <a:xfrm rot="240000">
            <a:off x="6675120" y="649224"/>
            <a:ext cx="4572000" cy="5431536"/>
            <a:chOff x="6675120" y="649224"/>
            <a:chExt cx="4572000" cy="5431536"/>
          </a:xfrm>
        </p:grpSpPr>
        <p:sp>
          <p:nvSpPr>
            <p:cNvPr id="14" name="Rectangle 13"/>
            <p:cNvSpPr/>
            <p:nvPr/>
          </p:nvSpPr>
          <p:spPr>
            <a:xfrm>
              <a:off x="6675120" y="777240"/>
              <a:ext cx="4572000" cy="53035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5" name="Picture 14" descr="0afd354575692a31.jpg"/>
            <p:cNvPicPr>
              <a:picLocks noChangeAspect="1"/>
            </p:cNvPicPr>
            <p:nvPr/>
          </p:nvPicPr>
          <p:blipFill>
            <a:blip r:embed="rId6"/>
            <a:srcRect l="19744" r="19744"/>
            <a:stretch>
              <a:fillRect/>
            </a:stretch>
          </p:blipFill>
          <p:spPr>
            <a:xfrm>
              <a:off x="6926580" y="1028700"/>
              <a:ext cx="4069080" cy="4485132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926580" y="5513832"/>
              <a:ext cx="4069080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Toàn cảnh từ Ngũ Hành Sơn</a:t>
              </a:r>
            </a:p>
          </p:txBody>
        </p:sp>
        <p:pic>
          <p:nvPicPr>
            <p:cNvPr id="17" name="Picture 16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21360000">
              <a:off x="8389620" y="649224"/>
              <a:ext cx="1143000" cy="331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0c8ae4acded777e5.jpg"/>
          <p:cNvPicPr>
            <a:picLocks noChangeAspect="1"/>
          </p:cNvPicPr>
          <p:nvPr/>
        </p:nvPicPr>
        <p:blipFill>
          <a:blip r:embed="rId2"/>
          <a:srcRect t="7832" b="783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B34">
                  <a:alpha val="92000"/>
                </a:srgbClr>
              </a:gs>
              <a:gs pos="45000">
                <a:srgbClr val="0D1B34">
                  <a:alpha val="55000"/>
                </a:srgbClr>
              </a:gs>
              <a:gs pos="75000">
                <a:srgbClr val="0D1B34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86100"/>
            <a:ext cx="12191695" cy="3771900"/>
          </a:xfrm>
          <a:prstGeom prst="rect">
            <a:avLst/>
          </a:prstGeom>
          <a:gradFill rotWithShape="1">
            <a:gsLst>
              <a:gs pos="0">
                <a:srgbClr val="0D1B34">
                  <a:alpha val="0"/>
                </a:srgbClr>
              </a:gs>
              <a:gs pos="100000">
                <a:srgbClr val="0D1B34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20040" y="27432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27432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368735" y="27432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71655" y="27432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658368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0040" y="608076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368735" y="658368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871655" y="608076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66091" y="270205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66091" y="2702052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753643" y="270205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46251" y="2702052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66091" y="352501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66091" y="3232404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753643" y="352501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046251" y="3232404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70578" y="457200"/>
            <a:ext cx="0" cy="594360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2377440"/>
            <a:ext cx="11185855" cy="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21117" y="457200"/>
            <a:ext cx="0" cy="594360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4480560"/>
            <a:ext cx="11185855" cy="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0080" y="548640"/>
            <a:ext cx="164592" cy="164592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75488"/>
            <a:ext cx="23774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10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REC   00:12:24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11535" y="521208"/>
            <a:ext cx="502920" cy="237744"/>
          </a:xfrm>
          <a:prstGeom prst="roundRect">
            <a:avLst>
              <a:gd name="adj" fmla="val 15384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14455" y="594360"/>
            <a:ext cx="4572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66399" y="566928"/>
            <a:ext cx="11887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17275" y="566928"/>
            <a:ext cx="11887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268151" y="566928"/>
            <a:ext cx="11887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4175" y="475488"/>
            <a:ext cx="160020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200" b="0" i="0" spc="10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4K · 60P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3409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1697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9985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8273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6561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4849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3137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1425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9713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18001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36289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4577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2865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1153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09441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27729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46017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25977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-2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129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281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433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+1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585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+2</a:t>
            </a:r>
          </a:p>
        </p:txBody>
      </p:sp>
      <p:sp>
        <p:nvSpPr>
          <p:cNvPr id="55" name="Isosceles Triangle 54"/>
          <p:cNvSpPr/>
          <p:nvPr/>
        </p:nvSpPr>
        <p:spPr>
          <a:xfrm>
            <a:off x="9933127" y="6281928"/>
            <a:ext cx="128016" cy="109728"/>
          </a:xfrm>
          <a:prstGeom prst="triangle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31175" y="841248"/>
            <a:ext cx="35204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100" b="0" i="0" spc="10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ISO 100   F2.8   1/250</a:t>
            </a:r>
          </a:p>
        </p:txBody>
      </p:sp>
      <p:sp>
        <p:nvSpPr>
          <p:cNvPr id="57" name="!!kicker"/>
          <p:cNvSpPr txBox="1"/>
          <p:nvPr/>
        </p:nvSpPr>
        <p:spPr>
          <a:xfrm>
            <a:off x="868680" y="2788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Điểm đến 01</a:t>
            </a:r>
          </a:p>
        </p:txBody>
      </p:sp>
      <p:sp>
        <p:nvSpPr>
          <p:cNvPr id="58" name="!!ttl"/>
          <p:cNvSpPr txBox="1"/>
          <p:nvPr/>
        </p:nvSpPr>
        <p:spPr>
          <a:xfrm>
            <a:off x="868680" y="3154680"/>
            <a:ext cx="64008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0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Ngũ Hành Sơn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4400" y="4071620"/>
            <a:ext cx="146304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iamond 59"/>
          <p:cNvSpPr/>
          <p:nvPr/>
        </p:nvSpPr>
        <p:spPr>
          <a:xfrm>
            <a:off x="859536" y="401675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272788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Quần thể năm ngọn núi đá vôi </a:t>
            </a:r>
            <a:r>
              <a:rPr sz="125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Kim – Mộc – Thủy – Hỏa – Thổ</a:t>
            </a:r>
            <a:r>
              <a:rPr sz="12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, nổi tiếng với hang động, chùa chiền và làng đá mỹ nghệ Non Nước.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" y="5623560"/>
            <a:ext cx="1504414" cy="384048"/>
          </a:xfrm>
          <a:prstGeom prst="roundRect">
            <a:avLst>
              <a:gd name="adj" fmla="val 50000"/>
            </a:avLst>
          </a:prstGeom>
          <a:solidFill>
            <a:srgbClr val="0D1B34">
              <a:alpha val="70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3" name="Picture 62" descr="clock-3_D9B2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705856"/>
            <a:ext cx="219456" cy="21945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298448" y="5623560"/>
            <a:ext cx="104721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7:00 – 17:30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510254" y="5623560"/>
            <a:ext cx="1550561" cy="384048"/>
          </a:xfrm>
          <a:prstGeom prst="roundRect">
            <a:avLst>
              <a:gd name="adj" fmla="val 50000"/>
            </a:avLst>
          </a:prstGeom>
          <a:solidFill>
            <a:srgbClr val="0D1B34">
              <a:alpha val="70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6" name="Picture 65" descr="ticket_D9B2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414" y="5705856"/>
            <a:ext cx="219456" cy="21945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940022" y="5623560"/>
            <a:ext cx="1093361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Vé ~40.000đ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97975" y="5623560"/>
            <a:ext cx="2068780" cy="384048"/>
          </a:xfrm>
          <a:prstGeom prst="roundRect">
            <a:avLst>
              <a:gd name="adj" fmla="val 50000"/>
            </a:avLst>
          </a:prstGeom>
          <a:solidFill>
            <a:srgbClr val="0D1B34">
              <a:alpha val="70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9" name="Picture 68" descr="map-pin_D9B2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135" y="5705856"/>
            <a:ext cx="219456" cy="21945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627743" y="5623560"/>
            <a:ext cx="16115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Cách trung tâm 8 km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7" grpId="0" animBg="1"/>
      <p:bldP spid="68" grpId="0" animBg="1"/>
      <p:bldP spid="7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ae6762f8d7a0a4e9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B34">
                  <a:alpha val="92000"/>
                </a:srgbClr>
              </a:gs>
              <a:gs pos="45000">
                <a:srgbClr val="0D1B34">
                  <a:alpha val="55000"/>
                </a:srgbClr>
              </a:gs>
              <a:gs pos="75000">
                <a:srgbClr val="0D1B34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86100"/>
            <a:ext cx="12191695" cy="3771900"/>
          </a:xfrm>
          <a:prstGeom prst="rect">
            <a:avLst/>
          </a:prstGeom>
          <a:gradFill rotWithShape="1">
            <a:gsLst>
              <a:gs pos="0">
                <a:srgbClr val="0D1B34">
                  <a:alpha val="0"/>
                </a:srgbClr>
              </a:gs>
              <a:gs pos="100000">
                <a:srgbClr val="0D1B34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20040" y="27432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27432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368735" y="27432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71655" y="27432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658368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0040" y="608076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368735" y="6583680"/>
            <a:ext cx="50292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871655" y="6080760"/>
            <a:ext cx="0" cy="50292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66091" y="270205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66091" y="2702052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753643" y="270205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46251" y="2702052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66091" y="352501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66091" y="3232404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753643" y="3525012"/>
            <a:ext cx="292608" cy="0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046251" y="3232404"/>
            <a:ext cx="0" cy="292608"/>
          </a:xfrm>
          <a:prstGeom prst="line">
            <a:avLst/>
          </a:prstGeom>
          <a:ln w="19050">
            <a:solidFill>
              <a:srgbClr val="FFFFFF">
                <a:alpha val="8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70578" y="457200"/>
            <a:ext cx="0" cy="594360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2377440"/>
            <a:ext cx="11185855" cy="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21117" y="457200"/>
            <a:ext cx="0" cy="594360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4480560"/>
            <a:ext cx="11185855" cy="0"/>
          </a:xfrm>
          <a:prstGeom prst="line">
            <a:avLst/>
          </a:prstGeom>
          <a:ln w="635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0080" y="548640"/>
            <a:ext cx="164592" cy="164592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75488"/>
            <a:ext cx="23774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10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REC   00:27:51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11535" y="521208"/>
            <a:ext cx="502920" cy="237744"/>
          </a:xfrm>
          <a:prstGeom prst="roundRect">
            <a:avLst>
              <a:gd name="adj" fmla="val 15384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14455" y="594360"/>
            <a:ext cx="4572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66399" y="566928"/>
            <a:ext cx="11887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17275" y="566928"/>
            <a:ext cx="11887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268151" y="566928"/>
            <a:ext cx="11887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4175" y="475488"/>
            <a:ext cx="160020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200" b="0" i="0" spc="10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4K · 30P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3409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1697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9985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8273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6561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4849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3137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1425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9713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18001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36289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4577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2865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1153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09441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277295" y="6135624"/>
            <a:ext cx="0" cy="73152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460175" y="6099048"/>
            <a:ext cx="0" cy="146304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25977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-2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129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281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433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+1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5855" y="57881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+2</a:t>
            </a:r>
          </a:p>
        </p:txBody>
      </p:sp>
      <p:sp>
        <p:nvSpPr>
          <p:cNvPr id="55" name="Isosceles Triangle 54"/>
          <p:cNvSpPr/>
          <p:nvPr/>
        </p:nvSpPr>
        <p:spPr>
          <a:xfrm>
            <a:off x="9933127" y="6281928"/>
            <a:ext cx="128016" cy="109728"/>
          </a:xfrm>
          <a:prstGeom prst="triangle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31175" y="841248"/>
            <a:ext cx="35204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100" b="0" i="0" spc="10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ISO 200   F4   1/500</a:t>
            </a:r>
          </a:p>
        </p:txBody>
      </p:sp>
      <p:sp>
        <p:nvSpPr>
          <p:cNvPr id="57" name="!!kicker"/>
          <p:cNvSpPr txBox="1"/>
          <p:nvPr/>
        </p:nvSpPr>
        <p:spPr>
          <a:xfrm>
            <a:off x="868680" y="2788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Điểm đến 02</a:t>
            </a:r>
          </a:p>
        </p:txBody>
      </p:sp>
      <p:sp>
        <p:nvSpPr>
          <p:cNvPr id="58" name="!!ttl"/>
          <p:cNvSpPr txBox="1"/>
          <p:nvPr/>
        </p:nvSpPr>
        <p:spPr>
          <a:xfrm>
            <a:off x="868680" y="3154680"/>
            <a:ext cx="64008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0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Bà Nà Hills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4400" y="4071620"/>
            <a:ext cx="146304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iamond 59"/>
          <p:cNvSpPr/>
          <p:nvPr/>
        </p:nvSpPr>
        <p:spPr>
          <a:xfrm>
            <a:off x="859536" y="401675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272788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Khu du lịch trên đỉnh núi cao </a:t>
            </a:r>
            <a:r>
              <a:rPr sz="125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gần 1.500 m</a:t>
            </a:r>
            <a:r>
              <a:rPr sz="12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: tuyến cáp treo dài, Cầu Vàng và làng Pháp cổ kính giữa mây ngàn.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" y="5623560"/>
            <a:ext cx="1855004" cy="384048"/>
          </a:xfrm>
          <a:prstGeom prst="roundRect">
            <a:avLst>
              <a:gd name="adj" fmla="val 50000"/>
            </a:avLst>
          </a:prstGeom>
          <a:solidFill>
            <a:srgbClr val="0D1B34">
              <a:alpha val="70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3" name="Picture 62" descr="thermometer-sun_D9B2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705856"/>
            <a:ext cx="219456" cy="21945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298448" y="5623560"/>
            <a:ext cx="139780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Mát mẻ 15 – 20°C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60844" y="5623560"/>
            <a:ext cx="2003713" cy="384048"/>
          </a:xfrm>
          <a:prstGeom prst="roundRect">
            <a:avLst>
              <a:gd name="adj" fmla="val 50000"/>
            </a:avLst>
          </a:prstGeom>
          <a:solidFill>
            <a:srgbClr val="0D1B34">
              <a:alpha val="70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6" name="Picture 65" descr="ticket_D9B2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004" y="5705856"/>
            <a:ext cx="219456" cy="21945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290612" y="5623560"/>
            <a:ext cx="1546513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Vé cáp treo trọn gói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01716" y="5623560"/>
            <a:ext cx="2159189" cy="384048"/>
          </a:xfrm>
          <a:prstGeom prst="roundRect">
            <a:avLst>
              <a:gd name="adj" fmla="val 50000"/>
            </a:avLst>
          </a:prstGeom>
          <a:solidFill>
            <a:srgbClr val="0D1B34">
              <a:alpha val="70000"/>
            </a:srgbClr>
          </a:solidFill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9" name="Picture 68" descr="map-pin_D9B2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876" y="5705856"/>
            <a:ext cx="219456" cy="21945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431484" y="5623560"/>
            <a:ext cx="1701989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Cách trung tâm 25 km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7" grpId="0" animBg="1"/>
      <p:bldP spid="68" grpId="0" animBg="1"/>
      <p:bldP spid="7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5669280" y="137160"/>
            <a:ext cx="502920" cy="72644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1430000" y="5760720"/>
            <a:ext cx="365760" cy="52832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7160" y="5852160"/>
            <a:ext cx="320040" cy="46228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35040" y="5669280"/>
            <a:ext cx="411480" cy="59436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1521440" y="-182880"/>
            <a:ext cx="365760" cy="52832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54864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Di sản lân cận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804672"/>
            <a:ext cx="530352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Phố cổ Hội 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93776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5120640" cy="8934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Thương cảng sầm uất từ thế kỷ XVI, nay là </a:t>
            </a:r>
            <a:r>
              <a:rPr sz="125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khu phố cổ được bảo tồn nguyên vẹn</a:t>
            </a:r>
            <a:r>
              <a:rPr sz="125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 với nhà cổ, hội quán và những dãy đèn lồng rực rỡ mỗi tối.</a:t>
            </a:r>
          </a:p>
        </p:txBody>
      </p:sp>
      <p:pic>
        <p:nvPicPr>
          <p:cNvPr id="13" name="Picture 12" descr="landmark_D9B2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6382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31089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Di sản văn hóa thế giới UNESCO (1999)</a:t>
            </a:r>
          </a:p>
        </p:txBody>
      </p:sp>
      <p:pic>
        <p:nvPicPr>
          <p:cNvPr id="15" name="Picture 14" descr="car-taxi-front_D9B26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12464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" y="36576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Cách trung tâm Đà Nẵng khoảng 30 km</a:t>
            </a:r>
          </a:p>
        </p:txBody>
      </p:sp>
      <p:pic>
        <p:nvPicPr>
          <p:cNvPr id="17" name="Picture 16" descr="sparkles_D9B26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26110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" y="42062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Thả đèn hoa đăng trên sông Hoài</a:t>
            </a:r>
          </a:p>
        </p:txBody>
      </p:sp>
      <p:grpSp>
        <p:nvGrpSpPr>
          <p:cNvPr id="19" name="!!pol0"/>
          <p:cNvGrpSpPr/>
          <p:nvPr/>
        </p:nvGrpSpPr>
        <p:grpSpPr>
          <a:xfrm rot="-180000">
            <a:off x="6400800" y="512064"/>
            <a:ext cx="3657600" cy="3374136"/>
            <a:chOff x="6400800" y="512064"/>
            <a:chExt cx="3657600" cy="3374136"/>
          </a:xfrm>
        </p:grpSpPr>
        <p:sp>
          <p:nvSpPr>
            <p:cNvPr id="20" name="Rectangle 19"/>
            <p:cNvSpPr/>
            <p:nvPr/>
          </p:nvSpPr>
          <p:spPr>
            <a:xfrm>
              <a:off x="6400800" y="640080"/>
              <a:ext cx="3657600" cy="32461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1" name="Picture 20" descr="d25716f4209559a8.jpg"/>
            <p:cNvPicPr>
              <a:picLocks noChangeAspect="1"/>
            </p:cNvPicPr>
            <p:nvPr/>
          </p:nvPicPr>
          <p:blipFill>
            <a:blip r:embed="rId9"/>
            <a:srcRect l="6190" r="6190"/>
            <a:stretch>
              <a:fillRect/>
            </a:stretch>
          </p:blipFill>
          <p:spPr>
            <a:xfrm>
              <a:off x="6601968" y="841248"/>
              <a:ext cx="3255264" cy="2478024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6601968" y="3319272"/>
              <a:ext cx="3255264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Chùa Cầu</a:t>
              </a:r>
            </a:p>
          </p:txBody>
        </p:sp>
        <p:pic>
          <p:nvPicPr>
            <p:cNvPr id="23" name="Picture 22" descr="tape.png"/>
            <p:cNvPicPr>
              <a:picLocks noChangeAspect="1"/>
            </p:cNvPicPr>
            <p:nvPr/>
          </p:nvPicPr>
          <p:blipFill>
            <a:blip r:embed="rId10"/>
            <a:srcRect l="739" r="739"/>
            <a:stretch>
              <a:fillRect/>
            </a:stretch>
          </p:blipFill>
          <p:spPr>
            <a:xfrm rot="300000">
              <a:off x="7658100" y="512064"/>
              <a:ext cx="1143000" cy="331470"/>
            </a:xfrm>
            <a:prstGeom prst="rect">
              <a:avLst/>
            </a:prstGeom>
          </p:spPr>
        </p:pic>
      </p:grpSp>
      <p:grpSp>
        <p:nvGrpSpPr>
          <p:cNvPr id="24" name="!!pol1"/>
          <p:cNvGrpSpPr/>
          <p:nvPr/>
        </p:nvGrpSpPr>
        <p:grpSpPr>
          <a:xfrm rot="300000">
            <a:off x="9326880" y="1335024"/>
            <a:ext cx="2514600" cy="2962656"/>
            <a:chOff x="9326880" y="1335024"/>
            <a:chExt cx="2514600" cy="2962656"/>
          </a:xfrm>
        </p:grpSpPr>
        <p:sp>
          <p:nvSpPr>
            <p:cNvPr id="25" name="Rectangle 24"/>
            <p:cNvSpPr/>
            <p:nvPr/>
          </p:nvSpPr>
          <p:spPr>
            <a:xfrm>
              <a:off x="9326880" y="1463040"/>
              <a:ext cx="2514600" cy="283464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6" name="Picture 25" descr="42cda569f6e0996e.jpg"/>
            <p:cNvPicPr>
              <a:picLocks noChangeAspect="1"/>
            </p:cNvPicPr>
            <p:nvPr/>
          </p:nvPicPr>
          <p:blipFill>
            <a:blip r:embed="rId11"/>
            <a:srcRect l="15259" r="15259"/>
            <a:stretch>
              <a:fillRect/>
            </a:stretch>
          </p:blipFill>
          <p:spPr>
            <a:xfrm>
              <a:off x="9465183" y="1601343"/>
              <a:ext cx="2237994" cy="2186102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465183" y="3787445"/>
              <a:ext cx="2237994" cy="5102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Đèn lồng</a:t>
              </a:r>
            </a:p>
          </p:txBody>
        </p:sp>
        <p:pic>
          <p:nvPicPr>
            <p:cNvPr id="28" name="Picture 27" descr="tape.png"/>
            <p:cNvPicPr>
              <a:picLocks noChangeAspect="1"/>
            </p:cNvPicPr>
            <p:nvPr/>
          </p:nvPicPr>
          <p:blipFill>
            <a:blip r:embed="rId10"/>
            <a:srcRect l="739" r="739"/>
            <a:stretch>
              <a:fillRect/>
            </a:stretch>
          </p:blipFill>
          <p:spPr>
            <a:xfrm rot="21360000">
              <a:off x="10056114" y="1335024"/>
              <a:ext cx="1056132" cy="306278"/>
            </a:xfrm>
            <a:prstGeom prst="rect">
              <a:avLst/>
            </a:prstGeom>
          </p:spPr>
        </p:pic>
      </p:grpSp>
      <p:grpSp>
        <p:nvGrpSpPr>
          <p:cNvPr id="29" name="!!pol2"/>
          <p:cNvGrpSpPr/>
          <p:nvPr/>
        </p:nvGrpSpPr>
        <p:grpSpPr>
          <a:xfrm rot="180000">
            <a:off x="7223760" y="3392424"/>
            <a:ext cx="2926080" cy="3008376"/>
            <a:chOff x="7223760" y="3392424"/>
            <a:chExt cx="2926080" cy="3008376"/>
          </a:xfrm>
        </p:grpSpPr>
        <p:sp>
          <p:nvSpPr>
            <p:cNvPr id="30" name="Rectangle 29"/>
            <p:cNvSpPr/>
            <p:nvPr/>
          </p:nvSpPr>
          <p:spPr>
            <a:xfrm>
              <a:off x="7223760" y="3520440"/>
              <a:ext cx="2926080" cy="288036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1" name="Picture 30" descr="cc6ecb9cb35b1b85.jpg"/>
            <p:cNvPicPr>
              <a:picLocks noChangeAspect="1"/>
            </p:cNvPicPr>
            <p:nvPr/>
          </p:nvPicPr>
          <p:blipFill>
            <a:blip r:embed="rId12"/>
            <a:srcRect l="10367" r="10367"/>
            <a:stretch>
              <a:fillRect/>
            </a:stretch>
          </p:blipFill>
          <p:spPr>
            <a:xfrm>
              <a:off x="7384694" y="3681374"/>
              <a:ext cx="2604211" cy="2200961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7384694" y="5882335"/>
              <a:ext cx="2604211" cy="51846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Sông Hoài</a:t>
              </a:r>
            </a:p>
          </p:txBody>
        </p:sp>
        <p:pic>
          <p:nvPicPr>
            <p:cNvPr id="33" name="Picture 32" descr="tape.png"/>
            <p:cNvPicPr>
              <a:picLocks noChangeAspect="1"/>
            </p:cNvPicPr>
            <p:nvPr/>
          </p:nvPicPr>
          <p:blipFill>
            <a:blip r:embed="rId10"/>
            <a:srcRect l="739" r="739"/>
            <a:stretch>
              <a:fillRect/>
            </a:stretch>
          </p:blipFill>
          <p:spPr>
            <a:xfrm rot="21360000">
              <a:off x="8115300" y="3392424"/>
              <a:ext cx="1143000" cy="331470"/>
            </a:xfrm>
            <a:prstGeom prst="rect">
              <a:avLst/>
            </a:prstGeom>
          </p:spPr>
        </p:pic>
      </p:grpSp>
      <p:pic>
        <p:nvPicPr>
          <p:cNvPr id="34" name="!!cam" descr="cut_nik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2640" y="4740149"/>
            <a:ext cx="2286000" cy="1614931"/>
          </a:xfrm>
          <a:prstGeom prst="rect">
            <a:avLst/>
          </a:prstGeom>
          <a:effectLst>
            <a:outerShdw blurRad="274320" dist="91440" dir="5400000" algn="ctr" rotWithShape="0">
              <a:srgbClr val="000000">
                <a:alpha val="55000"/>
              </a:srgbClr>
            </a:outerShdw>
          </a:effectLst>
        </p:spPr>
      </p:pic>
      <p:sp>
        <p:nvSpPr>
          <p:cNvPr id="35" name="TextBox 3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46320" y="365760"/>
            <a:ext cx="777240" cy="112268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60720" y="4480560"/>
            <a:ext cx="548640" cy="79248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4320" y="5212080"/>
            <a:ext cx="457200" cy="66040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11338560" y="91440"/>
            <a:ext cx="502920" cy="72644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07040" y="5486400"/>
            <a:ext cx="548640" cy="792480"/>
          </a:xfrm>
          <a:prstGeom prst="rect">
            <a:avLst/>
          </a:prstGeom>
        </p:spPr>
      </p:pic>
      <p:sp>
        <p:nvSpPr>
          <p:cNvPr id="8" name="!!secnum"/>
          <p:cNvSpPr txBox="1"/>
          <p:nvPr/>
        </p:nvSpPr>
        <p:spPr>
          <a:xfrm>
            <a:off x="457200" y="228600"/>
            <a:ext cx="5486400" cy="2926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0000" b="0" i="0">
                <a:solidFill>
                  <a:srgbClr val="D9B26A"/>
                </a:solidFill>
                <a:latin typeface="Playfair Display"/>
                <a:ea typeface="Playfair Display"/>
                <a:cs typeface="Playfair Display"/>
              </a:rPr>
              <a:t>03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3246120"/>
            <a:ext cx="5852160" cy="151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Ẩm thực</a:t>
            </a:r>
          </a:p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&amp; lễ hội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4902200"/>
            <a:ext cx="164592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9496" y="484733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308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Hương vị miền Trung đậm đà, phố biển rộn ràng</a:t>
            </a:r>
          </a:p>
        </p:txBody>
      </p:sp>
      <p:grpSp>
        <p:nvGrpSpPr>
          <p:cNvPr id="13" name="!!pol0"/>
          <p:cNvGrpSpPr/>
          <p:nvPr/>
        </p:nvGrpSpPr>
        <p:grpSpPr>
          <a:xfrm rot="240000">
            <a:off x="6675120" y="649224"/>
            <a:ext cx="4572000" cy="5431536"/>
            <a:chOff x="6675120" y="649224"/>
            <a:chExt cx="4572000" cy="5431536"/>
          </a:xfrm>
        </p:grpSpPr>
        <p:sp>
          <p:nvSpPr>
            <p:cNvPr id="14" name="Rectangle 13"/>
            <p:cNvSpPr/>
            <p:nvPr/>
          </p:nvSpPr>
          <p:spPr>
            <a:xfrm>
              <a:off x="6675120" y="777240"/>
              <a:ext cx="4572000" cy="53035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5" name="Picture 14" descr="2acc5655fb4fbe20.jpg"/>
            <p:cNvPicPr>
              <a:picLocks noChangeAspect="1"/>
            </p:cNvPicPr>
            <p:nvPr/>
          </p:nvPicPr>
          <p:blipFill>
            <a:blip r:embed="rId6"/>
            <a:srcRect l="19744" r="19744"/>
            <a:stretch>
              <a:fillRect/>
            </a:stretch>
          </p:blipFill>
          <p:spPr>
            <a:xfrm>
              <a:off x="6926580" y="1028700"/>
              <a:ext cx="4069080" cy="4485132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926580" y="5513832"/>
              <a:ext cx="4069080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Chợ đêm đèn lồng</a:t>
              </a:r>
            </a:p>
          </p:txBody>
        </p:sp>
        <p:pic>
          <p:nvPicPr>
            <p:cNvPr id="17" name="Picture 16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21360000">
              <a:off x="8389620" y="649224"/>
              <a:ext cx="1143000" cy="331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247120" y="91440"/>
            <a:ext cx="457200" cy="66040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" y="182880"/>
            <a:ext cx="411480" cy="59436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77440" y="640080"/>
            <a:ext cx="320040" cy="46228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95360" y="-274320"/>
            <a:ext cx="320040" cy="46228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09760" y="685800"/>
            <a:ext cx="274320" cy="39624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Đặc sản nên thử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0" y="804672"/>
            <a:ext cx="12191695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Ẩm thực Đà Nẵng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55768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040984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8998" y="1682496"/>
            <a:ext cx="2532888" cy="2532888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58dd0ef5110115b.jpg"/>
          <p:cNvPicPr>
            <a:picLocks noChangeAspect="1"/>
          </p:cNvPicPr>
          <p:nvPr/>
        </p:nvPicPr>
        <p:blipFill>
          <a:blip r:embed="rId6"/>
          <a:srcRect l="24500" r="500"/>
          <a:stretch>
            <a:fillRect/>
          </a:stretch>
        </p:blipFill>
        <p:spPr>
          <a:xfrm>
            <a:off x="815302" y="1828800"/>
            <a:ext cx="2240280" cy="2240280"/>
          </a:xfrm>
          <a:prstGeom prst="ellipse">
            <a:avLst/>
          </a:prstGeom>
          <a:ln w="76200">
            <a:solidFill>
              <a:srgbClr val="FBF7EF"/>
            </a:solidFill>
          </a:ln>
          <a:effectLst>
            <a:outerShdw blurRad="320040" dist="109728" dir="54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40080" y="4297680"/>
            <a:ext cx="259072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Bánh xèo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240784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Vỏ giòn rụm, nhân tôm thịt, chấm nước lèo đậm đà.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58063" y="5577840"/>
            <a:ext cx="155475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 i="0">
                <a:solidFill>
                  <a:srgbClr val="D9B26A"/>
                </a:solidFill>
                <a:latin typeface="Be Vietnam Pro SemiBold"/>
                <a:ea typeface="Be Vietnam Pro SemiBold"/>
                <a:cs typeface="Be Vietnam Pro SemiBold"/>
              </a:rPr>
              <a:t>30.000 – 60.000đ</a:t>
            </a:r>
          </a:p>
        </p:txBody>
      </p:sp>
      <p:sp>
        <p:nvSpPr>
          <p:cNvPr id="17" name="Oval 16"/>
          <p:cNvSpPr/>
          <p:nvPr/>
        </p:nvSpPr>
        <p:spPr>
          <a:xfrm>
            <a:off x="3442602" y="1682496"/>
            <a:ext cx="2532888" cy="2532888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873b4a54924a67a7.jpg"/>
          <p:cNvPicPr>
            <a:picLocks noChangeAspect="1"/>
          </p:cNvPicPr>
          <p:nvPr/>
        </p:nvPicPr>
        <p:blipFill>
          <a:blip r:embed="rId7"/>
          <a:srcRect r="33301"/>
          <a:stretch>
            <a:fillRect/>
          </a:stretch>
        </p:blipFill>
        <p:spPr>
          <a:xfrm>
            <a:off x="3588906" y="1828800"/>
            <a:ext cx="2240280" cy="2240280"/>
          </a:xfrm>
          <a:prstGeom prst="ellipse">
            <a:avLst/>
          </a:prstGeom>
          <a:ln w="76200">
            <a:solidFill>
              <a:srgbClr val="FBF7EF"/>
            </a:solidFill>
          </a:ln>
          <a:effectLst>
            <a:outerShdw blurRad="320040" dist="109728" dir="54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3413684" y="4297680"/>
            <a:ext cx="259072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Bánh tráng cuốn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124" y="4800600"/>
            <a:ext cx="240784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Thịt heo luộc cuốn rau sống, chấm mắm nêm.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05438" y="5577840"/>
            <a:ext cx="160721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 i="0">
                <a:solidFill>
                  <a:srgbClr val="D9B26A"/>
                </a:solidFill>
                <a:latin typeface="Be Vietnam Pro SemiBold"/>
                <a:ea typeface="Be Vietnam Pro SemiBold"/>
                <a:cs typeface="Be Vietnam Pro SemiBold"/>
              </a:rPr>
              <a:t>60.000 – 120.000đ</a:t>
            </a:r>
          </a:p>
        </p:txBody>
      </p:sp>
      <p:sp>
        <p:nvSpPr>
          <p:cNvPr id="22" name="Oval 21"/>
          <p:cNvSpPr/>
          <p:nvPr/>
        </p:nvSpPr>
        <p:spPr>
          <a:xfrm>
            <a:off x="6216206" y="1682496"/>
            <a:ext cx="2532888" cy="2532888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99d88e58829db665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362510" y="1828800"/>
            <a:ext cx="2240280" cy="2240280"/>
          </a:xfrm>
          <a:prstGeom prst="ellipse">
            <a:avLst/>
          </a:prstGeom>
          <a:ln w="76200">
            <a:solidFill>
              <a:srgbClr val="FBF7EF"/>
            </a:solidFill>
          </a:ln>
          <a:effectLst>
            <a:outerShdw blurRad="320040" dist="109728" dir="54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6187288" y="4297680"/>
            <a:ext cx="259072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Cơm gà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8" y="4800600"/>
            <a:ext cx="240784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Cơm vàng thơm, gà xé trộn rau răm — đặc sản xứ Quảng.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653" y="5577840"/>
            <a:ext cx="155399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 i="0">
                <a:solidFill>
                  <a:srgbClr val="D9B26A"/>
                </a:solidFill>
                <a:latin typeface="Be Vietnam Pro SemiBold"/>
                <a:ea typeface="Be Vietnam Pro SemiBold"/>
                <a:cs typeface="Be Vietnam Pro SemiBold"/>
              </a:rPr>
              <a:t>35.000 – 60.000đ</a:t>
            </a:r>
          </a:p>
        </p:txBody>
      </p:sp>
      <p:sp>
        <p:nvSpPr>
          <p:cNvPr id="27" name="Oval 26"/>
          <p:cNvSpPr/>
          <p:nvPr/>
        </p:nvSpPr>
        <p:spPr>
          <a:xfrm>
            <a:off x="8989809" y="1682496"/>
            <a:ext cx="2532888" cy="2532888"/>
          </a:xfrm>
          <a:prstGeom prst="ellipse">
            <a:avLst/>
          </a:prstGeom>
          <a:noFill/>
          <a:ln w="12700">
            <a:solidFill>
              <a:srgbClr val="D9B2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17977eb0a71815c7.jpg"/>
          <p:cNvPicPr>
            <a:picLocks noChangeAspect="1"/>
          </p:cNvPicPr>
          <p:nvPr/>
        </p:nvPicPr>
        <p:blipFill>
          <a:blip r:embed="rId9"/>
          <a:srcRect l="12500" r="12500"/>
          <a:stretch>
            <a:fillRect/>
          </a:stretch>
        </p:blipFill>
        <p:spPr>
          <a:xfrm>
            <a:off x="9136113" y="1828800"/>
            <a:ext cx="2240280" cy="2240280"/>
          </a:xfrm>
          <a:prstGeom prst="ellipse">
            <a:avLst/>
          </a:prstGeom>
          <a:ln w="76200">
            <a:solidFill>
              <a:srgbClr val="FBF7EF"/>
            </a:solidFill>
          </a:ln>
          <a:effectLst>
            <a:outerShdw blurRad="320040" dist="109728" dir="54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29" name="TextBox 28"/>
          <p:cNvSpPr txBox="1"/>
          <p:nvPr/>
        </p:nvSpPr>
        <p:spPr>
          <a:xfrm>
            <a:off x="8960891" y="4297680"/>
            <a:ext cx="259072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 i="0">
                <a:solidFill>
                  <a:srgbClr val="F1D7A0"/>
                </a:solidFill>
                <a:latin typeface="Playfair Display SemiBold"/>
                <a:ea typeface="Playfair Display SemiBold"/>
                <a:cs typeface="Playfair Display SemiBold"/>
              </a:rPr>
              <a:t>Bún bò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331" y="4800600"/>
            <a:ext cx="240784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Nước dùng thơm sả, chả cua, giò heo.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80462" y="5577840"/>
            <a:ext cx="155158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 i="0">
                <a:solidFill>
                  <a:srgbClr val="D9B26A"/>
                </a:solidFill>
                <a:latin typeface="Be Vietnam Pro SemiBold"/>
                <a:ea typeface="Be Vietnam Pro SemiBold"/>
                <a:cs typeface="Be Vietnam Pro SemiBold"/>
              </a:rPr>
              <a:t>35.000 – 50.000đ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0" y="182880"/>
            <a:ext cx="548640" cy="79248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00" y="5669280"/>
            <a:ext cx="411480" cy="59436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5486400" y="5760720"/>
            <a:ext cx="365760" cy="52832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21440" y="0"/>
            <a:ext cx="411480" cy="59436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440" y="5943600"/>
            <a:ext cx="274320" cy="396240"/>
          </a:xfrm>
          <a:prstGeom prst="rect">
            <a:avLst/>
          </a:prstGeom>
        </p:spPr>
      </p:pic>
      <p:grpSp>
        <p:nvGrpSpPr>
          <p:cNvPr id="8" name="!!pol0"/>
          <p:cNvGrpSpPr/>
          <p:nvPr/>
        </p:nvGrpSpPr>
        <p:grpSpPr>
          <a:xfrm rot="-180000">
            <a:off x="685800" y="694944"/>
            <a:ext cx="4480560" cy="5431536"/>
            <a:chOff x="685800" y="694944"/>
            <a:chExt cx="4480560" cy="5431536"/>
          </a:xfrm>
        </p:grpSpPr>
        <p:sp>
          <p:nvSpPr>
            <p:cNvPr id="9" name="Rectangle 8"/>
            <p:cNvSpPr/>
            <p:nvPr/>
          </p:nvSpPr>
          <p:spPr>
            <a:xfrm>
              <a:off x="685800" y="822960"/>
              <a:ext cx="4480560" cy="530352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0" name="Picture 9" descr="852ae01c746cfc1f.jpg"/>
            <p:cNvPicPr>
              <a:picLocks noChangeAspect="1"/>
            </p:cNvPicPr>
            <p:nvPr/>
          </p:nvPicPr>
          <p:blipFill>
            <a:blip r:embed="rId6"/>
            <a:srcRect l="11076" r="31076"/>
            <a:stretch>
              <a:fillRect/>
            </a:stretch>
          </p:blipFill>
          <p:spPr>
            <a:xfrm>
              <a:off x="932231" y="1069391"/>
              <a:ext cx="3987698" cy="4490161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932231" y="5559552"/>
              <a:ext cx="3987698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Đêm pháo hoa</a:t>
              </a:r>
            </a:p>
          </p:txBody>
        </p:sp>
        <p:pic>
          <p:nvPicPr>
            <p:cNvPr id="12" name="Picture 11" descr="tape.png"/>
            <p:cNvPicPr>
              <a:picLocks noChangeAspect="1"/>
            </p:cNvPicPr>
            <p:nvPr/>
          </p:nvPicPr>
          <p:blipFill>
            <a:blip r:embed="rId7"/>
            <a:srcRect l="739" r="739"/>
            <a:stretch>
              <a:fillRect/>
            </a:stretch>
          </p:blipFill>
          <p:spPr>
            <a:xfrm rot="300000">
              <a:off x="2354580" y="694944"/>
              <a:ext cx="1143000" cy="331470"/>
            </a:xfrm>
            <a:prstGeom prst="rect">
              <a:avLst/>
            </a:prstGeom>
          </p:spPr>
        </p:pic>
      </p:grpSp>
      <p:sp>
        <p:nvSpPr>
          <p:cNvPr id="13" name="!!kicker"/>
          <p:cNvSpPr txBox="1"/>
          <p:nvPr/>
        </p:nvSpPr>
        <p:spPr>
          <a:xfrm>
            <a:off x="6035040" y="457200"/>
            <a:ext cx="5608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Thành phố lễ hội</a:t>
            </a:r>
          </a:p>
        </p:txBody>
      </p:sp>
      <p:sp>
        <p:nvSpPr>
          <p:cNvPr id="14" name="!!ttl"/>
          <p:cNvSpPr txBox="1"/>
          <p:nvPr/>
        </p:nvSpPr>
        <p:spPr>
          <a:xfrm>
            <a:off x="6035040" y="804672"/>
            <a:ext cx="5608015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Lễ hội &amp; sự kiện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5980176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446520" y="2057400"/>
            <a:ext cx="0" cy="3785616"/>
          </a:xfrm>
          <a:prstGeom prst="line">
            <a:avLst/>
          </a:prstGeom>
          <a:ln w="12700">
            <a:solidFill>
              <a:srgbClr val="D9B26A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035040" y="1920240"/>
            <a:ext cx="822960" cy="822960"/>
          </a:xfrm>
          <a:prstGeom prst="ellipse">
            <a:avLst/>
          </a:prstGeom>
          <a:solidFill>
            <a:srgbClr val="1E3561"/>
          </a:solidFill>
          <a:ln w="1587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TH</a:t>
            </a:r>
          </a:p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6 –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901952"/>
            <a:ext cx="455645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Lễ hội pháo hoa quốc tế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286000"/>
            <a:ext cx="455645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Các đội pháo hoa quốc tế tranh tài trên sông Hàn.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2971800"/>
            <a:ext cx="822960" cy="822960"/>
          </a:xfrm>
          <a:prstGeom prst="ellipse">
            <a:avLst/>
          </a:prstGeom>
          <a:solidFill>
            <a:srgbClr val="1E3561"/>
          </a:solidFill>
          <a:ln w="1587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Cuối</a:t>
            </a:r>
          </a:p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tuần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53512"/>
            <a:ext cx="455645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Cầu Rồng phun lửa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37560"/>
            <a:ext cx="455645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21:00 thứ Bảy và Chủ nhật hằng tuần.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4023360"/>
            <a:ext cx="822960" cy="822960"/>
          </a:xfrm>
          <a:prstGeom prst="ellipse">
            <a:avLst/>
          </a:prstGeom>
          <a:solidFill>
            <a:srgbClr val="1E3561"/>
          </a:solidFill>
          <a:ln w="1587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19/2</a:t>
            </a:r>
          </a:p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ÂL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05072"/>
            <a:ext cx="455645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Lễ hội Quán Thế Âm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389120"/>
            <a:ext cx="455645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Lễ hội văn hóa – tâm linh tại Ngũ Hành Sơn.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5074920"/>
            <a:ext cx="822960" cy="822960"/>
          </a:xfrm>
          <a:prstGeom prst="ellipse">
            <a:avLst/>
          </a:prstGeom>
          <a:solidFill>
            <a:srgbClr val="1E3561"/>
          </a:solidFill>
          <a:ln w="15875">
            <a:solidFill>
              <a:srgbClr val="D9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90000"/>
              </a:lnSpc>
            </a:pPr>
            <a:r>
              <a:rPr sz="1000" b="0" i="0">
                <a:solidFill>
                  <a:srgbClr val="F1D7A0"/>
                </a:solidFill>
                <a:latin typeface="Be Vietnam Pro SemiBold"/>
                <a:ea typeface="Be Vietnam Pro SemiBold"/>
                <a:cs typeface="Be Vietnam Pro SemiBold"/>
              </a:rPr>
              <a:t>Tết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056632"/>
            <a:ext cx="455645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Đêm giao thừa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440680"/>
            <a:ext cx="455645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Pháo hoa chào năm mới, đường hoa xuân bên sông.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87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879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879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1059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105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1059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1239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1239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123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247120" y="45720"/>
            <a:ext cx="457200" cy="66040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424160" y="-274320"/>
            <a:ext cx="320040" cy="46228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7160" y="5943600"/>
            <a:ext cx="274320" cy="39624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52160" y="6080760"/>
            <a:ext cx="274320" cy="39624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612880" y="5852160"/>
            <a:ext cx="274320" cy="39624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54864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1D7A0"/>
                </a:solidFill>
                <a:latin typeface="Playfair Display Italic Medium"/>
                <a:ea typeface="Playfair Display Italic Medium"/>
                <a:cs typeface="Playfair Display Italic Medium"/>
              </a:rPr>
              <a:t>Gợi ý cho chuyến đi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804672"/>
            <a:ext cx="777240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5ECDD"/>
                </a:solidFill>
                <a:latin typeface="Playfair Display SemiBold"/>
                <a:ea typeface="Playfair Display SemiBold"/>
                <a:cs typeface="Playfair Display SemiBold"/>
              </a:rPr>
              <a:t>Lịch trình 3 ngày 2 đêm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475740"/>
            <a:ext cx="128016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93776" y="142087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783080"/>
            <a:ext cx="3484778" cy="4617720"/>
          </a:xfrm>
          <a:prstGeom prst="roundRect">
            <a:avLst>
              <a:gd name="adj" fmla="val 3148"/>
            </a:avLst>
          </a:prstGeom>
          <a:solidFill>
            <a:srgbClr val="F5ECDD"/>
          </a:solidFill>
          <a:ln>
            <a:noFill/>
          </a:ln>
          <a:effectLst>
            <a:outerShdw blurRad="320040" dist="9144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548640" y="1783080"/>
            <a:ext cx="3484778" cy="1051560"/>
          </a:xfrm>
          <a:prstGeom prst="round2SameRect">
            <a:avLst>
              <a:gd name="adj1" fmla="val 10434"/>
              <a:gd name="adj2" fmla="val 0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plane_0D1B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7618" y="2057400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1911096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Ngày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50008"/>
            <a:ext cx="238749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Biển &amp; thành phố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044952"/>
            <a:ext cx="3027578" cy="0"/>
          </a:xfrm>
          <a:prstGeom prst="line">
            <a:avLst/>
          </a:prstGeom>
          <a:ln w="12700">
            <a:solidFill>
              <a:srgbClr val="8D9AB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20624" y="2916936"/>
            <a:ext cx="256032" cy="256032"/>
          </a:xfrm>
          <a:prstGeom prst="ellipse">
            <a:avLst/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05402" y="2916936"/>
            <a:ext cx="256032" cy="256032"/>
          </a:xfrm>
          <a:prstGeom prst="ellipse">
            <a:avLst/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46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Sáng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227832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Nhận phòng, tắm biển Mỹ Khê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593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Trưa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41064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Bánh tráng cuốn thịt heo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725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Chiều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654296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Bán đảo Sơn Trà, chùa Linh Ứng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858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Tối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67528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Cầu Rồng, du thuyền sông Hàn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36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8700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1852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7572" y="5897880"/>
            <a:ext cx="32004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48156" y="5897880"/>
            <a:ext cx="4114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16736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62456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17320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58468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22476" y="5897880"/>
            <a:ext cx="2286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72768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18488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91640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32788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87652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33372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97380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43100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0710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48256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03120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76272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21992" y="5897880"/>
            <a:ext cx="32004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142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22576" y="5897880"/>
            <a:ext cx="4114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91156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6876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491740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32888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96896" y="5897880"/>
            <a:ext cx="2286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47188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92908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66060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07208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90418" y="5852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0" i="0" spc="100">
                <a:solidFill>
                  <a:srgbClr val="1F2A3D"/>
                </a:solidFill>
                <a:latin typeface="Be Vietnam Pro SemiBold"/>
                <a:ea typeface="Be Vietnam Pro SemiBold"/>
                <a:cs typeface="Be Vietnam Pro SemiBold"/>
              </a:rPr>
              <a:t>DAD · D1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53458" y="1783080"/>
            <a:ext cx="3484778" cy="4617720"/>
          </a:xfrm>
          <a:prstGeom prst="roundRect">
            <a:avLst>
              <a:gd name="adj" fmla="val 3148"/>
            </a:avLst>
          </a:prstGeom>
          <a:solidFill>
            <a:srgbClr val="F5ECDD"/>
          </a:solidFill>
          <a:ln>
            <a:noFill/>
          </a:ln>
          <a:effectLst>
            <a:outerShdw blurRad="320040" dist="9144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ound Same Side Corner Rectangle 67"/>
          <p:cNvSpPr/>
          <p:nvPr/>
        </p:nvSpPr>
        <p:spPr>
          <a:xfrm>
            <a:off x="4353458" y="1783080"/>
            <a:ext cx="3484778" cy="1051560"/>
          </a:xfrm>
          <a:prstGeom prst="round2SameRect">
            <a:avLst>
              <a:gd name="adj1" fmla="val 10434"/>
              <a:gd name="adj2" fmla="val 0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9" name="Picture 68" descr="mountain_0D1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437" y="2057400"/>
            <a:ext cx="411480" cy="4114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627778" y="1911096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Ngày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27778" y="2350008"/>
            <a:ext cx="238749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Bà Nà Hills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582058" y="3044952"/>
            <a:ext cx="3027579" cy="0"/>
          </a:xfrm>
          <a:prstGeom prst="line">
            <a:avLst/>
          </a:prstGeom>
          <a:ln w="12700">
            <a:solidFill>
              <a:srgbClr val="8D9AB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225442" y="2916936"/>
            <a:ext cx="256032" cy="256032"/>
          </a:xfrm>
          <a:prstGeom prst="ellipse">
            <a:avLst/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10221" y="2916936"/>
            <a:ext cx="256032" cy="256032"/>
          </a:xfrm>
          <a:prstGeom prst="ellipse">
            <a:avLst/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27778" y="3246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Sáng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96458" y="3227832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Cáp treo lên Bà Nà, Cầu Vàng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27778" y="39593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Trưa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96458" y="3941064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Ăn trưa trên đỉnh núi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27778" y="46725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Chiều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96458" y="4654296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Làng Pháp, vườn hoa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27778" y="53858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Tối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96458" y="5367528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Chợ đêm Sơn Trà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27778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73498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737506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778654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833518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906670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52390" y="5897880"/>
            <a:ext cx="32004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11826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52974" y="5897880"/>
            <a:ext cx="4114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21554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167274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2213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263286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327294" y="5897880"/>
            <a:ext cx="2286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377586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23306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9645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37606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592470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638190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702198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747918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811926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853074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7938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81090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026810" y="5897880"/>
            <a:ext cx="32004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086246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27394" y="5897880"/>
            <a:ext cx="4114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95974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241694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9655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7706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1714" y="5897880"/>
            <a:ext cx="2286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452006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497726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570878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612026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695237" y="5852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0" i="0" spc="100">
                <a:solidFill>
                  <a:srgbClr val="1F2A3D"/>
                </a:solidFill>
                <a:latin typeface="Be Vietnam Pro SemiBold"/>
                <a:ea typeface="Be Vietnam Pro SemiBold"/>
                <a:cs typeface="Be Vietnam Pro SemiBold"/>
              </a:rPr>
              <a:t>DAD · D2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58277" y="1783080"/>
            <a:ext cx="3484778" cy="4617720"/>
          </a:xfrm>
          <a:prstGeom prst="roundRect">
            <a:avLst>
              <a:gd name="adj" fmla="val 3148"/>
            </a:avLst>
          </a:prstGeom>
          <a:solidFill>
            <a:srgbClr val="F5ECDD"/>
          </a:solidFill>
          <a:ln>
            <a:noFill/>
          </a:ln>
          <a:effectLst>
            <a:outerShdw blurRad="320040" dist="9144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3" name="Round Same Side Corner Rectangle 122"/>
          <p:cNvSpPr/>
          <p:nvPr/>
        </p:nvSpPr>
        <p:spPr>
          <a:xfrm>
            <a:off x="8158277" y="1783080"/>
            <a:ext cx="3484778" cy="1051560"/>
          </a:xfrm>
          <a:prstGeom prst="round2SameRect">
            <a:avLst>
              <a:gd name="adj1" fmla="val 10434"/>
              <a:gd name="adj2" fmla="val 0"/>
            </a:avLst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24" name="Picture 123" descr="landmark_0D1B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7255" y="2057400"/>
            <a:ext cx="411480" cy="41148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8432597" y="1911096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0D1B34"/>
                </a:solidFill>
                <a:latin typeface="Playfair Display SemiBold"/>
                <a:ea typeface="Playfair Display SemiBold"/>
                <a:cs typeface="Playfair Display SemiBold"/>
              </a:rPr>
              <a:t>Ngày 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32597" y="2350008"/>
            <a:ext cx="238749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D1B34"/>
                </a:solidFill>
                <a:latin typeface="Be Vietnam Pro SemiBold"/>
                <a:ea typeface="Be Vietnam Pro SemiBold"/>
                <a:cs typeface="Be Vietnam Pro SemiBold"/>
              </a:rPr>
              <a:t>Ngũ Hành Sơn – Hội An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386877" y="3044952"/>
            <a:ext cx="3027578" cy="0"/>
          </a:xfrm>
          <a:prstGeom prst="line">
            <a:avLst/>
          </a:prstGeom>
          <a:ln w="12700">
            <a:solidFill>
              <a:srgbClr val="8D9AB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30261" y="2916936"/>
            <a:ext cx="256032" cy="256032"/>
          </a:xfrm>
          <a:prstGeom prst="ellipse">
            <a:avLst/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515039" y="2916936"/>
            <a:ext cx="256032" cy="256032"/>
          </a:xfrm>
          <a:prstGeom prst="ellipse">
            <a:avLst/>
          </a:prstGeom>
          <a:solidFill>
            <a:srgbClr val="0D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432597" y="3246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Sáng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01277" y="3227832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Ngũ Hành Sơn, làng đá Non Nước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432597" y="39593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Trưa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01277" y="3941064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Cơm gà, cao lầu Hội 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32597" y="46725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Chiều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301277" y="4654296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Dạo phố cổ, Chùa Cầu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32597" y="53858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8813A"/>
                </a:solidFill>
                <a:latin typeface="Be Vietnam Pro"/>
                <a:ea typeface="Be Vietnam Pro"/>
                <a:cs typeface="Be Vietnam Pro"/>
              </a:rPr>
              <a:t>Tối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301277" y="5367528"/>
            <a:ext cx="211317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A3D"/>
                </a:solidFill>
                <a:latin typeface="Be Vietnam Pro"/>
                <a:ea typeface="Be Vietnam Pro"/>
                <a:cs typeface="Be Vietnam Pro"/>
              </a:rPr>
              <a:t>Thả đèn hoa đăng sông Hoài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432597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478317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542325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583473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638337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11489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57209" y="5897880"/>
            <a:ext cx="32004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816645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57793" y="5897880"/>
            <a:ext cx="4114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26373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72093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026957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068105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132113" y="5897880"/>
            <a:ext cx="2286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182405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228125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301277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342425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397289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443009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507017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552737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616745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657893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712757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785909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831629" y="5897880"/>
            <a:ext cx="32004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891065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932213" y="5897880"/>
            <a:ext cx="4114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000793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046513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101377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142525" y="5897880"/>
            <a:ext cx="3657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206533" y="5897880"/>
            <a:ext cx="2286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256825" y="5897880"/>
            <a:ext cx="18288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302545" y="5897880"/>
            <a:ext cx="45720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375697" y="5897880"/>
            <a:ext cx="13716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416845" y="5897880"/>
            <a:ext cx="27432" cy="292608"/>
          </a:xfrm>
          <a:prstGeom prst="rect">
            <a:avLst/>
          </a:prstGeom>
          <a:solidFill>
            <a:srgbClr val="1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500055" y="5852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0" i="0" spc="100">
                <a:solidFill>
                  <a:srgbClr val="1F2A3D"/>
                </a:solidFill>
                <a:latin typeface="Be Vietnam Pro SemiBold"/>
                <a:ea typeface="Be Vietnam Pro SemiBold"/>
                <a:cs typeface="Be Vietnam Pro SemiBold"/>
              </a:rPr>
              <a:t>DAD · D3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D9B26A"/>
                </a:solidFill>
                <a:latin typeface="Playfair Display Italic Medium"/>
                <a:ea typeface="Playfair Display Italic Medium"/>
                <a:cs typeface="Playfair Display Italic Medium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5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0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5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0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5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0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5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0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0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5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0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0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5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0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5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0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5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0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5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0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1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5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0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5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0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5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0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5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0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1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5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0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1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5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0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5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0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1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5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0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1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5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0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5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0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5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0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5" dur="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6" dur="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0" dur="6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1" dur="6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5" dur="6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6" dur="6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0" dur="6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6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5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0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5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6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0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1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5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6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0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1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4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5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0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1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5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6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0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1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5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6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0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1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4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5" dur="6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6" dur="6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0" dur="6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1" dur="6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5" dur="6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6" dur="6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0" dur="6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1" dur="6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4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5" dur="6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6" dur="6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0" dur="6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1" dur="6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4"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5" dur="6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6" dur="6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0" dur="6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1" dur="6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6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5" dur="6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6" dur="6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0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1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2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5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6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0" dur="6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1" dur="6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6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5" dur="6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6" dur="6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6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0" dur="6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1" dur="6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6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5" dur="6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6" dur="6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0" dur="6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1" dur="6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4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5" dur="6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6" dur="6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6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0" dur="6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1" dur="6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4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5" dur="6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6" dur="6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9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0" dur="6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1" dur="6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5" dur="6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6" dur="6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6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0" dur="6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1" dur="6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6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5" dur="6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6" dur="6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6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0" dur="6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1" dur="6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4" dur="6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5" dur="6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6" dur="6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9" dur="6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0" dur="6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1" dur="6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6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5" dur="6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6" dur="6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6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0" dur="6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1" dur="6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4" dur="6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5" dur="6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6" dur="6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6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0" dur="6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1" dur="6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4" dur="6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5" dur="6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6" dur="6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9" dur="6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0" dur="6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1" dur="6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6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5" dur="6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6" dur="6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6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0" dur="6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1" dur="6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6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5" dur="6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6" dur="6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6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0" dur="6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1" dur="6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6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5" dur="6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6" dur="6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9" dur="6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0" dur="6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1" dur="6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6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5" dur="6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6" dur="6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6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0" dur="6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1" dur="6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4" dur="6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5" dur="6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6" dur="6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6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0" dur="6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1" dur="6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4" dur="6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5" dur="6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6" dur="6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9" dur="6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0" dur="6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1" dur="6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6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5" dur="6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6" dur="6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6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0" dur="6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1" dur="6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4" dur="6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5" dur="6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6" dur="6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6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0" dur="6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1" dur="6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4" dur="6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5" dur="6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6" dur="6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9" dur="6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0" dur="6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1" dur="6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5" dur="6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6" dur="6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6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0" dur="6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1" dur="6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4" dur="6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5" dur="6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6" dur="6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6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0" dur="6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1" dur="6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4" dur="6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5" dur="6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6" dur="6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9" dur="6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0" dur="6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1" dur="6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6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5" dur="6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6" dur="6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6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0" dur="6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1" dur="6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4" dur="6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5" dur="6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6" dur="6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6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0" dur="6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1" dur="6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4" dur="6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5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6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9" dur="6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0" dur="6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1" dur="6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6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5" dur="6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6" dur="6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6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0" dur="6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1" dur="6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4" dur="6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5" dur="6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6" dur="6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6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0" dur="6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1" dur="6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2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4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5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0" grpId="0" animBg="1"/>
      <p:bldP spid="71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5" grpId="0" animBg="1"/>
      <p:bldP spid="126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lan0" descr="lantern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94960" y="274320"/>
            <a:ext cx="914400" cy="1320800"/>
          </a:xfrm>
          <a:prstGeom prst="rect">
            <a:avLst/>
          </a:prstGeom>
        </p:spPr>
      </p:pic>
      <p:pic>
        <p:nvPicPr>
          <p:cNvPr id="4" name="!!lan1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23360" y="4480560"/>
            <a:ext cx="548640" cy="792480"/>
          </a:xfrm>
          <a:prstGeom prst="rect">
            <a:avLst/>
          </a:prstGeom>
        </p:spPr>
      </p:pic>
      <p:pic>
        <p:nvPicPr>
          <p:cNvPr id="5" name="!!lan2" descr="lantern3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10881360" y="182880"/>
            <a:ext cx="685800" cy="990600"/>
          </a:xfrm>
          <a:prstGeom prst="rect">
            <a:avLst/>
          </a:prstGeom>
        </p:spPr>
      </p:pic>
      <p:pic>
        <p:nvPicPr>
          <p:cNvPr id="6" name="!!lan3" descr="lantern1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228600" y="274320"/>
            <a:ext cx="502920" cy="726440"/>
          </a:xfrm>
          <a:prstGeom prst="rect">
            <a:avLst/>
          </a:prstGeom>
        </p:spPr>
      </p:pic>
      <p:pic>
        <p:nvPicPr>
          <p:cNvPr id="7" name="!!lan4" descr="lantern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064240" y="5029200"/>
            <a:ext cx="640080" cy="924560"/>
          </a:xfrm>
          <a:prstGeom prst="rect">
            <a:avLst/>
          </a:prstGeom>
        </p:spPr>
      </p:pic>
      <p:sp>
        <p:nvSpPr>
          <p:cNvPr id="8" name="!!kicker"/>
          <p:cNvSpPr txBox="1"/>
          <p:nvPr/>
        </p:nvSpPr>
        <p:spPr>
          <a:xfrm>
            <a:off x="548640" y="1234440"/>
            <a:ext cx="6400800" cy="1005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0" b="0" i="0">
                <a:solidFill>
                  <a:srgbClr val="F1D7A0"/>
                </a:solidFill>
                <a:latin typeface="Great Vibes"/>
                <a:ea typeface="Great Vibes"/>
                <a:cs typeface="Great Vibes"/>
              </a:rPr>
              <a:t>Hẹn gặp lại</a:t>
            </a:r>
          </a:p>
        </p:txBody>
      </p:sp>
      <p:sp>
        <p:nvSpPr>
          <p:cNvPr id="9" name="!!ttl"/>
          <p:cNvSpPr txBox="1"/>
          <p:nvPr/>
        </p:nvSpPr>
        <p:spPr>
          <a:xfrm>
            <a:off x="548640" y="2148840"/>
            <a:ext cx="6400800" cy="1320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0" b="0" i="0" spc="20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ĐÀ NẴNG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561080"/>
            <a:ext cx="2011680" cy="0"/>
          </a:xfrm>
          <a:prstGeom prst="line">
            <a:avLst/>
          </a:prstGeom>
          <a:ln w="12700">
            <a:solidFill>
              <a:srgbClr val="D9B2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9496" y="3506216"/>
            <a:ext cx="109728" cy="109728"/>
          </a:xfrm>
          <a:prstGeom prst="diamond">
            <a:avLst/>
          </a:prstGeom>
          <a:solidFill>
            <a:srgbClr val="D9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3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5ECDD"/>
                </a:solidFill>
                <a:latin typeface="Playfair Display Italic Medium"/>
                <a:ea typeface="Playfair Display Italic Medium"/>
                <a:cs typeface="Playfair Display Italic Medium"/>
              </a:rPr>
              <a:t>Thành phố đáng sống – Điểm đến khó quên</a:t>
            </a:r>
          </a:p>
        </p:txBody>
      </p:sp>
      <p:pic>
        <p:nvPicPr>
          <p:cNvPr id="13" name="Picture 12" descr="phone_D9B2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47548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429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Hotline: 0900 000 000</a:t>
            </a:r>
          </a:p>
        </p:txBody>
      </p:sp>
      <p:pic>
        <p:nvPicPr>
          <p:cNvPr id="15" name="Picture 14" descr="mail_D9B26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3268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886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dulich@tencongty.vn</a:t>
            </a:r>
          </a:p>
        </p:txBody>
      </p:sp>
      <p:pic>
        <p:nvPicPr>
          <p:cNvPr id="17" name="Picture 16" descr="globe_D9B26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38988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5344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F5ECDD"/>
                </a:solidFill>
                <a:latin typeface="Be Vietnam Pro SemiBold"/>
                <a:ea typeface="Be Vietnam Pro SemiBold"/>
                <a:cs typeface="Be Vietnam Pro SemiBold"/>
              </a:rPr>
              <a:t>www.tencongty.vn</a:t>
            </a:r>
          </a:p>
        </p:txBody>
      </p:sp>
      <p:grpSp>
        <p:nvGrpSpPr>
          <p:cNvPr id="19" name="!!pol0"/>
          <p:cNvGrpSpPr/>
          <p:nvPr/>
        </p:nvGrpSpPr>
        <p:grpSpPr>
          <a:xfrm rot="300000">
            <a:off x="6949440" y="786384"/>
            <a:ext cx="4023360" cy="4700016"/>
            <a:chOff x="6949440" y="786384"/>
            <a:chExt cx="4023360" cy="4700016"/>
          </a:xfrm>
        </p:grpSpPr>
        <p:sp>
          <p:nvSpPr>
            <p:cNvPr id="20" name="Rectangle 19"/>
            <p:cNvSpPr/>
            <p:nvPr/>
          </p:nvSpPr>
          <p:spPr>
            <a:xfrm>
              <a:off x="6949440" y="914400"/>
              <a:ext cx="4023360" cy="4572000"/>
            </a:xfrm>
            <a:prstGeom prst="rect">
              <a:avLst/>
            </a:prstGeom>
            <a:solidFill>
              <a:srgbClr val="FBF7E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1" name="Picture 20" descr="f6e141c86b62ee05.jpg"/>
            <p:cNvPicPr>
              <a:picLocks noChangeAspect="1"/>
            </p:cNvPicPr>
            <p:nvPr/>
          </p:nvPicPr>
          <p:blipFill>
            <a:blip r:embed="rId9"/>
            <a:srcRect l="14512" r="14512"/>
            <a:stretch>
              <a:fillRect/>
            </a:stretch>
          </p:blipFill>
          <p:spPr>
            <a:xfrm>
              <a:off x="7170725" y="1135685"/>
              <a:ext cx="3580790" cy="3783787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170725" y="4919472"/>
              <a:ext cx="3580790" cy="5669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1F2A3D"/>
                  </a:solidFill>
                  <a:latin typeface="Dancing Script"/>
                  <a:ea typeface="Dancing Script"/>
                  <a:cs typeface="Dancing Script"/>
                </a:rPr>
                <a:t>Hẹn mùa sau!</a:t>
              </a:r>
            </a:p>
          </p:txBody>
        </p:sp>
        <p:pic>
          <p:nvPicPr>
            <p:cNvPr id="23" name="Picture 22" descr="tape.png"/>
            <p:cNvPicPr>
              <a:picLocks noChangeAspect="1"/>
            </p:cNvPicPr>
            <p:nvPr/>
          </p:nvPicPr>
          <p:blipFill>
            <a:blip r:embed="rId10"/>
            <a:srcRect l="739" r="739"/>
            <a:stretch>
              <a:fillRect/>
            </a:stretch>
          </p:blipFill>
          <p:spPr>
            <a:xfrm rot="21360000">
              <a:off x="8389620" y="786384"/>
              <a:ext cx="1143000" cy="331470"/>
            </a:xfrm>
            <a:prstGeom prst="rect">
              <a:avLst/>
            </a:prstGeom>
          </p:spPr>
        </p:pic>
      </p:grpSp>
      <p:pic>
        <p:nvPicPr>
          <p:cNvPr id="24" name="!!cam" descr="cut_polaro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7041" y="4206240"/>
            <a:ext cx="2396239" cy="2286000"/>
          </a:xfrm>
          <a:prstGeom prst="rect">
            <a:avLst/>
          </a:prstGeom>
          <a:effectLst>
            <a:outerShdw blurRad="274320" dist="91440" dir="5400000" algn="ctr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0D1B34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D9B26A"/>
                </a:solidFill>
                <a:latin typeface="Playfair Display SemiBold"/>
                <a:ea typeface="Playfair Display SemiBold"/>
                <a:cs typeface="Playfair Display SemiBold"/>
              </a:rPr>
              <a:t>Nguồn hình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8D9AB3"/>
                </a:solidFill>
                <a:latin typeface="Be Vietnam Pro"/>
                <a:ea typeface="Be Vietnam Pro"/>
                <a:cs typeface="Be Vietnam Pro"/>
              </a:rPr>
              <a:t>Slide ẩn — không hiển thị khi trình chiếu. Ảnh: bộ dữ liệu Open Images (Google), giấy phép CC BY 2.0; máy ảnh được tách nền từ ảnh. Một số ảnh biển, pháo hoa, cáp treo chỉ mang tính minh họa (không chụp tại Đà Nẵng) — thay bằng ảnh thật. Bản đồ: Natural Earth (public domain). Icon: Lucide (ISC). Font: Playfair Display, Be Vietnam Pro, Dancing Script, Great Vibes (SIL OFL).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Le pont-pagode japonais à Hoi An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Colorful Lanterns in Hội An, 3/2015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Đèn lồng Hội An — Nghia Nguyen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Hoi An 07 — Graham C99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Hoi An — Jos Dielis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Banh Xeo: Vietnamese Pan Cake — squidish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My #foodporn series. | Vietnamese roasted chic — Felix Chia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my second camera - Nikkormat Ftn — Arend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Leica D.R.P. Ernst Leitz Wetzlar — John Vance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The OneStep — Justin Ennis (Flickr, CC BY 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photo from Unsplash (175) — Du Truong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Bocas del Toro - Isla Zapatilla — Tim Nichols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Co Do's Bun Bo Hue — thatwelike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Vietnamese rolls — Geoff Peters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Rhein in Flammen 2013 - IMG_0038 — mLu.fotos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Da Nang - Marble Mountain — Guerretto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Da Nang - Marble Mountain — Guerretto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Marble Mountain. Da Nang, Vietnam. — Guerretto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D5DCE8"/>
                </a:solidFill>
                <a:latin typeface="Be Vietnam Pro"/>
                <a:ea typeface="Be Vietnam Pro"/>
                <a:cs typeface="Be Vietnam Pro"/>
              </a:rPr>
              <a:t>• Sailboat on Han River at Danang – by Earl Boyd — manhhai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