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Quyền lợi chi trả (tỷ đồng)</c:v>
                </c:pt>
              </c:strCache>
            </c:strRef>
          </c:tx>
          <c:spPr>
            <a:solidFill>
              <a:srgbClr val="00A758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1500</c:v>
                </c:pt>
                <c:pt idx="1">
                  <c:v>1900</c:v>
                </c:pt>
                <c:pt idx="2">
                  <c:v>2300</c:v>
                </c:pt>
                <c:pt idx="3">
                  <c:v>2750</c:v>
                </c:pt>
                <c:pt idx="4">
                  <c:v>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50" b="1">
                  <a:solidFill>
                    <a:srgbClr val="173A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D6E6DC"/>
            </a:solidFill>
          </a:ln>
        </c:spPr>
        <c:txPr>
          <a:bodyPr/>
          <a:lstStyle/>
          <a:p>
            <a:pPr>
              <a:defRPr sz="1050">
                <a:solidFill>
                  <a:srgbClr val="8FA096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7620">
              <a:solidFill>
                <a:srgbClr val="D6E6D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8FA096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8FA096"/>
          </a:solidFill>
          <a:latin typeface="Be Vietnam Pr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bìa. Tên thương hiệu, sản phẩm, quyền lợi và số liệu là MINH HỌA — thay bằng tài liệu sản phẩm đã được phê duyệt.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8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6.jpg"/><Relationship Id="rId4" Type="http://schemas.openxmlformats.org/officeDocument/2006/relationships/image" Target="../media/image8.jpg"/><Relationship Id="rId5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1.jpg"/><Relationship Id="rId4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jp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C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cover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ph1" descr="2a83984905b02742.jpg"/>
          <p:cNvPicPr>
            <a:picLocks noChangeAspect="1"/>
          </p:cNvPicPr>
          <p:nvPr/>
        </p:nvPicPr>
        <p:blipFill>
          <a:blip r:embed="rId3"/>
          <a:srcRect l="22000" r="32000"/>
          <a:stretch>
            <a:fillRect/>
          </a:stretch>
        </p:blipFill>
        <p:spPr>
          <a:xfrm>
            <a:off x="5852160" y="0"/>
            <a:ext cx="4206240" cy="6858000"/>
          </a:xfrm>
          <a:prstGeom prst="parallelogram">
            <a:avLst>
              <a:gd name="adj" fmla="val 22500"/>
            </a:avLst>
          </a:prstGeom>
          <a:effectLst>
            <a:outerShdw blurRad="274320" dist="73152" dir="5400000" algn="ctr" rotWithShape="0">
              <a:srgbClr val="0B1F4D">
                <a:alpha val="22000"/>
              </a:srgbClr>
            </a:outerShdw>
          </a:effectLst>
        </p:spPr>
      </p:pic>
      <p:pic>
        <p:nvPicPr>
          <p:cNvPr id="4" name="!!ph2" descr="5df0572c7ba420fc.jpg"/>
          <p:cNvPicPr>
            <a:picLocks noChangeAspect="1"/>
          </p:cNvPicPr>
          <p:nvPr/>
        </p:nvPicPr>
        <p:blipFill>
          <a:blip r:embed="rId4"/>
          <a:srcRect l="53000" r="3000"/>
          <a:stretch>
            <a:fillRect/>
          </a:stretch>
        </p:blipFill>
        <p:spPr>
          <a:xfrm>
            <a:off x="8778240" y="0"/>
            <a:ext cx="4023360" cy="6858000"/>
          </a:xfrm>
          <a:prstGeom prst="parallelogram">
            <a:avLst>
              <a:gd name="adj" fmla="val 22500"/>
            </a:avLst>
          </a:prstGeom>
          <a:effectLst>
            <a:outerShdw blurRad="274320" dist="73152" dir="5400000" algn="ctr" rotWithShape="0">
              <a:srgbClr val="0B1F4D">
                <a:alpha val="22000"/>
              </a:srgbClr>
            </a:outerShdw>
          </a:effectLst>
        </p:spPr>
      </p:pic>
      <p:sp>
        <p:nvSpPr>
          <p:cNvPr id="5" name="!!kicker"/>
          <p:cNvSpPr/>
          <p:nvPr/>
        </p:nvSpPr>
        <p:spPr>
          <a:xfrm>
            <a:off x="548640" y="1234440"/>
            <a:ext cx="206157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ctr"/>
            <a:r>
              <a:rPr sz="1000" b="0" i="0" spc="150">
                <a:solidFill>
                  <a:srgbClr val="0A5C36"/>
                </a:solidFill>
                <a:latin typeface="Be Vietnam Pro SemiBold"/>
                <a:ea typeface="Be Vietnam Pro SemiBold"/>
                <a:cs typeface="Be Vietnam Pro SemiBold"/>
              </a:rPr>
              <a:t>GIỚI THIỆU DỊCH VỤ</a:t>
            </a:r>
          </a:p>
        </p:txBody>
      </p:sp>
      <p:sp>
        <p:nvSpPr>
          <p:cNvPr id="6" name="!!l1"/>
          <p:cNvSpPr txBox="1"/>
          <p:nvPr/>
        </p:nvSpPr>
        <p:spPr>
          <a:xfrm>
            <a:off x="548640" y="1920240"/>
            <a:ext cx="6035040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GIẢI PHÁP BẢO HIỂM</a:t>
            </a:r>
          </a:p>
        </p:txBody>
      </p:sp>
      <p:sp>
        <p:nvSpPr>
          <p:cNvPr id="7" name="!!l2"/>
          <p:cNvSpPr txBox="1"/>
          <p:nvPr/>
        </p:nvSpPr>
        <p:spPr>
          <a:xfrm>
            <a:off x="548640" y="2377440"/>
            <a:ext cx="6400800" cy="990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594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1">
                <a:solidFill>
                  <a:srgbClr val="E8F7EE"/>
                </a:solidFill>
                <a:latin typeface="Be Vietnam Pro"/>
                <a:ea typeface="Be Vietnam Pro"/>
                <a:cs typeface="Be Vietnam Pro"/>
              </a:rPr>
              <a:t>Vững tâm hôm nay – Vững vàng ngày mai</a:t>
            </a:r>
          </a:p>
        </p:txBody>
      </p:sp>
      <p:sp>
        <p:nvSpPr>
          <p:cNvPr id="9" name="!!logo_bar0"/>
          <p:cNvSpPr/>
          <p:nvPr/>
        </p:nvSpPr>
        <p:spPr>
          <a:xfrm>
            <a:off x="548640" y="448056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logo_bar1"/>
          <p:cNvSpPr/>
          <p:nvPr/>
        </p:nvSpPr>
        <p:spPr>
          <a:xfrm>
            <a:off x="667512" y="448056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logo_bar2"/>
          <p:cNvSpPr/>
          <p:nvPr/>
        </p:nvSpPr>
        <p:spPr>
          <a:xfrm>
            <a:off x="786384" y="448056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logo_name"/>
          <p:cNvSpPr txBox="1"/>
          <p:nvPr/>
        </p:nvSpPr>
        <p:spPr>
          <a:xfrm>
            <a:off x="1097280" y="411480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D8F2E3"/>
                </a:solidFill>
                <a:latin typeface="Be Vietnam Pro SemiBold"/>
                <a:ea typeface="Be Vietnam Pro SemiBold"/>
                <a:cs typeface="Be Vietnam Pro SemiBold"/>
              </a:rPr>
              <a:t>Tư vấn viên: Nguyễn Thu Trang  ·  0900 000 000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5" grpId="0" animBg="1"/>
      <p:bldP spid="6" grpId="0" animBg="1"/>
      <p:bldP spid="7" grpId="0" animBg="1"/>
      <p:bldP spid="8" grpId="0" animBg="1"/>
      <p:bldP spid="1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panel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gradFill rotWithShape="1">
            <a:gsLst>
              <a:gs pos="0">
                <a:srgbClr val="00A758"/>
              </a:gs>
              <a:gs pos="100000">
                <a:srgbClr val="0A5C36"/>
              </a:gs>
            </a:gsLst>
            <a:lin ang="3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" name="!!hero" descr="cut_businesswo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88559"/>
            <a:ext cx="3749040" cy="546944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532120"/>
            <a:ext cx="356616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5778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Bà Trần Thu Hà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6188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0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Tổng Giám đốc</a:t>
            </a:r>
          </a:p>
        </p:txBody>
      </p:sp>
      <p:sp>
        <p:nvSpPr>
          <p:cNvPr id="12" name="!!ttl"/>
          <p:cNvSpPr txBox="1"/>
          <p:nvPr/>
        </p:nvSpPr>
        <p:spPr>
          <a:xfrm>
            <a:off x="5120640" y="914400"/>
            <a:ext cx="6522415" cy="640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LỜI CHÀO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4173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0" b="0" i="0">
                <a:solidFill>
                  <a:srgbClr val="DFF3E8"/>
                </a:solidFill>
                <a:latin typeface="Be Vietnam Pro ExtraBold"/>
                <a:ea typeface="Be Vietnam Pro ExtraBold"/>
                <a:cs typeface="Be Vietnam Pro ExtraBold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28800"/>
            <a:ext cx="6522415" cy="3383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ct val="135000"/>
              </a:lnSpc>
              <a:spcAft>
                <a:spcPts val="800"/>
              </a:spcAft>
            </a:pP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Kính gửi Quý khách hàng,</a:t>
            </a:r>
          </a:p>
          <a:p>
            <a:pPr algn="just">
              <a:lnSpc>
                <a:spcPct val="135000"/>
              </a:lnSpc>
              <a:spcAft>
                <a:spcPts val="800"/>
              </a:spcAft>
            </a:pP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Mỗi gia đình đều có những ước mơ riêng — một mái nhà ấm áp, con cái được học hành, cha mẹ an hưởng tuổi già. An Tâm Life ra đời để </a:t>
            </a:r>
            <a:r>
              <a:rPr sz="12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bảo vệ những ước mơ ấy</a:t>
            </a: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 trước mọi biến cố.</a:t>
            </a:r>
          </a:p>
          <a:p>
            <a:pPr algn="just">
              <a:lnSpc>
                <a:spcPct val="135000"/>
              </a:lnSpc>
              <a:spcAft>
                <a:spcPts val="800"/>
              </a:spcAft>
            </a:pP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Với </a:t>
            </a:r>
            <a:r>
              <a:rPr sz="12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hơn 1,2 triệu khách hàng</a:t>
            </a: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 tin chọn, chúng tôi cam kết mang đến giải pháp bảo hiểm </a:t>
            </a:r>
            <a:r>
              <a:rPr sz="12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minh bạch, linh hoạt và chi trả nhanh chóng</a:t>
            </a: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.</a:t>
            </a:r>
          </a:p>
          <a:p>
            <a:pPr algn="just">
              <a:lnSpc>
                <a:spcPct val="135000"/>
              </a:lnSpc>
              <a:spcAft>
                <a:spcPts val="800"/>
              </a:spcAft>
            </a:pP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Cảm ơn Quý khách đã cho chúng tôi cơ hội được đồng hành.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455" y="55321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3000" b="0" i="0">
                <a:solidFill>
                  <a:srgbClr val="173A2A"/>
                </a:solidFill>
                <a:latin typeface="Great Vibes"/>
                <a:ea typeface="Great Vibes"/>
                <a:cs typeface="Great Vibes"/>
              </a:rPr>
              <a:t>Thu Hà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4" grpId="0" animBg="1"/>
      <p:bldP spid="5" grpId="0" animBg="1"/>
      <p:bldP spid="6" grpId="0" animBg="1"/>
      <p:bldP spid="12" grpId="0" animBg="1"/>
      <p:bldP spid="13" grpId="0" animBg="1"/>
      <p:bldP spid="9" grpId="0" animBg="1"/>
      <p:bldP spid="10" grpId="0" animBg="1"/>
      <p:bldP spid="11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NỘI DUNG</a:t>
            </a:r>
          </a:p>
        </p:txBody>
      </p:sp>
      <p:sp>
        <p:nvSpPr>
          <p:cNvPr id="8" name="!!bar"/>
          <p:cNvSpPr/>
          <p:nvPr/>
        </p:nvSpPr>
        <p:spPr>
          <a:xfrm>
            <a:off x="2652147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HÀNH TRÌNH CÙNG AN TÂM LIFE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03</a:t>
            </a:r>
          </a:p>
        </p:txBody>
      </p:sp>
      <p:pic>
        <p:nvPicPr>
          <p:cNvPr id="11" name="!!ph1" descr="658f5fe426e35ac6.jpg"/>
          <p:cNvPicPr>
            <a:picLocks noChangeAspect="1"/>
          </p:cNvPicPr>
          <p:nvPr/>
        </p:nvPicPr>
        <p:blipFill>
          <a:blip r:embed="rId3"/>
          <a:srcRect b="11063"/>
          <a:stretch>
            <a:fillRect/>
          </a:stretch>
        </p:blipFill>
        <p:spPr>
          <a:xfrm>
            <a:off x="7498080" y="0"/>
            <a:ext cx="5120640" cy="6858000"/>
          </a:xfrm>
          <a:prstGeom prst="parallelogram">
            <a:avLst>
              <a:gd name="adj" fmla="val 22500"/>
            </a:avLst>
          </a:prstGeom>
          <a:effectLst>
            <a:outerShdw blurRad="274320" dist="73152" dir="5400000" algn="ctr" rotWithShape="0">
              <a:srgbClr val="0B1F4D">
                <a:alpha val="22000"/>
              </a:srgbClr>
            </a:outerShdw>
          </a:effectLst>
        </p:spPr>
      </p:pic>
      <p:sp>
        <p:nvSpPr>
          <p:cNvPr id="12" name="Parallelogram 11"/>
          <p:cNvSpPr/>
          <p:nvPr/>
        </p:nvSpPr>
        <p:spPr>
          <a:xfrm>
            <a:off x="548640" y="1600200"/>
            <a:ext cx="6400800" cy="682752"/>
          </a:xfrm>
          <a:prstGeom prst="parallelogram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228600" dist="45720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731520" y="1691640"/>
            <a:ext cx="868680" cy="499872"/>
          </a:xfrm>
          <a:prstGeom prst="parallelogram">
            <a:avLst>
              <a:gd name="adj" fmla="val 2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600200"/>
            <a:ext cx="4937760" cy="682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173A2A"/>
                </a:solidFill>
                <a:latin typeface="Be Vietnam Pro SemiBold"/>
                <a:ea typeface="Be Vietnam Pro SemiBold"/>
                <a:cs typeface="Be Vietnam Pro SemiBold"/>
              </a:rPr>
              <a:t>Về An Tâm Life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658368" y="2410968"/>
            <a:ext cx="6400800" cy="682752"/>
          </a:xfrm>
          <a:prstGeom prst="parallelogram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228600" dist="45720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841248" y="2502408"/>
            <a:ext cx="868680" cy="499872"/>
          </a:xfrm>
          <a:prstGeom prst="parallelogram">
            <a:avLst>
              <a:gd name="adj" fmla="val 2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2410968"/>
            <a:ext cx="4937760" cy="682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173A2A"/>
                </a:solidFill>
                <a:latin typeface="Be Vietnam Pro SemiBold"/>
                <a:ea typeface="Be Vietnam Pro SemiBold"/>
                <a:cs typeface="Be Vietnam Pro SemiBold"/>
              </a:rPr>
              <a:t>Ba trụ cột bảo vệ</a:t>
            </a:r>
          </a:p>
        </p:txBody>
      </p:sp>
      <p:sp>
        <p:nvSpPr>
          <p:cNvPr id="18" name="Parallelogram 17"/>
          <p:cNvSpPr/>
          <p:nvPr/>
        </p:nvSpPr>
        <p:spPr>
          <a:xfrm>
            <a:off x="768096" y="3221736"/>
            <a:ext cx="6400800" cy="682752"/>
          </a:xfrm>
          <a:prstGeom prst="parallelogram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228600" dist="45720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950976" y="3313176"/>
            <a:ext cx="868680" cy="499872"/>
          </a:xfrm>
          <a:prstGeom prst="parallelogram">
            <a:avLst>
              <a:gd name="adj" fmla="val 2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2536" y="3221736"/>
            <a:ext cx="4937760" cy="682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173A2A"/>
                </a:solidFill>
                <a:latin typeface="Be Vietnam Pro SemiBold"/>
                <a:ea typeface="Be Vietnam Pro SemiBold"/>
                <a:cs typeface="Be Vietnam Pro SemiBold"/>
              </a:rPr>
              <a:t>Danh mục sản phẩm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877824" y="4032504"/>
            <a:ext cx="6400800" cy="682752"/>
          </a:xfrm>
          <a:prstGeom prst="parallelogram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228600" dist="45720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1060704" y="4123944"/>
            <a:ext cx="868680" cy="499872"/>
          </a:xfrm>
          <a:prstGeom prst="parallelogram">
            <a:avLst>
              <a:gd name="adj" fmla="val 2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12264" y="4032504"/>
            <a:ext cx="4937760" cy="682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173A2A"/>
                </a:solidFill>
                <a:latin typeface="Be Vietnam Pro SemiBold"/>
                <a:ea typeface="Be Vietnam Pro SemiBold"/>
                <a:cs typeface="Be Vietnam Pro SemiBold"/>
              </a:rPr>
              <a:t>Các gói bảo hiểm</a:t>
            </a:r>
          </a:p>
        </p:txBody>
      </p:sp>
      <p:sp>
        <p:nvSpPr>
          <p:cNvPr id="24" name="Parallelogram 23"/>
          <p:cNvSpPr/>
          <p:nvPr/>
        </p:nvSpPr>
        <p:spPr>
          <a:xfrm>
            <a:off x="987552" y="4843272"/>
            <a:ext cx="6400800" cy="682752"/>
          </a:xfrm>
          <a:prstGeom prst="parallelogram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228600" dist="45720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1170432" y="4934712"/>
            <a:ext cx="868680" cy="499872"/>
          </a:xfrm>
          <a:prstGeom prst="parallelogram">
            <a:avLst>
              <a:gd name="adj" fmla="val 2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1992" y="4843272"/>
            <a:ext cx="4937760" cy="682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173A2A"/>
                </a:solidFill>
                <a:latin typeface="Be Vietnam Pro SemiBold"/>
                <a:ea typeface="Be Vietnam Pro SemiBold"/>
                <a:cs typeface="Be Vietnam Pro SemiBold"/>
              </a:rPr>
              <a:t>Quy trình tham gia</a:t>
            </a:r>
          </a:p>
        </p:txBody>
      </p:sp>
      <p:sp>
        <p:nvSpPr>
          <p:cNvPr id="27" name="Parallelogram 26"/>
          <p:cNvSpPr/>
          <p:nvPr/>
        </p:nvSpPr>
        <p:spPr>
          <a:xfrm>
            <a:off x="1097280" y="5654040"/>
            <a:ext cx="6400800" cy="682752"/>
          </a:xfrm>
          <a:prstGeom prst="parallelogram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228600" dist="45720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1280160" y="5745480"/>
            <a:ext cx="868680" cy="499872"/>
          </a:xfrm>
          <a:prstGeom prst="parallelogram">
            <a:avLst>
              <a:gd name="adj" fmla="val 2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654040"/>
            <a:ext cx="4937760" cy="682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173A2A"/>
                </a:solidFill>
                <a:latin typeface="Be Vietnam Pro SemiBold"/>
                <a:ea typeface="Be Vietnam Pro SemiBold"/>
                <a:cs typeface="Be Vietnam Pro SemiBold"/>
              </a:rPr>
              <a:t>Ứng dụng chăm sóc khách hàng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C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sec_tree_00A7580A5C36_0.50_0.50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ecnum"/>
          <p:cNvSpPr txBox="1"/>
          <p:nvPr/>
        </p:nvSpPr>
        <p:spPr>
          <a:xfrm>
            <a:off x="5669280" y="822960"/>
            <a:ext cx="6035040" cy="3108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2000" b="0" i="0">
                <a:solidFill>
                  <a:srgbClr val="FFFFFF">
                    <a:alpha val="45000"/>
                  </a:srgbClr>
                </a:solidFill>
                <a:latin typeface="Be Vietnam Pro ExtraBold"/>
                <a:ea typeface="Be Vietnam Pro ExtraBold"/>
                <a:cs typeface="Be Vietnam Pro ExtraBold"/>
              </a:rPr>
              <a:t>01</a:t>
            </a:r>
          </a:p>
        </p:txBody>
      </p:sp>
      <p:sp>
        <p:nvSpPr>
          <p:cNvPr id="4" name="!!sectitle"/>
          <p:cNvSpPr txBox="1"/>
          <p:nvPr/>
        </p:nvSpPr>
        <p:spPr>
          <a:xfrm>
            <a:off x="4327855" y="3749040"/>
            <a:ext cx="7315200" cy="148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Về</a:t>
            </a:r>
          </a:p>
          <a:p>
            <a:pPr algn="r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255" y="52832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0" i="0">
                <a:solidFill>
                  <a:srgbClr val="E6EEFF"/>
                </a:solidFill>
                <a:latin typeface="Be Vietnam Pro"/>
                <a:ea typeface="Be Vietnam Pro"/>
                <a:cs typeface="Be Vietnam Pro"/>
              </a:rPr>
              <a:t>Hơn 25 năm đồng hành cùng các gia đình Việt</a:t>
            </a:r>
          </a:p>
        </p:txBody>
      </p:sp>
      <p:sp>
        <p:nvSpPr>
          <p:cNvPr id="6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VỀ AN TÂM LIFE</a:t>
            </a:r>
          </a:p>
        </p:txBody>
      </p:sp>
      <p:sp>
        <p:nvSpPr>
          <p:cNvPr id="8" name="!!bar"/>
          <p:cNvSpPr/>
          <p:nvPr/>
        </p:nvSpPr>
        <p:spPr>
          <a:xfrm>
            <a:off x="3792468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ĐỒNG HÀNH VỮNG CHẮC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576072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An Tâm Life</a:t>
            </a: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 là doanh nghiệp bảo hiểm nhân thọ với hơn </a:t>
            </a:r>
            <a:r>
              <a:rPr sz="12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25 năm</a:t>
            </a: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 kinh nghiệm, mạng lưới </a:t>
            </a:r>
            <a:r>
              <a:rPr sz="12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120 văn phòng</a:t>
            </a: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 trên toàn quốc.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Chúng tôi cung cấp các giải pháp bảo vệ sức khỏe, tích lũy tài chính và hưu trí, được thiết kế linh hoạt cho từng giai đoạn của cuộc sống.</a:t>
            </a:r>
          </a:p>
        </p:txBody>
      </p:sp>
      <p:pic>
        <p:nvPicPr>
          <p:cNvPr id="12" name="!!ph1" descr="2118b9127cb7d52f.jpg"/>
          <p:cNvPicPr>
            <a:picLocks noChangeAspect="1"/>
          </p:cNvPicPr>
          <p:nvPr/>
        </p:nvPicPr>
        <p:blipFill>
          <a:blip r:embed="rId3"/>
          <a:srcRect t="2498" b="22498"/>
          <a:stretch>
            <a:fillRect/>
          </a:stretch>
        </p:blipFill>
        <p:spPr>
          <a:xfrm>
            <a:off x="6766560" y="1600200"/>
            <a:ext cx="4876495" cy="2743200"/>
          </a:xfrm>
          <a:prstGeom prst="parallelogram">
            <a:avLst>
              <a:gd name="adj" fmla="val 12657"/>
            </a:avLst>
          </a:prstGeom>
          <a:effectLst>
            <a:outerShdw blurRad="274320" dist="73152" dir="5400000" algn="ctr" rotWithShape="0">
              <a:srgbClr val="0B1F4D">
                <a:alpha val="22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548640" y="4617720"/>
            <a:ext cx="2602154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818888"/>
            <a:ext cx="512064" cy="512064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03" y="4941783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17320" y="4727448"/>
            <a:ext cx="1687754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1,2</a:t>
            </a:r>
            <a:r>
              <a:rPr sz="13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 triệu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223639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khách hàng đang được bảo vệ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79394" y="4617720"/>
            <a:ext cx="2602154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80562" y="4818888"/>
            <a:ext cx="512064" cy="512064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457" y="4941783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48074" y="4727448"/>
            <a:ext cx="1687754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120</a:t>
            </a:r>
            <a:r>
              <a:rPr sz="13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7994" y="5486400"/>
            <a:ext cx="223639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văn phòng và trung tâm dịch vụ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8" y="4617720"/>
            <a:ext cx="2602154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1316" y="4818888"/>
            <a:ext cx="512064" cy="512064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and-coin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211" y="4941783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78828" y="4727448"/>
            <a:ext cx="1687754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3.200</a:t>
            </a:r>
            <a:r>
              <a:rPr sz="13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 tỷ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748" y="5486400"/>
            <a:ext cx="223639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quyền lợi đã chi trả năm 2025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0901" y="4617720"/>
            <a:ext cx="2602154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42069" y="4818888"/>
            <a:ext cx="512064" cy="512064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war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4965" y="4941783"/>
            <a:ext cx="266273" cy="26627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909581" y="4727448"/>
            <a:ext cx="1687754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15</a:t>
            </a:r>
            <a:r>
              <a:rPr sz="13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501" y="5486400"/>
            <a:ext cx="223639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giải thưởng về dịch vụ khách hàng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0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HÀNH TRÌNH PHÁT TRIỂN</a:t>
            </a:r>
          </a:p>
        </p:txBody>
      </p:sp>
      <p:sp>
        <p:nvSpPr>
          <p:cNvPr id="8" name="!!bar"/>
          <p:cNvSpPr/>
          <p:nvPr/>
        </p:nvSpPr>
        <p:spPr>
          <a:xfrm>
            <a:off x="5585073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25 NĂM VỮNG BƯỚC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13048"/>
            <a:ext cx="10545775" cy="54864"/>
          </a:xfrm>
          <a:prstGeom prst="rect">
            <a:avLst/>
          </a:prstGeom>
          <a:gradFill rotWithShape="1">
            <a:gsLst>
              <a:gs pos="0">
                <a:srgbClr val="7FD6A3"/>
              </a:gs>
              <a:gs pos="100000">
                <a:srgbClr val="00A75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877538" y="3995928"/>
            <a:ext cx="0" cy="347472"/>
          </a:xfrm>
          <a:prstGeom prst="line">
            <a:avLst/>
          </a:prstGeom>
          <a:ln w="15875">
            <a:solidFill>
              <a:srgbClr val="00A7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22090" y="368503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2109155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2000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" y="4343400"/>
            <a:ext cx="1971995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4471416"/>
            <a:ext cx="169767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Thành lập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910328"/>
            <a:ext cx="16976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Ra mắt sản phẩm bảo hiểm nhân thọ đầu tiên.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986693" y="3337560"/>
            <a:ext cx="0" cy="347472"/>
          </a:xfrm>
          <a:prstGeom prst="line">
            <a:avLst/>
          </a:prstGeom>
          <a:ln w="15875">
            <a:solidFill>
              <a:srgbClr val="00A7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831245" y="368503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2115" y="4069080"/>
            <a:ext cx="2109155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2008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00695" y="1828800"/>
            <a:ext cx="1971995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7855" y="1956816"/>
            <a:ext cx="169767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100 văn phòng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7855" y="2395728"/>
            <a:ext cx="16976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Mở rộng mạng lưới phục vụ trên 63 tỉnh thành.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5848" y="3995928"/>
            <a:ext cx="0" cy="347472"/>
          </a:xfrm>
          <a:prstGeom prst="line">
            <a:avLst/>
          </a:prstGeom>
          <a:ln w="15875">
            <a:solidFill>
              <a:srgbClr val="00A7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940400" y="368503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1270" y="3063240"/>
            <a:ext cx="2109155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2015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09850" y="4343400"/>
            <a:ext cx="1971995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47010" y="4471416"/>
            <a:ext cx="169767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Bảo hiểm sức khỏe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7010" y="4910328"/>
            <a:ext cx="16976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Ra mắt dòng sản phẩm chăm sóc y tế toàn diện.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205003" y="3337560"/>
            <a:ext cx="0" cy="347472"/>
          </a:xfrm>
          <a:prstGeom prst="line">
            <a:avLst/>
          </a:prstGeom>
          <a:ln w="15875">
            <a:solidFill>
              <a:srgbClr val="00A7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049555" y="368503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0425" y="4069080"/>
            <a:ext cx="2109155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2020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19005" y="1828800"/>
            <a:ext cx="1971995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6165" y="1956816"/>
            <a:ext cx="169767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1 triệu khách hàng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6165" y="2395728"/>
            <a:ext cx="16976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Cột mốc 1 triệu khách hàng tin chọn.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314158" y="3995928"/>
            <a:ext cx="0" cy="347472"/>
          </a:xfrm>
          <a:prstGeom prst="line">
            <a:avLst/>
          </a:prstGeom>
          <a:ln w="15875">
            <a:solidFill>
              <a:srgbClr val="00A7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158710" y="368503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59580" y="3063240"/>
            <a:ext cx="2109155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2025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8160" y="4343400"/>
            <a:ext cx="1971995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5320" y="4471416"/>
            <a:ext cx="169767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Số hóa toàn diện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5320" y="4910328"/>
            <a:ext cx="16976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Tham gia và bồi thường 100% trực tuyến.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C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sec_canopy_00A7580A5C36_0.50_0.50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ecnum"/>
          <p:cNvSpPr txBox="1"/>
          <p:nvPr/>
        </p:nvSpPr>
        <p:spPr>
          <a:xfrm>
            <a:off x="5669280" y="822960"/>
            <a:ext cx="6035040" cy="3108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2000" b="0" i="0">
                <a:solidFill>
                  <a:srgbClr val="FFFFFF">
                    <a:alpha val="45000"/>
                  </a:srgbClr>
                </a:solidFill>
                <a:latin typeface="Be Vietnam Pro ExtraBold"/>
                <a:ea typeface="Be Vietnam Pro ExtraBold"/>
                <a:cs typeface="Be Vietnam Pro ExtraBold"/>
              </a:rPr>
              <a:t>02</a:t>
            </a:r>
          </a:p>
        </p:txBody>
      </p:sp>
      <p:sp>
        <p:nvSpPr>
          <p:cNvPr id="4" name="!!sectitle"/>
          <p:cNvSpPr txBox="1"/>
          <p:nvPr/>
        </p:nvSpPr>
        <p:spPr>
          <a:xfrm>
            <a:off x="4327855" y="3749040"/>
            <a:ext cx="7315200" cy="148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Giải pháp</a:t>
            </a:r>
          </a:p>
          <a:p>
            <a:pPr algn="r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cho mọi gia đình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255" y="52832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0" i="0">
                <a:solidFill>
                  <a:srgbClr val="E6EEFF"/>
                </a:solidFill>
                <a:latin typeface="Be Vietnam Pro"/>
                <a:ea typeface="Be Vietnam Pro"/>
                <a:cs typeface="Be Vietnam Pro"/>
              </a:rPr>
              <a:t>Bảo vệ – Tích lũy – Hưu trí trong một kế hoạch</a:t>
            </a:r>
          </a:p>
        </p:txBody>
      </p:sp>
      <p:sp>
        <p:nvSpPr>
          <p:cNvPr id="6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BA TRỤ CỘT BẢO VỆ</a:t>
            </a:r>
          </a:p>
        </p:txBody>
      </p:sp>
      <p:sp>
        <p:nvSpPr>
          <p:cNvPr id="8" name="!!bar"/>
          <p:cNvSpPr/>
          <p:nvPr/>
        </p:nvSpPr>
        <p:spPr>
          <a:xfrm>
            <a:off x="4694654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TOÀN DIỆN CHO CẢ GIA ĐÌNH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08</a:t>
            </a:r>
          </a:p>
        </p:txBody>
      </p:sp>
      <p:pic>
        <p:nvPicPr>
          <p:cNvPr id="11" name="Picture 10" descr="da95e9ae4386b1b8.jpg"/>
          <p:cNvPicPr>
            <a:picLocks noChangeAspect="1"/>
          </p:cNvPicPr>
          <p:nvPr/>
        </p:nvPicPr>
        <p:blipFill>
          <a:blip r:embed="rId3"/>
          <a:srcRect t="20891" b="50891"/>
          <a:stretch>
            <a:fillRect/>
          </a:stretch>
        </p:blipFill>
        <p:spPr>
          <a:xfrm>
            <a:off x="8076895" y="914400"/>
            <a:ext cx="3566160" cy="1508760"/>
          </a:xfrm>
          <a:prstGeom prst="parallelogram">
            <a:avLst>
              <a:gd name="adj" fmla="val 9519"/>
            </a:avLst>
          </a:prstGeom>
          <a:effectLst>
            <a:outerShdw blurRad="274320" dist="73152" dir="5400000" algn="ctr" rotWithShape="0">
              <a:srgbClr val="0B1F4D">
                <a:alpha val="22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548640" y="2697480"/>
            <a:ext cx="3515258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3515258" cy="109728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2990088"/>
            <a:ext cx="603504" cy="603504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eart-pul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69" y="3134929"/>
            <a:ext cx="313822" cy="3138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2990088"/>
            <a:ext cx="241797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Bảo vệ sức khỏe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301233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00A758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Chi trả viện phí, phẫu thuật </a:t>
            </a:r>
            <a:r>
              <a:rPr sz="120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đến 1 tỷ đồng/năm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00A758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Bảo lãnh viện phí tại </a:t>
            </a:r>
            <a:r>
              <a:rPr sz="120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300+ bệnh viện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8218" y="2697480"/>
            <a:ext cx="3515258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8218" y="2697480"/>
            <a:ext cx="3515258" cy="109728"/>
          </a:xfrm>
          <a:prstGeom prst="rect">
            <a:avLst/>
          </a:prstGeom>
          <a:solidFill>
            <a:srgbClr val="7FD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85106" y="2990088"/>
            <a:ext cx="603504" cy="603504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iggy-ban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947" y="3134929"/>
            <a:ext cx="313822" cy="31382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98338" y="2990088"/>
            <a:ext cx="241797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Tích lũy tài chính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2538" y="3886200"/>
            <a:ext cx="301233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00A758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Lãi suất cam kết tối thiểu </a:t>
            </a:r>
            <a:r>
              <a:rPr sz="120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3%/năm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00A758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Linh hoạt rút tiền khi cần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7797" y="2697480"/>
            <a:ext cx="3515258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27797" y="2697480"/>
            <a:ext cx="3515258" cy="109728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74685" y="2990088"/>
            <a:ext cx="603504" cy="603504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raduation-ca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526" y="3134929"/>
            <a:ext cx="313822" cy="31382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87917" y="2990088"/>
            <a:ext cx="241797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Quỹ học vấn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2117" y="3886200"/>
            <a:ext cx="301233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00A758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Đảm bảo kế hoạch học tập của con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00A758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Miễn đóng phí</a:t>
            </a:r>
            <a:r>
              <a:rPr sz="12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 khi người trụ cột gặp rủi ro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DANH MỤC SẢN PHẨM</a:t>
            </a:r>
          </a:p>
        </p:txBody>
      </p:sp>
      <p:sp>
        <p:nvSpPr>
          <p:cNvPr id="8" name="!!bar"/>
          <p:cNvSpPr/>
          <p:nvPr/>
        </p:nvSpPr>
        <p:spPr>
          <a:xfrm>
            <a:off x="5029964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LỰA CHỌN THEO NHU CẦU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09</a:t>
            </a:r>
          </a:p>
        </p:txBody>
      </p:sp>
      <p:pic>
        <p:nvPicPr>
          <p:cNvPr id="11" name="!!ph1" descr="cc7b92aa78672445.jpg"/>
          <p:cNvPicPr>
            <a:picLocks noChangeAspect="1"/>
          </p:cNvPicPr>
          <p:nvPr/>
        </p:nvPicPr>
        <p:blipFill>
          <a:blip r:embed="rId3"/>
          <a:srcRect t="4769" b="24769"/>
          <a:stretch>
            <a:fillRect/>
          </a:stretch>
        </p:blipFill>
        <p:spPr>
          <a:xfrm>
            <a:off x="7315200" y="1600200"/>
            <a:ext cx="4327855" cy="4572000"/>
          </a:xfrm>
          <a:prstGeom prst="parallelogram">
            <a:avLst>
              <a:gd name="adj" fmla="val 22500"/>
            </a:avLst>
          </a:prstGeom>
          <a:effectLst>
            <a:outerShdw blurRad="274320" dist="73152" dir="5400000" algn="ctr" rotWithShape="0">
              <a:srgbClr val="0B1F4D">
                <a:alpha val="22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548640" y="1600200"/>
            <a:ext cx="6492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600200"/>
            <a:ext cx="91440" cy="804672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1764792"/>
            <a:ext cx="475488" cy="475488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ield-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53" y="1878909"/>
            <a:ext cx="247254" cy="2472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1655064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Bảo hiểm nhân thọ trọn đời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984248"/>
            <a:ext cx="53949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Bảo vệ tài chính dài hạn cho gia đình.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542032"/>
            <a:ext cx="6492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42032"/>
            <a:ext cx="91440" cy="804672"/>
          </a:xfrm>
          <a:prstGeom prst="rect">
            <a:avLst/>
          </a:prstGeom>
          <a:solidFill>
            <a:srgbClr val="7FD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2706624"/>
            <a:ext cx="475488" cy="475488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thoscop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653" y="2820741"/>
            <a:ext cx="247254" cy="2472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2596896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Bảo hiểm sức khỏe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926080"/>
            <a:ext cx="53949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Chi phí nội trú, ngoại trú, nha khoa, thai sản.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83864"/>
            <a:ext cx="6492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483864"/>
            <a:ext cx="91440" cy="804672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9536" y="3648456"/>
            <a:ext cx="475488" cy="475488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raduation-ca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653" y="3762573"/>
            <a:ext cx="247254" cy="24725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08760" y="3538728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Bảo hiểm giáo dục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867912"/>
            <a:ext cx="53949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Tích lũy quỹ học vấn cho con đến đại học.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25696"/>
            <a:ext cx="6492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425696"/>
            <a:ext cx="91440" cy="804672"/>
          </a:xfrm>
          <a:prstGeom prst="rect">
            <a:avLst/>
          </a:prstGeom>
          <a:solidFill>
            <a:srgbClr val="7FD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9536" y="4590288"/>
            <a:ext cx="475488" cy="475488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wall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653" y="4704405"/>
            <a:ext cx="247254" cy="24725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08760" y="4480560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Bảo hiểm liên kết đầu tư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4809744"/>
            <a:ext cx="53949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Bảo vệ kết hợp đầu tư sinh lời dài hạn.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67528"/>
            <a:ext cx="6492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367528"/>
            <a:ext cx="91440" cy="804672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9536" y="5532120"/>
            <a:ext cx="475488" cy="475488"/>
          </a:xfrm>
          <a:prstGeom prst="ellipse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umbrella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653" y="5646237"/>
            <a:ext cx="247254" cy="24725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508760" y="5422392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Bảo hiểm hưu trí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751576"/>
            <a:ext cx="53949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Thu nhập ổn định khi về hưu.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8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8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8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8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CÁC GÓI BẢO HIỂM</a:t>
            </a:r>
          </a:p>
        </p:txBody>
      </p:sp>
      <p:sp>
        <p:nvSpPr>
          <p:cNvPr id="8" name="!!bar"/>
          <p:cNvSpPr/>
          <p:nvPr/>
        </p:nvSpPr>
        <p:spPr>
          <a:xfrm>
            <a:off x="4404717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CHỌN GÓI PHÙ HỢP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3515258" cy="420624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2" name="Picture 11" descr="658f5fe426e35ac6.jpg"/>
          <p:cNvPicPr>
            <a:picLocks noChangeAspect="1"/>
          </p:cNvPicPr>
          <p:nvPr/>
        </p:nvPicPr>
        <p:blipFill>
          <a:blip r:embed="rId3"/>
          <a:srcRect t="13840" b="43840"/>
          <a:stretch>
            <a:fillRect/>
          </a:stretch>
        </p:blipFill>
        <p:spPr>
          <a:xfrm>
            <a:off x="548640" y="1691640"/>
            <a:ext cx="3515258" cy="2240280"/>
          </a:xfrm>
          <a:prstGeom prst="round2SameRect">
            <a:avLst>
              <a:gd name="adj1" fmla="val 5714"/>
              <a:gd name="adj2" fmla="val 0"/>
            </a:avLst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069080"/>
            <a:ext cx="3058058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CƠ BẢN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305805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Từ 15.000 đ/ngày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305805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Bảo vệ trước rủi ro tử vong, thương tật. Quyền lợi </a:t>
            </a:r>
            <a:r>
              <a:rPr sz="11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đến 500 triệu đồng</a:t>
            </a:r>
            <a:r>
              <a:rPr sz="11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1691640"/>
            <a:ext cx="3515258" cy="420624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" name="Picture 16" descr="2118b9127cb7d52f.jpg"/>
          <p:cNvPicPr>
            <a:picLocks noChangeAspect="1"/>
          </p:cNvPicPr>
          <p:nvPr/>
        </p:nvPicPr>
        <p:blipFill>
          <a:blip r:embed="rId4"/>
          <a:srcRect b="15026"/>
          <a:stretch>
            <a:fillRect/>
          </a:stretch>
        </p:blipFill>
        <p:spPr>
          <a:xfrm>
            <a:off x="4338218" y="1691640"/>
            <a:ext cx="3515258" cy="2240280"/>
          </a:xfrm>
          <a:prstGeom prst="round2SameRect">
            <a:avLst>
              <a:gd name="adj1" fmla="val 5714"/>
              <a:gd name="adj2" fmla="val 0"/>
            </a:avLst>
          </a:prstGeom>
        </p:spPr>
      </p:pic>
      <p:sp>
        <p:nvSpPr>
          <p:cNvPr id="18" name="Rounded Rectangle 17"/>
          <p:cNvSpPr/>
          <p:nvPr/>
        </p:nvSpPr>
        <p:spPr>
          <a:xfrm>
            <a:off x="4521098" y="1874520"/>
            <a:ext cx="1185565" cy="292608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Phổ biến nhất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6818" y="4069080"/>
            <a:ext cx="3058058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GIA ĐÌNH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6818" y="4572000"/>
            <a:ext cx="305805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Từ 30.000 đ/ngày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6818" y="4892040"/>
            <a:ext cx="305805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Bảo vệ cả gia đình kèm thẻ sức khỏe, quyền lợi </a:t>
            </a:r>
            <a:r>
              <a:rPr sz="11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đến 2 tỷ đồng</a:t>
            </a:r>
            <a:r>
              <a:rPr sz="11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7" y="1691640"/>
            <a:ext cx="3515258" cy="420624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3" name="Picture 22" descr="5df0572c7ba420fc.jpg"/>
          <p:cNvPicPr>
            <a:picLocks noChangeAspect="1"/>
          </p:cNvPicPr>
          <p:nvPr/>
        </p:nvPicPr>
        <p:blipFill>
          <a:blip r:embed="rId5"/>
          <a:srcRect b="15026"/>
          <a:stretch>
            <a:fillRect/>
          </a:stretch>
        </p:blipFill>
        <p:spPr>
          <a:xfrm>
            <a:off x="8127797" y="1691640"/>
            <a:ext cx="3515258" cy="2240280"/>
          </a:xfrm>
          <a:prstGeom prst="round2SameRect">
            <a:avLst>
              <a:gd name="adj1" fmla="val 5714"/>
              <a:gd name="adj2" fmla="val 0"/>
            </a:avLst>
          </a:prstGeom>
        </p:spPr>
      </p:pic>
      <p:sp>
        <p:nvSpPr>
          <p:cNvPr id="24" name="TextBox 23"/>
          <p:cNvSpPr txBox="1"/>
          <p:nvPr/>
        </p:nvSpPr>
        <p:spPr>
          <a:xfrm>
            <a:off x="8356397" y="4069080"/>
            <a:ext cx="3058058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HƯU TRÍ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397" y="4572000"/>
            <a:ext cx="305805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Từ 50.000 đ/ngày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6397" y="4892040"/>
            <a:ext cx="305805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Tích lũy hưu trí, nhận </a:t>
            </a:r>
            <a:r>
              <a:rPr sz="11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lương hưu bổ sung</a:t>
            </a:r>
            <a:r>
              <a:rPr sz="11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 hằng tháng từ tuổi 60.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3" grpId="0" animBg="1"/>
      <p:bldP spid="14" grpId="0" animBg="1"/>
      <p:bldP spid="15" grpId="0" animBg="1"/>
      <p:bldP spid="10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SO SÁNH QUYỀN LỢI</a:t>
            </a:r>
          </a:p>
        </p:txBody>
      </p:sp>
      <p:sp>
        <p:nvSpPr>
          <p:cNvPr id="8" name="!!bar"/>
          <p:cNvSpPr/>
          <p:nvPr/>
        </p:nvSpPr>
        <p:spPr>
          <a:xfrm>
            <a:off x="4720213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BA GÓI BẢO HIỂM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11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783080"/>
          <a:ext cx="11094414" cy="420623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186572"/>
                <a:gridCol w="2302614"/>
                <a:gridCol w="2302614"/>
                <a:gridCol w="2302614"/>
              </a:tblGrid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FFFFFF"/>
                          </a:solidFill>
                          <a:latin typeface="Be Vietnam Pro SemiBold"/>
                          <a:ea typeface="Be Vietnam Pro SemiBold"/>
                          <a:cs typeface="Be Vietnam Pro SemiBold"/>
                        </a:rPr>
                        <a:t>Quyền lợi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00A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FFFFFF"/>
                          </a:solidFill>
                          <a:latin typeface="Be Vietnam Pro SemiBold"/>
                          <a:ea typeface="Be Vietnam Pro SemiBold"/>
                          <a:cs typeface="Be Vietnam Pro SemiBold"/>
                        </a:rPr>
                        <a:t>Cơ bản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00A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FFFFFF"/>
                          </a:solidFill>
                          <a:latin typeface="Be Vietnam Pro SemiBold"/>
                          <a:ea typeface="Be Vietnam Pro SemiBold"/>
                          <a:cs typeface="Be Vietnam Pro SemiBold"/>
                        </a:rPr>
                        <a:t>Gia đình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00A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FFFFFF"/>
                          </a:solidFill>
                          <a:latin typeface="Be Vietnam Pro SemiBold"/>
                          <a:ea typeface="Be Vietnam Pro SemiBold"/>
                          <a:cs typeface="Be Vietnam Pro SemiBold"/>
                        </a:rPr>
                        <a:t>Hưu trí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00A758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 SemiBold"/>
                          <a:ea typeface="Be Vietnam Pro SemiBold"/>
                          <a:cs typeface="Be Vietnam Pro SemiBold"/>
                        </a:rPr>
                        <a:t>Bảo vệ tử vong, thương tật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500 triệu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2 tỷ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1 tỷ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 SemiBold"/>
                          <a:ea typeface="Be Vietnam Pro SemiBold"/>
                          <a:cs typeface="Be Vietnam Pro SemiBold"/>
                        </a:rPr>
                        <a:t>Chi phí nằm viện, phẫu thuật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1 tỷ/năm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500 triệu/năm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 SemiBold"/>
                          <a:ea typeface="Be Vietnam Pro SemiBold"/>
                          <a:cs typeface="Be Vietnam Pro SemiBold"/>
                        </a:rPr>
                        <a:t>Bảo vệ bệnh hiểm nghèo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✓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✓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 SemiBold"/>
                          <a:ea typeface="Be Vietnam Pro SemiBold"/>
                          <a:cs typeface="Be Vietnam Pro SemiBold"/>
                        </a:rPr>
                        <a:t>Tích lũy và chia lãi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✓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✓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 SemiBold"/>
                          <a:ea typeface="Be Vietnam Pro SemiBold"/>
                          <a:cs typeface="Be Vietnam Pro SemiBold"/>
                        </a:rPr>
                        <a:t>Lương hưu bổ sung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✓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 SemiBold"/>
                          <a:ea typeface="Be Vietnam Pro SemiBold"/>
                          <a:cs typeface="Be Vietnam Pro SemiBold"/>
                        </a:rPr>
                        <a:t>Số người được bảo hiểm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Đến 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73A2A"/>
                          </a:solidFill>
                          <a:latin typeface="Be Vietnam Pro"/>
                          <a:ea typeface="Be Vietnam Pro"/>
                          <a:cs typeface="Be Vietnam Pro"/>
                        </a:rPr>
                        <a:t>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D6E6DC"/>
                      </a:solidFill>
                    </a:lnL>
                    <a:lnR w="9525">
                      <a:solidFill>
                        <a:srgbClr val="D6E6DC"/>
                      </a:solidFill>
                    </a:lnR>
                    <a:lnT w="9525">
                      <a:solidFill>
                        <a:srgbClr val="D6E6DC"/>
                      </a:solidFill>
                    </a:lnT>
                    <a:lnB w="9525">
                      <a:solidFill>
                        <a:srgbClr val="D6E6DC"/>
                      </a:solidFill>
                    </a:lnB>
                    <a:solidFill>
                      <a:srgbClr val="DFF3E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1">
                <a:solidFill>
                  <a:srgbClr val="8FA096"/>
                </a:solidFill>
                <a:latin typeface="Be Vietnam Pro"/>
                <a:ea typeface="Be Vietnam Pro"/>
                <a:cs typeface="Be Vietnam Pro"/>
              </a:rPr>
              <a:t>Quyền lợi minh họa — xem quy tắc, điều khoản sản phẩm.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Graphic spid="11" grpId="0">
        <p:bldAsOne/>
      </p:bldGraphic>
      <p:bldP spid="10" grpId="0" animBg="1"/>
      <p:bldP spid="1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C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sec_sun_trees_00A7580A5C36_0.50_0.40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secnum"/>
          <p:cNvSpPr txBox="1"/>
          <p:nvPr/>
        </p:nvSpPr>
        <p:spPr>
          <a:xfrm>
            <a:off x="5669280" y="822960"/>
            <a:ext cx="6035040" cy="3108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22000" b="0" i="0">
                <a:solidFill>
                  <a:srgbClr val="FFFFFF">
                    <a:alpha val="45000"/>
                  </a:srgbClr>
                </a:solidFill>
                <a:latin typeface="Be Vietnam Pro ExtraBold"/>
                <a:ea typeface="Be Vietnam Pro ExtraBold"/>
                <a:cs typeface="Be Vietnam Pro ExtraBold"/>
              </a:rPr>
              <a:t>03</a:t>
            </a:r>
          </a:p>
        </p:txBody>
      </p:sp>
      <p:sp>
        <p:nvSpPr>
          <p:cNvPr id="4" name="!!sectitle"/>
          <p:cNvSpPr txBox="1"/>
          <p:nvPr/>
        </p:nvSpPr>
        <p:spPr>
          <a:xfrm>
            <a:off x="4327855" y="3749040"/>
            <a:ext cx="7315200" cy="1488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Trải nghiệm</a:t>
            </a:r>
          </a:p>
          <a:p>
            <a:pPr algn="r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khách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255" y="52832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0" i="0">
                <a:solidFill>
                  <a:srgbClr val="E6EEFF"/>
                </a:solidFill>
                <a:latin typeface="Be Vietnam Pro"/>
                <a:ea typeface="Be Vietnam Pro"/>
                <a:cs typeface="Be Vietnam Pro"/>
              </a:rPr>
              <a:t>Đơn giản – Nhanh chóng – Tận tâm</a:t>
            </a:r>
          </a:p>
        </p:txBody>
      </p:sp>
      <p:sp>
        <p:nvSpPr>
          <p:cNvPr id="6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QUY TRÌNH THAM GIA</a:t>
            </a:r>
          </a:p>
        </p:txBody>
      </p:sp>
      <p:sp>
        <p:nvSpPr>
          <p:cNvPr id="8" name="!!bar"/>
          <p:cNvSpPr/>
          <p:nvPr/>
        </p:nvSpPr>
        <p:spPr>
          <a:xfrm>
            <a:off x="4959459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5 BƯỚC ĐƠN GIẢN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13048"/>
            <a:ext cx="10545775" cy="54864"/>
          </a:xfrm>
          <a:prstGeom prst="rect">
            <a:avLst/>
          </a:prstGeom>
          <a:gradFill rotWithShape="1">
            <a:gsLst>
              <a:gs pos="0">
                <a:srgbClr val="7FD6A3"/>
              </a:gs>
              <a:gs pos="100000">
                <a:srgbClr val="00A75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877538" y="3995928"/>
            <a:ext cx="0" cy="347472"/>
          </a:xfrm>
          <a:prstGeom prst="line">
            <a:avLst/>
          </a:prstGeom>
          <a:ln w="15875">
            <a:solidFill>
              <a:srgbClr val="00A7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22090" y="368503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2109155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Bước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" y="4343400"/>
            <a:ext cx="1971995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4471416"/>
            <a:ext cx="169767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Tư vấn nhu cầu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910328"/>
            <a:ext cx="16976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Phân tích tài chính và mục tiêu của gia đình.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986693" y="3337560"/>
            <a:ext cx="0" cy="347472"/>
          </a:xfrm>
          <a:prstGeom prst="line">
            <a:avLst/>
          </a:prstGeom>
          <a:ln w="15875">
            <a:solidFill>
              <a:srgbClr val="00A7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831245" y="368503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2115" y="4069080"/>
            <a:ext cx="2109155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Bước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00695" y="1828800"/>
            <a:ext cx="1971995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7855" y="1956816"/>
            <a:ext cx="169767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Thiết kế giải pháp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7855" y="2395728"/>
            <a:ext cx="16976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Đề xuất gói phù hợp với ngân sách.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5848" y="3995928"/>
            <a:ext cx="0" cy="347472"/>
          </a:xfrm>
          <a:prstGeom prst="line">
            <a:avLst/>
          </a:prstGeom>
          <a:ln w="15875">
            <a:solidFill>
              <a:srgbClr val="00A7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940400" y="368503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1270" y="3063240"/>
            <a:ext cx="2109155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Bước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09850" y="4343400"/>
            <a:ext cx="1971995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47010" y="4471416"/>
            <a:ext cx="169767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Ký hợp đồng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7010" y="4910328"/>
            <a:ext cx="16976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Ký điện tử, hiệu lực ngay trong ngày.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205003" y="3337560"/>
            <a:ext cx="0" cy="347472"/>
          </a:xfrm>
          <a:prstGeom prst="line">
            <a:avLst/>
          </a:prstGeom>
          <a:ln w="15875">
            <a:solidFill>
              <a:srgbClr val="00A7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049555" y="368503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0425" y="4069080"/>
            <a:ext cx="2109155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Bước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19005" y="1828800"/>
            <a:ext cx="1971995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6165" y="1956816"/>
            <a:ext cx="169767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Chăm sóc định kỳ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6165" y="2395728"/>
            <a:ext cx="16976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Rà soát quyền lợi mỗi năm cùng tư vấn viên.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314158" y="3995928"/>
            <a:ext cx="0" cy="347472"/>
          </a:xfrm>
          <a:prstGeom prst="line">
            <a:avLst/>
          </a:prstGeom>
          <a:ln w="15875">
            <a:solidFill>
              <a:srgbClr val="00A7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158710" y="368503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A7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59580" y="3063240"/>
            <a:ext cx="2109155" cy="548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Bước 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8160" y="4343400"/>
            <a:ext cx="1971995" cy="1508760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5320" y="4471416"/>
            <a:ext cx="1697675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Chi trả quyền lợi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5320" y="4910328"/>
            <a:ext cx="1697675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Giải quyết bồi thường trong 24 giờ.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ỨNG DỤNG AN TÂM LIFE</a:t>
            </a:r>
          </a:p>
        </p:txBody>
      </p:sp>
      <p:sp>
        <p:nvSpPr>
          <p:cNvPr id="8" name="!!bar"/>
          <p:cNvSpPr/>
          <p:nvPr/>
        </p:nvSpPr>
        <p:spPr>
          <a:xfrm>
            <a:off x="5400665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MỌI LÚC, MỌI NƠI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14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6858000" y="1783080"/>
            <a:ext cx="1280160" cy="4206240"/>
          </a:xfrm>
          <a:prstGeom prst="parallelogram">
            <a:avLst>
              <a:gd name="adj" fmla="val 35000"/>
            </a:avLst>
          </a:prstGeom>
          <a:solidFill>
            <a:srgbClr val="1F3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1234440"/>
            <a:ext cx="2606040" cy="5257800"/>
          </a:xfrm>
          <a:prstGeom prst="roundRect">
            <a:avLst>
              <a:gd name="adj" fmla="val 13333"/>
            </a:avLst>
          </a:prstGeom>
          <a:solidFill>
            <a:srgbClr val="1A1F2B"/>
          </a:solidFill>
          <a:ln>
            <a:noFill/>
          </a:ln>
          <a:effectLst>
            <a:outerShdw blurRad="411480" dist="13716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325880"/>
            <a:ext cx="2423160" cy="5074920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55380" y="1362456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7955280" y="1325880"/>
            <a:ext cx="2423160" cy="1325880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6459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Be Vietnam Pro"/>
                <a:ea typeface="Be Vietnam Pro"/>
                <a:cs typeface="Be Vietnam Pro"/>
              </a:rPr>
              <a:t>Xin chào,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87452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e Vietnam Pro"/>
                <a:ea typeface="Be Vietnam Pro"/>
                <a:cs typeface="Be Vietnam Pro"/>
              </a:rPr>
              <a:t>Nguyễn Văn 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331720"/>
            <a:ext cx="214884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>
            <a:noFill/>
          </a:ln>
          <a:effectLst>
            <a:outerShdw blurRad="182880" dist="36576" dir="5400000" algn="ctr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39572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8FA096"/>
                </a:solidFill>
                <a:latin typeface="Be Vietnam Pro"/>
                <a:ea typeface="Be Vietnam Pro"/>
                <a:cs typeface="Be Vietnam Pro"/>
              </a:rPr>
              <a:t>Hợp đồng đang hiệu lực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2432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02</a:t>
            </a:r>
          </a:p>
        </p:txBody>
      </p:sp>
      <p:sp>
        <p:nvSpPr>
          <p:cNvPr id="21" name="Oval 20"/>
          <p:cNvSpPr/>
          <p:nvPr/>
        </p:nvSpPr>
        <p:spPr>
          <a:xfrm>
            <a:off x="8289036" y="3465576"/>
            <a:ext cx="384048" cy="384048"/>
          </a:xfrm>
          <a:prstGeom prst="ellipse">
            <a:avLst/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le-text_00A7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447" y="3551987"/>
            <a:ext cx="211226" cy="21122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38160" y="38862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Hợp đồng</a:t>
            </a:r>
          </a:p>
        </p:txBody>
      </p:sp>
      <p:sp>
        <p:nvSpPr>
          <p:cNvPr id="24" name="Oval 23"/>
          <p:cNvSpPr/>
          <p:nvPr/>
        </p:nvSpPr>
        <p:spPr>
          <a:xfrm>
            <a:off x="8974836" y="3465576"/>
            <a:ext cx="384048" cy="384048"/>
          </a:xfrm>
          <a:prstGeom prst="ellipse">
            <a:avLst/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eceipt-text_00A7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247" y="3551987"/>
            <a:ext cx="211226" cy="21122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23960" y="38862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Bồi thường</a:t>
            </a:r>
          </a:p>
        </p:txBody>
      </p:sp>
      <p:sp>
        <p:nvSpPr>
          <p:cNvPr id="27" name="Oval 26"/>
          <p:cNvSpPr/>
          <p:nvPr/>
        </p:nvSpPr>
        <p:spPr>
          <a:xfrm>
            <a:off x="9660636" y="3465576"/>
            <a:ext cx="384048" cy="384048"/>
          </a:xfrm>
          <a:prstGeom prst="ellipse">
            <a:avLst/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wallet_00A7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047" y="3551987"/>
            <a:ext cx="211226" cy="21122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09760" y="38862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Đóng phí</a:t>
            </a:r>
          </a:p>
        </p:txBody>
      </p:sp>
      <p:sp>
        <p:nvSpPr>
          <p:cNvPr id="30" name="Oval 29"/>
          <p:cNvSpPr/>
          <p:nvPr/>
        </p:nvSpPr>
        <p:spPr>
          <a:xfrm>
            <a:off x="8289036" y="4334256"/>
            <a:ext cx="384048" cy="384048"/>
          </a:xfrm>
          <a:prstGeom prst="ellipse">
            <a:avLst/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hospital_00A7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447" y="4420667"/>
            <a:ext cx="211226" cy="21122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138160" y="475488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Bệnh viện</a:t>
            </a:r>
          </a:p>
        </p:txBody>
      </p:sp>
      <p:sp>
        <p:nvSpPr>
          <p:cNvPr id="33" name="Oval 32"/>
          <p:cNvSpPr/>
          <p:nvPr/>
        </p:nvSpPr>
        <p:spPr>
          <a:xfrm>
            <a:off x="8974836" y="4334256"/>
            <a:ext cx="384048" cy="384048"/>
          </a:xfrm>
          <a:prstGeom prst="ellipse">
            <a:avLst/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alendar_00A75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1247" y="4420667"/>
            <a:ext cx="211226" cy="21122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23960" y="475488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Đặt lịch</a:t>
            </a:r>
          </a:p>
        </p:txBody>
      </p:sp>
      <p:sp>
        <p:nvSpPr>
          <p:cNvPr id="36" name="Oval 35"/>
          <p:cNvSpPr/>
          <p:nvPr/>
        </p:nvSpPr>
        <p:spPr>
          <a:xfrm>
            <a:off x="9660636" y="4334256"/>
            <a:ext cx="384048" cy="384048"/>
          </a:xfrm>
          <a:prstGeom prst="ellipse">
            <a:avLst/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headset_00A75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7047" y="4420667"/>
            <a:ext cx="211226" cy="21122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509760" y="475488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Hỗ trợ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5303520"/>
            <a:ext cx="2057400" cy="347472"/>
          </a:xfrm>
          <a:prstGeom prst="roundRect">
            <a:avLst>
              <a:gd name="adj" fmla="val 21052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38160" y="5760720"/>
            <a:ext cx="2057400" cy="347472"/>
          </a:xfrm>
          <a:prstGeom prst="roundRect">
            <a:avLst>
              <a:gd name="adj" fmla="val 21052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1" name="Picture 40" descr="circle-check_00A7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1938528"/>
            <a:ext cx="329184" cy="3291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51560" y="178308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Tra cứu hợp đồng</a:t>
            </a: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: quyền lợi, phí và giá trị tài khoản</a:t>
            </a:r>
          </a:p>
        </p:txBody>
      </p:sp>
      <p:pic>
        <p:nvPicPr>
          <p:cNvPr id="43" name="Picture 42" descr="circle-check_00A7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651760"/>
            <a:ext cx="329184" cy="32918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1560" y="2496312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Yêu cầu bồi thường online</a:t>
            </a: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: chụp hóa đơn, nhận tiền trong 24 giờ</a:t>
            </a:r>
          </a:p>
        </p:txBody>
      </p:sp>
      <p:pic>
        <p:nvPicPr>
          <p:cNvPr id="45" name="Picture 44" descr="circle-check_00A7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364992"/>
            <a:ext cx="329184" cy="3291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51560" y="3209544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Đóng phí linh hoạt</a:t>
            </a: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: thẻ, ví điện tử, chuyển khoản tự động</a:t>
            </a:r>
          </a:p>
        </p:txBody>
      </p:sp>
      <p:pic>
        <p:nvPicPr>
          <p:cNvPr id="47" name="Picture 46" descr="circle-check_00A7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4078224"/>
            <a:ext cx="329184" cy="3291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51560" y="3922776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A758"/>
                </a:solidFill>
                <a:latin typeface="Be Vietnam Pro"/>
                <a:ea typeface="Be Vietnam Pro"/>
                <a:cs typeface="Be Vietnam Pro"/>
              </a:rPr>
              <a:t>Đặt lịch khám</a:t>
            </a:r>
            <a:r>
              <a:rPr sz="12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: kết nối hơn 300 bệnh viện, phòng khám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1" grpId="0" animBg="1"/>
      <p:bldP spid="12" grpId="0" animBg="1"/>
      <p:bldP spid="13" grpId="0" animBg="1"/>
      <p:bldP spid="8" grpId="0" animBg="1"/>
      <p:bldP spid="14" grpId="0" animBg="1"/>
      <p:bldP spid="15" grpId="0" animBg="1"/>
      <p:bldP spid="9" grpId="0" animBg="1"/>
      <p:bldP spid="16" grpId="0" animBg="1"/>
      <p:bldP spid="17" grpId="0" animBg="1"/>
      <p:bldP spid="18" grpId="0" animBg="1"/>
      <p:bldP spid="10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42" grpId="0" animBg="1"/>
      <p:bldP spid="32" grpId="0" animBg="1"/>
      <p:bldP spid="33" grpId="0" animBg="1"/>
      <p:bldP spid="35" grpId="0" animBg="1"/>
      <p:bldP spid="36" grpId="0" animBg="1"/>
      <p:bldP spid="44" grpId="0" animBg="1"/>
      <p:bldP spid="38" grpId="0" animBg="1"/>
      <p:bldP spid="39" grpId="0" animBg="1"/>
      <p:bldP spid="40" grpId="0" animBg="1"/>
      <p:bldP spid="46" grpId="0" animBg="1"/>
      <p:bldP spid="4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NHỮNG CON SỐ ẤN TƯỢNG</a:t>
            </a:r>
          </a:p>
        </p:txBody>
      </p:sp>
      <p:sp>
        <p:nvSpPr>
          <p:cNvPr id="8" name="!!bar"/>
          <p:cNvSpPr/>
          <p:nvPr/>
        </p:nvSpPr>
        <p:spPr>
          <a:xfrm>
            <a:off x="6019046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CAM KẾT BẰNG HÀNH ĐỘNG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15</a:t>
            </a:r>
          </a:p>
        </p:txBody>
      </p:sp>
      <p:pic>
        <p:nvPicPr>
          <p:cNvPr id="11" name="!!ph1" descr="56fd536256dae19b.jpg"/>
          <p:cNvPicPr>
            <a:picLocks noChangeAspect="1"/>
          </p:cNvPicPr>
          <p:nvPr/>
        </p:nvPicPr>
        <p:blipFill>
          <a:blip r:embed="rId3"/>
          <a:srcRect b="28951"/>
          <a:stretch>
            <a:fillRect/>
          </a:stretch>
        </p:blipFill>
        <p:spPr>
          <a:xfrm>
            <a:off x="7436815" y="1691640"/>
            <a:ext cx="4206240" cy="4480560"/>
          </a:xfrm>
          <a:prstGeom prst="parallelogram">
            <a:avLst>
              <a:gd name="adj" fmla="val 22500"/>
            </a:avLst>
          </a:prstGeom>
          <a:effectLst>
            <a:outerShdw blurRad="274320" dist="73152" dir="5400000" algn="ctr" rotWithShape="0">
              <a:srgbClr val="0B1F4D">
                <a:alpha val="22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548640" y="1691640"/>
            <a:ext cx="3169768" cy="2103120"/>
          </a:xfrm>
          <a:prstGeom prst="roundRect">
            <a:avLst>
              <a:gd name="adj" fmla="val 6086"/>
            </a:avLst>
          </a:prstGeom>
          <a:solidFill>
            <a:srgbClr val="00A758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3" name="Picture 12" descr="clock-3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2423160"/>
            <a:ext cx="2712568" cy="777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24</a:t>
            </a:r>
            <a:r>
              <a:rPr sz="18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 giờ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27125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Be Vietnam Pro"/>
                <a:ea typeface="Be Vietnam Pro"/>
                <a:cs typeface="Be Vietnam Pro"/>
              </a:rPr>
              <a:t>thời gian giải quyết bồi thường trung bình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92728" y="1691640"/>
            <a:ext cx="3169768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" name="Picture 16" descr="hospital_00A7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48" y="1965960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67048" y="2423160"/>
            <a:ext cx="2712568" cy="777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300</a:t>
            </a:r>
            <a:r>
              <a:rPr sz="18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048" y="3200400"/>
            <a:ext cx="27125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bệnh viện bảo lãnh viện phí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23360"/>
            <a:ext cx="3169768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Picture 20" descr="user-round-check_00A7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97680"/>
            <a:ext cx="411480" cy="411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2960" y="4754880"/>
            <a:ext cx="2712568" cy="777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98</a:t>
            </a:r>
            <a:r>
              <a:rPr sz="18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27125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73A2A"/>
                </a:solidFill>
                <a:latin typeface="Be Vietnam Pro"/>
                <a:ea typeface="Be Vietnam Pro"/>
                <a:cs typeface="Be Vietnam Pro"/>
              </a:rPr>
              <a:t>khách hàng hài lòng với dịch vụ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92728" y="4023360"/>
            <a:ext cx="3169768" cy="2103120"/>
          </a:xfrm>
          <a:prstGeom prst="roundRect">
            <a:avLst>
              <a:gd name="adj" fmla="val 6086"/>
            </a:avLst>
          </a:prstGeom>
          <a:solidFill>
            <a:srgbClr val="00A758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5" name="Picture 24" descr="heads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48" y="4297680"/>
            <a:ext cx="411480" cy="4114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67048" y="4754880"/>
            <a:ext cx="2712568" cy="777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24/7</a:t>
            </a:r>
            <a:r>
              <a:rPr sz="18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7048" y="5532120"/>
            <a:ext cx="27125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Be Vietnam Pro"/>
                <a:ea typeface="Be Vietnam Pro"/>
                <a:cs typeface="Be Vietnam Pro"/>
              </a:rPr>
              <a:t>tổng đài chăm sóc khách hàng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logo_bar0"/>
          <p:cNvSpPr/>
          <p:nvPr/>
        </p:nvSpPr>
        <p:spPr>
          <a:xfrm>
            <a:off x="9956444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logo_bar1"/>
          <p:cNvSpPr/>
          <p:nvPr/>
        </p:nvSpPr>
        <p:spPr>
          <a:xfrm>
            <a:off x="10075316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logo_bar2"/>
          <p:cNvSpPr/>
          <p:nvPr/>
        </p:nvSpPr>
        <p:spPr>
          <a:xfrm>
            <a:off x="10194188" y="329184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logo_name"/>
          <p:cNvSpPr txBox="1"/>
          <p:nvPr/>
        </p:nvSpPr>
        <p:spPr>
          <a:xfrm>
            <a:off x="10505084" y="292608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  <p:sp>
        <p:nvSpPr>
          <p:cNvPr id="7" name="!!ttl"/>
          <p:cNvSpPr txBox="1"/>
          <p:nvPr/>
        </p:nvSpPr>
        <p:spPr>
          <a:xfrm>
            <a:off x="548640" y="365760"/>
            <a:ext cx="8686800" cy="566928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QUYỀN LỢI ĐÃ CHI TRẢ</a:t>
            </a:r>
          </a:p>
        </p:txBody>
      </p:sp>
      <p:sp>
        <p:nvSpPr>
          <p:cNvPr id="8" name="!!bar"/>
          <p:cNvSpPr/>
          <p:nvPr/>
        </p:nvSpPr>
        <p:spPr>
          <a:xfrm>
            <a:off x="5230346" y="566928"/>
            <a:ext cx="502920" cy="146304"/>
          </a:xfrm>
          <a:prstGeom prst="parallelogram">
            <a:avLst>
              <a:gd name="adj" fmla="val 60000"/>
            </a:avLst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sub"/>
          <p:cNvSpPr txBox="1"/>
          <p:nvPr/>
        </p:nvSpPr>
        <p:spPr>
          <a:xfrm>
            <a:off x="548640" y="932688"/>
            <a:ext cx="8686800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A758"/>
                </a:solidFill>
                <a:latin typeface="Be Vietnam Pro SemiBold"/>
                <a:ea typeface="Be Vietnam Pro SemiBold"/>
                <a:cs typeface="Be Vietnam Pro SemiBold"/>
              </a:rPr>
              <a:t>TĂNG TRƯỞNG QUA CÁC NĂM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92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A096"/>
                </a:solidFill>
                <a:latin typeface="Be Vietnam Pro SemiBold"/>
                <a:ea typeface="Be Vietnam Pro SemiBold"/>
                <a:cs typeface="Be Vietnam Pro SemiBold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731520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77240" y="1874520"/>
          <a:ext cx="685800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2960" y="580644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1">
                <a:solidFill>
                  <a:srgbClr val="8FA096"/>
                </a:solidFill>
                <a:latin typeface="Be Vietnam Pro"/>
                <a:ea typeface="Be Vietnam Pro"/>
                <a:cs typeface="Be Vietnam Pro"/>
              </a:rPr>
              <a:t>Số liệu minh họa.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504895" cy="1371600"/>
          </a:xfrm>
          <a:prstGeom prst="roundRect">
            <a:avLst>
              <a:gd name="adj" fmla="val 9333"/>
            </a:avLst>
          </a:prstGeom>
          <a:solidFill>
            <a:srgbClr val="00A758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01368"/>
            <a:ext cx="304769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3.200</a:t>
            </a:r>
            <a:r>
              <a:rPr sz="15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 tỷ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3047695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Be Vietnam Pro"/>
                <a:ea typeface="Be Vietnam Pro"/>
                <a:cs typeface="Be Vietnam Pro"/>
              </a:rPr>
              <a:t>chi trả cho khách hàng năm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246120"/>
            <a:ext cx="3504895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355848"/>
            <a:ext cx="304769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210.000</a:t>
            </a:r>
            <a:r>
              <a:rPr sz="15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023360"/>
            <a:ext cx="3047695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hồ sơ bồi thường được giải quyết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800600"/>
            <a:ext cx="3504895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>
            <a:noFill/>
          </a:ln>
          <a:effectLst>
            <a:outerShdw blurRad="256032" dist="54864" dir="5400000" algn="ctr" rotWithShape="0">
              <a:srgbClr val="0B1F4D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910328"/>
            <a:ext cx="3047695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21</a:t>
            </a:r>
            <a:r>
              <a:rPr sz="1500" b="0" i="0">
                <a:solidFill>
                  <a:srgbClr val="00A758"/>
                </a:solidFill>
                <a:latin typeface="Be Vietnam Pro ExtraBold"/>
                <a:ea typeface="Be Vietnam Pro ExtraBold"/>
                <a:cs typeface="Be Vietnam Pro ExtraBold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577840"/>
            <a:ext cx="3047695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tăng trưởng bình quân mỗi năm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1" grpId="0" animBg="1"/>
      <p:bldP spid="8" grpId="0" animBg="1"/>
      <p:bldP spid="9" grpId="0" animBg="1"/>
      <p:bldP spid="10" grpId="0" animBg="1"/>
      <p:bldGraphic spid="12" grpId="0">
        <p:bldAsOne/>
      </p:bldGraphic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13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C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cover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ph1" descr="cc7b92aa78672445.jpg"/>
          <p:cNvPicPr>
            <a:picLocks noChangeAspect="1"/>
          </p:cNvPicPr>
          <p:nvPr/>
        </p:nvPicPr>
        <p:blipFill>
          <a:blip r:embed="rId3"/>
          <a:srcRect b="19315"/>
          <a:stretch>
            <a:fillRect/>
          </a:stretch>
        </p:blipFill>
        <p:spPr>
          <a:xfrm>
            <a:off x="6583680" y="0"/>
            <a:ext cx="5669280" cy="6858000"/>
          </a:xfrm>
          <a:prstGeom prst="parallelogram">
            <a:avLst>
              <a:gd name="adj" fmla="val 22500"/>
            </a:avLst>
          </a:prstGeom>
          <a:effectLst>
            <a:outerShdw blurRad="274320" dist="73152" dir="5400000" algn="ctr" rotWithShape="0">
              <a:srgbClr val="0B1F4D">
                <a:alpha val="22000"/>
              </a:srgbClr>
            </a:outerShdw>
          </a:effectLst>
        </p:spPr>
      </p:pic>
      <p:sp>
        <p:nvSpPr>
          <p:cNvPr id="4" name="!!l2"/>
          <p:cNvSpPr txBox="1"/>
          <p:nvPr/>
        </p:nvSpPr>
        <p:spPr>
          <a:xfrm>
            <a:off x="548640" y="1463040"/>
            <a:ext cx="6400800" cy="1056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400" b="0" i="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XIN CẢM 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968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1">
                <a:solidFill>
                  <a:srgbClr val="E8F7EE"/>
                </a:solidFill>
                <a:latin typeface="Be Vietnam Pro"/>
                <a:ea typeface="Be Vietnam Pro"/>
                <a:cs typeface="Be Vietnam Pro"/>
              </a:rPr>
              <a:t>Vững tâm hôm nay – Vững vàng ngày mai</a:t>
            </a:r>
          </a:p>
        </p:txBody>
      </p:sp>
      <p:pic>
        <p:nvPicPr>
          <p:cNvPr id="6" name="Picture 5" descr="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28416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3291840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Tổng đài: 1800 0000 (miễn phí)</a:t>
            </a:r>
          </a:p>
        </p:txBody>
      </p:sp>
      <p:pic>
        <p:nvPicPr>
          <p:cNvPr id="8" name="Picture 7" descr="mai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0390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376732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chamsoc@tencongty.vn</a:t>
            </a:r>
          </a:p>
        </p:txBody>
      </p:sp>
      <p:pic>
        <p:nvPicPr>
          <p:cNvPr id="10" name="Picture 9" descr="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279392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4242816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www.tencongty.vn</a:t>
            </a:r>
          </a:p>
        </p:txBody>
      </p:sp>
      <p:pic>
        <p:nvPicPr>
          <p:cNvPr id="12" name="Picture 11" descr="map-pi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754880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5840" y="4718304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e Vietnam Pro SemiBold"/>
                <a:ea typeface="Be Vietnam Pro SemiBold"/>
                <a:cs typeface="Be Vietnam Pro SemiBold"/>
              </a:rPr>
              <a:t>Tầng 8, Tòa nhà ABC, Quận 3, TP. Hồ Chí Minh</a:t>
            </a:r>
          </a:p>
        </p:txBody>
      </p:sp>
      <p:sp>
        <p:nvSpPr>
          <p:cNvPr id="14" name="!!logo_bar0"/>
          <p:cNvSpPr/>
          <p:nvPr/>
        </p:nvSpPr>
        <p:spPr>
          <a:xfrm>
            <a:off x="548640" y="448056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ogo_bar1"/>
          <p:cNvSpPr/>
          <p:nvPr/>
        </p:nvSpPr>
        <p:spPr>
          <a:xfrm>
            <a:off x="667512" y="448056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logo_bar2"/>
          <p:cNvSpPr/>
          <p:nvPr/>
        </p:nvSpPr>
        <p:spPr>
          <a:xfrm>
            <a:off x="786384" y="448056"/>
            <a:ext cx="82296" cy="347472"/>
          </a:xfrm>
          <a:prstGeom prst="parallelogram">
            <a:avLst>
              <a:gd name="adj" fmla="val 4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logo_name"/>
          <p:cNvSpPr txBox="1"/>
          <p:nvPr/>
        </p:nvSpPr>
        <p:spPr>
          <a:xfrm>
            <a:off x="1097280" y="411480"/>
            <a:ext cx="121112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150">
                <a:solidFill>
                  <a:srgbClr val="FFFFFF"/>
                </a:solidFill>
                <a:latin typeface="Be Vietnam Pro ExtraBold"/>
                <a:ea typeface="Be Vietnam Pro ExtraBold"/>
                <a:cs typeface="Be Vietnam Pro ExtraBold"/>
              </a:rPr>
              <a:t>AN TÂM LIFE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4" grpId="0" animBg="1"/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g" descr="light_00A7580A5C36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73A2A"/>
                </a:solidFill>
                <a:latin typeface="Be Vietnam Pro ExtraBold"/>
                <a:ea typeface="Be Vietnam Pro ExtraBold"/>
                <a:cs typeface="Be Vietnam Pro ExtraBold"/>
              </a:rPr>
              <a:t>NGUỒN HÌNH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8FA096"/>
                </a:solidFill>
                <a:latin typeface="Be Vietnam Pro"/>
                <a:ea typeface="Be Vietnam Pro"/>
                <a:cs typeface="Be Vietnam Pro"/>
              </a:rPr>
              <a:t>Slide ẩn — không hiển thị khi trình chiếu. Ảnh: bộ dữ liệu Open Images (Google), giấy phép CC BY 2.0; chân dung được tách nền từ ảnh. Icon: Lucide (ISC). Font: Be Vietnam Pro, Great Vibes (SIL OFL).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Nurse — Walt Stoneburner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Ylva Sarby Westman — Kungsleden AB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Bryce at The Beach 024 — Kyle West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SZOCT-19 — Jornny Liu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becca wedding 25 — paulshaffner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Amor de Vó — Ana Carina Lauriano ╰★╮ (Flickr, CC BY 2.0)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0020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Untitled — regienbb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Mustards in Yountville, CA (I got really ill f — Gibson Verkuil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Church Tree — Craig Pennington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textureMT2Z7910 — Association  Audiography (Flickr, CC BY 2.0)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C5A52"/>
                </a:solidFill>
                <a:latin typeface="Be Vietnam Pro"/>
                <a:ea typeface="Be Vietnam Pro"/>
                <a:cs typeface="Be Vietnam Pro"/>
              </a:rPr>
              <a:t>• Blam! — flikr (Flickr, CC BY 2.0)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