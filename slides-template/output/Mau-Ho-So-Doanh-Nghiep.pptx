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Doanh thu (tỷ đồng)</c:v>
                </c:pt>
              </c:strCache>
            </c:strRef>
          </c:tx>
          <c:spPr>
            <a:solidFill>
              <a:srgbClr val="1F4FD8"/>
            </a:solidFill>
          </c:spPr>
          <c:invertIfNegative val="0"/>
          <c:cat>
            <c:strRef>
              <c:f>Sheet1!$A$2:$A$6</c:f>
              <c:strCache>
                <c:ptCount val="5"/>
                <c:pt idx="0">
                  <c:v>2021</c:v>
                </c:pt>
                <c:pt idx="1">
                  <c:v>2022</c:v>
                </c:pt>
                <c:pt idx="2">
                  <c:v>2023</c:v>
                </c:pt>
                <c:pt idx="3">
                  <c:v>2024</c:v>
                </c:pt>
                <c:pt idx="4">
                  <c:v>2025</c:v>
                </c:pt>
              </c:strCache>
            </c:strRef>
          </c:cat>
          <c:val>
            <c:numRef>
              <c:f>Sheet1!$B$2:$B$6</c:f>
              <c:numCache>
                <c:formatCode>General</c:formatCode>
                <c:ptCount val="5"/>
                <c:pt idx="0">
                  <c:v>8200</c:v>
                </c:pt>
                <c:pt idx="1">
                  <c:v>9600</c:v>
                </c:pt>
                <c:pt idx="2">
                  <c:v>11300</c:v>
                </c:pt>
                <c:pt idx="3">
                  <c:v>12800</c:v>
                </c:pt>
                <c:pt idx="4">
                  <c:v>14500</c:v>
                </c:pt>
              </c:numCache>
            </c:numRef>
          </c:val>
        </c:ser>
        <c:ser>
          <c:idx val="1"/>
          <c:order val="1"/>
          <c:tx>
            <c:strRef>
              <c:f>Sheet1!$C$1</c:f>
              <c:strCache>
                <c:ptCount val="1"/>
                <c:pt idx="0">
                  <c:v>Lợi nhuận sau thuế (tỷ đồng)</c:v>
                </c:pt>
              </c:strCache>
            </c:strRef>
          </c:tx>
          <c:spPr>
            <a:solidFill>
              <a:srgbClr val="3FA9FF"/>
            </a:solidFill>
          </c:spPr>
          <c:invertIfNegative val="0"/>
          <c:cat>
            <c:strRef>
              <c:f>Sheet1!$A$2:$A$6</c:f>
              <c:strCache>
                <c:ptCount val="5"/>
                <c:pt idx="0">
                  <c:v>2021</c:v>
                </c:pt>
                <c:pt idx="1">
                  <c:v>2022</c:v>
                </c:pt>
                <c:pt idx="2">
                  <c:v>2023</c:v>
                </c:pt>
                <c:pt idx="3">
                  <c:v>2024</c:v>
                </c:pt>
                <c:pt idx="4">
                  <c:v>2025</c:v>
                </c:pt>
              </c:strCache>
            </c:strRef>
          </c:cat>
          <c:val>
            <c:numRef>
              <c:f>Sheet1!$C$2:$C$6</c:f>
              <c:numCache>
                <c:formatCode>General</c:formatCode>
                <c:ptCount val="5"/>
                <c:pt idx="0">
                  <c:v>310</c:v>
                </c:pt>
                <c:pt idx="1">
                  <c:v>380</c:v>
                </c:pt>
                <c:pt idx="2">
                  <c:v>450</c:v>
                </c:pt>
                <c:pt idx="3">
                  <c:v>520</c:v>
                </c:pt>
                <c:pt idx="4">
                  <c:v>610</c:v>
                </c:pt>
              </c:numCache>
            </c:numRef>
          </c:val>
        </c:ser>
        <c:dLbls>
          <c:numFmt formatCode="#,##0" sourceLinked="0"/>
          <c:txPr>
            <a:bodyPr/>
            <a:lstStyle/>
            <a:p>
              <a:pPr>
                <a:defRPr sz="1050" b="1">
                  <a:solidFill>
                    <a:srgbClr val="0B1F4D"/>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w="9525">
            <a:solidFill>
              <a:srgbClr val="D5DEEE"/>
            </a:solidFill>
          </a:ln>
        </c:spPr>
        <c:txPr>
          <a:bodyPr/>
          <a:lstStyle/>
          <a:p>
            <a:pPr>
              <a:defRPr sz="1050">
                <a:solidFill>
                  <a:srgbClr val="8A97B5"/>
                </a:solidFill>
                <a:latin typeface="Montserrat"/>
              </a:defRPr>
            </a:pPr>
          </a:p>
        </c:txPr>
        <c:crossAx val="-2113994440"/>
        <c:crosses val="autoZero"/>
        <c:auto val="1"/>
        <c:lblAlgn val="ctr"/>
        <c:lblOffset val="100"/>
        <c:noMultiLvlLbl val="0"/>
      </c:catAx>
      <c:valAx>
        <c:axId val="-2113994440"/>
        <c:scaling>
          <c:min val="0.0"/>
        </c:scaling>
        <c:delete val="0"/>
        <c:axPos val="l"/>
        <c:majorGridlines>
          <c:spPr>
            <a:ln w="7620">
              <a:solidFill>
                <a:srgbClr val="D5DEEE"/>
              </a:solidFill>
            </a:ln>
          </c:spPr>
        </c:majorGridlines>
        <c:numFmt formatCode="#,##0" sourceLinked="0"/>
        <c:majorTickMark val="out"/>
        <c:minorTickMark val="none"/>
        <c:tickLblPos val="nextTo"/>
        <c:spPr>
          <a:ln>
            <a:noFill/>
          </a:ln>
        </c:spPr>
        <c:txPr>
          <a:bodyPr/>
          <a:lstStyle/>
          <a:p>
            <a:pPr>
              <a:defRPr sz="1050">
                <a:solidFill>
                  <a:srgbClr val="8A97B5"/>
                </a:solidFill>
                <a:latin typeface="Montserrat"/>
              </a:defRPr>
            </a:pPr>
          </a:p>
        </c:txPr>
        <c:crossAx val="-2068027336"/>
        <c:crosses val="autoZero"/>
      </c:valAx>
    </c:plotArea>
    <c:legend>
      <c:legendPos val="b"/>
      <c:overlay val="0"/>
      <c:txPr>
        <a:bodyPr/>
        <a:lstStyle/>
        <a:p>
          <a:pPr>
            <a:defRPr sz="1050">
              <a:solidFill>
                <a:srgbClr val="8A97B5"/>
              </a:solidFill>
            </a:defRPr>
          </a:pPr>
        </a:p>
      </c:txPr>
    </c:legend>
    <c:dispBlanksAs val="gap"/>
  </c:chart>
  <c:spPr>
    <a:noFill/>
    <a:ln>
      <a:noFill/>
    </a:ln>
  </c:spPr>
  <c:txPr>
    <a:bodyPr/>
    <a:lstStyle/>
    <a:p>
      <a:pPr>
        <a:defRPr sz="1050">
          <a:solidFill>
            <a:srgbClr val="8A97B5"/>
          </a:solidFill>
          <a:latin typeface="Be Vietnam Pr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bìa. Tên doanh nghiệp, nhân sự và số liệu là MINH HỌA — thay bằng hồ sơ năng lực thật.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8.jp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4.jp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image" Target="../media/image18.jpg"/><Relationship Id="rId5" Type="http://schemas.openxmlformats.org/officeDocument/2006/relationships/image" Target="../media/image9.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4.jpg"/><Relationship Id="rId5" Type="http://schemas.openxmlformats.org/officeDocument/2006/relationships/image" Target="../media/image25.jpg"/><Relationship Id="rId6" Type="http://schemas.openxmlformats.org/officeDocument/2006/relationships/image" Target="../media/image2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27.jp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1A5E"/>
        </a:solidFill>
        <a:effectLst/>
      </p:bgPr>
    </p:bg>
    <p:spTree>
      <p:nvGrpSpPr>
        <p:cNvPr id="1" name=""/>
        <p:cNvGrpSpPr/>
        <p:nvPr/>
      </p:nvGrpSpPr>
      <p:grpSpPr/>
      <p:pic>
        <p:nvPicPr>
          <p:cNvPr id="2" name="!!bg" descr="cover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emblem" descr="emblem_K_1F4FD8061A5E.png"/>
          <p:cNvPicPr>
            <a:picLocks noChangeAspect="1"/>
          </p:cNvPicPr>
          <p:nvPr/>
        </p:nvPicPr>
        <p:blipFill>
          <a:blip r:embed="rId3"/>
          <a:srcRect/>
          <a:stretch>
            <a:fillRect/>
          </a:stretch>
        </p:blipFill>
        <p:spPr>
          <a:xfrm>
            <a:off x="6766560" y="822960"/>
            <a:ext cx="5120640" cy="5120640"/>
          </a:xfrm>
          <a:prstGeom prst="rect">
            <a:avLst/>
          </a:prstGeom>
        </p:spPr>
      </p:pic>
      <p:sp>
        <p:nvSpPr>
          <p:cNvPr id="4" name="!!kicker"/>
          <p:cNvSpPr/>
          <p:nvPr/>
        </p:nvSpPr>
        <p:spPr>
          <a:xfrm>
            <a:off x="548640" y="1143000"/>
            <a:ext cx="2326233" cy="329184"/>
          </a:xfrm>
          <a:prstGeom prst="roundRect">
            <a:avLst>
              <a:gd name="adj" fmla="val 50000"/>
            </a:avLst>
          </a:prstGeom>
          <a:solidFill>
            <a:srgbClr val="3FA9FF"/>
          </a:solidFill>
          <a:ln>
            <a:noFill/>
          </a:ln>
          <a:effectLst/>
        </p:spPr>
        <p:style>
          <a:lnRef idx="1">
            <a:schemeClr val="accent1"/>
          </a:lnRef>
          <a:fillRef idx="3">
            <a:schemeClr val="accent1"/>
          </a:fillRef>
          <a:effectRef idx="0">
            <a:schemeClr val="accent1"/>
          </a:effectRef>
          <a:fontRef idx="minor">
            <a:schemeClr val="lt1"/>
          </a:fontRef>
        </p:style>
        <p:txBody>
          <a:bodyPr rtlCol="0" anchor="ctr" tIns="18288" bIns="18288" wrap="square"/>
          <a:lstStyle/>
          <a:p>
            <a:pPr algn="ctr"/>
            <a:r>
              <a:rPr sz="1000" b="0" i="0" spc="150">
                <a:solidFill>
                  <a:srgbClr val="061A5E"/>
                </a:solidFill>
                <a:latin typeface="Be Vietnam Pro SemiBold"/>
                <a:ea typeface="Be Vietnam Pro SemiBold"/>
                <a:cs typeface="Be Vietnam Pro SemiBold"/>
              </a:rPr>
              <a:t>HỒ SƠ NĂNG LỰC 2026</a:t>
            </a:r>
          </a:p>
        </p:txBody>
      </p:sp>
      <p:sp>
        <p:nvSpPr>
          <p:cNvPr id="5" name="!!l1"/>
          <p:cNvSpPr txBox="1"/>
          <p:nvPr/>
        </p:nvSpPr>
        <p:spPr>
          <a:xfrm>
            <a:off x="548640" y="1828800"/>
            <a:ext cx="6035040" cy="457200"/>
          </a:xfrm>
          <a:prstGeom prst="rect">
            <a:avLst/>
          </a:prstGeom>
          <a:noFill/>
        </p:spPr>
        <p:txBody>
          <a:bodyPr wrap="none" lIns="0" rIns="0" tIns="0" bIns="0" anchor="t">
            <a:noAutofit/>
          </a:bodyPr>
          <a:lstStyle/>
          <a:p>
            <a:pPr algn="l"/>
            <a:r>
              <a:rPr sz="2000" b="0" i="0">
                <a:solidFill>
                  <a:srgbClr val="FFFFFF"/>
                </a:solidFill>
                <a:latin typeface="Lexend Exa Medium"/>
                <a:ea typeface="Lexend Exa Medium"/>
                <a:cs typeface="Lexend Exa Medium"/>
              </a:rPr>
              <a:t>TỔNG CÔNG TY XÂY DỰNG</a:t>
            </a:r>
          </a:p>
        </p:txBody>
      </p:sp>
      <p:sp>
        <p:nvSpPr>
          <p:cNvPr id="6" name="!!l2"/>
          <p:cNvSpPr txBox="1"/>
          <p:nvPr/>
        </p:nvSpPr>
        <p:spPr>
          <a:xfrm>
            <a:off x="548640" y="2286000"/>
            <a:ext cx="6400800" cy="990600"/>
          </a:xfrm>
          <a:prstGeom prst="rect">
            <a:avLst/>
          </a:prstGeom>
          <a:noFill/>
        </p:spPr>
        <p:txBody>
          <a:bodyPr wrap="none" lIns="0" rIns="0" tIns="0" bIns="0" anchor="t">
            <a:noAutofit/>
          </a:bodyPr>
          <a:lstStyle/>
          <a:p>
            <a:pPr algn="l">
              <a:lnSpc>
                <a:spcPct val="100000"/>
              </a:lnSpc>
            </a:pPr>
            <a:r>
              <a:rPr sz="6000" b="1" i="0">
                <a:solidFill>
                  <a:srgbClr val="FFFFFF"/>
                </a:solidFill>
                <a:effectLst>
                  <a:glow rad="109728">
                    <a:srgbClr val="3FA9FF">
                      <a:alpha val="35000"/>
                    </a:srgbClr>
                  </a:glow>
                </a:effectLst>
                <a:latin typeface="Lexend Exa"/>
                <a:ea typeface="Lexend Exa"/>
                <a:cs typeface="Lexend Exa"/>
              </a:rPr>
              <a:t>KIẾN TẠO</a:t>
            </a:r>
          </a:p>
        </p:txBody>
      </p:sp>
      <p:sp>
        <p:nvSpPr>
          <p:cNvPr id="7" name="TextBox 6"/>
          <p:cNvSpPr txBox="1"/>
          <p:nvPr/>
        </p:nvSpPr>
        <p:spPr>
          <a:xfrm>
            <a:off x="548640" y="3368040"/>
            <a:ext cx="5852160" cy="457200"/>
          </a:xfrm>
          <a:prstGeom prst="rect">
            <a:avLst/>
          </a:prstGeom>
          <a:noFill/>
        </p:spPr>
        <p:txBody>
          <a:bodyPr wrap="square" lIns="0" rIns="0" tIns="0" bIns="0" anchor="t">
            <a:noAutofit/>
          </a:bodyPr>
          <a:lstStyle/>
          <a:p>
            <a:pPr algn="l"/>
            <a:r>
              <a:rPr sz="1400" b="0" i="0">
                <a:solidFill>
                  <a:srgbClr val="E6EEFF"/>
                </a:solidFill>
                <a:latin typeface="Be Vietnam Pro"/>
                <a:ea typeface="Be Vietnam Pro"/>
                <a:cs typeface="Be Vietnam Pro"/>
              </a:rPr>
              <a:t>Kiến tạo giá trị bền vững – Vươn tầm khu vực</a:t>
            </a:r>
          </a:p>
        </p:txBody>
      </p:sp>
      <p:sp>
        <p:nvSpPr>
          <p:cNvPr id="8" name="TextBox 7"/>
          <p:cNvSpPr txBox="1"/>
          <p:nvPr/>
        </p:nvSpPr>
        <p:spPr>
          <a:xfrm>
            <a:off x="548640" y="6035040"/>
            <a:ext cx="6400800" cy="365760"/>
          </a:xfrm>
          <a:prstGeom prst="rect">
            <a:avLst/>
          </a:prstGeom>
          <a:noFill/>
        </p:spPr>
        <p:txBody>
          <a:bodyPr wrap="square" lIns="0" rIns="0" tIns="0" bIns="0" anchor="t">
            <a:noAutofit/>
          </a:bodyPr>
          <a:lstStyle/>
          <a:p>
            <a:pPr algn="l"/>
            <a:r>
              <a:rPr sz="1100" b="0" i="0">
                <a:solidFill>
                  <a:srgbClr val="C9D6F5"/>
                </a:solidFill>
                <a:latin typeface="Be Vietnam Pro SemiBold"/>
                <a:ea typeface="Be Vietnam Pro SemiBold"/>
                <a:cs typeface="Be Vietnam Pro SemiBold"/>
              </a:rPr>
              <a:t>Ban Điều hành  ·  Tháng 10/2026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ppt_w</p:attrName>
                                        </p:attrNameLst>
                                      </p:cBhvr>
                                      <p:tavLst>
                                        <p:tav tm="0">
                                          <p:val>
                                            <p:strVal val="#ppt_w*0.7"/>
                                          </p:val>
                                        </p:tav>
                                        <p:tav tm="100000">
                                          <p:val>
                                            <p:strVal val="#ppt_w"/>
                                          </p:val>
                                        </p:tav>
                                      </p:tavLst>
                                    </p:anim>
                                    <p:anim calcmode="lin" valueType="num">
                                      <p:cBhvr additive="base">
                                        <p:cTn id="8" dur="1000" fill="hold"/>
                                        <p:tgtEl>
                                          <p:spTgt spid="3"/>
                                        </p:tgtEl>
                                        <p:attrNameLst>
                                          <p:attrName>ppt_h</p:attrName>
                                        </p:attrNameLst>
                                      </p:cBhvr>
                                      <p:tavLst>
                                        <p:tav tm="0">
                                          <p:val>
                                            <p:strVal val="#ppt_h*0.7"/>
                                          </p:val>
                                        </p:tav>
                                        <p:tav tm="100000">
                                          <p:val>
                                            <p:strVal val="#ppt_h"/>
                                          </p:val>
                                        </p:tav>
                                      </p:tavLst>
                                    </p:anim>
                                    <p:animEffect transition="in" filter="fade">
                                      <p:cBhvr>
                                        <p:cTn id="9" dur="1000"/>
                                        <p:tgtEl>
                                          <p:spTgt spid="3"/>
                                        </p:tgtEl>
                                      </p:cBhvr>
                                    </p:animEffect>
                                  </p:childTnLst>
                                </p:cTn>
                              </p:par>
                              <p:par>
                                <p:cTn id="10" presetID="10" presetClass="entr" presetSubtype="0" fill="hold" grpId="0" nodeType="withEffect">
                                  <p:stCondLst>
                                    <p:cond delay="5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22" presetClass="entr" presetSubtype="8" fill="hold" grpId="0" nodeType="withEffect">
                                  <p:stCondLst>
                                    <p:cond delay="7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600"/>
                                        <p:tgtEl>
                                          <p:spTgt spid="5"/>
                                        </p:tgtEl>
                                      </p:cBhvr>
                                    </p:animEffect>
                                  </p:childTnLst>
                                </p:cTn>
                              </p:par>
                              <p:par>
                                <p:cTn id="16" presetID="42" presetClass="entr" presetSubtype="0" fill="hold" grpId="0" nodeType="withEffect">
                                  <p:stCondLst>
                                    <p:cond delay="9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800"/>
                                        <p:tgtEl>
                                          <p:spTgt spid="6"/>
                                        </p:tgtEl>
                                      </p:cBhvr>
                                    </p:animEffect>
                                    <p:anim calcmode="lin" valueType="num">
                                      <p:cBhvr additive="base">
                                        <p:cTn id="19" dur="800" fill="hold"/>
                                        <p:tgtEl>
                                          <p:spTgt spid="6"/>
                                        </p:tgtEl>
                                        <p:attrNameLst>
                                          <p:attrName>ppt_x</p:attrName>
                                        </p:attrNameLst>
                                      </p:cBhvr>
                                      <p:tavLst>
                                        <p:tav tm="0">
                                          <p:val>
                                            <p:strVal val="#ppt_x"/>
                                          </p:val>
                                        </p:tav>
                                        <p:tav tm="100000">
                                          <p:val>
                                            <p:strVal val="#ppt_x"/>
                                          </p:val>
                                        </p:tav>
                                      </p:tavLst>
                                    </p:anim>
                                    <p:anim calcmode="lin" valueType="num">
                                      <p:cBhvr additive="base">
                                        <p:cTn id="20" dur="800" fill="hold"/>
                                        <p:tgtEl>
                                          <p:spTgt spid="6"/>
                                        </p:tgtEl>
                                        <p:attrNameLst>
                                          <p:attrName>ppt_y</p:attrName>
                                        </p:attrNameLst>
                                      </p:cBhvr>
                                      <p:tavLst>
                                        <p:tav tm="0">
                                          <p:val>
                                            <p:strVal val="#ppt_y+.06"/>
                                          </p:val>
                                        </p:tav>
                                        <p:tav tm="100000">
                                          <p:val>
                                            <p:strVal val="#ppt_y"/>
                                          </p:val>
                                        </p:tav>
                                      </p:tavLst>
                                    </p:anim>
                                  </p:childTnLst>
                                </p:cTn>
                              </p:par>
                              <p:par>
                                <p:cTn id="21" presetID="10" presetClass="entr" presetSubtype="0" fill="hold" grpId="0" nodeType="withEffect">
                                  <p:stCondLst>
                                    <p:cond delay="14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childTnLst>
                                </p:cTn>
                              </p:par>
                              <p:par>
                                <p:cTn id="24" presetID="10" presetClass="entr" presetSubtype="0" fill="hold" grpId="0" nodeType="withEffect">
                                  <p:stCondLst>
                                    <p:cond delay="16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bg" descr="light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4"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1F4FD8"/>
                </a:solidFill>
                <a:latin typeface="Lexend Exa"/>
                <a:ea typeface="Lexend Exa"/>
                <a:cs typeface="Lexend Exa"/>
              </a:rPr>
              <a:t>KIẾN TẠO</a:t>
            </a:r>
          </a:p>
        </p:txBody>
      </p:sp>
      <p:sp>
        <p:nvSpPr>
          <p:cNvPr id="5" name="!!panel"/>
          <p:cNvSpPr/>
          <p:nvPr/>
        </p:nvSpPr>
        <p:spPr>
          <a:xfrm>
            <a:off x="0" y="0"/>
            <a:ext cx="4480560" cy="6858000"/>
          </a:xfrm>
          <a:prstGeom prst="rect">
            <a:avLst/>
          </a:prstGeom>
          <a:gradFill rotWithShape="1">
            <a:gsLst>
              <a:gs pos="0">
                <a:srgbClr val="1F4FD8"/>
              </a:gs>
              <a:gs pos="100000">
                <a:srgbClr val="061A5E"/>
              </a:gs>
            </a:gsLst>
            <a:lin ang="36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6" name="Picture 5" descr="ring_1F4FD8061A5E.png"/>
          <p:cNvPicPr>
            <a:picLocks noChangeAspect="1"/>
          </p:cNvPicPr>
          <p:nvPr/>
        </p:nvPicPr>
        <p:blipFill>
          <a:blip r:embed="rId4">
            <a:alphaModFix amt="45000"/>
          </a:blip>
          <a:srcRect/>
          <a:stretch>
            <a:fillRect/>
          </a:stretch>
        </p:blipFill>
        <p:spPr>
          <a:xfrm>
            <a:off x="-1463040" y="2651760"/>
            <a:ext cx="4754880" cy="4754880"/>
          </a:xfrm>
          <a:prstGeom prst="rect">
            <a:avLst/>
          </a:prstGeom>
        </p:spPr>
      </p:pic>
      <p:pic>
        <p:nvPicPr>
          <p:cNvPr id="7" name="!!hero" descr="cut_businessman.png"/>
          <p:cNvPicPr>
            <a:picLocks noChangeAspect="1"/>
          </p:cNvPicPr>
          <p:nvPr/>
        </p:nvPicPr>
        <p:blipFill>
          <a:blip r:embed="rId5"/>
          <a:stretch>
            <a:fillRect/>
          </a:stretch>
        </p:blipFill>
        <p:spPr>
          <a:xfrm>
            <a:off x="857071" y="1097280"/>
            <a:ext cx="2857857" cy="5760720"/>
          </a:xfrm>
          <a:prstGeom prst="rect">
            <a:avLst/>
          </a:prstGeom>
        </p:spPr>
      </p:pic>
      <p:sp>
        <p:nvSpPr>
          <p:cNvPr id="8" name="Rounded Rectangle 7"/>
          <p:cNvSpPr/>
          <p:nvPr/>
        </p:nvSpPr>
        <p:spPr>
          <a:xfrm>
            <a:off x="502920" y="5532120"/>
            <a:ext cx="3566160" cy="868680"/>
          </a:xfrm>
          <a:prstGeom prst="roundRect">
            <a:avLst>
              <a:gd name="adj" fmla="val 12631"/>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9" name="TextBox 8"/>
          <p:cNvSpPr txBox="1"/>
          <p:nvPr/>
        </p:nvSpPr>
        <p:spPr>
          <a:xfrm>
            <a:off x="685800" y="5577840"/>
            <a:ext cx="3291840" cy="411480"/>
          </a:xfrm>
          <a:prstGeom prst="rect">
            <a:avLst/>
          </a:prstGeom>
          <a:noFill/>
        </p:spPr>
        <p:txBody>
          <a:bodyPr wrap="square" lIns="0" rIns="0" tIns="0" bIns="0" anchor="ctr">
            <a:noAutofit/>
          </a:bodyPr>
          <a:lstStyle/>
          <a:p>
            <a:pPr algn="l"/>
            <a:r>
              <a:rPr sz="1500" b="1" i="0">
                <a:solidFill>
                  <a:srgbClr val="0B1F4D"/>
                </a:solidFill>
                <a:latin typeface="Be Vietnam Pro"/>
                <a:ea typeface="Be Vietnam Pro"/>
                <a:cs typeface="Be Vietnam Pro"/>
              </a:rPr>
              <a:t>Ông Nguyễn Minh Khang</a:t>
            </a:r>
          </a:p>
        </p:txBody>
      </p:sp>
      <p:sp>
        <p:nvSpPr>
          <p:cNvPr id="10" name="TextBox 9"/>
          <p:cNvSpPr txBox="1"/>
          <p:nvPr/>
        </p:nvSpPr>
        <p:spPr>
          <a:xfrm>
            <a:off x="685800" y="5961888"/>
            <a:ext cx="3291840" cy="320040"/>
          </a:xfrm>
          <a:prstGeom prst="rect">
            <a:avLst/>
          </a:prstGeom>
          <a:noFill/>
        </p:spPr>
        <p:txBody>
          <a:bodyPr wrap="square" lIns="0" rIns="0" tIns="0" bIns="0" anchor="ctr">
            <a:noAutofit/>
          </a:bodyPr>
          <a:lstStyle/>
          <a:p>
            <a:pPr algn="l"/>
            <a:r>
              <a:rPr sz="1050" b="0" i="0">
                <a:solidFill>
                  <a:srgbClr val="1F4FD8"/>
                </a:solidFill>
                <a:latin typeface="Be Vietnam Pro"/>
                <a:ea typeface="Be Vietnam Pro"/>
                <a:cs typeface="Be Vietnam Pro"/>
              </a:rPr>
              <a:t>Chủ tịch HĐQT kiêm Tổng Giám đốc</a:t>
            </a:r>
          </a:p>
        </p:txBody>
      </p:sp>
      <p:sp>
        <p:nvSpPr>
          <p:cNvPr id="11" name="!!ttl"/>
          <p:cNvSpPr txBox="1"/>
          <p:nvPr/>
        </p:nvSpPr>
        <p:spPr>
          <a:xfrm>
            <a:off x="5120640" y="914400"/>
            <a:ext cx="6522415" cy="640080"/>
          </a:xfrm>
          <a:prstGeom prst="rect">
            <a:avLst/>
          </a:prstGeom>
          <a:noFill/>
        </p:spPr>
        <p:txBody>
          <a:bodyPr wrap="none" lIns="0" rIns="0" tIns="0" bIns="0" anchor="t">
            <a:noAutofit/>
          </a:bodyPr>
          <a:lstStyle/>
          <a:p>
            <a:pPr algn="l">
              <a:lnSpc>
                <a:spcPct val="100000"/>
              </a:lnSpc>
            </a:pPr>
            <a:r>
              <a:rPr sz="3400" b="1" i="0">
                <a:solidFill>
                  <a:srgbClr val="1F4FD8"/>
                </a:solidFill>
                <a:latin typeface="Lexend Exa"/>
                <a:ea typeface="Lexend Exa"/>
                <a:cs typeface="Lexend Exa"/>
              </a:rPr>
              <a:t>THƯ NGỎ</a:t>
            </a:r>
          </a:p>
        </p:txBody>
      </p:sp>
      <p:sp>
        <p:nvSpPr>
          <p:cNvPr id="12" name="TextBox 11"/>
          <p:cNvSpPr txBox="1"/>
          <p:nvPr/>
        </p:nvSpPr>
        <p:spPr>
          <a:xfrm>
            <a:off x="5029200" y="1417320"/>
            <a:ext cx="914400" cy="914400"/>
          </a:xfrm>
          <a:prstGeom prst="rect">
            <a:avLst/>
          </a:prstGeom>
          <a:noFill/>
        </p:spPr>
        <p:txBody>
          <a:bodyPr wrap="square" lIns="0" rIns="0" tIns="0" bIns="0" anchor="t">
            <a:noAutofit/>
          </a:bodyPr>
          <a:lstStyle/>
          <a:p>
            <a:pPr algn="l"/>
            <a:r>
              <a:rPr sz="8000" b="1" i="0">
                <a:solidFill>
                  <a:srgbClr val="DCE7F7"/>
                </a:solidFill>
                <a:latin typeface="Lexend Exa"/>
                <a:ea typeface="Lexend Exa"/>
                <a:cs typeface="Lexend Exa"/>
              </a:rPr>
              <a:t>“</a:t>
            </a:r>
          </a:p>
        </p:txBody>
      </p:sp>
      <p:sp>
        <p:nvSpPr>
          <p:cNvPr id="13" name="TextBox 12"/>
          <p:cNvSpPr txBox="1"/>
          <p:nvPr/>
        </p:nvSpPr>
        <p:spPr>
          <a:xfrm>
            <a:off x="5120640" y="1828800"/>
            <a:ext cx="6522415" cy="3383280"/>
          </a:xfrm>
          <a:prstGeom prst="rect">
            <a:avLst/>
          </a:prstGeom>
          <a:noFill/>
        </p:spPr>
        <p:txBody>
          <a:bodyPr wrap="square" lIns="0" rIns="0" tIns="0" bIns="0" anchor="t">
            <a:noAutofit/>
          </a:bodyPr>
          <a:lstStyle/>
          <a:p>
            <a:pPr algn="just">
              <a:lnSpc>
                <a:spcPct val="135000"/>
              </a:lnSpc>
              <a:spcAft>
                <a:spcPts val="800"/>
              </a:spcAft>
            </a:pPr>
            <a:r>
              <a:rPr sz="1250" b="0" i="0">
                <a:solidFill>
                  <a:srgbClr val="4A5878"/>
                </a:solidFill>
                <a:latin typeface="Be Vietnam Pro"/>
                <a:ea typeface="Be Vietnam Pro"/>
                <a:cs typeface="Be Vietnam Pro"/>
              </a:rPr>
              <a:t>Kính gửi Quý đối tác và khách hàng,</a:t>
            </a:r>
          </a:p>
          <a:p>
            <a:pPr algn="just">
              <a:lnSpc>
                <a:spcPct val="135000"/>
              </a:lnSpc>
              <a:spcAft>
                <a:spcPts val="800"/>
              </a:spcAft>
            </a:pPr>
            <a:r>
              <a:rPr sz="1250" b="0" i="0">
                <a:solidFill>
                  <a:srgbClr val="4A5878"/>
                </a:solidFill>
                <a:latin typeface="Be Vietnam Pro"/>
                <a:ea typeface="Be Vietnam Pro"/>
                <a:cs typeface="Be Vietnam Pro"/>
              </a:rPr>
              <a:t>Trải qua hơn </a:t>
            </a:r>
            <a:r>
              <a:rPr sz="1250" b="1" i="0">
                <a:solidFill>
                  <a:srgbClr val="1F4FD8"/>
                </a:solidFill>
                <a:latin typeface="Be Vietnam Pro"/>
                <a:ea typeface="Be Vietnam Pro"/>
                <a:cs typeface="Be Vietnam Pro"/>
              </a:rPr>
              <a:t>20 năm</a:t>
            </a:r>
            <a:r>
              <a:rPr sz="1250" b="0" i="0">
                <a:solidFill>
                  <a:srgbClr val="4A5878"/>
                </a:solidFill>
                <a:latin typeface="Be Vietnam Pro"/>
                <a:ea typeface="Be Vietnam Pro"/>
                <a:cs typeface="Be Vietnam Pro"/>
              </a:rPr>
              <a:t> hình thành và phát triển, Kiến Tạo đã trở thành một trong những tổng thầu xây dựng uy tín, đồng hành cùng chủ đầu tư trong </a:t>
            </a:r>
            <a:r>
              <a:rPr sz="1250" b="1" i="0">
                <a:solidFill>
                  <a:srgbClr val="1F4FD8"/>
                </a:solidFill>
                <a:latin typeface="Be Vietnam Pro"/>
                <a:ea typeface="Be Vietnam Pro"/>
                <a:cs typeface="Be Vietnam Pro"/>
              </a:rPr>
              <a:t>hơn 250 dự án</a:t>
            </a:r>
            <a:r>
              <a:rPr sz="1250" b="0" i="0">
                <a:solidFill>
                  <a:srgbClr val="4A5878"/>
                </a:solidFill>
                <a:latin typeface="Be Vietnam Pro"/>
                <a:ea typeface="Be Vietnam Pro"/>
                <a:cs typeface="Be Vietnam Pro"/>
              </a:rPr>
              <a:t> dân dụng, công nghiệp và hạ tầng.</a:t>
            </a:r>
          </a:p>
          <a:p>
            <a:pPr algn="just">
              <a:lnSpc>
                <a:spcPct val="135000"/>
              </a:lnSpc>
              <a:spcAft>
                <a:spcPts val="800"/>
              </a:spcAft>
            </a:pPr>
            <a:r>
              <a:rPr sz="1250" b="0" i="0">
                <a:solidFill>
                  <a:srgbClr val="4A5878"/>
                </a:solidFill>
                <a:latin typeface="Be Vietnam Pro"/>
                <a:ea typeface="Be Vietnam Pro"/>
                <a:cs typeface="Be Vietnam Pro"/>
              </a:rPr>
              <a:t>Chúng tôi đặt </a:t>
            </a:r>
            <a:r>
              <a:rPr sz="1250" b="1" i="0">
                <a:solidFill>
                  <a:srgbClr val="1F4FD8"/>
                </a:solidFill>
                <a:latin typeface="Be Vietnam Pro"/>
                <a:ea typeface="Be Vietnam Pro"/>
                <a:cs typeface="Be Vietnam Pro"/>
              </a:rPr>
              <a:t>chất lượng, an toàn và tiến độ</a:t>
            </a:r>
            <a:r>
              <a:rPr sz="1250" b="0" i="0">
                <a:solidFill>
                  <a:srgbClr val="4A5878"/>
                </a:solidFill>
                <a:latin typeface="Be Vietnam Pro"/>
                <a:ea typeface="Be Vietnam Pro"/>
                <a:cs typeface="Be Vietnam Pro"/>
              </a:rPr>
              <a:t> lên hàng đầu, không ngừng ứng dụng công nghệ BIM và quản trị số để mang lại giá trị bền vững cho mỗi công trình.</a:t>
            </a:r>
          </a:p>
          <a:p>
            <a:pPr algn="just">
              <a:lnSpc>
                <a:spcPct val="135000"/>
              </a:lnSpc>
              <a:spcAft>
                <a:spcPts val="800"/>
              </a:spcAft>
            </a:pPr>
            <a:r>
              <a:rPr sz="1250" b="0" i="0">
                <a:solidFill>
                  <a:srgbClr val="4A5878"/>
                </a:solidFill>
                <a:latin typeface="Be Vietnam Pro"/>
                <a:ea typeface="Be Vietnam Pro"/>
                <a:cs typeface="Be Vietnam Pro"/>
              </a:rPr>
              <a:t>Xin trân trọng cảm ơn sự tin tưởng và hợp tác của Quý vị.</a:t>
            </a:r>
          </a:p>
        </p:txBody>
      </p:sp>
      <p:sp>
        <p:nvSpPr>
          <p:cNvPr id="14" name="TextBox 13"/>
          <p:cNvSpPr txBox="1"/>
          <p:nvPr/>
        </p:nvSpPr>
        <p:spPr>
          <a:xfrm>
            <a:off x="7985455" y="5532120"/>
            <a:ext cx="3657600" cy="640080"/>
          </a:xfrm>
          <a:prstGeom prst="rect">
            <a:avLst/>
          </a:prstGeom>
          <a:noFill/>
        </p:spPr>
        <p:txBody>
          <a:bodyPr wrap="square" lIns="0" rIns="0" tIns="0" bIns="0" anchor="ctr">
            <a:noAutofit/>
          </a:bodyPr>
          <a:lstStyle/>
          <a:p>
            <a:pPr algn="r"/>
            <a:r>
              <a:rPr sz="3000" b="0" i="0">
                <a:solidFill>
                  <a:srgbClr val="0B1F4D"/>
                </a:solidFill>
                <a:latin typeface="Great Vibes"/>
                <a:ea typeface="Great Vibes"/>
                <a:cs typeface="Great Vibes"/>
              </a:rPr>
              <a:t>Minh Khang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600"/>
                                        <p:tgtEl>
                                          <p:spTgt spid="5"/>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00"/>
                                        <p:tgtEl>
                                          <p:spTgt spid="3"/>
                                        </p:tgtEl>
                                      </p:cBhvr>
                                    </p:animEffect>
                                  </p:childTnLst>
                                </p:cTn>
                              </p:par>
                              <p:par>
                                <p:cTn id="11" presetID="10" presetClass="entr" presetSubtype="0" fill="hold" grpId="0" nodeType="withEffect">
                                  <p:stCondLst>
                                    <p:cond delay="2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00"/>
                                        <p:tgtEl>
                                          <p:spTgt spid="4"/>
                                        </p:tgtEl>
                                      </p:cBhvr>
                                    </p:animEffect>
                                  </p:childTnLst>
                                </p:cTn>
                              </p:par>
                              <p:par>
                                <p:cTn id="14" presetID="42" presetClass="entr" presetSubtype="0" fill="hold" grpId="0" nodeType="withEffect">
                                  <p:stCondLst>
                                    <p:cond delay="3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800"/>
                                        <p:tgtEl>
                                          <p:spTgt spid="7"/>
                                        </p:tgtEl>
                                      </p:cBhvr>
                                    </p:animEffect>
                                    <p:anim calcmode="lin" valueType="num">
                                      <p:cBhvr additive="base">
                                        <p:cTn id="17" dur="800" fill="hold"/>
                                        <p:tgtEl>
                                          <p:spTgt spid="7"/>
                                        </p:tgtEl>
                                        <p:attrNameLst>
                                          <p:attrName>ppt_x</p:attrName>
                                        </p:attrNameLst>
                                      </p:cBhvr>
                                      <p:tavLst>
                                        <p:tav tm="0">
                                          <p:val>
                                            <p:strVal val="#ppt_x"/>
                                          </p:val>
                                        </p:tav>
                                        <p:tav tm="100000">
                                          <p:val>
                                            <p:strVal val="#ppt_x"/>
                                          </p:val>
                                        </p:tav>
                                      </p:tavLst>
                                    </p:anim>
                                    <p:anim calcmode="lin" valueType="num">
                                      <p:cBhvr additive="base">
                                        <p:cTn id="18" dur="800" fill="hold"/>
                                        <p:tgtEl>
                                          <p:spTgt spid="7"/>
                                        </p:tgtEl>
                                        <p:attrNameLst>
                                          <p:attrName>ppt_y</p:attrName>
                                        </p:attrNameLst>
                                      </p:cBhvr>
                                      <p:tavLst>
                                        <p:tav tm="0">
                                          <p:val>
                                            <p:strVal val="#ppt_y+.06"/>
                                          </p:val>
                                        </p:tav>
                                        <p:tav tm="100000">
                                          <p:val>
                                            <p:strVal val="#ppt_y"/>
                                          </p:val>
                                        </p:tav>
                                      </p:tavLst>
                                    </p:anim>
                                  </p:childTnLst>
                                </p:cTn>
                              </p:par>
                              <p:par>
                                <p:cTn id="19" presetID="22" presetClass="entr" presetSubtype="8" fill="hold" grpId="0" nodeType="withEffect">
                                  <p:stCondLst>
                                    <p:cond delay="50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600"/>
                                        <p:tgtEl>
                                          <p:spTgt spid="11"/>
                                        </p:tgtEl>
                                      </p:cBhvr>
                                    </p:animEffect>
                                  </p:childTnLst>
                                </p:cTn>
                              </p:par>
                              <p:par>
                                <p:cTn id="22" presetID="53" presetClass="entr" presetSubtype="16" fill="hold" grpId="0" nodeType="withEffect">
                                  <p:stCondLst>
                                    <p:cond delay="70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400" fill="hold"/>
                                        <p:tgtEl>
                                          <p:spTgt spid="12"/>
                                        </p:tgtEl>
                                        <p:attrNameLst>
                                          <p:attrName>ppt_w</p:attrName>
                                        </p:attrNameLst>
                                      </p:cBhvr>
                                      <p:tavLst>
                                        <p:tav tm="0">
                                          <p:val>
                                            <p:strVal val="#ppt_w*0.7"/>
                                          </p:val>
                                        </p:tav>
                                        <p:tav tm="100000">
                                          <p:val>
                                            <p:strVal val="#ppt_w"/>
                                          </p:val>
                                        </p:tav>
                                      </p:tavLst>
                                    </p:anim>
                                    <p:anim calcmode="lin" valueType="num">
                                      <p:cBhvr additive="base">
                                        <p:cTn id="25" dur="400" fill="hold"/>
                                        <p:tgtEl>
                                          <p:spTgt spid="12"/>
                                        </p:tgtEl>
                                        <p:attrNameLst>
                                          <p:attrName>ppt_h</p:attrName>
                                        </p:attrNameLst>
                                      </p:cBhvr>
                                      <p:tavLst>
                                        <p:tav tm="0">
                                          <p:val>
                                            <p:strVal val="#ppt_h*0.7"/>
                                          </p:val>
                                        </p:tav>
                                        <p:tav tm="100000">
                                          <p:val>
                                            <p:strVal val="#ppt_h"/>
                                          </p:val>
                                        </p:tav>
                                      </p:tavLst>
                                    </p:anim>
                                    <p:animEffect transition="in" filter="fade">
                                      <p:cBhvr>
                                        <p:cTn id="26" dur="400"/>
                                        <p:tgtEl>
                                          <p:spTgt spid="12"/>
                                        </p:tgtEl>
                                      </p:cBhvr>
                                    </p:animEffect>
                                  </p:childTnLst>
                                </p:cTn>
                              </p:par>
                              <p:par>
                                <p:cTn id="27" presetID="10" presetClass="entr" presetSubtype="0" fill="hold" grpId="0" nodeType="withEffect">
                                  <p:stCondLst>
                                    <p:cond delay="80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00"/>
                                        <p:tgtEl>
                                          <p:spTgt spid="8"/>
                                        </p:tgtEl>
                                      </p:cBhvr>
                                    </p:animEffect>
                                  </p:childTnLst>
                                </p:cTn>
                              </p:par>
                              <p:par>
                                <p:cTn id="30" presetID="10" presetClass="entr" presetSubtype="0" fill="hold" grpId="0" nodeType="withEffect">
                                  <p:stCondLst>
                                    <p:cond delay="85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00"/>
                                        <p:tgtEl>
                                          <p:spTgt spid="9"/>
                                        </p:tgtEl>
                                      </p:cBhvr>
                                    </p:animEffect>
                                  </p:childTnLst>
                                </p:cTn>
                              </p:par>
                              <p:par>
                                <p:cTn id="33" presetID="10" presetClass="entr" presetSubtype="0" fill="hold" grpId="0" nodeType="withEffect">
                                  <p:stCondLst>
                                    <p:cond delay="90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00"/>
                                        <p:tgtEl>
                                          <p:spTgt spid="10"/>
                                        </p:tgtEl>
                                      </p:cBhvr>
                                    </p:animEffect>
                                  </p:childTnLst>
                                </p:cTn>
                              </p:par>
                              <p:par>
                                <p:cTn id="36" presetID="10" presetClass="entr" presetSubtype="0" fill="hold" grpId="0" nodeType="withEffect">
                                  <p:stCondLst>
                                    <p:cond delay="9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800"/>
                                        <p:tgtEl>
                                          <p:spTgt spid="13"/>
                                        </p:tgtEl>
                                      </p:cBhvr>
                                    </p:animEffect>
                                  </p:childTnLst>
                                </p:cTn>
                              </p:par>
                              <p:par>
                                <p:cTn id="39" presetID="22" presetClass="entr" presetSubtype="8" fill="hold" grpId="0" nodeType="withEffect">
                                  <p:stCondLst>
                                    <p:cond delay="1600"/>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8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11" grpId="0" animBg="1"/>
      <p:bldP spid="12" grpId="0" animBg="1"/>
      <p:bldP spid="8" grpId="0" animBg="1"/>
      <p:bldP spid="9" grpId="0" animBg="1"/>
      <p:bldP spid="10" grpId="0" animBg="1"/>
      <p:bldP spid="13" grpId="0" animBg="1"/>
      <p:bldP spid="14"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1A5E"/>
        </a:solidFill>
        <a:effectLst/>
      </p:bgPr>
    </p:bg>
    <p:spTree>
      <p:nvGrpSpPr>
        <p:cNvPr id="1" name=""/>
        <p:cNvGrpSpPr/>
        <p:nvPr/>
      </p:nvGrpSpPr>
      <p:grpSpPr/>
      <p:pic>
        <p:nvPicPr>
          <p:cNvPr id="2" name="!!bg" descr="dark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emblem" descr="emblem_K_1F4FD8061A5E.png"/>
          <p:cNvPicPr>
            <a:picLocks noChangeAspect="1"/>
          </p:cNvPicPr>
          <p:nvPr/>
        </p:nvPicPr>
        <p:blipFill>
          <a:blip r:embed="rId3"/>
          <a:srcRect/>
          <a:stretch>
            <a:fillRect/>
          </a:stretch>
        </p:blipFill>
        <p:spPr>
          <a:xfrm>
            <a:off x="4541368" y="2011680"/>
            <a:ext cx="3108960" cy="3108960"/>
          </a:xfrm>
          <a:prstGeom prst="rect">
            <a:avLst/>
          </a:prstGeom>
        </p:spPr>
      </p:pic>
      <p:sp>
        <p:nvSpPr>
          <p:cNvPr id="4" name="!!ttl"/>
          <p:cNvSpPr txBox="1"/>
          <p:nvPr/>
        </p:nvSpPr>
        <p:spPr>
          <a:xfrm>
            <a:off x="0" y="548640"/>
            <a:ext cx="12191695" cy="731520"/>
          </a:xfrm>
          <a:prstGeom prst="rect">
            <a:avLst/>
          </a:prstGeom>
          <a:noFill/>
        </p:spPr>
        <p:txBody>
          <a:bodyPr wrap="none" lIns="0" rIns="0" tIns="0" bIns="0" anchor="t">
            <a:noAutofit/>
          </a:bodyPr>
          <a:lstStyle/>
          <a:p>
            <a:pPr algn="ctr">
              <a:lnSpc>
                <a:spcPct val="100000"/>
              </a:lnSpc>
            </a:pPr>
            <a:r>
              <a:rPr sz="3400" b="1" i="0">
                <a:solidFill>
                  <a:srgbClr val="FFFFFF"/>
                </a:solidFill>
                <a:effectLst>
                  <a:glow rad="91440">
                    <a:srgbClr val="3FA9FF">
                      <a:alpha val="30000"/>
                    </a:srgbClr>
                  </a:glow>
                </a:effectLst>
                <a:latin typeface="Lexend Exa"/>
                <a:ea typeface="Lexend Exa"/>
                <a:cs typeface="Lexend Exa"/>
              </a:rPr>
              <a:t>MỤC LỤC</a:t>
            </a:r>
          </a:p>
        </p:txBody>
      </p:sp>
      <p:sp>
        <p:nvSpPr>
          <p:cNvPr id="5" name="TextBox 4"/>
          <p:cNvSpPr txBox="1"/>
          <p:nvPr/>
        </p:nvSpPr>
        <p:spPr>
          <a:xfrm>
            <a:off x="822960" y="1874520"/>
            <a:ext cx="914400" cy="640080"/>
          </a:xfrm>
          <a:prstGeom prst="rect">
            <a:avLst/>
          </a:prstGeom>
          <a:noFill/>
        </p:spPr>
        <p:txBody>
          <a:bodyPr wrap="none" lIns="0" rIns="0" tIns="0" bIns="0" anchor="ctr">
            <a:noAutofit/>
          </a:bodyPr>
          <a:lstStyle/>
          <a:p>
            <a:pPr algn="l">
              <a:lnSpc>
                <a:spcPct val="100000"/>
              </a:lnSpc>
            </a:pPr>
            <a:r>
              <a:rPr sz="3400" b="1" i="0">
                <a:solidFill>
                  <a:srgbClr val="3FA9FF"/>
                </a:solidFill>
                <a:effectLst>
                  <a:glow rad="73152">
                    <a:srgbClr val="3FA9FF">
                      <a:alpha val="30000"/>
                    </a:srgbClr>
                  </a:glow>
                </a:effectLst>
                <a:latin typeface="Lexend Exa"/>
                <a:ea typeface="Lexend Exa"/>
                <a:cs typeface="Lexend Exa"/>
              </a:rPr>
              <a:t>01</a:t>
            </a:r>
          </a:p>
        </p:txBody>
      </p:sp>
      <p:sp>
        <p:nvSpPr>
          <p:cNvPr id="6" name="TextBox 5"/>
          <p:cNvSpPr txBox="1"/>
          <p:nvPr/>
        </p:nvSpPr>
        <p:spPr>
          <a:xfrm>
            <a:off x="1783080" y="187452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TỔNG QUAN DOANH NGHIỆP</a:t>
            </a:r>
          </a:p>
        </p:txBody>
      </p:sp>
      <p:cxnSp>
        <p:nvCxnSpPr>
          <p:cNvPr id="7" name="Connector 6"/>
          <p:cNvCxnSpPr/>
          <p:nvPr/>
        </p:nvCxnSpPr>
        <p:spPr>
          <a:xfrm>
            <a:off x="822960" y="2587752"/>
            <a:ext cx="3489808" cy="0"/>
          </a:xfrm>
          <a:prstGeom prst="line">
            <a:avLst/>
          </a:prstGeom>
          <a:ln w="9525">
            <a:solidFill>
              <a:srgbClr val="3FA9FF">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822960" y="3063240"/>
            <a:ext cx="914400" cy="640080"/>
          </a:xfrm>
          <a:prstGeom prst="rect">
            <a:avLst/>
          </a:prstGeom>
          <a:noFill/>
        </p:spPr>
        <p:txBody>
          <a:bodyPr wrap="none" lIns="0" rIns="0" tIns="0" bIns="0" anchor="ctr">
            <a:noAutofit/>
          </a:bodyPr>
          <a:lstStyle/>
          <a:p>
            <a:pPr algn="l">
              <a:lnSpc>
                <a:spcPct val="100000"/>
              </a:lnSpc>
            </a:pPr>
            <a:r>
              <a:rPr sz="3400" b="1" i="0">
                <a:solidFill>
                  <a:srgbClr val="3FA9FF"/>
                </a:solidFill>
                <a:effectLst>
                  <a:glow rad="73152">
                    <a:srgbClr val="3FA9FF">
                      <a:alpha val="30000"/>
                    </a:srgbClr>
                  </a:glow>
                </a:effectLst>
                <a:latin typeface="Lexend Exa"/>
                <a:ea typeface="Lexend Exa"/>
                <a:cs typeface="Lexend Exa"/>
              </a:rPr>
              <a:t>02</a:t>
            </a:r>
          </a:p>
        </p:txBody>
      </p:sp>
      <p:sp>
        <p:nvSpPr>
          <p:cNvPr id="9" name="TextBox 8"/>
          <p:cNvSpPr txBox="1"/>
          <p:nvPr/>
        </p:nvSpPr>
        <p:spPr>
          <a:xfrm>
            <a:off x="1783080" y="306324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LỊCH SỬ PHÁT TRIỂN</a:t>
            </a:r>
          </a:p>
        </p:txBody>
      </p:sp>
      <p:cxnSp>
        <p:nvCxnSpPr>
          <p:cNvPr id="10" name="Connector 9"/>
          <p:cNvCxnSpPr/>
          <p:nvPr/>
        </p:nvCxnSpPr>
        <p:spPr>
          <a:xfrm>
            <a:off x="822960" y="3776472"/>
            <a:ext cx="3489808" cy="0"/>
          </a:xfrm>
          <a:prstGeom prst="line">
            <a:avLst/>
          </a:prstGeom>
          <a:ln w="9525">
            <a:solidFill>
              <a:srgbClr val="3FA9FF">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822960" y="4251960"/>
            <a:ext cx="914400" cy="640080"/>
          </a:xfrm>
          <a:prstGeom prst="rect">
            <a:avLst/>
          </a:prstGeom>
          <a:noFill/>
        </p:spPr>
        <p:txBody>
          <a:bodyPr wrap="none" lIns="0" rIns="0" tIns="0" bIns="0" anchor="ctr">
            <a:noAutofit/>
          </a:bodyPr>
          <a:lstStyle/>
          <a:p>
            <a:pPr algn="l">
              <a:lnSpc>
                <a:spcPct val="100000"/>
              </a:lnSpc>
            </a:pPr>
            <a:r>
              <a:rPr sz="3400" b="1" i="0">
                <a:solidFill>
                  <a:srgbClr val="3FA9FF"/>
                </a:solidFill>
                <a:effectLst>
                  <a:glow rad="73152">
                    <a:srgbClr val="3FA9FF">
                      <a:alpha val="30000"/>
                    </a:srgbClr>
                  </a:glow>
                </a:effectLst>
                <a:latin typeface="Lexend Exa"/>
                <a:ea typeface="Lexend Exa"/>
                <a:cs typeface="Lexend Exa"/>
              </a:rPr>
              <a:t>03</a:t>
            </a:r>
          </a:p>
        </p:txBody>
      </p:sp>
      <p:sp>
        <p:nvSpPr>
          <p:cNvPr id="12" name="TextBox 11"/>
          <p:cNvSpPr txBox="1"/>
          <p:nvPr/>
        </p:nvSpPr>
        <p:spPr>
          <a:xfrm>
            <a:off x="1783080" y="425196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SƠ ĐỒ TỔ CHỨC</a:t>
            </a:r>
          </a:p>
        </p:txBody>
      </p:sp>
      <p:cxnSp>
        <p:nvCxnSpPr>
          <p:cNvPr id="13" name="Connector 12"/>
          <p:cNvCxnSpPr/>
          <p:nvPr/>
        </p:nvCxnSpPr>
        <p:spPr>
          <a:xfrm>
            <a:off x="822960" y="4965192"/>
            <a:ext cx="3489808" cy="0"/>
          </a:xfrm>
          <a:prstGeom prst="line">
            <a:avLst/>
          </a:prstGeom>
          <a:ln w="9525">
            <a:solidFill>
              <a:srgbClr val="3FA9FF">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822960" y="5440680"/>
            <a:ext cx="914400" cy="640080"/>
          </a:xfrm>
          <a:prstGeom prst="rect">
            <a:avLst/>
          </a:prstGeom>
          <a:noFill/>
        </p:spPr>
        <p:txBody>
          <a:bodyPr wrap="none" lIns="0" rIns="0" tIns="0" bIns="0" anchor="ctr">
            <a:noAutofit/>
          </a:bodyPr>
          <a:lstStyle/>
          <a:p>
            <a:pPr algn="l">
              <a:lnSpc>
                <a:spcPct val="100000"/>
              </a:lnSpc>
            </a:pPr>
            <a:r>
              <a:rPr sz="3400" b="1" i="0">
                <a:solidFill>
                  <a:srgbClr val="3FA9FF"/>
                </a:solidFill>
                <a:effectLst>
                  <a:glow rad="73152">
                    <a:srgbClr val="3FA9FF">
                      <a:alpha val="30000"/>
                    </a:srgbClr>
                  </a:glow>
                </a:effectLst>
                <a:latin typeface="Lexend Exa"/>
                <a:ea typeface="Lexend Exa"/>
                <a:cs typeface="Lexend Exa"/>
              </a:rPr>
              <a:t>04</a:t>
            </a:r>
          </a:p>
        </p:txBody>
      </p:sp>
      <p:sp>
        <p:nvSpPr>
          <p:cNvPr id="15" name="TextBox 14"/>
          <p:cNvSpPr txBox="1"/>
          <p:nvPr/>
        </p:nvSpPr>
        <p:spPr>
          <a:xfrm>
            <a:off x="1783080" y="544068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TẦM NHÌN – SỨ MỆNH</a:t>
            </a:r>
          </a:p>
        </p:txBody>
      </p:sp>
      <p:cxnSp>
        <p:nvCxnSpPr>
          <p:cNvPr id="16" name="Connector 15"/>
          <p:cNvCxnSpPr/>
          <p:nvPr/>
        </p:nvCxnSpPr>
        <p:spPr>
          <a:xfrm>
            <a:off x="822960" y="6153912"/>
            <a:ext cx="3489808" cy="0"/>
          </a:xfrm>
          <a:prstGeom prst="line">
            <a:avLst/>
          </a:prstGeom>
          <a:ln w="9525">
            <a:solidFill>
              <a:srgbClr val="3FA9FF">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878928" y="1874520"/>
            <a:ext cx="914400" cy="640080"/>
          </a:xfrm>
          <a:prstGeom prst="rect">
            <a:avLst/>
          </a:prstGeom>
          <a:noFill/>
        </p:spPr>
        <p:txBody>
          <a:bodyPr wrap="none" lIns="0" rIns="0" tIns="0" bIns="0" anchor="ctr">
            <a:noAutofit/>
          </a:bodyPr>
          <a:lstStyle/>
          <a:p>
            <a:pPr algn="l">
              <a:lnSpc>
                <a:spcPct val="100000"/>
              </a:lnSpc>
            </a:pPr>
            <a:r>
              <a:rPr sz="3400" b="1" i="0">
                <a:solidFill>
                  <a:srgbClr val="3FA9FF"/>
                </a:solidFill>
                <a:effectLst>
                  <a:glow rad="73152">
                    <a:srgbClr val="3FA9FF">
                      <a:alpha val="30000"/>
                    </a:srgbClr>
                  </a:glow>
                </a:effectLst>
                <a:latin typeface="Lexend Exa"/>
                <a:ea typeface="Lexend Exa"/>
                <a:cs typeface="Lexend Exa"/>
              </a:rPr>
              <a:t>05</a:t>
            </a:r>
          </a:p>
        </p:txBody>
      </p:sp>
      <p:sp>
        <p:nvSpPr>
          <p:cNvPr id="18" name="TextBox 17"/>
          <p:cNvSpPr txBox="1"/>
          <p:nvPr/>
        </p:nvSpPr>
        <p:spPr>
          <a:xfrm>
            <a:off x="8839048" y="187452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LĨNH VỰC HOẠT ĐỘNG</a:t>
            </a:r>
          </a:p>
        </p:txBody>
      </p:sp>
      <p:cxnSp>
        <p:nvCxnSpPr>
          <p:cNvPr id="19" name="Connector 18"/>
          <p:cNvCxnSpPr/>
          <p:nvPr/>
        </p:nvCxnSpPr>
        <p:spPr>
          <a:xfrm>
            <a:off x="7878928" y="2587752"/>
            <a:ext cx="3489807" cy="0"/>
          </a:xfrm>
          <a:prstGeom prst="line">
            <a:avLst/>
          </a:prstGeom>
          <a:ln w="9525">
            <a:solidFill>
              <a:srgbClr val="3FA9FF">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7878928" y="3063240"/>
            <a:ext cx="914400" cy="640080"/>
          </a:xfrm>
          <a:prstGeom prst="rect">
            <a:avLst/>
          </a:prstGeom>
          <a:noFill/>
        </p:spPr>
        <p:txBody>
          <a:bodyPr wrap="none" lIns="0" rIns="0" tIns="0" bIns="0" anchor="ctr">
            <a:noAutofit/>
          </a:bodyPr>
          <a:lstStyle/>
          <a:p>
            <a:pPr algn="l">
              <a:lnSpc>
                <a:spcPct val="100000"/>
              </a:lnSpc>
            </a:pPr>
            <a:r>
              <a:rPr sz="3400" b="1" i="0">
                <a:solidFill>
                  <a:srgbClr val="3FA9FF"/>
                </a:solidFill>
                <a:effectLst>
                  <a:glow rad="73152">
                    <a:srgbClr val="3FA9FF">
                      <a:alpha val="30000"/>
                    </a:srgbClr>
                  </a:glow>
                </a:effectLst>
                <a:latin typeface="Lexend Exa"/>
                <a:ea typeface="Lexend Exa"/>
                <a:cs typeface="Lexend Exa"/>
              </a:rPr>
              <a:t>06</a:t>
            </a:r>
          </a:p>
        </p:txBody>
      </p:sp>
      <p:sp>
        <p:nvSpPr>
          <p:cNvPr id="21" name="TextBox 20"/>
          <p:cNvSpPr txBox="1"/>
          <p:nvPr/>
        </p:nvSpPr>
        <p:spPr>
          <a:xfrm>
            <a:off x="8839048" y="306324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DỰ ÁN TIÊU BIỂU</a:t>
            </a:r>
          </a:p>
        </p:txBody>
      </p:sp>
      <p:cxnSp>
        <p:nvCxnSpPr>
          <p:cNvPr id="22" name="Connector 21"/>
          <p:cNvCxnSpPr/>
          <p:nvPr/>
        </p:nvCxnSpPr>
        <p:spPr>
          <a:xfrm>
            <a:off x="7878928" y="3776472"/>
            <a:ext cx="3489807" cy="0"/>
          </a:xfrm>
          <a:prstGeom prst="line">
            <a:avLst/>
          </a:prstGeom>
          <a:ln w="9525">
            <a:solidFill>
              <a:srgbClr val="3FA9FF">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7878928" y="4251960"/>
            <a:ext cx="914400" cy="640080"/>
          </a:xfrm>
          <a:prstGeom prst="rect">
            <a:avLst/>
          </a:prstGeom>
          <a:noFill/>
        </p:spPr>
        <p:txBody>
          <a:bodyPr wrap="none" lIns="0" rIns="0" tIns="0" bIns="0" anchor="ctr">
            <a:noAutofit/>
          </a:bodyPr>
          <a:lstStyle/>
          <a:p>
            <a:pPr algn="l">
              <a:lnSpc>
                <a:spcPct val="100000"/>
              </a:lnSpc>
            </a:pPr>
            <a:r>
              <a:rPr sz="3400" b="1" i="0">
                <a:solidFill>
                  <a:srgbClr val="3FA9FF"/>
                </a:solidFill>
                <a:effectLst>
                  <a:glow rad="73152">
                    <a:srgbClr val="3FA9FF">
                      <a:alpha val="30000"/>
                    </a:srgbClr>
                  </a:glow>
                </a:effectLst>
                <a:latin typeface="Lexend Exa"/>
                <a:ea typeface="Lexend Exa"/>
                <a:cs typeface="Lexend Exa"/>
              </a:rPr>
              <a:t>07</a:t>
            </a:r>
          </a:p>
        </p:txBody>
      </p:sp>
      <p:sp>
        <p:nvSpPr>
          <p:cNvPr id="24" name="TextBox 23"/>
          <p:cNvSpPr txBox="1"/>
          <p:nvPr/>
        </p:nvSpPr>
        <p:spPr>
          <a:xfrm>
            <a:off x="8839048" y="425196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NĂNG LỰC TÀI CHÍNH</a:t>
            </a:r>
          </a:p>
        </p:txBody>
      </p:sp>
      <p:cxnSp>
        <p:nvCxnSpPr>
          <p:cNvPr id="25" name="Connector 24"/>
          <p:cNvCxnSpPr/>
          <p:nvPr/>
        </p:nvCxnSpPr>
        <p:spPr>
          <a:xfrm>
            <a:off x="7878928" y="4965192"/>
            <a:ext cx="3489807" cy="0"/>
          </a:xfrm>
          <a:prstGeom prst="line">
            <a:avLst/>
          </a:prstGeom>
          <a:ln w="9525">
            <a:solidFill>
              <a:srgbClr val="3FA9FF">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7878928" y="5440680"/>
            <a:ext cx="914400" cy="640080"/>
          </a:xfrm>
          <a:prstGeom prst="rect">
            <a:avLst/>
          </a:prstGeom>
          <a:noFill/>
        </p:spPr>
        <p:txBody>
          <a:bodyPr wrap="none" lIns="0" rIns="0" tIns="0" bIns="0" anchor="ctr">
            <a:noAutofit/>
          </a:bodyPr>
          <a:lstStyle/>
          <a:p>
            <a:pPr algn="l">
              <a:lnSpc>
                <a:spcPct val="100000"/>
              </a:lnSpc>
            </a:pPr>
            <a:r>
              <a:rPr sz="3400" b="1" i="0">
                <a:solidFill>
                  <a:srgbClr val="3FA9FF"/>
                </a:solidFill>
                <a:effectLst>
                  <a:glow rad="73152">
                    <a:srgbClr val="3FA9FF">
                      <a:alpha val="30000"/>
                    </a:srgbClr>
                  </a:glow>
                </a:effectLst>
                <a:latin typeface="Lexend Exa"/>
                <a:ea typeface="Lexend Exa"/>
                <a:cs typeface="Lexend Exa"/>
              </a:rPr>
              <a:t>08</a:t>
            </a:r>
          </a:p>
        </p:txBody>
      </p:sp>
      <p:sp>
        <p:nvSpPr>
          <p:cNvPr id="27" name="TextBox 26"/>
          <p:cNvSpPr txBox="1"/>
          <p:nvPr/>
        </p:nvSpPr>
        <p:spPr>
          <a:xfrm>
            <a:off x="8839048" y="544068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CHUYỂN ĐỔI SỐ</a:t>
            </a:r>
          </a:p>
        </p:txBody>
      </p:sp>
      <p:cxnSp>
        <p:nvCxnSpPr>
          <p:cNvPr id="28" name="Connector 27"/>
          <p:cNvCxnSpPr/>
          <p:nvPr/>
        </p:nvCxnSpPr>
        <p:spPr>
          <a:xfrm>
            <a:off x="7878928" y="6153912"/>
            <a:ext cx="3489807" cy="0"/>
          </a:xfrm>
          <a:prstGeom prst="line">
            <a:avLst/>
          </a:prstGeom>
          <a:ln w="9525">
            <a:solidFill>
              <a:srgbClr val="3FA9FF">
                <a:alpha val="40000"/>
              </a:srgbClr>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ppt_w</p:attrName>
                                        </p:attrNameLst>
                                      </p:cBhvr>
                                      <p:tavLst>
                                        <p:tav tm="0">
                                          <p:val>
                                            <p:strVal val="0"/>
                                          </p:val>
                                        </p:tav>
                                        <p:tav tm="100000">
                                          <p:val>
                                            <p:strVal val="#ppt_w"/>
                                          </p:val>
                                        </p:tav>
                                      </p:tavLst>
                                    </p:anim>
                                    <p:anim calcmode="lin" valueType="num">
                                      <p:cBhvr additive="base">
                                        <p:cTn id="8" dur="1000" fill="hold"/>
                                        <p:tgtEl>
                                          <p:spTgt spid="3"/>
                                        </p:tgtEl>
                                        <p:attrNameLst>
                                          <p:attrName>ppt_h</p:attrName>
                                        </p:attrNameLst>
                                      </p:cBhvr>
                                      <p:tavLst>
                                        <p:tav tm="0">
                                          <p:val>
                                            <p:str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par>
                                <p:cTn id="11" presetID="53" presetClass="entr" presetSubtype="16" fill="hold" grpId="0" nodeType="withEffect">
                                  <p:stCondLst>
                                    <p:cond delay="30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600" fill="hold"/>
                                        <p:tgtEl>
                                          <p:spTgt spid="4"/>
                                        </p:tgtEl>
                                        <p:attrNameLst>
                                          <p:attrName>ppt_w</p:attrName>
                                        </p:attrNameLst>
                                      </p:cBhvr>
                                      <p:tavLst>
                                        <p:tav tm="0">
                                          <p:val>
                                            <p:strVal val="#ppt_w*0.7"/>
                                          </p:val>
                                        </p:tav>
                                        <p:tav tm="100000">
                                          <p:val>
                                            <p:strVal val="#ppt_w"/>
                                          </p:val>
                                        </p:tav>
                                      </p:tavLst>
                                    </p:anim>
                                    <p:anim calcmode="lin" valueType="num">
                                      <p:cBhvr additive="base">
                                        <p:cTn id="14" dur="600" fill="hold"/>
                                        <p:tgtEl>
                                          <p:spTgt spid="4"/>
                                        </p:tgtEl>
                                        <p:attrNameLst>
                                          <p:attrName>ppt_h</p:attrName>
                                        </p:attrNameLst>
                                      </p:cBhvr>
                                      <p:tavLst>
                                        <p:tav tm="0">
                                          <p:val>
                                            <p:strVal val="#ppt_h*0.7"/>
                                          </p:val>
                                        </p:tav>
                                        <p:tav tm="100000">
                                          <p:val>
                                            <p:strVal val="#ppt_h"/>
                                          </p:val>
                                        </p:tav>
                                      </p:tavLst>
                                    </p:anim>
                                    <p:animEffect transition="in" filter="fade">
                                      <p:cBhvr>
                                        <p:cTn id="15" dur="600"/>
                                        <p:tgtEl>
                                          <p:spTgt spid="4"/>
                                        </p:tgtEl>
                                      </p:cBhvr>
                                    </p:animEffect>
                                  </p:childTnLst>
                                </p:cTn>
                              </p:par>
                              <p:par>
                                <p:cTn id="16" presetID="10" presetClass="entr" presetSubtype="0" fill="hold" grpId="0" nodeType="withEffect">
                                  <p:stCondLst>
                                    <p:cond delay="6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6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6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7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75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75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90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90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grpId="0" nodeType="withEffect">
                                  <p:stCondLst>
                                    <p:cond delay="90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0" presetClass="entr" presetSubtype="0" fill="hold" grpId="0" nodeType="withEffect">
                                  <p:stCondLst>
                                    <p:cond delay="105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par>
                                <p:cTn id="46" presetID="10" presetClass="entr" presetSubtype="0" fill="hold" grpId="0" nodeType="withEffect">
                                  <p:stCondLst>
                                    <p:cond delay="105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105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120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120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par>
                                <p:cTn id="58" presetID="10" presetClass="entr" presetSubtype="0" fill="hold" grpId="0" nodeType="withEffect">
                                  <p:stCondLst>
                                    <p:cond delay="120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grpId="0" nodeType="withEffect">
                                  <p:stCondLst>
                                    <p:cond delay="1349"/>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1349"/>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1349"/>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par>
                                <p:cTn id="70" presetID="10" presetClass="entr" presetSubtype="0" fill="hold" grpId="0" nodeType="withEffect">
                                  <p:stCondLst>
                                    <p:cond delay="1499"/>
                                  </p:stCondLst>
                                  <p:childTnLst>
                                    <p:set>
                                      <p:cBhvr>
                                        <p:cTn id="71" dur="1" fill="hold">
                                          <p:stCondLst>
                                            <p:cond delay="0"/>
                                          </p:stCondLst>
                                        </p:cTn>
                                        <p:tgtEl>
                                          <p:spTgt spid="23"/>
                                        </p:tgtEl>
                                        <p:attrNameLst>
                                          <p:attrName>style.visibility</p:attrName>
                                        </p:attrNameLst>
                                      </p:cBhvr>
                                      <p:to>
                                        <p:strVal val="visible"/>
                                      </p:to>
                                    </p:set>
                                    <p:animEffect transition="in" filter="fade">
                                      <p:cBhvr>
                                        <p:cTn id="72" dur="500"/>
                                        <p:tgtEl>
                                          <p:spTgt spid="23"/>
                                        </p:tgtEl>
                                      </p:cBhvr>
                                    </p:animEffect>
                                  </p:childTnLst>
                                </p:cTn>
                              </p:par>
                              <p:par>
                                <p:cTn id="73" presetID="10" presetClass="entr" presetSubtype="0" fill="hold" grpId="0" nodeType="withEffect">
                                  <p:stCondLst>
                                    <p:cond delay="1499"/>
                                  </p:stCondLst>
                                  <p:childTnLst>
                                    <p:set>
                                      <p:cBhvr>
                                        <p:cTn id="74" dur="1" fill="hold">
                                          <p:stCondLst>
                                            <p:cond delay="0"/>
                                          </p:stCondLst>
                                        </p:cTn>
                                        <p:tgtEl>
                                          <p:spTgt spid="24"/>
                                        </p:tgtEl>
                                        <p:attrNameLst>
                                          <p:attrName>style.visibility</p:attrName>
                                        </p:attrNameLst>
                                      </p:cBhvr>
                                      <p:to>
                                        <p:strVal val="visible"/>
                                      </p:to>
                                    </p:set>
                                    <p:animEffect transition="in" filter="fade">
                                      <p:cBhvr>
                                        <p:cTn id="75" dur="500"/>
                                        <p:tgtEl>
                                          <p:spTgt spid="24"/>
                                        </p:tgtEl>
                                      </p:cBhvr>
                                    </p:animEffect>
                                  </p:childTnLst>
                                </p:cTn>
                              </p:par>
                              <p:par>
                                <p:cTn id="76" presetID="10" presetClass="entr" presetSubtype="0" fill="hold" grpId="0" nodeType="withEffect">
                                  <p:stCondLst>
                                    <p:cond delay="1499"/>
                                  </p:stCondLst>
                                  <p:childTnLst>
                                    <p:set>
                                      <p:cBhvr>
                                        <p:cTn id="77" dur="1" fill="hold">
                                          <p:stCondLst>
                                            <p:cond delay="0"/>
                                          </p:stCondLst>
                                        </p:cTn>
                                        <p:tgtEl>
                                          <p:spTgt spid="25"/>
                                        </p:tgtEl>
                                        <p:attrNameLst>
                                          <p:attrName>style.visibility</p:attrName>
                                        </p:attrNameLst>
                                      </p:cBhvr>
                                      <p:to>
                                        <p:strVal val="visible"/>
                                      </p:to>
                                    </p:set>
                                    <p:animEffect transition="in" filter="fade">
                                      <p:cBhvr>
                                        <p:cTn id="78" dur="500"/>
                                        <p:tgtEl>
                                          <p:spTgt spid="25"/>
                                        </p:tgtEl>
                                      </p:cBhvr>
                                    </p:animEffect>
                                  </p:childTnLst>
                                </p:cTn>
                              </p:par>
                              <p:par>
                                <p:cTn id="79" presetID="10" presetClass="entr" presetSubtype="0" fill="hold" grpId="0" nodeType="withEffect">
                                  <p:stCondLst>
                                    <p:cond delay="1649"/>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grpId="0" nodeType="withEffect">
                                  <p:stCondLst>
                                    <p:cond delay="1649"/>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childTnLst>
                                </p:cTn>
                              </p:par>
                              <p:par>
                                <p:cTn id="85" presetID="10" presetClass="entr" presetSubtype="0" fill="hold" grpId="0" nodeType="withEffect">
                                  <p:stCondLst>
                                    <p:cond delay="1649"/>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20" grpId="0" animBg="1"/>
      <p:bldP spid="21" grpId="0" animBg="1"/>
      <p:bldP spid="23" grpId="0" animBg="1"/>
      <p:bldP spid="24" grpId="0" animBg="1"/>
      <p:bldP spid="26" grpId="0" animBg="1"/>
      <p:bldP spid="27"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1A5E"/>
        </a:solidFill>
        <a:effectLst/>
      </p:bgPr>
    </p:bg>
    <p:spTree>
      <p:nvGrpSpPr>
        <p:cNvPr id="1" name=""/>
        <p:cNvGrpSpPr/>
        <p:nvPr/>
      </p:nvGrpSpPr>
      <p:grpSpPr/>
      <p:pic>
        <p:nvPicPr>
          <p:cNvPr id="2" name="!!bg" descr="sec_tower_glass_1F4FD8061A5E_0.60_0.40.jpg"/>
          <p:cNvPicPr>
            <a:picLocks noChangeAspect="1"/>
          </p:cNvPicPr>
          <p:nvPr/>
        </p:nvPicPr>
        <p:blipFill>
          <a:blip r:embed="rId2"/>
          <a:srcRect l="1" r="1"/>
          <a:stretch>
            <a:fillRect/>
          </a:stretch>
        </p:blipFill>
        <p:spPr>
          <a:xfrm>
            <a:off x="0" y="0"/>
            <a:ext cx="12191695" cy="6858000"/>
          </a:xfrm>
          <a:prstGeom prst="rect">
            <a:avLst/>
          </a:prstGeom>
        </p:spPr>
      </p:pic>
      <p:sp>
        <p:nvSpPr>
          <p:cNvPr id="3" name="!!secnum"/>
          <p:cNvSpPr txBox="1"/>
          <p:nvPr/>
        </p:nvSpPr>
        <p:spPr>
          <a:xfrm>
            <a:off x="5852160" y="548640"/>
            <a:ext cx="5852160" cy="3291840"/>
          </a:xfrm>
          <a:prstGeom prst="rect">
            <a:avLst/>
          </a:prstGeom>
          <a:noFill/>
        </p:spPr>
        <p:txBody>
          <a:bodyPr wrap="none" lIns="0" rIns="0" tIns="0" bIns="0" anchor="t">
            <a:noAutofit/>
          </a:bodyPr>
          <a:lstStyle/>
          <a:p>
            <a:pPr algn="r">
              <a:lnSpc>
                <a:spcPct val="100000"/>
              </a:lnSpc>
            </a:pPr>
            <a:r>
              <a:rPr sz="23000" b="1" i="0">
                <a:ln w="25400">
                  <a:solidFill>
                    <a:srgbClr val="3FA9FF"/>
                  </a:solidFill>
                </a:ln>
                <a:solidFill>
                  <a:srgbClr val="3FA9FF">
                    <a:alpha val="22000"/>
                  </a:srgbClr>
                </a:solidFill>
                <a:latin typeface="Lexend Exa"/>
                <a:ea typeface="Lexend Exa"/>
                <a:cs typeface="Lexend Exa"/>
              </a:rPr>
              <a:t>01</a:t>
            </a:r>
          </a:p>
        </p:txBody>
      </p:sp>
      <p:sp>
        <p:nvSpPr>
          <p:cNvPr id="4" name="!!sectitle"/>
          <p:cNvSpPr txBox="1"/>
          <p:nvPr/>
        </p:nvSpPr>
        <p:spPr>
          <a:xfrm>
            <a:off x="4327855" y="3749040"/>
            <a:ext cx="7315200" cy="1488440"/>
          </a:xfrm>
          <a:prstGeom prst="rect">
            <a:avLst/>
          </a:prstGeom>
          <a:noFill/>
        </p:spPr>
        <p:txBody>
          <a:bodyPr wrap="square" lIns="0" rIns="0" tIns="0" bIns="0" anchor="t">
            <a:noAutofit/>
          </a:bodyPr>
          <a:lstStyle/>
          <a:p>
            <a:pPr algn="r">
              <a:lnSpc>
                <a:spcPct val="95000"/>
              </a:lnSpc>
            </a:pPr>
            <a:r>
              <a:rPr sz="4400" b="1" i="0">
                <a:solidFill>
                  <a:srgbClr val="FFFFFF"/>
                </a:solidFill>
                <a:effectLst>
                  <a:glow rad="91440">
                    <a:srgbClr val="3FA9FF">
                      <a:alpha val="30000"/>
                    </a:srgbClr>
                  </a:glow>
                </a:effectLst>
                <a:latin typeface="Lexend Exa"/>
                <a:ea typeface="Lexend Exa"/>
                <a:cs typeface="Lexend Exa"/>
              </a:rPr>
              <a:t>TỔNG QUAN</a:t>
            </a:r>
          </a:p>
          <a:p>
            <a:pPr algn="r">
              <a:lnSpc>
                <a:spcPct val="95000"/>
              </a:lnSpc>
            </a:pPr>
            <a:r>
              <a:rPr sz="4400" b="1" i="0">
                <a:solidFill>
                  <a:srgbClr val="FFFFFF"/>
                </a:solidFill>
                <a:effectLst>
                  <a:glow rad="91440">
                    <a:srgbClr val="3FA9FF">
                      <a:alpha val="30000"/>
                    </a:srgbClr>
                  </a:glow>
                </a:effectLst>
                <a:latin typeface="Lexend Exa"/>
                <a:ea typeface="Lexend Exa"/>
                <a:cs typeface="Lexend Exa"/>
              </a:rPr>
              <a:t>DOANH NGHIỆP</a:t>
            </a:r>
          </a:p>
        </p:txBody>
      </p:sp>
      <p:sp>
        <p:nvSpPr>
          <p:cNvPr id="5" name="TextBox 4"/>
          <p:cNvSpPr txBox="1"/>
          <p:nvPr/>
        </p:nvSpPr>
        <p:spPr>
          <a:xfrm>
            <a:off x="5242255" y="5283200"/>
            <a:ext cx="6400800" cy="822960"/>
          </a:xfrm>
          <a:prstGeom prst="rect">
            <a:avLst/>
          </a:prstGeom>
          <a:noFill/>
        </p:spPr>
        <p:txBody>
          <a:bodyPr wrap="square" lIns="0" rIns="0" tIns="0" bIns="0" anchor="t">
            <a:noAutofit/>
          </a:bodyPr>
          <a:lstStyle/>
          <a:p>
            <a:pPr algn="r">
              <a:lnSpc>
                <a:spcPct val="120000"/>
              </a:lnSpc>
            </a:pPr>
            <a:r>
              <a:rPr sz="1300" b="0" i="0">
                <a:solidFill>
                  <a:srgbClr val="E6EEFF"/>
                </a:solidFill>
                <a:latin typeface="Be Vietnam Pro"/>
                <a:ea typeface="Be Vietnam Pro"/>
                <a:cs typeface="Be Vietnam Pro"/>
              </a:rPr>
              <a:t>Hơn 20 năm kiến tạo những công trình mang dấu ấn bền vững</a:t>
            </a:r>
          </a:p>
        </p:txBody>
      </p:sp>
      <p:pic>
        <p:nvPicPr>
          <p:cNvPr id="6"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7"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FFFFFF"/>
                </a:solidFill>
                <a:latin typeface="Lexend Exa"/>
                <a:ea typeface="Lexend Exa"/>
                <a:cs typeface="Lexend Exa"/>
              </a:rPr>
              <a:t>KIẾN TẠO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900" fill="hold"/>
                                        <p:tgtEl>
                                          <p:spTgt spid="3"/>
                                        </p:tgtEl>
                                        <p:attrNameLst>
                                          <p:attrName>ppt_w</p:attrName>
                                        </p:attrNameLst>
                                      </p:cBhvr>
                                      <p:tavLst>
                                        <p:tav tm="0">
                                          <p:val>
                                            <p:strVal val="#ppt_w*0.7"/>
                                          </p:val>
                                        </p:tav>
                                        <p:tav tm="100000">
                                          <p:val>
                                            <p:strVal val="#ppt_w"/>
                                          </p:val>
                                        </p:tav>
                                      </p:tavLst>
                                    </p:anim>
                                    <p:anim calcmode="lin" valueType="num">
                                      <p:cBhvr additive="base">
                                        <p:cTn id="8" dur="900" fill="hold"/>
                                        <p:tgtEl>
                                          <p:spTgt spid="3"/>
                                        </p:tgtEl>
                                        <p:attrNameLst>
                                          <p:attrName>ppt_h</p:attrName>
                                        </p:attrNameLst>
                                      </p:cBhvr>
                                      <p:tavLst>
                                        <p:tav tm="0">
                                          <p:val>
                                            <p:strVal val="#ppt_h*0.7"/>
                                          </p:val>
                                        </p:tav>
                                        <p:tav tm="100000">
                                          <p:val>
                                            <p:strVal val="#ppt_h"/>
                                          </p:val>
                                        </p:tav>
                                      </p:tavLst>
                                    </p:anim>
                                    <p:animEffect transition="in" filter="fade">
                                      <p:cBhvr>
                                        <p:cTn id="9" dur="900"/>
                                        <p:tgtEl>
                                          <p:spTgt spid="3"/>
                                        </p:tgtEl>
                                      </p:cBhvr>
                                    </p:animEffect>
                                  </p:childTnLst>
                                </p:cTn>
                              </p:par>
                              <p:par>
                                <p:cTn id="10" presetID="10" presetClass="entr" presetSubtype="0" fill="hold" grpId="0"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700"/>
                                        <p:tgtEl>
                                          <p:spTgt spid="4"/>
                                        </p:tgtEl>
                                      </p:cBhvr>
                                    </p:animEffect>
                                    <p:anim calcmode="lin" valueType="num">
                                      <p:cBhvr additive="base">
                                        <p:cTn id="19" dur="700" fill="hold"/>
                                        <p:tgtEl>
                                          <p:spTgt spid="4"/>
                                        </p:tgtEl>
                                        <p:attrNameLst>
                                          <p:attrName>ppt_x</p:attrName>
                                        </p:attrNameLst>
                                      </p:cBhvr>
                                      <p:tavLst>
                                        <p:tav tm="0">
                                          <p:val>
                                            <p:strVal val="#ppt_x"/>
                                          </p:val>
                                        </p:tav>
                                        <p:tav tm="100000">
                                          <p:val>
                                            <p:strVal val="#ppt_x"/>
                                          </p:val>
                                        </p:tav>
                                      </p:tavLst>
                                    </p:anim>
                                    <p:anim calcmode="lin" valueType="num">
                                      <p:cBhvr additive="base">
                                        <p:cTn id="20" dur="700" fill="hold"/>
                                        <p:tgtEl>
                                          <p:spTgt spid="4"/>
                                        </p:tgtEl>
                                        <p:attrNameLst>
                                          <p:attrName>ppt_y</p:attrName>
                                        </p:attrNameLst>
                                      </p:cBhvr>
                                      <p:tavLst>
                                        <p:tav tm="0">
                                          <p:val>
                                            <p:strVal val="#ppt_y+.06"/>
                                          </p:val>
                                        </p:tav>
                                        <p:tav tm="100000">
                                          <p:val>
                                            <p:strVal val="#ppt_y"/>
                                          </p:val>
                                        </p:tav>
                                      </p:tavLst>
                                    </p:anim>
                                  </p:childTnLst>
                                </p:cTn>
                              </p:par>
                              <p:par>
                                <p:cTn id="21" presetID="10" presetClass="entr" presetSubtype="0" fill="hold" grpId="0" nodeType="withEffect">
                                  <p:stCondLst>
                                    <p:cond delay="9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4" grpId="0" animBg="1"/>
      <p:bldP spid="5"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bg" descr="light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4"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1F4FD8"/>
                </a:solidFill>
                <a:latin typeface="Lexend Exa"/>
                <a:ea typeface="Lexend Exa"/>
                <a:cs typeface="Lexend Exa"/>
              </a:rPr>
              <a:t>KIẾN TẠO</a:t>
            </a:r>
          </a:p>
        </p:txBody>
      </p:sp>
      <p:sp>
        <p:nvSpPr>
          <p:cNvPr id="5" name="!!tag"/>
          <p:cNvSpPr/>
          <p:nvPr/>
        </p:nvSpPr>
        <p:spPr>
          <a:xfrm>
            <a:off x="548640" y="292608"/>
            <a:ext cx="1436668" cy="329184"/>
          </a:xfrm>
          <a:prstGeom prst="roundRect">
            <a:avLst>
              <a:gd name="adj" fmla="val 50000"/>
            </a:avLst>
          </a:prstGeom>
          <a:solidFill>
            <a:srgbClr val="FFFFFF"/>
          </a:solidFill>
          <a:ln w="9525">
            <a:solidFill>
              <a:srgbClr val="D5DEEE"/>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01</a:t>
            </a:r>
          </a:p>
        </p:txBody>
      </p:sp>
      <p:sp>
        <p:nvSpPr>
          <p:cNvPr id="7" name="!!tag_text"/>
          <p:cNvSpPr txBox="1"/>
          <p:nvPr/>
        </p:nvSpPr>
        <p:spPr>
          <a:xfrm>
            <a:off x="896112" y="292608"/>
            <a:ext cx="1070908" cy="329184"/>
          </a:xfrm>
          <a:prstGeom prst="rect">
            <a:avLst/>
          </a:prstGeom>
          <a:noFill/>
        </p:spPr>
        <p:txBody>
          <a:bodyPr wrap="square" lIns="0" rIns="0" tIns="0" bIns="0" anchor="ctr">
            <a:noAutofit/>
          </a:bodyPr>
          <a:lstStyle/>
          <a:p>
            <a:pPr algn="l"/>
            <a:r>
              <a:rPr sz="900" b="0" i="0" spc="100">
                <a:solidFill>
                  <a:srgbClr val="0B1F4D"/>
                </a:solidFill>
                <a:latin typeface="Be Vietnam Pro SemiBold"/>
                <a:ea typeface="Be Vietnam Pro SemiBold"/>
                <a:cs typeface="Be Vietnam Pro SemiBold"/>
              </a:rPr>
              <a:t>GIỚI THIỆU</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B1F4D"/>
                </a:solidFill>
                <a:latin typeface="Lexend Exa"/>
                <a:ea typeface="Lexend Exa"/>
                <a:cs typeface="Lexend Exa"/>
              </a:rPr>
              <a:t>TỔNG QUAN DOANH NGHIỆP</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A5878"/>
                </a:solidFill>
                <a:latin typeface="Be Vietnam Pro"/>
                <a:ea typeface="Be Vietnam Pro"/>
                <a:cs typeface="Be Vietnam Pro"/>
              </a:rPr>
              <a:t>Tổng thầu thiết kế – thi công hàng đầu trong lĩnh vực xây dựng dân dụng và công nghiệp</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A97B5"/>
                </a:solidFill>
                <a:latin typeface="Be Vietnam Pro SemiBold"/>
                <a:ea typeface="Be Vietnam Pro SemiBold"/>
                <a:cs typeface="Be Vietnam Pro SemiBold"/>
              </a:rPr>
              <a:t>05</a:t>
            </a:r>
          </a:p>
        </p:txBody>
      </p:sp>
      <p:sp>
        <p:nvSpPr>
          <p:cNvPr id="11" name="TextBox 10"/>
          <p:cNvSpPr txBox="1"/>
          <p:nvPr/>
        </p:nvSpPr>
        <p:spPr>
          <a:xfrm>
            <a:off x="548640" y="1783080"/>
            <a:ext cx="5760720" cy="2011680"/>
          </a:xfrm>
          <a:prstGeom prst="rect">
            <a:avLst/>
          </a:prstGeom>
          <a:noFill/>
        </p:spPr>
        <p:txBody>
          <a:bodyPr wrap="square" lIns="0" rIns="0" tIns="0" bIns="0" anchor="t">
            <a:noAutofit/>
          </a:bodyPr>
          <a:lstStyle/>
          <a:p>
            <a:pPr algn="l">
              <a:lnSpc>
                <a:spcPct val="135000"/>
              </a:lnSpc>
              <a:spcAft>
                <a:spcPts val="800"/>
              </a:spcAft>
            </a:pPr>
            <a:r>
              <a:rPr sz="1250" b="1" i="0">
                <a:solidFill>
                  <a:srgbClr val="1F4FD8"/>
                </a:solidFill>
                <a:latin typeface="Be Vietnam Pro"/>
                <a:ea typeface="Be Vietnam Pro"/>
                <a:cs typeface="Be Vietnam Pro"/>
              </a:rPr>
              <a:t>Tổng công ty Xây dựng Kiến Tạo</a:t>
            </a:r>
            <a:r>
              <a:rPr sz="1250" b="0" i="0">
                <a:solidFill>
                  <a:srgbClr val="4A5878"/>
                </a:solidFill>
                <a:latin typeface="Be Vietnam Pro"/>
                <a:ea typeface="Be Vietnam Pro"/>
                <a:cs typeface="Be Vietnam Pro"/>
              </a:rPr>
              <a:t> được thành lập năm 2004, hoạt động theo mô hình tổng thầu </a:t>
            </a:r>
            <a:r>
              <a:rPr sz="1250" b="1" i="0">
                <a:solidFill>
                  <a:srgbClr val="1F4FD8"/>
                </a:solidFill>
                <a:latin typeface="Be Vietnam Pro"/>
                <a:ea typeface="Be Vietnam Pro"/>
                <a:cs typeface="Be Vietnam Pro"/>
              </a:rPr>
              <a:t>Design &amp; Build</a:t>
            </a:r>
            <a:r>
              <a:rPr sz="1250" b="0" i="0">
                <a:solidFill>
                  <a:srgbClr val="4A5878"/>
                </a:solidFill>
                <a:latin typeface="Be Vietnam Pro"/>
                <a:ea typeface="Be Vietnam Pro"/>
                <a:cs typeface="Be Vietnam Pro"/>
              </a:rPr>
              <a:t>.</a:t>
            </a:r>
          </a:p>
          <a:p>
            <a:pPr algn="l">
              <a:lnSpc>
                <a:spcPct val="135000"/>
              </a:lnSpc>
              <a:spcAft>
                <a:spcPts val="800"/>
              </a:spcAft>
            </a:pPr>
            <a:r>
              <a:rPr sz="1250" b="0" i="0">
                <a:solidFill>
                  <a:srgbClr val="4A5878"/>
                </a:solidFill>
                <a:latin typeface="Be Vietnam Pro"/>
                <a:ea typeface="Be Vietnam Pro"/>
                <a:cs typeface="Be Vietnam Pro"/>
              </a:rPr>
              <a:t>Với đội ngũ kỹ sư giàu kinh nghiệm, hệ thống thiết bị hiện đại và quy trình quản lý đạt chuẩn quốc tế, Kiến Tạo cung cấp giải pháp trọn gói từ thiết kế, thi công đến bàn giao vận hành.</a:t>
            </a:r>
          </a:p>
        </p:txBody>
      </p:sp>
      <p:pic>
        <p:nvPicPr>
          <p:cNvPr id="12" name="!!ph1" descr="d1be9716b3f16f35.jpg"/>
          <p:cNvPicPr>
            <a:picLocks noChangeAspect="1"/>
          </p:cNvPicPr>
          <p:nvPr/>
        </p:nvPicPr>
        <p:blipFill>
          <a:blip r:embed="rId4"/>
          <a:srcRect b="15413"/>
          <a:stretch>
            <a:fillRect/>
          </a:stretch>
        </p:blipFill>
        <p:spPr>
          <a:xfrm>
            <a:off x="6766560" y="1600200"/>
            <a:ext cx="4876495" cy="2743200"/>
          </a:xfrm>
          <a:prstGeom prst="roundRect">
            <a:avLst>
              <a:gd name="adj" fmla="val 5333"/>
            </a:avLst>
          </a:prstGeom>
          <a:effectLst>
            <a:outerShdw blurRad="274320" dist="73152" dir="5400000" algn="ctr" rotWithShape="0">
              <a:srgbClr val="0B1F4D">
                <a:alpha val="22000"/>
              </a:srgbClr>
            </a:outerShdw>
          </a:effectLst>
        </p:spPr>
      </p:pic>
      <p:sp>
        <p:nvSpPr>
          <p:cNvPr id="13" name="Rounded Rectangle 12"/>
          <p:cNvSpPr/>
          <p:nvPr/>
        </p:nvSpPr>
        <p:spPr>
          <a:xfrm>
            <a:off x="548640" y="4617720"/>
            <a:ext cx="2602154"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Oval 13"/>
          <p:cNvSpPr/>
          <p:nvPr/>
        </p:nvSpPr>
        <p:spPr>
          <a:xfrm>
            <a:off x="749808" y="4818888"/>
            <a:ext cx="512064" cy="51206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building-2_FFFFFF.png"/>
          <p:cNvPicPr>
            <a:picLocks noChangeAspect="1"/>
          </p:cNvPicPr>
          <p:nvPr/>
        </p:nvPicPr>
        <p:blipFill>
          <a:blip r:embed="rId5"/>
          <a:stretch>
            <a:fillRect/>
          </a:stretch>
        </p:blipFill>
        <p:spPr>
          <a:xfrm>
            <a:off x="872703" y="4941783"/>
            <a:ext cx="266273" cy="266273"/>
          </a:xfrm>
          <a:prstGeom prst="rect">
            <a:avLst/>
          </a:prstGeom>
        </p:spPr>
      </p:pic>
      <p:sp>
        <p:nvSpPr>
          <p:cNvPr id="16" name="TextBox 15"/>
          <p:cNvSpPr txBox="1"/>
          <p:nvPr/>
        </p:nvSpPr>
        <p:spPr>
          <a:xfrm>
            <a:off x="1417320" y="4727448"/>
            <a:ext cx="1687754" cy="685800"/>
          </a:xfrm>
          <a:prstGeom prst="rect">
            <a:avLst/>
          </a:prstGeom>
          <a:noFill/>
        </p:spPr>
        <p:txBody>
          <a:bodyPr wrap="none" lIns="0" rIns="0" tIns="0" bIns="0" anchor="ctr">
            <a:noAutofit/>
          </a:bodyPr>
          <a:lstStyle/>
          <a:p>
            <a:pPr algn="l">
              <a:lnSpc>
                <a:spcPct val="100000"/>
              </a:lnSpc>
            </a:pPr>
            <a:r>
              <a:rPr sz="2600" b="1" i="0">
                <a:solidFill>
                  <a:srgbClr val="1F4FD8"/>
                </a:solidFill>
                <a:latin typeface="Lexend Exa"/>
                <a:ea typeface="Lexend Exa"/>
                <a:cs typeface="Lexend Exa"/>
              </a:rPr>
              <a:t>20</a:t>
            </a:r>
            <a:r>
              <a:rPr sz="1300" b="1" i="0">
                <a:solidFill>
                  <a:srgbClr val="1F4FD8"/>
                </a:solidFill>
                <a:latin typeface="Lexend Exa"/>
                <a:ea typeface="Lexend Exa"/>
                <a:cs typeface="Lexend Exa"/>
              </a:rPr>
              <a:t>+ năm</a:t>
            </a:r>
          </a:p>
        </p:txBody>
      </p:sp>
      <p:sp>
        <p:nvSpPr>
          <p:cNvPr id="17" name="TextBox 16"/>
          <p:cNvSpPr txBox="1"/>
          <p:nvPr/>
        </p:nvSpPr>
        <p:spPr>
          <a:xfrm>
            <a:off x="777240" y="5486400"/>
            <a:ext cx="2236394" cy="548640"/>
          </a:xfrm>
          <a:prstGeom prst="rect">
            <a:avLst/>
          </a:prstGeom>
          <a:noFill/>
        </p:spPr>
        <p:txBody>
          <a:bodyPr wrap="square" lIns="0" rIns="0" tIns="0" bIns="0" anchor="t">
            <a:noAutofit/>
          </a:bodyPr>
          <a:lstStyle/>
          <a:p>
            <a:pPr algn="l">
              <a:lnSpc>
                <a:spcPct val="110000"/>
              </a:lnSpc>
            </a:pPr>
            <a:r>
              <a:rPr sz="1050" b="0" i="0">
                <a:solidFill>
                  <a:srgbClr val="4A5878"/>
                </a:solidFill>
                <a:latin typeface="Be Vietnam Pro"/>
                <a:ea typeface="Be Vietnam Pro"/>
                <a:cs typeface="Be Vietnam Pro"/>
              </a:rPr>
              <a:t>kinh nghiệm tổng thầu xây dựng</a:t>
            </a:r>
          </a:p>
        </p:txBody>
      </p:sp>
      <p:sp>
        <p:nvSpPr>
          <p:cNvPr id="18" name="Rounded Rectangle 17"/>
          <p:cNvSpPr/>
          <p:nvPr/>
        </p:nvSpPr>
        <p:spPr>
          <a:xfrm>
            <a:off x="3379394" y="4617720"/>
            <a:ext cx="2602154"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Oval 18"/>
          <p:cNvSpPr/>
          <p:nvPr/>
        </p:nvSpPr>
        <p:spPr>
          <a:xfrm>
            <a:off x="3580562" y="4818888"/>
            <a:ext cx="512064" cy="51206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users_FFFFFF.png"/>
          <p:cNvPicPr>
            <a:picLocks noChangeAspect="1"/>
          </p:cNvPicPr>
          <p:nvPr/>
        </p:nvPicPr>
        <p:blipFill>
          <a:blip r:embed="rId6"/>
          <a:stretch>
            <a:fillRect/>
          </a:stretch>
        </p:blipFill>
        <p:spPr>
          <a:xfrm>
            <a:off x="3703457" y="4941783"/>
            <a:ext cx="266273" cy="266273"/>
          </a:xfrm>
          <a:prstGeom prst="rect">
            <a:avLst/>
          </a:prstGeom>
        </p:spPr>
      </p:pic>
      <p:sp>
        <p:nvSpPr>
          <p:cNvPr id="21" name="TextBox 20"/>
          <p:cNvSpPr txBox="1"/>
          <p:nvPr/>
        </p:nvSpPr>
        <p:spPr>
          <a:xfrm>
            <a:off x="4248074" y="4727448"/>
            <a:ext cx="1687754" cy="685800"/>
          </a:xfrm>
          <a:prstGeom prst="rect">
            <a:avLst/>
          </a:prstGeom>
          <a:noFill/>
        </p:spPr>
        <p:txBody>
          <a:bodyPr wrap="none" lIns="0" rIns="0" tIns="0" bIns="0" anchor="ctr">
            <a:noAutofit/>
          </a:bodyPr>
          <a:lstStyle/>
          <a:p>
            <a:pPr algn="l">
              <a:lnSpc>
                <a:spcPct val="100000"/>
              </a:lnSpc>
            </a:pPr>
            <a:r>
              <a:rPr sz="2600" b="1" i="0">
                <a:solidFill>
                  <a:srgbClr val="1F4FD8"/>
                </a:solidFill>
                <a:latin typeface="Lexend Exa"/>
                <a:ea typeface="Lexend Exa"/>
                <a:cs typeface="Lexend Exa"/>
              </a:rPr>
              <a:t>3.500</a:t>
            </a:r>
            <a:r>
              <a:rPr sz="1300" b="1" i="0">
                <a:solidFill>
                  <a:srgbClr val="1F4FD8"/>
                </a:solidFill>
                <a:latin typeface="Lexend Exa"/>
                <a:ea typeface="Lexend Exa"/>
                <a:cs typeface="Lexend Exa"/>
              </a:rPr>
              <a:t>+</a:t>
            </a:r>
          </a:p>
        </p:txBody>
      </p:sp>
      <p:sp>
        <p:nvSpPr>
          <p:cNvPr id="22" name="TextBox 21"/>
          <p:cNvSpPr txBox="1"/>
          <p:nvPr/>
        </p:nvSpPr>
        <p:spPr>
          <a:xfrm>
            <a:off x="3607994" y="5486400"/>
            <a:ext cx="2236394" cy="548640"/>
          </a:xfrm>
          <a:prstGeom prst="rect">
            <a:avLst/>
          </a:prstGeom>
          <a:noFill/>
        </p:spPr>
        <p:txBody>
          <a:bodyPr wrap="square" lIns="0" rIns="0" tIns="0" bIns="0" anchor="t">
            <a:noAutofit/>
          </a:bodyPr>
          <a:lstStyle/>
          <a:p>
            <a:pPr algn="l">
              <a:lnSpc>
                <a:spcPct val="110000"/>
              </a:lnSpc>
            </a:pPr>
            <a:r>
              <a:rPr sz="1050" b="0" i="0">
                <a:solidFill>
                  <a:srgbClr val="4A5878"/>
                </a:solidFill>
                <a:latin typeface="Be Vietnam Pro"/>
                <a:ea typeface="Be Vietnam Pro"/>
                <a:cs typeface="Be Vietnam Pro"/>
              </a:rPr>
              <a:t>cán bộ, kỹ sư và công nhân lành nghề</a:t>
            </a:r>
          </a:p>
        </p:txBody>
      </p:sp>
      <p:sp>
        <p:nvSpPr>
          <p:cNvPr id="23" name="Rounded Rectangle 22"/>
          <p:cNvSpPr/>
          <p:nvPr/>
        </p:nvSpPr>
        <p:spPr>
          <a:xfrm>
            <a:off x="6210148" y="4617720"/>
            <a:ext cx="2602154"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4" name="Oval 23"/>
          <p:cNvSpPr/>
          <p:nvPr/>
        </p:nvSpPr>
        <p:spPr>
          <a:xfrm>
            <a:off x="6411316" y="4818888"/>
            <a:ext cx="512064" cy="51206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briefcase_FFFFFF.png"/>
          <p:cNvPicPr>
            <a:picLocks noChangeAspect="1"/>
          </p:cNvPicPr>
          <p:nvPr/>
        </p:nvPicPr>
        <p:blipFill>
          <a:blip r:embed="rId7"/>
          <a:stretch>
            <a:fillRect/>
          </a:stretch>
        </p:blipFill>
        <p:spPr>
          <a:xfrm>
            <a:off x="6534211" y="4941783"/>
            <a:ext cx="266273" cy="266273"/>
          </a:xfrm>
          <a:prstGeom prst="rect">
            <a:avLst/>
          </a:prstGeom>
        </p:spPr>
      </p:pic>
      <p:sp>
        <p:nvSpPr>
          <p:cNvPr id="26" name="TextBox 25"/>
          <p:cNvSpPr txBox="1"/>
          <p:nvPr/>
        </p:nvSpPr>
        <p:spPr>
          <a:xfrm>
            <a:off x="7078828" y="4727448"/>
            <a:ext cx="1687754" cy="685800"/>
          </a:xfrm>
          <a:prstGeom prst="rect">
            <a:avLst/>
          </a:prstGeom>
          <a:noFill/>
        </p:spPr>
        <p:txBody>
          <a:bodyPr wrap="none" lIns="0" rIns="0" tIns="0" bIns="0" anchor="ctr">
            <a:noAutofit/>
          </a:bodyPr>
          <a:lstStyle/>
          <a:p>
            <a:pPr algn="l">
              <a:lnSpc>
                <a:spcPct val="100000"/>
              </a:lnSpc>
            </a:pPr>
            <a:r>
              <a:rPr sz="2600" b="1" i="0">
                <a:solidFill>
                  <a:srgbClr val="1F4FD8"/>
                </a:solidFill>
                <a:latin typeface="Lexend Exa"/>
                <a:ea typeface="Lexend Exa"/>
                <a:cs typeface="Lexend Exa"/>
              </a:rPr>
              <a:t>250</a:t>
            </a:r>
            <a:r>
              <a:rPr sz="1300" b="1" i="0">
                <a:solidFill>
                  <a:srgbClr val="1F4FD8"/>
                </a:solidFill>
                <a:latin typeface="Lexend Exa"/>
                <a:ea typeface="Lexend Exa"/>
                <a:cs typeface="Lexend Exa"/>
              </a:rPr>
              <a:t>+</a:t>
            </a:r>
          </a:p>
        </p:txBody>
      </p:sp>
      <p:sp>
        <p:nvSpPr>
          <p:cNvPr id="27" name="TextBox 26"/>
          <p:cNvSpPr txBox="1"/>
          <p:nvPr/>
        </p:nvSpPr>
        <p:spPr>
          <a:xfrm>
            <a:off x="6438748" y="5486400"/>
            <a:ext cx="2236394" cy="548640"/>
          </a:xfrm>
          <a:prstGeom prst="rect">
            <a:avLst/>
          </a:prstGeom>
          <a:noFill/>
        </p:spPr>
        <p:txBody>
          <a:bodyPr wrap="square" lIns="0" rIns="0" tIns="0" bIns="0" anchor="t">
            <a:noAutofit/>
          </a:bodyPr>
          <a:lstStyle/>
          <a:p>
            <a:pPr algn="l">
              <a:lnSpc>
                <a:spcPct val="110000"/>
              </a:lnSpc>
            </a:pPr>
            <a:r>
              <a:rPr sz="1050" b="0" i="0">
                <a:solidFill>
                  <a:srgbClr val="4A5878"/>
                </a:solidFill>
                <a:latin typeface="Be Vietnam Pro"/>
                <a:ea typeface="Be Vietnam Pro"/>
                <a:cs typeface="Be Vietnam Pro"/>
              </a:rPr>
              <a:t>dự án đã hoàn thành và bàn giao</a:t>
            </a:r>
          </a:p>
        </p:txBody>
      </p:sp>
      <p:sp>
        <p:nvSpPr>
          <p:cNvPr id="28" name="Rounded Rectangle 27"/>
          <p:cNvSpPr/>
          <p:nvPr/>
        </p:nvSpPr>
        <p:spPr>
          <a:xfrm>
            <a:off x="9040901" y="4617720"/>
            <a:ext cx="2602154"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9" name="Oval 28"/>
          <p:cNvSpPr/>
          <p:nvPr/>
        </p:nvSpPr>
        <p:spPr>
          <a:xfrm>
            <a:off x="9242069" y="4818888"/>
            <a:ext cx="512064" cy="51206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award_FFFFFF.png"/>
          <p:cNvPicPr>
            <a:picLocks noChangeAspect="1"/>
          </p:cNvPicPr>
          <p:nvPr/>
        </p:nvPicPr>
        <p:blipFill>
          <a:blip r:embed="rId8"/>
          <a:stretch>
            <a:fillRect/>
          </a:stretch>
        </p:blipFill>
        <p:spPr>
          <a:xfrm>
            <a:off x="9364965" y="4941783"/>
            <a:ext cx="266273" cy="266273"/>
          </a:xfrm>
          <a:prstGeom prst="rect">
            <a:avLst/>
          </a:prstGeom>
        </p:spPr>
      </p:pic>
      <p:sp>
        <p:nvSpPr>
          <p:cNvPr id="31" name="TextBox 30"/>
          <p:cNvSpPr txBox="1"/>
          <p:nvPr/>
        </p:nvSpPr>
        <p:spPr>
          <a:xfrm>
            <a:off x="9909581" y="4727448"/>
            <a:ext cx="1687754" cy="685800"/>
          </a:xfrm>
          <a:prstGeom prst="rect">
            <a:avLst/>
          </a:prstGeom>
          <a:noFill/>
        </p:spPr>
        <p:txBody>
          <a:bodyPr wrap="none" lIns="0" rIns="0" tIns="0" bIns="0" anchor="ctr">
            <a:noAutofit/>
          </a:bodyPr>
          <a:lstStyle/>
          <a:p>
            <a:pPr algn="l">
              <a:lnSpc>
                <a:spcPct val="100000"/>
              </a:lnSpc>
            </a:pPr>
            <a:r>
              <a:rPr sz="2600" b="1" i="0">
                <a:solidFill>
                  <a:srgbClr val="1F4FD8"/>
                </a:solidFill>
                <a:latin typeface="Lexend Exa"/>
                <a:ea typeface="Lexend Exa"/>
                <a:cs typeface="Lexend Exa"/>
              </a:rPr>
              <a:t>35</a:t>
            </a:r>
            <a:r>
              <a:rPr sz="1300" b="1" i="0">
                <a:solidFill>
                  <a:srgbClr val="1F4FD8"/>
                </a:solidFill>
                <a:latin typeface="Lexend Exa"/>
                <a:ea typeface="Lexend Exa"/>
                <a:cs typeface="Lexend Exa"/>
              </a:rPr>
              <a:t/>
            </a:r>
          </a:p>
        </p:txBody>
      </p:sp>
      <p:sp>
        <p:nvSpPr>
          <p:cNvPr id="32" name="TextBox 31"/>
          <p:cNvSpPr txBox="1"/>
          <p:nvPr/>
        </p:nvSpPr>
        <p:spPr>
          <a:xfrm>
            <a:off x="9269501" y="5486400"/>
            <a:ext cx="2236394" cy="548640"/>
          </a:xfrm>
          <a:prstGeom prst="rect">
            <a:avLst/>
          </a:prstGeom>
          <a:noFill/>
        </p:spPr>
        <p:txBody>
          <a:bodyPr wrap="square" lIns="0" rIns="0" tIns="0" bIns="0" anchor="t">
            <a:noAutofit/>
          </a:bodyPr>
          <a:lstStyle/>
          <a:p>
            <a:pPr algn="l">
              <a:lnSpc>
                <a:spcPct val="110000"/>
              </a:lnSpc>
            </a:pPr>
            <a:r>
              <a:rPr sz="1050" b="0" i="0">
                <a:solidFill>
                  <a:srgbClr val="4A5878"/>
                </a:solidFill>
                <a:latin typeface="Be Vietnam Pro"/>
                <a:ea typeface="Be Vietnam Pro"/>
                <a:cs typeface="Be Vietnam Pro"/>
              </a:rPr>
              <a:t>giải thưởng chất lượng và an toàn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53" presetClass="entr" presetSubtype="16" fill="hold" grpId="0" nodeType="withEffect">
                                  <p:stCondLst>
                                    <p:cond delay="40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700" fill="hold"/>
                                        <p:tgtEl>
                                          <p:spTgt spid="12"/>
                                        </p:tgtEl>
                                        <p:attrNameLst>
                                          <p:attrName>ppt_w</p:attrName>
                                        </p:attrNameLst>
                                      </p:cBhvr>
                                      <p:tavLst>
                                        <p:tav tm="0">
                                          <p:val>
                                            <p:strVal val="#ppt_w*0.7"/>
                                          </p:val>
                                        </p:tav>
                                        <p:tav tm="100000">
                                          <p:val>
                                            <p:strVal val="#ppt_w"/>
                                          </p:val>
                                        </p:tav>
                                      </p:tavLst>
                                    </p:anim>
                                    <p:anim calcmode="lin" valueType="num">
                                      <p:cBhvr additive="base">
                                        <p:cTn id="35" dur="700" fill="hold"/>
                                        <p:tgtEl>
                                          <p:spTgt spid="12"/>
                                        </p:tgtEl>
                                        <p:attrNameLst>
                                          <p:attrName>ppt_h</p:attrName>
                                        </p:attrNameLst>
                                      </p:cBhvr>
                                      <p:tavLst>
                                        <p:tav tm="0">
                                          <p:val>
                                            <p:strVal val="#ppt_h*0.7"/>
                                          </p:val>
                                        </p:tav>
                                        <p:tav tm="100000">
                                          <p:val>
                                            <p:strVal val="#ppt_h"/>
                                          </p:val>
                                        </p:tav>
                                      </p:tavLst>
                                    </p:anim>
                                    <p:animEffect transition="in" filter="fade">
                                      <p:cBhvr>
                                        <p:cTn id="36" dur="700"/>
                                        <p:tgtEl>
                                          <p:spTgt spid="12"/>
                                        </p:tgtEl>
                                      </p:cBhvr>
                                    </p:animEffect>
                                  </p:childTnLst>
                                </p:cTn>
                              </p:par>
                              <p:par>
                                <p:cTn id="37" presetID="42" presetClass="entr" presetSubtype="0" fill="hold" grpId="0" nodeType="withEffect">
                                  <p:stCondLst>
                                    <p:cond delay="8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anim calcmode="lin" valueType="num">
                                      <p:cBhvr additive="base">
                                        <p:cTn id="40" dur="500" fill="hold"/>
                                        <p:tgtEl>
                                          <p:spTgt spid="13"/>
                                        </p:tgtEl>
                                        <p:attrNameLst>
                                          <p:attrName>ppt_x</p:attrName>
                                        </p:attrNameLst>
                                      </p:cBhvr>
                                      <p:tavLst>
                                        <p:tav tm="0">
                                          <p:val>
                                            <p:strVal val="#ppt_x"/>
                                          </p:val>
                                        </p:tav>
                                        <p:tav tm="100000">
                                          <p:val>
                                            <p:strVal val="#ppt_x"/>
                                          </p:val>
                                        </p:tav>
                                      </p:tavLst>
                                    </p:anim>
                                    <p:anim calcmode="lin" valueType="num">
                                      <p:cBhvr additive="base">
                                        <p:cTn id="41" dur="500" fill="hold"/>
                                        <p:tgtEl>
                                          <p:spTgt spid="13"/>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80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ppt_y+.06"/>
                                          </p:val>
                                        </p:tav>
                                        <p:tav tm="100000">
                                          <p:val>
                                            <p:strVal val="#ppt_y"/>
                                          </p:val>
                                        </p:tav>
                                      </p:tavLst>
                                    </p:anim>
                                  </p:childTnLst>
                                </p:cTn>
                              </p:par>
                              <p:par>
                                <p:cTn id="47" presetID="42" presetClass="entr" presetSubtype="0" fill="hold" grpId="0" nodeType="withEffect">
                                  <p:stCondLst>
                                    <p:cond delay="8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anim calcmode="lin" valueType="num">
                                      <p:cBhvr additive="base">
                                        <p:cTn id="50" dur="500" fill="hold"/>
                                        <p:tgtEl>
                                          <p:spTgt spid="15"/>
                                        </p:tgtEl>
                                        <p:attrNameLst>
                                          <p:attrName>ppt_x</p:attrName>
                                        </p:attrNameLst>
                                      </p:cBhvr>
                                      <p:tavLst>
                                        <p:tav tm="0">
                                          <p:val>
                                            <p:strVal val="#ppt_x"/>
                                          </p:val>
                                        </p:tav>
                                        <p:tav tm="100000">
                                          <p:val>
                                            <p:strVal val="#ppt_x"/>
                                          </p:val>
                                        </p:tav>
                                      </p:tavLst>
                                    </p:anim>
                                    <p:anim calcmode="lin" valueType="num">
                                      <p:cBhvr additive="base">
                                        <p:cTn id="51" dur="500" fill="hold"/>
                                        <p:tgtEl>
                                          <p:spTgt spid="15"/>
                                        </p:tgtEl>
                                        <p:attrNameLst>
                                          <p:attrName>ppt_y</p:attrName>
                                        </p:attrNameLst>
                                      </p:cBhvr>
                                      <p:tavLst>
                                        <p:tav tm="0">
                                          <p:val>
                                            <p:strVal val="#ppt_y+.06"/>
                                          </p:val>
                                        </p:tav>
                                        <p:tav tm="100000">
                                          <p:val>
                                            <p:strVal val="#ppt_y"/>
                                          </p:val>
                                        </p:tav>
                                      </p:tavLst>
                                    </p:anim>
                                  </p:childTnLst>
                                </p:cTn>
                              </p:par>
                              <p:par>
                                <p:cTn id="52" presetID="42" presetClass="entr" presetSubtype="0" fill="hold" grpId="0" nodeType="withEffect">
                                  <p:stCondLst>
                                    <p:cond delay="80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80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500"/>
                                        <p:tgtEl>
                                          <p:spTgt spid="17"/>
                                        </p:tgtEl>
                                      </p:cBhvr>
                                    </p:animEffect>
                                    <p:anim calcmode="lin" valueType="num">
                                      <p:cBhvr additive="base">
                                        <p:cTn id="60" dur="500" fill="hold"/>
                                        <p:tgtEl>
                                          <p:spTgt spid="17"/>
                                        </p:tgtEl>
                                        <p:attrNameLst>
                                          <p:attrName>ppt_x</p:attrName>
                                        </p:attrNameLst>
                                      </p:cBhvr>
                                      <p:tavLst>
                                        <p:tav tm="0">
                                          <p:val>
                                            <p:strVal val="#ppt_x"/>
                                          </p:val>
                                        </p:tav>
                                        <p:tav tm="100000">
                                          <p:val>
                                            <p:strVal val="#ppt_x"/>
                                          </p:val>
                                        </p:tav>
                                      </p:tavLst>
                                    </p:anim>
                                    <p:anim calcmode="lin" valueType="num">
                                      <p:cBhvr additive="base">
                                        <p:cTn id="61" dur="500" fill="hold"/>
                                        <p:tgtEl>
                                          <p:spTgt spid="17"/>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95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anim calcmode="lin" valueType="num">
                                      <p:cBhvr additive="base">
                                        <p:cTn id="65" dur="500" fill="hold"/>
                                        <p:tgtEl>
                                          <p:spTgt spid="18"/>
                                        </p:tgtEl>
                                        <p:attrNameLst>
                                          <p:attrName>ppt_x</p:attrName>
                                        </p:attrNameLst>
                                      </p:cBhvr>
                                      <p:tavLst>
                                        <p:tav tm="0">
                                          <p:val>
                                            <p:strVal val="#ppt_x"/>
                                          </p:val>
                                        </p:tav>
                                        <p:tav tm="100000">
                                          <p:val>
                                            <p:strVal val="#ppt_x"/>
                                          </p:val>
                                        </p:tav>
                                      </p:tavLst>
                                    </p:anim>
                                    <p:anim calcmode="lin" valueType="num">
                                      <p:cBhvr additive="base">
                                        <p:cTn id="66" dur="500" fill="hold"/>
                                        <p:tgtEl>
                                          <p:spTgt spid="18"/>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95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anim calcmode="lin" valueType="num">
                                      <p:cBhvr additive="base">
                                        <p:cTn id="70" dur="500" fill="hold"/>
                                        <p:tgtEl>
                                          <p:spTgt spid="19"/>
                                        </p:tgtEl>
                                        <p:attrNameLst>
                                          <p:attrName>ppt_x</p:attrName>
                                        </p:attrNameLst>
                                      </p:cBhvr>
                                      <p:tavLst>
                                        <p:tav tm="0">
                                          <p:val>
                                            <p:strVal val="#ppt_x"/>
                                          </p:val>
                                        </p:tav>
                                        <p:tav tm="100000">
                                          <p:val>
                                            <p:strVal val="#ppt_x"/>
                                          </p:val>
                                        </p:tav>
                                      </p:tavLst>
                                    </p:anim>
                                    <p:anim calcmode="lin" valueType="num">
                                      <p:cBhvr additive="base">
                                        <p:cTn id="71" dur="500" fill="hold"/>
                                        <p:tgtEl>
                                          <p:spTgt spid="19"/>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95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00"/>
                                        <p:tgtEl>
                                          <p:spTgt spid="20"/>
                                        </p:tgtEl>
                                      </p:cBhvr>
                                    </p:animEffect>
                                    <p:anim calcmode="lin" valueType="num">
                                      <p:cBhvr additive="base">
                                        <p:cTn id="75" dur="500" fill="hold"/>
                                        <p:tgtEl>
                                          <p:spTgt spid="20"/>
                                        </p:tgtEl>
                                        <p:attrNameLst>
                                          <p:attrName>ppt_x</p:attrName>
                                        </p:attrNameLst>
                                      </p:cBhvr>
                                      <p:tavLst>
                                        <p:tav tm="0">
                                          <p:val>
                                            <p:strVal val="#ppt_x"/>
                                          </p:val>
                                        </p:tav>
                                        <p:tav tm="100000">
                                          <p:val>
                                            <p:strVal val="#ppt_x"/>
                                          </p:val>
                                        </p:tav>
                                      </p:tavLst>
                                    </p:anim>
                                    <p:anim calcmode="lin" valueType="num">
                                      <p:cBhvr additive="base">
                                        <p:cTn id="76" dur="500" fill="hold"/>
                                        <p:tgtEl>
                                          <p:spTgt spid="20"/>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95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anim calcmode="lin" valueType="num">
                                      <p:cBhvr additive="base">
                                        <p:cTn id="80" dur="500" fill="hold"/>
                                        <p:tgtEl>
                                          <p:spTgt spid="21"/>
                                        </p:tgtEl>
                                        <p:attrNameLst>
                                          <p:attrName>ppt_x</p:attrName>
                                        </p:attrNameLst>
                                      </p:cBhvr>
                                      <p:tavLst>
                                        <p:tav tm="0">
                                          <p:val>
                                            <p:strVal val="#ppt_x"/>
                                          </p:val>
                                        </p:tav>
                                        <p:tav tm="100000">
                                          <p:val>
                                            <p:strVal val="#ppt_x"/>
                                          </p:val>
                                        </p:tav>
                                      </p:tavLst>
                                    </p:anim>
                                    <p:anim calcmode="lin" valueType="num">
                                      <p:cBhvr additive="base">
                                        <p:cTn id="81" dur="500" fill="hold"/>
                                        <p:tgtEl>
                                          <p:spTgt spid="21"/>
                                        </p:tgtEl>
                                        <p:attrNameLst>
                                          <p:attrName>ppt_y</p:attrName>
                                        </p:attrNameLst>
                                      </p:cBhvr>
                                      <p:tavLst>
                                        <p:tav tm="0">
                                          <p:val>
                                            <p:strVal val="#ppt_y+.06"/>
                                          </p:val>
                                        </p:tav>
                                        <p:tav tm="100000">
                                          <p:val>
                                            <p:strVal val="#ppt_y"/>
                                          </p:val>
                                        </p:tav>
                                      </p:tavLst>
                                    </p:anim>
                                  </p:childTnLst>
                                </p:cTn>
                              </p:par>
                              <p:par>
                                <p:cTn id="82" presetID="42" presetClass="entr" presetSubtype="0" fill="hold" grpId="0" nodeType="withEffect">
                                  <p:stCondLst>
                                    <p:cond delay="95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500"/>
                                        <p:tgtEl>
                                          <p:spTgt spid="22"/>
                                        </p:tgtEl>
                                      </p:cBhvr>
                                    </p:animEffect>
                                    <p:anim calcmode="lin" valueType="num">
                                      <p:cBhvr additive="base">
                                        <p:cTn id="85" dur="500" fill="hold"/>
                                        <p:tgtEl>
                                          <p:spTgt spid="22"/>
                                        </p:tgtEl>
                                        <p:attrNameLst>
                                          <p:attrName>ppt_x</p:attrName>
                                        </p:attrNameLst>
                                      </p:cBhvr>
                                      <p:tavLst>
                                        <p:tav tm="0">
                                          <p:val>
                                            <p:strVal val="#ppt_x"/>
                                          </p:val>
                                        </p:tav>
                                        <p:tav tm="100000">
                                          <p:val>
                                            <p:strVal val="#ppt_x"/>
                                          </p:val>
                                        </p:tav>
                                      </p:tavLst>
                                    </p:anim>
                                    <p:anim calcmode="lin" valueType="num">
                                      <p:cBhvr additive="base">
                                        <p:cTn id="86" dur="500" fill="hold"/>
                                        <p:tgtEl>
                                          <p:spTgt spid="22"/>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110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anim calcmode="lin" valueType="num">
                                      <p:cBhvr additive="base">
                                        <p:cTn id="90" dur="500" fill="hold"/>
                                        <p:tgtEl>
                                          <p:spTgt spid="23"/>
                                        </p:tgtEl>
                                        <p:attrNameLst>
                                          <p:attrName>ppt_x</p:attrName>
                                        </p:attrNameLst>
                                      </p:cBhvr>
                                      <p:tavLst>
                                        <p:tav tm="0">
                                          <p:val>
                                            <p:strVal val="#ppt_x"/>
                                          </p:val>
                                        </p:tav>
                                        <p:tav tm="100000">
                                          <p:val>
                                            <p:strVal val="#ppt_x"/>
                                          </p:val>
                                        </p:tav>
                                      </p:tavLst>
                                    </p:anim>
                                    <p:anim calcmode="lin" valueType="num">
                                      <p:cBhvr additive="base">
                                        <p:cTn id="91" dur="500" fill="hold"/>
                                        <p:tgtEl>
                                          <p:spTgt spid="23"/>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110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00"/>
                                        <p:tgtEl>
                                          <p:spTgt spid="24"/>
                                        </p:tgtEl>
                                      </p:cBhvr>
                                    </p:animEffect>
                                    <p:anim calcmode="lin" valueType="num">
                                      <p:cBhvr additive="base">
                                        <p:cTn id="95" dur="500" fill="hold"/>
                                        <p:tgtEl>
                                          <p:spTgt spid="24"/>
                                        </p:tgtEl>
                                        <p:attrNameLst>
                                          <p:attrName>ppt_x</p:attrName>
                                        </p:attrNameLst>
                                      </p:cBhvr>
                                      <p:tavLst>
                                        <p:tav tm="0">
                                          <p:val>
                                            <p:strVal val="#ppt_x"/>
                                          </p:val>
                                        </p:tav>
                                        <p:tav tm="100000">
                                          <p:val>
                                            <p:strVal val="#ppt_x"/>
                                          </p:val>
                                        </p:tav>
                                      </p:tavLst>
                                    </p:anim>
                                    <p:anim calcmode="lin" valueType="num">
                                      <p:cBhvr additive="base">
                                        <p:cTn id="96" dur="500" fill="hold"/>
                                        <p:tgtEl>
                                          <p:spTgt spid="24"/>
                                        </p:tgtEl>
                                        <p:attrNameLst>
                                          <p:attrName>ppt_y</p:attrName>
                                        </p:attrNameLst>
                                      </p:cBhvr>
                                      <p:tavLst>
                                        <p:tav tm="0">
                                          <p:val>
                                            <p:strVal val="#ppt_y+.06"/>
                                          </p:val>
                                        </p:tav>
                                        <p:tav tm="100000">
                                          <p:val>
                                            <p:strVal val="#ppt_y"/>
                                          </p:val>
                                        </p:tav>
                                      </p:tavLst>
                                    </p:anim>
                                  </p:childTnLst>
                                </p:cTn>
                              </p:par>
                              <p:par>
                                <p:cTn id="97" presetID="42" presetClass="entr" presetSubtype="0" fill="hold" grpId="0" nodeType="withEffect">
                                  <p:stCondLst>
                                    <p:cond delay="11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500"/>
                                        <p:tgtEl>
                                          <p:spTgt spid="25"/>
                                        </p:tgtEl>
                                      </p:cBhvr>
                                    </p:animEffect>
                                    <p:anim calcmode="lin" valueType="num">
                                      <p:cBhvr additive="base">
                                        <p:cTn id="100" dur="500" fill="hold"/>
                                        <p:tgtEl>
                                          <p:spTgt spid="25"/>
                                        </p:tgtEl>
                                        <p:attrNameLst>
                                          <p:attrName>ppt_x</p:attrName>
                                        </p:attrNameLst>
                                      </p:cBhvr>
                                      <p:tavLst>
                                        <p:tav tm="0">
                                          <p:val>
                                            <p:strVal val="#ppt_x"/>
                                          </p:val>
                                        </p:tav>
                                        <p:tav tm="100000">
                                          <p:val>
                                            <p:strVal val="#ppt_x"/>
                                          </p:val>
                                        </p:tav>
                                      </p:tavLst>
                                    </p:anim>
                                    <p:anim calcmode="lin" valueType="num">
                                      <p:cBhvr additive="base">
                                        <p:cTn id="101" dur="500" fill="hold"/>
                                        <p:tgtEl>
                                          <p:spTgt spid="25"/>
                                        </p:tgtEl>
                                        <p:attrNameLst>
                                          <p:attrName>ppt_y</p:attrName>
                                        </p:attrNameLst>
                                      </p:cBhvr>
                                      <p:tavLst>
                                        <p:tav tm="0">
                                          <p:val>
                                            <p:strVal val="#ppt_y+.06"/>
                                          </p:val>
                                        </p:tav>
                                        <p:tav tm="100000">
                                          <p:val>
                                            <p:strVal val="#ppt_y"/>
                                          </p:val>
                                        </p:tav>
                                      </p:tavLst>
                                    </p:anim>
                                  </p:childTnLst>
                                </p:cTn>
                              </p:par>
                              <p:par>
                                <p:cTn id="102" presetID="42" presetClass="entr" presetSubtype="0" fill="hold" grpId="0" nodeType="withEffect">
                                  <p:stCondLst>
                                    <p:cond delay="1100"/>
                                  </p:stCondLst>
                                  <p:childTnLst>
                                    <p:set>
                                      <p:cBhvr>
                                        <p:cTn id="103" dur="1" fill="hold">
                                          <p:stCondLst>
                                            <p:cond delay="0"/>
                                          </p:stCondLst>
                                        </p:cTn>
                                        <p:tgtEl>
                                          <p:spTgt spid="26"/>
                                        </p:tgtEl>
                                        <p:attrNameLst>
                                          <p:attrName>style.visibility</p:attrName>
                                        </p:attrNameLst>
                                      </p:cBhvr>
                                      <p:to>
                                        <p:strVal val="visible"/>
                                      </p:to>
                                    </p:set>
                                    <p:animEffect transition="in" filter="fade">
                                      <p:cBhvr>
                                        <p:cTn id="104" dur="500"/>
                                        <p:tgtEl>
                                          <p:spTgt spid="26"/>
                                        </p:tgtEl>
                                      </p:cBhvr>
                                    </p:animEffect>
                                    <p:anim calcmode="lin" valueType="num">
                                      <p:cBhvr additive="base">
                                        <p:cTn id="105" dur="500" fill="hold"/>
                                        <p:tgtEl>
                                          <p:spTgt spid="26"/>
                                        </p:tgtEl>
                                        <p:attrNameLst>
                                          <p:attrName>ppt_x</p:attrName>
                                        </p:attrNameLst>
                                      </p:cBhvr>
                                      <p:tavLst>
                                        <p:tav tm="0">
                                          <p:val>
                                            <p:strVal val="#ppt_x"/>
                                          </p:val>
                                        </p:tav>
                                        <p:tav tm="100000">
                                          <p:val>
                                            <p:strVal val="#ppt_x"/>
                                          </p:val>
                                        </p:tav>
                                      </p:tavLst>
                                    </p:anim>
                                    <p:anim calcmode="lin" valueType="num">
                                      <p:cBhvr additive="base">
                                        <p:cTn id="106" dur="500" fill="hold"/>
                                        <p:tgtEl>
                                          <p:spTgt spid="26"/>
                                        </p:tgtEl>
                                        <p:attrNameLst>
                                          <p:attrName>ppt_y</p:attrName>
                                        </p:attrNameLst>
                                      </p:cBhvr>
                                      <p:tavLst>
                                        <p:tav tm="0">
                                          <p:val>
                                            <p:strVal val="#ppt_y+.06"/>
                                          </p:val>
                                        </p:tav>
                                        <p:tav tm="100000">
                                          <p:val>
                                            <p:strVal val="#ppt_y"/>
                                          </p:val>
                                        </p:tav>
                                      </p:tavLst>
                                    </p:anim>
                                  </p:childTnLst>
                                </p:cTn>
                              </p:par>
                              <p:par>
                                <p:cTn id="107" presetID="42" presetClass="entr" presetSubtype="0" fill="hold" grpId="0" nodeType="withEffect">
                                  <p:stCondLst>
                                    <p:cond delay="1100"/>
                                  </p:stCondLst>
                                  <p:childTnLst>
                                    <p:set>
                                      <p:cBhvr>
                                        <p:cTn id="108" dur="1" fill="hold">
                                          <p:stCondLst>
                                            <p:cond delay="0"/>
                                          </p:stCondLst>
                                        </p:cTn>
                                        <p:tgtEl>
                                          <p:spTgt spid="27"/>
                                        </p:tgtEl>
                                        <p:attrNameLst>
                                          <p:attrName>style.visibility</p:attrName>
                                        </p:attrNameLst>
                                      </p:cBhvr>
                                      <p:to>
                                        <p:strVal val="visible"/>
                                      </p:to>
                                    </p:set>
                                    <p:animEffect transition="in" filter="fade">
                                      <p:cBhvr>
                                        <p:cTn id="109" dur="500"/>
                                        <p:tgtEl>
                                          <p:spTgt spid="27"/>
                                        </p:tgtEl>
                                      </p:cBhvr>
                                    </p:animEffect>
                                    <p:anim calcmode="lin" valueType="num">
                                      <p:cBhvr additive="base">
                                        <p:cTn id="110" dur="500" fill="hold"/>
                                        <p:tgtEl>
                                          <p:spTgt spid="27"/>
                                        </p:tgtEl>
                                        <p:attrNameLst>
                                          <p:attrName>ppt_x</p:attrName>
                                        </p:attrNameLst>
                                      </p:cBhvr>
                                      <p:tavLst>
                                        <p:tav tm="0">
                                          <p:val>
                                            <p:strVal val="#ppt_x"/>
                                          </p:val>
                                        </p:tav>
                                        <p:tav tm="100000">
                                          <p:val>
                                            <p:strVal val="#ppt_x"/>
                                          </p:val>
                                        </p:tav>
                                      </p:tavLst>
                                    </p:anim>
                                    <p:anim calcmode="lin" valueType="num">
                                      <p:cBhvr additive="base">
                                        <p:cTn id="111" dur="500" fill="hold"/>
                                        <p:tgtEl>
                                          <p:spTgt spid="27"/>
                                        </p:tgtEl>
                                        <p:attrNameLst>
                                          <p:attrName>ppt_y</p:attrName>
                                        </p:attrNameLst>
                                      </p:cBhvr>
                                      <p:tavLst>
                                        <p:tav tm="0">
                                          <p:val>
                                            <p:strVal val="#ppt_y+.06"/>
                                          </p:val>
                                        </p:tav>
                                        <p:tav tm="100000">
                                          <p:val>
                                            <p:strVal val="#ppt_y"/>
                                          </p:val>
                                        </p:tav>
                                      </p:tavLst>
                                    </p:anim>
                                  </p:childTnLst>
                                </p:cTn>
                              </p:par>
                              <p:par>
                                <p:cTn id="112" presetID="42" presetClass="entr" presetSubtype="0" fill="hold" grpId="0" nodeType="withEffect">
                                  <p:stCondLst>
                                    <p:cond delay="125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500"/>
                                        <p:tgtEl>
                                          <p:spTgt spid="28"/>
                                        </p:tgtEl>
                                      </p:cBhvr>
                                    </p:animEffect>
                                    <p:anim calcmode="lin" valueType="num">
                                      <p:cBhvr additive="base">
                                        <p:cTn id="115" dur="500" fill="hold"/>
                                        <p:tgtEl>
                                          <p:spTgt spid="28"/>
                                        </p:tgtEl>
                                        <p:attrNameLst>
                                          <p:attrName>ppt_x</p:attrName>
                                        </p:attrNameLst>
                                      </p:cBhvr>
                                      <p:tavLst>
                                        <p:tav tm="0">
                                          <p:val>
                                            <p:strVal val="#ppt_x"/>
                                          </p:val>
                                        </p:tav>
                                        <p:tav tm="100000">
                                          <p:val>
                                            <p:strVal val="#ppt_x"/>
                                          </p:val>
                                        </p:tav>
                                      </p:tavLst>
                                    </p:anim>
                                    <p:anim calcmode="lin" valueType="num">
                                      <p:cBhvr additive="base">
                                        <p:cTn id="116" dur="500" fill="hold"/>
                                        <p:tgtEl>
                                          <p:spTgt spid="28"/>
                                        </p:tgtEl>
                                        <p:attrNameLst>
                                          <p:attrName>ppt_y</p:attrName>
                                        </p:attrNameLst>
                                      </p:cBhvr>
                                      <p:tavLst>
                                        <p:tav tm="0">
                                          <p:val>
                                            <p:strVal val="#ppt_y+.06"/>
                                          </p:val>
                                        </p:tav>
                                        <p:tav tm="100000">
                                          <p:val>
                                            <p:strVal val="#ppt_y"/>
                                          </p:val>
                                        </p:tav>
                                      </p:tavLst>
                                    </p:anim>
                                  </p:childTnLst>
                                </p:cTn>
                              </p:par>
                              <p:par>
                                <p:cTn id="117" presetID="42" presetClass="entr" presetSubtype="0" fill="hold" grpId="0" nodeType="withEffect">
                                  <p:stCondLst>
                                    <p:cond delay="1250"/>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500"/>
                                        <p:tgtEl>
                                          <p:spTgt spid="29"/>
                                        </p:tgtEl>
                                      </p:cBhvr>
                                    </p:animEffect>
                                    <p:anim calcmode="lin" valueType="num">
                                      <p:cBhvr additive="base">
                                        <p:cTn id="120" dur="500" fill="hold"/>
                                        <p:tgtEl>
                                          <p:spTgt spid="29"/>
                                        </p:tgtEl>
                                        <p:attrNameLst>
                                          <p:attrName>ppt_x</p:attrName>
                                        </p:attrNameLst>
                                      </p:cBhvr>
                                      <p:tavLst>
                                        <p:tav tm="0">
                                          <p:val>
                                            <p:strVal val="#ppt_x"/>
                                          </p:val>
                                        </p:tav>
                                        <p:tav tm="100000">
                                          <p:val>
                                            <p:strVal val="#ppt_x"/>
                                          </p:val>
                                        </p:tav>
                                      </p:tavLst>
                                    </p:anim>
                                    <p:anim calcmode="lin" valueType="num">
                                      <p:cBhvr additive="base">
                                        <p:cTn id="121" dur="500" fill="hold"/>
                                        <p:tgtEl>
                                          <p:spTgt spid="29"/>
                                        </p:tgtEl>
                                        <p:attrNameLst>
                                          <p:attrName>ppt_y</p:attrName>
                                        </p:attrNameLst>
                                      </p:cBhvr>
                                      <p:tavLst>
                                        <p:tav tm="0">
                                          <p:val>
                                            <p:strVal val="#ppt_y+.06"/>
                                          </p:val>
                                        </p:tav>
                                        <p:tav tm="100000">
                                          <p:val>
                                            <p:strVal val="#ppt_y"/>
                                          </p:val>
                                        </p:tav>
                                      </p:tavLst>
                                    </p:anim>
                                  </p:childTnLst>
                                </p:cTn>
                              </p:par>
                              <p:par>
                                <p:cTn id="122" presetID="42" presetClass="entr" presetSubtype="0" fill="hold" grpId="0" nodeType="withEffect">
                                  <p:stCondLst>
                                    <p:cond delay="1250"/>
                                  </p:stCondLst>
                                  <p:childTnLst>
                                    <p:set>
                                      <p:cBhvr>
                                        <p:cTn id="123" dur="1" fill="hold">
                                          <p:stCondLst>
                                            <p:cond delay="0"/>
                                          </p:stCondLst>
                                        </p:cTn>
                                        <p:tgtEl>
                                          <p:spTgt spid="30"/>
                                        </p:tgtEl>
                                        <p:attrNameLst>
                                          <p:attrName>style.visibility</p:attrName>
                                        </p:attrNameLst>
                                      </p:cBhvr>
                                      <p:to>
                                        <p:strVal val="visible"/>
                                      </p:to>
                                    </p:set>
                                    <p:animEffect transition="in" filter="fade">
                                      <p:cBhvr>
                                        <p:cTn id="124" dur="500"/>
                                        <p:tgtEl>
                                          <p:spTgt spid="30"/>
                                        </p:tgtEl>
                                      </p:cBhvr>
                                    </p:animEffect>
                                    <p:anim calcmode="lin" valueType="num">
                                      <p:cBhvr additive="base">
                                        <p:cTn id="125" dur="500" fill="hold"/>
                                        <p:tgtEl>
                                          <p:spTgt spid="30"/>
                                        </p:tgtEl>
                                        <p:attrNameLst>
                                          <p:attrName>ppt_x</p:attrName>
                                        </p:attrNameLst>
                                      </p:cBhvr>
                                      <p:tavLst>
                                        <p:tav tm="0">
                                          <p:val>
                                            <p:strVal val="#ppt_x"/>
                                          </p:val>
                                        </p:tav>
                                        <p:tav tm="100000">
                                          <p:val>
                                            <p:strVal val="#ppt_x"/>
                                          </p:val>
                                        </p:tav>
                                      </p:tavLst>
                                    </p:anim>
                                    <p:anim calcmode="lin" valueType="num">
                                      <p:cBhvr additive="base">
                                        <p:cTn id="126" dur="500" fill="hold"/>
                                        <p:tgtEl>
                                          <p:spTgt spid="30"/>
                                        </p:tgtEl>
                                        <p:attrNameLst>
                                          <p:attrName>ppt_y</p:attrName>
                                        </p:attrNameLst>
                                      </p:cBhvr>
                                      <p:tavLst>
                                        <p:tav tm="0">
                                          <p:val>
                                            <p:strVal val="#ppt_y+.06"/>
                                          </p:val>
                                        </p:tav>
                                        <p:tav tm="100000">
                                          <p:val>
                                            <p:strVal val="#ppt_y"/>
                                          </p:val>
                                        </p:tav>
                                      </p:tavLst>
                                    </p:anim>
                                  </p:childTnLst>
                                </p:cTn>
                              </p:par>
                              <p:par>
                                <p:cTn id="127" presetID="42" presetClass="entr" presetSubtype="0" fill="hold" grpId="0" nodeType="withEffect">
                                  <p:stCondLst>
                                    <p:cond delay="1250"/>
                                  </p:stCondLst>
                                  <p:childTnLst>
                                    <p:set>
                                      <p:cBhvr>
                                        <p:cTn id="128" dur="1" fill="hold">
                                          <p:stCondLst>
                                            <p:cond delay="0"/>
                                          </p:stCondLst>
                                        </p:cTn>
                                        <p:tgtEl>
                                          <p:spTgt spid="31"/>
                                        </p:tgtEl>
                                        <p:attrNameLst>
                                          <p:attrName>style.visibility</p:attrName>
                                        </p:attrNameLst>
                                      </p:cBhvr>
                                      <p:to>
                                        <p:strVal val="visible"/>
                                      </p:to>
                                    </p:set>
                                    <p:animEffect transition="in" filter="fade">
                                      <p:cBhvr>
                                        <p:cTn id="129" dur="500"/>
                                        <p:tgtEl>
                                          <p:spTgt spid="31"/>
                                        </p:tgtEl>
                                      </p:cBhvr>
                                    </p:animEffect>
                                    <p:anim calcmode="lin" valueType="num">
                                      <p:cBhvr additive="base">
                                        <p:cTn id="130" dur="500" fill="hold"/>
                                        <p:tgtEl>
                                          <p:spTgt spid="31"/>
                                        </p:tgtEl>
                                        <p:attrNameLst>
                                          <p:attrName>ppt_x</p:attrName>
                                        </p:attrNameLst>
                                      </p:cBhvr>
                                      <p:tavLst>
                                        <p:tav tm="0">
                                          <p:val>
                                            <p:strVal val="#ppt_x"/>
                                          </p:val>
                                        </p:tav>
                                        <p:tav tm="100000">
                                          <p:val>
                                            <p:strVal val="#ppt_x"/>
                                          </p:val>
                                        </p:tav>
                                      </p:tavLst>
                                    </p:anim>
                                    <p:anim calcmode="lin" valueType="num">
                                      <p:cBhvr additive="base">
                                        <p:cTn id="131" dur="500" fill="hold"/>
                                        <p:tgtEl>
                                          <p:spTgt spid="31"/>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1250"/>
                                  </p:stCondLst>
                                  <p:childTnLst>
                                    <p:set>
                                      <p:cBhvr>
                                        <p:cTn id="133" dur="1" fill="hold">
                                          <p:stCondLst>
                                            <p:cond delay="0"/>
                                          </p:stCondLst>
                                        </p:cTn>
                                        <p:tgtEl>
                                          <p:spTgt spid="32"/>
                                        </p:tgtEl>
                                        <p:attrNameLst>
                                          <p:attrName>style.visibility</p:attrName>
                                        </p:attrNameLst>
                                      </p:cBhvr>
                                      <p:to>
                                        <p:strVal val="visible"/>
                                      </p:to>
                                    </p:set>
                                    <p:animEffect transition="in" filter="fade">
                                      <p:cBhvr>
                                        <p:cTn id="134" dur="500"/>
                                        <p:tgtEl>
                                          <p:spTgt spid="32"/>
                                        </p:tgtEl>
                                      </p:cBhvr>
                                    </p:animEffect>
                                    <p:anim calcmode="lin" valueType="num">
                                      <p:cBhvr additive="base">
                                        <p:cTn id="135" dur="500" fill="hold"/>
                                        <p:tgtEl>
                                          <p:spTgt spid="32"/>
                                        </p:tgtEl>
                                        <p:attrNameLst>
                                          <p:attrName>ppt_x</p:attrName>
                                        </p:attrNameLst>
                                      </p:cBhvr>
                                      <p:tavLst>
                                        <p:tav tm="0">
                                          <p:val>
                                            <p:strVal val="#ppt_x"/>
                                          </p:val>
                                        </p:tav>
                                        <p:tav tm="100000">
                                          <p:val>
                                            <p:strVal val="#ppt_x"/>
                                          </p:val>
                                        </p:tav>
                                      </p:tavLst>
                                    </p:anim>
                                    <p:anim calcmode="lin" valueType="num">
                                      <p:cBhvr additive="base">
                                        <p:cTn id="136" dur="500" fill="hold"/>
                                        <p:tgtEl>
                                          <p:spTgt spid="3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0"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bg" descr="light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4"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1F4FD8"/>
                </a:solidFill>
                <a:latin typeface="Lexend Exa"/>
                <a:ea typeface="Lexend Exa"/>
                <a:cs typeface="Lexend Exa"/>
              </a:rPr>
              <a:t>KIẾN TẠO</a:t>
            </a:r>
          </a:p>
        </p:txBody>
      </p:sp>
      <p:sp>
        <p:nvSpPr>
          <p:cNvPr id="5" name="!!tag"/>
          <p:cNvSpPr/>
          <p:nvPr/>
        </p:nvSpPr>
        <p:spPr>
          <a:xfrm>
            <a:off x="548640" y="292608"/>
            <a:ext cx="1436668" cy="329184"/>
          </a:xfrm>
          <a:prstGeom prst="roundRect">
            <a:avLst>
              <a:gd name="adj" fmla="val 50000"/>
            </a:avLst>
          </a:prstGeom>
          <a:solidFill>
            <a:srgbClr val="FFFFFF"/>
          </a:solidFill>
          <a:ln w="9525">
            <a:solidFill>
              <a:srgbClr val="D5DEEE"/>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01</a:t>
            </a:r>
          </a:p>
        </p:txBody>
      </p:sp>
      <p:sp>
        <p:nvSpPr>
          <p:cNvPr id="7" name="!!tag_text"/>
          <p:cNvSpPr txBox="1"/>
          <p:nvPr/>
        </p:nvSpPr>
        <p:spPr>
          <a:xfrm>
            <a:off x="896112" y="292608"/>
            <a:ext cx="1070908" cy="329184"/>
          </a:xfrm>
          <a:prstGeom prst="rect">
            <a:avLst/>
          </a:prstGeom>
          <a:noFill/>
        </p:spPr>
        <p:txBody>
          <a:bodyPr wrap="square" lIns="0" rIns="0" tIns="0" bIns="0" anchor="ctr">
            <a:noAutofit/>
          </a:bodyPr>
          <a:lstStyle/>
          <a:p>
            <a:pPr algn="l"/>
            <a:r>
              <a:rPr sz="900" b="0" i="0" spc="100">
                <a:solidFill>
                  <a:srgbClr val="0B1F4D"/>
                </a:solidFill>
                <a:latin typeface="Be Vietnam Pro SemiBold"/>
                <a:ea typeface="Be Vietnam Pro SemiBold"/>
                <a:cs typeface="Be Vietnam Pro SemiBold"/>
              </a:rPr>
              <a:t>GIỚI THIỆU</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B1F4D"/>
                </a:solidFill>
                <a:latin typeface="Lexend Exa"/>
                <a:ea typeface="Lexend Exa"/>
                <a:cs typeface="Lexend Exa"/>
              </a:rPr>
              <a:t>LỊCH SỬ PHÁT TRIỂN</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A5878"/>
                </a:solidFill>
                <a:latin typeface="Be Vietnam Pro"/>
                <a:ea typeface="Be Vietnam Pro"/>
                <a:cs typeface="Be Vietnam Pro"/>
              </a:rPr>
              <a:t>Những cột mốc đáng nhớ trên hành trình hai thập kỷ</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A97B5"/>
                </a:solidFill>
                <a:latin typeface="Be Vietnam Pro SemiBold"/>
                <a:ea typeface="Be Vietnam Pro SemiBold"/>
                <a:cs typeface="Be Vietnam Pro SemiBold"/>
              </a:rPr>
              <a:t>06</a:t>
            </a:r>
          </a:p>
        </p:txBody>
      </p:sp>
      <p:sp>
        <p:nvSpPr>
          <p:cNvPr id="11" name="Rectangle 10"/>
          <p:cNvSpPr/>
          <p:nvPr/>
        </p:nvSpPr>
        <p:spPr>
          <a:xfrm>
            <a:off x="822960" y="3813048"/>
            <a:ext cx="10545775" cy="54864"/>
          </a:xfrm>
          <a:prstGeom prst="rect">
            <a:avLst/>
          </a:prstGeom>
          <a:gradFill rotWithShape="1">
            <a:gsLst>
              <a:gs pos="0">
                <a:srgbClr val="3FA9FF"/>
              </a:gs>
              <a:gs pos="100000">
                <a:srgbClr val="1F4FD8"/>
              </a:gs>
            </a:gsLst>
            <a:lin ang="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cxnSp>
        <p:nvCxnSpPr>
          <p:cNvPr id="12" name="Connector 11"/>
          <p:cNvCxnSpPr/>
          <p:nvPr/>
        </p:nvCxnSpPr>
        <p:spPr>
          <a:xfrm>
            <a:off x="1877538" y="3995928"/>
            <a:ext cx="0" cy="347472"/>
          </a:xfrm>
          <a:prstGeom prst="line">
            <a:avLst/>
          </a:prstGeom>
          <a:ln w="15875">
            <a:solidFill>
              <a:srgbClr val="1F4FD8"/>
            </a:solidFill>
            <a:prstDash val="dash"/>
          </a:ln>
          <a:effectLst/>
        </p:spPr>
        <p:style>
          <a:lnRef idx="2">
            <a:schemeClr val="accent1"/>
          </a:lnRef>
          <a:fillRef idx="0">
            <a:schemeClr val="accent1"/>
          </a:fillRef>
          <a:effectRef idx="0">
            <a:schemeClr val="accent1"/>
          </a:effectRef>
          <a:fontRef idx="minor">
            <a:schemeClr val="tx1"/>
          </a:fontRef>
        </p:style>
      </p:cxnSp>
      <p:sp>
        <p:nvSpPr>
          <p:cNvPr id="13" name="Oval 12"/>
          <p:cNvSpPr/>
          <p:nvPr/>
        </p:nvSpPr>
        <p:spPr>
          <a:xfrm>
            <a:off x="1722090" y="3685032"/>
            <a:ext cx="310896" cy="310896"/>
          </a:xfrm>
          <a:prstGeom prst="ellipse">
            <a:avLst/>
          </a:prstGeom>
          <a:solidFill>
            <a:srgbClr val="FFFFFF"/>
          </a:solidFill>
          <a:ln w="38100">
            <a:solidFill>
              <a:srgbClr val="1F4F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22960" y="3063240"/>
            <a:ext cx="2109155" cy="548640"/>
          </a:xfrm>
          <a:prstGeom prst="rect">
            <a:avLst/>
          </a:prstGeom>
          <a:noFill/>
        </p:spPr>
        <p:txBody>
          <a:bodyPr wrap="none" lIns="0" rIns="0" tIns="0" bIns="0" anchor="ctr">
            <a:noAutofit/>
          </a:bodyPr>
          <a:lstStyle/>
          <a:p>
            <a:pPr algn="ctr">
              <a:lnSpc>
                <a:spcPct val="100000"/>
              </a:lnSpc>
            </a:pPr>
            <a:r>
              <a:rPr sz="2200" b="1" i="0">
                <a:solidFill>
                  <a:srgbClr val="1F4FD8"/>
                </a:solidFill>
                <a:latin typeface="Lexend Exa"/>
                <a:ea typeface="Lexend Exa"/>
                <a:cs typeface="Lexend Exa"/>
              </a:rPr>
              <a:t>2004</a:t>
            </a:r>
          </a:p>
        </p:txBody>
      </p:sp>
      <p:sp>
        <p:nvSpPr>
          <p:cNvPr id="15" name="Rounded Rectangle 14"/>
          <p:cNvSpPr/>
          <p:nvPr/>
        </p:nvSpPr>
        <p:spPr>
          <a:xfrm>
            <a:off x="891540" y="4343400"/>
            <a:ext cx="1971995"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6" name="TextBox 15"/>
          <p:cNvSpPr txBox="1"/>
          <p:nvPr/>
        </p:nvSpPr>
        <p:spPr>
          <a:xfrm>
            <a:off x="1028700" y="4471416"/>
            <a:ext cx="1697675" cy="411480"/>
          </a:xfrm>
          <a:prstGeom prst="rect">
            <a:avLst/>
          </a:prstGeom>
          <a:noFill/>
        </p:spPr>
        <p:txBody>
          <a:bodyPr wrap="square" lIns="0" rIns="0" tIns="0" bIns="0" anchor="ctr">
            <a:noAutofit/>
          </a:bodyPr>
          <a:lstStyle/>
          <a:p>
            <a:pPr algn="ctr">
              <a:lnSpc>
                <a:spcPct val="105000"/>
              </a:lnSpc>
            </a:pPr>
            <a:r>
              <a:rPr sz="1250" b="1" i="0">
                <a:solidFill>
                  <a:srgbClr val="0B1F4D"/>
                </a:solidFill>
                <a:latin typeface="Be Vietnam Pro"/>
                <a:ea typeface="Be Vietnam Pro"/>
                <a:cs typeface="Be Vietnam Pro"/>
              </a:rPr>
              <a:t>Thành lập</a:t>
            </a:r>
          </a:p>
        </p:txBody>
      </p:sp>
      <p:sp>
        <p:nvSpPr>
          <p:cNvPr id="17" name="TextBox 16"/>
          <p:cNvSpPr txBox="1"/>
          <p:nvPr/>
        </p:nvSpPr>
        <p:spPr>
          <a:xfrm>
            <a:off x="1028700" y="4910328"/>
            <a:ext cx="1697675" cy="868680"/>
          </a:xfrm>
          <a:prstGeom prst="rect">
            <a:avLst/>
          </a:prstGeom>
          <a:noFill/>
        </p:spPr>
        <p:txBody>
          <a:bodyPr wrap="square" lIns="0" rIns="0" tIns="0" bIns="0" anchor="t">
            <a:noAutofit/>
          </a:bodyPr>
          <a:lstStyle/>
          <a:p>
            <a:pPr algn="ctr">
              <a:lnSpc>
                <a:spcPct val="115000"/>
              </a:lnSpc>
            </a:pPr>
            <a:r>
              <a:rPr sz="1050" b="0" i="0">
                <a:solidFill>
                  <a:srgbClr val="4A5878"/>
                </a:solidFill>
                <a:latin typeface="Be Vietnam Pro"/>
                <a:ea typeface="Be Vietnam Pro"/>
                <a:cs typeface="Be Vietnam Pro"/>
              </a:rPr>
              <a:t>Khởi đầu với 50 nhân sự và các công trình dân dụng.</a:t>
            </a:r>
          </a:p>
        </p:txBody>
      </p:sp>
      <p:cxnSp>
        <p:nvCxnSpPr>
          <p:cNvPr id="18" name="Connector 17"/>
          <p:cNvCxnSpPr/>
          <p:nvPr/>
        </p:nvCxnSpPr>
        <p:spPr>
          <a:xfrm flipV="1">
            <a:off x="3986693" y="3337560"/>
            <a:ext cx="0" cy="347472"/>
          </a:xfrm>
          <a:prstGeom prst="line">
            <a:avLst/>
          </a:prstGeom>
          <a:ln w="15875">
            <a:solidFill>
              <a:srgbClr val="1F4FD8"/>
            </a:solidFill>
            <a:prstDash val="dash"/>
          </a:ln>
          <a:effectLst/>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3831245" y="3685032"/>
            <a:ext cx="310896" cy="310896"/>
          </a:xfrm>
          <a:prstGeom prst="ellipse">
            <a:avLst/>
          </a:prstGeom>
          <a:solidFill>
            <a:srgbClr val="FFFFFF"/>
          </a:solidFill>
          <a:ln w="38100">
            <a:solidFill>
              <a:srgbClr val="1F4F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2932115" y="4069080"/>
            <a:ext cx="2109155" cy="548640"/>
          </a:xfrm>
          <a:prstGeom prst="rect">
            <a:avLst/>
          </a:prstGeom>
          <a:noFill/>
        </p:spPr>
        <p:txBody>
          <a:bodyPr wrap="none" lIns="0" rIns="0" tIns="0" bIns="0" anchor="ctr">
            <a:noAutofit/>
          </a:bodyPr>
          <a:lstStyle/>
          <a:p>
            <a:pPr algn="ctr">
              <a:lnSpc>
                <a:spcPct val="100000"/>
              </a:lnSpc>
            </a:pPr>
            <a:r>
              <a:rPr sz="2200" b="1" i="0">
                <a:solidFill>
                  <a:srgbClr val="1F4FD8"/>
                </a:solidFill>
                <a:latin typeface="Lexend Exa"/>
                <a:ea typeface="Lexend Exa"/>
                <a:cs typeface="Lexend Exa"/>
              </a:rPr>
              <a:t>2009</a:t>
            </a:r>
          </a:p>
        </p:txBody>
      </p:sp>
      <p:sp>
        <p:nvSpPr>
          <p:cNvPr id="21" name="Rounded Rectangle 20"/>
          <p:cNvSpPr/>
          <p:nvPr/>
        </p:nvSpPr>
        <p:spPr>
          <a:xfrm>
            <a:off x="3000695" y="1828800"/>
            <a:ext cx="1971995"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2" name="TextBox 21"/>
          <p:cNvSpPr txBox="1"/>
          <p:nvPr/>
        </p:nvSpPr>
        <p:spPr>
          <a:xfrm>
            <a:off x="3137855" y="1956816"/>
            <a:ext cx="1697675" cy="411480"/>
          </a:xfrm>
          <a:prstGeom prst="rect">
            <a:avLst/>
          </a:prstGeom>
          <a:noFill/>
        </p:spPr>
        <p:txBody>
          <a:bodyPr wrap="square" lIns="0" rIns="0" tIns="0" bIns="0" anchor="ctr">
            <a:noAutofit/>
          </a:bodyPr>
          <a:lstStyle/>
          <a:p>
            <a:pPr algn="ctr">
              <a:lnSpc>
                <a:spcPct val="105000"/>
              </a:lnSpc>
            </a:pPr>
            <a:r>
              <a:rPr sz="1250" b="1" i="0">
                <a:solidFill>
                  <a:srgbClr val="0B1F4D"/>
                </a:solidFill>
                <a:latin typeface="Be Vietnam Pro"/>
                <a:ea typeface="Be Vietnam Pro"/>
                <a:cs typeface="Be Vietnam Pro"/>
              </a:rPr>
              <a:t>Cổ phần hóa</a:t>
            </a:r>
          </a:p>
        </p:txBody>
      </p:sp>
      <p:sp>
        <p:nvSpPr>
          <p:cNvPr id="23" name="TextBox 22"/>
          <p:cNvSpPr txBox="1"/>
          <p:nvPr/>
        </p:nvSpPr>
        <p:spPr>
          <a:xfrm>
            <a:off x="3137855" y="2395728"/>
            <a:ext cx="1697675" cy="868680"/>
          </a:xfrm>
          <a:prstGeom prst="rect">
            <a:avLst/>
          </a:prstGeom>
          <a:noFill/>
        </p:spPr>
        <p:txBody>
          <a:bodyPr wrap="square" lIns="0" rIns="0" tIns="0" bIns="0" anchor="t">
            <a:noAutofit/>
          </a:bodyPr>
          <a:lstStyle/>
          <a:p>
            <a:pPr algn="ctr">
              <a:lnSpc>
                <a:spcPct val="115000"/>
              </a:lnSpc>
            </a:pPr>
            <a:r>
              <a:rPr sz="1050" b="0" i="0">
                <a:solidFill>
                  <a:srgbClr val="4A5878"/>
                </a:solidFill>
                <a:latin typeface="Be Vietnam Pro"/>
                <a:ea typeface="Be Vietnam Pro"/>
                <a:cs typeface="Be Vietnam Pro"/>
              </a:rPr>
              <a:t>Chuyển đổi mô hình, mở rộng sang nhà xưởng công nghiệp.</a:t>
            </a:r>
          </a:p>
        </p:txBody>
      </p:sp>
      <p:cxnSp>
        <p:nvCxnSpPr>
          <p:cNvPr id="24" name="Connector 23"/>
          <p:cNvCxnSpPr/>
          <p:nvPr/>
        </p:nvCxnSpPr>
        <p:spPr>
          <a:xfrm>
            <a:off x="6095848" y="3995928"/>
            <a:ext cx="0" cy="347472"/>
          </a:xfrm>
          <a:prstGeom prst="line">
            <a:avLst/>
          </a:prstGeom>
          <a:ln w="15875">
            <a:solidFill>
              <a:srgbClr val="1F4FD8"/>
            </a:solidFill>
            <a:prstDash val="dash"/>
          </a:ln>
          <a:effectLst/>
        </p:spPr>
        <p:style>
          <a:lnRef idx="2">
            <a:schemeClr val="accent1"/>
          </a:lnRef>
          <a:fillRef idx="0">
            <a:schemeClr val="accent1"/>
          </a:fillRef>
          <a:effectRef idx="0">
            <a:schemeClr val="accent1"/>
          </a:effectRef>
          <a:fontRef idx="minor">
            <a:schemeClr val="tx1"/>
          </a:fontRef>
        </p:style>
      </p:cxnSp>
      <p:sp>
        <p:nvSpPr>
          <p:cNvPr id="25" name="Oval 24"/>
          <p:cNvSpPr/>
          <p:nvPr/>
        </p:nvSpPr>
        <p:spPr>
          <a:xfrm>
            <a:off x="5940400" y="3685032"/>
            <a:ext cx="310896" cy="310896"/>
          </a:xfrm>
          <a:prstGeom prst="ellipse">
            <a:avLst/>
          </a:prstGeom>
          <a:solidFill>
            <a:srgbClr val="FFFFFF"/>
          </a:solidFill>
          <a:ln w="38100">
            <a:solidFill>
              <a:srgbClr val="1F4F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041270" y="3063240"/>
            <a:ext cx="2109155" cy="548640"/>
          </a:xfrm>
          <a:prstGeom prst="rect">
            <a:avLst/>
          </a:prstGeom>
          <a:noFill/>
        </p:spPr>
        <p:txBody>
          <a:bodyPr wrap="none" lIns="0" rIns="0" tIns="0" bIns="0" anchor="ctr">
            <a:noAutofit/>
          </a:bodyPr>
          <a:lstStyle/>
          <a:p>
            <a:pPr algn="ctr">
              <a:lnSpc>
                <a:spcPct val="100000"/>
              </a:lnSpc>
            </a:pPr>
            <a:r>
              <a:rPr sz="2200" b="1" i="0">
                <a:solidFill>
                  <a:srgbClr val="1F4FD8"/>
                </a:solidFill>
                <a:latin typeface="Lexend Exa"/>
                <a:ea typeface="Lexend Exa"/>
                <a:cs typeface="Lexend Exa"/>
              </a:rPr>
              <a:t>2014</a:t>
            </a:r>
          </a:p>
        </p:txBody>
      </p:sp>
      <p:sp>
        <p:nvSpPr>
          <p:cNvPr id="27" name="Rounded Rectangle 26"/>
          <p:cNvSpPr/>
          <p:nvPr/>
        </p:nvSpPr>
        <p:spPr>
          <a:xfrm>
            <a:off x="5109850" y="4343400"/>
            <a:ext cx="1971995"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8" name="TextBox 27"/>
          <p:cNvSpPr txBox="1"/>
          <p:nvPr/>
        </p:nvSpPr>
        <p:spPr>
          <a:xfrm>
            <a:off x="5247010" y="4471416"/>
            <a:ext cx="1697675" cy="411480"/>
          </a:xfrm>
          <a:prstGeom prst="rect">
            <a:avLst/>
          </a:prstGeom>
          <a:noFill/>
        </p:spPr>
        <p:txBody>
          <a:bodyPr wrap="square" lIns="0" rIns="0" tIns="0" bIns="0" anchor="ctr">
            <a:noAutofit/>
          </a:bodyPr>
          <a:lstStyle/>
          <a:p>
            <a:pPr algn="ctr">
              <a:lnSpc>
                <a:spcPct val="105000"/>
              </a:lnSpc>
            </a:pPr>
            <a:r>
              <a:rPr sz="1250" b="1" i="0">
                <a:solidFill>
                  <a:srgbClr val="0B1F4D"/>
                </a:solidFill>
                <a:latin typeface="Be Vietnam Pro"/>
                <a:ea typeface="Be Vietnam Pro"/>
                <a:cs typeface="Be Vietnam Pro"/>
              </a:rPr>
              <a:t>Tổng thầu D&amp;B</a:t>
            </a:r>
          </a:p>
        </p:txBody>
      </p:sp>
      <p:sp>
        <p:nvSpPr>
          <p:cNvPr id="29" name="TextBox 28"/>
          <p:cNvSpPr txBox="1"/>
          <p:nvPr/>
        </p:nvSpPr>
        <p:spPr>
          <a:xfrm>
            <a:off x="5247010" y="4910328"/>
            <a:ext cx="1697675" cy="868680"/>
          </a:xfrm>
          <a:prstGeom prst="rect">
            <a:avLst/>
          </a:prstGeom>
          <a:noFill/>
        </p:spPr>
        <p:txBody>
          <a:bodyPr wrap="square" lIns="0" rIns="0" tIns="0" bIns="0" anchor="t">
            <a:noAutofit/>
          </a:bodyPr>
          <a:lstStyle/>
          <a:p>
            <a:pPr algn="ctr">
              <a:lnSpc>
                <a:spcPct val="115000"/>
              </a:lnSpc>
            </a:pPr>
            <a:r>
              <a:rPr sz="1050" b="0" i="0">
                <a:solidFill>
                  <a:srgbClr val="4A5878"/>
                </a:solidFill>
                <a:latin typeface="Be Vietnam Pro"/>
                <a:ea typeface="Be Vietnam Pro"/>
                <a:cs typeface="Be Vietnam Pro"/>
              </a:rPr>
              <a:t>Triển khai mô hình thiết kế – thi công trọn gói.</a:t>
            </a:r>
          </a:p>
        </p:txBody>
      </p:sp>
      <p:cxnSp>
        <p:nvCxnSpPr>
          <p:cNvPr id="30" name="Connector 29"/>
          <p:cNvCxnSpPr/>
          <p:nvPr/>
        </p:nvCxnSpPr>
        <p:spPr>
          <a:xfrm flipV="1">
            <a:off x="8205003" y="3337560"/>
            <a:ext cx="0" cy="347472"/>
          </a:xfrm>
          <a:prstGeom prst="line">
            <a:avLst/>
          </a:prstGeom>
          <a:ln w="15875">
            <a:solidFill>
              <a:srgbClr val="1F4FD8"/>
            </a:solidFill>
            <a:prstDash val="dash"/>
          </a:ln>
          <a:effectLst/>
        </p:spPr>
        <p:style>
          <a:lnRef idx="2">
            <a:schemeClr val="accent1"/>
          </a:lnRef>
          <a:fillRef idx="0">
            <a:schemeClr val="accent1"/>
          </a:fillRef>
          <a:effectRef idx="0">
            <a:schemeClr val="accent1"/>
          </a:effectRef>
          <a:fontRef idx="minor">
            <a:schemeClr val="tx1"/>
          </a:fontRef>
        </p:style>
      </p:cxnSp>
      <p:sp>
        <p:nvSpPr>
          <p:cNvPr id="31" name="Oval 30"/>
          <p:cNvSpPr/>
          <p:nvPr/>
        </p:nvSpPr>
        <p:spPr>
          <a:xfrm>
            <a:off x="8049555" y="3685032"/>
            <a:ext cx="310896" cy="310896"/>
          </a:xfrm>
          <a:prstGeom prst="ellipse">
            <a:avLst/>
          </a:prstGeom>
          <a:solidFill>
            <a:srgbClr val="FFFFFF"/>
          </a:solidFill>
          <a:ln w="38100">
            <a:solidFill>
              <a:srgbClr val="1F4F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7150425" y="4069080"/>
            <a:ext cx="2109155" cy="548640"/>
          </a:xfrm>
          <a:prstGeom prst="rect">
            <a:avLst/>
          </a:prstGeom>
          <a:noFill/>
        </p:spPr>
        <p:txBody>
          <a:bodyPr wrap="none" lIns="0" rIns="0" tIns="0" bIns="0" anchor="ctr">
            <a:noAutofit/>
          </a:bodyPr>
          <a:lstStyle/>
          <a:p>
            <a:pPr algn="ctr">
              <a:lnSpc>
                <a:spcPct val="100000"/>
              </a:lnSpc>
            </a:pPr>
            <a:r>
              <a:rPr sz="2200" b="1" i="0">
                <a:solidFill>
                  <a:srgbClr val="1F4FD8"/>
                </a:solidFill>
                <a:latin typeface="Lexend Exa"/>
                <a:ea typeface="Lexend Exa"/>
                <a:cs typeface="Lexend Exa"/>
              </a:rPr>
              <a:t>2019</a:t>
            </a:r>
          </a:p>
        </p:txBody>
      </p:sp>
      <p:sp>
        <p:nvSpPr>
          <p:cNvPr id="33" name="Rounded Rectangle 32"/>
          <p:cNvSpPr/>
          <p:nvPr/>
        </p:nvSpPr>
        <p:spPr>
          <a:xfrm>
            <a:off x="7219005" y="1828800"/>
            <a:ext cx="1971995"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4" name="TextBox 33"/>
          <p:cNvSpPr txBox="1"/>
          <p:nvPr/>
        </p:nvSpPr>
        <p:spPr>
          <a:xfrm>
            <a:off x="7356165" y="1956816"/>
            <a:ext cx="1697675" cy="411480"/>
          </a:xfrm>
          <a:prstGeom prst="rect">
            <a:avLst/>
          </a:prstGeom>
          <a:noFill/>
        </p:spPr>
        <p:txBody>
          <a:bodyPr wrap="square" lIns="0" rIns="0" tIns="0" bIns="0" anchor="ctr">
            <a:noAutofit/>
          </a:bodyPr>
          <a:lstStyle/>
          <a:p>
            <a:pPr algn="ctr">
              <a:lnSpc>
                <a:spcPct val="105000"/>
              </a:lnSpc>
            </a:pPr>
            <a:r>
              <a:rPr sz="1250" b="1" i="0">
                <a:solidFill>
                  <a:srgbClr val="0B1F4D"/>
                </a:solidFill>
                <a:latin typeface="Be Vietnam Pro"/>
                <a:ea typeface="Be Vietnam Pro"/>
                <a:cs typeface="Be Vietnam Pro"/>
              </a:rPr>
              <a:t>Mở rộng hạ tầng</a:t>
            </a:r>
          </a:p>
        </p:txBody>
      </p:sp>
      <p:sp>
        <p:nvSpPr>
          <p:cNvPr id="35" name="TextBox 34"/>
          <p:cNvSpPr txBox="1"/>
          <p:nvPr/>
        </p:nvSpPr>
        <p:spPr>
          <a:xfrm>
            <a:off x="7356165" y="2395728"/>
            <a:ext cx="1697675" cy="868680"/>
          </a:xfrm>
          <a:prstGeom prst="rect">
            <a:avLst/>
          </a:prstGeom>
          <a:noFill/>
        </p:spPr>
        <p:txBody>
          <a:bodyPr wrap="square" lIns="0" rIns="0" tIns="0" bIns="0" anchor="t">
            <a:noAutofit/>
          </a:bodyPr>
          <a:lstStyle/>
          <a:p>
            <a:pPr algn="ctr">
              <a:lnSpc>
                <a:spcPct val="115000"/>
              </a:lnSpc>
            </a:pPr>
            <a:r>
              <a:rPr sz="1050" b="0" i="0">
                <a:solidFill>
                  <a:srgbClr val="4A5878"/>
                </a:solidFill>
                <a:latin typeface="Be Vietnam Pro"/>
                <a:ea typeface="Be Vietnam Pro"/>
                <a:cs typeface="Be Vietnam Pro"/>
              </a:rPr>
              <a:t>Tham gia các dự án giao thông, năng lượng tái tạo.</a:t>
            </a:r>
          </a:p>
        </p:txBody>
      </p:sp>
      <p:cxnSp>
        <p:nvCxnSpPr>
          <p:cNvPr id="36" name="Connector 35"/>
          <p:cNvCxnSpPr/>
          <p:nvPr/>
        </p:nvCxnSpPr>
        <p:spPr>
          <a:xfrm>
            <a:off x="10314158" y="3995928"/>
            <a:ext cx="0" cy="347472"/>
          </a:xfrm>
          <a:prstGeom prst="line">
            <a:avLst/>
          </a:prstGeom>
          <a:ln w="15875">
            <a:solidFill>
              <a:srgbClr val="1F4FD8"/>
            </a:solidFill>
            <a:prstDash val="dash"/>
          </a:ln>
          <a:effectLst/>
        </p:spPr>
        <p:style>
          <a:lnRef idx="2">
            <a:schemeClr val="accent1"/>
          </a:lnRef>
          <a:fillRef idx="0">
            <a:schemeClr val="accent1"/>
          </a:fillRef>
          <a:effectRef idx="0">
            <a:schemeClr val="accent1"/>
          </a:effectRef>
          <a:fontRef idx="minor">
            <a:schemeClr val="tx1"/>
          </a:fontRef>
        </p:style>
      </p:cxnSp>
      <p:sp>
        <p:nvSpPr>
          <p:cNvPr id="37" name="Oval 36"/>
          <p:cNvSpPr/>
          <p:nvPr/>
        </p:nvSpPr>
        <p:spPr>
          <a:xfrm>
            <a:off x="10158710" y="3685032"/>
            <a:ext cx="310896" cy="310896"/>
          </a:xfrm>
          <a:prstGeom prst="ellipse">
            <a:avLst/>
          </a:prstGeom>
          <a:solidFill>
            <a:srgbClr val="FFFFFF"/>
          </a:solidFill>
          <a:ln w="38100">
            <a:solidFill>
              <a:srgbClr val="1F4FD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259580" y="3063240"/>
            <a:ext cx="2109155" cy="548640"/>
          </a:xfrm>
          <a:prstGeom prst="rect">
            <a:avLst/>
          </a:prstGeom>
          <a:noFill/>
        </p:spPr>
        <p:txBody>
          <a:bodyPr wrap="none" lIns="0" rIns="0" tIns="0" bIns="0" anchor="ctr">
            <a:noAutofit/>
          </a:bodyPr>
          <a:lstStyle/>
          <a:p>
            <a:pPr algn="ctr">
              <a:lnSpc>
                <a:spcPct val="100000"/>
              </a:lnSpc>
            </a:pPr>
            <a:r>
              <a:rPr sz="2200" b="1" i="0">
                <a:solidFill>
                  <a:srgbClr val="1F4FD8"/>
                </a:solidFill>
                <a:latin typeface="Lexend Exa"/>
                <a:ea typeface="Lexend Exa"/>
                <a:cs typeface="Lexend Exa"/>
              </a:rPr>
              <a:t>2024</a:t>
            </a:r>
          </a:p>
        </p:txBody>
      </p:sp>
      <p:sp>
        <p:nvSpPr>
          <p:cNvPr id="39" name="Rounded Rectangle 38"/>
          <p:cNvSpPr/>
          <p:nvPr/>
        </p:nvSpPr>
        <p:spPr>
          <a:xfrm>
            <a:off x="9328160" y="4343400"/>
            <a:ext cx="1971995"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40" name="TextBox 39"/>
          <p:cNvSpPr txBox="1"/>
          <p:nvPr/>
        </p:nvSpPr>
        <p:spPr>
          <a:xfrm>
            <a:off x="9465320" y="4471416"/>
            <a:ext cx="1697675" cy="411480"/>
          </a:xfrm>
          <a:prstGeom prst="rect">
            <a:avLst/>
          </a:prstGeom>
          <a:noFill/>
        </p:spPr>
        <p:txBody>
          <a:bodyPr wrap="square" lIns="0" rIns="0" tIns="0" bIns="0" anchor="ctr">
            <a:noAutofit/>
          </a:bodyPr>
          <a:lstStyle/>
          <a:p>
            <a:pPr algn="ctr">
              <a:lnSpc>
                <a:spcPct val="105000"/>
              </a:lnSpc>
            </a:pPr>
            <a:r>
              <a:rPr sz="1250" b="1" i="0">
                <a:solidFill>
                  <a:srgbClr val="0B1F4D"/>
                </a:solidFill>
                <a:latin typeface="Be Vietnam Pro"/>
                <a:ea typeface="Be Vietnam Pro"/>
                <a:cs typeface="Be Vietnam Pro"/>
              </a:rPr>
              <a:t>Chuyển đổi số</a:t>
            </a:r>
          </a:p>
        </p:txBody>
      </p:sp>
      <p:sp>
        <p:nvSpPr>
          <p:cNvPr id="41" name="TextBox 40"/>
          <p:cNvSpPr txBox="1"/>
          <p:nvPr/>
        </p:nvSpPr>
        <p:spPr>
          <a:xfrm>
            <a:off x="9465320" y="4910328"/>
            <a:ext cx="1697675" cy="868680"/>
          </a:xfrm>
          <a:prstGeom prst="rect">
            <a:avLst/>
          </a:prstGeom>
          <a:noFill/>
        </p:spPr>
        <p:txBody>
          <a:bodyPr wrap="square" lIns="0" rIns="0" tIns="0" bIns="0" anchor="t">
            <a:noAutofit/>
          </a:bodyPr>
          <a:lstStyle/>
          <a:p>
            <a:pPr algn="ctr">
              <a:lnSpc>
                <a:spcPct val="115000"/>
              </a:lnSpc>
            </a:pPr>
            <a:r>
              <a:rPr sz="1050" b="0" i="0">
                <a:solidFill>
                  <a:srgbClr val="4A5878"/>
                </a:solidFill>
                <a:latin typeface="Be Vietnam Pro"/>
                <a:ea typeface="Be Vietnam Pro"/>
                <a:cs typeface="Be Vietnam Pro"/>
              </a:rPr>
              <a:t>Ứng dụng BIM và nền tảng quản lý dự án số.</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22" presetClass="entr" presetSubtype="8" fill="hold" grpId="0" nodeType="withEffect">
                                  <p:stCondLst>
                                    <p:cond delay="30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900"/>
                                        <p:tgtEl>
                                          <p:spTgt spid="11"/>
                                        </p:tgtEl>
                                      </p:cBhvr>
                                    </p:animEffect>
                                  </p:childTnLst>
                                </p:cTn>
                              </p:par>
                              <p:par>
                                <p:cTn id="29" presetID="10" presetClass="entr" presetSubtype="0"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42" presetClass="entr" presetSubtype="0" fill="hold" grpId="0" nodeType="withEffect">
                                  <p:stCondLst>
                                    <p:cond delay="5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anim calcmode="lin" valueType="num">
                                      <p:cBhvr additive="base">
                                        <p:cTn id="35" dur="450" fill="hold"/>
                                        <p:tgtEl>
                                          <p:spTgt spid="13"/>
                                        </p:tgtEl>
                                        <p:attrNameLst>
                                          <p:attrName>ppt_x</p:attrName>
                                        </p:attrNameLst>
                                      </p:cBhvr>
                                      <p:tavLst>
                                        <p:tav tm="0">
                                          <p:val>
                                            <p:strVal val="#ppt_x"/>
                                          </p:val>
                                        </p:tav>
                                        <p:tav tm="100000">
                                          <p:val>
                                            <p:strVal val="#ppt_x"/>
                                          </p:val>
                                        </p:tav>
                                      </p:tavLst>
                                    </p:anim>
                                    <p:anim calcmode="lin" valueType="num">
                                      <p:cBhvr additive="base">
                                        <p:cTn id="36" dur="450" fill="hold"/>
                                        <p:tgtEl>
                                          <p:spTgt spid="13"/>
                                        </p:tgtEl>
                                        <p:attrNameLst>
                                          <p:attrName>ppt_y</p:attrName>
                                        </p:attrNameLst>
                                      </p:cBhvr>
                                      <p:tavLst>
                                        <p:tav tm="0">
                                          <p:val>
                                            <p:strVal val="#ppt_y+.06"/>
                                          </p:val>
                                        </p:tav>
                                        <p:tav tm="100000">
                                          <p:val>
                                            <p:strVal val="#ppt_y"/>
                                          </p:val>
                                        </p:tav>
                                      </p:tavLst>
                                    </p:anim>
                                  </p:childTnLst>
                                </p:cTn>
                              </p:par>
                              <p:par>
                                <p:cTn id="37" presetID="42" presetClass="entr" presetSubtype="0" fill="hold" grpId="0" nodeType="withEffect">
                                  <p:stCondLst>
                                    <p:cond delay="50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50"/>
                                        <p:tgtEl>
                                          <p:spTgt spid="14"/>
                                        </p:tgtEl>
                                      </p:cBhvr>
                                    </p:animEffect>
                                    <p:anim calcmode="lin" valueType="num">
                                      <p:cBhvr additive="base">
                                        <p:cTn id="40" dur="450" fill="hold"/>
                                        <p:tgtEl>
                                          <p:spTgt spid="14"/>
                                        </p:tgtEl>
                                        <p:attrNameLst>
                                          <p:attrName>ppt_x</p:attrName>
                                        </p:attrNameLst>
                                      </p:cBhvr>
                                      <p:tavLst>
                                        <p:tav tm="0">
                                          <p:val>
                                            <p:strVal val="#ppt_x"/>
                                          </p:val>
                                        </p:tav>
                                        <p:tav tm="100000">
                                          <p:val>
                                            <p:strVal val="#ppt_x"/>
                                          </p:val>
                                        </p:tav>
                                      </p:tavLst>
                                    </p:anim>
                                    <p:anim calcmode="lin" valueType="num">
                                      <p:cBhvr additive="base">
                                        <p:cTn id="41" dur="450" fill="hold"/>
                                        <p:tgtEl>
                                          <p:spTgt spid="14"/>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50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450"/>
                                        <p:tgtEl>
                                          <p:spTgt spid="12"/>
                                        </p:tgtEl>
                                      </p:cBhvr>
                                    </p:animEffect>
                                    <p:anim calcmode="lin" valueType="num">
                                      <p:cBhvr additive="base">
                                        <p:cTn id="45" dur="450" fill="hold"/>
                                        <p:tgtEl>
                                          <p:spTgt spid="12"/>
                                        </p:tgtEl>
                                        <p:attrNameLst>
                                          <p:attrName>ppt_x</p:attrName>
                                        </p:attrNameLst>
                                      </p:cBhvr>
                                      <p:tavLst>
                                        <p:tav tm="0">
                                          <p:val>
                                            <p:strVal val="#ppt_x"/>
                                          </p:val>
                                        </p:tav>
                                        <p:tav tm="100000">
                                          <p:val>
                                            <p:strVal val="#ppt_x"/>
                                          </p:val>
                                        </p:tav>
                                      </p:tavLst>
                                    </p:anim>
                                    <p:anim calcmode="lin" valueType="num">
                                      <p:cBhvr additive="base">
                                        <p:cTn id="46" dur="450" fill="hold"/>
                                        <p:tgtEl>
                                          <p:spTgt spid="12"/>
                                        </p:tgtEl>
                                        <p:attrNameLst>
                                          <p:attrName>ppt_y</p:attrName>
                                        </p:attrNameLst>
                                      </p:cBhvr>
                                      <p:tavLst>
                                        <p:tav tm="0">
                                          <p:val>
                                            <p:strVal val="#ppt_y+.06"/>
                                          </p:val>
                                        </p:tav>
                                        <p:tav tm="100000">
                                          <p:val>
                                            <p:strVal val="#ppt_y"/>
                                          </p:val>
                                        </p:tav>
                                      </p:tavLst>
                                    </p:anim>
                                  </p:childTnLst>
                                </p:cTn>
                              </p:par>
                              <p:par>
                                <p:cTn id="47" presetID="42" presetClass="entr" presetSubtype="0" fill="hold" grpId="0" nodeType="withEffect">
                                  <p:stCondLst>
                                    <p:cond delay="5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50"/>
                                        <p:tgtEl>
                                          <p:spTgt spid="15"/>
                                        </p:tgtEl>
                                      </p:cBhvr>
                                    </p:animEffect>
                                    <p:anim calcmode="lin" valueType="num">
                                      <p:cBhvr additive="base">
                                        <p:cTn id="50" dur="450" fill="hold"/>
                                        <p:tgtEl>
                                          <p:spTgt spid="15"/>
                                        </p:tgtEl>
                                        <p:attrNameLst>
                                          <p:attrName>ppt_x</p:attrName>
                                        </p:attrNameLst>
                                      </p:cBhvr>
                                      <p:tavLst>
                                        <p:tav tm="0">
                                          <p:val>
                                            <p:strVal val="#ppt_x"/>
                                          </p:val>
                                        </p:tav>
                                        <p:tav tm="100000">
                                          <p:val>
                                            <p:strVal val="#ppt_x"/>
                                          </p:val>
                                        </p:tav>
                                      </p:tavLst>
                                    </p:anim>
                                    <p:anim calcmode="lin" valueType="num">
                                      <p:cBhvr additive="base">
                                        <p:cTn id="51" dur="450" fill="hold"/>
                                        <p:tgtEl>
                                          <p:spTgt spid="15"/>
                                        </p:tgtEl>
                                        <p:attrNameLst>
                                          <p:attrName>ppt_y</p:attrName>
                                        </p:attrNameLst>
                                      </p:cBhvr>
                                      <p:tavLst>
                                        <p:tav tm="0">
                                          <p:val>
                                            <p:strVal val="#ppt_y+.06"/>
                                          </p:val>
                                        </p:tav>
                                        <p:tav tm="100000">
                                          <p:val>
                                            <p:strVal val="#ppt_y"/>
                                          </p:val>
                                        </p:tav>
                                      </p:tavLst>
                                    </p:anim>
                                  </p:childTnLst>
                                </p:cTn>
                              </p:par>
                              <p:par>
                                <p:cTn id="52" presetID="42" presetClass="entr" presetSubtype="0" fill="hold" grpId="0" nodeType="withEffect">
                                  <p:stCondLst>
                                    <p:cond delay="50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450"/>
                                        <p:tgtEl>
                                          <p:spTgt spid="16"/>
                                        </p:tgtEl>
                                      </p:cBhvr>
                                    </p:animEffect>
                                    <p:anim calcmode="lin" valueType="num">
                                      <p:cBhvr additive="base">
                                        <p:cTn id="55" dur="450" fill="hold"/>
                                        <p:tgtEl>
                                          <p:spTgt spid="16"/>
                                        </p:tgtEl>
                                        <p:attrNameLst>
                                          <p:attrName>ppt_x</p:attrName>
                                        </p:attrNameLst>
                                      </p:cBhvr>
                                      <p:tavLst>
                                        <p:tav tm="0">
                                          <p:val>
                                            <p:strVal val="#ppt_x"/>
                                          </p:val>
                                        </p:tav>
                                        <p:tav tm="100000">
                                          <p:val>
                                            <p:strVal val="#ppt_x"/>
                                          </p:val>
                                        </p:tav>
                                      </p:tavLst>
                                    </p:anim>
                                    <p:anim calcmode="lin" valueType="num">
                                      <p:cBhvr additive="base">
                                        <p:cTn id="56" dur="450" fill="hold"/>
                                        <p:tgtEl>
                                          <p:spTgt spid="16"/>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50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450"/>
                                        <p:tgtEl>
                                          <p:spTgt spid="17"/>
                                        </p:tgtEl>
                                      </p:cBhvr>
                                    </p:animEffect>
                                    <p:anim calcmode="lin" valueType="num">
                                      <p:cBhvr additive="base">
                                        <p:cTn id="60" dur="450" fill="hold"/>
                                        <p:tgtEl>
                                          <p:spTgt spid="17"/>
                                        </p:tgtEl>
                                        <p:attrNameLst>
                                          <p:attrName>ppt_x</p:attrName>
                                        </p:attrNameLst>
                                      </p:cBhvr>
                                      <p:tavLst>
                                        <p:tav tm="0">
                                          <p:val>
                                            <p:strVal val="#ppt_x"/>
                                          </p:val>
                                        </p:tav>
                                        <p:tav tm="100000">
                                          <p:val>
                                            <p:strVal val="#ppt_x"/>
                                          </p:val>
                                        </p:tav>
                                      </p:tavLst>
                                    </p:anim>
                                    <p:anim calcmode="lin" valueType="num">
                                      <p:cBhvr additive="base">
                                        <p:cTn id="61" dur="450" fill="hold"/>
                                        <p:tgtEl>
                                          <p:spTgt spid="17"/>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679"/>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450"/>
                                        <p:tgtEl>
                                          <p:spTgt spid="19"/>
                                        </p:tgtEl>
                                      </p:cBhvr>
                                    </p:animEffect>
                                    <p:anim calcmode="lin" valueType="num">
                                      <p:cBhvr additive="base">
                                        <p:cTn id="65" dur="450" fill="hold"/>
                                        <p:tgtEl>
                                          <p:spTgt spid="19"/>
                                        </p:tgtEl>
                                        <p:attrNameLst>
                                          <p:attrName>ppt_x</p:attrName>
                                        </p:attrNameLst>
                                      </p:cBhvr>
                                      <p:tavLst>
                                        <p:tav tm="0">
                                          <p:val>
                                            <p:strVal val="#ppt_x"/>
                                          </p:val>
                                        </p:tav>
                                        <p:tav tm="100000">
                                          <p:val>
                                            <p:strVal val="#ppt_x"/>
                                          </p:val>
                                        </p:tav>
                                      </p:tavLst>
                                    </p:anim>
                                    <p:anim calcmode="lin" valueType="num">
                                      <p:cBhvr additive="base">
                                        <p:cTn id="66" dur="450" fill="hold"/>
                                        <p:tgtEl>
                                          <p:spTgt spid="19"/>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679"/>
                                  </p:stCondLst>
                                  <p:childTnLst>
                                    <p:set>
                                      <p:cBhvr>
                                        <p:cTn id="68" dur="1" fill="hold">
                                          <p:stCondLst>
                                            <p:cond delay="0"/>
                                          </p:stCondLst>
                                        </p:cTn>
                                        <p:tgtEl>
                                          <p:spTgt spid="20"/>
                                        </p:tgtEl>
                                        <p:attrNameLst>
                                          <p:attrName>style.visibility</p:attrName>
                                        </p:attrNameLst>
                                      </p:cBhvr>
                                      <p:to>
                                        <p:strVal val="visible"/>
                                      </p:to>
                                    </p:set>
                                    <p:animEffect transition="in" filter="fade">
                                      <p:cBhvr>
                                        <p:cTn id="69" dur="450"/>
                                        <p:tgtEl>
                                          <p:spTgt spid="20"/>
                                        </p:tgtEl>
                                      </p:cBhvr>
                                    </p:animEffect>
                                    <p:anim calcmode="lin" valueType="num">
                                      <p:cBhvr additive="base">
                                        <p:cTn id="70" dur="450" fill="hold"/>
                                        <p:tgtEl>
                                          <p:spTgt spid="20"/>
                                        </p:tgtEl>
                                        <p:attrNameLst>
                                          <p:attrName>ppt_x</p:attrName>
                                        </p:attrNameLst>
                                      </p:cBhvr>
                                      <p:tavLst>
                                        <p:tav tm="0">
                                          <p:val>
                                            <p:strVal val="#ppt_x"/>
                                          </p:val>
                                        </p:tav>
                                        <p:tav tm="100000">
                                          <p:val>
                                            <p:strVal val="#ppt_x"/>
                                          </p:val>
                                        </p:tav>
                                      </p:tavLst>
                                    </p:anim>
                                    <p:anim calcmode="lin" valueType="num">
                                      <p:cBhvr additive="base">
                                        <p:cTn id="71" dur="450" fill="hold"/>
                                        <p:tgtEl>
                                          <p:spTgt spid="20"/>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679"/>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450"/>
                                        <p:tgtEl>
                                          <p:spTgt spid="18"/>
                                        </p:tgtEl>
                                      </p:cBhvr>
                                    </p:animEffect>
                                    <p:anim calcmode="lin" valueType="num">
                                      <p:cBhvr additive="base">
                                        <p:cTn id="75" dur="450" fill="hold"/>
                                        <p:tgtEl>
                                          <p:spTgt spid="18"/>
                                        </p:tgtEl>
                                        <p:attrNameLst>
                                          <p:attrName>ppt_x</p:attrName>
                                        </p:attrNameLst>
                                      </p:cBhvr>
                                      <p:tavLst>
                                        <p:tav tm="0">
                                          <p:val>
                                            <p:strVal val="#ppt_x"/>
                                          </p:val>
                                        </p:tav>
                                        <p:tav tm="100000">
                                          <p:val>
                                            <p:strVal val="#ppt_x"/>
                                          </p:val>
                                        </p:tav>
                                      </p:tavLst>
                                    </p:anim>
                                    <p:anim calcmode="lin" valueType="num">
                                      <p:cBhvr additive="base">
                                        <p:cTn id="76" dur="450" fill="hold"/>
                                        <p:tgtEl>
                                          <p:spTgt spid="18"/>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679"/>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450"/>
                                        <p:tgtEl>
                                          <p:spTgt spid="21"/>
                                        </p:tgtEl>
                                      </p:cBhvr>
                                    </p:animEffect>
                                    <p:anim calcmode="lin" valueType="num">
                                      <p:cBhvr additive="base">
                                        <p:cTn id="80" dur="450" fill="hold"/>
                                        <p:tgtEl>
                                          <p:spTgt spid="21"/>
                                        </p:tgtEl>
                                        <p:attrNameLst>
                                          <p:attrName>ppt_x</p:attrName>
                                        </p:attrNameLst>
                                      </p:cBhvr>
                                      <p:tavLst>
                                        <p:tav tm="0">
                                          <p:val>
                                            <p:strVal val="#ppt_x"/>
                                          </p:val>
                                        </p:tav>
                                        <p:tav tm="100000">
                                          <p:val>
                                            <p:strVal val="#ppt_x"/>
                                          </p:val>
                                        </p:tav>
                                      </p:tavLst>
                                    </p:anim>
                                    <p:anim calcmode="lin" valueType="num">
                                      <p:cBhvr additive="base">
                                        <p:cTn id="81" dur="450" fill="hold"/>
                                        <p:tgtEl>
                                          <p:spTgt spid="21"/>
                                        </p:tgtEl>
                                        <p:attrNameLst>
                                          <p:attrName>ppt_y</p:attrName>
                                        </p:attrNameLst>
                                      </p:cBhvr>
                                      <p:tavLst>
                                        <p:tav tm="0">
                                          <p:val>
                                            <p:strVal val="#ppt_y+.06"/>
                                          </p:val>
                                        </p:tav>
                                        <p:tav tm="100000">
                                          <p:val>
                                            <p:strVal val="#ppt_y"/>
                                          </p:val>
                                        </p:tav>
                                      </p:tavLst>
                                    </p:anim>
                                  </p:childTnLst>
                                </p:cTn>
                              </p:par>
                              <p:par>
                                <p:cTn id="82" presetID="42" presetClass="entr" presetSubtype="0" fill="hold" grpId="0" nodeType="withEffect">
                                  <p:stCondLst>
                                    <p:cond delay="679"/>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450"/>
                                        <p:tgtEl>
                                          <p:spTgt spid="22"/>
                                        </p:tgtEl>
                                      </p:cBhvr>
                                    </p:animEffect>
                                    <p:anim calcmode="lin" valueType="num">
                                      <p:cBhvr additive="base">
                                        <p:cTn id="85" dur="450" fill="hold"/>
                                        <p:tgtEl>
                                          <p:spTgt spid="22"/>
                                        </p:tgtEl>
                                        <p:attrNameLst>
                                          <p:attrName>ppt_x</p:attrName>
                                        </p:attrNameLst>
                                      </p:cBhvr>
                                      <p:tavLst>
                                        <p:tav tm="0">
                                          <p:val>
                                            <p:strVal val="#ppt_x"/>
                                          </p:val>
                                        </p:tav>
                                        <p:tav tm="100000">
                                          <p:val>
                                            <p:strVal val="#ppt_x"/>
                                          </p:val>
                                        </p:tav>
                                      </p:tavLst>
                                    </p:anim>
                                    <p:anim calcmode="lin" valueType="num">
                                      <p:cBhvr additive="base">
                                        <p:cTn id="86" dur="450" fill="hold"/>
                                        <p:tgtEl>
                                          <p:spTgt spid="22"/>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679"/>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450"/>
                                        <p:tgtEl>
                                          <p:spTgt spid="23"/>
                                        </p:tgtEl>
                                      </p:cBhvr>
                                    </p:animEffect>
                                    <p:anim calcmode="lin" valueType="num">
                                      <p:cBhvr additive="base">
                                        <p:cTn id="90" dur="450" fill="hold"/>
                                        <p:tgtEl>
                                          <p:spTgt spid="23"/>
                                        </p:tgtEl>
                                        <p:attrNameLst>
                                          <p:attrName>ppt_x</p:attrName>
                                        </p:attrNameLst>
                                      </p:cBhvr>
                                      <p:tavLst>
                                        <p:tav tm="0">
                                          <p:val>
                                            <p:strVal val="#ppt_x"/>
                                          </p:val>
                                        </p:tav>
                                        <p:tav tm="100000">
                                          <p:val>
                                            <p:strVal val="#ppt_x"/>
                                          </p:val>
                                        </p:tav>
                                      </p:tavLst>
                                    </p:anim>
                                    <p:anim calcmode="lin" valueType="num">
                                      <p:cBhvr additive="base">
                                        <p:cTn id="91" dur="450" fill="hold"/>
                                        <p:tgtEl>
                                          <p:spTgt spid="23"/>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859"/>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450"/>
                                        <p:tgtEl>
                                          <p:spTgt spid="25"/>
                                        </p:tgtEl>
                                      </p:cBhvr>
                                    </p:animEffect>
                                    <p:anim calcmode="lin" valueType="num">
                                      <p:cBhvr additive="base">
                                        <p:cTn id="95" dur="450" fill="hold"/>
                                        <p:tgtEl>
                                          <p:spTgt spid="25"/>
                                        </p:tgtEl>
                                        <p:attrNameLst>
                                          <p:attrName>ppt_x</p:attrName>
                                        </p:attrNameLst>
                                      </p:cBhvr>
                                      <p:tavLst>
                                        <p:tav tm="0">
                                          <p:val>
                                            <p:strVal val="#ppt_x"/>
                                          </p:val>
                                        </p:tav>
                                        <p:tav tm="100000">
                                          <p:val>
                                            <p:strVal val="#ppt_x"/>
                                          </p:val>
                                        </p:tav>
                                      </p:tavLst>
                                    </p:anim>
                                    <p:anim calcmode="lin" valueType="num">
                                      <p:cBhvr additive="base">
                                        <p:cTn id="96" dur="450" fill="hold"/>
                                        <p:tgtEl>
                                          <p:spTgt spid="25"/>
                                        </p:tgtEl>
                                        <p:attrNameLst>
                                          <p:attrName>ppt_y</p:attrName>
                                        </p:attrNameLst>
                                      </p:cBhvr>
                                      <p:tavLst>
                                        <p:tav tm="0">
                                          <p:val>
                                            <p:strVal val="#ppt_y+.06"/>
                                          </p:val>
                                        </p:tav>
                                        <p:tav tm="100000">
                                          <p:val>
                                            <p:strVal val="#ppt_y"/>
                                          </p:val>
                                        </p:tav>
                                      </p:tavLst>
                                    </p:anim>
                                  </p:childTnLst>
                                </p:cTn>
                              </p:par>
                              <p:par>
                                <p:cTn id="97" presetID="42" presetClass="entr" presetSubtype="0" fill="hold" grpId="0" nodeType="withEffect">
                                  <p:stCondLst>
                                    <p:cond delay="859"/>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450"/>
                                        <p:tgtEl>
                                          <p:spTgt spid="26"/>
                                        </p:tgtEl>
                                      </p:cBhvr>
                                    </p:animEffect>
                                    <p:anim calcmode="lin" valueType="num">
                                      <p:cBhvr additive="base">
                                        <p:cTn id="100" dur="450" fill="hold"/>
                                        <p:tgtEl>
                                          <p:spTgt spid="26"/>
                                        </p:tgtEl>
                                        <p:attrNameLst>
                                          <p:attrName>ppt_x</p:attrName>
                                        </p:attrNameLst>
                                      </p:cBhvr>
                                      <p:tavLst>
                                        <p:tav tm="0">
                                          <p:val>
                                            <p:strVal val="#ppt_x"/>
                                          </p:val>
                                        </p:tav>
                                        <p:tav tm="100000">
                                          <p:val>
                                            <p:strVal val="#ppt_x"/>
                                          </p:val>
                                        </p:tav>
                                      </p:tavLst>
                                    </p:anim>
                                    <p:anim calcmode="lin" valueType="num">
                                      <p:cBhvr additive="base">
                                        <p:cTn id="101" dur="450" fill="hold"/>
                                        <p:tgtEl>
                                          <p:spTgt spid="26"/>
                                        </p:tgtEl>
                                        <p:attrNameLst>
                                          <p:attrName>ppt_y</p:attrName>
                                        </p:attrNameLst>
                                      </p:cBhvr>
                                      <p:tavLst>
                                        <p:tav tm="0">
                                          <p:val>
                                            <p:strVal val="#ppt_y+.06"/>
                                          </p:val>
                                        </p:tav>
                                        <p:tav tm="100000">
                                          <p:val>
                                            <p:strVal val="#ppt_y"/>
                                          </p:val>
                                        </p:tav>
                                      </p:tavLst>
                                    </p:anim>
                                  </p:childTnLst>
                                </p:cTn>
                              </p:par>
                              <p:par>
                                <p:cTn id="102" presetID="42" presetClass="entr" presetSubtype="0" fill="hold" grpId="0" nodeType="withEffect">
                                  <p:stCondLst>
                                    <p:cond delay="859"/>
                                  </p:stCondLst>
                                  <p:childTnLst>
                                    <p:set>
                                      <p:cBhvr>
                                        <p:cTn id="103" dur="1" fill="hold">
                                          <p:stCondLst>
                                            <p:cond delay="0"/>
                                          </p:stCondLst>
                                        </p:cTn>
                                        <p:tgtEl>
                                          <p:spTgt spid="24"/>
                                        </p:tgtEl>
                                        <p:attrNameLst>
                                          <p:attrName>style.visibility</p:attrName>
                                        </p:attrNameLst>
                                      </p:cBhvr>
                                      <p:to>
                                        <p:strVal val="visible"/>
                                      </p:to>
                                    </p:set>
                                    <p:animEffect transition="in" filter="fade">
                                      <p:cBhvr>
                                        <p:cTn id="104" dur="450"/>
                                        <p:tgtEl>
                                          <p:spTgt spid="24"/>
                                        </p:tgtEl>
                                      </p:cBhvr>
                                    </p:animEffect>
                                    <p:anim calcmode="lin" valueType="num">
                                      <p:cBhvr additive="base">
                                        <p:cTn id="105" dur="450" fill="hold"/>
                                        <p:tgtEl>
                                          <p:spTgt spid="24"/>
                                        </p:tgtEl>
                                        <p:attrNameLst>
                                          <p:attrName>ppt_x</p:attrName>
                                        </p:attrNameLst>
                                      </p:cBhvr>
                                      <p:tavLst>
                                        <p:tav tm="0">
                                          <p:val>
                                            <p:strVal val="#ppt_x"/>
                                          </p:val>
                                        </p:tav>
                                        <p:tav tm="100000">
                                          <p:val>
                                            <p:strVal val="#ppt_x"/>
                                          </p:val>
                                        </p:tav>
                                      </p:tavLst>
                                    </p:anim>
                                    <p:anim calcmode="lin" valueType="num">
                                      <p:cBhvr additive="base">
                                        <p:cTn id="106" dur="450" fill="hold"/>
                                        <p:tgtEl>
                                          <p:spTgt spid="24"/>
                                        </p:tgtEl>
                                        <p:attrNameLst>
                                          <p:attrName>ppt_y</p:attrName>
                                        </p:attrNameLst>
                                      </p:cBhvr>
                                      <p:tavLst>
                                        <p:tav tm="0">
                                          <p:val>
                                            <p:strVal val="#ppt_y+.06"/>
                                          </p:val>
                                        </p:tav>
                                        <p:tav tm="100000">
                                          <p:val>
                                            <p:strVal val="#ppt_y"/>
                                          </p:val>
                                        </p:tav>
                                      </p:tavLst>
                                    </p:anim>
                                  </p:childTnLst>
                                </p:cTn>
                              </p:par>
                              <p:par>
                                <p:cTn id="107" presetID="42" presetClass="entr" presetSubtype="0" fill="hold" grpId="0" nodeType="withEffect">
                                  <p:stCondLst>
                                    <p:cond delay="859"/>
                                  </p:stCondLst>
                                  <p:childTnLst>
                                    <p:set>
                                      <p:cBhvr>
                                        <p:cTn id="108" dur="1" fill="hold">
                                          <p:stCondLst>
                                            <p:cond delay="0"/>
                                          </p:stCondLst>
                                        </p:cTn>
                                        <p:tgtEl>
                                          <p:spTgt spid="27"/>
                                        </p:tgtEl>
                                        <p:attrNameLst>
                                          <p:attrName>style.visibility</p:attrName>
                                        </p:attrNameLst>
                                      </p:cBhvr>
                                      <p:to>
                                        <p:strVal val="visible"/>
                                      </p:to>
                                    </p:set>
                                    <p:animEffect transition="in" filter="fade">
                                      <p:cBhvr>
                                        <p:cTn id="109" dur="450"/>
                                        <p:tgtEl>
                                          <p:spTgt spid="27"/>
                                        </p:tgtEl>
                                      </p:cBhvr>
                                    </p:animEffect>
                                    <p:anim calcmode="lin" valueType="num">
                                      <p:cBhvr additive="base">
                                        <p:cTn id="110" dur="450" fill="hold"/>
                                        <p:tgtEl>
                                          <p:spTgt spid="27"/>
                                        </p:tgtEl>
                                        <p:attrNameLst>
                                          <p:attrName>ppt_x</p:attrName>
                                        </p:attrNameLst>
                                      </p:cBhvr>
                                      <p:tavLst>
                                        <p:tav tm="0">
                                          <p:val>
                                            <p:strVal val="#ppt_x"/>
                                          </p:val>
                                        </p:tav>
                                        <p:tav tm="100000">
                                          <p:val>
                                            <p:strVal val="#ppt_x"/>
                                          </p:val>
                                        </p:tav>
                                      </p:tavLst>
                                    </p:anim>
                                    <p:anim calcmode="lin" valueType="num">
                                      <p:cBhvr additive="base">
                                        <p:cTn id="111" dur="450" fill="hold"/>
                                        <p:tgtEl>
                                          <p:spTgt spid="27"/>
                                        </p:tgtEl>
                                        <p:attrNameLst>
                                          <p:attrName>ppt_y</p:attrName>
                                        </p:attrNameLst>
                                      </p:cBhvr>
                                      <p:tavLst>
                                        <p:tav tm="0">
                                          <p:val>
                                            <p:strVal val="#ppt_y+.06"/>
                                          </p:val>
                                        </p:tav>
                                        <p:tav tm="100000">
                                          <p:val>
                                            <p:strVal val="#ppt_y"/>
                                          </p:val>
                                        </p:tav>
                                      </p:tavLst>
                                    </p:anim>
                                  </p:childTnLst>
                                </p:cTn>
                              </p:par>
                              <p:par>
                                <p:cTn id="112" presetID="42" presetClass="entr" presetSubtype="0" fill="hold" grpId="0" nodeType="withEffect">
                                  <p:stCondLst>
                                    <p:cond delay="859"/>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450"/>
                                        <p:tgtEl>
                                          <p:spTgt spid="28"/>
                                        </p:tgtEl>
                                      </p:cBhvr>
                                    </p:animEffect>
                                    <p:anim calcmode="lin" valueType="num">
                                      <p:cBhvr additive="base">
                                        <p:cTn id="115" dur="450" fill="hold"/>
                                        <p:tgtEl>
                                          <p:spTgt spid="28"/>
                                        </p:tgtEl>
                                        <p:attrNameLst>
                                          <p:attrName>ppt_x</p:attrName>
                                        </p:attrNameLst>
                                      </p:cBhvr>
                                      <p:tavLst>
                                        <p:tav tm="0">
                                          <p:val>
                                            <p:strVal val="#ppt_x"/>
                                          </p:val>
                                        </p:tav>
                                        <p:tav tm="100000">
                                          <p:val>
                                            <p:strVal val="#ppt_x"/>
                                          </p:val>
                                        </p:tav>
                                      </p:tavLst>
                                    </p:anim>
                                    <p:anim calcmode="lin" valueType="num">
                                      <p:cBhvr additive="base">
                                        <p:cTn id="116" dur="450" fill="hold"/>
                                        <p:tgtEl>
                                          <p:spTgt spid="28"/>
                                        </p:tgtEl>
                                        <p:attrNameLst>
                                          <p:attrName>ppt_y</p:attrName>
                                        </p:attrNameLst>
                                      </p:cBhvr>
                                      <p:tavLst>
                                        <p:tav tm="0">
                                          <p:val>
                                            <p:strVal val="#ppt_y+.06"/>
                                          </p:val>
                                        </p:tav>
                                        <p:tav tm="100000">
                                          <p:val>
                                            <p:strVal val="#ppt_y"/>
                                          </p:val>
                                        </p:tav>
                                      </p:tavLst>
                                    </p:anim>
                                  </p:childTnLst>
                                </p:cTn>
                              </p:par>
                              <p:par>
                                <p:cTn id="117" presetID="42" presetClass="entr" presetSubtype="0" fill="hold" grpId="0" nodeType="withEffect">
                                  <p:stCondLst>
                                    <p:cond delay="859"/>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450"/>
                                        <p:tgtEl>
                                          <p:spTgt spid="29"/>
                                        </p:tgtEl>
                                      </p:cBhvr>
                                    </p:animEffect>
                                    <p:anim calcmode="lin" valueType="num">
                                      <p:cBhvr additive="base">
                                        <p:cTn id="120" dur="450" fill="hold"/>
                                        <p:tgtEl>
                                          <p:spTgt spid="29"/>
                                        </p:tgtEl>
                                        <p:attrNameLst>
                                          <p:attrName>ppt_x</p:attrName>
                                        </p:attrNameLst>
                                      </p:cBhvr>
                                      <p:tavLst>
                                        <p:tav tm="0">
                                          <p:val>
                                            <p:strVal val="#ppt_x"/>
                                          </p:val>
                                        </p:tav>
                                        <p:tav tm="100000">
                                          <p:val>
                                            <p:strVal val="#ppt_x"/>
                                          </p:val>
                                        </p:tav>
                                      </p:tavLst>
                                    </p:anim>
                                    <p:anim calcmode="lin" valueType="num">
                                      <p:cBhvr additive="base">
                                        <p:cTn id="121" dur="450" fill="hold"/>
                                        <p:tgtEl>
                                          <p:spTgt spid="29"/>
                                        </p:tgtEl>
                                        <p:attrNameLst>
                                          <p:attrName>ppt_y</p:attrName>
                                        </p:attrNameLst>
                                      </p:cBhvr>
                                      <p:tavLst>
                                        <p:tav tm="0">
                                          <p:val>
                                            <p:strVal val="#ppt_y+.06"/>
                                          </p:val>
                                        </p:tav>
                                        <p:tav tm="100000">
                                          <p:val>
                                            <p:strVal val="#ppt_y"/>
                                          </p:val>
                                        </p:tav>
                                      </p:tavLst>
                                    </p:anim>
                                  </p:childTnLst>
                                </p:cTn>
                              </p:par>
                              <p:par>
                                <p:cTn id="122" presetID="42" presetClass="entr" presetSubtype="0" fill="hold" grpId="0" nodeType="withEffect">
                                  <p:stCondLst>
                                    <p:cond delay="1039"/>
                                  </p:stCondLst>
                                  <p:childTnLst>
                                    <p:set>
                                      <p:cBhvr>
                                        <p:cTn id="123" dur="1" fill="hold">
                                          <p:stCondLst>
                                            <p:cond delay="0"/>
                                          </p:stCondLst>
                                        </p:cTn>
                                        <p:tgtEl>
                                          <p:spTgt spid="31"/>
                                        </p:tgtEl>
                                        <p:attrNameLst>
                                          <p:attrName>style.visibility</p:attrName>
                                        </p:attrNameLst>
                                      </p:cBhvr>
                                      <p:to>
                                        <p:strVal val="visible"/>
                                      </p:to>
                                    </p:set>
                                    <p:animEffect transition="in" filter="fade">
                                      <p:cBhvr>
                                        <p:cTn id="124" dur="450"/>
                                        <p:tgtEl>
                                          <p:spTgt spid="31"/>
                                        </p:tgtEl>
                                      </p:cBhvr>
                                    </p:animEffect>
                                    <p:anim calcmode="lin" valueType="num">
                                      <p:cBhvr additive="base">
                                        <p:cTn id="125" dur="450" fill="hold"/>
                                        <p:tgtEl>
                                          <p:spTgt spid="31"/>
                                        </p:tgtEl>
                                        <p:attrNameLst>
                                          <p:attrName>ppt_x</p:attrName>
                                        </p:attrNameLst>
                                      </p:cBhvr>
                                      <p:tavLst>
                                        <p:tav tm="0">
                                          <p:val>
                                            <p:strVal val="#ppt_x"/>
                                          </p:val>
                                        </p:tav>
                                        <p:tav tm="100000">
                                          <p:val>
                                            <p:strVal val="#ppt_x"/>
                                          </p:val>
                                        </p:tav>
                                      </p:tavLst>
                                    </p:anim>
                                    <p:anim calcmode="lin" valueType="num">
                                      <p:cBhvr additive="base">
                                        <p:cTn id="126" dur="450" fill="hold"/>
                                        <p:tgtEl>
                                          <p:spTgt spid="31"/>
                                        </p:tgtEl>
                                        <p:attrNameLst>
                                          <p:attrName>ppt_y</p:attrName>
                                        </p:attrNameLst>
                                      </p:cBhvr>
                                      <p:tavLst>
                                        <p:tav tm="0">
                                          <p:val>
                                            <p:strVal val="#ppt_y+.06"/>
                                          </p:val>
                                        </p:tav>
                                        <p:tav tm="100000">
                                          <p:val>
                                            <p:strVal val="#ppt_y"/>
                                          </p:val>
                                        </p:tav>
                                      </p:tavLst>
                                    </p:anim>
                                  </p:childTnLst>
                                </p:cTn>
                              </p:par>
                              <p:par>
                                <p:cTn id="127" presetID="42" presetClass="entr" presetSubtype="0" fill="hold" grpId="0" nodeType="withEffect">
                                  <p:stCondLst>
                                    <p:cond delay="1039"/>
                                  </p:stCondLst>
                                  <p:childTnLst>
                                    <p:set>
                                      <p:cBhvr>
                                        <p:cTn id="128" dur="1" fill="hold">
                                          <p:stCondLst>
                                            <p:cond delay="0"/>
                                          </p:stCondLst>
                                        </p:cTn>
                                        <p:tgtEl>
                                          <p:spTgt spid="32"/>
                                        </p:tgtEl>
                                        <p:attrNameLst>
                                          <p:attrName>style.visibility</p:attrName>
                                        </p:attrNameLst>
                                      </p:cBhvr>
                                      <p:to>
                                        <p:strVal val="visible"/>
                                      </p:to>
                                    </p:set>
                                    <p:animEffect transition="in" filter="fade">
                                      <p:cBhvr>
                                        <p:cTn id="129" dur="450"/>
                                        <p:tgtEl>
                                          <p:spTgt spid="32"/>
                                        </p:tgtEl>
                                      </p:cBhvr>
                                    </p:animEffect>
                                    <p:anim calcmode="lin" valueType="num">
                                      <p:cBhvr additive="base">
                                        <p:cTn id="130" dur="450" fill="hold"/>
                                        <p:tgtEl>
                                          <p:spTgt spid="32"/>
                                        </p:tgtEl>
                                        <p:attrNameLst>
                                          <p:attrName>ppt_x</p:attrName>
                                        </p:attrNameLst>
                                      </p:cBhvr>
                                      <p:tavLst>
                                        <p:tav tm="0">
                                          <p:val>
                                            <p:strVal val="#ppt_x"/>
                                          </p:val>
                                        </p:tav>
                                        <p:tav tm="100000">
                                          <p:val>
                                            <p:strVal val="#ppt_x"/>
                                          </p:val>
                                        </p:tav>
                                      </p:tavLst>
                                    </p:anim>
                                    <p:anim calcmode="lin" valueType="num">
                                      <p:cBhvr additive="base">
                                        <p:cTn id="131" dur="450" fill="hold"/>
                                        <p:tgtEl>
                                          <p:spTgt spid="32"/>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1039"/>
                                  </p:stCondLst>
                                  <p:childTnLst>
                                    <p:set>
                                      <p:cBhvr>
                                        <p:cTn id="133" dur="1" fill="hold">
                                          <p:stCondLst>
                                            <p:cond delay="0"/>
                                          </p:stCondLst>
                                        </p:cTn>
                                        <p:tgtEl>
                                          <p:spTgt spid="30"/>
                                        </p:tgtEl>
                                        <p:attrNameLst>
                                          <p:attrName>style.visibility</p:attrName>
                                        </p:attrNameLst>
                                      </p:cBhvr>
                                      <p:to>
                                        <p:strVal val="visible"/>
                                      </p:to>
                                    </p:set>
                                    <p:animEffect transition="in" filter="fade">
                                      <p:cBhvr>
                                        <p:cTn id="134" dur="450"/>
                                        <p:tgtEl>
                                          <p:spTgt spid="30"/>
                                        </p:tgtEl>
                                      </p:cBhvr>
                                    </p:animEffect>
                                    <p:anim calcmode="lin" valueType="num">
                                      <p:cBhvr additive="base">
                                        <p:cTn id="135" dur="450" fill="hold"/>
                                        <p:tgtEl>
                                          <p:spTgt spid="30"/>
                                        </p:tgtEl>
                                        <p:attrNameLst>
                                          <p:attrName>ppt_x</p:attrName>
                                        </p:attrNameLst>
                                      </p:cBhvr>
                                      <p:tavLst>
                                        <p:tav tm="0">
                                          <p:val>
                                            <p:strVal val="#ppt_x"/>
                                          </p:val>
                                        </p:tav>
                                        <p:tav tm="100000">
                                          <p:val>
                                            <p:strVal val="#ppt_x"/>
                                          </p:val>
                                        </p:tav>
                                      </p:tavLst>
                                    </p:anim>
                                    <p:anim calcmode="lin" valueType="num">
                                      <p:cBhvr additive="base">
                                        <p:cTn id="136" dur="450" fill="hold"/>
                                        <p:tgtEl>
                                          <p:spTgt spid="30"/>
                                        </p:tgtEl>
                                        <p:attrNameLst>
                                          <p:attrName>ppt_y</p:attrName>
                                        </p:attrNameLst>
                                      </p:cBhvr>
                                      <p:tavLst>
                                        <p:tav tm="0">
                                          <p:val>
                                            <p:strVal val="#ppt_y+.06"/>
                                          </p:val>
                                        </p:tav>
                                        <p:tav tm="100000">
                                          <p:val>
                                            <p:strVal val="#ppt_y"/>
                                          </p:val>
                                        </p:tav>
                                      </p:tavLst>
                                    </p:anim>
                                  </p:childTnLst>
                                </p:cTn>
                              </p:par>
                              <p:par>
                                <p:cTn id="137" presetID="42" presetClass="entr" presetSubtype="0" fill="hold" grpId="0" nodeType="withEffect">
                                  <p:stCondLst>
                                    <p:cond delay="1039"/>
                                  </p:stCondLst>
                                  <p:childTnLst>
                                    <p:set>
                                      <p:cBhvr>
                                        <p:cTn id="138" dur="1" fill="hold">
                                          <p:stCondLst>
                                            <p:cond delay="0"/>
                                          </p:stCondLst>
                                        </p:cTn>
                                        <p:tgtEl>
                                          <p:spTgt spid="33"/>
                                        </p:tgtEl>
                                        <p:attrNameLst>
                                          <p:attrName>style.visibility</p:attrName>
                                        </p:attrNameLst>
                                      </p:cBhvr>
                                      <p:to>
                                        <p:strVal val="visible"/>
                                      </p:to>
                                    </p:set>
                                    <p:animEffect transition="in" filter="fade">
                                      <p:cBhvr>
                                        <p:cTn id="139" dur="450"/>
                                        <p:tgtEl>
                                          <p:spTgt spid="33"/>
                                        </p:tgtEl>
                                      </p:cBhvr>
                                    </p:animEffect>
                                    <p:anim calcmode="lin" valueType="num">
                                      <p:cBhvr additive="base">
                                        <p:cTn id="140" dur="450" fill="hold"/>
                                        <p:tgtEl>
                                          <p:spTgt spid="33"/>
                                        </p:tgtEl>
                                        <p:attrNameLst>
                                          <p:attrName>ppt_x</p:attrName>
                                        </p:attrNameLst>
                                      </p:cBhvr>
                                      <p:tavLst>
                                        <p:tav tm="0">
                                          <p:val>
                                            <p:strVal val="#ppt_x"/>
                                          </p:val>
                                        </p:tav>
                                        <p:tav tm="100000">
                                          <p:val>
                                            <p:strVal val="#ppt_x"/>
                                          </p:val>
                                        </p:tav>
                                      </p:tavLst>
                                    </p:anim>
                                    <p:anim calcmode="lin" valueType="num">
                                      <p:cBhvr additive="base">
                                        <p:cTn id="141" dur="450" fill="hold"/>
                                        <p:tgtEl>
                                          <p:spTgt spid="33"/>
                                        </p:tgtEl>
                                        <p:attrNameLst>
                                          <p:attrName>ppt_y</p:attrName>
                                        </p:attrNameLst>
                                      </p:cBhvr>
                                      <p:tavLst>
                                        <p:tav tm="0">
                                          <p:val>
                                            <p:strVal val="#ppt_y+.06"/>
                                          </p:val>
                                        </p:tav>
                                        <p:tav tm="100000">
                                          <p:val>
                                            <p:strVal val="#ppt_y"/>
                                          </p:val>
                                        </p:tav>
                                      </p:tavLst>
                                    </p:anim>
                                  </p:childTnLst>
                                </p:cTn>
                              </p:par>
                              <p:par>
                                <p:cTn id="142" presetID="42" presetClass="entr" presetSubtype="0" fill="hold" grpId="0" nodeType="withEffect">
                                  <p:stCondLst>
                                    <p:cond delay="1039"/>
                                  </p:stCondLst>
                                  <p:childTnLst>
                                    <p:set>
                                      <p:cBhvr>
                                        <p:cTn id="143" dur="1" fill="hold">
                                          <p:stCondLst>
                                            <p:cond delay="0"/>
                                          </p:stCondLst>
                                        </p:cTn>
                                        <p:tgtEl>
                                          <p:spTgt spid="34"/>
                                        </p:tgtEl>
                                        <p:attrNameLst>
                                          <p:attrName>style.visibility</p:attrName>
                                        </p:attrNameLst>
                                      </p:cBhvr>
                                      <p:to>
                                        <p:strVal val="visible"/>
                                      </p:to>
                                    </p:set>
                                    <p:animEffect transition="in" filter="fade">
                                      <p:cBhvr>
                                        <p:cTn id="144" dur="450"/>
                                        <p:tgtEl>
                                          <p:spTgt spid="34"/>
                                        </p:tgtEl>
                                      </p:cBhvr>
                                    </p:animEffect>
                                    <p:anim calcmode="lin" valueType="num">
                                      <p:cBhvr additive="base">
                                        <p:cTn id="145" dur="450" fill="hold"/>
                                        <p:tgtEl>
                                          <p:spTgt spid="34"/>
                                        </p:tgtEl>
                                        <p:attrNameLst>
                                          <p:attrName>ppt_x</p:attrName>
                                        </p:attrNameLst>
                                      </p:cBhvr>
                                      <p:tavLst>
                                        <p:tav tm="0">
                                          <p:val>
                                            <p:strVal val="#ppt_x"/>
                                          </p:val>
                                        </p:tav>
                                        <p:tav tm="100000">
                                          <p:val>
                                            <p:strVal val="#ppt_x"/>
                                          </p:val>
                                        </p:tav>
                                      </p:tavLst>
                                    </p:anim>
                                    <p:anim calcmode="lin" valueType="num">
                                      <p:cBhvr additive="base">
                                        <p:cTn id="146" dur="450" fill="hold"/>
                                        <p:tgtEl>
                                          <p:spTgt spid="34"/>
                                        </p:tgtEl>
                                        <p:attrNameLst>
                                          <p:attrName>ppt_y</p:attrName>
                                        </p:attrNameLst>
                                      </p:cBhvr>
                                      <p:tavLst>
                                        <p:tav tm="0">
                                          <p:val>
                                            <p:strVal val="#ppt_y+.06"/>
                                          </p:val>
                                        </p:tav>
                                        <p:tav tm="100000">
                                          <p:val>
                                            <p:strVal val="#ppt_y"/>
                                          </p:val>
                                        </p:tav>
                                      </p:tavLst>
                                    </p:anim>
                                  </p:childTnLst>
                                </p:cTn>
                              </p:par>
                              <p:par>
                                <p:cTn id="147" presetID="42" presetClass="entr" presetSubtype="0" fill="hold" grpId="0" nodeType="withEffect">
                                  <p:stCondLst>
                                    <p:cond delay="1039"/>
                                  </p:stCondLst>
                                  <p:childTnLst>
                                    <p:set>
                                      <p:cBhvr>
                                        <p:cTn id="148" dur="1" fill="hold">
                                          <p:stCondLst>
                                            <p:cond delay="0"/>
                                          </p:stCondLst>
                                        </p:cTn>
                                        <p:tgtEl>
                                          <p:spTgt spid="35"/>
                                        </p:tgtEl>
                                        <p:attrNameLst>
                                          <p:attrName>style.visibility</p:attrName>
                                        </p:attrNameLst>
                                      </p:cBhvr>
                                      <p:to>
                                        <p:strVal val="visible"/>
                                      </p:to>
                                    </p:set>
                                    <p:animEffect transition="in" filter="fade">
                                      <p:cBhvr>
                                        <p:cTn id="149" dur="450"/>
                                        <p:tgtEl>
                                          <p:spTgt spid="35"/>
                                        </p:tgtEl>
                                      </p:cBhvr>
                                    </p:animEffect>
                                    <p:anim calcmode="lin" valueType="num">
                                      <p:cBhvr additive="base">
                                        <p:cTn id="150" dur="450" fill="hold"/>
                                        <p:tgtEl>
                                          <p:spTgt spid="35"/>
                                        </p:tgtEl>
                                        <p:attrNameLst>
                                          <p:attrName>ppt_x</p:attrName>
                                        </p:attrNameLst>
                                      </p:cBhvr>
                                      <p:tavLst>
                                        <p:tav tm="0">
                                          <p:val>
                                            <p:strVal val="#ppt_x"/>
                                          </p:val>
                                        </p:tav>
                                        <p:tav tm="100000">
                                          <p:val>
                                            <p:strVal val="#ppt_x"/>
                                          </p:val>
                                        </p:tav>
                                      </p:tavLst>
                                    </p:anim>
                                    <p:anim calcmode="lin" valueType="num">
                                      <p:cBhvr additive="base">
                                        <p:cTn id="151" dur="450" fill="hold"/>
                                        <p:tgtEl>
                                          <p:spTgt spid="35"/>
                                        </p:tgtEl>
                                        <p:attrNameLst>
                                          <p:attrName>ppt_y</p:attrName>
                                        </p:attrNameLst>
                                      </p:cBhvr>
                                      <p:tavLst>
                                        <p:tav tm="0">
                                          <p:val>
                                            <p:strVal val="#ppt_y+.06"/>
                                          </p:val>
                                        </p:tav>
                                        <p:tav tm="100000">
                                          <p:val>
                                            <p:strVal val="#ppt_y"/>
                                          </p:val>
                                        </p:tav>
                                      </p:tavLst>
                                    </p:anim>
                                  </p:childTnLst>
                                </p:cTn>
                              </p:par>
                              <p:par>
                                <p:cTn id="152" presetID="42" presetClass="entr" presetSubtype="0" fill="hold" grpId="0" nodeType="withEffect">
                                  <p:stCondLst>
                                    <p:cond delay="1219"/>
                                  </p:stCondLst>
                                  <p:childTnLst>
                                    <p:set>
                                      <p:cBhvr>
                                        <p:cTn id="153" dur="1" fill="hold">
                                          <p:stCondLst>
                                            <p:cond delay="0"/>
                                          </p:stCondLst>
                                        </p:cTn>
                                        <p:tgtEl>
                                          <p:spTgt spid="37"/>
                                        </p:tgtEl>
                                        <p:attrNameLst>
                                          <p:attrName>style.visibility</p:attrName>
                                        </p:attrNameLst>
                                      </p:cBhvr>
                                      <p:to>
                                        <p:strVal val="visible"/>
                                      </p:to>
                                    </p:set>
                                    <p:animEffect transition="in" filter="fade">
                                      <p:cBhvr>
                                        <p:cTn id="154" dur="450"/>
                                        <p:tgtEl>
                                          <p:spTgt spid="37"/>
                                        </p:tgtEl>
                                      </p:cBhvr>
                                    </p:animEffect>
                                    <p:anim calcmode="lin" valueType="num">
                                      <p:cBhvr additive="base">
                                        <p:cTn id="155" dur="450" fill="hold"/>
                                        <p:tgtEl>
                                          <p:spTgt spid="37"/>
                                        </p:tgtEl>
                                        <p:attrNameLst>
                                          <p:attrName>ppt_x</p:attrName>
                                        </p:attrNameLst>
                                      </p:cBhvr>
                                      <p:tavLst>
                                        <p:tav tm="0">
                                          <p:val>
                                            <p:strVal val="#ppt_x"/>
                                          </p:val>
                                        </p:tav>
                                        <p:tav tm="100000">
                                          <p:val>
                                            <p:strVal val="#ppt_x"/>
                                          </p:val>
                                        </p:tav>
                                      </p:tavLst>
                                    </p:anim>
                                    <p:anim calcmode="lin" valueType="num">
                                      <p:cBhvr additive="base">
                                        <p:cTn id="156" dur="450" fill="hold"/>
                                        <p:tgtEl>
                                          <p:spTgt spid="37"/>
                                        </p:tgtEl>
                                        <p:attrNameLst>
                                          <p:attrName>ppt_y</p:attrName>
                                        </p:attrNameLst>
                                      </p:cBhvr>
                                      <p:tavLst>
                                        <p:tav tm="0">
                                          <p:val>
                                            <p:strVal val="#ppt_y+.06"/>
                                          </p:val>
                                        </p:tav>
                                        <p:tav tm="100000">
                                          <p:val>
                                            <p:strVal val="#ppt_y"/>
                                          </p:val>
                                        </p:tav>
                                      </p:tavLst>
                                    </p:anim>
                                  </p:childTnLst>
                                </p:cTn>
                              </p:par>
                              <p:par>
                                <p:cTn id="157" presetID="42" presetClass="entr" presetSubtype="0" fill="hold" grpId="0" nodeType="withEffect">
                                  <p:stCondLst>
                                    <p:cond delay="1219"/>
                                  </p:stCondLst>
                                  <p:childTnLst>
                                    <p:set>
                                      <p:cBhvr>
                                        <p:cTn id="158" dur="1" fill="hold">
                                          <p:stCondLst>
                                            <p:cond delay="0"/>
                                          </p:stCondLst>
                                        </p:cTn>
                                        <p:tgtEl>
                                          <p:spTgt spid="38"/>
                                        </p:tgtEl>
                                        <p:attrNameLst>
                                          <p:attrName>style.visibility</p:attrName>
                                        </p:attrNameLst>
                                      </p:cBhvr>
                                      <p:to>
                                        <p:strVal val="visible"/>
                                      </p:to>
                                    </p:set>
                                    <p:animEffect transition="in" filter="fade">
                                      <p:cBhvr>
                                        <p:cTn id="159" dur="450"/>
                                        <p:tgtEl>
                                          <p:spTgt spid="38"/>
                                        </p:tgtEl>
                                      </p:cBhvr>
                                    </p:animEffect>
                                    <p:anim calcmode="lin" valueType="num">
                                      <p:cBhvr additive="base">
                                        <p:cTn id="160" dur="450" fill="hold"/>
                                        <p:tgtEl>
                                          <p:spTgt spid="38"/>
                                        </p:tgtEl>
                                        <p:attrNameLst>
                                          <p:attrName>ppt_x</p:attrName>
                                        </p:attrNameLst>
                                      </p:cBhvr>
                                      <p:tavLst>
                                        <p:tav tm="0">
                                          <p:val>
                                            <p:strVal val="#ppt_x"/>
                                          </p:val>
                                        </p:tav>
                                        <p:tav tm="100000">
                                          <p:val>
                                            <p:strVal val="#ppt_x"/>
                                          </p:val>
                                        </p:tav>
                                      </p:tavLst>
                                    </p:anim>
                                    <p:anim calcmode="lin" valueType="num">
                                      <p:cBhvr additive="base">
                                        <p:cTn id="161" dur="450" fill="hold"/>
                                        <p:tgtEl>
                                          <p:spTgt spid="38"/>
                                        </p:tgtEl>
                                        <p:attrNameLst>
                                          <p:attrName>ppt_y</p:attrName>
                                        </p:attrNameLst>
                                      </p:cBhvr>
                                      <p:tavLst>
                                        <p:tav tm="0">
                                          <p:val>
                                            <p:strVal val="#ppt_y+.06"/>
                                          </p:val>
                                        </p:tav>
                                        <p:tav tm="100000">
                                          <p:val>
                                            <p:strVal val="#ppt_y"/>
                                          </p:val>
                                        </p:tav>
                                      </p:tavLst>
                                    </p:anim>
                                  </p:childTnLst>
                                </p:cTn>
                              </p:par>
                              <p:par>
                                <p:cTn id="162" presetID="42" presetClass="entr" presetSubtype="0" fill="hold" grpId="0" nodeType="withEffect">
                                  <p:stCondLst>
                                    <p:cond delay="1219"/>
                                  </p:stCondLst>
                                  <p:childTnLst>
                                    <p:set>
                                      <p:cBhvr>
                                        <p:cTn id="163" dur="1" fill="hold">
                                          <p:stCondLst>
                                            <p:cond delay="0"/>
                                          </p:stCondLst>
                                        </p:cTn>
                                        <p:tgtEl>
                                          <p:spTgt spid="36"/>
                                        </p:tgtEl>
                                        <p:attrNameLst>
                                          <p:attrName>style.visibility</p:attrName>
                                        </p:attrNameLst>
                                      </p:cBhvr>
                                      <p:to>
                                        <p:strVal val="visible"/>
                                      </p:to>
                                    </p:set>
                                    <p:animEffect transition="in" filter="fade">
                                      <p:cBhvr>
                                        <p:cTn id="164" dur="450"/>
                                        <p:tgtEl>
                                          <p:spTgt spid="36"/>
                                        </p:tgtEl>
                                      </p:cBhvr>
                                    </p:animEffect>
                                    <p:anim calcmode="lin" valueType="num">
                                      <p:cBhvr additive="base">
                                        <p:cTn id="165" dur="450" fill="hold"/>
                                        <p:tgtEl>
                                          <p:spTgt spid="36"/>
                                        </p:tgtEl>
                                        <p:attrNameLst>
                                          <p:attrName>ppt_x</p:attrName>
                                        </p:attrNameLst>
                                      </p:cBhvr>
                                      <p:tavLst>
                                        <p:tav tm="0">
                                          <p:val>
                                            <p:strVal val="#ppt_x"/>
                                          </p:val>
                                        </p:tav>
                                        <p:tav tm="100000">
                                          <p:val>
                                            <p:strVal val="#ppt_x"/>
                                          </p:val>
                                        </p:tav>
                                      </p:tavLst>
                                    </p:anim>
                                    <p:anim calcmode="lin" valueType="num">
                                      <p:cBhvr additive="base">
                                        <p:cTn id="166" dur="450" fill="hold"/>
                                        <p:tgtEl>
                                          <p:spTgt spid="36"/>
                                        </p:tgtEl>
                                        <p:attrNameLst>
                                          <p:attrName>ppt_y</p:attrName>
                                        </p:attrNameLst>
                                      </p:cBhvr>
                                      <p:tavLst>
                                        <p:tav tm="0">
                                          <p:val>
                                            <p:strVal val="#ppt_y+.06"/>
                                          </p:val>
                                        </p:tav>
                                        <p:tav tm="100000">
                                          <p:val>
                                            <p:strVal val="#ppt_y"/>
                                          </p:val>
                                        </p:tav>
                                      </p:tavLst>
                                    </p:anim>
                                  </p:childTnLst>
                                </p:cTn>
                              </p:par>
                              <p:par>
                                <p:cTn id="167" presetID="42" presetClass="entr" presetSubtype="0" fill="hold" grpId="0" nodeType="withEffect">
                                  <p:stCondLst>
                                    <p:cond delay="1219"/>
                                  </p:stCondLst>
                                  <p:childTnLst>
                                    <p:set>
                                      <p:cBhvr>
                                        <p:cTn id="168" dur="1" fill="hold">
                                          <p:stCondLst>
                                            <p:cond delay="0"/>
                                          </p:stCondLst>
                                        </p:cTn>
                                        <p:tgtEl>
                                          <p:spTgt spid="39"/>
                                        </p:tgtEl>
                                        <p:attrNameLst>
                                          <p:attrName>style.visibility</p:attrName>
                                        </p:attrNameLst>
                                      </p:cBhvr>
                                      <p:to>
                                        <p:strVal val="visible"/>
                                      </p:to>
                                    </p:set>
                                    <p:animEffect transition="in" filter="fade">
                                      <p:cBhvr>
                                        <p:cTn id="169" dur="450"/>
                                        <p:tgtEl>
                                          <p:spTgt spid="39"/>
                                        </p:tgtEl>
                                      </p:cBhvr>
                                    </p:animEffect>
                                    <p:anim calcmode="lin" valueType="num">
                                      <p:cBhvr additive="base">
                                        <p:cTn id="170" dur="450" fill="hold"/>
                                        <p:tgtEl>
                                          <p:spTgt spid="39"/>
                                        </p:tgtEl>
                                        <p:attrNameLst>
                                          <p:attrName>ppt_x</p:attrName>
                                        </p:attrNameLst>
                                      </p:cBhvr>
                                      <p:tavLst>
                                        <p:tav tm="0">
                                          <p:val>
                                            <p:strVal val="#ppt_x"/>
                                          </p:val>
                                        </p:tav>
                                        <p:tav tm="100000">
                                          <p:val>
                                            <p:strVal val="#ppt_x"/>
                                          </p:val>
                                        </p:tav>
                                      </p:tavLst>
                                    </p:anim>
                                    <p:anim calcmode="lin" valueType="num">
                                      <p:cBhvr additive="base">
                                        <p:cTn id="171" dur="450" fill="hold"/>
                                        <p:tgtEl>
                                          <p:spTgt spid="39"/>
                                        </p:tgtEl>
                                        <p:attrNameLst>
                                          <p:attrName>ppt_y</p:attrName>
                                        </p:attrNameLst>
                                      </p:cBhvr>
                                      <p:tavLst>
                                        <p:tav tm="0">
                                          <p:val>
                                            <p:strVal val="#ppt_y+.06"/>
                                          </p:val>
                                        </p:tav>
                                        <p:tav tm="100000">
                                          <p:val>
                                            <p:strVal val="#ppt_y"/>
                                          </p:val>
                                        </p:tav>
                                      </p:tavLst>
                                    </p:anim>
                                  </p:childTnLst>
                                </p:cTn>
                              </p:par>
                              <p:par>
                                <p:cTn id="172" presetID="42" presetClass="entr" presetSubtype="0" fill="hold" grpId="0" nodeType="withEffect">
                                  <p:stCondLst>
                                    <p:cond delay="1219"/>
                                  </p:stCondLst>
                                  <p:childTnLst>
                                    <p:set>
                                      <p:cBhvr>
                                        <p:cTn id="173" dur="1" fill="hold">
                                          <p:stCondLst>
                                            <p:cond delay="0"/>
                                          </p:stCondLst>
                                        </p:cTn>
                                        <p:tgtEl>
                                          <p:spTgt spid="40"/>
                                        </p:tgtEl>
                                        <p:attrNameLst>
                                          <p:attrName>style.visibility</p:attrName>
                                        </p:attrNameLst>
                                      </p:cBhvr>
                                      <p:to>
                                        <p:strVal val="visible"/>
                                      </p:to>
                                    </p:set>
                                    <p:animEffect transition="in" filter="fade">
                                      <p:cBhvr>
                                        <p:cTn id="174" dur="450"/>
                                        <p:tgtEl>
                                          <p:spTgt spid="40"/>
                                        </p:tgtEl>
                                      </p:cBhvr>
                                    </p:animEffect>
                                    <p:anim calcmode="lin" valueType="num">
                                      <p:cBhvr additive="base">
                                        <p:cTn id="175" dur="450" fill="hold"/>
                                        <p:tgtEl>
                                          <p:spTgt spid="40"/>
                                        </p:tgtEl>
                                        <p:attrNameLst>
                                          <p:attrName>ppt_x</p:attrName>
                                        </p:attrNameLst>
                                      </p:cBhvr>
                                      <p:tavLst>
                                        <p:tav tm="0">
                                          <p:val>
                                            <p:strVal val="#ppt_x"/>
                                          </p:val>
                                        </p:tav>
                                        <p:tav tm="100000">
                                          <p:val>
                                            <p:strVal val="#ppt_x"/>
                                          </p:val>
                                        </p:tav>
                                      </p:tavLst>
                                    </p:anim>
                                    <p:anim calcmode="lin" valueType="num">
                                      <p:cBhvr additive="base">
                                        <p:cTn id="176" dur="450" fill="hold"/>
                                        <p:tgtEl>
                                          <p:spTgt spid="40"/>
                                        </p:tgtEl>
                                        <p:attrNameLst>
                                          <p:attrName>ppt_y</p:attrName>
                                        </p:attrNameLst>
                                      </p:cBhvr>
                                      <p:tavLst>
                                        <p:tav tm="0">
                                          <p:val>
                                            <p:strVal val="#ppt_y+.06"/>
                                          </p:val>
                                        </p:tav>
                                        <p:tav tm="100000">
                                          <p:val>
                                            <p:strVal val="#ppt_y"/>
                                          </p:val>
                                        </p:tav>
                                      </p:tavLst>
                                    </p:anim>
                                  </p:childTnLst>
                                </p:cTn>
                              </p:par>
                              <p:par>
                                <p:cTn id="177" presetID="42" presetClass="entr" presetSubtype="0" fill="hold" grpId="0" nodeType="withEffect">
                                  <p:stCondLst>
                                    <p:cond delay="1219"/>
                                  </p:stCondLst>
                                  <p:childTnLst>
                                    <p:set>
                                      <p:cBhvr>
                                        <p:cTn id="178" dur="1" fill="hold">
                                          <p:stCondLst>
                                            <p:cond delay="0"/>
                                          </p:stCondLst>
                                        </p:cTn>
                                        <p:tgtEl>
                                          <p:spTgt spid="41"/>
                                        </p:tgtEl>
                                        <p:attrNameLst>
                                          <p:attrName>style.visibility</p:attrName>
                                        </p:attrNameLst>
                                      </p:cBhvr>
                                      <p:to>
                                        <p:strVal val="visible"/>
                                      </p:to>
                                    </p:set>
                                    <p:animEffect transition="in" filter="fade">
                                      <p:cBhvr>
                                        <p:cTn id="179" dur="450"/>
                                        <p:tgtEl>
                                          <p:spTgt spid="41"/>
                                        </p:tgtEl>
                                      </p:cBhvr>
                                    </p:animEffect>
                                    <p:anim calcmode="lin" valueType="num">
                                      <p:cBhvr additive="base">
                                        <p:cTn id="180" dur="450" fill="hold"/>
                                        <p:tgtEl>
                                          <p:spTgt spid="41"/>
                                        </p:tgtEl>
                                        <p:attrNameLst>
                                          <p:attrName>ppt_x</p:attrName>
                                        </p:attrNameLst>
                                      </p:cBhvr>
                                      <p:tavLst>
                                        <p:tav tm="0">
                                          <p:val>
                                            <p:strVal val="#ppt_x"/>
                                          </p:val>
                                        </p:tav>
                                        <p:tav tm="100000">
                                          <p:val>
                                            <p:strVal val="#ppt_x"/>
                                          </p:val>
                                        </p:tav>
                                      </p:tavLst>
                                    </p:anim>
                                    <p:anim calcmode="lin" valueType="num">
                                      <p:cBhvr additive="base">
                                        <p:cTn id="181" dur="450" fill="hold"/>
                                        <p:tgtEl>
                                          <p:spTgt spid="4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0"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7" grpId="0" animBg="1"/>
      <p:bldP spid="38" grpId="0" animBg="1"/>
      <p:bldP spid="39" grpId="0" animBg="1"/>
      <p:bldP spid="40" grpId="0" animBg="1"/>
      <p:bldP spid="41"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bg" descr="light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4"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1F4FD8"/>
                </a:solidFill>
                <a:latin typeface="Lexend Exa"/>
                <a:ea typeface="Lexend Exa"/>
                <a:cs typeface="Lexend Exa"/>
              </a:rPr>
              <a:t>KIẾN TẠO</a:t>
            </a:r>
          </a:p>
        </p:txBody>
      </p:sp>
      <p:sp>
        <p:nvSpPr>
          <p:cNvPr id="5" name="!!tag"/>
          <p:cNvSpPr/>
          <p:nvPr/>
        </p:nvSpPr>
        <p:spPr>
          <a:xfrm>
            <a:off x="548640" y="292608"/>
            <a:ext cx="1436668" cy="329184"/>
          </a:xfrm>
          <a:prstGeom prst="roundRect">
            <a:avLst>
              <a:gd name="adj" fmla="val 50000"/>
            </a:avLst>
          </a:prstGeom>
          <a:solidFill>
            <a:srgbClr val="FFFFFF"/>
          </a:solidFill>
          <a:ln w="9525">
            <a:solidFill>
              <a:srgbClr val="D5DEEE"/>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01</a:t>
            </a:r>
          </a:p>
        </p:txBody>
      </p:sp>
      <p:sp>
        <p:nvSpPr>
          <p:cNvPr id="7" name="!!tag_text"/>
          <p:cNvSpPr txBox="1"/>
          <p:nvPr/>
        </p:nvSpPr>
        <p:spPr>
          <a:xfrm>
            <a:off x="896112" y="292608"/>
            <a:ext cx="1070908" cy="329184"/>
          </a:xfrm>
          <a:prstGeom prst="rect">
            <a:avLst/>
          </a:prstGeom>
          <a:noFill/>
        </p:spPr>
        <p:txBody>
          <a:bodyPr wrap="square" lIns="0" rIns="0" tIns="0" bIns="0" anchor="ctr">
            <a:noAutofit/>
          </a:bodyPr>
          <a:lstStyle/>
          <a:p>
            <a:pPr algn="l"/>
            <a:r>
              <a:rPr sz="900" b="0" i="0" spc="100">
                <a:solidFill>
                  <a:srgbClr val="0B1F4D"/>
                </a:solidFill>
                <a:latin typeface="Be Vietnam Pro SemiBold"/>
                <a:ea typeface="Be Vietnam Pro SemiBold"/>
                <a:cs typeface="Be Vietnam Pro SemiBold"/>
              </a:rPr>
              <a:t>GIỚI THIỆU</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B1F4D"/>
                </a:solidFill>
                <a:latin typeface="Lexend Exa"/>
                <a:ea typeface="Lexend Exa"/>
                <a:cs typeface="Lexend Exa"/>
              </a:rPr>
              <a:t>SƠ ĐỒ TỔ CHỨC</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A5878"/>
                </a:solidFill>
                <a:latin typeface="Be Vietnam Pro"/>
                <a:ea typeface="Be Vietnam Pro"/>
                <a:cs typeface="Be Vietnam Pro"/>
              </a:rPr>
              <a:t>Bộ máy tinh gọn, phân cấp rõ ràng, phản ứng nhanh tại công trường</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A97B5"/>
                </a:solidFill>
                <a:latin typeface="Be Vietnam Pro SemiBold"/>
                <a:ea typeface="Be Vietnam Pro SemiBold"/>
                <a:cs typeface="Be Vietnam Pro SemiBold"/>
              </a:rPr>
              <a:t>07</a:t>
            </a:r>
          </a:p>
        </p:txBody>
      </p:sp>
      <p:sp>
        <p:nvSpPr>
          <p:cNvPr id="11" name="Rounded Rectangle 10"/>
          <p:cNvSpPr/>
          <p:nvPr/>
        </p:nvSpPr>
        <p:spPr>
          <a:xfrm>
            <a:off x="4587088" y="1783080"/>
            <a:ext cx="3017520" cy="566928"/>
          </a:xfrm>
          <a:prstGeom prst="roundRect">
            <a:avLst>
              <a:gd name="adj" fmla="val 16129"/>
            </a:avLst>
          </a:prstGeom>
          <a:solidFill>
            <a:srgbClr val="061A5E"/>
          </a:solidFill>
          <a:ln>
            <a:noFill/>
          </a:ln>
          <a:effectLst>
            <a:outerShdw blurRad="182880" dist="36576"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54864" rIns="54864" tIns="27432" bIns="27432" wrap="square"/>
          <a:lstStyle/>
          <a:p>
            <a:pPr algn="ctr">
              <a:lnSpc>
                <a:spcPct val="105000"/>
              </a:lnSpc>
            </a:pPr>
            <a:r>
              <a:rPr sz="1100" b="0" i="0">
                <a:solidFill>
                  <a:srgbClr val="FFFFFF"/>
                </a:solidFill>
                <a:latin typeface="Be Vietnam Pro SemiBold"/>
                <a:ea typeface="Be Vietnam Pro SemiBold"/>
                <a:cs typeface="Be Vietnam Pro SemiBold"/>
              </a:rPr>
              <a:t>Đại hội đồng cổ đông</a:t>
            </a:r>
          </a:p>
        </p:txBody>
      </p:sp>
      <p:sp>
        <p:nvSpPr>
          <p:cNvPr id="12" name="Rounded Rectangle 11"/>
          <p:cNvSpPr/>
          <p:nvPr/>
        </p:nvSpPr>
        <p:spPr>
          <a:xfrm>
            <a:off x="2986888" y="2697480"/>
            <a:ext cx="3017520" cy="566928"/>
          </a:xfrm>
          <a:prstGeom prst="roundRect">
            <a:avLst>
              <a:gd name="adj" fmla="val 16129"/>
            </a:avLst>
          </a:prstGeom>
          <a:solidFill>
            <a:srgbClr val="1F4FD8"/>
          </a:solidFill>
          <a:ln>
            <a:noFill/>
          </a:ln>
          <a:effectLst>
            <a:outerShdw blurRad="182880" dist="36576"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54864" rIns="54864" tIns="27432" bIns="27432" wrap="square"/>
          <a:lstStyle/>
          <a:p>
            <a:pPr algn="ctr">
              <a:lnSpc>
                <a:spcPct val="105000"/>
              </a:lnSpc>
            </a:pPr>
            <a:r>
              <a:rPr sz="1100" b="0" i="0">
                <a:solidFill>
                  <a:srgbClr val="FFFFFF"/>
                </a:solidFill>
                <a:latin typeface="Be Vietnam Pro SemiBold"/>
                <a:ea typeface="Be Vietnam Pro SemiBold"/>
                <a:cs typeface="Be Vietnam Pro SemiBold"/>
              </a:rPr>
              <a:t>Hội đồng quản trị</a:t>
            </a:r>
          </a:p>
        </p:txBody>
      </p:sp>
      <p:sp>
        <p:nvSpPr>
          <p:cNvPr id="13" name="Rounded Rectangle 12"/>
          <p:cNvSpPr/>
          <p:nvPr/>
        </p:nvSpPr>
        <p:spPr>
          <a:xfrm>
            <a:off x="6187288" y="2697480"/>
            <a:ext cx="3017520" cy="566928"/>
          </a:xfrm>
          <a:prstGeom prst="roundRect">
            <a:avLst>
              <a:gd name="adj" fmla="val 16129"/>
            </a:avLst>
          </a:prstGeom>
          <a:solidFill>
            <a:srgbClr val="1F4FD8"/>
          </a:solidFill>
          <a:ln>
            <a:noFill/>
          </a:ln>
          <a:effectLst>
            <a:outerShdw blurRad="182880" dist="36576"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54864" rIns="54864" tIns="27432" bIns="27432" wrap="square"/>
          <a:lstStyle/>
          <a:p>
            <a:pPr algn="ctr">
              <a:lnSpc>
                <a:spcPct val="105000"/>
              </a:lnSpc>
            </a:pPr>
            <a:r>
              <a:rPr sz="1100" b="0" i="0">
                <a:solidFill>
                  <a:srgbClr val="FFFFFF"/>
                </a:solidFill>
                <a:latin typeface="Be Vietnam Pro SemiBold"/>
                <a:ea typeface="Be Vietnam Pro SemiBold"/>
                <a:cs typeface="Be Vietnam Pro SemiBold"/>
              </a:rPr>
              <a:t>Ban Kiểm soát</a:t>
            </a:r>
          </a:p>
        </p:txBody>
      </p:sp>
      <p:cxnSp>
        <p:nvCxnSpPr>
          <p:cNvPr id="14" name="Connector 13"/>
          <p:cNvCxnSpPr/>
          <p:nvPr/>
        </p:nvCxnSpPr>
        <p:spPr>
          <a:xfrm>
            <a:off x="6095848" y="2350008"/>
            <a:ext cx="0" cy="173736"/>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cxnSp>
        <p:nvCxnSpPr>
          <p:cNvPr id="15" name="Connector 14"/>
          <p:cNvCxnSpPr/>
          <p:nvPr/>
        </p:nvCxnSpPr>
        <p:spPr>
          <a:xfrm>
            <a:off x="4495648" y="2523744"/>
            <a:ext cx="3200400" cy="0"/>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4495648" y="2523744"/>
            <a:ext cx="0" cy="173736"/>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7696048" y="2523744"/>
            <a:ext cx="0" cy="173736"/>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sp>
        <p:nvSpPr>
          <p:cNvPr id="18" name="Rounded Rectangle 17"/>
          <p:cNvSpPr/>
          <p:nvPr/>
        </p:nvSpPr>
        <p:spPr>
          <a:xfrm>
            <a:off x="4587088" y="3611880"/>
            <a:ext cx="3017520" cy="566928"/>
          </a:xfrm>
          <a:prstGeom prst="roundRect">
            <a:avLst>
              <a:gd name="adj" fmla="val 16129"/>
            </a:avLst>
          </a:prstGeom>
          <a:solidFill>
            <a:srgbClr val="3FA9FF"/>
          </a:solidFill>
          <a:ln>
            <a:noFill/>
          </a:ln>
          <a:effectLst>
            <a:outerShdw blurRad="182880" dist="36576"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54864" rIns="54864" tIns="27432" bIns="27432" wrap="square"/>
          <a:lstStyle/>
          <a:p>
            <a:pPr algn="ctr">
              <a:lnSpc>
                <a:spcPct val="105000"/>
              </a:lnSpc>
            </a:pPr>
            <a:r>
              <a:rPr sz="1100" b="0" i="0">
                <a:solidFill>
                  <a:srgbClr val="061A5E"/>
                </a:solidFill>
                <a:latin typeface="Be Vietnam Pro SemiBold"/>
                <a:ea typeface="Be Vietnam Pro SemiBold"/>
                <a:cs typeface="Be Vietnam Pro SemiBold"/>
              </a:rPr>
              <a:t>Ban Tổng Giám đốc</a:t>
            </a:r>
          </a:p>
        </p:txBody>
      </p:sp>
      <p:cxnSp>
        <p:nvCxnSpPr>
          <p:cNvPr id="19" name="Connector 18"/>
          <p:cNvCxnSpPr/>
          <p:nvPr/>
        </p:nvCxnSpPr>
        <p:spPr>
          <a:xfrm>
            <a:off x="6095848" y="3264408"/>
            <a:ext cx="0" cy="173736"/>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a:off x="6095848" y="3438144"/>
            <a:ext cx="0" cy="0"/>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a:off x="6095848" y="3438144"/>
            <a:ext cx="0" cy="173736"/>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sp>
        <p:nvSpPr>
          <p:cNvPr id="22" name="Rounded Rectangle 21"/>
          <p:cNvSpPr/>
          <p:nvPr/>
        </p:nvSpPr>
        <p:spPr>
          <a:xfrm>
            <a:off x="548640" y="4892040"/>
            <a:ext cx="2072579" cy="868680"/>
          </a:xfrm>
          <a:prstGeom prst="roundRect">
            <a:avLst>
              <a:gd name="adj" fmla="val 10526"/>
            </a:avLst>
          </a:prstGeom>
          <a:solidFill>
            <a:srgbClr val="FFFFFF"/>
          </a:solidFill>
          <a:ln w="9525">
            <a:solidFill>
              <a:srgbClr val="D5DEEE"/>
            </a:solidFill>
          </a:ln>
          <a:effectLst>
            <a:outerShdw blurRad="182880" dist="36576"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54864" rIns="54864" tIns="27432" bIns="27432" wrap="square"/>
          <a:lstStyle/>
          <a:p>
            <a:pPr algn="ctr">
              <a:lnSpc>
                <a:spcPct val="105000"/>
              </a:lnSpc>
            </a:pPr>
            <a:r>
              <a:rPr sz="1000" b="0" i="0">
                <a:solidFill>
                  <a:srgbClr val="0B1F4D"/>
                </a:solidFill>
                <a:latin typeface="Be Vietnam Pro SemiBold"/>
                <a:ea typeface="Be Vietnam Pro SemiBold"/>
                <a:cs typeface="Be Vietnam Pro SemiBold"/>
              </a:rPr>
              <a:t>Khối Thi công</a:t>
            </a:r>
          </a:p>
        </p:txBody>
      </p:sp>
      <p:sp>
        <p:nvSpPr>
          <p:cNvPr id="23" name="Rounded Rectangle 22"/>
          <p:cNvSpPr/>
          <p:nvPr/>
        </p:nvSpPr>
        <p:spPr>
          <a:xfrm>
            <a:off x="2804099" y="4892040"/>
            <a:ext cx="2072579" cy="868680"/>
          </a:xfrm>
          <a:prstGeom prst="roundRect">
            <a:avLst>
              <a:gd name="adj" fmla="val 10526"/>
            </a:avLst>
          </a:prstGeom>
          <a:solidFill>
            <a:srgbClr val="FFFFFF"/>
          </a:solidFill>
          <a:ln w="9525">
            <a:solidFill>
              <a:srgbClr val="D5DEEE"/>
            </a:solidFill>
          </a:ln>
          <a:effectLst>
            <a:outerShdw blurRad="182880" dist="36576"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54864" rIns="54864" tIns="27432" bIns="27432" wrap="square"/>
          <a:lstStyle/>
          <a:p>
            <a:pPr algn="ctr">
              <a:lnSpc>
                <a:spcPct val="105000"/>
              </a:lnSpc>
            </a:pPr>
            <a:r>
              <a:rPr sz="1000" b="0" i="0">
                <a:solidFill>
                  <a:srgbClr val="0B1F4D"/>
                </a:solidFill>
                <a:latin typeface="Be Vietnam Pro SemiBold"/>
                <a:ea typeface="Be Vietnam Pro SemiBold"/>
                <a:cs typeface="Be Vietnam Pro SemiBold"/>
              </a:rPr>
              <a:t>Khối Kỹ thuật – MEP</a:t>
            </a:r>
          </a:p>
        </p:txBody>
      </p:sp>
      <p:sp>
        <p:nvSpPr>
          <p:cNvPr id="24" name="Rounded Rectangle 23"/>
          <p:cNvSpPr/>
          <p:nvPr/>
        </p:nvSpPr>
        <p:spPr>
          <a:xfrm>
            <a:off x="5059558" y="4892040"/>
            <a:ext cx="2072579" cy="868680"/>
          </a:xfrm>
          <a:prstGeom prst="roundRect">
            <a:avLst>
              <a:gd name="adj" fmla="val 10526"/>
            </a:avLst>
          </a:prstGeom>
          <a:solidFill>
            <a:srgbClr val="FFFFFF"/>
          </a:solidFill>
          <a:ln w="9525">
            <a:solidFill>
              <a:srgbClr val="D5DEEE"/>
            </a:solidFill>
          </a:ln>
          <a:effectLst>
            <a:outerShdw blurRad="182880" dist="36576"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54864" rIns="54864" tIns="27432" bIns="27432" wrap="square"/>
          <a:lstStyle/>
          <a:p>
            <a:pPr algn="ctr">
              <a:lnSpc>
                <a:spcPct val="105000"/>
              </a:lnSpc>
            </a:pPr>
            <a:r>
              <a:rPr sz="1000" b="0" i="0">
                <a:solidFill>
                  <a:srgbClr val="0B1F4D"/>
                </a:solidFill>
                <a:latin typeface="Be Vietnam Pro SemiBold"/>
                <a:ea typeface="Be Vietnam Pro SemiBold"/>
                <a:cs typeface="Be Vietnam Pro SemiBold"/>
              </a:rPr>
              <a:t>Khối QA/QC – HSE</a:t>
            </a:r>
          </a:p>
        </p:txBody>
      </p:sp>
      <p:sp>
        <p:nvSpPr>
          <p:cNvPr id="25" name="Rounded Rectangle 24"/>
          <p:cNvSpPr/>
          <p:nvPr/>
        </p:nvSpPr>
        <p:spPr>
          <a:xfrm>
            <a:off x="7315017" y="4892040"/>
            <a:ext cx="2072579" cy="868680"/>
          </a:xfrm>
          <a:prstGeom prst="roundRect">
            <a:avLst>
              <a:gd name="adj" fmla="val 10526"/>
            </a:avLst>
          </a:prstGeom>
          <a:solidFill>
            <a:srgbClr val="FFFFFF"/>
          </a:solidFill>
          <a:ln w="9525">
            <a:solidFill>
              <a:srgbClr val="D5DEEE"/>
            </a:solidFill>
          </a:ln>
          <a:effectLst>
            <a:outerShdw blurRad="182880" dist="36576"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54864" rIns="54864" tIns="27432" bIns="27432" wrap="square"/>
          <a:lstStyle/>
          <a:p>
            <a:pPr algn="ctr">
              <a:lnSpc>
                <a:spcPct val="105000"/>
              </a:lnSpc>
            </a:pPr>
            <a:r>
              <a:rPr sz="1000" b="0" i="0">
                <a:solidFill>
                  <a:srgbClr val="0B1F4D"/>
                </a:solidFill>
                <a:latin typeface="Be Vietnam Pro SemiBold"/>
                <a:ea typeface="Be Vietnam Pro SemiBold"/>
                <a:cs typeface="Be Vietnam Pro SemiBold"/>
              </a:rPr>
              <a:t>Khối Tài chính</a:t>
            </a:r>
          </a:p>
        </p:txBody>
      </p:sp>
      <p:sp>
        <p:nvSpPr>
          <p:cNvPr id="26" name="Rounded Rectangle 25"/>
          <p:cNvSpPr/>
          <p:nvPr/>
        </p:nvSpPr>
        <p:spPr>
          <a:xfrm>
            <a:off x="9570476" y="4892040"/>
            <a:ext cx="2072579" cy="868680"/>
          </a:xfrm>
          <a:prstGeom prst="roundRect">
            <a:avLst>
              <a:gd name="adj" fmla="val 10526"/>
            </a:avLst>
          </a:prstGeom>
          <a:solidFill>
            <a:srgbClr val="FFFFFF"/>
          </a:solidFill>
          <a:ln w="9525">
            <a:solidFill>
              <a:srgbClr val="D5DEEE"/>
            </a:solidFill>
          </a:ln>
          <a:effectLst>
            <a:outerShdw blurRad="182880" dist="36576"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54864" rIns="54864" tIns="27432" bIns="27432" wrap="square"/>
          <a:lstStyle/>
          <a:p>
            <a:pPr algn="ctr">
              <a:lnSpc>
                <a:spcPct val="105000"/>
              </a:lnSpc>
            </a:pPr>
            <a:r>
              <a:rPr sz="1000" b="0" i="0">
                <a:solidFill>
                  <a:srgbClr val="0B1F4D"/>
                </a:solidFill>
                <a:latin typeface="Be Vietnam Pro SemiBold"/>
                <a:ea typeface="Be Vietnam Pro SemiBold"/>
                <a:cs typeface="Be Vietnam Pro SemiBold"/>
              </a:rPr>
              <a:t>Khối Nhân sự – Hành chính</a:t>
            </a:r>
          </a:p>
        </p:txBody>
      </p:sp>
      <p:cxnSp>
        <p:nvCxnSpPr>
          <p:cNvPr id="27" name="Connector 26"/>
          <p:cNvCxnSpPr/>
          <p:nvPr/>
        </p:nvCxnSpPr>
        <p:spPr>
          <a:xfrm>
            <a:off x="6095848" y="4178808"/>
            <a:ext cx="0" cy="356616"/>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1584930" y="4535424"/>
            <a:ext cx="9021836" cy="0"/>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1584930" y="4535424"/>
            <a:ext cx="0" cy="356616"/>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cxnSp>
        <p:nvCxnSpPr>
          <p:cNvPr id="30" name="Connector 29"/>
          <p:cNvCxnSpPr/>
          <p:nvPr/>
        </p:nvCxnSpPr>
        <p:spPr>
          <a:xfrm>
            <a:off x="3840389" y="4535424"/>
            <a:ext cx="0" cy="356616"/>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cxnSp>
        <p:nvCxnSpPr>
          <p:cNvPr id="31" name="Connector 30"/>
          <p:cNvCxnSpPr/>
          <p:nvPr/>
        </p:nvCxnSpPr>
        <p:spPr>
          <a:xfrm>
            <a:off x="6095848" y="4535424"/>
            <a:ext cx="0" cy="356616"/>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a:off x="8351307" y="4535424"/>
            <a:ext cx="0" cy="356616"/>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a:off x="10606766" y="4535424"/>
            <a:ext cx="0" cy="356616"/>
          </a:xfrm>
          <a:prstGeom prst="line">
            <a:avLst/>
          </a:prstGeom>
          <a:ln w="15875">
            <a:solidFill>
              <a:srgbClr val="1F4FD8"/>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grpId="0" nodeType="withEffect">
                                  <p:stCondLst>
                                    <p:cond delay="3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00"/>
                                        <p:tgtEl>
                                          <p:spTgt spid="10"/>
                                        </p:tgtEl>
                                      </p:cBhvr>
                                    </p:animEffect>
                                  </p:childTnLst>
                                </p:cTn>
                              </p:par>
                              <p:par>
                                <p:cTn id="29" presetID="53" presetClass="entr" presetSubtype="16" fill="hold" grpId="0" nodeType="withEffect">
                                  <p:stCondLst>
                                    <p:cond delay="5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400" fill="hold"/>
                                        <p:tgtEl>
                                          <p:spTgt spid="11"/>
                                        </p:tgtEl>
                                        <p:attrNameLst>
                                          <p:attrName>ppt_w</p:attrName>
                                        </p:attrNameLst>
                                      </p:cBhvr>
                                      <p:tavLst>
                                        <p:tav tm="0">
                                          <p:val>
                                            <p:strVal val="#ppt_w*0.7"/>
                                          </p:val>
                                        </p:tav>
                                        <p:tav tm="100000">
                                          <p:val>
                                            <p:strVal val="#ppt_w"/>
                                          </p:val>
                                        </p:tav>
                                      </p:tavLst>
                                    </p:anim>
                                    <p:anim calcmode="lin" valueType="num">
                                      <p:cBhvr additive="base">
                                        <p:cTn id="32" dur="400" fill="hold"/>
                                        <p:tgtEl>
                                          <p:spTgt spid="11"/>
                                        </p:tgtEl>
                                        <p:attrNameLst>
                                          <p:attrName>ppt_h</p:attrName>
                                        </p:attrNameLst>
                                      </p:cBhvr>
                                      <p:tavLst>
                                        <p:tav tm="0">
                                          <p:val>
                                            <p:strVal val="#ppt_h*0.7"/>
                                          </p:val>
                                        </p:tav>
                                        <p:tav tm="100000">
                                          <p:val>
                                            <p:strVal val="#ppt_h"/>
                                          </p:val>
                                        </p:tav>
                                      </p:tavLst>
                                    </p:anim>
                                    <p:animEffect transition="in" filter="fade">
                                      <p:cBhvr>
                                        <p:cTn id="33" dur="400"/>
                                        <p:tgtEl>
                                          <p:spTgt spid="11"/>
                                        </p:tgtEl>
                                      </p:cBhvr>
                                    </p:animEffect>
                                  </p:childTnLst>
                                </p:cTn>
                              </p:par>
                              <p:par>
                                <p:cTn id="34" presetID="22" presetClass="entr" presetSubtype="1" fill="hold" grpId="0" nodeType="withEffect">
                                  <p:stCondLst>
                                    <p:cond delay="800"/>
                                  </p:stCondLst>
                                  <p:childTnLst>
                                    <p:set>
                                      <p:cBhvr>
                                        <p:cTn id="35" dur="1" fill="hold">
                                          <p:stCondLst>
                                            <p:cond delay="0"/>
                                          </p:stCondLst>
                                        </p:cTn>
                                        <p:tgtEl>
                                          <p:spTgt spid="14"/>
                                        </p:tgtEl>
                                        <p:attrNameLst>
                                          <p:attrName>style.visibility</p:attrName>
                                        </p:attrNameLst>
                                      </p:cBhvr>
                                      <p:to>
                                        <p:strVal val="visible"/>
                                      </p:to>
                                    </p:set>
                                    <p:animEffect transition="in" filter="wipe(up)">
                                      <p:cBhvr>
                                        <p:cTn id="36" dur="300"/>
                                        <p:tgtEl>
                                          <p:spTgt spid="14"/>
                                        </p:tgtEl>
                                      </p:cBhvr>
                                    </p:animEffect>
                                  </p:childTnLst>
                                </p:cTn>
                              </p:par>
                              <p:par>
                                <p:cTn id="37" presetID="22" presetClass="entr" presetSubtype="1" fill="hold" grpId="0" nodeType="withEffect">
                                  <p:stCondLst>
                                    <p:cond delay="830"/>
                                  </p:stCondLst>
                                  <p:childTnLst>
                                    <p:set>
                                      <p:cBhvr>
                                        <p:cTn id="38" dur="1" fill="hold">
                                          <p:stCondLst>
                                            <p:cond delay="0"/>
                                          </p:stCondLst>
                                        </p:cTn>
                                        <p:tgtEl>
                                          <p:spTgt spid="15"/>
                                        </p:tgtEl>
                                        <p:attrNameLst>
                                          <p:attrName>style.visibility</p:attrName>
                                        </p:attrNameLst>
                                      </p:cBhvr>
                                      <p:to>
                                        <p:strVal val="visible"/>
                                      </p:to>
                                    </p:set>
                                    <p:animEffect transition="in" filter="wipe(up)">
                                      <p:cBhvr>
                                        <p:cTn id="39" dur="300"/>
                                        <p:tgtEl>
                                          <p:spTgt spid="15"/>
                                        </p:tgtEl>
                                      </p:cBhvr>
                                    </p:animEffect>
                                  </p:childTnLst>
                                </p:cTn>
                              </p:par>
                              <p:par>
                                <p:cTn id="40" presetID="22" presetClass="entr" presetSubtype="1" fill="hold" grpId="0" nodeType="withEffect">
                                  <p:stCondLst>
                                    <p:cond delay="860"/>
                                  </p:stCondLst>
                                  <p:childTnLst>
                                    <p:set>
                                      <p:cBhvr>
                                        <p:cTn id="41" dur="1" fill="hold">
                                          <p:stCondLst>
                                            <p:cond delay="0"/>
                                          </p:stCondLst>
                                        </p:cTn>
                                        <p:tgtEl>
                                          <p:spTgt spid="16"/>
                                        </p:tgtEl>
                                        <p:attrNameLst>
                                          <p:attrName>style.visibility</p:attrName>
                                        </p:attrNameLst>
                                      </p:cBhvr>
                                      <p:to>
                                        <p:strVal val="visible"/>
                                      </p:to>
                                    </p:set>
                                    <p:animEffect transition="in" filter="wipe(up)">
                                      <p:cBhvr>
                                        <p:cTn id="42" dur="300"/>
                                        <p:tgtEl>
                                          <p:spTgt spid="16"/>
                                        </p:tgtEl>
                                      </p:cBhvr>
                                    </p:animEffect>
                                  </p:childTnLst>
                                </p:cTn>
                              </p:par>
                              <p:par>
                                <p:cTn id="43" presetID="22" presetClass="entr" presetSubtype="1" fill="hold" grpId="0" nodeType="withEffect">
                                  <p:stCondLst>
                                    <p:cond delay="890"/>
                                  </p:stCondLst>
                                  <p:childTnLst>
                                    <p:set>
                                      <p:cBhvr>
                                        <p:cTn id="44" dur="1" fill="hold">
                                          <p:stCondLst>
                                            <p:cond delay="0"/>
                                          </p:stCondLst>
                                        </p:cTn>
                                        <p:tgtEl>
                                          <p:spTgt spid="17"/>
                                        </p:tgtEl>
                                        <p:attrNameLst>
                                          <p:attrName>style.visibility</p:attrName>
                                        </p:attrNameLst>
                                      </p:cBhvr>
                                      <p:to>
                                        <p:strVal val="visible"/>
                                      </p:to>
                                    </p:set>
                                    <p:animEffect transition="in" filter="wipe(up)">
                                      <p:cBhvr>
                                        <p:cTn id="45" dur="300"/>
                                        <p:tgtEl>
                                          <p:spTgt spid="17"/>
                                        </p:tgtEl>
                                      </p:cBhvr>
                                    </p:animEffect>
                                  </p:childTnLst>
                                </p:cTn>
                              </p:par>
                              <p:par>
                                <p:cTn id="46" presetID="53" presetClass="entr" presetSubtype="16" fill="hold" grpId="0" nodeType="withEffect">
                                  <p:stCondLst>
                                    <p:cond delay="100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400" fill="hold"/>
                                        <p:tgtEl>
                                          <p:spTgt spid="12"/>
                                        </p:tgtEl>
                                        <p:attrNameLst>
                                          <p:attrName>ppt_w</p:attrName>
                                        </p:attrNameLst>
                                      </p:cBhvr>
                                      <p:tavLst>
                                        <p:tav tm="0">
                                          <p:val>
                                            <p:strVal val="#ppt_w*0.7"/>
                                          </p:val>
                                        </p:tav>
                                        <p:tav tm="100000">
                                          <p:val>
                                            <p:strVal val="#ppt_w"/>
                                          </p:val>
                                        </p:tav>
                                      </p:tavLst>
                                    </p:anim>
                                    <p:anim calcmode="lin" valueType="num">
                                      <p:cBhvr additive="base">
                                        <p:cTn id="49" dur="400" fill="hold"/>
                                        <p:tgtEl>
                                          <p:spTgt spid="12"/>
                                        </p:tgtEl>
                                        <p:attrNameLst>
                                          <p:attrName>ppt_h</p:attrName>
                                        </p:attrNameLst>
                                      </p:cBhvr>
                                      <p:tavLst>
                                        <p:tav tm="0">
                                          <p:val>
                                            <p:strVal val="#ppt_h*0.7"/>
                                          </p:val>
                                        </p:tav>
                                        <p:tav tm="100000">
                                          <p:val>
                                            <p:strVal val="#ppt_h"/>
                                          </p:val>
                                        </p:tav>
                                      </p:tavLst>
                                    </p:anim>
                                    <p:animEffect transition="in" filter="fade">
                                      <p:cBhvr>
                                        <p:cTn id="50" dur="400"/>
                                        <p:tgtEl>
                                          <p:spTgt spid="12"/>
                                        </p:tgtEl>
                                      </p:cBhvr>
                                    </p:animEffect>
                                  </p:childTnLst>
                                </p:cTn>
                              </p:par>
                              <p:par>
                                <p:cTn id="51" presetID="53" presetClass="entr" presetSubtype="16" fill="hold" grpId="0" nodeType="withEffect">
                                  <p:stCondLst>
                                    <p:cond delay="1080"/>
                                  </p:stCondLst>
                                  <p:childTnLst>
                                    <p:set>
                                      <p:cBhvr>
                                        <p:cTn id="52" dur="1" fill="hold">
                                          <p:stCondLst>
                                            <p:cond delay="0"/>
                                          </p:stCondLst>
                                        </p:cTn>
                                        <p:tgtEl>
                                          <p:spTgt spid="13"/>
                                        </p:tgtEl>
                                        <p:attrNameLst>
                                          <p:attrName>style.visibility</p:attrName>
                                        </p:attrNameLst>
                                      </p:cBhvr>
                                      <p:to>
                                        <p:strVal val="visible"/>
                                      </p:to>
                                    </p:set>
                                    <p:anim calcmode="lin" valueType="num">
                                      <p:cBhvr additive="base">
                                        <p:cTn id="53" dur="400" fill="hold"/>
                                        <p:tgtEl>
                                          <p:spTgt spid="13"/>
                                        </p:tgtEl>
                                        <p:attrNameLst>
                                          <p:attrName>ppt_w</p:attrName>
                                        </p:attrNameLst>
                                      </p:cBhvr>
                                      <p:tavLst>
                                        <p:tav tm="0">
                                          <p:val>
                                            <p:strVal val="#ppt_w*0.7"/>
                                          </p:val>
                                        </p:tav>
                                        <p:tav tm="100000">
                                          <p:val>
                                            <p:strVal val="#ppt_w"/>
                                          </p:val>
                                        </p:tav>
                                      </p:tavLst>
                                    </p:anim>
                                    <p:anim calcmode="lin" valueType="num">
                                      <p:cBhvr additive="base">
                                        <p:cTn id="54" dur="400" fill="hold"/>
                                        <p:tgtEl>
                                          <p:spTgt spid="13"/>
                                        </p:tgtEl>
                                        <p:attrNameLst>
                                          <p:attrName>ppt_h</p:attrName>
                                        </p:attrNameLst>
                                      </p:cBhvr>
                                      <p:tavLst>
                                        <p:tav tm="0">
                                          <p:val>
                                            <p:strVal val="#ppt_h*0.7"/>
                                          </p:val>
                                        </p:tav>
                                        <p:tav tm="100000">
                                          <p:val>
                                            <p:strVal val="#ppt_h"/>
                                          </p:val>
                                        </p:tav>
                                      </p:tavLst>
                                    </p:anim>
                                    <p:animEffect transition="in" filter="fade">
                                      <p:cBhvr>
                                        <p:cTn id="55" dur="400"/>
                                        <p:tgtEl>
                                          <p:spTgt spid="13"/>
                                        </p:tgtEl>
                                      </p:cBhvr>
                                    </p:animEffect>
                                  </p:childTnLst>
                                </p:cTn>
                              </p:par>
                              <p:par>
                                <p:cTn id="56" presetID="22" presetClass="entr" presetSubtype="1" fill="hold" grpId="0" nodeType="withEffect">
                                  <p:stCondLst>
                                    <p:cond delay="1300"/>
                                  </p:stCondLst>
                                  <p:childTnLst>
                                    <p:set>
                                      <p:cBhvr>
                                        <p:cTn id="57" dur="1" fill="hold">
                                          <p:stCondLst>
                                            <p:cond delay="0"/>
                                          </p:stCondLst>
                                        </p:cTn>
                                        <p:tgtEl>
                                          <p:spTgt spid="19"/>
                                        </p:tgtEl>
                                        <p:attrNameLst>
                                          <p:attrName>style.visibility</p:attrName>
                                        </p:attrNameLst>
                                      </p:cBhvr>
                                      <p:to>
                                        <p:strVal val="visible"/>
                                      </p:to>
                                    </p:set>
                                    <p:animEffect transition="in" filter="wipe(up)">
                                      <p:cBhvr>
                                        <p:cTn id="58" dur="300"/>
                                        <p:tgtEl>
                                          <p:spTgt spid="19"/>
                                        </p:tgtEl>
                                      </p:cBhvr>
                                    </p:animEffect>
                                  </p:childTnLst>
                                </p:cTn>
                              </p:par>
                              <p:par>
                                <p:cTn id="59" presetID="22" presetClass="entr" presetSubtype="1" fill="hold" grpId="0" nodeType="withEffect">
                                  <p:stCondLst>
                                    <p:cond delay="1330"/>
                                  </p:stCondLst>
                                  <p:childTnLst>
                                    <p:set>
                                      <p:cBhvr>
                                        <p:cTn id="60" dur="1" fill="hold">
                                          <p:stCondLst>
                                            <p:cond delay="0"/>
                                          </p:stCondLst>
                                        </p:cTn>
                                        <p:tgtEl>
                                          <p:spTgt spid="20"/>
                                        </p:tgtEl>
                                        <p:attrNameLst>
                                          <p:attrName>style.visibility</p:attrName>
                                        </p:attrNameLst>
                                      </p:cBhvr>
                                      <p:to>
                                        <p:strVal val="visible"/>
                                      </p:to>
                                    </p:set>
                                    <p:animEffect transition="in" filter="wipe(up)">
                                      <p:cBhvr>
                                        <p:cTn id="61" dur="300"/>
                                        <p:tgtEl>
                                          <p:spTgt spid="20"/>
                                        </p:tgtEl>
                                      </p:cBhvr>
                                    </p:animEffect>
                                  </p:childTnLst>
                                </p:cTn>
                              </p:par>
                              <p:par>
                                <p:cTn id="62" presetID="22" presetClass="entr" presetSubtype="1" fill="hold" grpId="0" nodeType="withEffect">
                                  <p:stCondLst>
                                    <p:cond delay="1360"/>
                                  </p:stCondLst>
                                  <p:childTnLst>
                                    <p:set>
                                      <p:cBhvr>
                                        <p:cTn id="63" dur="1" fill="hold">
                                          <p:stCondLst>
                                            <p:cond delay="0"/>
                                          </p:stCondLst>
                                        </p:cTn>
                                        <p:tgtEl>
                                          <p:spTgt spid="21"/>
                                        </p:tgtEl>
                                        <p:attrNameLst>
                                          <p:attrName>style.visibility</p:attrName>
                                        </p:attrNameLst>
                                      </p:cBhvr>
                                      <p:to>
                                        <p:strVal val="visible"/>
                                      </p:to>
                                    </p:set>
                                    <p:animEffect transition="in" filter="wipe(up)">
                                      <p:cBhvr>
                                        <p:cTn id="64" dur="300"/>
                                        <p:tgtEl>
                                          <p:spTgt spid="21"/>
                                        </p:tgtEl>
                                      </p:cBhvr>
                                    </p:animEffect>
                                  </p:childTnLst>
                                </p:cTn>
                              </p:par>
                              <p:par>
                                <p:cTn id="65" presetID="53" presetClass="entr" presetSubtype="16" fill="hold" grpId="0" nodeType="withEffect">
                                  <p:stCondLst>
                                    <p:cond delay="150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400" fill="hold"/>
                                        <p:tgtEl>
                                          <p:spTgt spid="18"/>
                                        </p:tgtEl>
                                        <p:attrNameLst>
                                          <p:attrName>ppt_w</p:attrName>
                                        </p:attrNameLst>
                                      </p:cBhvr>
                                      <p:tavLst>
                                        <p:tav tm="0">
                                          <p:val>
                                            <p:strVal val="#ppt_w*0.7"/>
                                          </p:val>
                                        </p:tav>
                                        <p:tav tm="100000">
                                          <p:val>
                                            <p:strVal val="#ppt_w"/>
                                          </p:val>
                                        </p:tav>
                                      </p:tavLst>
                                    </p:anim>
                                    <p:anim calcmode="lin" valueType="num">
                                      <p:cBhvr additive="base">
                                        <p:cTn id="68" dur="400" fill="hold"/>
                                        <p:tgtEl>
                                          <p:spTgt spid="18"/>
                                        </p:tgtEl>
                                        <p:attrNameLst>
                                          <p:attrName>ppt_h</p:attrName>
                                        </p:attrNameLst>
                                      </p:cBhvr>
                                      <p:tavLst>
                                        <p:tav tm="0">
                                          <p:val>
                                            <p:strVal val="#ppt_h*0.7"/>
                                          </p:val>
                                        </p:tav>
                                        <p:tav tm="100000">
                                          <p:val>
                                            <p:strVal val="#ppt_h"/>
                                          </p:val>
                                        </p:tav>
                                      </p:tavLst>
                                    </p:anim>
                                    <p:animEffect transition="in" filter="fade">
                                      <p:cBhvr>
                                        <p:cTn id="69" dur="400"/>
                                        <p:tgtEl>
                                          <p:spTgt spid="18"/>
                                        </p:tgtEl>
                                      </p:cBhvr>
                                    </p:animEffect>
                                  </p:childTnLst>
                                </p:cTn>
                              </p:par>
                              <p:par>
                                <p:cTn id="70" presetID="22" presetClass="entr" presetSubtype="1" fill="hold" grpId="0" nodeType="withEffect">
                                  <p:stCondLst>
                                    <p:cond delay="1800"/>
                                  </p:stCondLst>
                                  <p:childTnLst>
                                    <p:set>
                                      <p:cBhvr>
                                        <p:cTn id="71" dur="1" fill="hold">
                                          <p:stCondLst>
                                            <p:cond delay="0"/>
                                          </p:stCondLst>
                                        </p:cTn>
                                        <p:tgtEl>
                                          <p:spTgt spid="27"/>
                                        </p:tgtEl>
                                        <p:attrNameLst>
                                          <p:attrName>style.visibility</p:attrName>
                                        </p:attrNameLst>
                                      </p:cBhvr>
                                      <p:to>
                                        <p:strVal val="visible"/>
                                      </p:to>
                                    </p:set>
                                    <p:animEffect transition="in" filter="wipe(up)">
                                      <p:cBhvr>
                                        <p:cTn id="72" dur="300"/>
                                        <p:tgtEl>
                                          <p:spTgt spid="27"/>
                                        </p:tgtEl>
                                      </p:cBhvr>
                                    </p:animEffect>
                                  </p:childTnLst>
                                </p:cTn>
                              </p:par>
                              <p:par>
                                <p:cTn id="73" presetID="22" presetClass="entr" presetSubtype="1" fill="hold" grpId="0" nodeType="withEffect">
                                  <p:stCondLst>
                                    <p:cond delay="1830"/>
                                  </p:stCondLst>
                                  <p:childTnLst>
                                    <p:set>
                                      <p:cBhvr>
                                        <p:cTn id="74" dur="1" fill="hold">
                                          <p:stCondLst>
                                            <p:cond delay="0"/>
                                          </p:stCondLst>
                                        </p:cTn>
                                        <p:tgtEl>
                                          <p:spTgt spid="28"/>
                                        </p:tgtEl>
                                        <p:attrNameLst>
                                          <p:attrName>style.visibility</p:attrName>
                                        </p:attrNameLst>
                                      </p:cBhvr>
                                      <p:to>
                                        <p:strVal val="visible"/>
                                      </p:to>
                                    </p:set>
                                    <p:animEffect transition="in" filter="wipe(up)">
                                      <p:cBhvr>
                                        <p:cTn id="75" dur="300"/>
                                        <p:tgtEl>
                                          <p:spTgt spid="28"/>
                                        </p:tgtEl>
                                      </p:cBhvr>
                                    </p:animEffect>
                                  </p:childTnLst>
                                </p:cTn>
                              </p:par>
                              <p:par>
                                <p:cTn id="76" presetID="22" presetClass="entr" presetSubtype="1" fill="hold" grpId="0" nodeType="withEffect">
                                  <p:stCondLst>
                                    <p:cond delay="1860"/>
                                  </p:stCondLst>
                                  <p:childTnLst>
                                    <p:set>
                                      <p:cBhvr>
                                        <p:cTn id="77" dur="1" fill="hold">
                                          <p:stCondLst>
                                            <p:cond delay="0"/>
                                          </p:stCondLst>
                                        </p:cTn>
                                        <p:tgtEl>
                                          <p:spTgt spid="29"/>
                                        </p:tgtEl>
                                        <p:attrNameLst>
                                          <p:attrName>style.visibility</p:attrName>
                                        </p:attrNameLst>
                                      </p:cBhvr>
                                      <p:to>
                                        <p:strVal val="visible"/>
                                      </p:to>
                                    </p:set>
                                    <p:animEffect transition="in" filter="wipe(up)">
                                      <p:cBhvr>
                                        <p:cTn id="78" dur="300"/>
                                        <p:tgtEl>
                                          <p:spTgt spid="29"/>
                                        </p:tgtEl>
                                      </p:cBhvr>
                                    </p:animEffect>
                                  </p:childTnLst>
                                </p:cTn>
                              </p:par>
                              <p:par>
                                <p:cTn id="79" presetID="22" presetClass="entr" presetSubtype="1" fill="hold" grpId="0" nodeType="withEffect">
                                  <p:stCondLst>
                                    <p:cond delay="1890"/>
                                  </p:stCondLst>
                                  <p:childTnLst>
                                    <p:set>
                                      <p:cBhvr>
                                        <p:cTn id="80" dur="1" fill="hold">
                                          <p:stCondLst>
                                            <p:cond delay="0"/>
                                          </p:stCondLst>
                                        </p:cTn>
                                        <p:tgtEl>
                                          <p:spTgt spid="30"/>
                                        </p:tgtEl>
                                        <p:attrNameLst>
                                          <p:attrName>style.visibility</p:attrName>
                                        </p:attrNameLst>
                                      </p:cBhvr>
                                      <p:to>
                                        <p:strVal val="visible"/>
                                      </p:to>
                                    </p:set>
                                    <p:animEffect transition="in" filter="wipe(up)">
                                      <p:cBhvr>
                                        <p:cTn id="81" dur="300"/>
                                        <p:tgtEl>
                                          <p:spTgt spid="30"/>
                                        </p:tgtEl>
                                      </p:cBhvr>
                                    </p:animEffect>
                                  </p:childTnLst>
                                </p:cTn>
                              </p:par>
                              <p:par>
                                <p:cTn id="82" presetID="22" presetClass="entr" presetSubtype="1" fill="hold" grpId="0" nodeType="withEffect">
                                  <p:stCondLst>
                                    <p:cond delay="1920"/>
                                  </p:stCondLst>
                                  <p:childTnLst>
                                    <p:set>
                                      <p:cBhvr>
                                        <p:cTn id="83" dur="1" fill="hold">
                                          <p:stCondLst>
                                            <p:cond delay="0"/>
                                          </p:stCondLst>
                                        </p:cTn>
                                        <p:tgtEl>
                                          <p:spTgt spid="31"/>
                                        </p:tgtEl>
                                        <p:attrNameLst>
                                          <p:attrName>style.visibility</p:attrName>
                                        </p:attrNameLst>
                                      </p:cBhvr>
                                      <p:to>
                                        <p:strVal val="visible"/>
                                      </p:to>
                                    </p:set>
                                    <p:animEffect transition="in" filter="wipe(up)">
                                      <p:cBhvr>
                                        <p:cTn id="84" dur="300"/>
                                        <p:tgtEl>
                                          <p:spTgt spid="31"/>
                                        </p:tgtEl>
                                      </p:cBhvr>
                                    </p:animEffect>
                                  </p:childTnLst>
                                </p:cTn>
                              </p:par>
                              <p:par>
                                <p:cTn id="85" presetID="22" presetClass="entr" presetSubtype="1" fill="hold" grpId="0" nodeType="withEffect">
                                  <p:stCondLst>
                                    <p:cond delay="1950"/>
                                  </p:stCondLst>
                                  <p:childTnLst>
                                    <p:set>
                                      <p:cBhvr>
                                        <p:cTn id="86" dur="1" fill="hold">
                                          <p:stCondLst>
                                            <p:cond delay="0"/>
                                          </p:stCondLst>
                                        </p:cTn>
                                        <p:tgtEl>
                                          <p:spTgt spid="32"/>
                                        </p:tgtEl>
                                        <p:attrNameLst>
                                          <p:attrName>style.visibility</p:attrName>
                                        </p:attrNameLst>
                                      </p:cBhvr>
                                      <p:to>
                                        <p:strVal val="visible"/>
                                      </p:to>
                                    </p:set>
                                    <p:animEffect transition="in" filter="wipe(up)">
                                      <p:cBhvr>
                                        <p:cTn id="87" dur="300"/>
                                        <p:tgtEl>
                                          <p:spTgt spid="32"/>
                                        </p:tgtEl>
                                      </p:cBhvr>
                                    </p:animEffect>
                                  </p:childTnLst>
                                </p:cTn>
                              </p:par>
                              <p:par>
                                <p:cTn id="88" presetID="22" presetClass="entr" presetSubtype="1" fill="hold" grpId="0" nodeType="withEffect">
                                  <p:stCondLst>
                                    <p:cond delay="1980"/>
                                  </p:stCondLst>
                                  <p:childTnLst>
                                    <p:set>
                                      <p:cBhvr>
                                        <p:cTn id="89" dur="1" fill="hold">
                                          <p:stCondLst>
                                            <p:cond delay="0"/>
                                          </p:stCondLst>
                                        </p:cTn>
                                        <p:tgtEl>
                                          <p:spTgt spid="33"/>
                                        </p:tgtEl>
                                        <p:attrNameLst>
                                          <p:attrName>style.visibility</p:attrName>
                                        </p:attrNameLst>
                                      </p:cBhvr>
                                      <p:to>
                                        <p:strVal val="visible"/>
                                      </p:to>
                                    </p:set>
                                    <p:animEffect transition="in" filter="wipe(up)">
                                      <p:cBhvr>
                                        <p:cTn id="90" dur="300"/>
                                        <p:tgtEl>
                                          <p:spTgt spid="33"/>
                                        </p:tgtEl>
                                      </p:cBhvr>
                                    </p:animEffect>
                                  </p:childTnLst>
                                </p:cTn>
                              </p:par>
                              <p:par>
                                <p:cTn id="91" presetID="53" presetClass="entr" presetSubtype="16" fill="hold" grpId="0" nodeType="withEffect">
                                  <p:stCondLst>
                                    <p:cond delay="2000"/>
                                  </p:stCondLst>
                                  <p:childTnLst>
                                    <p:set>
                                      <p:cBhvr>
                                        <p:cTn id="92" dur="1" fill="hold">
                                          <p:stCondLst>
                                            <p:cond delay="0"/>
                                          </p:stCondLst>
                                        </p:cTn>
                                        <p:tgtEl>
                                          <p:spTgt spid="22"/>
                                        </p:tgtEl>
                                        <p:attrNameLst>
                                          <p:attrName>style.visibility</p:attrName>
                                        </p:attrNameLst>
                                      </p:cBhvr>
                                      <p:to>
                                        <p:strVal val="visible"/>
                                      </p:to>
                                    </p:set>
                                    <p:anim calcmode="lin" valueType="num">
                                      <p:cBhvr additive="base">
                                        <p:cTn id="93" dur="400" fill="hold"/>
                                        <p:tgtEl>
                                          <p:spTgt spid="22"/>
                                        </p:tgtEl>
                                        <p:attrNameLst>
                                          <p:attrName>ppt_w</p:attrName>
                                        </p:attrNameLst>
                                      </p:cBhvr>
                                      <p:tavLst>
                                        <p:tav tm="0">
                                          <p:val>
                                            <p:strVal val="#ppt_w*0.7"/>
                                          </p:val>
                                        </p:tav>
                                        <p:tav tm="100000">
                                          <p:val>
                                            <p:strVal val="#ppt_w"/>
                                          </p:val>
                                        </p:tav>
                                      </p:tavLst>
                                    </p:anim>
                                    <p:anim calcmode="lin" valueType="num">
                                      <p:cBhvr additive="base">
                                        <p:cTn id="94" dur="400" fill="hold"/>
                                        <p:tgtEl>
                                          <p:spTgt spid="22"/>
                                        </p:tgtEl>
                                        <p:attrNameLst>
                                          <p:attrName>ppt_h</p:attrName>
                                        </p:attrNameLst>
                                      </p:cBhvr>
                                      <p:tavLst>
                                        <p:tav tm="0">
                                          <p:val>
                                            <p:strVal val="#ppt_h*0.7"/>
                                          </p:val>
                                        </p:tav>
                                        <p:tav tm="100000">
                                          <p:val>
                                            <p:strVal val="#ppt_h"/>
                                          </p:val>
                                        </p:tav>
                                      </p:tavLst>
                                    </p:anim>
                                    <p:animEffect transition="in" filter="fade">
                                      <p:cBhvr>
                                        <p:cTn id="95" dur="400"/>
                                        <p:tgtEl>
                                          <p:spTgt spid="22"/>
                                        </p:tgtEl>
                                      </p:cBhvr>
                                    </p:animEffect>
                                  </p:childTnLst>
                                </p:cTn>
                              </p:par>
                              <p:par>
                                <p:cTn id="96" presetID="53" presetClass="entr" presetSubtype="16" fill="hold" grpId="0" nodeType="withEffect">
                                  <p:stCondLst>
                                    <p:cond delay="2080"/>
                                  </p:stCondLst>
                                  <p:childTnLst>
                                    <p:set>
                                      <p:cBhvr>
                                        <p:cTn id="97" dur="1" fill="hold">
                                          <p:stCondLst>
                                            <p:cond delay="0"/>
                                          </p:stCondLst>
                                        </p:cTn>
                                        <p:tgtEl>
                                          <p:spTgt spid="23"/>
                                        </p:tgtEl>
                                        <p:attrNameLst>
                                          <p:attrName>style.visibility</p:attrName>
                                        </p:attrNameLst>
                                      </p:cBhvr>
                                      <p:to>
                                        <p:strVal val="visible"/>
                                      </p:to>
                                    </p:set>
                                    <p:anim calcmode="lin" valueType="num">
                                      <p:cBhvr additive="base">
                                        <p:cTn id="98" dur="400" fill="hold"/>
                                        <p:tgtEl>
                                          <p:spTgt spid="23"/>
                                        </p:tgtEl>
                                        <p:attrNameLst>
                                          <p:attrName>ppt_w</p:attrName>
                                        </p:attrNameLst>
                                      </p:cBhvr>
                                      <p:tavLst>
                                        <p:tav tm="0">
                                          <p:val>
                                            <p:strVal val="#ppt_w*0.7"/>
                                          </p:val>
                                        </p:tav>
                                        <p:tav tm="100000">
                                          <p:val>
                                            <p:strVal val="#ppt_w"/>
                                          </p:val>
                                        </p:tav>
                                      </p:tavLst>
                                    </p:anim>
                                    <p:anim calcmode="lin" valueType="num">
                                      <p:cBhvr additive="base">
                                        <p:cTn id="99" dur="400" fill="hold"/>
                                        <p:tgtEl>
                                          <p:spTgt spid="23"/>
                                        </p:tgtEl>
                                        <p:attrNameLst>
                                          <p:attrName>ppt_h</p:attrName>
                                        </p:attrNameLst>
                                      </p:cBhvr>
                                      <p:tavLst>
                                        <p:tav tm="0">
                                          <p:val>
                                            <p:strVal val="#ppt_h*0.7"/>
                                          </p:val>
                                        </p:tav>
                                        <p:tav tm="100000">
                                          <p:val>
                                            <p:strVal val="#ppt_h"/>
                                          </p:val>
                                        </p:tav>
                                      </p:tavLst>
                                    </p:anim>
                                    <p:animEffect transition="in" filter="fade">
                                      <p:cBhvr>
                                        <p:cTn id="100" dur="400"/>
                                        <p:tgtEl>
                                          <p:spTgt spid="23"/>
                                        </p:tgtEl>
                                      </p:cBhvr>
                                    </p:animEffect>
                                  </p:childTnLst>
                                </p:cTn>
                              </p:par>
                              <p:par>
                                <p:cTn id="101" presetID="53" presetClass="entr" presetSubtype="16" fill="hold" grpId="0" nodeType="withEffect">
                                  <p:stCondLst>
                                    <p:cond delay="2160"/>
                                  </p:stCondLst>
                                  <p:childTnLst>
                                    <p:set>
                                      <p:cBhvr>
                                        <p:cTn id="102" dur="1" fill="hold">
                                          <p:stCondLst>
                                            <p:cond delay="0"/>
                                          </p:stCondLst>
                                        </p:cTn>
                                        <p:tgtEl>
                                          <p:spTgt spid="24"/>
                                        </p:tgtEl>
                                        <p:attrNameLst>
                                          <p:attrName>style.visibility</p:attrName>
                                        </p:attrNameLst>
                                      </p:cBhvr>
                                      <p:to>
                                        <p:strVal val="visible"/>
                                      </p:to>
                                    </p:set>
                                    <p:anim calcmode="lin" valueType="num">
                                      <p:cBhvr additive="base">
                                        <p:cTn id="103" dur="400" fill="hold"/>
                                        <p:tgtEl>
                                          <p:spTgt spid="24"/>
                                        </p:tgtEl>
                                        <p:attrNameLst>
                                          <p:attrName>ppt_w</p:attrName>
                                        </p:attrNameLst>
                                      </p:cBhvr>
                                      <p:tavLst>
                                        <p:tav tm="0">
                                          <p:val>
                                            <p:strVal val="#ppt_w*0.7"/>
                                          </p:val>
                                        </p:tav>
                                        <p:tav tm="100000">
                                          <p:val>
                                            <p:strVal val="#ppt_w"/>
                                          </p:val>
                                        </p:tav>
                                      </p:tavLst>
                                    </p:anim>
                                    <p:anim calcmode="lin" valueType="num">
                                      <p:cBhvr additive="base">
                                        <p:cTn id="104" dur="400" fill="hold"/>
                                        <p:tgtEl>
                                          <p:spTgt spid="24"/>
                                        </p:tgtEl>
                                        <p:attrNameLst>
                                          <p:attrName>ppt_h</p:attrName>
                                        </p:attrNameLst>
                                      </p:cBhvr>
                                      <p:tavLst>
                                        <p:tav tm="0">
                                          <p:val>
                                            <p:strVal val="#ppt_h*0.7"/>
                                          </p:val>
                                        </p:tav>
                                        <p:tav tm="100000">
                                          <p:val>
                                            <p:strVal val="#ppt_h"/>
                                          </p:val>
                                        </p:tav>
                                      </p:tavLst>
                                    </p:anim>
                                    <p:animEffect transition="in" filter="fade">
                                      <p:cBhvr>
                                        <p:cTn id="105" dur="400"/>
                                        <p:tgtEl>
                                          <p:spTgt spid="24"/>
                                        </p:tgtEl>
                                      </p:cBhvr>
                                    </p:animEffect>
                                  </p:childTnLst>
                                </p:cTn>
                              </p:par>
                              <p:par>
                                <p:cTn id="106" presetID="53" presetClass="entr" presetSubtype="16" fill="hold" grpId="0" nodeType="withEffect">
                                  <p:stCondLst>
                                    <p:cond delay="2240"/>
                                  </p:stCondLst>
                                  <p:childTnLst>
                                    <p:set>
                                      <p:cBhvr>
                                        <p:cTn id="107" dur="1" fill="hold">
                                          <p:stCondLst>
                                            <p:cond delay="0"/>
                                          </p:stCondLst>
                                        </p:cTn>
                                        <p:tgtEl>
                                          <p:spTgt spid="25"/>
                                        </p:tgtEl>
                                        <p:attrNameLst>
                                          <p:attrName>style.visibility</p:attrName>
                                        </p:attrNameLst>
                                      </p:cBhvr>
                                      <p:to>
                                        <p:strVal val="visible"/>
                                      </p:to>
                                    </p:set>
                                    <p:anim calcmode="lin" valueType="num">
                                      <p:cBhvr additive="base">
                                        <p:cTn id="108" dur="400" fill="hold"/>
                                        <p:tgtEl>
                                          <p:spTgt spid="25"/>
                                        </p:tgtEl>
                                        <p:attrNameLst>
                                          <p:attrName>ppt_w</p:attrName>
                                        </p:attrNameLst>
                                      </p:cBhvr>
                                      <p:tavLst>
                                        <p:tav tm="0">
                                          <p:val>
                                            <p:strVal val="#ppt_w*0.7"/>
                                          </p:val>
                                        </p:tav>
                                        <p:tav tm="100000">
                                          <p:val>
                                            <p:strVal val="#ppt_w"/>
                                          </p:val>
                                        </p:tav>
                                      </p:tavLst>
                                    </p:anim>
                                    <p:anim calcmode="lin" valueType="num">
                                      <p:cBhvr additive="base">
                                        <p:cTn id="109" dur="400" fill="hold"/>
                                        <p:tgtEl>
                                          <p:spTgt spid="25"/>
                                        </p:tgtEl>
                                        <p:attrNameLst>
                                          <p:attrName>ppt_h</p:attrName>
                                        </p:attrNameLst>
                                      </p:cBhvr>
                                      <p:tavLst>
                                        <p:tav tm="0">
                                          <p:val>
                                            <p:strVal val="#ppt_h*0.7"/>
                                          </p:val>
                                        </p:tav>
                                        <p:tav tm="100000">
                                          <p:val>
                                            <p:strVal val="#ppt_h"/>
                                          </p:val>
                                        </p:tav>
                                      </p:tavLst>
                                    </p:anim>
                                    <p:animEffect transition="in" filter="fade">
                                      <p:cBhvr>
                                        <p:cTn id="110" dur="400"/>
                                        <p:tgtEl>
                                          <p:spTgt spid="25"/>
                                        </p:tgtEl>
                                      </p:cBhvr>
                                    </p:animEffect>
                                  </p:childTnLst>
                                </p:cTn>
                              </p:par>
                              <p:par>
                                <p:cTn id="111" presetID="53" presetClass="entr" presetSubtype="16" fill="hold" grpId="0" nodeType="withEffect">
                                  <p:stCondLst>
                                    <p:cond delay="2320"/>
                                  </p:stCondLst>
                                  <p:childTnLst>
                                    <p:set>
                                      <p:cBhvr>
                                        <p:cTn id="112" dur="1" fill="hold">
                                          <p:stCondLst>
                                            <p:cond delay="0"/>
                                          </p:stCondLst>
                                        </p:cTn>
                                        <p:tgtEl>
                                          <p:spTgt spid="26"/>
                                        </p:tgtEl>
                                        <p:attrNameLst>
                                          <p:attrName>style.visibility</p:attrName>
                                        </p:attrNameLst>
                                      </p:cBhvr>
                                      <p:to>
                                        <p:strVal val="visible"/>
                                      </p:to>
                                    </p:set>
                                    <p:anim calcmode="lin" valueType="num">
                                      <p:cBhvr additive="base">
                                        <p:cTn id="113" dur="400" fill="hold"/>
                                        <p:tgtEl>
                                          <p:spTgt spid="26"/>
                                        </p:tgtEl>
                                        <p:attrNameLst>
                                          <p:attrName>ppt_w</p:attrName>
                                        </p:attrNameLst>
                                      </p:cBhvr>
                                      <p:tavLst>
                                        <p:tav tm="0">
                                          <p:val>
                                            <p:strVal val="#ppt_w*0.7"/>
                                          </p:val>
                                        </p:tav>
                                        <p:tav tm="100000">
                                          <p:val>
                                            <p:strVal val="#ppt_w"/>
                                          </p:val>
                                        </p:tav>
                                      </p:tavLst>
                                    </p:anim>
                                    <p:anim calcmode="lin" valueType="num">
                                      <p:cBhvr additive="base">
                                        <p:cTn id="114" dur="400" fill="hold"/>
                                        <p:tgtEl>
                                          <p:spTgt spid="26"/>
                                        </p:tgtEl>
                                        <p:attrNameLst>
                                          <p:attrName>ppt_h</p:attrName>
                                        </p:attrNameLst>
                                      </p:cBhvr>
                                      <p:tavLst>
                                        <p:tav tm="0">
                                          <p:val>
                                            <p:strVal val="#ppt_h*0.7"/>
                                          </p:val>
                                        </p:tav>
                                        <p:tav tm="100000">
                                          <p:val>
                                            <p:strVal val="#ppt_h"/>
                                          </p:val>
                                        </p:tav>
                                      </p:tavLst>
                                    </p:anim>
                                    <p:animEffect transition="in" filter="fade">
                                      <p:cBhvr>
                                        <p:cTn id="115"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8" grpId="0" animBg="1"/>
      <p:bldP spid="22" grpId="0" animBg="1"/>
      <p:bldP spid="23" grpId="0" animBg="1"/>
      <p:bldP spid="24" grpId="0" animBg="1"/>
      <p:bldP spid="25" grpId="0" animBg="1"/>
      <p:bldP spid="26"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1A5E"/>
        </a:solidFill>
        <a:effectLst/>
      </p:bgPr>
    </p:bg>
    <p:spTree>
      <p:nvGrpSpPr>
        <p:cNvPr id="1" name=""/>
        <p:cNvGrpSpPr/>
        <p:nvPr/>
      </p:nvGrpSpPr>
      <p:grpSpPr/>
      <p:pic>
        <p:nvPicPr>
          <p:cNvPr id="2" name="!!bg" descr="sec_tower_wave_1F4FD8061A5E_0.40_0.40.jpg"/>
          <p:cNvPicPr>
            <a:picLocks noChangeAspect="1"/>
          </p:cNvPicPr>
          <p:nvPr/>
        </p:nvPicPr>
        <p:blipFill>
          <a:blip r:embed="rId2"/>
          <a:srcRect l="1" r="1"/>
          <a:stretch>
            <a:fillRect/>
          </a:stretch>
        </p:blipFill>
        <p:spPr>
          <a:xfrm>
            <a:off x="0" y="0"/>
            <a:ext cx="12191695" cy="6858000"/>
          </a:xfrm>
          <a:prstGeom prst="rect">
            <a:avLst/>
          </a:prstGeom>
        </p:spPr>
      </p:pic>
      <p:sp>
        <p:nvSpPr>
          <p:cNvPr id="3" name="!!secnum"/>
          <p:cNvSpPr txBox="1"/>
          <p:nvPr/>
        </p:nvSpPr>
        <p:spPr>
          <a:xfrm>
            <a:off x="5852160" y="548640"/>
            <a:ext cx="5852160" cy="3291840"/>
          </a:xfrm>
          <a:prstGeom prst="rect">
            <a:avLst/>
          </a:prstGeom>
          <a:noFill/>
        </p:spPr>
        <p:txBody>
          <a:bodyPr wrap="none" lIns="0" rIns="0" tIns="0" bIns="0" anchor="t">
            <a:noAutofit/>
          </a:bodyPr>
          <a:lstStyle/>
          <a:p>
            <a:pPr algn="r">
              <a:lnSpc>
                <a:spcPct val="100000"/>
              </a:lnSpc>
            </a:pPr>
            <a:r>
              <a:rPr sz="23000" b="1" i="0">
                <a:ln w="25400">
                  <a:solidFill>
                    <a:srgbClr val="3FA9FF"/>
                  </a:solidFill>
                </a:ln>
                <a:solidFill>
                  <a:srgbClr val="3FA9FF">
                    <a:alpha val="22000"/>
                  </a:srgbClr>
                </a:solidFill>
                <a:latin typeface="Lexend Exa"/>
                <a:ea typeface="Lexend Exa"/>
                <a:cs typeface="Lexend Exa"/>
              </a:rPr>
              <a:t>02</a:t>
            </a:r>
          </a:p>
        </p:txBody>
      </p:sp>
      <p:sp>
        <p:nvSpPr>
          <p:cNvPr id="4" name="!!sectitle"/>
          <p:cNvSpPr txBox="1"/>
          <p:nvPr/>
        </p:nvSpPr>
        <p:spPr>
          <a:xfrm>
            <a:off x="4327855" y="3749040"/>
            <a:ext cx="7315200" cy="1488440"/>
          </a:xfrm>
          <a:prstGeom prst="rect">
            <a:avLst/>
          </a:prstGeom>
          <a:noFill/>
        </p:spPr>
        <p:txBody>
          <a:bodyPr wrap="square" lIns="0" rIns="0" tIns="0" bIns="0" anchor="t">
            <a:noAutofit/>
          </a:bodyPr>
          <a:lstStyle/>
          <a:p>
            <a:pPr algn="r">
              <a:lnSpc>
                <a:spcPct val="95000"/>
              </a:lnSpc>
            </a:pPr>
            <a:r>
              <a:rPr sz="4400" b="1" i="0">
                <a:solidFill>
                  <a:srgbClr val="FFFFFF"/>
                </a:solidFill>
                <a:effectLst>
                  <a:glow rad="91440">
                    <a:srgbClr val="3FA9FF">
                      <a:alpha val="30000"/>
                    </a:srgbClr>
                  </a:glow>
                </a:effectLst>
                <a:latin typeface="Lexend Exa"/>
                <a:ea typeface="Lexend Exa"/>
                <a:cs typeface="Lexend Exa"/>
              </a:rPr>
              <a:t>ĐỊNH HƯỚNG</a:t>
            </a:r>
          </a:p>
          <a:p>
            <a:pPr algn="r">
              <a:lnSpc>
                <a:spcPct val="95000"/>
              </a:lnSpc>
            </a:pPr>
            <a:r>
              <a:rPr sz="4400" b="1" i="0">
                <a:solidFill>
                  <a:srgbClr val="FFFFFF"/>
                </a:solidFill>
                <a:effectLst>
                  <a:glow rad="91440">
                    <a:srgbClr val="3FA9FF">
                      <a:alpha val="30000"/>
                    </a:srgbClr>
                  </a:glow>
                </a:effectLst>
                <a:latin typeface="Lexend Exa"/>
                <a:ea typeface="Lexend Exa"/>
                <a:cs typeface="Lexend Exa"/>
              </a:rPr>
              <a:t>PHÁT TRIỂN</a:t>
            </a:r>
          </a:p>
        </p:txBody>
      </p:sp>
      <p:sp>
        <p:nvSpPr>
          <p:cNvPr id="5" name="TextBox 4"/>
          <p:cNvSpPr txBox="1"/>
          <p:nvPr/>
        </p:nvSpPr>
        <p:spPr>
          <a:xfrm>
            <a:off x="5242255" y="5283200"/>
            <a:ext cx="6400800" cy="822960"/>
          </a:xfrm>
          <a:prstGeom prst="rect">
            <a:avLst/>
          </a:prstGeom>
          <a:noFill/>
        </p:spPr>
        <p:txBody>
          <a:bodyPr wrap="square" lIns="0" rIns="0" tIns="0" bIns="0" anchor="t">
            <a:noAutofit/>
          </a:bodyPr>
          <a:lstStyle/>
          <a:p>
            <a:pPr algn="r">
              <a:lnSpc>
                <a:spcPct val="120000"/>
              </a:lnSpc>
            </a:pPr>
            <a:r>
              <a:rPr sz="1300" b="0" i="0">
                <a:solidFill>
                  <a:srgbClr val="E6EEFF"/>
                </a:solidFill>
                <a:latin typeface="Be Vietnam Pro"/>
                <a:ea typeface="Be Vietnam Pro"/>
                <a:cs typeface="Be Vietnam Pro"/>
              </a:rPr>
              <a:t>Tầm nhìn, sứ mệnh và các lĩnh vực hoạt động cốt lõi</a:t>
            </a:r>
          </a:p>
        </p:txBody>
      </p:sp>
      <p:pic>
        <p:nvPicPr>
          <p:cNvPr id="6"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7"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FFFFFF"/>
                </a:solidFill>
                <a:latin typeface="Lexend Exa"/>
                <a:ea typeface="Lexend Exa"/>
                <a:cs typeface="Lexend Exa"/>
              </a:rPr>
              <a:t>KIẾN TẠO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900" fill="hold"/>
                                        <p:tgtEl>
                                          <p:spTgt spid="3"/>
                                        </p:tgtEl>
                                        <p:attrNameLst>
                                          <p:attrName>ppt_w</p:attrName>
                                        </p:attrNameLst>
                                      </p:cBhvr>
                                      <p:tavLst>
                                        <p:tav tm="0">
                                          <p:val>
                                            <p:strVal val="#ppt_w*0.7"/>
                                          </p:val>
                                        </p:tav>
                                        <p:tav tm="100000">
                                          <p:val>
                                            <p:strVal val="#ppt_w"/>
                                          </p:val>
                                        </p:tav>
                                      </p:tavLst>
                                    </p:anim>
                                    <p:anim calcmode="lin" valueType="num">
                                      <p:cBhvr additive="base">
                                        <p:cTn id="8" dur="900" fill="hold"/>
                                        <p:tgtEl>
                                          <p:spTgt spid="3"/>
                                        </p:tgtEl>
                                        <p:attrNameLst>
                                          <p:attrName>ppt_h</p:attrName>
                                        </p:attrNameLst>
                                      </p:cBhvr>
                                      <p:tavLst>
                                        <p:tav tm="0">
                                          <p:val>
                                            <p:strVal val="#ppt_h*0.7"/>
                                          </p:val>
                                        </p:tav>
                                        <p:tav tm="100000">
                                          <p:val>
                                            <p:strVal val="#ppt_h"/>
                                          </p:val>
                                        </p:tav>
                                      </p:tavLst>
                                    </p:anim>
                                    <p:animEffect transition="in" filter="fade">
                                      <p:cBhvr>
                                        <p:cTn id="9" dur="900"/>
                                        <p:tgtEl>
                                          <p:spTgt spid="3"/>
                                        </p:tgtEl>
                                      </p:cBhvr>
                                    </p:animEffect>
                                  </p:childTnLst>
                                </p:cTn>
                              </p:par>
                              <p:par>
                                <p:cTn id="10" presetID="10" presetClass="entr" presetSubtype="0" fill="hold" grpId="0"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700"/>
                                        <p:tgtEl>
                                          <p:spTgt spid="4"/>
                                        </p:tgtEl>
                                      </p:cBhvr>
                                    </p:animEffect>
                                    <p:anim calcmode="lin" valueType="num">
                                      <p:cBhvr additive="base">
                                        <p:cTn id="19" dur="700" fill="hold"/>
                                        <p:tgtEl>
                                          <p:spTgt spid="4"/>
                                        </p:tgtEl>
                                        <p:attrNameLst>
                                          <p:attrName>ppt_x</p:attrName>
                                        </p:attrNameLst>
                                      </p:cBhvr>
                                      <p:tavLst>
                                        <p:tav tm="0">
                                          <p:val>
                                            <p:strVal val="#ppt_x"/>
                                          </p:val>
                                        </p:tav>
                                        <p:tav tm="100000">
                                          <p:val>
                                            <p:strVal val="#ppt_x"/>
                                          </p:val>
                                        </p:tav>
                                      </p:tavLst>
                                    </p:anim>
                                    <p:anim calcmode="lin" valueType="num">
                                      <p:cBhvr additive="base">
                                        <p:cTn id="20" dur="700" fill="hold"/>
                                        <p:tgtEl>
                                          <p:spTgt spid="4"/>
                                        </p:tgtEl>
                                        <p:attrNameLst>
                                          <p:attrName>ppt_y</p:attrName>
                                        </p:attrNameLst>
                                      </p:cBhvr>
                                      <p:tavLst>
                                        <p:tav tm="0">
                                          <p:val>
                                            <p:strVal val="#ppt_y+.06"/>
                                          </p:val>
                                        </p:tav>
                                        <p:tav tm="100000">
                                          <p:val>
                                            <p:strVal val="#ppt_y"/>
                                          </p:val>
                                        </p:tav>
                                      </p:tavLst>
                                    </p:anim>
                                  </p:childTnLst>
                                </p:cTn>
                              </p:par>
                              <p:par>
                                <p:cTn id="21" presetID="10" presetClass="entr" presetSubtype="0" fill="hold" grpId="0" nodeType="withEffect">
                                  <p:stCondLst>
                                    <p:cond delay="9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4" grpId="0" animBg="1"/>
      <p:bldP spid="5"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bg" descr="light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4"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1F4FD8"/>
                </a:solidFill>
                <a:latin typeface="Lexend Exa"/>
                <a:ea typeface="Lexend Exa"/>
                <a:cs typeface="Lexend Exa"/>
              </a:rPr>
              <a:t>KIẾN TẠO</a:t>
            </a:r>
          </a:p>
        </p:txBody>
      </p:sp>
      <p:sp>
        <p:nvSpPr>
          <p:cNvPr id="5" name="!!tag"/>
          <p:cNvSpPr/>
          <p:nvPr/>
        </p:nvSpPr>
        <p:spPr>
          <a:xfrm>
            <a:off x="548640" y="292608"/>
            <a:ext cx="1567755" cy="329184"/>
          </a:xfrm>
          <a:prstGeom prst="roundRect">
            <a:avLst>
              <a:gd name="adj" fmla="val 50000"/>
            </a:avLst>
          </a:prstGeom>
          <a:solidFill>
            <a:srgbClr val="FFFFFF"/>
          </a:solidFill>
          <a:ln w="9525">
            <a:solidFill>
              <a:srgbClr val="D5DEEE"/>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02</a:t>
            </a:r>
          </a:p>
        </p:txBody>
      </p:sp>
      <p:sp>
        <p:nvSpPr>
          <p:cNvPr id="7" name="!!tag_text"/>
          <p:cNvSpPr txBox="1"/>
          <p:nvPr/>
        </p:nvSpPr>
        <p:spPr>
          <a:xfrm>
            <a:off x="896112" y="292608"/>
            <a:ext cx="1201995" cy="329184"/>
          </a:xfrm>
          <a:prstGeom prst="rect">
            <a:avLst/>
          </a:prstGeom>
          <a:noFill/>
        </p:spPr>
        <p:txBody>
          <a:bodyPr wrap="square" lIns="0" rIns="0" tIns="0" bIns="0" anchor="ctr">
            <a:noAutofit/>
          </a:bodyPr>
          <a:lstStyle/>
          <a:p>
            <a:pPr algn="l"/>
            <a:r>
              <a:rPr sz="900" b="0" i="0" spc="100">
                <a:solidFill>
                  <a:srgbClr val="0B1F4D"/>
                </a:solidFill>
                <a:latin typeface="Be Vietnam Pro SemiBold"/>
                <a:ea typeface="Be Vietnam Pro SemiBold"/>
                <a:cs typeface="Be Vietnam Pro SemiBold"/>
              </a:rPr>
              <a:t>ĐỊNH HƯỚNG</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B1F4D"/>
                </a:solidFill>
                <a:latin typeface="Lexend Exa"/>
                <a:ea typeface="Lexend Exa"/>
                <a:cs typeface="Lexend Exa"/>
              </a:rPr>
              <a:t>TẦM NHÌN – SỨ MỆNH – GIÁ TRỊ</a:t>
            </a:r>
          </a:p>
        </p:txBody>
      </p:sp>
      <p:sp>
        <p:nvSpPr>
          <p:cNvPr id="9" name="TextBox 8"/>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A97B5"/>
                </a:solidFill>
                <a:latin typeface="Be Vietnam Pro SemiBold"/>
                <a:ea typeface="Be Vietnam Pro SemiBold"/>
                <a:cs typeface="Be Vietnam Pro SemiBold"/>
              </a:rPr>
              <a:t>09</a:t>
            </a:r>
          </a:p>
        </p:txBody>
      </p:sp>
      <p:sp>
        <p:nvSpPr>
          <p:cNvPr id="10" name="TextBox 9"/>
          <p:cNvSpPr txBox="1"/>
          <p:nvPr/>
        </p:nvSpPr>
        <p:spPr>
          <a:xfrm>
            <a:off x="548640" y="1691640"/>
            <a:ext cx="7253935" cy="731520"/>
          </a:xfrm>
          <a:prstGeom prst="rect">
            <a:avLst/>
          </a:prstGeom>
          <a:noFill/>
        </p:spPr>
        <p:txBody>
          <a:bodyPr wrap="square" lIns="0" rIns="0" tIns="0" bIns="0" anchor="t">
            <a:noAutofit/>
          </a:bodyPr>
          <a:lstStyle/>
          <a:p>
            <a:pPr algn="l">
              <a:lnSpc>
                <a:spcPct val="130000"/>
              </a:lnSpc>
              <a:spcAft>
                <a:spcPts val="600"/>
              </a:spcAft>
            </a:pPr>
            <a:r>
              <a:rPr sz="1250" b="0" i="0">
                <a:solidFill>
                  <a:srgbClr val="4A5878"/>
                </a:solidFill>
                <a:latin typeface="Be Vietnam Pro"/>
                <a:ea typeface="Be Vietnam Pro"/>
                <a:cs typeface="Be Vietnam Pro"/>
              </a:rPr>
              <a:t>Kim chỉ nam cho mọi hoạt động của Kiến Tạo — từ bản vẽ đầu tiên đến ngày bàn giao.</a:t>
            </a:r>
          </a:p>
        </p:txBody>
      </p:sp>
      <p:pic>
        <p:nvPicPr>
          <p:cNvPr id="11" name="Picture 10" descr="a38b502009cec2e9.jpg"/>
          <p:cNvPicPr>
            <a:picLocks noChangeAspect="1"/>
          </p:cNvPicPr>
          <p:nvPr/>
        </p:nvPicPr>
        <p:blipFill>
          <a:blip r:embed="rId4"/>
          <a:srcRect t="14135" b="54135"/>
          <a:stretch>
            <a:fillRect/>
          </a:stretch>
        </p:blipFill>
        <p:spPr>
          <a:xfrm>
            <a:off x="8076895" y="868680"/>
            <a:ext cx="3566160" cy="1508760"/>
          </a:xfrm>
          <a:prstGeom prst="roundRect">
            <a:avLst>
              <a:gd name="adj" fmla="val 9696"/>
            </a:avLst>
          </a:prstGeom>
          <a:effectLst>
            <a:outerShdw blurRad="274320" dist="73152" dir="5400000" algn="ctr" rotWithShape="0">
              <a:srgbClr val="0B1F4D">
                <a:alpha val="22000"/>
              </a:srgbClr>
            </a:outerShdw>
          </a:effectLst>
        </p:spPr>
      </p:pic>
      <p:sp>
        <p:nvSpPr>
          <p:cNvPr id="12" name="Rounded Rectangle 11"/>
          <p:cNvSpPr/>
          <p:nvPr/>
        </p:nvSpPr>
        <p:spPr>
          <a:xfrm>
            <a:off x="548640" y="2697480"/>
            <a:ext cx="3515258" cy="2999232"/>
          </a:xfrm>
          <a:prstGeom prst="roundRect">
            <a:avLst>
              <a:gd name="adj" fmla="val 4268"/>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Rectangle 12"/>
          <p:cNvSpPr/>
          <p:nvPr/>
        </p:nvSpPr>
        <p:spPr>
          <a:xfrm>
            <a:off x="548640" y="2697480"/>
            <a:ext cx="3515258" cy="109728"/>
          </a:xfrm>
          <a:prstGeom prst="rect">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Oval 13"/>
          <p:cNvSpPr/>
          <p:nvPr/>
        </p:nvSpPr>
        <p:spPr>
          <a:xfrm>
            <a:off x="795528" y="2990088"/>
            <a:ext cx="603504" cy="60350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eye_FFFFFF.png"/>
          <p:cNvPicPr>
            <a:picLocks noChangeAspect="1"/>
          </p:cNvPicPr>
          <p:nvPr/>
        </p:nvPicPr>
        <p:blipFill>
          <a:blip r:embed="rId5"/>
          <a:stretch>
            <a:fillRect/>
          </a:stretch>
        </p:blipFill>
        <p:spPr>
          <a:xfrm>
            <a:off x="940369" y="3134929"/>
            <a:ext cx="313822" cy="313822"/>
          </a:xfrm>
          <a:prstGeom prst="rect">
            <a:avLst/>
          </a:prstGeom>
        </p:spPr>
      </p:pic>
      <p:sp>
        <p:nvSpPr>
          <p:cNvPr id="16" name="TextBox 15"/>
          <p:cNvSpPr txBox="1"/>
          <p:nvPr/>
        </p:nvSpPr>
        <p:spPr>
          <a:xfrm>
            <a:off x="1508760" y="2990088"/>
            <a:ext cx="2417978" cy="640080"/>
          </a:xfrm>
          <a:prstGeom prst="rect">
            <a:avLst/>
          </a:prstGeom>
          <a:noFill/>
        </p:spPr>
        <p:txBody>
          <a:bodyPr wrap="square" lIns="0" rIns="0" tIns="0" bIns="0" anchor="ctr">
            <a:noAutofit/>
          </a:bodyPr>
          <a:lstStyle/>
          <a:p>
            <a:pPr algn="l">
              <a:lnSpc>
                <a:spcPct val="105000"/>
              </a:lnSpc>
            </a:pPr>
            <a:r>
              <a:rPr sz="1450" b="1" i="0">
                <a:solidFill>
                  <a:srgbClr val="0B1F4D"/>
                </a:solidFill>
                <a:latin typeface="Be Vietnam Pro"/>
                <a:ea typeface="Be Vietnam Pro"/>
                <a:cs typeface="Be Vietnam Pro"/>
              </a:rPr>
              <a:t>Tầm nhìn</a:t>
            </a:r>
          </a:p>
        </p:txBody>
      </p:sp>
      <p:sp>
        <p:nvSpPr>
          <p:cNvPr id="17" name="TextBox 16"/>
          <p:cNvSpPr txBox="1"/>
          <p:nvPr/>
        </p:nvSpPr>
        <p:spPr>
          <a:xfrm>
            <a:off x="822960" y="3886200"/>
            <a:ext cx="3012338" cy="1719072"/>
          </a:xfrm>
          <a:prstGeom prst="rect">
            <a:avLst/>
          </a:prstGeom>
          <a:noFill/>
        </p:spPr>
        <p:txBody>
          <a:bodyPr wrap="square" lIns="0" rIns="0" tIns="0" bIns="0" anchor="t">
            <a:noAutofit/>
          </a:bodyPr>
          <a:lstStyle/>
          <a:p>
            <a:pPr algn="l" marL="201168" indent="-201168">
              <a:lnSpc>
                <a:spcPct val="125000"/>
              </a:lnSpc>
              <a:spcAft>
                <a:spcPts val="800"/>
              </a:spcAft>
              <a:buClr>
                <a:srgbClr val="1F4FD8"/>
              </a:buClr>
              <a:buSzPct val="100000"/>
              <a:buFont typeface="Arial"/>
              <a:buChar char="•"/>
            </a:pPr>
            <a:r>
              <a:rPr sz="1200" b="0" i="0">
                <a:solidFill>
                  <a:srgbClr val="4A5878"/>
                </a:solidFill>
                <a:latin typeface="Be Vietnam Pro"/>
                <a:ea typeface="Be Vietnam Pro"/>
                <a:cs typeface="Be Vietnam Pro"/>
              </a:rPr>
              <a:t>Trở thành tổng thầu </a:t>
            </a:r>
            <a:r>
              <a:rPr sz="1200" b="1" i="0">
                <a:solidFill>
                  <a:srgbClr val="1F4FD8"/>
                </a:solidFill>
                <a:latin typeface="Be Vietnam Pro"/>
                <a:ea typeface="Be Vietnam Pro"/>
                <a:cs typeface="Be Vietnam Pro"/>
              </a:rPr>
              <a:t>hàng đầu khu vực</a:t>
            </a:r>
            <a:r>
              <a:rPr sz="1200" b="0" i="0">
                <a:solidFill>
                  <a:srgbClr val="4A5878"/>
                </a:solidFill>
                <a:latin typeface="Be Vietnam Pro"/>
                <a:ea typeface="Be Vietnam Pro"/>
                <a:cs typeface="Be Vietnam Pro"/>
              </a:rPr>
              <a:t> vào năm 2030</a:t>
            </a:r>
          </a:p>
          <a:p>
            <a:pPr algn="l" marL="201168" indent="-201168">
              <a:lnSpc>
                <a:spcPct val="125000"/>
              </a:lnSpc>
              <a:spcAft>
                <a:spcPts val="800"/>
              </a:spcAft>
              <a:buClr>
                <a:srgbClr val="1F4FD8"/>
              </a:buClr>
              <a:buSzPct val="100000"/>
              <a:buFont typeface="Arial"/>
              <a:buChar char="•"/>
            </a:pPr>
            <a:r>
              <a:rPr sz="1200" b="0" i="0">
                <a:solidFill>
                  <a:srgbClr val="4A5878"/>
                </a:solidFill>
                <a:latin typeface="Be Vietnam Pro"/>
                <a:ea typeface="Be Vietnam Pro"/>
                <a:cs typeface="Be Vietnam Pro"/>
              </a:rPr>
              <a:t>Tiên phong trong </a:t>
            </a:r>
            <a:r>
              <a:rPr sz="1200" b="1" i="0">
                <a:solidFill>
                  <a:srgbClr val="1F4FD8"/>
                </a:solidFill>
                <a:latin typeface="Be Vietnam Pro"/>
                <a:ea typeface="Be Vietnam Pro"/>
                <a:cs typeface="Be Vietnam Pro"/>
              </a:rPr>
              <a:t>xây dựng xanh</a:t>
            </a:r>
            <a:r>
              <a:rPr sz="1200" b="0" i="0">
                <a:solidFill>
                  <a:srgbClr val="4A5878"/>
                </a:solidFill>
                <a:latin typeface="Be Vietnam Pro"/>
                <a:ea typeface="Be Vietnam Pro"/>
                <a:cs typeface="Be Vietnam Pro"/>
              </a:rPr>
              <a:t> và công nghệ số</a:t>
            </a:r>
          </a:p>
        </p:txBody>
      </p:sp>
      <p:sp>
        <p:nvSpPr>
          <p:cNvPr id="18" name="Rounded Rectangle 17"/>
          <p:cNvSpPr/>
          <p:nvPr/>
        </p:nvSpPr>
        <p:spPr>
          <a:xfrm>
            <a:off x="4338218" y="2697480"/>
            <a:ext cx="3515258" cy="2999232"/>
          </a:xfrm>
          <a:prstGeom prst="roundRect">
            <a:avLst>
              <a:gd name="adj" fmla="val 4268"/>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Rectangle 18"/>
          <p:cNvSpPr/>
          <p:nvPr/>
        </p:nvSpPr>
        <p:spPr>
          <a:xfrm>
            <a:off x="4338218" y="2697480"/>
            <a:ext cx="3515258" cy="109728"/>
          </a:xfrm>
          <a:prstGeom prst="rect">
            <a:avLst/>
          </a:prstGeom>
          <a:solidFill>
            <a:srgbClr val="3FA9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0" name="Oval 19"/>
          <p:cNvSpPr/>
          <p:nvPr/>
        </p:nvSpPr>
        <p:spPr>
          <a:xfrm>
            <a:off x="4585106" y="2990088"/>
            <a:ext cx="603504" cy="60350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target_FFFFFF.png"/>
          <p:cNvPicPr>
            <a:picLocks noChangeAspect="1"/>
          </p:cNvPicPr>
          <p:nvPr/>
        </p:nvPicPr>
        <p:blipFill>
          <a:blip r:embed="rId6"/>
          <a:stretch>
            <a:fillRect/>
          </a:stretch>
        </p:blipFill>
        <p:spPr>
          <a:xfrm>
            <a:off x="4729947" y="3134929"/>
            <a:ext cx="313822" cy="313822"/>
          </a:xfrm>
          <a:prstGeom prst="rect">
            <a:avLst/>
          </a:prstGeom>
        </p:spPr>
      </p:pic>
      <p:sp>
        <p:nvSpPr>
          <p:cNvPr id="22" name="TextBox 21"/>
          <p:cNvSpPr txBox="1"/>
          <p:nvPr/>
        </p:nvSpPr>
        <p:spPr>
          <a:xfrm>
            <a:off x="5298338" y="2990088"/>
            <a:ext cx="2417978" cy="640080"/>
          </a:xfrm>
          <a:prstGeom prst="rect">
            <a:avLst/>
          </a:prstGeom>
          <a:noFill/>
        </p:spPr>
        <p:txBody>
          <a:bodyPr wrap="square" lIns="0" rIns="0" tIns="0" bIns="0" anchor="ctr">
            <a:noAutofit/>
          </a:bodyPr>
          <a:lstStyle/>
          <a:p>
            <a:pPr algn="l">
              <a:lnSpc>
                <a:spcPct val="105000"/>
              </a:lnSpc>
            </a:pPr>
            <a:r>
              <a:rPr sz="1450" b="1" i="0">
                <a:solidFill>
                  <a:srgbClr val="0B1F4D"/>
                </a:solidFill>
                <a:latin typeface="Be Vietnam Pro"/>
                <a:ea typeface="Be Vietnam Pro"/>
                <a:cs typeface="Be Vietnam Pro"/>
              </a:rPr>
              <a:t>Sứ mệnh</a:t>
            </a:r>
          </a:p>
        </p:txBody>
      </p:sp>
      <p:sp>
        <p:nvSpPr>
          <p:cNvPr id="23" name="TextBox 22"/>
          <p:cNvSpPr txBox="1"/>
          <p:nvPr/>
        </p:nvSpPr>
        <p:spPr>
          <a:xfrm>
            <a:off x="4612538" y="3886200"/>
            <a:ext cx="3012338" cy="1719072"/>
          </a:xfrm>
          <a:prstGeom prst="rect">
            <a:avLst/>
          </a:prstGeom>
          <a:noFill/>
        </p:spPr>
        <p:txBody>
          <a:bodyPr wrap="square" lIns="0" rIns="0" tIns="0" bIns="0" anchor="t">
            <a:noAutofit/>
          </a:bodyPr>
          <a:lstStyle/>
          <a:p>
            <a:pPr algn="l" marL="201168" indent="-201168">
              <a:lnSpc>
                <a:spcPct val="125000"/>
              </a:lnSpc>
              <a:spcAft>
                <a:spcPts val="800"/>
              </a:spcAft>
              <a:buClr>
                <a:srgbClr val="1F4FD8"/>
              </a:buClr>
              <a:buSzPct val="100000"/>
              <a:buFont typeface="Arial"/>
              <a:buChar char="•"/>
            </a:pPr>
            <a:r>
              <a:rPr sz="1200" b="0" i="0">
                <a:solidFill>
                  <a:srgbClr val="4A5878"/>
                </a:solidFill>
                <a:latin typeface="Be Vietnam Pro"/>
                <a:ea typeface="Be Vietnam Pro"/>
                <a:cs typeface="Be Vietnam Pro"/>
              </a:rPr>
              <a:t>Kiến tạo công trình </a:t>
            </a:r>
            <a:r>
              <a:rPr sz="1200" b="1" i="0">
                <a:solidFill>
                  <a:srgbClr val="1F4FD8"/>
                </a:solidFill>
                <a:latin typeface="Be Vietnam Pro"/>
                <a:ea typeface="Be Vietnam Pro"/>
                <a:cs typeface="Be Vietnam Pro"/>
              </a:rPr>
              <a:t>an toàn, chất lượng, đúng tiến độ</a:t>
            </a:r>
          </a:p>
          <a:p>
            <a:pPr algn="l" marL="201168" indent="-201168">
              <a:lnSpc>
                <a:spcPct val="125000"/>
              </a:lnSpc>
              <a:spcAft>
                <a:spcPts val="800"/>
              </a:spcAft>
              <a:buClr>
                <a:srgbClr val="1F4FD8"/>
              </a:buClr>
              <a:buSzPct val="100000"/>
              <a:buFont typeface="Arial"/>
              <a:buChar char="•"/>
            </a:pPr>
            <a:r>
              <a:rPr sz="1200" b="0" i="0">
                <a:solidFill>
                  <a:srgbClr val="4A5878"/>
                </a:solidFill>
                <a:latin typeface="Be Vietnam Pro"/>
                <a:ea typeface="Be Vietnam Pro"/>
                <a:cs typeface="Be Vietnam Pro"/>
              </a:rPr>
              <a:t>Tối ưu chi phí và giá trị đầu tư cho chủ đầu tư</a:t>
            </a:r>
          </a:p>
          <a:p>
            <a:pPr algn="l" marL="201168" indent="-201168">
              <a:lnSpc>
                <a:spcPct val="125000"/>
              </a:lnSpc>
              <a:spcAft>
                <a:spcPts val="800"/>
              </a:spcAft>
              <a:buClr>
                <a:srgbClr val="1F4FD8"/>
              </a:buClr>
              <a:buSzPct val="100000"/>
              <a:buFont typeface="Arial"/>
              <a:buChar char="•"/>
            </a:pPr>
            <a:r>
              <a:rPr sz="1200" b="0" i="0">
                <a:solidFill>
                  <a:srgbClr val="4A5878"/>
                </a:solidFill>
                <a:latin typeface="Be Vietnam Pro"/>
                <a:ea typeface="Be Vietnam Pro"/>
                <a:cs typeface="Be Vietnam Pro"/>
              </a:rPr>
              <a:t>Mang lại môi trường làm việc chuyên nghiệp</a:t>
            </a:r>
          </a:p>
        </p:txBody>
      </p:sp>
      <p:sp>
        <p:nvSpPr>
          <p:cNvPr id="24" name="Rounded Rectangle 23"/>
          <p:cNvSpPr/>
          <p:nvPr/>
        </p:nvSpPr>
        <p:spPr>
          <a:xfrm>
            <a:off x="8127797" y="2697480"/>
            <a:ext cx="3515258" cy="2999232"/>
          </a:xfrm>
          <a:prstGeom prst="roundRect">
            <a:avLst>
              <a:gd name="adj" fmla="val 4268"/>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Rectangle 24"/>
          <p:cNvSpPr/>
          <p:nvPr/>
        </p:nvSpPr>
        <p:spPr>
          <a:xfrm>
            <a:off x="8127797" y="2697480"/>
            <a:ext cx="3515258" cy="109728"/>
          </a:xfrm>
          <a:prstGeom prst="rect">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6" name="Oval 25"/>
          <p:cNvSpPr/>
          <p:nvPr/>
        </p:nvSpPr>
        <p:spPr>
          <a:xfrm>
            <a:off x="8374685" y="2990088"/>
            <a:ext cx="603504" cy="60350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gem_FFFFFF.png"/>
          <p:cNvPicPr>
            <a:picLocks noChangeAspect="1"/>
          </p:cNvPicPr>
          <p:nvPr/>
        </p:nvPicPr>
        <p:blipFill>
          <a:blip r:embed="rId7"/>
          <a:stretch>
            <a:fillRect/>
          </a:stretch>
        </p:blipFill>
        <p:spPr>
          <a:xfrm>
            <a:off x="8519526" y="3134929"/>
            <a:ext cx="313822" cy="313822"/>
          </a:xfrm>
          <a:prstGeom prst="rect">
            <a:avLst/>
          </a:prstGeom>
        </p:spPr>
      </p:pic>
      <p:sp>
        <p:nvSpPr>
          <p:cNvPr id="28" name="TextBox 27"/>
          <p:cNvSpPr txBox="1"/>
          <p:nvPr/>
        </p:nvSpPr>
        <p:spPr>
          <a:xfrm>
            <a:off x="9087917" y="2990088"/>
            <a:ext cx="2417978" cy="640080"/>
          </a:xfrm>
          <a:prstGeom prst="rect">
            <a:avLst/>
          </a:prstGeom>
          <a:noFill/>
        </p:spPr>
        <p:txBody>
          <a:bodyPr wrap="square" lIns="0" rIns="0" tIns="0" bIns="0" anchor="ctr">
            <a:noAutofit/>
          </a:bodyPr>
          <a:lstStyle/>
          <a:p>
            <a:pPr algn="l">
              <a:lnSpc>
                <a:spcPct val="105000"/>
              </a:lnSpc>
            </a:pPr>
            <a:r>
              <a:rPr sz="1450" b="1" i="0">
                <a:solidFill>
                  <a:srgbClr val="0B1F4D"/>
                </a:solidFill>
                <a:latin typeface="Be Vietnam Pro"/>
                <a:ea typeface="Be Vietnam Pro"/>
                <a:cs typeface="Be Vietnam Pro"/>
              </a:rPr>
              <a:t>Giá trị cốt lõi</a:t>
            </a:r>
          </a:p>
        </p:txBody>
      </p:sp>
      <p:sp>
        <p:nvSpPr>
          <p:cNvPr id="29" name="TextBox 28"/>
          <p:cNvSpPr txBox="1"/>
          <p:nvPr/>
        </p:nvSpPr>
        <p:spPr>
          <a:xfrm>
            <a:off x="8402117" y="3886200"/>
            <a:ext cx="3012338" cy="1719072"/>
          </a:xfrm>
          <a:prstGeom prst="rect">
            <a:avLst/>
          </a:prstGeom>
          <a:noFill/>
        </p:spPr>
        <p:txBody>
          <a:bodyPr wrap="square" lIns="0" rIns="0" tIns="0" bIns="0" anchor="t">
            <a:noAutofit/>
          </a:bodyPr>
          <a:lstStyle/>
          <a:p>
            <a:pPr algn="l" marL="201168" indent="-201168">
              <a:lnSpc>
                <a:spcPct val="125000"/>
              </a:lnSpc>
              <a:spcAft>
                <a:spcPts val="800"/>
              </a:spcAft>
              <a:buClr>
                <a:srgbClr val="1F4FD8"/>
              </a:buClr>
              <a:buSzPct val="100000"/>
              <a:buFont typeface="Arial"/>
              <a:buChar char="•"/>
            </a:pPr>
            <a:r>
              <a:rPr sz="1200" b="1" i="0">
                <a:solidFill>
                  <a:srgbClr val="1F4FD8"/>
                </a:solidFill>
                <a:latin typeface="Be Vietnam Pro"/>
                <a:ea typeface="Be Vietnam Pro"/>
                <a:cs typeface="Be Vietnam Pro"/>
              </a:rPr>
              <a:t>Chính trực</a:t>
            </a:r>
            <a:r>
              <a:rPr sz="1200" b="0" i="0">
                <a:solidFill>
                  <a:srgbClr val="4A5878"/>
                </a:solidFill>
                <a:latin typeface="Be Vietnam Pro"/>
                <a:ea typeface="Be Vietnam Pro"/>
                <a:cs typeface="Be Vietnam Pro"/>
              </a:rPr>
              <a:t> trong mọi cam kết</a:t>
            </a:r>
          </a:p>
          <a:p>
            <a:pPr algn="l" marL="201168" indent="-201168">
              <a:lnSpc>
                <a:spcPct val="125000"/>
              </a:lnSpc>
              <a:spcAft>
                <a:spcPts val="800"/>
              </a:spcAft>
              <a:buClr>
                <a:srgbClr val="1F4FD8"/>
              </a:buClr>
              <a:buSzPct val="100000"/>
              <a:buFont typeface="Arial"/>
              <a:buChar char="•"/>
            </a:pPr>
            <a:r>
              <a:rPr sz="1200" b="1" i="0">
                <a:solidFill>
                  <a:srgbClr val="1F4FD8"/>
                </a:solidFill>
                <a:latin typeface="Be Vietnam Pro"/>
                <a:ea typeface="Be Vietnam Pro"/>
                <a:cs typeface="Be Vietnam Pro"/>
              </a:rPr>
              <a:t>Chất lượng</a:t>
            </a:r>
            <a:r>
              <a:rPr sz="1200" b="0" i="0">
                <a:solidFill>
                  <a:srgbClr val="4A5878"/>
                </a:solidFill>
                <a:latin typeface="Be Vietnam Pro"/>
                <a:ea typeface="Be Vietnam Pro"/>
                <a:cs typeface="Be Vietnam Pro"/>
              </a:rPr>
              <a:t> là danh dự</a:t>
            </a:r>
          </a:p>
          <a:p>
            <a:pPr algn="l" marL="201168" indent="-201168">
              <a:lnSpc>
                <a:spcPct val="125000"/>
              </a:lnSpc>
              <a:spcAft>
                <a:spcPts val="800"/>
              </a:spcAft>
              <a:buClr>
                <a:srgbClr val="1F4FD8"/>
              </a:buClr>
              <a:buSzPct val="100000"/>
              <a:buFont typeface="Arial"/>
              <a:buChar char="•"/>
            </a:pPr>
            <a:r>
              <a:rPr sz="1200" b="1" i="0">
                <a:solidFill>
                  <a:srgbClr val="1F4FD8"/>
                </a:solidFill>
                <a:latin typeface="Be Vietnam Pro"/>
                <a:ea typeface="Be Vietnam Pro"/>
                <a:cs typeface="Be Vietnam Pro"/>
              </a:rPr>
              <a:t>Đổi mới</a:t>
            </a:r>
            <a:r>
              <a:rPr sz="1200" b="0" i="0">
                <a:solidFill>
                  <a:srgbClr val="4A5878"/>
                </a:solidFill>
                <a:latin typeface="Be Vietnam Pro"/>
                <a:ea typeface="Be Vietnam Pro"/>
                <a:cs typeface="Be Vietnam Pro"/>
              </a:rPr>
              <a:t> để phát triển bền vững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par>
                                <p:cTn id="29" presetID="2" presetClass="entr" presetSubtype="2" fill="hold" grpId="0" nodeType="withEffect">
                                  <p:stCondLst>
                                    <p:cond delay="3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600" fill="hold"/>
                                        <p:tgtEl>
                                          <p:spTgt spid="11"/>
                                        </p:tgtEl>
                                        <p:attrNameLst>
                                          <p:attrName>ppt_x</p:attrName>
                                        </p:attrNameLst>
                                      </p:cBhvr>
                                      <p:tavLst>
                                        <p:tav tm="0">
                                          <p:val>
                                            <p:strVal val="1+#ppt_w/2"/>
                                          </p:val>
                                        </p:tav>
                                        <p:tav tm="100000">
                                          <p:val>
                                            <p:strVal val="#ppt_x"/>
                                          </p:val>
                                        </p:tav>
                                      </p:tavLst>
                                    </p:anim>
                                    <p:anim calcmode="lin" valueType="num">
                                      <p:cBhvr additive="base">
                                        <p:cTn id="32" dur="600" fill="hold"/>
                                        <p:tgtEl>
                                          <p:spTgt spid="11"/>
                                        </p:tgtEl>
                                        <p:attrNameLst>
                                          <p:attrName>ppt_y</p:attrName>
                                        </p:attrNameLst>
                                      </p:cBhvr>
                                      <p:tavLst>
                                        <p:tav tm="0">
                                          <p:val>
                                            <p:strVal val="#ppt_y"/>
                                          </p:val>
                                        </p:tav>
                                        <p:tav tm="100000">
                                          <p:val>
                                            <p:strVal val="#ppt_y"/>
                                          </p:val>
                                        </p:tav>
                                      </p:tavLst>
                                    </p:anim>
                                  </p:childTnLst>
                                </p:cTn>
                              </p:par>
                              <p:par>
                                <p:cTn id="33" presetID="42" presetClass="entr" presetSubtype="0" fill="hold" grpId="0" nodeType="withEffect">
                                  <p:stCondLst>
                                    <p:cond delay="50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anim calcmode="lin" valueType="num">
                                      <p:cBhvr additive="base">
                                        <p:cTn id="36" dur="500" fill="hold"/>
                                        <p:tgtEl>
                                          <p:spTgt spid="12"/>
                                        </p:tgtEl>
                                        <p:attrNameLst>
                                          <p:attrName>ppt_x</p:attrName>
                                        </p:attrNameLst>
                                      </p:cBhvr>
                                      <p:tavLst>
                                        <p:tav tm="0">
                                          <p:val>
                                            <p:strVal val="#ppt_x"/>
                                          </p:val>
                                        </p:tav>
                                        <p:tav tm="100000">
                                          <p:val>
                                            <p:strVal val="#ppt_x"/>
                                          </p:val>
                                        </p:tav>
                                      </p:tavLst>
                                    </p:anim>
                                    <p:anim calcmode="lin" valueType="num">
                                      <p:cBhvr additive="base">
                                        <p:cTn id="37" dur="500" fill="hold"/>
                                        <p:tgtEl>
                                          <p:spTgt spid="12"/>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50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50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anim calcmode="lin" valueType="num">
                                      <p:cBhvr additive="base">
                                        <p:cTn id="46" dur="500" fill="hold"/>
                                        <p:tgtEl>
                                          <p:spTgt spid="14"/>
                                        </p:tgtEl>
                                        <p:attrNameLst>
                                          <p:attrName>ppt_x</p:attrName>
                                        </p:attrNameLst>
                                      </p:cBhvr>
                                      <p:tavLst>
                                        <p:tav tm="0">
                                          <p:val>
                                            <p:strVal val="#ppt_x"/>
                                          </p:val>
                                        </p:tav>
                                        <p:tav tm="100000">
                                          <p:val>
                                            <p:strVal val="#ppt_x"/>
                                          </p:val>
                                        </p:tav>
                                      </p:tavLst>
                                    </p:anim>
                                    <p:anim calcmode="lin" valueType="num">
                                      <p:cBhvr additive="base">
                                        <p:cTn id="47" dur="500" fill="hold"/>
                                        <p:tgtEl>
                                          <p:spTgt spid="14"/>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50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500"/>
                                        <p:tgtEl>
                                          <p:spTgt spid="15"/>
                                        </p:tgtEl>
                                      </p:cBhvr>
                                    </p:animEffec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50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500"/>
                                        <p:tgtEl>
                                          <p:spTgt spid="16"/>
                                        </p:tgtEl>
                                      </p:cBhvr>
                                    </p:animEffect>
                                    <p:anim calcmode="lin" valueType="num">
                                      <p:cBhvr additive="base">
                                        <p:cTn id="56" dur="500" fill="hold"/>
                                        <p:tgtEl>
                                          <p:spTgt spid="16"/>
                                        </p:tgtEl>
                                        <p:attrNameLst>
                                          <p:attrName>ppt_x</p:attrName>
                                        </p:attrNameLst>
                                      </p:cBhvr>
                                      <p:tavLst>
                                        <p:tav tm="0">
                                          <p:val>
                                            <p:strVal val="#ppt_x"/>
                                          </p:val>
                                        </p:tav>
                                        <p:tav tm="100000">
                                          <p:val>
                                            <p:strVal val="#ppt_x"/>
                                          </p:val>
                                        </p:tav>
                                      </p:tavLst>
                                    </p:anim>
                                    <p:anim calcmode="lin" valueType="num">
                                      <p:cBhvr additive="base">
                                        <p:cTn id="57" dur="500" fill="hold"/>
                                        <p:tgtEl>
                                          <p:spTgt spid="16"/>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50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70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500"/>
                                        <p:tgtEl>
                                          <p:spTgt spid="18"/>
                                        </p:tgtEl>
                                      </p:cBhvr>
                                    </p:animEffect>
                                    <p:anim calcmode="lin" valueType="num">
                                      <p:cBhvr additive="base">
                                        <p:cTn id="66" dur="500" fill="hold"/>
                                        <p:tgtEl>
                                          <p:spTgt spid="18"/>
                                        </p:tgtEl>
                                        <p:attrNameLst>
                                          <p:attrName>ppt_x</p:attrName>
                                        </p:attrNameLst>
                                      </p:cBhvr>
                                      <p:tavLst>
                                        <p:tav tm="0">
                                          <p:val>
                                            <p:strVal val="#ppt_x"/>
                                          </p:val>
                                        </p:tav>
                                        <p:tav tm="100000">
                                          <p:val>
                                            <p:strVal val="#ppt_x"/>
                                          </p:val>
                                        </p:tav>
                                      </p:tavLst>
                                    </p:anim>
                                    <p:anim calcmode="lin" valueType="num">
                                      <p:cBhvr additive="base">
                                        <p:cTn id="67" dur="500" fill="hold"/>
                                        <p:tgtEl>
                                          <p:spTgt spid="18"/>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70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00"/>
                                        <p:tgtEl>
                                          <p:spTgt spid="19"/>
                                        </p:tgtEl>
                                      </p:cBhvr>
                                    </p:animEffect>
                                    <p:anim calcmode="lin" valueType="num">
                                      <p:cBhvr additive="base">
                                        <p:cTn id="71" dur="500" fill="hold"/>
                                        <p:tgtEl>
                                          <p:spTgt spid="19"/>
                                        </p:tgtEl>
                                        <p:attrNameLst>
                                          <p:attrName>ppt_x</p:attrName>
                                        </p:attrNameLst>
                                      </p:cBhvr>
                                      <p:tavLst>
                                        <p:tav tm="0">
                                          <p:val>
                                            <p:strVal val="#ppt_x"/>
                                          </p:val>
                                        </p:tav>
                                        <p:tav tm="100000">
                                          <p:val>
                                            <p:strVal val="#ppt_x"/>
                                          </p:val>
                                        </p:tav>
                                      </p:tavLst>
                                    </p:anim>
                                    <p:anim calcmode="lin" valueType="num">
                                      <p:cBhvr additive="base">
                                        <p:cTn id="72" dur="500" fill="hold"/>
                                        <p:tgtEl>
                                          <p:spTgt spid="19"/>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700"/>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500"/>
                                        <p:tgtEl>
                                          <p:spTgt spid="20"/>
                                        </p:tgtEl>
                                      </p:cBhvr>
                                    </p:animEffect>
                                    <p:anim calcmode="lin" valueType="num">
                                      <p:cBhvr additive="base">
                                        <p:cTn id="76" dur="500" fill="hold"/>
                                        <p:tgtEl>
                                          <p:spTgt spid="20"/>
                                        </p:tgtEl>
                                        <p:attrNameLst>
                                          <p:attrName>ppt_x</p:attrName>
                                        </p:attrNameLst>
                                      </p:cBhvr>
                                      <p:tavLst>
                                        <p:tav tm="0">
                                          <p:val>
                                            <p:strVal val="#ppt_x"/>
                                          </p:val>
                                        </p:tav>
                                        <p:tav tm="100000">
                                          <p:val>
                                            <p:strVal val="#ppt_x"/>
                                          </p:val>
                                        </p:tav>
                                      </p:tavLst>
                                    </p:anim>
                                    <p:anim calcmode="lin" valueType="num">
                                      <p:cBhvr additive="base">
                                        <p:cTn id="77" dur="500" fill="hold"/>
                                        <p:tgtEl>
                                          <p:spTgt spid="20"/>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700"/>
                                  </p:stCondLst>
                                  <p:childTnLst>
                                    <p:set>
                                      <p:cBhvr>
                                        <p:cTn id="79" dur="1" fill="hold">
                                          <p:stCondLst>
                                            <p:cond delay="0"/>
                                          </p:stCondLst>
                                        </p:cTn>
                                        <p:tgtEl>
                                          <p:spTgt spid="21"/>
                                        </p:tgtEl>
                                        <p:attrNameLst>
                                          <p:attrName>style.visibility</p:attrName>
                                        </p:attrNameLst>
                                      </p:cBhvr>
                                      <p:to>
                                        <p:strVal val="visible"/>
                                      </p:to>
                                    </p:set>
                                    <p:animEffect transition="in" filter="fade">
                                      <p:cBhvr>
                                        <p:cTn id="80" dur="500"/>
                                        <p:tgtEl>
                                          <p:spTgt spid="21"/>
                                        </p:tgtEl>
                                      </p:cBhvr>
                                    </p:animEffect>
                                    <p:anim calcmode="lin" valueType="num">
                                      <p:cBhvr additive="base">
                                        <p:cTn id="81" dur="500" fill="hold"/>
                                        <p:tgtEl>
                                          <p:spTgt spid="21"/>
                                        </p:tgtEl>
                                        <p:attrNameLst>
                                          <p:attrName>ppt_x</p:attrName>
                                        </p:attrNameLst>
                                      </p:cBhvr>
                                      <p:tavLst>
                                        <p:tav tm="0">
                                          <p:val>
                                            <p:strVal val="#ppt_x"/>
                                          </p:val>
                                        </p:tav>
                                        <p:tav tm="100000">
                                          <p:val>
                                            <p:strVal val="#ppt_x"/>
                                          </p:val>
                                        </p:tav>
                                      </p:tavLst>
                                    </p:anim>
                                    <p:anim calcmode="lin" valueType="num">
                                      <p:cBhvr additive="base">
                                        <p:cTn id="82" dur="500" fill="hold"/>
                                        <p:tgtEl>
                                          <p:spTgt spid="21"/>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700"/>
                                  </p:stCondLst>
                                  <p:childTnLst>
                                    <p:set>
                                      <p:cBhvr>
                                        <p:cTn id="84" dur="1" fill="hold">
                                          <p:stCondLst>
                                            <p:cond delay="0"/>
                                          </p:stCondLst>
                                        </p:cTn>
                                        <p:tgtEl>
                                          <p:spTgt spid="22"/>
                                        </p:tgtEl>
                                        <p:attrNameLst>
                                          <p:attrName>style.visibility</p:attrName>
                                        </p:attrNameLst>
                                      </p:cBhvr>
                                      <p:to>
                                        <p:strVal val="visible"/>
                                      </p:to>
                                    </p:set>
                                    <p:animEffect transition="in" filter="fade">
                                      <p:cBhvr>
                                        <p:cTn id="85" dur="500"/>
                                        <p:tgtEl>
                                          <p:spTgt spid="22"/>
                                        </p:tgtEl>
                                      </p:cBhvr>
                                    </p:animEffect>
                                    <p:anim calcmode="lin" valueType="num">
                                      <p:cBhvr additive="base">
                                        <p:cTn id="86" dur="500" fill="hold"/>
                                        <p:tgtEl>
                                          <p:spTgt spid="22"/>
                                        </p:tgtEl>
                                        <p:attrNameLst>
                                          <p:attrName>ppt_x</p:attrName>
                                        </p:attrNameLst>
                                      </p:cBhvr>
                                      <p:tavLst>
                                        <p:tav tm="0">
                                          <p:val>
                                            <p:strVal val="#ppt_x"/>
                                          </p:val>
                                        </p:tav>
                                        <p:tav tm="100000">
                                          <p:val>
                                            <p:strVal val="#ppt_x"/>
                                          </p:val>
                                        </p:tav>
                                      </p:tavLst>
                                    </p:anim>
                                    <p:anim calcmode="lin" valueType="num">
                                      <p:cBhvr additive="base">
                                        <p:cTn id="87" dur="500" fill="hold"/>
                                        <p:tgtEl>
                                          <p:spTgt spid="22"/>
                                        </p:tgtEl>
                                        <p:attrNameLst>
                                          <p:attrName>ppt_y</p:attrName>
                                        </p:attrNameLst>
                                      </p:cBhvr>
                                      <p:tavLst>
                                        <p:tav tm="0">
                                          <p:val>
                                            <p:strVal val="#ppt_y+.06"/>
                                          </p:val>
                                        </p:tav>
                                        <p:tav tm="100000">
                                          <p:val>
                                            <p:strVal val="#ppt_y"/>
                                          </p:val>
                                        </p:tav>
                                      </p:tavLst>
                                    </p:anim>
                                  </p:childTnLst>
                                </p:cTn>
                              </p:par>
                              <p:par>
                                <p:cTn id="88" presetID="42" presetClass="entr" presetSubtype="0" fill="hold" grpId="0" nodeType="withEffect">
                                  <p:stCondLst>
                                    <p:cond delay="700"/>
                                  </p:stCondLst>
                                  <p:childTnLst>
                                    <p:set>
                                      <p:cBhvr>
                                        <p:cTn id="89" dur="1" fill="hold">
                                          <p:stCondLst>
                                            <p:cond delay="0"/>
                                          </p:stCondLst>
                                        </p:cTn>
                                        <p:tgtEl>
                                          <p:spTgt spid="23"/>
                                        </p:tgtEl>
                                        <p:attrNameLst>
                                          <p:attrName>style.visibility</p:attrName>
                                        </p:attrNameLst>
                                      </p:cBhvr>
                                      <p:to>
                                        <p:strVal val="visible"/>
                                      </p:to>
                                    </p:set>
                                    <p:animEffect transition="in" filter="fade">
                                      <p:cBhvr>
                                        <p:cTn id="90" dur="500"/>
                                        <p:tgtEl>
                                          <p:spTgt spid="23"/>
                                        </p:tgtEl>
                                      </p:cBhvr>
                                    </p:animEffect>
                                    <p:anim calcmode="lin" valueType="num">
                                      <p:cBhvr additive="base">
                                        <p:cTn id="91" dur="500" fill="hold"/>
                                        <p:tgtEl>
                                          <p:spTgt spid="23"/>
                                        </p:tgtEl>
                                        <p:attrNameLst>
                                          <p:attrName>ppt_x</p:attrName>
                                        </p:attrNameLst>
                                      </p:cBhvr>
                                      <p:tavLst>
                                        <p:tav tm="0">
                                          <p:val>
                                            <p:strVal val="#ppt_x"/>
                                          </p:val>
                                        </p:tav>
                                        <p:tav tm="100000">
                                          <p:val>
                                            <p:strVal val="#ppt_x"/>
                                          </p:val>
                                        </p:tav>
                                      </p:tavLst>
                                    </p:anim>
                                    <p:anim calcmode="lin" valueType="num">
                                      <p:cBhvr additive="base">
                                        <p:cTn id="92" dur="500" fill="hold"/>
                                        <p:tgtEl>
                                          <p:spTgt spid="23"/>
                                        </p:tgtEl>
                                        <p:attrNameLst>
                                          <p:attrName>ppt_y</p:attrName>
                                        </p:attrNameLst>
                                      </p:cBhvr>
                                      <p:tavLst>
                                        <p:tav tm="0">
                                          <p:val>
                                            <p:strVal val="#ppt_y+.06"/>
                                          </p:val>
                                        </p:tav>
                                        <p:tav tm="100000">
                                          <p:val>
                                            <p:strVal val="#ppt_y"/>
                                          </p:val>
                                        </p:tav>
                                      </p:tavLst>
                                    </p:anim>
                                  </p:childTnLst>
                                </p:cTn>
                              </p:par>
                              <p:par>
                                <p:cTn id="93" presetID="42" presetClass="entr" presetSubtype="0" fill="hold" grpId="0" nodeType="withEffect">
                                  <p:stCondLst>
                                    <p:cond delay="899"/>
                                  </p:stCondLst>
                                  <p:childTnLst>
                                    <p:set>
                                      <p:cBhvr>
                                        <p:cTn id="94" dur="1" fill="hold">
                                          <p:stCondLst>
                                            <p:cond delay="0"/>
                                          </p:stCondLst>
                                        </p:cTn>
                                        <p:tgtEl>
                                          <p:spTgt spid="24"/>
                                        </p:tgtEl>
                                        <p:attrNameLst>
                                          <p:attrName>style.visibility</p:attrName>
                                        </p:attrNameLst>
                                      </p:cBhvr>
                                      <p:to>
                                        <p:strVal val="visible"/>
                                      </p:to>
                                    </p:set>
                                    <p:animEffect transition="in" filter="fade">
                                      <p:cBhvr>
                                        <p:cTn id="95" dur="500"/>
                                        <p:tgtEl>
                                          <p:spTgt spid="24"/>
                                        </p:tgtEl>
                                      </p:cBhvr>
                                    </p:animEffect>
                                    <p:anim calcmode="lin" valueType="num">
                                      <p:cBhvr additive="base">
                                        <p:cTn id="96" dur="500" fill="hold"/>
                                        <p:tgtEl>
                                          <p:spTgt spid="24"/>
                                        </p:tgtEl>
                                        <p:attrNameLst>
                                          <p:attrName>ppt_x</p:attrName>
                                        </p:attrNameLst>
                                      </p:cBhvr>
                                      <p:tavLst>
                                        <p:tav tm="0">
                                          <p:val>
                                            <p:strVal val="#ppt_x"/>
                                          </p:val>
                                        </p:tav>
                                        <p:tav tm="100000">
                                          <p:val>
                                            <p:strVal val="#ppt_x"/>
                                          </p:val>
                                        </p:tav>
                                      </p:tavLst>
                                    </p:anim>
                                    <p:anim calcmode="lin" valueType="num">
                                      <p:cBhvr additive="base">
                                        <p:cTn id="97" dur="500" fill="hold"/>
                                        <p:tgtEl>
                                          <p:spTgt spid="24"/>
                                        </p:tgtEl>
                                        <p:attrNameLst>
                                          <p:attrName>ppt_y</p:attrName>
                                        </p:attrNameLst>
                                      </p:cBhvr>
                                      <p:tavLst>
                                        <p:tav tm="0">
                                          <p:val>
                                            <p:strVal val="#ppt_y+.06"/>
                                          </p:val>
                                        </p:tav>
                                        <p:tav tm="100000">
                                          <p:val>
                                            <p:strVal val="#ppt_y"/>
                                          </p:val>
                                        </p:tav>
                                      </p:tavLst>
                                    </p:anim>
                                  </p:childTnLst>
                                </p:cTn>
                              </p:par>
                              <p:par>
                                <p:cTn id="98" presetID="42" presetClass="entr" presetSubtype="0" fill="hold" grpId="0" nodeType="withEffect">
                                  <p:stCondLst>
                                    <p:cond delay="899"/>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00"/>
                                        <p:tgtEl>
                                          <p:spTgt spid="25"/>
                                        </p:tgtEl>
                                      </p:cBhvr>
                                    </p:animEffect>
                                    <p:anim calcmode="lin" valueType="num">
                                      <p:cBhvr additive="base">
                                        <p:cTn id="101" dur="500" fill="hold"/>
                                        <p:tgtEl>
                                          <p:spTgt spid="25"/>
                                        </p:tgtEl>
                                        <p:attrNameLst>
                                          <p:attrName>ppt_x</p:attrName>
                                        </p:attrNameLst>
                                      </p:cBhvr>
                                      <p:tavLst>
                                        <p:tav tm="0">
                                          <p:val>
                                            <p:strVal val="#ppt_x"/>
                                          </p:val>
                                        </p:tav>
                                        <p:tav tm="100000">
                                          <p:val>
                                            <p:strVal val="#ppt_x"/>
                                          </p:val>
                                        </p:tav>
                                      </p:tavLst>
                                    </p:anim>
                                    <p:anim calcmode="lin" valueType="num">
                                      <p:cBhvr additive="base">
                                        <p:cTn id="102" dur="500" fill="hold"/>
                                        <p:tgtEl>
                                          <p:spTgt spid="25"/>
                                        </p:tgtEl>
                                        <p:attrNameLst>
                                          <p:attrName>ppt_y</p:attrName>
                                        </p:attrNameLst>
                                      </p:cBhvr>
                                      <p:tavLst>
                                        <p:tav tm="0">
                                          <p:val>
                                            <p:strVal val="#ppt_y+.06"/>
                                          </p:val>
                                        </p:tav>
                                        <p:tav tm="100000">
                                          <p:val>
                                            <p:strVal val="#ppt_y"/>
                                          </p:val>
                                        </p:tav>
                                      </p:tavLst>
                                    </p:anim>
                                  </p:childTnLst>
                                </p:cTn>
                              </p:par>
                              <p:par>
                                <p:cTn id="103" presetID="42" presetClass="entr" presetSubtype="0" fill="hold" grpId="0" nodeType="withEffect">
                                  <p:stCondLst>
                                    <p:cond delay="899"/>
                                  </p:stCondLst>
                                  <p:childTnLst>
                                    <p:set>
                                      <p:cBhvr>
                                        <p:cTn id="104" dur="1" fill="hold">
                                          <p:stCondLst>
                                            <p:cond delay="0"/>
                                          </p:stCondLst>
                                        </p:cTn>
                                        <p:tgtEl>
                                          <p:spTgt spid="26"/>
                                        </p:tgtEl>
                                        <p:attrNameLst>
                                          <p:attrName>style.visibility</p:attrName>
                                        </p:attrNameLst>
                                      </p:cBhvr>
                                      <p:to>
                                        <p:strVal val="visible"/>
                                      </p:to>
                                    </p:set>
                                    <p:animEffect transition="in" filter="fade">
                                      <p:cBhvr>
                                        <p:cTn id="105" dur="500"/>
                                        <p:tgtEl>
                                          <p:spTgt spid="26"/>
                                        </p:tgtEl>
                                      </p:cBhvr>
                                    </p:animEffect>
                                    <p:anim calcmode="lin" valueType="num">
                                      <p:cBhvr additive="base">
                                        <p:cTn id="106" dur="500" fill="hold"/>
                                        <p:tgtEl>
                                          <p:spTgt spid="26"/>
                                        </p:tgtEl>
                                        <p:attrNameLst>
                                          <p:attrName>ppt_x</p:attrName>
                                        </p:attrNameLst>
                                      </p:cBhvr>
                                      <p:tavLst>
                                        <p:tav tm="0">
                                          <p:val>
                                            <p:strVal val="#ppt_x"/>
                                          </p:val>
                                        </p:tav>
                                        <p:tav tm="100000">
                                          <p:val>
                                            <p:strVal val="#ppt_x"/>
                                          </p:val>
                                        </p:tav>
                                      </p:tavLst>
                                    </p:anim>
                                    <p:anim calcmode="lin" valueType="num">
                                      <p:cBhvr additive="base">
                                        <p:cTn id="107" dur="500" fill="hold"/>
                                        <p:tgtEl>
                                          <p:spTgt spid="26"/>
                                        </p:tgtEl>
                                        <p:attrNameLst>
                                          <p:attrName>ppt_y</p:attrName>
                                        </p:attrNameLst>
                                      </p:cBhvr>
                                      <p:tavLst>
                                        <p:tav tm="0">
                                          <p:val>
                                            <p:strVal val="#ppt_y+.06"/>
                                          </p:val>
                                        </p:tav>
                                        <p:tav tm="100000">
                                          <p:val>
                                            <p:strVal val="#ppt_y"/>
                                          </p:val>
                                        </p:tav>
                                      </p:tavLst>
                                    </p:anim>
                                  </p:childTnLst>
                                </p:cTn>
                              </p:par>
                              <p:par>
                                <p:cTn id="108" presetID="42" presetClass="entr" presetSubtype="0" fill="hold" grpId="0" nodeType="withEffect">
                                  <p:stCondLst>
                                    <p:cond delay="899"/>
                                  </p:stCondLst>
                                  <p:childTnLst>
                                    <p:set>
                                      <p:cBhvr>
                                        <p:cTn id="109" dur="1" fill="hold">
                                          <p:stCondLst>
                                            <p:cond delay="0"/>
                                          </p:stCondLst>
                                        </p:cTn>
                                        <p:tgtEl>
                                          <p:spTgt spid="27"/>
                                        </p:tgtEl>
                                        <p:attrNameLst>
                                          <p:attrName>style.visibility</p:attrName>
                                        </p:attrNameLst>
                                      </p:cBhvr>
                                      <p:to>
                                        <p:strVal val="visible"/>
                                      </p:to>
                                    </p:set>
                                    <p:animEffect transition="in" filter="fade">
                                      <p:cBhvr>
                                        <p:cTn id="110" dur="500"/>
                                        <p:tgtEl>
                                          <p:spTgt spid="27"/>
                                        </p:tgtEl>
                                      </p:cBhvr>
                                    </p:animEffect>
                                    <p:anim calcmode="lin" valueType="num">
                                      <p:cBhvr additive="base">
                                        <p:cTn id="111" dur="500" fill="hold"/>
                                        <p:tgtEl>
                                          <p:spTgt spid="27"/>
                                        </p:tgtEl>
                                        <p:attrNameLst>
                                          <p:attrName>ppt_x</p:attrName>
                                        </p:attrNameLst>
                                      </p:cBhvr>
                                      <p:tavLst>
                                        <p:tav tm="0">
                                          <p:val>
                                            <p:strVal val="#ppt_x"/>
                                          </p:val>
                                        </p:tav>
                                        <p:tav tm="100000">
                                          <p:val>
                                            <p:strVal val="#ppt_x"/>
                                          </p:val>
                                        </p:tav>
                                      </p:tavLst>
                                    </p:anim>
                                    <p:anim calcmode="lin" valueType="num">
                                      <p:cBhvr additive="base">
                                        <p:cTn id="112" dur="500" fill="hold"/>
                                        <p:tgtEl>
                                          <p:spTgt spid="27"/>
                                        </p:tgtEl>
                                        <p:attrNameLst>
                                          <p:attrName>ppt_y</p:attrName>
                                        </p:attrNameLst>
                                      </p:cBhvr>
                                      <p:tavLst>
                                        <p:tav tm="0">
                                          <p:val>
                                            <p:strVal val="#ppt_y+.06"/>
                                          </p:val>
                                        </p:tav>
                                        <p:tav tm="100000">
                                          <p:val>
                                            <p:strVal val="#ppt_y"/>
                                          </p:val>
                                        </p:tav>
                                      </p:tavLst>
                                    </p:anim>
                                  </p:childTnLst>
                                </p:cTn>
                              </p:par>
                              <p:par>
                                <p:cTn id="113" presetID="42" presetClass="entr" presetSubtype="0" fill="hold" grpId="0" nodeType="withEffect">
                                  <p:stCondLst>
                                    <p:cond delay="899"/>
                                  </p:stCondLst>
                                  <p:childTnLst>
                                    <p:set>
                                      <p:cBhvr>
                                        <p:cTn id="114" dur="1" fill="hold">
                                          <p:stCondLst>
                                            <p:cond delay="0"/>
                                          </p:stCondLst>
                                        </p:cTn>
                                        <p:tgtEl>
                                          <p:spTgt spid="28"/>
                                        </p:tgtEl>
                                        <p:attrNameLst>
                                          <p:attrName>style.visibility</p:attrName>
                                        </p:attrNameLst>
                                      </p:cBhvr>
                                      <p:to>
                                        <p:strVal val="visible"/>
                                      </p:to>
                                    </p:set>
                                    <p:animEffect transition="in" filter="fade">
                                      <p:cBhvr>
                                        <p:cTn id="115" dur="500"/>
                                        <p:tgtEl>
                                          <p:spTgt spid="28"/>
                                        </p:tgtEl>
                                      </p:cBhvr>
                                    </p:animEffect>
                                    <p:anim calcmode="lin" valueType="num">
                                      <p:cBhvr additive="base">
                                        <p:cTn id="116" dur="500" fill="hold"/>
                                        <p:tgtEl>
                                          <p:spTgt spid="28"/>
                                        </p:tgtEl>
                                        <p:attrNameLst>
                                          <p:attrName>ppt_x</p:attrName>
                                        </p:attrNameLst>
                                      </p:cBhvr>
                                      <p:tavLst>
                                        <p:tav tm="0">
                                          <p:val>
                                            <p:strVal val="#ppt_x"/>
                                          </p:val>
                                        </p:tav>
                                        <p:tav tm="100000">
                                          <p:val>
                                            <p:strVal val="#ppt_x"/>
                                          </p:val>
                                        </p:tav>
                                      </p:tavLst>
                                    </p:anim>
                                    <p:anim calcmode="lin" valueType="num">
                                      <p:cBhvr additive="base">
                                        <p:cTn id="117" dur="500" fill="hold"/>
                                        <p:tgtEl>
                                          <p:spTgt spid="28"/>
                                        </p:tgtEl>
                                        <p:attrNameLst>
                                          <p:attrName>ppt_y</p:attrName>
                                        </p:attrNameLst>
                                      </p:cBhvr>
                                      <p:tavLst>
                                        <p:tav tm="0">
                                          <p:val>
                                            <p:strVal val="#ppt_y+.06"/>
                                          </p:val>
                                        </p:tav>
                                        <p:tav tm="100000">
                                          <p:val>
                                            <p:strVal val="#ppt_y"/>
                                          </p:val>
                                        </p:tav>
                                      </p:tavLst>
                                    </p:anim>
                                  </p:childTnLst>
                                </p:cTn>
                              </p:par>
                              <p:par>
                                <p:cTn id="118" presetID="42" presetClass="entr" presetSubtype="0" fill="hold" grpId="0" nodeType="withEffect">
                                  <p:stCondLst>
                                    <p:cond delay="899"/>
                                  </p:stCondLst>
                                  <p:childTnLst>
                                    <p:set>
                                      <p:cBhvr>
                                        <p:cTn id="119" dur="1" fill="hold">
                                          <p:stCondLst>
                                            <p:cond delay="0"/>
                                          </p:stCondLst>
                                        </p:cTn>
                                        <p:tgtEl>
                                          <p:spTgt spid="29"/>
                                        </p:tgtEl>
                                        <p:attrNameLst>
                                          <p:attrName>style.visibility</p:attrName>
                                        </p:attrNameLst>
                                      </p:cBhvr>
                                      <p:to>
                                        <p:strVal val="visible"/>
                                      </p:to>
                                    </p:set>
                                    <p:animEffect transition="in" filter="fade">
                                      <p:cBhvr>
                                        <p:cTn id="120" dur="500"/>
                                        <p:tgtEl>
                                          <p:spTgt spid="29"/>
                                        </p:tgtEl>
                                      </p:cBhvr>
                                    </p:animEffect>
                                    <p:anim calcmode="lin" valueType="num">
                                      <p:cBhvr additive="base">
                                        <p:cTn id="121" dur="500" fill="hold"/>
                                        <p:tgtEl>
                                          <p:spTgt spid="29"/>
                                        </p:tgtEl>
                                        <p:attrNameLst>
                                          <p:attrName>ppt_x</p:attrName>
                                        </p:attrNameLst>
                                      </p:cBhvr>
                                      <p:tavLst>
                                        <p:tav tm="0">
                                          <p:val>
                                            <p:strVal val="#ppt_x"/>
                                          </p:val>
                                        </p:tav>
                                        <p:tav tm="100000">
                                          <p:val>
                                            <p:strVal val="#ppt_x"/>
                                          </p:val>
                                        </p:tav>
                                      </p:tavLst>
                                    </p:anim>
                                    <p:anim calcmode="lin" valueType="num">
                                      <p:cBhvr additive="base">
                                        <p:cTn id="122" dur="500" fill="hold"/>
                                        <p:tgtEl>
                                          <p:spTgt spid="2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8" grpId="0" animBg="1"/>
      <p:bldP spid="29"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1A5E"/>
        </a:solidFill>
        <a:effectLst/>
      </p:bgPr>
    </p:bg>
    <p:spTree>
      <p:nvGrpSpPr>
        <p:cNvPr id="1" name=""/>
        <p:cNvGrpSpPr/>
        <p:nvPr/>
      </p:nvGrpSpPr>
      <p:grpSpPr/>
      <p:pic>
        <p:nvPicPr>
          <p:cNvPr id="2" name="!!bg" descr="dark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4"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FFFFFF"/>
                </a:solidFill>
                <a:latin typeface="Lexend Exa"/>
                <a:ea typeface="Lexend Exa"/>
                <a:cs typeface="Lexend Exa"/>
              </a:rPr>
              <a:t>KIẾN TẠO</a:t>
            </a:r>
          </a:p>
        </p:txBody>
      </p:sp>
      <p:sp>
        <p:nvSpPr>
          <p:cNvPr id="5" name="!!tag"/>
          <p:cNvSpPr/>
          <p:nvPr/>
        </p:nvSpPr>
        <p:spPr>
          <a:xfrm>
            <a:off x="548640" y="292608"/>
            <a:ext cx="1567755" cy="329184"/>
          </a:xfrm>
          <a:prstGeom prst="roundRect">
            <a:avLst>
              <a:gd name="adj" fmla="val 50000"/>
            </a:avLst>
          </a:prstGeom>
          <a:solidFill>
            <a:srgbClr val="FFFFFF"/>
          </a:solidFill>
          <a:ln w="9525">
            <a:solidFill>
              <a:srgbClr val="D5DEEE"/>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02</a:t>
            </a:r>
          </a:p>
        </p:txBody>
      </p:sp>
      <p:sp>
        <p:nvSpPr>
          <p:cNvPr id="7" name="!!tag_text"/>
          <p:cNvSpPr txBox="1"/>
          <p:nvPr/>
        </p:nvSpPr>
        <p:spPr>
          <a:xfrm>
            <a:off x="896112" y="292608"/>
            <a:ext cx="1201995" cy="329184"/>
          </a:xfrm>
          <a:prstGeom prst="rect">
            <a:avLst/>
          </a:prstGeom>
          <a:noFill/>
        </p:spPr>
        <p:txBody>
          <a:bodyPr wrap="square" lIns="0" rIns="0" tIns="0" bIns="0" anchor="ctr">
            <a:noAutofit/>
          </a:bodyPr>
          <a:lstStyle/>
          <a:p>
            <a:pPr algn="l"/>
            <a:r>
              <a:rPr sz="900" b="0" i="0" spc="100">
                <a:solidFill>
                  <a:srgbClr val="0B1F4D"/>
                </a:solidFill>
                <a:latin typeface="Be Vietnam Pro SemiBold"/>
                <a:ea typeface="Be Vietnam Pro SemiBold"/>
                <a:cs typeface="Be Vietnam Pro SemiBold"/>
              </a:rPr>
              <a:t>ĐỊNH HƯỚNG</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FFFFFF"/>
                </a:solidFill>
                <a:latin typeface="Lexend Exa"/>
                <a:ea typeface="Lexend Exa"/>
                <a:cs typeface="Lexend Exa"/>
              </a:rPr>
              <a:t>LĨNH VỰC HOẠT ĐỘNG</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DCE6FF"/>
                </a:solidFill>
                <a:latin typeface="Be Vietnam Pro"/>
                <a:ea typeface="Be Vietnam Pro"/>
                <a:cs typeface="Be Vietnam Pro"/>
              </a:rPr>
              <a:t>Giải pháp trọn gói cho mọi loại hình công trình</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DCE6FF"/>
                </a:solidFill>
                <a:latin typeface="Be Vietnam Pro SemiBold"/>
                <a:ea typeface="Be Vietnam Pro SemiBold"/>
                <a:cs typeface="Be Vietnam Pro SemiBold"/>
              </a:rPr>
              <a:t>10</a:t>
            </a:r>
          </a:p>
        </p:txBody>
      </p:sp>
      <p:pic>
        <p:nvPicPr>
          <p:cNvPr id="11" name="!!ph1" descr="8136be3c35a958a0.jpg"/>
          <p:cNvPicPr>
            <a:picLocks noChangeAspect="1"/>
          </p:cNvPicPr>
          <p:nvPr/>
        </p:nvPicPr>
        <p:blipFill>
          <a:blip r:embed="rId4"/>
          <a:srcRect t="5749" b="25749"/>
          <a:stretch>
            <a:fillRect/>
          </a:stretch>
        </p:blipFill>
        <p:spPr>
          <a:xfrm>
            <a:off x="7315200" y="1600200"/>
            <a:ext cx="4327855" cy="4572000"/>
          </a:xfrm>
          <a:prstGeom prst="roundRect">
            <a:avLst>
              <a:gd name="adj" fmla="val 3380"/>
            </a:avLst>
          </a:prstGeom>
          <a:effectLst>
            <a:outerShdw blurRad="274320" dist="73152" dir="5400000" algn="ctr" rotWithShape="0">
              <a:srgbClr val="0B1F4D">
                <a:alpha val="22000"/>
              </a:srgbClr>
            </a:outerShdw>
          </a:effectLst>
        </p:spPr>
      </p:pic>
      <p:sp>
        <p:nvSpPr>
          <p:cNvPr id="12" name="Rounded Rectangle 11"/>
          <p:cNvSpPr/>
          <p:nvPr/>
        </p:nvSpPr>
        <p:spPr>
          <a:xfrm>
            <a:off x="548640" y="1600200"/>
            <a:ext cx="6492240" cy="804672"/>
          </a:xfrm>
          <a:prstGeom prst="roundRect">
            <a:avLst>
              <a:gd name="adj" fmla="val 1363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Rectangle 12"/>
          <p:cNvSpPr/>
          <p:nvPr/>
        </p:nvSpPr>
        <p:spPr>
          <a:xfrm>
            <a:off x="548640" y="1600200"/>
            <a:ext cx="91440" cy="804672"/>
          </a:xfrm>
          <a:prstGeom prst="rect">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Oval 13"/>
          <p:cNvSpPr/>
          <p:nvPr/>
        </p:nvSpPr>
        <p:spPr>
          <a:xfrm>
            <a:off x="859536" y="1764792"/>
            <a:ext cx="475488" cy="475488"/>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building-2_FFFFFF.png"/>
          <p:cNvPicPr>
            <a:picLocks noChangeAspect="1"/>
          </p:cNvPicPr>
          <p:nvPr/>
        </p:nvPicPr>
        <p:blipFill>
          <a:blip r:embed="rId5"/>
          <a:stretch>
            <a:fillRect/>
          </a:stretch>
        </p:blipFill>
        <p:spPr>
          <a:xfrm>
            <a:off x="973653" y="1878909"/>
            <a:ext cx="247254" cy="247254"/>
          </a:xfrm>
          <a:prstGeom prst="rect">
            <a:avLst/>
          </a:prstGeom>
        </p:spPr>
      </p:pic>
      <p:sp>
        <p:nvSpPr>
          <p:cNvPr id="16" name="TextBox 15"/>
          <p:cNvSpPr txBox="1"/>
          <p:nvPr/>
        </p:nvSpPr>
        <p:spPr>
          <a:xfrm>
            <a:off x="1508760" y="1655064"/>
            <a:ext cx="5394960" cy="347472"/>
          </a:xfrm>
          <a:prstGeom prst="rect">
            <a:avLst/>
          </a:prstGeom>
          <a:noFill/>
        </p:spPr>
        <p:txBody>
          <a:bodyPr wrap="square" lIns="0" rIns="0" tIns="0" bIns="0" anchor="ctr">
            <a:noAutofit/>
          </a:bodyPr>
          <a:lstStyle/>
          <a:p>
            <a:pPr algn="l"/>
            <a:r>
              <a:rPr sz="1300" b="1" i="0">
                <a:solidFill>
                  <a:srgbClr val="0B1F4D"/>
                </a:solidFill>
                <a:latin typeface="Be Vietnam Pro"/>
                <a:ea typeface="Be Vietnam Pro"/>
                <a:cs typeface="Be Vietnam Pro"/>
              </a:rPr>
              <a:t>Tổng thầu thiết kế &amp; thi công (D&amp;B)</a:t>
            </a:r>
          </a:p>
        </p:txBody>
      </p:sp>
      <p:sp>
        <p:nvSpPr>
          <p:cNvPr id="17" name="TextBox 16"/>
          <p:cNvSpPr txBox="1"/>
          <p:nvPr/>
        </p:nvSpPr>
        <p:spPr>
          <a:xfrm>
            <a:off x="1508760" y="1984248"/>
            <a:ext cx="5394960" cy="393192"/>
          </a:xfrm>
          <a:prstGeom prst="rect">
            <a:avLst/>
          </a:prstGeom>
          <a:noFill/>
        </p:spPr>
        <p:txBody>
          <a:bodyPr wrap="square" lIns="0" rIns="0" tIns="0" bIns="0" anchor="t">
            <a:noAutofit/>
          </a:bodyPr>
          <a:lstStyle/>
          <a:p>
            <a:pPr algn="l">
              <a:lnSpc>
                <a:spcPct val="110000"/>
              </a:lnSpc>
            </a:pPr>
            <a:r>
              <a:rPr sz="1050" b="0" i="0">
                <a:solidFill>
                  <a:srgbClr val="4A5878"/>
                </a:solidFill>
                <a:latin typeface="Be Vietnam Pro"/>
                <a:ea typeface="Be Vietnam Pro"/>
                <a:cs typeface="Be Vietnam Pro"/>
              </a:rPr>
              <a:t>Cao ốc văn phòng, khách sạn, căn hộ, trung tâm thương mại.</a:t>
            </a:r>
          </a:p>
        </p:txBody>
      </p:sp>
      <p:sp>
        <p:nvSpPr>
          <p:cNvPr id="18" name="Rounded Rectangle 17"/>
          <p:cNvSpPr/>
          <p:nvPr/>
        </p:nvSpPr>
        <p:spPr>
          <a:xfrm>
            <a:off x="548640" y="2542032"/>
            <a:ext cx="6492240" cy="804672"/>
          </a:xfrm>
          <a:prstGeom prst="roundRect">
            <a:avLst>
              <a:gd name="adj" fmla="val 1363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Rectangle 18"/>
          <p:cNvSpPr/>
          <p:nvPr/>
        </p:nvSpPr>
        <p:spPr>
          <a:xfrm>
            <a:off x="548640" y="2542032"/>
            <a:ext cx="91440" cy="804672"/>
          </a:xfrm>
          <a:prstGeom prst="rect">
            <a:avLst/>
          </a:prstGeom>
          <a:solidFill>
            <a:srgbClr val="3FA9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0" name="Oval 19"/>
          <p:cNvSpPr/>
          <p:nvPr/>
        </p:nvSpPr>
        <p:spPr>
          <a:xfrm>
            <a:off x="859536" y="2706624"/>
            <a:ext cx="475488" cy="475488"/>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factory_FFFFFF.png"/>
          <p:cNvPicPr>
            <a:picLocks noChangeAspect="1"/>
          </p:cNvPicPr>
          <p:nvPr/>
        </p:nvPicPr>
        <p:blipFill>
          <a:blip r:embed="rId6"/>
          <a:stretch>
            <a:fillRect/>
          </a:stretch>
        </p:blipFill>
        <p:spPr>
          <a:xfrm>
            <a:off x="973653" y="2820741"/>
            <a:ext cx="247254" cy="247254"/>
          </a:xfrm>
          <a:prstGeom prst="rect">
            <a:avLst/>
          </a:prstGeom>
        </p:spPr>
      </p:pic>
      <p:sp>
        <p:nvSpPr>
          <p:cNvPr id="22" name="TextBox 21"/>
          <p:cNvSpPr txBox="1"/>
          <p:nvPr/>
        </p:nvSpPr>
        <p:spPr>
          <a:xfrm>
            <a:off x="1508760" y="2596896"/>
            <a:ext cx="5394960" cy="347472"/>
          </a:xfrm>
          <a:prstGeom prst="rect">
            <a:avLst/>
          </a:prstGeom>
          <a:noFill/>
        </p:spPr>
        <p:txBody>
          <a:bodyPr wrap="square" lIns="0" rIns="0" tIns="0" bIns="0" anchor="ctr">
            <a:noAutofit/>
          </a:bodyPr>
          <a:lstStyle/>
          <a:p>
            <a:pPr algn="l"/>
            <a:r>
              <a:rPr sz="1300" b="1" i="0">
                <a:solidFill>
                  <a:srgbClr val="0B1F4D"/>
                </a:solidFill>
                <a:latin typeface="Be Vietnam Pro"/>
                <a:ea typeface="Be Vietnam Pro"/>
                <a:cs typeface="Be Vietnam Pro"/>
              </a:rPr>
              <a:t>Nhà xưởng – Công nghiệp</a:t>
            </a:r>
          </a:p>
        </p:txBody>
      </p:sp>
      <p:sp>
        <p:nvSpPr>
          <p:cNvPr id="23" name="TextBox 22"/>
          <p:cNvSpPr txBox="1"/>
          <p:nvPr/>
        </p:nvSpPr>
        <p:spPr>
          <a:xfrm>
            <a:off x="1508760" y="2926080"/>
            <a:ext cx="5394960" cy="393192"/>
          </a:xfrm>
          <a:prstGeom prst="rect">
            <a:avLst/>
          </a:prstGeom>
          <a:noFill/>
        </p:spPr>
        <p:txBody>
          <a:bodyPr wrap="square" lIns="0" rIns="0" tIns="0" bIns="0" anchor="t">
            <a:noAutofit/>
          </a:bodyPr>
          <a:lstStyle/>
          <a:p>
            <a:pPr algn="l">
              <a:lnSpc>
                <a:spcPct val="110000"/>
              </a:lnSpc>
            </a:pPr>
            <a:r>
              <a:rPr sz="1050" b="0" i="0">
                <a:solidFill>
                  <a:srgbClr val="4A5878"/>
                </a:solidFill>
                <a:latin typeface="Be Vietnam Pro"/>
                <a:ea typeface="Be Vietnam Pro"/>
                <a:cs typeface="Be Vietnam Pro"/>
              </a:rPr>
              <a:t>Nhà máy, kho vận, khu công nghiệp tiêu chuẩn quốc tế.</a:t>
            </a:r>
          </a:p>
        </p:txBody>
      </p:sp>
      <p:sp>
        <p:nvSpPr>
          <p:cNvPr id="24" name="Rounded Rectangle 23"/>
          <p:cNvSpPr/>
          <p:nvPr/>
        </p:nvSpPr>
        <p:spPr>
          <a:xfrm>
            <a:off x="548640" y="3483864"/>
            <a:ext cx="6492240" cy="804672"/>
          </a:xfrm>
          <a:prstGeom prst="roundRect">
            <a:avLst>
              <a:gd name="adj" fmla="val 1363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Rectangle 24"/>
          <p:cNvSpPr/>
          <p:nvPr/>
        </p:nvSpPr>
        <p:spPr>
          <a:xfrm>
            <a:off x="548640" y="3483864"/>
            <a:ext cx="91440" cy="804672"/>
          </a:xfrm>
          <a:prstGeom prst="rect">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6" name="Oval 25"/>
          <p:cNvSpPr/>
          <p:nvPr/>
        </p:nvSpPr>
        <p:spPr>
          <a:xfrm>
            <a:off x="859536" y="3648456"/>
            <a:ext cx="475488" cy="475488"/>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route_FFFFFF.png"/>
          <p:cNvPicPr>
            <a:picLocks noChangeAspect="1"/>
          </p:cNvPicPr>
          <p:nvPr/>
        </p:nvPicPr>
        <p:blipFill>
          <a:blip r:embed="rId7"/>
          <a:stretch>
            <a:fillRect/>
          </a:stretch>
        </p:blipFill>
        <p:spPr>
          <a:xfrm>
            <a:off x="973653" y="3762573"/>
            <a:ext cx="247254" cy="247254"/>
          </a:xfrm>
          <a:prstGeom prst="rect">
            <a:avLst/>
          </a:prstGeom>
        </p:spPr>
      </p:pic>
      <p:sp>
        <p:nvSpPr>
          <p:cNvPr id="28" name="TextBox 27"/>
          <p:cNvSpPr txBox="1"/>
          <p:nvPr/>
        </p:nvSpPr>
        <p:spPr>
          <a:xfrm>
            <a:off x="1508760" y="3538728"/>
            <a:ext cx="5394960" cy="347472"/>
          </a:xfrm>
          <a:prstGeom prst="rect">
            <a:avLst/>
          </a:prstGeom>
          <a:noFill/>
        </p:spPr>
        <p:txBody>
          <a:bodyPr wrap="square" lIns="0" rIns="0" tIns="0" bIns="0" anchor="ctr">
            <a:noAutofit/>
          </a:bodyPr>
          <a:lstStyle/>
          <a:p>
            <a:pPr algn="l"/>
            <a:r>
              <a:rPr sz="1300" b="1" i="0">
                <a:solidFill>
                  <a:srgbClr val="0B1F4D"/>
                </a:solidFill>
                <a:latin typeface="Be Vietnam Pro"/>
                <a:ea typeface="Be Vietnam Pro"/>
                <a:cs typeface="Be Vietnam Pro"/>
              </a:rPr>
              <a:t>Hạ tầng – Giao thông</a:t>
            </a:r>
          </a:p>
        </p:txBody>
      </p:sp>
      <p:sp>
        <p:nvSpPr>
          <p:cNvPr id="29" name="TextBox 28"/>
          <p:cNvSpPr txBox="1"/>
          <p:nvPr/>
        </p:nvSpPr>
        <p:spPr>
          <a:xfrm>
            <a:off x="1508760" y="3867912"/>
            <a:ext cx="5394960" cy="393192"/>
          </a:xfrm>
          <a:prstGeom prst="rect">
            <a:avLst/>
          </a:prstGeom>
          <a:noFill/>
        </p:spPr>
        <p:txBody>
          <a:bodyPr wrap="square" lIns="0" rIns="0" tIns="0" bIns="0" anchor="t">
            <a:noAutofit/>
          </a:bodyPr>
          <a:lstStyle/>
          <a:p>
            <a:pPr algn="l">
              <a:lnSpc>
                <a:spcPct val="110000"/>
              </a:lnSpc>
            </a:pPr>
            <a:r>
              <a:rPr sz="1050" b="0" i="0">
                <a:solidFill>
                  <a:srgbClr val="4A5878"/>
                </a:solidFill>
                <a:latin typeface="Be Vietnam Pro"/>
                <a:ea typeface="Be Vietnam Pro"/>
                <a:cs typeface="Be Vietnam Pro"/>
              </a:rPr>
              <a:t>Cầu đường, hạ tầng kỹ thuật khu đô thị.</a:t>
            </a:r>
          </a:p>
        </p:txBody>
      </p:sp>
      <p:sp>
        <p:nvSpPr>
          <p:cNvPr id="30" name="Rounded Rectangle 29"/>
          <p:cNvSpPr/>
          <p:nvPr/>
        </p:nvSpPr>
        <p:spPr>
          <a:xfrm>
            <a:off x="548640" y="4425696"/>
            <a:ext cx="6492240" cy="804672"/>
          </a:xfrm>
          <a:prstGeom prst="roundRect">
            <a:avLst>
              <a:gd name="adj" fmla="val 1363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1" name="Rectangle 30"/>
          <p:cNvSpPr/>
          <p:nvPr/>
        </p:nvSpPr>
        <p:spPr>
          <a:xfrm>
            <a:off x="548640" y="4425696"/>
            <a:ext cx="91440" cy="804672"/>
          </a:xfrm>
          <a:prstGeom prst="rect">
            <a:avLst/>
          </a:prstGeom>
          <a:solidFill>
            <a:srgbClr val="3FA9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2" name="Oval 31"/>
          <p:cNvSpPr/>
          <p:nvPr/>
        </p:nvSpPr>
        <p:spPr>
          <a:xfrm>
            <a:off x="859536" y="4590288"/>
            <a:ext cx="475488" cy="475488"/>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3" name="Picture 32" descr="zap_FFFFFF.png"/>
          <p:cNvPicPr>
            <a:picLocks noChangeAspect="1"/>
          </p:cNvPicPr>
          <p:nvPr/>
        </p:nvPicPr>
        <p:blipFill>
          <a:blip r:embed="rId8"/>
          <a:stretch>
            <a:fillRect/>
          </a:stretch>
        </p:blipFill>
        <p:spPr>
          <a:xfrm>
            <a:off x="973653" y="4704405"/>
            <a:ext cx="247254" cy="247254"/>
          </a:xfrm>
          <a:prstGeom prst="rect">
            <a:avLst/>
          </a:prstGeom>
        </p:spPr>
      </p:pic>
      <p:sp>
        <p:nvSpPr>
          <p:cNvPr id="34" name="TextBox 33"/>
          <p:cNvSpPr txBox="1"/>
          <p:nvPr/>
        </p:nvSpPr>
        <p:spPr>
          <a:xfrm>
            <a:off x="1508760" y="4480560"/>
            <a:ext cx="5394960" cy="347472"/>
          </a:xfrm>
          <a:prstGeom prst="rect">
            <a:avLst/>
          </a:prstGeom>
          <a:noFill/>
        </p:spPr>
        <p:txBody>
          <a:bodyPr wrap="square" lIns="0" rIns="0" tIns="0" bIns="0" anchor="ctr">
            <a:noAutofit/>
          </a:bodyPr>
          <a:lstStyle/>
          <a:p>
            <a:pPr algn="l"/>
            <a:r>
              <a:rPr sz="1300" b="1" i="0">
                <a:solidFill>
                  <a:srgbClr val="0B1F4D"/>
                </a:solidFill>
                <a:latin typeface="Be Vietnam Pro"/>
                <a:ea typeface="Be Vietnam Pro"/>
                <a:cs typeface="Be Vietnam Pro"/>
              </a:rPr>
              <a:t>Cơ điện – MEP</a:t>
            </a:r>
          </a:p>
        </p:txBody>
      </p:sp>
      <p:sp>
        <p:nvSpPr>
          <p:cNvPr id="35" name="TextBox 34"/>
          <p:cNvSpPr txBox="1"/>
          <p:nvPr/>
        </p:nvSpPr>
        <p:spPr>
          <a:xfrm>
            <a:off x="1508760" y="4809744"/>
            <a:ext cx="5394960" cy="393192"/>
          </a:xfrm>
          <a:prstGeom prst="rect">
            <a:avLst/>
          </a:prstGeom>
          <a:noFill/>
        </p:spPr>
        <p:txBody>
          <a:bodyPr wrap="square" lIns="0" rIns="0" tIns="0" bIns="0" anchor="t">
            <a:noAutofit/>
          </a:bodyPr>
          <a:lstStyle/>
          <a:p>
            <a:pPr algn="l">
              <a:lnSpc>
                <a:spcPct val="110000"/>
              </a:lnSpc>
            </a:pPr>
            <a:r>
              <a:rPr sz="1050" b="0" i="0">
                <a:solidFill>
                  <a:srgbClr val="4A5878"/>
                </a:solidFill>
                <a:latin typeface="Be Vietnam Pro"/>
                <a:ea typeface="Be Vietnam Pro"/>
                <a:cs typeface="Be Vietnam Pro"/>
              </a:rPr>
              <a:t>Hệ thống điện, điều hòa, cấp thoát nước, PCCC.</a:t>
            </a:r>
          </a:p>
        </p:txBody>
      </p:sp>
      <p:sp>
        <p:nvSpPr>
          <p:cNvPr id="36" name="Rounded Rectangle 35"/>
          <p:cNvSpPr/>
          <p:nvPr/>
        </p:nvSpPr>
        <p:spPr>
          <a:xfrm>
            <a:off x="548640" y="5367528"/>
            <a:ext cx="6492240" cy="804672"/>
          </a:xfrm>
          <a:prstGeom prst="roundRect">
            <a:avLst>
              <a:gd name="adj" fmla="val 1363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7" name="Rectangle 36"/>
          <p:cNvSpPr/>
          <p:nvPr/>
        </p:nvSpPr>
        <p:spPr>
          <a:xfrm>
            <a:off x="548640" y="5367528"/>
            <a:ext cx="91440" cy="804672"/>
          </a:xfrm>
          <a:prstGeom prst="rect">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8" name="Oval 37"/>
          <p:cNvSpPr/>
          <p:nvPr/>
        </p:nvSpPr>
        <p:spPr>
          <a:xfrm>
            <a:off x="859536" y="5532120"/>
            <a:ext cx="475488" cy="475488"/>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9" name="Picture 38" descr="sun_FFFFFF.png"/>
          <p:cNvPicPr>
            <a:picLocks noChangeAspect="1"/>
          </p:cNvPicPr>
          <p:nvPr/>
        </p:nvPicPr>
        <p:blipFill>
          <a:blip r:embed="rId9"/>
          <a:stretch>
            <a:fillRect/>
          </a:stretch>
        </p:blipFill>
        <p:spPr>
          <a:xfrm>
            <a:off x="973653" y="5646237"/>
            <a:ext cx="247254" cy="247254"/>
          </a:xfrm>
          <a:prstGeom prst="rect">
            <a:avLst/>
          </a:prstGeom>
        </p:spPr>
      </p:pic>
      <p:sp>
        <p:nvSpPr>
          <p:cNvPr id="40" name="TextBox 39"/>
          <p:cNvSpPr txBox="1"/>
          <p:nvPr/>
        </p:nvSpPr>
        <p:spPr>
          <a:xfrm>
            <a:off x="1508760" y="5422392"/>
            <a:ext cx="5394960" cy="347472"/>
          </a:xfrm>
          <a:prstGeom prst="rect">
            <a:avLst/>
          </a:prstGeom>
          <a:noFill/>
        </p:spPr>
        <p:txBody>
          <a:bodyPr wrap="square" lIns="0" rIns="0" tIns="0" bIns="0" anchor="ctr">
            <a:noAutofit/>
          </a:bodyPr>
          <a:lstStyle/>
          <a:p>
            <a:pPr algn="l"/>
            <a:r>
              <a:rPr sz="1300" b="1" i="0">
                <a:solidFill>
                  <a:srgbClr val="0B1F4D"/>
                </a:solidFill>
                <a:latin typeface="Be Vietnam Pro"/>
                <a:ea typeface="Be Vietnam Pro"/>
                <a:cs typeface="Be Vietnam Pro"/>
              </a:rPr>
              <a:t>Năng lượng tái tạo</a:t>
            </a:r>
          </a:p>
        </p:txBody>
      </p:sp>
      <p:sp>
        <p:nvSpPr>
          <p:cNvPr id="41" name="TextBox 40"/>
          <p:cNvSpPr txBox="1"/>
          <p:nvPr/>
        </p:nvSpPr>
        <p:spPr>
          <a:xfrm>
            <a:off x="1508760" y="5751576"/>
            <a:ext cx="5394960" cy="393192"/>
          </a:xfrm>
          <a:prstGeom prst="rect">
            <a:avLst/>
          </a:prstGeom>
          <a:noFill/>
        </p:spPr>
        <p:txBody>
          <a:bodyPr wrap="square" lIns="0" rIns="0" tIns="0" bIns="0" anchor="t">
            <a:noAutofit/>
          </a:bodyPr>
          <a:lstStyle/>
          <a:p>
            <a:pPr algn="l">
              <a:lnSpc>
                <a:spcPct val="110000"/>
              </a:lnSpc>
            </a:pPr>
            <a:r>
              <a:rPr sz="1050" b="0" i="0">
                <a:solidFill>
                  <a:srgbClr val="4A5878"/>
                </a:solidFill>
                <a:latin typeface="Be Vietnam Pro"/>
                <a:ea typeface="Be Vietnam Pro"/>
                <a:cs typeface="Be Vietnam Pro"/>
              </a:rPr>
              <a:t>Điện mặt trời áp mái, điện gió, lưu trữ năng lượng.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2" presetClass="entr" presetSubtype="2" fill="hold" grpId="0" nodeType="withEffect">
                                  <p:stCondLst>
                                    <p:cond delay="20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00" fill="hold"/>
                                        <p:tgtEl>
                                          <p:spTgt spid="11"/>
                                        </p:tgtEl>
                                        <p:attrNameLst>
                                          <p:attrName>ppt_x</p:attrName>
                                        </p:attrNameLst>
                                      </p:cBhvr>
                                      <p:tavLst>
                                        <p:tav tm="0">
                                          <p:val>
                                            <p:strVal val="1+#ppt_w/2"/>
                                          </p:val>
                                        </p:tav>
                                        <p:tav tm="100000">
                                          <p:val>
                                            <p:strVal val="#ppt_x"/>
                                          </p:val>
                                        </p:tav>
                                      </p:tavLst>
                                    </p:anim>
                                    <p:anim calcmode="lin" valueType="num">
                                      <p:cBhvr additive="base">
                                        <p:cTn id="23" dur="700" fill="hold"/>
                                        <p:tgtEl>
                                          <p:spTgt spid="11"/>
                                        </p:tgtEl>
                                        <p:attrNameLst>
                                          <p:attrName>ppt_y</p:attrName>
                                        </p:attrNameLst>
                                      </p:cBhvr>
                                      <p:tavLst>
                                        <p:tav tm="0">
                                          <p:val>
                                            <p:strVal val="#ppt_y"/>
                                          </p:val>
                                        </p:tav>
                                        <p:tav tm="100000">
                                          <p:val>
                                            <p:strVal val="#ppt_y"/>
                                          </p:val>
                                        </p:tav>
                                      </p:tavLst>
                                    </p:anim>
                                  </p:childTnLst>
                                </p:cTn>
                              </p:par>
                              <p:par>
                                <p:cTn id="24" presetID="10" presetClass="entr" presetSubtype="0" fill="hold" grpId="0" nodeType="withEffect">
                                  <p:stCondLst>
                                    <p:cond delay="2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400"/>
                                        <p:tgtEl>
                                          <p:spTgt spid="8"/>
                                        </p:tgtEl>
                                      </p:cBhvr>
                                    </p:animEffect>
                                  </p:childTnLst>
                                </p:cTn>
                              </p:par>
                              <p:par>
                                <p:cTn id="27" presetID="10" presetClass="entr" presetSubtype="0" fill="hold" grpId="0" nodeType="withEffect">
                                  <p:stCondLst>
                                    <p:cond delay="3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00"/>
                                        <p:tgtEl>
                                          <p:spTgt spid="9"/>
                                        </p:tgtEl>
                                      </p:cBhvr>
                                    </p:animEffect>
                                  </p:childTnLst>
                                </p:cTn>
                              </p:par>
                              <p:par>
                                <p:cTn id="30" presetID="10" presetClass="entr" presetSubtype="0" fill="hold" grpId="0" nodeType="withEffect">
                                  <p:stCondLst>
                                    <p:cond delay="3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00"/>
                                        <p:tgtEl>
                                          <p:spTgt spid="10"/>
                                        </p:tgtEl>
                                      </p:cBhvr>
                                    </p:animEffect>
                                  </p:childTnLst>
                                </p:cTn>
                              </p:par>
                              <p:par>
                                <p:cTn id="33" presetID="2" presetClass="entr" presetSubtype="8" fill="hold" grpId="0" nodeType="withEffect">
                                  <p:stCondLst>
                                    <p:cond delay="40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450" fill="hold"/>
                                        <p:tgtEl>
                                          <p:spTgt spid="12"/>
                                        </p:tgtEl>
                                        <p:attrNameLst>
                                          <p:attrName>ppt_x</p:attrName>
                                        </p:attrNameLst>
                                      </p:cBhvr>
                                      <p:tavLst>
                                        <p:tav tm="0">
                                          <p:val>
                                            <p:strVal val="0-#ppt_w/2"/>
                                          </p:val>
                                        </p:tav>
                                        <p:tav tm="100000">
                                          <p:val>
                                            <p:strVal val="#ppt_x"/>
                                          </p:val>
                                        </p:tav>
                                      </p:tavLst>
                                    </p:anim>
                                    <p:anim calcmode="lin" valueType="num">
                                      <p:cBhvr additive="base">
                                        <p:cTn id="36" dur="450" fill="hold"/>
                                        <p:tgtEl>
                                          <p:spTgt spid="12"/>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40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450" fill="hold"/>
                                        <p:tgtEl>
                                          <p:spTgt spid="13"/>
                                        </p:tgtEl>
                                        <p:attrNameLst>
                                          <p:attrName>ppt_x</p:attrName>
                                        </p:attrNameLst>
                                      </p:cBhvr>
                                      <p:tavLst>
                                        <p:tav tm="0">
                                          <p:val>
                                            <p:strVal val="0-#ppt_w/2"/>
                                          </p:val>
                                        </p:tav>
                                        <p:tav tm="100000">
                                          <p:val>
                                            <p:strVal val="#ppt_x"/>
                                          </p:val>
                                        </p:tav>
                                      </p:tavLst>
                                    </p:anim>
                                    <p:anim calcmode="lin" valueType="num">
                                      <p:cBhvr additive="base">
                                        <p:cTn id="40" dur="450" fill="hold"/>
                                        <p:tgtEl>
                                          <p:spTgt spid="13"/>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40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450" fill="hold"/>
                                        <p:tgtEl>
                                          <p:spTgt spid="14"/>
                                        </p:tgtEl>
                                        <p:attrNameLst>
                                          <p:attrName>ppt_x</p:attrName>
                                        </p:attrNameLst>
                                      </p:cBhvr>
                                      <p:tavLst>
                                        <p:tav tm="0">
                                          <p:val>
                                            <p:strVal val="0-#ppt_w/2"/>
                                          </p:val>
                                        </p:tav>
                                        <p:tav tm="100000">
                                          <p:val>
                                            <p:strVal val="#ppt_x"/>
                                          </p:val>
                                        </p:tav>
                                      </p:tavLst>
                                    </p:anim>
                                    <p:anim calcmode="lin" valueType="num">
                                      <p:cBhvr additive="base">
                                        <p:cTn id="44" dur="450" fill="hold"/>
                                        <p:tgtEl>
                                          <p:spTgt spid="14"/>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40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450" fill="hold"/>
                                        <p:tgtEl>
                                          <p:spTgt spid="15"/>
                                        </p:tgtEl>
                                        <p:attrNameLst>
                                          <p:attrName>ppt_x</p:attrName>
                                        </p:attrNameLst>
                                      </p:cBhvr>
                                      <p:tavLst>
                                        <p:tav tm="0">
                                          <p:val>
                                            <p:strVal val="0-#ppt_w/2"/>
                                          </p:val>
                                        </p:tav>
                                        <p:tav tm="100000">
                                          <p:val>
                                            <p:strVal val="#ppt_x"/>
                                          </p:val>
                                        </p:tav>
                                      </p:tavLst>
                                    </p:anim>
                                    <p:anim calcmode="lin" valueType="num">
                                      <p:cBhvr additive="base">
                                        <p:cTn id="48" dur="450" fill="hold"/>
                                        <p:tgtEl>
                                          <p:spTgt spid="1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40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450" fill="hold"/>
                                        <p:tgtEl>
                                          <p:spTgt spid="16"/>
                                        </p:tgtEl>
                                        <p:attrNameLst>
                                          <p:attrName>ppt_x</p:attrName>
                                        </p:attrNameLst>
                                      </p:cBhvr>
                                      <p:tavLst>
                                        <p:tav tm="0">
                                          <p:val>
                                            <p:strVal val="0-#ppt_w/2"/>
                                          </p:val>
                                        </p:tav>
                                        <p:tav tm="100000">
                                          <p:val>
                                            <p:strVal val="#ppt_x"/>
                                          </p:val>
                                        </p:tav>
                                      </p:tavLst>
                                    </p:anim>
                                    <p:anim calcmode="lin" valueType="num">
                                      <p:cBhvr additive="base">
                                        <p:cTn id="52" dur="450" fill="hold"/>
                                        <p:tgtEl>
                                          <p:spTgt spid="16"/>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40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450" fill="hold"/>
                                        <p:tgtEl>
                                          <p:spTgt spid="17"/>
                                        </p:tgtEl>
                                        <p:attrNameLst>
                                          <p:attrName>ppt_x</p:attrName>
                                        </p:attrNameLst>
                                      </p:cBhvr>
                                      <p:tavLst>
                                        <p:tav tm="0">
                                          <p:val>
                                            <p:strVal val="0-#ppt_w/2"/>
                                          </p:val>
                                        </p:tav>
                                        <p:tav tm="100000">
                                          <p:val>
                                            <p:strVal val="#ppt_x"/>
                                          </p:val>
                                        </p:tav>
                                      </p:tavLst>
                                    </p:anim>
                                    <p:anim calcmode="lin" valueType="num">
                                      <p:cBhvr additive="base">
                                        <p:cTn id="56" dur="450" fill="hold"/>
                                        <p:tgtEl>
                                          <p:spTgt spid="17"/>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53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450" fill="hold"/>
                                        <p:tgtEl>
                                          <p:spTgt spid="18"/>
                                        </p:tgtEl>
                                        <p:attrNameLst>
                                          <p:attrName>ppt_x</p:attrName>
                                        </p:attrNameLst>
                                      </p:cBhvr>
                                      <p:tavLst>
                                        <p:tav tm="0">
                                          <p:val>
                                            <p:strVal val="0-#ppt_w/2"/>
                                          </p:val>
                                        </p:tav>
                                        <p:tav tm="100000">
                                          <p:val>
                                            <p:strVal val="#ppt_x"/>
                                          </p:val>
                                        </p:tav>
                                      </p:tavLst>
                                    </p:anim>
                                    <p:anim calcmode="lin" valueType="num">
                                      <p:cBhvr additive="base">
                                        <p:cTn id="60" dur="450" fill="hold"/>
                                        <p:tgtEl>
                                          <p:spTgt spid="18"/>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53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450" fill="hold"/>
                                        <p:tgtEl>
                                          <p:spTgt spid="19"/>
                                        </p:tgtEl>
                                        <p:attrNameLst>
                                          <p:attrName>ppt_x</p:attrName>
                                        </p:attrNameLst>
                                      </p:cBhvr>
                                      <p:tavLst>
                                        <p:tav tm="0">
                                          <p:val>
                                            <p:strVal val="0-#ppt_w/2"/>
                                          </p:val>
                                        </p:tav>
                                        <p:tav tm="100000">
                                          <p:val>
                                            <p:strVal val="#ppt_x"/>
                                          </p:val>
                                        </p:tav>
                                      </p:tavLst>
                                    </p:anim>
                                    <p:anim calcmode="lin" valueType="num">
                                      <p:cBhvr additive="base">
                                        <p:cTn id="64" dur="450" fill="hold"/>
                                        <p:tgtEl>
                                          <p:spTgt spid="19"/>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53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450" fill="hold"/>
                                        <p:tgtEl>
                                          <p:spTgt spid="20"/>
                                        </p:tgtEl>
                                        <p:attrNameLst>
                                          <p:attrName>ppt_x</p:attrName>
                                        </p:attrNameLst>
                                      </p:cBhvr>
                                      <p:tavLst>
                                        <p:tav tm="0">
                                          <p:val>
                                            <p:strVal val="0-#ppt_w/2"/>
                                          </p:val>
                                        </p:tav>
                                        <p:tav tm="100000">
                                          <p:val>
                                            <p:strVal val="#ppt_x"/>
                                          </p:val>
                                        </p:tav>
                                      </p:tavLst>
                                    </p:anim>
                                    <p:anim calcmode="lin" valueType="num">
                                      <p:cBhvr additive="base">
                                        <p:cTn id="68" dur="450" fill="hold"/>
                                        <p:tgtEl>
                                          <p:spTgt spid="20"/>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53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450" fill="hold"/>
                                        <p:tgtEl>
                                          <p:spTgt spid="21"/>
                                        </p:tgtEl>
                                        <p:attrNameLst>
                                          <p:attrName>ppt_x</p:attrName>
                                        </p:attrNameLst>
                                      </p:cBhvr>
                                      <p:tavLst>
                                        <p:tav tm="0">
                                          <p:val>
                                            <p:strVal val="0-#ppt_w/2"/>
                                          </p:val>
                                        </p:tav>
                                        <p:tav tm="100000">
                                          <p:val>
                                            <p:strVal val="#ppt_x"/>
                                          </p:val>
                                        </p:tav>
                                      </p:tavLst>
                                    </p:anim>
                                    <p:anim calcmode="lin" valueType="num">
                                      <p:cBhvr additive="base">
                                        <p:cTn id="72" dur="450" fill="hold"/>
                                        <p:tgtEl>
                                          <p:spTgt spid="21"/>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53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450" fill="hold"/>
                                        <p:tgtEl>
                                          <p:spTgt spid="22"/>
                                        </p:tgtEl>
                                        <p:attrNameLst>
                                          <p:attrName>ppt_x</p:attrName>
                                        </p:attrNameLst>
                                      </p:cBhvr>
                                      <p:tavLst>
                                        <p:tav tm="0">
                                          <p:val>
                                            <p:strVal val="0-#ppt_w/2"/>
                                          </p:val>
                                        </p:tav>
                                        <p:tav tm="100000">
                                          <p:val>
                                            <p:strVal val="#ppt_x"/>
                                          </p:val>
                                        </p:tav>
                                      </p:tavLst>
                                    </p:anim>
                                    <p:anim calcmode="lin" valueType="num">
                                      <p:cBhvr additive="base">
                                        <p:cTn id="76" dur="450" fill="hold"/>
                                        <p:tgtEl>
                                          <p:spTgt spid="22"/>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53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450" fill="hold"/>
                                        <p:tgtEl>
                                          <p:spTgt spid="23"/>
                                        </p:tgtEl>
                                        <p:attrNameLst>
                                          <p:attrName>ppt_x</p:attrName>
                                        </p:attrNameLst>
                                      </p:cBhvr>
                                      <p:tavLst>
                                        <p:tav tm="0">
                                          <p:val>
                                            <p:strVal val="0-#ppt_w/2"/>
                                          </p:val>
                                        </p:tav>
                                        <p:tav tm="100000">
                                          <p:val>
                                            <p:strVal val="#ppt_x"/>
                                          </p:val>
                                        </p:tav>
                                      </p:tavLst>
                                    </p:anim>
                                    <p:anim calcmode="lin" valueType="num">
                                      <p:cBhvr additive="base">
                                        <p:cTn id="80" dur="450" fill="hold"/>
                                        <p:tgtEl>
                                          <p:spTgt spid="23"/>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66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450" fill="hold"/>
                                        <p:tgtEl>
                                          <p:spTgt spid="24"/>
                                        </p:tgtEl>
                                        <p:attrNameLst>
                                          <p:attrName>ppt_x</p:attrName>
                                        </p:attrNameLst>
                                      </p:cBhvr>
                                      <p:tavLst>
                                        <p:tav tm="0">
                                          <p:val>
                                            <p:strVal val="0-#ppt_w/2"/>
                                          </p:val>
                                        </p:tav>
                                        <p:tav tm="100000">
                                          <p:val>
                                            <p:strVal val="#ppt_x"/>
                                          </p:val>
                                        </p:tav>
                                      </p:tavLst>
                                    </p:anim>
                                    <p:anim calcmode="lin" valueType="num">
                                      <p:cBhvr additive="base">
                                        <p:cTn id="84" dur="450" fill="hold"/>
                                        <p:tgtEl>
                                          <p:spTgt spid="24"/>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66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450" fill="hold"/>
                                        <p:tgtEl>
                                          <p:spTgt spid="25"/>
                                        </p:tgtEl>
                                        <p:attrNameLst>
                                          <p:attrName>ppt_x</p:attrName>
                                        </p:attrNameLst>
                                      </p:cBhvr>
                                      <p:tavLst>
                                        <p:tav tm="0">
                                          <p:val>
                                            <p:strVal val="0-#ppt_w/2"/>
                                          </p:val>
                                        </p:tav>
                                        <p:tav tm="100000">
                                          <p:val>
                                            <p:strVal val="#ppt_x"/>
                                          </p:val>
                                        </p:tav>
                                      </p:tavLst>
                                    </p:anim>
                                    <p:anim calcmode="lin" valueType="num">
                                      <p:cBhvr additive="base">
                                        <p:cTn id="88" dur="450" fill="hold"/>
                                        <p:tgtEl>
                                          <p:spTgt spid="25"/>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66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450" fill="hold"/>
                                        <p:tgtEl>
                                          <p:spTgt spid="26"/>
                                        </p:tgtEl>
                                        <p:attrNameLst>
                                          <p:attrName>ppt_x</p:attrName>
                                        </p:attrNameLst>
                                      </p:cBhvr>
                                      <p:tavLst>
                                        <p:tav tm="0">
                                          <p:val>
                                            <p:strVal val="0-#ppt_w/2"/>
                                          </p:val>
                                        </p:tav>
                                        <p:tav tm="100000">
                                          <p:val>
                                            <p:strVal val="#ppt_x"/>
                                          </p:val>
                                        </p:tav>
                                      </p:tavLst>
                                    </p:anim>
                                    <p:anim calcmode="lin" valueType="num">
                                      <p:cBhvr additive="base">
                                        <p:cTn id="92" dur="450" fill="hold"/>
                                        <p:tgtEl>
                                          <p:spTgt spid="26"/>
                                        </p:tgtEl>
                                        <p:attrNameLst>
                                          <p:attrName>ppt_y</p:attrName>
                                        </p:attrNameLst>
                                      </p:cBhvr>
                                      <p:tavLst>
                                        <p:tav tm="0">
                                          <p:val>
                                            <p:strVal val="#ppt_y"/>
                                          </p:val>
                                        </p:tav>
                                        <p:tav tm="100000">
                                          <p:val>
                                            <p:strVal val="#ppt_y"/>
                                          </p:val>
                                        </p:tav>
                                      </p:tavLst>
                                    </p:anim>
                                  </p:childTnLst>
                                </p:cTn>
                              </p:par>
                              <p:par>
                                <p:cTn id="93" presetID="2" presetClass="entr" presetSubtype="8" fill="hold" grpId="0" nodeType="withEffect">
                                  <p:stCondLst>
                                    <p:cond delay="660"/>
                                  </p:stCondLst>
                                  <p:childTnLst>
                                    <p:set>
                                      <p:cBhvr>
                                        <p:cTn id="94" dur="1" fill="hold">
                                          <p:stCondLst>
                                            <p:cond delay="0"/>
                                          </p:stCondLst>
                                        </p:cTn>
                                        <p:tgtEl>
                                          <p:spTgt spid="27"/>
                                        </p:tgtEl>
                                        <p:attrNameLst>
                                          <p:attrName>style.visibility</p:attrName>
                                        </p:attrNameLst>
                                      </p:cBhvr>
                                      <p:to>
                                        <p:strVal val="visible"/>
                                      </p:to>
                                    </p:set>
                                    <p:anim calcmode="lin" valueType="num">
                                      <p:cBhvr additive="base">
                                        <p:cTn id="95" dur="450" fill="hold"/>
                                        <p:tgtEl>
                                          <p:spTgt spid="27"/>
                                        </p:tgtEl>
                                        <p:attrNameLst>
                                          <p:attrName>ppt_x</p:attrName>
                                        </p:attrNameLst>
                                      </p:cBhvr>
                                      <p:tavLst>
                                        <p:tav tm="0">
                                          <p:val>
                                            <p:strVal val="0-#ppt_w/2"/>
                                          </p:val>
                                        </p:tav>
                                        <p:tav tm="100000">
                                          <p:val>
                                            <p:strVal val="#ppt_x"/>
                                          </p:val>
                                        </p:tav>
                                      </p:tavLst>
                                    </p:anim>
                                    <p:anim calcmode="lin" valueType="num">
                                      <p:cBhvr additive="base">
                                        <p:cTn id="96" dur="450" fill="hold"/>
                                        <p:tgtEl>
                                          <p:spTgt spid="27"/>
                                        </p:tgtEl>
                                        <p:attrNameLst>
                                          <p:attrName>ppt_y</p:attrName>
                                        </p:attrNameLst>
                                      </p:cBhvr>
                                      <p:tavLst>
                                        <p:tav tm="0">
                                          <p:val>
                                            <p:strVal val="#ppt_y"/>
                                          </p:val>
                                        </p:tav>
                                        <p:tav tm="100000">
                                          <p:val>
                                            <p:strVal val="#ppt_y"/>
                                          </p:val>
                                        </p:tav>
                                      </p:tavLst>
                                    </p:anim>
                                  </p:childTnLst>
                                </p:cTn>
                              </p:par>
                              <p:par>
                                <p:cTn id="97" presetID="2" presetClass="entr" presetSubtype="8" fill="hold" grpId="0" nodeType="withEffect">
                                  <p:stCondLst>
                                    <p:cond delay="66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450" fill="hold"/>
                                        <p:tgtEl>
                                          <p:spTgt spid="28"/>
                                        </p:tgtEl>
                                        <p:attrNameLst>
                                          <p:attrName>ppt_x</p:attrName>
                                        </p:attrNameLst>
                                      </p:cBhvr>
                                      <p:tavLst>
                                        <p:tav tm="0">
                                          <p:val>
                                            <p:strVal val="0-#ppt_w/2"/>
                                          </p:val>
                                        </p:tav>
                                        <p:tav tm="100000">
                                          <p:val>
                                            <p:strVal val="#ppt_x"/>
                                          </p:val>
                                        </p:tav>
                                      </p:tavLst>
                                    </p:anim>
                                    <p:anim calcmode="lin" valueType="num">
                                      <p:cBhvr additive="base">
                                        <p:cTn id="100" dur="450" fill="hold"/>
                                        <p:tgtEl>
                                          <p:spTgt spid="28"/>
                                        </p:tgtEl>
                                        <p:attrNameLst>
                                          <p:attrName>ppt_y</p:attrName>
                                        </p:attrNameLst>
                                      </p:cBhvr>
                                      <p:tavLst>
                                        <p:tav tm="0">
                                          <p:val>
                                            <p:strVal val="#ppt_y"/>
                                          </p:val>
                                        </p:tav>
                                        <p:tav tm="100000">
                                          <p:val>
                                            <p:strVal val="#ppt_y"/>
                                          </p:val>
                                        </p:tav>
                                      </p:tavLst>
                                    </p:anim>
                                  </p:childTnLst>
                                </p:cTn>
                              </p:par>
                              <p:par>
                                <p:cTn id="101" presetID="2" presetClass="entr" presetSubtype="8" fill="hold" grpId="0" nodeType="withEffect">
                                  <p:stCondLst>
                                    <p:cond delay="660"/>
                                  </p:stCondLst>
                                  <p:childTnLst>
                                    <p:set>
                                      <p:cBhvr>
                                        <p:cTn id="102" dur="1" fill="hold">
                                          <p:stCondLst>
                                            <p:cond delay="0"/>
                                          </p:stCondLst>
                                        </p:cTn>
                                        <p:tgtEl>
                                          <p:spTgt spid="29"/>
                                        </p:tgtEl>
                                        <p:attrNameLst>
                                          <p:attrName>style.visibility</p:attrName>
                                        </p:attrNameLst>
                                      </p:cBhvr>
                                      <p:to>
                                        <p:strVal val="visible"/>
                                      </p:to>
                                    </p:set>
                                    <p:anim calcmode="lin" valueType="num">
                                      <p:cBhvr additive="base">
                                        <p:cTn id="103" dur="450" fill="hold"/>
                                        <p:tgtEl>
                                          <p:spTgt spid="29"/>
                                        </p:tgtEl>
                                        <p:attrNameLst>
                                          <p:attrName>ppt_x</p:attrName>
                                        </p:attrNameLst>
                                      </p:cBhvr>
                                      <p:tavLst>
                                        <p:tav tm="0">
                                          <p:val>
                                            <p:strVal val="0-#ppt_w/2"/>
                                          </p:val>
                                        </p:tav>
                                        <p:tav tm="100000">
                                          <p:val>
                                            <p:strVal val="#ppt_x"/>
                                          </p:val>
                                        </p:tav>
                                      </p:tavLst>
                                    </p:anim>
                                    <p:anim calcmode="lin" valueType="num">
                                      <p:cBhvr additive="base">
                                        <p:cTn id="104" dur="450" fill="hold"/>
                                        <p:tgtEl>
                                          <p:spTgt spid="29"/>
                                        </p:tgtEl>
                                        <p:attrNameLst>
                                          <p:attrName>ppt_y</p:attrName>
                                        </p:attrNameLst>
                                      </p:cBhvr>
                                      <p:tavLst>
                                        <p:tav tm="0">
                                          <p:val>
                                            <p:strVal val="#ppt_y"/>
                                          </p:val>
                                        </p:tav>
                                        <p:tav tm="100000">
                                          <p:val>
                                            <p:strVal val="#ppt_y"/>
                                          </p:val>
                                        </p:tav>
                                      </p:tavLst>
                                    </p:anim>
                                  </p:childTnLst>
                                </p:cTn>
                              </p:par>
                              <p:par>
                                <p:cTn id="105" presetID="2" presetClass="entr" presetSubtype="8" fill="hold" grpId="0" nodeType="withEffect">
                                  <p:stCondLst>
                                    <p:cond delay="790"/>
                                  </p:stCondLst>
                                  <p:childTnLst>
                                    <p:set>
                                      <p:cBhvr>
                                        <p:cTn id="106" dur="1" fill="hold">
                                          <p:stCondLst>
                                            <p:cond delay="0"/>
                                          </p:stCondLst>
                                        </p:cTn>
                                        <p:tgtEl>
                                          <p:spTgt spid="30"/>
                                        </p:tgtEl>
                                        <p:attrNameLst>
                                          <p:attrName>style.visibility</p:attrName>
                                        </p:attrNameLst>
                                      </p:cBhvr>
                                      <p:to>
                                        <p:strVal val="visible"/>
                                      </p:to>
                                    </p:set>
                                    <p:anim calcmode="lin" valueType="num">
                                      <p:cBhvr additive="base">
                                        <p:cTn id="107" dur="450" fill="hold"/>
                                        <p:tgtEl>
                                          <p:spTgt spid="30"/>
                                        </p:tgtEl>
                                        <p:attrNameLst>
                                          <p:attrName>ppt_x</p:attrName>
                                        </p:attrNameLst>
                                      </p:cBhvr>
                                      <p:tavLst>
                                        <p:tav tm="0">
                                          <p:val>
                                            <p:strVal val="0-#ppt_w/2"/>
                                          </p:val>
                                        </p:tav>
                                        <p:tav tm="100000">
                                          <p:val>
                                            <p:strVal val="#ppt_x"/>
                                          </p:val>
                                        </p:tav>
                                      </p:tavLst>
                                    </p:anim>
                                    <p:anim calcmode="lin" valueType="num">
                                      <p:cBhvr additive="base">
                                        <p:cTn id="108" dur="450" fill="hold"/>
                                        <p:tgtEl>
                                          <p:spTgt spid="30"/>
                                        </p:tgtEl>
                                        <p:attrNameLst>
                                          <p:attrName>ppt_y</p:attrName>
                                        </p:attrNameLst>
                                      </p:cBhvr>
                                      <p:tavLst>
                                        <p:tav tm="0">
                                          <p:val>
                                            <p:strVal val="#ppt_y"/>
                                          </p:val>
                                        </p:tav>
                                        <p:tav tm="100000">
                                          <p:val>
                                            <p:strVal val="#ppt_y"/>
                                          </p:val>
                                        </p:tav>
                                      </p:tavLst>
                                    </p:anim>
                                  </p:childTnLst>
                                </p:cTn>
                              </p:par>
                              <p:par>
                                <p:cTn id="109" presetID="2" presetClass="entr" presetSubtype="8" fill="hold" grpId="0" nodeType="withEffect">
                                  <p:stCondLst>
                                    <p:cond delay="790"/>
                                  </p:stCondLst>
                                  <p:childTnLst>
                                    <p:set>
                                      <p:cBhvr>
                                        <p:cTn id="110" dur="1" fill="hold">
                                          <p:stCondLst>
                                            <p:cond delay="0"/>
                                          </p:stCondLst>
                                        </p:cTn>
                                        <p:tgtEl>
                                          <p:spTgt spid="31"/>
                                        </p:tgtEl>
                                        <p:attrNameLst>
                                          <p:attrName>style.visibility</p:attrName>
                                        </p:attrNameLst>
                                      </p:cBhvr>
                                      <p:to>
                                        <p:strVal val="visible"/>
                                      </p:to>
                                    </p:set>
                                    <p:anim calcmode="lin" valueType="num">
                                      <p:cBhvr additive="base">
                                        <p:cTn id="111" dur="450" fill="hold"/>
                                        <p:tgtEl>
                                          <p:spTgt spid="31"/>
                                        </p:tgtEl>
                                        <p:attrNameLst>
                                          <p:attrName>ppt_x</p:attrName>
                                        </p:attrNameLst>
                                      </p:cBhvr>
                                      <p:tavLst>
                                        <p:tav tm="0">
                                          <p:val>
                                            <p:strVal val="0-#ppt_w/2"/>
                                          </p:val>
                                        </p:tav>
                                        <p:tav tm="100000">
                                          <p:val>
                                            <p:strVal val="#ppt_x"/>
                                          </p:val>
                                        </p:tav>
                                      </p:tavLst>
                                    </p:anim>
                                    <p:anim calcmode="lin" valueType="num">
                                      <p:cBhvr additive="base">
                                        <p:cTn id="112" dur="450" fill="hold"/>
                                        <p:tgtEl>
                                          <p:spTgt spid="31"/>
                                        </p:tgtEl>
                                        <p:attrNameLst>
                                          <p:attrName>ppt_y</p:attrName>
                                        </p:attrNameLst>
                                      </p:cBhvr>
                                      <p:tavLst>
                                        <p:tav tm="0">
                                          <p:val>
                                            <p:strVal val="#ppt_y"/>
                                          </p:val>
                                        </p:tav>
                                        <p:tav tm="100000">
                                          <p:val>
                                            <p:strVal val="#ppt_y"/>
                                          </p:val>
                                        </p:tav>
                                      </p:tavLst>
                                    </p:anim>
                                  </p:childTnLst>
                                </p:cTn>
                              </p:par>
                              <p:par>
                                <p:cTn id="113" presetID="2" presetClass="entr" presetSubtype="8" fill="hold" grpId="0" nodeType="withEffect">
                                  <p:stCondLst>
                                    <p:cond delay="79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450" fill="hold"/>
                                        <p:tgtEl>
                                          <p:spTgt spid="32"/>
                                        </p:tgtEl>
                                        <p:attrNameLst>
                                          <p:attrName>ppt_x</p:attrName>
                                        </p:attrNameLst>
                                      </p:cBhvr>
                                      <p:tavLst>
                                        <p:tav tm="0">
                                          <p:val>
                                            <p:strVal val="0-#ppt_w/2"/>
                                          </p:val>
                                        </p:tav>
                                        <p:tav tm="100000">
                                          <p:val>
                                            <p:strVal val="#ppt_x"/>
                                          </p:val>
                                        </p:tav>
                                      </p:tavLst>
                                    </p:anim>
                                    <p:anim calcmode="lin" valueType="num">
                                      <p:cBhvr additive="base">
                                        <p:cTn id="116" dur="450" fill="hold"/>
                                        <p:tgtEl>
                                          <p:spTgt spid="32"/>
                                        </p:tgtEl>
                                        <p:attrNameLst>
                                          <p:attrName>ppt_y</p:attrName>
                                        </p:attrNameLst>
                                      </p:cBhvr>
                                      <p:tavLst>
                                        <p:tav tm="0">
                                          <p:val>
                                            <p:strVal val="#ppt_y"/>
                                          </p:val>
                                        </p:tav>
                                        <p:tav tm="100000">
                                          <p:val>
                                            <p:strVal val="#ppt_y"/>
                                          </p:val>
                                        </p:tav>
                                      </p:tavLst>
                                    </p:anim>
                                  </p:childTnLst>
                                </p:cTn>
                              </p:par>
                              <p:par>
                                <p:cTn id="117" presetID="2" presetClass="entr" presetSubtype="8" fill="hold" grpId="0" nodeType="withEffect">
                                  <p:stCondLst>
                                    <p:cond delay="790"/>
                                  </p:stCondLst>
                                  <p:childTnLst>
                                    <p:set>
                                      <p:cBhvr>
                                        <p:cTn id="118" dur="1" fill="hold">
                                          <p:stCondLst>
                                            <p:cond delay="0"/>
                                          </p:stCondLst>
                                        </p:cTn>
                                        <p:tgtEl>
                                          <p:spTgt spid="33"/>
                                        </p:tgtEl>
                                        <p:attrNameLst>
                                          <p:attrName>style.visibility</p:attrName>
                                        </p:attrNameLst>
                                      </p:cBhvr>
                                      <p:to>
                                        <p:strVal val="visible"/>
                                      </p:to>
                                    </p:set>
                                    <p:anim calcmode="lin" valueType="num">
                                      <p:cBhvr additive="base">
                                        <p:cTn id="119" dur="450" fill="hold"/>
                                        <p:tgtEl>
                                          <p:spTgt spid="33"/>
                                        </p:tgtEl>
                                        <p:attrNameLst>
                                          <p:attrName>ppt_x</p:attrName>
                                        </p:attrNameLst>
                                      </p:cBhvr>
                                      <p:tavLst>
                                        <p:tav tm="0">
                                          <p:val>
                                            <p:strVal val="0-#ppt_w/2"/>
                                          </p:val>
                                        </p:tav>
                                        <p:tav tm="100000">
                                          <p:val>
                                            <p:strVal val="#ppt_x"/>
                                          </p:val>
                                        </p:tav>
                                      </p:tavLst>
                                    </p:anim>
                                    <p:anim calcmode="lin" valueType="num">
                                      <p:cBhvr additive="base">
                                        <p:cTn id="120" dur="450" fill="hold"/>
                                        <p:tgtEl>
                                          <p:spTgt spid="33"/>
                                        </p:tgtEl>
                                        <p:attrNameLst>
                                          <p:attrName>ppt_y</p:attrName>
                                        </p:attrNameLst>
                                      </p:cBhvr>
                                      <p:tavLst>
                                        <p:tav tm="0">
                                          <p:val>
                                            <p:strVal val="#ppt_y"/>
                                          </p:val>
                                        </p:tav>
                                        <p:tav tm="100000">
                                          <p:val>
                                            <p:strVal val="#ppt_y"/>
                                          </p:val>
                                        </p:tav>
                                      </p:tavLst>
                                    </p:anim>
                                  </p:childTnLst>
                                </p:cTn>
                              </p:par>
                              <p:par>
                                <p:cTn id="121" presetID="2" presetClass="entr" presetSubtype="8" fill="hold" grpId="0" nodeType="withEffect">
                                  <p:stCondLst>
                                    <p:cond delay="79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450" fill="hold"/>
                                        <p:tgtEl>
                                          <p:spTgt spid="34"/>
                                        </p:tgtEl>
                                        <p:attrNameLst>
                                          <p:attrName>ppt_x</p:attrName>
                                        </p:attrNameLst>
                                      </p:cBhvr>
                                      <p:tavLst>
                                        <p:tav tm="0">
                                          <p:val>
                                            <p:strVal val="0-#ppt_w/2"/>
                                          </p:val>
                                        </p:tav>
                                        <p:tav tm="100000">
                                          <p:val>
                                            <p:strVal val="#ppt_x"/>
                                          </p:val>
                                        </p:tav>
                                      </p:tavLst>
                                    </p:anim>
                                    <p:anim calcmode="lin" valueType="num">
                                      <p:cBhvr additive="base">
                                        <p:cTn id="124" dur="450" fill="hold"/>
                                        <p:tgtEl>
                                          <p:spTgt spid="34"/>
                                        </p:tgtEl>
                                        <p:attrNameLst>
                                          <p:attrName>ppt_y</p:attrName>
                                        </p:attrNameLst>
                                      </p:cBhvr>
                                      <p:tavLst>
                                        <p:tav tm="0">
                                          <p:val>
                                            <p:strVal val="#ppt_y"/>
                                          </p:val>
                                        </p:tav>
                                        <p:tav tm="100000">
                                          <p:val>
                                            <p:strVal val="#ppt_y"/>
                                          </p:val>
                                        </p:tav>
                                      </p:tavLst>
                                    </p:anim>
                                  </p:childTnLst>
                                </p:cTn>
                              </p:par>
                              <p:par>
                                <p:cTn id="125" presetID="2" presetClass="entr" presetSubtype="8" fill="hold" grpId="0" nodeType="withEffect">
                                  <p:stCondLst>
                                    <p:cond delay="790"/>
                                  </p:stCondLst>
                                  <p:childTnLst>
                                    <p:set>
                                      <p:cBhvr>
                                        <p:cTn id="126" dur="1" fill="hold">
                                          <p:stCondLst>
                                            <p:cond delay="0"/>
                                          </p:stCondLst>
                                        </p:cTn>
                                        <p:tgtEl>
                                          <p:spTgt spid="35"/>
                                        </p:tgtEl>
                                        <p:attrNameLst>
                                          <p:attrName>style.visibility</p:attrName>
                                        </p:attrNameLst>
                                      </p:cBhvr>
                                      <p:to>
                                        <p:strVal val="visible"/>
                                      </p:to>
                                    </p:set>
                                    <p:anim calcmode="lin" valueType="num">
                                      <p:cBhvr additive="base">
                                        <p:cTn id="127" dur="450" fill="hold"/>
                                        <p:tgtEl>
                                          <p:spTgt spid="35"/>
                                        </p:tgtEl>
                                        <p:attrNameLst>
                                          <p:attrName>ppt_x</p:attrName>
                                        </p:attrNameLst>
                                      </p:cBhvr>
                                      <p:tavLst>
                                        <p:tav tm="0">
                                          <p:val>
                                            <p:strVal val="0-#ppt_w/2"/>
                                          </p:val>
                                        </p:tav>
                                        <p:tav tm="100000">
                                          <p:val>
                                            <p:strVal val="#ppt_x"/>
                                          </p:val>
                                        </p:tav>
                                      </p:tavLst>
                                    </p:anim>
                                    <p:anim calcmode="lin" valueType="num">
                                      <p:cBhvr additive="base">
                                        <p:cTn id="128" dur="450" fill="hold"/>
                                        <p:tgtEl>
                                          <p:spTgt spid="35"/>
                                        </p:tgtEl>
                                        <p:attrNameLst>
                                          <p:attrName>ppt_y</p:attrName>
                                        </p:attrNameLst>
                                      </p:cBhvr>
                                      <p:tavLst>
                                        <p:tav tm="0">
                                          <p:val>
                                            <p:strVal val="#ppt_y"/>
                                          </p:val>
                                        </p:tav>
                                        <p:tav tm="100000">
                                          <p:val>
                                            <p:strVal val="#ppt_y"/>
                                          </p:val>
                                        </p:tav>
                                      </p:tavLst>
                                    </p:anim>
                                  </p:childTnLst>
                                </p:cTn>
                              </p:par>
                              <p:par>
                                <p:cTn id="129" presetID="2" presetClass="entr" presetSubtype="8" fill="hold" grpId="0" nodeType="withEffect">
                                  <p:stCondLst>
                                    <p:cond delay="920"/>
                                  </p:stCondLst>
                                  <p:childTnLst>
                                    <p:set>
                                      <p:cBhvr>
                                        <p:cTn id="130" dur="1" fill="hold">
                                          <p:stCondLst>
                                            <p:cond delay="0"/>
                                          </p:stCondLst>
                                        </p:cTn>
                                        <p:tgtEl>
                                          <p:spTgt spid="36"/>
                                        </p:tgtEl>
                                        <p:attrNameLst>
                                          <p:attrName>style.visibility</p:attrName>
                                        </p:attrNameLst>
                                      </p:cBhvr>
                                      <p:to>
                                        <p:strVal val="visible"/>
                                      </p:to>
                                    </p:set>
                                    <p:anim calcmode="lin" valueType="num">
                                      <p:cBhvr additive="base">
                                        <p:cTn id="131" dur="450" fill="hold"/>
                                        <p:tgtEl>
                                          <p:spTgt spid="36"/>
                                        </p:tgtEl>
                                        <p:attrNameLst>
                                          <p:attrName>ppt_x</p:attrName>
                                        </p:attrNameLst>
                                      </p:cBhvr>
                                      <p:tavLst>
                                        <p:tav tm="0">
                                          <p:val>
                                            <p:strVal val="0-#ppt_w/2"/>
                                          </p:val>
                                        </p:tav>
                                        <p:tav tm="100000">
                                          <p:val>
                                            <p:strVal val="#ppt_x"/>
                                          </p:val>
                                        </p:tav>
                                      </p:tavLst>
                                    </p:anim>
                                    <p:anim calcmode="lin" valueType="num">
                                      <p:cBhvr additive="base">
                                        <p:cTn id="132" dur="450" fill="hold"/>
                                        <p:tgtEl>
                                          <p:spTgt spid="36"/>
                                        </p:tgtEl>
                                        <p:attrNameLst>
                                          <p:attrName>ppt_y</p:attrName>
                                        </p:attrNameLst>
                                      </p:cBhvr>
                                      <p:tavLst>
                                        <p:tav tm="0">
                                          <p:val>
                                            <p:strVal val="#ppt_y"/>
                                          </p:val>
                                        </p:tav>
                                        <p:tav tm="100000">
                                          <p:val>
                                            <p:strVal val="#ppt_y"/>
                                          </p:val>
                                        </p:tav>
                                      </p:tavLst>
                                    </p:anim>
                                  </p:childTnLst>
                                </p:cTn>
                              </p:par>
                              <p:par>
                                <p:cTn id="133" presetID="2" presetClass="entr" presetSubtype="8" fill="hold" grpId="0" nodeType="withEffect">
                                  <p:stCondLst>
                                    <p:cond delay="920"/>
                                  </p:stCondLst>
                                  <p:childTnLst>
                                    <p:set>
                                      <p:cBhvr>
                                        <p:cTn id="134" dur="1" fill="hold">
                                          <p:stCondLst>
                                            <p:cond delay="0"/>
                                          </p:stCondLst>
                                        </p:cTn>
                                        <p:tgtEl>
                                          <p:spTgt spid="37"/>
                                        </p:tgtEl>
                                        <p:attrNameLst>
                                          <p:attrName>style.visibility</p:attrName>
                                        </p:attrNameLst>
                                      </p:cBhvr>
                                      <p:to>
                                        <p:strVal val="visible"/>
                                      </p:to>
                                    </p:set>
                                    <p:anim calcmode="lin" valueType="num">
                                      <p:cBhvr additive="base">
                                        <p:cTn id="135" dur="450" fill="hold"/>
                                        <p:tgtEl>
                                          <p:spTgt spid="37"/>
                                        </p:tgtEl>
                                        <p:attrNameLst>
                                          <p:attrName>ppt_x</p:attrName>
                                        </p:attrNameLst>
                                      </p:cBhvr>
                                      <p:tavLst>
                                        <p:tav tm="0">
                                          <p:val>
                                            <p:strVal val="0-#ppt_w/2"/>
                                          </p:val>
                                        </p:tav>
                                        <p:tav tm="100000">
                                          <p:val>
                                            <p:strVal val="#ppt_x"/>
                                          </p:val>
                                        </p:tav>
                                      </p:tavLst>
                                    </p:anim>
                                    <p:anim calcmode="lin" valueType="num">
                                      <p:cBhvr additive="base">
                                        <p:cTn id="136" dur="450" fill="hold"/>
                                        <p:tgtEl>
                                          <p:spTgt spid="37"/>
                                        </p:tgtEl>
                                        <p:attrNameLst>
                                          <p:attrName>ppt_y</p:attrName>
                                        </p:attrNameLst>
                                      </p:cBhvr>
                                      <p:tavLst>
                                        <p:tav tm="0">
                                          <p:val>
                                            <p:strVal val="#ppt_y"/>
                                          </p:val>
                                        </p:tav>
                                        <p:tav tm="100000">
                                          <p:val>
                                            <p:strVal val="#ppt_y"/>
                                          </p:val>
                                        </p:tav>
                                      </p:tavLst>
                                    </p:anim>
                                  </p:childTnLst>
                                </p:cTn>
                              </p:par>
                              <p:par>
                                <p:cTn id="137" presetID="2" presetClass="entr" presetSubtype="8" fill="hold" grpId="0" nodeType="withEffect">
                                  <p:stCondLst>
                                    <p:cond delay="920"/>
                                  </p:stCondLst>
                                  <p:childTnLst>
                                    <p:set>
                                      <p:cBhvr>
                                        <p:cTn id="138" dur="1" fill="hold">
                                          <p:stCondLst>
                                            <p:cond delay="0"/>
                                          </p:stCondLst>
                                        </p:cTn>
                                        <p:tgtEl>
                                          <p:spTgt spid="38"/>
                                        </p:tgtEl>
                                        <p:attrNameLst>
                                          <p:attrName>style.visibility</p:attrName>
                                        </p:attrNameLst>
                                      </p:cBhvr>
                                      <p:to>
                                        <p:strVal val="visible"/>
                                      </p:to>
                                    </p:set>
                                    <p:anim calcmode="lin" valueType="num">
                                      <p:cBhvr additive="base">
                                        <p:cTn id="139" dur="450" fill="hold"/>
                                        <p:tgtEl>
                                          <p:spTgt spid="38"/>
                                        </p:tgtEl>
                                        <p:attrNameLst>
                                          <p:attrName>ppt_x</p:attrName>
                                        </p:attrNameLst>
                                      </p:cBhvr>
                                      <p:tavLst>
                                        <p:tav tm="0">
                                          <p:val>
                                            <p:strVal val="0-#ppt_w/2"/>
                                          </p:val>
                                        </p:tav>
                                        <p:tav tm="100000">
                                          <p:val>
                                            <p:strVal val="#ppt_x"/>
                                          </p:val>
                                        </p:tav>
                                      </p:tavLst>
                                    </p:anim>
                                    <p:anim calcmode="lin" valueType="num">
                                      <p:cBhvr additive="base">
                                        <p:cTn id="140" dur="450" fill="hold"/>
                                        <p:tgtEl>
                                          <p:spTgt spid="38"/>
                                        </p:tgtEl>
                                        <p:attrNameLst>
                                          <p:attrName>ppt_y</p:attrName>
                                        </p:attrNameLst>
                                      </p:cBhvr>
                                      <p:tavLst>
                                        <p:tav tm="0">
                                          <p:val>
                                            <p:strVal val="#ppt_y"/>
                                          </p:val>
                                        </p:tav>
                                        <p:tav tm="100000">
                                          <p:val>
                                            <p:strVal val="#ppt_y"/>
                                          </p:val>
                                        </p:tav>
                                      </p:tavLst>
                                    </p:anim>
                                  </p:childTnLst>
                                </p:cTn>
                              </p:par>
                              <p:par>
                                <p:cTn id="141" presetID="2" presetClass="entr" presetSubtype="8" fill="hold" grpId="0" nodeType="withEffect">
                                  <p:stCondLst>
                                    <p:cond delay="920"/>
                                  </p:stCondLst>
                                  <p:childTnLst>
                                    <p:set>
                                      <p:cBhvr>
                                        <p:cTn id="142" dur="1" fill="hold">
                                          <p:stCondLst>
                                            <p:cond delay="0"/>
                                          </p:stCondLst>
                                        </p:cTn>
                                        <p:tgtEl>
                                          <p:spTgt spid="39"/>
                                        </p:tgtEl>
                                        <p:attrNameLst>
                                          <p:attrName>style.visibility</p:attrName>
                                        </p:attrNameLst>
                                      </p:cBhvr>
                                      <p:to>
                                        <p:strVal val="visible"/>
                                      </p:to>
                                    </p:set>
                                    <p:anim calcmode="lin" valueType="num">
                                      <p:cBhvr additive="base">
                                        <p:cTn id="143" dur="450" fill="hold"/>
                                        <p:tgtEl>
                                          <p:spTgt spid="39"/>
                                        </p:tgtEl>
                                        <p:attrNameLst>
                                          <p:attrName>ppt_x</p:attrName>
                                        </p:attrNameLst>
                                      </p:cBhvr>
                                      <p:tavLst>
                                        <p:tav tm="0">
                                          <p:val>
                                            <p:strVal val="0-#ppt_w/2"/>
                                          </p:val>
                                        </p:tav>
                                        <p:tav tm="100000">
                                          <p:val>
                                            <p:strVal val="#ppt_x"/>
                                          </p:val>
                                        </p:tav>
                                      </p:tavLst>
                                    </p:anim>
                                    <p:anim calcmode="lin" valueType="num">
                                      <p:cBhvr additive="base">
                                        <p:cTn id="144" dur="450" fill="hold"/>
                                        <p:tgtEl>
                                          <p:spTgt spid="39"/>
                                        </p:tgtEl>
                                        <p:attrNameLst>
                                          <p:attrName>ppt_y</p:attrName>
                                        </p:attrNameLst>
                                      </p:cBhvr>
                                      <p:tavLst>
                                        <p:tav tm="0">
                                          <p:val>
                                            <p:strVal val="#ppt_y"/>
                                          </p:val>
                                        </p:tav>
                                        <p:tav tm="100000">
                                          <p:val>
                                            <p:strVal val="#ppt_y"/>
                                          </p:val>
                                        </p:tav>
                                      </p:tavLst>
                                    </p:anim>
                                  </p:childTnLst>
                                </p:cTn>
                              </p:par>
                              <p:par>
                                <p:cTn id="145" presetID="2" presetClass="entr" presetSubtype="8" fill="hold" grpId="0" nodeType="withEffect">
                                  <p:stCondLst>
                                    <p:cond delay="920"/>
                                  </p:stCondLst>
                                  <p:childTnLst>
                                    <p:set>
                                      <p:cBhvr>
                                        <p:cTn id="146" dur="1" fill="hold">
                                          <p:stCondLst>
                                            <p:cond delay="0"/>
                                          </p:stCondLst>
                                        </p:cTn>
                                        <p:tgtEl>
                                          <p:spTgt spid="40"/>
                                        </p:tgtEl>
                                        <p:attrNameLst>
                                          <p:attrName>style.visibility</p:attrName>
                                        </p:attrNameLst>
                                      </p:cBhvr>
                                      <p:to>
                                        <p:strVal val="visible"/>
                                      </p:to>
                                    </p:set>
                                    <p:anim calcmode="lin" valueType="num">
                                      <p:cBhvr additive="base">
                                        <p:cTn id="147" dur="450" fill="hold"/>
                                        <p:tgtEl>
                                          <p:spTgt spid="40"/>
                                        </p:tgtEl>
                                        <p:attrNameLst>
                                          <p:attrName>ppt_x</p:attrName>
                                        </p:attrNameLst>
                                      </p:cBhvr>
                                      <p:tavLst>
                                        <p:tav tm="0">
                                          <p:val>
                                            <p:strVal val="0-#ppt_w/2"/>
                                          </p:val>
                                        </p:tav>
                                        <p:tav tm="100000">
                                          <p:val>
                                            <p:strVal val="#ppt_x"/>
                                          </p:val>
                                        </p:tav>
                                      </p:tavLst>
                                    </p:anim>
                                    <p:anim calcmode="lin" valueType="num">
                                      <p:cBhvr additive="base">
                                        <p:cTn id="148" dur="450" fill="hold"/>
                                        <p:tgtEl>
                                          <p:spTgt spid="40"/>
                                        </p:tgtEl>
                                        <p:attrNameLst>
                                          <p:attrName>ppt_y</p:attrName>
                                        </p:attrNameLst>
                                      </p:cBhvr>
                                      <p:tavLst>
                                        <p:tav tm="0">
                                          <p:val>
                                            <p:strVal val="#ppt_y"/>
                                          </p:val>
                                        </p:tav>
                                        <p:tav tm="100000">
                                          <p:val>
                                            <p:strVal val="#ppt_y"/>
                                          </p:val>
                                        </p:tav>
                                      </p:tavLst>
                                    </p:anim>
                                  </p:childTnLst>
                                </p:cTn>
                              </p:par>
                              <p:par>
                                <p:cTn id="149" presetID="2" presetClass="entr" presetSubtype="8" fill="hold" grpId="0" nodeType="withEffect">
                                  <p:stCondLst>
                                    <p:cond delay="920"/>
                                  </p:stCondLst>
                                  <p:childTnLst>
                                    <p:set>
                                      <p:cBhvr>
                                        <p:cTn id="150" dur="1" fill="hold">
                                          <p:stCondLst>
                                            <p:cond delay="0"/>
                                          </p:stCondLst>
                                        </p:cTn>
                                        <p:tgtEl>
                                          <p:spTgt spid="41"/>
                                        </p:tgtEl>
                                        <p:attrNameLst>
                                          <p:attrName>style.visibility</p:attrName>
                                        </p:attrNameLst>
                                      </p:cBhvr>
                                      <p:to>
                                        <p:strVal val="visible"/>
                                      </p:to>
                                    </p:set>
                                    <p:anim calcmode="lin" valueType="num">
                                      <p:cBhvr additive="base">
                                        <p:cTn id="151" dur="450" fill="hold"/>
                                        <p:tgtEl>
                                          <p:spTgt spid="41"/>
                                        </p:tgtEl>
                                        <p:attrNameLst>
                                          <p:attrName>ppt_x</p:attrName>
                                        </p:attrNameLst>
                                      </p:cBhvr>
                                      <p:tavLst>
                                        <p:tav tm="0">
                                          <p:val>
                                            <p:strVal val="0-#ppt_w/2"/>
                                          </p:val>
                                        </p:tav>
                                        <p:tav tm="100000">
                                          <p:val>
                                            <p:strVal val="#ppt_x"/>
                                          </p:val>
                                        </p:tav>
                                      </p:tavLst>
                                    </p:anim>
                                    <p:anim calcmode="lin" valueType="num">
                                      <p:cBhvr additive="base">
                                        <p:cTn id="152" dur="45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4" grpId="0" animBg="1"/>
      <p:bldP spid="35" grpId="0" animBg="1"/>
      <p:bldP spid="36" grpId="0" animBg="1"/>
      <p:bldP spid="37" grpId="0" animBg="1"/>
      <p:bldP spid="38" grpId="0" animBg="1"/>
      <p:bldP spid="40" grpId="0" animBg="1"/>
      <p:bldP spid="41"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61A5E"/>
        </a:solidFill>
        <a:effectLst/>
      </p:bgPr>
    </p:bg>
    <p:spTree>
      <p:nvGrpSpPr>
        <p:cNvPr id="1" name=""/>
        <p:cNvGrpSpPr/>
        <p:nvPr/>
      </p:nvGrpSpPr>
      <p:grpSpPr/>
      <p:pic>
        <p:nvPicPr>
          <p:cNvPr id="2" name="!!bg" descr="sec_cranes2_1F4FD8061A5E_0.50_0.50.jpg"/>
          <p:cNvPicPr>
            <a:picLocks noChangeAspect="1"/>
          </p:cNvPicPr>
          <p:nvPr/>
        </p:nvPicPr>
        <p:blipFill>
          <a:blip r:embed="rId2"/>
          <a:srcRect l="1" r="1"/>
          <a:stretch>
            <a:fillRect/>
          </a:stretch>
        </p:blipFill>
        <p:spPr>
          <a:xfrm>
            <a:off x="0" y="0"/>
            <a:ext cx="12191695" cy="6858000"/>
          </a:xfrm>
          <a:prstGeom prst="rect">
            <a:avLst/>
          </a:prstGeom>
        </p:spPr>
      </p:pic>
      <p:sp>
        <p:nvSpPr>
          <p:cNvPr id="3" name="!!secnum"/>
          <p:cNvSpPr txBox="1"/>
          <p:nvPr/>
        </p:nvSpPr>
        <p:spPr>
          <a:xfrm>
            <a:off x="5852160" y="548640"/>
            <a:ext cx="5852160" cy="3291840"/>
          </a:xfrm>
          <a:prstGeom prst="rect">
            <a:avLst/>
          </a:prstGeom>
          <a:noFill/>
        </p:spPr>
        <p:txBody>
          <a:bodyPr wrap="none" lIns="0" rIns="0" tIns="0" bIns="0" anchor="t">
            <a:noAutofit/>
          </a:bodyPr>
          <a:lstStyle/>
          <a:p>
            <a:pPr algn="r">
              <a:lnSpc>
                <a:spcPct val="100000"/>
              </a:lnSpc>
            </a:pPr>
            <a:r>
              <a:rPr sz="23000" b="1" i="0">
                <a:ln w="25400">
                  <a:solidFill>
                    <a:srgbClr val="3FA9FF"/>
                  </a:solidFill>
                </a:ln>
                <a:solidFill>
                  <a:srgbClr val="3FA9FF">
                    <a:alpha val="22000"/>
                  </a:srgbClr>
                </a:solidFill>
                <a:latin typeface="Lexend Exa"/>
                <a:ea typeface="Lexend Exa"/>
                <a:cs typeface="Lexend Exa"/>
              </a:rPr>
              <a:t>03</a:t>
            </a:r>
          </a:p>
        </p:txBody>
      </p:sp>
      <p:sp>
        <p:nvSpPr>
          <p:cNvPr id="4" name="!!sectitle"/>
          <p:cNvSpPr txBox="1"/>
          <p:nvPr/>
        </p:nvSpPr>
        <p:spPr>
          <a:xfrm>
            <a:off x="4327855" y="3749040"/>
            <a:ext cx="7315200" cy="1488440"/>
          </a:xfrm>
          <a:prstGeom prst="rect">
            <a:avLst/>
          </a:prstGeom>
          <a:noFill/>
        </p:spPr>
        <p:txBody>
          <a:bodyPr wrap="square" lIns="0" rIns="0" tIns="0" bIns="0" anchor="t">
            <a:noAutofit/>
          </a:bodyPr>
          <a:lstStyle/>
          <a:p>
            <a:pPr algn="r">
              <a:lnSpc>
                <a:spcPct val="95000"/>
              </a:lnSpc>
            </a:pPr>
            <a:r>
              <a:rPr sz="4400" b="1" i="0">
                <a:solidFill>
                  <a:srgbClr val="FFFFFF"/>
                </a:solidFill>
                <a:effectLst>
                  <a:glow rad="91440">
                    <a:srgbClr val="3FA9FF">
                      <a:alpha val="30000"/>
                    </a:srgbClr>
                  </a:glow>
                </a:effectLst>
                <a:latin typeface="Lexend Exa"/>
                <a:ea typeface="Lexend Exa"/>
                <a:cs typeface="Lexend Exa"/>
              </a:rPr>
              <a:t>DỰ ÁN</a:t>
            </a:r>
          </a:p>
          <a:p>
            <a:pPr algn="r">
              <a:lnSpc>
                <a:spcPct val="95000"/>
              </a:lnSpc>
            </a:pPr>
            <a:r>
              <a:rPr sz="4400" b="1" i="0">
                <a:solidFill>
                  <a:srgbClr val="FFFFFF"/>
                </a:solidFill>
                <a:effectLst>
                  <a:glow rad="91440">
                    <a:srgbClr val="3FA9FF">
                      <a:alpha val="30000"/>
                    </a:srgbClr>
                  </a:glow>
                </a:effectLst>
                <a:latin typeface="Lexend Exa"/>
                <a:ea typeface="Lexend Exa"/>
                <a:cs typeface="Lexend Exa"/>
              </a:rPr>
              <a:t>TIÊU BIỂU</a:t>
            </a:r>
          </a:p>
        </p:txBody>
      </p:sp>
      <p:sp>
        <p:nvSpPr>
          <p:cNvPr id="5" name="TextBox 4"/>
          <p:cNvSpPr txBox="1"/>
          <p:nvPr/>
        </p:nvSpPr>
        <p:spPr>
          <a:xfrm>
            <a:off x="5242255" y="5283200"/>
            <a:ext cx="6400800" cy="822960"/>
          </a:xfrm>
          <a:prstGeom prst="rect">
            <a:avLst/>
          </a:prstGeom>
          <a:noFill/>
        </p:spPr>
        <p:txBody>
          <a:bodyPr wrap="square" lIns="0" rIns="0" tIns="0" bIns="0" anchor="t">
            <a:noAutofit/>
          </a:bodyPr>
          <a:lstStyle/>
          <a:p>
            <a:pPr algn="r">
              <a:lnSpc>
                <a:spcPct val="120000"/>
              </a:lnSpc>
            </a:pPr>
            <a:r>
              <a:rPr sz="1300" b="0" i="0">
                <a:solidFill>
                  <a:srgbClr val="E6EEFF"/>
                </a:solidFill>
                <a:latin typeface="Be Vietnam Pro"/>
                <a:ea typeface="Be Vietnam Pro"/>
                <a:cs typeface="Be Vietnam Pro"/>
              </a:rPr>
              <a:t>Những công trình khẳng định năng lực tổng thầu</a:t>
            </a:r>
          </a:p>
        </p:txBody>
      </p:sp>
      <p:pic>
        <p:nvPicPr>
          <p:cNvPr id="6"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7"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FFFFFF"/>
                </a:solidFill>
                <a:latin typeface="Lexend Exa"/>
                <a:ea typeface="Lexend Exa"/>
                <a:cs typeface="Lexend Exa"/>
              </a:rPr>
              <a:t>KIẾN TẠO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900" fill="hold"/>
                                        <p:tgtEl>
                                          <p:spTgt spid="3"/>
                                        </p:tgtEl>
                                        <p:attrNameLst>
                                          <p:attrName>ppt_w</p:attrName>
                                        </p:attrNameLst>
                                      </p:cBhvr>
                                      <p:tavLst>
                                        <p:tav tm="0">
                                          <p:val>
                                            <p:strVal val="#ppt_w*0.7"/>
                                          </p:val>
                                        </p:tav>
                                        <p:tav tm="100000">
                                          <p:val>
                                            <p:strVal val="#ppt_w"/>
                                          </p:val>
                                        </p:tav>
                                      </p:tavLst>
                                    </p:anim>
                                    <p:anim calcmode="lin" valueType="num">
                                      <p:cBhvr additive="base">
                                        <p:cTn id="8" dur="900" fill="hold"/>
                                        <p:tgtEl>
                                          <p:spTgt spid="3"/>
                                        </p:tgtEl>
                                        <p:attrNameLst>
                                          <p:attrName>ppt_h</p:attrName>
                                        </p:attrNameLst>
                                      </p:cBhvr>
                                      <p:tavLst>
                                        <p:tav tm="0">
                                          <p:val>
                                            <p:strVal val="#ppt_h*0.7"/>
                                          </p:val>
                                        </p:tav>
                                        <p:tav tm="100000">
                                          <p:val>
                                            <p:strVal val="#ppt_h"/>
                                          </p:val>
                                        </p:tav>
                                      </p:tavLst>
                                    </p:anim>
                                    <p:animEffect transition="in" filter="fade">
                                      <p:cBhvr>
                                        <p:cTn id="9" dur="900"/>
                                        <p:tgtEl>
                                          <p:spTgt spid="3"/>
                                        </p:tgtEl>
                                      </p:cBhvr>
                                    </p:animEffect>
                                  </p:childTnLst>
                                </p:cTn>
                              </p:par>
                              <p:par>
                                <p:cTn id="10" presetID="10" presetClass="entr" presetSubtype="0" fill="hold" grpId="0"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700"/>
                                        <p:tgtEl>
                                          <p:spTgt spid="4"/>
                                        </p:tgtEl>
                                      </p:cBhvr>
                                    </p:animEffect>
                                    <p:anim calcmode="lin" valueType="num">
                                      <p:cBhvr additive="base">
                                        <p:cTn id="19" dur="700" fill="hold"/>
                                        <p:tgtEl>
                                          <p:spTgt spid="4"/>
                                        </p:tgtEl>
                                        <p:attrNameLst>
                                          <p:attrName>ppt_x</p:attrName>
                                        </p:attrNameLst>
                                      </p:cBhvr>
                                      <p:tavLst>
                                        <p:tav tm="0">
                                          <p:val>
                                            <p:strVal val="#ppt_x"/>
                                          </p:val>
                                        </p:tav>
                                        <p:tav tm="100000">
                                          <p:val>
                                            <p:strVal val="#ppt_x"/>
                                          </p:val>
                                        </p:tav>
                                      </p:tavLst>
                                    </p:anim>
                                    <p:anim calcmode="lin" valueType="num">
                                      <p:cBhvr additive="base">
                                        <p:cTn id="20" dur="700" fill="hold"/>
                                        <p:tgtEl>
                                          <p:spTgt spid="4"/>
                                        </p:tgtEl>
                                        <p:attrNameLst>
                                          <p:attrName>ppt_y</p:attrName>
                                        </p:attrNameLst>
                                      </p:cBhvr>
                                      <p:tavLst>
                                        <p:tav tm="0">
                                          <p:val>
                                            <p:strVal val="#ppt_y+.06"/>
                                          </p:val>
                                        </p:tav>
                                        <p:tav tm="100000">
                                          <p:val>
                                            <p:strVal val="#ppt_y"/>
                                          </p:val>
                                        </p:tav>
                                      </p:tavLst>
                                    </p:anim>
                                  </p:childTnLst>
                                </p:cTn>
                              </p:par>
                              <p:par>
                                <p:cTn id="21" presetID="10" presetClass="entr" presetSubtype="0" fill="hold" grpId="0" nodeType="withEffect">
                                  <p:stCondLst>
                                    <p:cond delay="9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4" grpId="0" animBg="1"/>
      <p:bldP spid="5"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bg" descr="light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4"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1F4FD8"/>
                </a:solidFill>
                <a:latin typeface="Lexend Exa"/>
                <a:ea typeface="Lexend Exa"/>
                <a:cs typeface="Lexend Exa"/>
              </a:rPr>
              <a:t>KIẾN TẠO</a:t>
            </a:r>
          </a:p>
        </p:txBody>
      </p:sp>
      <p:sp>
        <p:nvSpPr>
          <p:cNvPr id="5" name="!!tag"/>
          <p:cNvSpPr/>
          <p:nvPr/>
        </p:nvSpPr>
        <p:spPr>
          <a:xfrm>
            <a:off x="548640" y="292608"/>
            <a:ext cx="1117223" cy="329184"/>
          </a:xfrm>
          <a:prstGeom prst="roundRect">
            <a:avLst>
              <a:gd name="adj" fmla="val 50000"/>
            </a:avLst>
          </a:prstGeom>
          <a:solidFill>
            <a:srgbClr val="FFFFFF"/>
          </a:solidFill>
          <a:ln w="9525">
            <a:solidFill>
              <a:srgbClr val="D5DEEE"/>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03</a:t>
            </a:r>
          </a:p>
        </p:txBody>
      </p:sp>
      <p:sp>
        <p:nvSpPr>
          <p:cNvPr id="7" name="!!tag_text"/>
          <p:cNvSpPr txBox="1"/>
          <p:nvPr/>
        </p:nvSpPr>
        <p:spPr>
          <a:xfrm>
            <a:off x="896112" y="292608"/>
            <a:ext cx="751463" cy="329184"/>
          </a:xfrm>
          <a:prstGeom prst="rect">
            <a:avLst/>
          </a:prstGeom>
          <a:noFill/>
        </p:spPr>
        <p:txBody>
          <a:bodyPr wrap="square" lIns="0" rIns="0" tIns="0" bIns="0" anchor="ctr">
            <a:noAutofit/>
          </a:bodyPr>
          <a:lstStyle/>
          <a:p>
            <a:pPr algn="l"/>
            <a:r>
              <a:rPr sz="900" b="0" i="0" spc="100">
                <a:solidFill>
                  <a:srgbClr val="0B1F4D"/>
                </a:solidFill>
                <a:latin typeface="Be Vietnam Pro SemiBold"/>
                <a:ea typeface="Be Vietnam Pro SemiBold"/>
                <a:cs typeface="Be Vietnam Pro SemiBold"/>
              </a:rPr>
              <a:t>DỰ ÁN</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B1F4D"/>
                </a:solidFill>
                <a:latin typeface="Lexend Exa"/>
                <a:ea typeface="Lexend Exa"/>
                <a:cs typeface="Lexend Exa"/>
              </a:rPr>
              <a:t>DỰ ÁN TIÊU BIỂU</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A5878"/>
                </a:solidFill>
                <a:latin typeface="Be Vietnam Pro"/>
                <a:ea typeface="Be Vietnam Pro"/>
                <a:cs typeface="Be Vietnam Pro"/>
              </a:rPr>
              <a:t>Chất lượng được khẳng định qua từng công trình bàn giao</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A97B5"/>
                </a:solidFill>
                <a:latin typeface="Be Vietnam Pro SemiBold"/>
                <a:ea typeface="Be Vietnam Pro SemiBold"/>
                <a:cs typeface="Be Vietnam Pro SemiBold"/>
              </a:rPr>
              <a:t>12</a:t>
            </a:r>
          </a:p>
        </p:txBody>
      </p:sp>
      <p:sp>
        <p:nvSpPr>
          <p:cNvPr id="11" name="Rounded Rectangle 10"/>
          <p:cNvSpPr/>
          <p:nvPr/>
        </p:nvSpPr>
        <p:spPr>
          <a:xfrm>
            <a:off x="548640" y="1691640"/>
            <a:ext cx="3515258" cy="4206240"/>
          </a:xfrm>
          <a:prstGeom prst="roundRect">
            <a:avLst>
              <a:gd name="adj" fmla="val 3641"/>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2" name="Picture 11" descr="394161d072604c3f.jpg"/>
          <p:cNvPicPr>
            <a:picLocks noChangeAspect="1"/>
          </p:cNvPicPr>
          <p:nvPr/>
        </p:nvPicPr>
        <p:blipFill>
          <a:blip r:embed="rId4"/>
          <a:srcRect t="8664" b="28664"/>
          <a:stretch>
            <a:fillRect/>
          </a:stretch>
        </p:blipFill>
        <p:spPr>
          <a:xfrm>
            <a:off x="548640" y="1691640"/>
            <a:ext cx="3515258" cy="2240280"/>
          </a:xfrm>
          <a:prstGeom prst="round2SameRect">
            <a:avLst>
              <a:gd name="adj1" fmla="val 5714"/>
              <a:gd name="adj2" fmla="val 0"/>
            </a:avLst>
          </a:prstGeom>
        </p:spPr>
      </p:pic>
      <p:sp>
        <p:nvSpPr>
          <p:cNvPr id="13" name="Rounded Rectangle 12"/>
          <p:cNvSpPr/>
          <p:nvPr/>
        </p:nvSpPr>
        <p:spPr>
          <a:xfrm>
            <a:off x="731520" y="1874520"/>
            <a:ext cx="1057305" cy="292608"/>
          </a:xfrm>
          <a:prstGeom prst="roundRect">
            <a:avLst>
              <a:gd name="adj" fmla="val 50000"/>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lIns="54864" rIns="54864" tIns="0" bIns="0" wrap="square"/>
          <a:lstStyle/>
          <a:p>
            <a:pPr algn="ctr"/>
            <a:r>
              <a:rPr sz="950" b="0" i="0">
                <a:solidFill>
                  <a:srgbClr val="FFFFFF"/>
                </a:solidFill>
                <a:latin typeface="Be Vietnam Pro SemiBold"/>
                <a:ea typeface="Be Vietnam Pro SemiBold"/>
                <a:cs typeface="Be Vietnam Pro SemiBold"/>
              </a:rPr>
              <a:t>Hoàn thành</a:t>
            </a:r>
          </a:p>
        </p:txBody>
      </p:sp>
      <p:sp>
        <p:nvSpPr>
          <p:cNvPr id="14" name="TextBox 13"/>
          <p:cNvSpPr txBox="1"/>
          <p:nvPr/>
        </p:nvSpPr>
        <p:spPr>
          <a:xfrm>
            <a:off x="777240" y="4069080"/>
            <a:ext cx="3058058" cy="502920"/>
          </a:xfrm>
          <a:prstGeom prst="rect">
            <a:avLst/>
          </a:prstGeom>
          <a:noFill/>
        </p:spPr>
        <p:txBody>
          <a:bodyPr wrap="none" lIns="0" rIns="0" tIns="0" bIns="0" anchor="ctr">
            <a:noAutofit/>
          </a:bodyPr>
          <a:lstStyle/>
          <a:p>
            <a:pPr algn="l">
              <a:lnSpc>
                <a:spcPct val="100000"/>
              </a:lnSpc>
            </a:pPr>
            <a:r>
              <a:rPr sz="1600" b="1" i="0">
                <a:solidFill>
                  <a:srgbClr val="1F4FD8"/>
                </a:solidFill>
                <a:latin typeface="Lexend Exa"/>
                <a:ea typeface="Lexend Exa"/>
                <a:cs typeface="Lexend Exa"/>
              </a:rPr>
              <a:t>SKY TOWER</a:t>
            </a:r>
          </a:p>
        </p:txBody>
      </p:sp>
      <p:sp>
        <p:nvSpPr>
          <p:cNvPr id="15" name="TextBox 14"/>
          <p:cNvSpPr txBox="1"/>
          <p:nvPr/>
        </p:nvSpPr>
        <p:spPr>
          <a:xfrm>
            <a:off x="777240" y="4572000"/>
            <a:ext cx="3058058" cy="320040"/>
          </a:xfrm>
          <a:prstGeom prst="rect">
            <a:avLst/>
          </a:prstGeom>
          <a:noFill/>
        </p:spPr>
        <p:txBody>
          <a:bodyPr wrap="square" lIns="0" rIns="0" tIns="0" bIns="0" anchor="t">
            <a:noAutofit/>
          </a:bodyPr>
          <a:lstStyle/>
          <a:p>
            <a:pPr algn="l"/>
            <a:r>
              <a:rPr sz="1000" b="0" i="0">
                <a:solidFill>
                  <a:srgbClr val="8A97B5"/>
                </a:solidFill>
                <a:latin typeface="Be Vietnam Pro SemiBold"/>
                <a:ea typeface="Be Vietnam Pro SemiBold"/>
                <a:cs typeface="Be Vietnam Pro SemiBold"/>
              </a:rPr>
              <a:t>Hà Nội  ·  2023  ·  45 tầng</a:t>
            </a:r>
          </a:p>
        </p:txBody>
      </p:sp>
      <p:sp>
        <p:nvSpPr>
          <p:cNvPr id="16" name="TextBox 15"/>
          <p:cNvSpPr txBox="1"/>
          <p:nvPr/>
        </p:nvSpPr>
        <p:spPr>
          <a:xfrm>
            <a:off x="777240" y="4892040"/>
            <a:ext cx="3058058" cy="914400"/>
          </a:xfrm>
          <a:prstGeom prst="rect">
            <a:avLst/>
          </a:prstGeom>
          <a:noFill/>
        </p:spPr>
        <p:txBody>
          <a:bodyPr wrap="square" lIns="0" rIns="0" tIns="0" bIns="0" anchor="t">
            <a:noAutofit/>
          </a:bodyPr>
          <a:lstStyle/>
          <a:p>
            <a:pPr algn="l">
              <a:lnSpc>
                <a:spcPct val="120000"/>
              </a:lnSpc>
              <a:spcAft>
                <a:spcPts val="600"/>
              </a:spcAft>
            </a:pPr>
            <a:r>
              <a:rPr sz="1150" b="0" i="0">
                <a:solidFill>
                  <a:srgbClr val="4A5878"/>
                </a:solidFill>
                <a:latin typeface="Be Vietnam Pro"/>
                <a:ea typeface="Be Vietnam Pro"/>
                <a:cs typeface="Be Vietnam Pro"/>
              </a:rPr>
              <a:t>Tòa văn phòng hạng A, tổng diện tích sàn </a:t>
            </a:r>
            <a:r>
              <a:rPr sz="1150" b="1" i="0">
                <a:solidFill>
                  <a:srgbClr val="1F4FD8"/>
                </a:solidFill>
                <a:latin typeface="Be Vietnam Pro"/>
                <a:ea typeface="Be Vietnam Pro"/>
                <a:cs typeface="Be Vietnam Pro"/>
              </a:rPr>
              <a:t>120.000 m²</a:t>
            </a:r>
            <a:r>
              <a:rPr sz="1150" b="0" i="0">
                <a:solidFill>
                  <a:srgbClr val="4A5878"/>
                </a:solidFill>
                <a:latin typeface="Be Vietnam Pro"/>
                <a:ea typeface="Be Vietnam Pro"/>
                <a:cs typeface="Be Vietnam Pro"/>
              </a:rPr>
              <a:t>, chứng chỉ LEED Gold.</a:t>
            </a:r>
          </a:p>
        </p:txBody>
      </p:sp>
      <p:sp>
        <p:nvSpPr>
          <p:cNvPr id="17" name="Rounded Rectangle 16"/>
          <p:cNvSpPr/>
          <p:nvPr/>
        </p:nvSpPr>
        <p:spPr>
          <a:xfrm>
            <a:off x="4338218" y="1691640"/>
            <a:ext cx="3515258" cy="4206240"/>
          </a:xfrm>
          <a:prstGeom prst="roundRect">
            <a:avLst>
              <a:gd name="adj" fmla="val 3641"/>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8" name="Picture 17" descr="9f9a5e81b3bdc2ba.jpg"/>
          <p:cNvPicPr>
            <a:picLocks noChangeAspect="1"/>
          </p:cNvPicPr>
          <p:nvPr/>
        </p:nvPicPr>
        <p:blipFill>
          <a:blip r:embed="rId5"/>
          <a:srcRect t="7513" b="7513"/>
          <a:stretch>
            <a:fillRect/>
          </a:stretch>
        </p:blipFill>
        <p:spPr>
          <a:xfrm>
            <a:off x="4338218" y="1691640"/>
            <a:ext cx="3515258" cy="2240280"/>
          </a:xfrm>
          <a:prstGeom prst="round2SameRect">
            <a:avLst>
              <a:gd name="adj1" fmla="val 5714"/>
              <a:gd name="adj2" fmla="val 0"/>
            </a:avLst>
          </a:prstGeom>
        </p:spPr>
      </p:pic>
      <p:sp>
        <p:nvSpPr>
          <p:cNvPr id="19" name="Rounded Rectangle 18"/>
          <p:cNvSpPr/>
          <p:nvPr/>
        </p:nvSpPr>
        <p:spPr>
          <a:xfrm>
            <a:off x="4521098" y="1874520"/>
            <a:ext cx="1057305" cy="292608"/>
          </a:xfrm>
          <a:prstGeom prst="roundRect">
            <a:avLst>
              <a:gd name="adj" fmla="val 50000"/>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lIns="54864" rIns="54864" tIns="0" bIns="0" wrap="square"/>
          <a:lstStyle/>
          <a:p>
            <a:pPr algn="ctr"/>
            <a:r>
              <a:rPr sz="950" b="0" i="0">
                <a:solidFill>
                  <a:srgbClr val="FFFFFF"/>
                </a:solidFill>
                <a:latin typeface="Be Vietnam Pro SemiBold"/>
                <a:ea typeface="Be Vietnam Pro SemiBold"/>
                <a:cs typeface="Be Vietnam Pro SemiBold"/>
              </a:rPr>
              <a:t>Hoàn thành</a:t>
            </a:r>
          </a:p>
        </p:txBody>
      </p:sp>
      <p:sp>
        <p:nvSpPr>
          <p:cNvPr id="20" name="TextBox 19"/>
          <p:cNvSpPr txBox="1"/>
          <p:nvPr/>
        </p:nvSpPr>
        <p:spPr>
          <a:xfrm>
            <a:off x="4566818" y="4069080"/>
            <a:ext cx="3058058" cy="502920"/>
          </a:xfrm>
          <a:prstGeom prst="rect">
            <a:avLst/>
          </a:prstGeom>
          <a:noFill/>
        </p:spPr>
        <p:txBody>
          <a:bodyPr wrap="none" lIns="0" rIns="0" tIns="0" bIns="0" anchor="ctr">
            <a:noAutofit/>
          </a:bodyPr>
          <a:lstStyle/>
          <a:p>
            <a:pPr algn="l">
              <a:lnSpc>
                <a:spcPct val="100000"/>
              </a:lnSpc>
            </a:pPr>
            <a:r>
              <a:rPr sz="1600" b="1" i="0">
                <a:solidFill>
                  <a:srgbClr val="1F4FD8"/>
                </a:solidFill>
                <a:latin typeface="Lexend Exa"/>
                <a:ea typeface="Lexend Exa"/>
                <a:cs typeface="Lexend Exa"/>
              </a:rPr>
              <a:t>SOLAR PARK</a:t>
            </a:r>
          </a:p>
        </p:txBody>
      </p:sp>
      <p:sp>
        <p:nvSpPr>
          <p:cNvPr id="21" name="TextBox 20"/>
          <p:cNvSpPr txBox="1"/>
          <p:nvPr/>
        </p:nvSpPr>
        <p:spPr>
          <a:xfrm>
            <a:off x="4566818" y="4572000"/>
            <a:ext cx="3058058" cy="320040"/>
          </a:xfrm>
          <a:prstGeom prst="rect">
            <a:avLst/>
          </a:prstGeom>
          <a:noFill/>
        </p:spPr>
        <p:txBody>
          <a:bodyPr wrap="square" lIns="0" rIns="0" tIns="0" bIns="0" anchor="t">
            <a:noAutofit/>
          </a:bodyPr>
          <a:lstStyle/>
          <a:p>
            <a:pPr algn="l"/>
            <a:r>
              <a:rPr sz="1000" b="0" i="0">
                <a:solidFill>
                  <a:srgbClr val="8A97B5"/>
                </a:solidFill>
                <a:latin typeface="Be Vietnam Pro SemiBold"/>
                <a:ea typeface="Be Vietnam Pro SemiBold"/>
                <a:cs typeface="Be Vietnam Pro SemiBold"/>
              </a:rPr>
              <a:t>Ninh Thuận  ·  2022</a:t>
            </a:r>
          </a:p>
        </p:txBody>
      </p:sp>
      <p:sp>
        <p:nvSpPr>
          <p:cNvPr id="22" name="TextBox 21"/>
          <p:cNvSpPr txBox="1"/>
          <p:nvPr/>
        </p:nvSpPr>
        <p:spPr>
          <a:xfrm>
            <a:off x="4566818" y="4892040"/>
            <a:ext cx="3058058" cy="914400"/>
          </a:xfrm>
          <a:prstGeom prst="rect">
            <a:avLst/>
          </a:prstGeom>
          <a:noFill/>
        </p:spPr>
        <p:txBody>
          <a:bodyPr wrap="square" lIns="0" rIns="0" tIns="0" bIns="0" anchor="t">
            <a:noAutofit/>
          </a:bodyPr>
          <a:lstStyle/>
          <a:p>
            <a:pPr algn="l">
              <a:lnSpc>
                <a:spcPct val="120000"/>
              </a:lnSpc>
              <a:spcAft>
                <a:spcPts val="600"/>
              </a:spcAft>
            </a:pPr>
            <a:r>
              <a:rPr sz="1150" b="0" i="0">
                <a:solidFill>
                  <a:srgbClr val="4A5878"/>
                </a:solidFill>
                <a:latin typeface="Be Vietnam Pro"/>
                <a:ea typeface="Be Vietnam Pro"/>
                <a:cs typeface="Be Vietnam Pro"/>
              </a:rPr>
              <a:t>Nhà máy điện mặt trời công suất </a:t>
            </a:r>
            <a:r>
              <a:rPr sz="1150" b="1" i="0">
                <a:solidFill>
                  <a:srgbClr val="1F4FD8"/>
                </a:solidFill>
                <a:latin typeface="Be Vietnam Pro"/>
                <a:ea typeface="Be Vietnam Pro"/>
                <a:cs typeface="Be Vietnam Pro"/>
              </a:rPr>
              <a:t>50 MWp</a:t>
            </a:r>
            <a:r>
              <a:rPr sz="1150" b="0" i="0">
                <a:solidFill>
                  <a:srgbClr val="4A5878"/>
                </a:solidFill>
                <a:latin typeface="Be Vietnam Pro"/>
                <a:ea typeface="Be Vietnam Pro"/>
                <a:cs typeface="Be Vietnam Pro"/>
              </a:rPr>
              <a:t>, thi công EPC trong 9 tháng.</a:t>
            </a:r>
          </a:p>
        </p:txBody>
      </p:sp>
      <p:sp>
        <p:nvSpPr>
          <p:cNvPr id="23" name="Rounded Rectangle 22"/>
          <p:cNvSpPr/>
          <p:nvPr/>
        </p:nvSpPr>
        <p:spPr>
          <a:xfrm>
            <a:off x="8127797" y="1691640"/>
            <a:ext cx="3515258" cy="4206240"/>
          </a:xfrm>
          <a:prstGeom prst="roundRect">
            <a:avLst>
              <a:gd name="adj" fmla="val 3641"/>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4" name="Picture 23" descr="70c6680f75f68093.jpg"/>
          <p:cNvPicPr>
            <a:picLocks noChangeAspect="1"/>
          </p:cNvPicPr>
          <p:nvPr/>
        </p:nvPicPr>
        <p:blipFill>
          <a:blip r:embed="rId6"/>
          <a:srcRect t="1873" b="1873"/>
          <a:stretch>
            <a:fillRect/>
          </a:stretch>
        </p:blipFill>
        <p:spPr>
          <a:xfrm>
            <a:off x="8127797" y="1691640"/>
            <a:ext cx="3515258" cy="2240280"/>
          </a:xfrm>
          <a:prstGeom prst="round2SameRect">
            <a:avLst>
              <a:gd name="adj1" fmla="val 5714"/>
              <a:gd name="adj2" fmla="val 0"/>
            </a:avLst>
          </a:prstGeom>
        </p:spPr>
      </p:pic>
      <p:sp>
        <p:nvSpPr>
          <p:cNvPr id="25" name="Rounded Rectangle 24"/>
          <p:cNvSpPr/>
          <p:nvPr/>
        </p:nvSpPr>
        <p:spPr>
          <a:xfrm>
            <a:off x="8310677" y="1874520"/>
            <a:ext cx="1206798" cy="292608"/>
          </a:xfrm>
          <a:prstGeom prst="roundRect">
            <a:avLst>
              <a:gd name="adj" fmla="val 50000"/>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lIns="54864" rIns="54864" tIns="0" bIns="0" wrap="square"/>
          <a:lstStyle/>
          <a:p>
            <a:pPr algn="ctr"/>
            <a:r>
              <a:rPr sz="950" b="0" i="0">
                <a:solidFill>
                  <a:srgbClr val="FFFFFF"/>
                </a:solidFill>
                <a:latin typeface="Be Vietnam Pro SemiBold"/>
                <a:ea typeface="Be Vietnam Pro SemiBold"/>
                <a:cs typeface="Be Vietnam Pro SemiBold"/>
              </a:rPr>
              <a:t>Đang thi công</a:t>
            </a:r>
          </a:p>
        </p:txBody>
      </p:sp>
      <p:sp>
        <p:nvSpPr>
          <p:cNvPr id="26" name="TextBox 25"/>
          <p:cNvSpPr txBox="1"/>
          <p:nvPr/>
        </p:nvSpPr>
        <p:spPr>
          <a:xfrm>
            <a:off x="8356397" y="4069080"/>
            <a:ext cx="3058058" cy="502920"/>
          </a:xfrm>
          <a:prstGeom prst="rect">
            <a:avLst/>
          </a:prstGeom>
          <a:noFill/>
        </p:spPr>
        <p:txBody>
          <a:bodyPr wrap="none" lIns="0" rIns="0" tIns="0" bIns="0" anchor="ctr">
            <a:noAutofit/>
          </a:bodyPr>
          <a:lstStyle/>
          <a:p>
            <a:pPr algn="l">
              <a:lnSpc>
                <a:spcPct val="100000"/>
              </a:lnSpc>
            </a:pPr>
            <a:r>
              <a:rPr sz="1600" b="1" i="0">
                <a:solidFill>
                  <a:srgbClr val="1F4FD8"/>
                </a:solidFill>
                <a:latin typeface="Lexend Exa"/>
                <a:ea typeface="Lexend Exa"/>
                <a:cs typeface="Lexend Exa"/>
              </a:rPr>
              <a:t>LOGISTICS HUB</a:t>
            </a:r>
          </a:p>
        </p:txBody>
      </p:sp>
      <p:sp>
        <p:nvSpPr>
          <p:cNvPr id="27" name="TextBox 26"/>
          <p:cNvSpPr txBox="1"/>
          <p:nvPr/>
        </p:nvSpPr>
        <p:spPr>
          <a:xfrm>
            <a:off x="8356397" y="4572000"/>
            <a:ext cx="3058058" cy="320040"/>
          </a:xfrm>
          <a:prstGeom prst="rect">
            <a:avLst/>
          </a:prstGeom>
          <a:noFill/>
        </p:spPr>
        <p:txBody>
          <a:bodyPr wrap="square" lIns="0" rIns="0" tIns="0" bIns="0" anchor="t">
            <a:noAutofit/>
          </a:bodyPr>
          <a:lstStyle/>
          <a:p>
            <a:pPr algn="l"/>
            <a:r>
              <a:rPr sz="1000" b="0" i="0">
                <a:solidFill>
                  <a:srgbClr val="8A97B5"/>
                </a:solidFill>
                <a:latin typeface="Be Vietnam Pro SemiBold"/>
                <a:ea typeface="Be Vietnam Pro SemiBold"/>
                <a:cs typeface="Be Vietnam Pro SemiBold"/>
              </a:rPr>
              <a:t>Bình Dương  ·  2025  ·  12 ha</a:t>
            </a:r>
          </a:p>
        </p:txBody>
      </p:sp>
      <p:sp>
        <p:nvSpPr>
          <p:cNvPr id="28" name="TextBox 27"/>
          <p:cNvSpPr txBox="1"/>
          <p:nvPr/>
        </p:nvSpPr>
        <p:spPr>
          <a:xfrm>
            <a:off x="8356397" y="4892040"/>
            <a:ext cx="3058058" cy="914400"/>
          </a:xfrm>
          <a:prstGeom prst="rect">
            <a:avLst/>
          </a:prstGeom>
          <a:noFill/>
        </p:spPr>
        <p:txBody>
          <a:bodyPr wrap="square" lIns="0" rIns="0" tIns="0" bIns="0" anchor="t">
            <a:noAutofit/>
          </a:bodyPr>
          <a:lstStyle/>
          <a:p>
            <a:pPr algn="l">
              <a:lnSpc>
                <a:spcPct val="120000"/>
              </a:lnSpc>
              <a:spcAft>
                <a:spcPts val="600"/>
              </a:spcAft>
            </a:pPr>
            <a:r>
              <a:rPr sz="1150" b="0" i="0">
                <a:solidFill>
                  <a:srgbClr val="4A5878"/>
                </a:solidFill>
                <a:latin typeface="Be Vietnam Pro"/>
                <a:ea typeface="Be Vietnam Pro"/>
                <a:cs typeface="Be Vietnam Pro"/>
              </a:rPr>
              <a:t>Trung tâm kho vận thông minh, kết cấu thép tiền chế </a:t>
            </a:r>
            <a:r>
              <a:rPr sz="1150" b="1" i="0">
                <a:solidFill>
                  <a:srgbClr val="1F4FD8"/>
                </a:solidFill>
                <a:latin typeface="Be Vietnam Pro"/>
                <a:ea typeface="Be Vietnam Pro"/>
                <a:cs typeface="Be Vietnam Pro"/>
              </a:rPr>
              <a:t>85.000 m²</a:t>
            </a:r>
            <a:r>
              <a:rPr sz="1150" b="0" i="0">
                <a:solidFill>
                  <a:srgbClr val="4A5878"/>
                </a:solidFill>
                <a:latin typeface="Be Vietnam Pro"/>
                <a:ea typeface="Be Vietnam Pro"/>
                <a:cs typeface="Be Vietnam Pro"/>
              </a:rPr>
              <a: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42" presetClass="entr" presetSubtype="0" fill="hold" grpId="0" nodeType="withEffect">
                                  <p:stCondLst>
                                    <p:cond delay="3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50"/>
                                        <p:tgtEl>
                                          <p:spTgt spid="11"/>
                                        </p:tgtEl>
                                      </p:cBhvr>
                                    </p:animEffect>
                                    <p:anim calcmode="lin" valueType="num">
                                      <p:cBhvr additive="base">
                                        <p:cTn id="29" dur="550" fill="hold"/>
                                        <p:tgtEl>
                                          <p:spTgt spid="11"/>
                                        </p:tgtEl>
                                        <p:attrNameLst>
                                          <p:attrName>ppt_x</p:attrName>
                                        </p:attrNameLst>
                                      </p:cBhvr>
                                      <p:tavLst>
                                        <p:tav tm="0">
                                          <p:val>
                                            <p:strVal val="#ppt_x"/>
                                          </p:val>
                                        </p:tav>
                                        <p:tav tm="100000">
                                          <p:val>
                                            <p:strVal val="#ppt_x"/>
                                          </p:val>
                                        </p:tav>
                                      </p:tavLst>
                                    </p:anim>
                                    <p:anim calcmode="lin" valueType="num">
                                      <p:cBhvr additive="base">
                                        <p:cTn id="30" dur="550" fill="hold"/>
                                        <p:tgtEl>
                                          <p:spTgt spid="11"/>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50"/>
                                        <p:tgtEl>
                                          <p:spTgt spid="12"/>
                                        </p:tgtEl>
                                      </p:cBhvr>
                                    </p:animEffect>
                                    <p:anim calcmode="lin" valueType="num">
                                      <p:cBhvr additive="base">
                                        <p:cTn id="34" dur="550" fill="hold"/>
                                        <p:tgtEl>
                                          <p:spTgt spid="12"/>
                                        </p:tgtEl>
                                        <p:attrNameLst>
                                          <p:attrName>ppt_x</p:attrName>
                                        </p:attrNameLst>
                                      </p:cBhvr>
                                      <p:tavLst>
                                        <p:tav tm="0">
                                          <p:val>
                                            <p:strVal val="#ppt_x"/>
                                          </p:val>
                                        </p:tav>
                                        <p:tav tm="100000">
                                          <p:val>
                                            <p:strVal val="#ppt_x"/>
                                          </p:val>
                                        </p:tav>
                                      </p:tavLst>
                                    </p:anim>
                                    <p:anim calcmode="lin" valueType="num">
                                      <p:cBhvr additive="base">
                                        <p:cTn id="35" dur="550" fill="hold"/>
                                        <p:tgtEl>
                                          <p:spTgt spid="12"/>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3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50"/>
                                        <p:tgtEl>
                                          <p:spTgt spid="13"/>
                                        </p:tgtEl>
                                      </p:cBhvr>
                                    </p:animEffect>
                                    <p:anim calcmode="lin" valueType="num">
                                      <p:cBhvr additive="base">
                                        <p:cTn id="39" dur="550" fill="hold"/>
                                        <p:tgtEl>
                                          <p:spTgt spid="13"/>
                                        </p:tgtEl>
                                        <p:attrNameLst>
                                          <p:attrName>ppt_x</p:attrName>
                                        </p:attrNameLst>
                                      </p:cBhvr>
                                      <p:tavLst>
                                        <p:tav tm="0">
                                          <p:val>
                                            <p:strVal val="#ppt_x"/>
                                          </p:val>
                                        </p:tav>
                                        <p:tav tm="100000">
                                          <p:val>
                                            <p:strVal val="#ppt_x"/>
                                          </p:val>
                                        </p:tav>
                                      </p:tavLst>
                                    </p:anim>
                                    <p:anim calcmode="lin" valueType="num">
                                      <p:cBhvr additive="base">
                                        <p:cTn id="40" dur="550" fill="hold"/>
                                        <p:tgtEl>
                                          <p:spTgt spid="13"/>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30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50"/>
                                        <p:tgtEl>
                                          <p:spTgt spid="14"/>
                                        </p:tgtEl>
                                      </p:cBhvr>
                                    </p:animEffect>
                                    <p:anim calcmode="lin" valueType="num">
                                      <p:cBhvr additive="base">
                                        <p:cTn id="44" dur="550" fill="hold"/>
                                        <p:tgtEl>
                                          <p:spTgt spid="14"/>
                                        </p:tgtEl>
                                        <p:attrNameLst>
                                          <p:attrName>ppt_x</p:attrName>
                                        </p:attrNameLst>
                                      </p:cBhvr>
                                      <p:tavLst>
                                        <p:tav tm="0">
                                          <p:val>
                                            <p:strVal val="#ppt_x"/>
                                          </p:val>
                                        </p:tav>
                                        <p:tav tm="100000">
                                          <p:val>
                                            <p:strVal val="#ppt_x"/>
                                          </p:val>
                                        </p:tav>
                                      </p:tavLst>
                                    </p:anim>
                                    <p:anim calcmode="lin" valueType="num">
                                      <p:cBhvr additive="base">
                                        <p:cTn id="45" dur="550" fill="hold"/>
                                        <p:tgtEl>
                                          <p:spTgt spid="14"/>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30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50"/>
                                        <p:tgtEl>
                                          <p:spTgt spid="15"/>
                                        </p:tgtEl>
                                      </p:cBhvr>
                                    </p:animEffect>
                                    <p:anim calcmode="lin" valueType="num">
                                      <p:cBhvr additive="base">
                                        <p:cTn id="49" dur="550" fill="hold"/>
                                        <p:tgtEl>
                                          <p:spTgt spid="15"/>
                                        </p:tgtEl>
                                        <p:attrNameLst>
                                          <p:attrName>ppt_x</p:attrName>
                                        </p:attrNameLst>
                                      </p:cBhvr>
                                      <p:tavLst>
                                        <p:tav tm="0">
                                          <p:val>
                                            <p:strVal val="#ppt_x"/>
                                          </p:val>
                                        </p:tav>
                                        <p:tav tm="100000">
                                          <p:val>
                                            <p:strVal val="#ppt_x"/>
                                          </p:val>
                                        </p:tav>
                                      </p:tavLst>
                                    </p:anim>
                                    <p:anim calcmode="lin" valueType="num">
                                      <p:cBhvr additive="base">
                                        <p:cTn id="50" dur="550" fill="hold"/>
                                        <p:tgtEl>
                                          <p:spTgt spid="15"/>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30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50"/>
                                        <p:tgtEl>
                                          <p:spTgt spid="16"/>
                                        </p:tgtEl>
                                      </p:cBhvr>
                                    </p:animEffect>
                                    <p:anim calcmode="lin" valueType="num">
                                      <p:cBhvr additive="base">
                                        <p:cTn id="54" dur="550" fill="hold"/>
                                        <p:tgtEl>
                                          <p:spTgt spid="16"/>
                                        </p:tgtEl>
                                        <p:attrNameLst>
                                          <p:attrName>ppt_x</p:attrName>
                                        </p:attrNameLst>
                                      </p:cBhvr>
                                      <p:tavLst>
                                        <p:tav tm="0">
                                          <p:val>
                                            <p:strVal val="#ppt_x"/>
                                          </p:val>
                                        </p:tav>
                                        <p:tav tm="100000">
                                          <p:val>
                                            <p:strVal val="#ppt_x"/>
                                          </p:val>
                                        </p:tav>
                                      </p:tavLst>
                                    </p:anim>
                                    <p:anim calcmode="lin" valueType="num">
                                      <p:cBhvr additive="base">
                                        <p:cTn id="55" dur="550" fill="hold"/>
                                        <p:tgtEl>
                                          <p:spTgt spid="16"/>
                                        </p:tgtEl>
                                        <p:attrNameLst>
                                          <p:attrName>ppt_y</p:attrName>
                                        </p:attrNameLst>
                                      </p:cBhvr>
                                      <p:tavLst>
                                        <p:tav tm="0">
                                          <p:val>
                                            <p:strVal val="#ppt_y+.06"/>
                                          </p:val>
                                        </p:tav>
                                        <p:tav tm="100000">
                                          <p:val>
                                            <p:strVal val="#ppt_y"/>
                                          </p:val>
                                        </p:tav>
                                      </p:tavLst>
                                    </p:anim>
                                  </p:childTnLst>
                                </p:cTn>
                              </p:par>
                              <p:par>
                                <p:cTn id="56" presetID="10" presetClass="entr" presetSubtype="0" fill="hold" grpId="0" nodeType="withEffect">
                                  <p:stCondLst>
                                    <p:cond delay="35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400"/>
                                        <p:tgtEl>
                                          <p:spTgt spid="10"/>
                                        </p:tgtEl>
                                      </p:cBhvr>
                                    </p:animEffect>
                                  </p:childTnLst>
                                </p:cTn>
                              </p:par>
                              <p:par>
                                <p:cTn id="59" presetID="42" presetClass="entr" presetSubtype="0" fill="hold" grpId="0" nodeType="withEffect">
                                  <p:stCondLst>
                                    <p:cond delay="50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50"/>
                                        <p:tgtEl>
                                          <p:spTgt spid="17"/>
                                        </p:tgtEl>
                                      </p:cBhvr>
                                    </p:animEffect>
                                    <p:anim calcmode="lin" valueType="num">
                                      <p:cBhvr additive="base">
                                        <p:cTn id="62" dur="550" fill="hold"/>
                                        <p:tgtEl>
                                          <p:spTgt spid="17"/>
                                        </p:tgtEl>
                                        <p:attrNameLst>
                                          <p:attrName>ppt_x</p:attrName>
                                        </p:attrNameLst>
                                      </p:cBhvr>
                                      <p:tavLst>
                                        <p:tav tm="0">
                                          <p:val>
                                            <p:strVal val="#ppt_x"/>
                                          </p:val>
                                        </p:tav>
                                        <p:tav tm="100000">
                                          <p:val>
                                            <p:strVal val="#ppt_x"/>
                                          </p:val>
                                        </p:tav>
                                      </p:tavLst>
                                    </p:anim>
                                    <p:anim calcmode="lin" valueType="num">
                                      <p:cBhvr additive="base">
                                        <p:cTn id="63" dur="550" fill="hold"/>
                                        <p:tgtEl>
                                          <p:spTgt spid="17"/>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50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anim calcmode="lin" valueType="num">
                                      <p:cBhvr additive="base">
                                        <p:cTn id="67" dur="550" fill="hold"/>
                                        <p:tgtEl>
                                          <p:spTgt spid="18"/>
                                        </p:tgtEl>
                                        <p:attrNameLst>
                                          <p:attrName>ppt_x</p:attrName>
                                        </p:attrNameLst>
                                      </p:cBhvr>
                                      <p:tavLst>
                                        <p:tav tm="0">
                                          <p:val>
                                            <p:strVal val="#ppt_x"/>
                                          </p:val>
                                        </p:tav>
                                        <p:tav tm="100000">
                                          <p:val>
                                            <p:strVal val="#ppt_x"/>
                                          </p:val>
                                        </p:tav>
                                      </p:tavLst>
                                    </p:anim>
                                    <p:anim calcmode="lin" valueType="num">
                                      <p:cBhvr additive="base">
                                        <p:cTn id="68" dur="550" fill="hold"/>
                                        <p:tgtEl>
                                          <p:spTgt spid="18"/>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50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50"/>
                                        <p:tgtEl>
                                          <p:spTgt spid="19"/>
                                        </p:tgtEl>
                                      </p:cBhvr>
                                    </p:animEffect>
                                    <p:anim calcmode="lin" valueType="num">
                                      <p:cBhvr additive="base">
                                        <p:cTn id="72" dur="550" fill="hold"/>
                                        <p:tgtEl>
                                          <p:spTgt spid="19"/>
                                        </p:tgtEl>
                                        <p:attrNameLst>
                                          <p:attrName>ppt_x</p:attrName>
                                        </p:attrNameLst>
                                      </p:cBhvr>
                                      <p:tavLst>
                                        <p:tav tm="0">
                                          <p:val>
                                            <p:strVal val="#ppt_x"/>
                                          </p:val>
                                        </p:tav>
                                        <p:tav tm="100000">
                                          <p:val>
                                            <p:strVal val="#ppt_x"/>
                                          </p:val>
                                        </p:tav>
                                      </p:tavLst>
                                    </p:anim>
                                    <p:anim calcmode="lin" valueType="num">
                                      <p:cBhvr additive="base">
                                        <p:cTn id="73" dur="550" fill="hold"/>
                                        <p:tgtEl>
                                          <p:spTgt spid="19"/>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50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50"/>
                                        <p:tgtEl>
                                          <p:spTgt spid="20"/>
                                        </p:tgtEl>
                                      </p:cBhvr>
                                    </p:animEffect>
                                    <p:anim calcmode="lin" valueType="num">
                                      <p:cBhvr additive="base">
                                        <p:cTn id="77" dur="550" fill="hold"/>
                                        <p:tgtEl>
                                          <p:spTgt spid="20"/>
                                        </p:tgtEl>
                                        <p:attrNameLst>
                                          <p:attrName>ppt_x</p:attrName>
                                        </p:attrNameLst>
                                      </p:cBhvr>
                                      <p:tavLst>
                                        <p:tav tm="0">
                                          <p:val>
                                            <p:strVal val="#ppt_x"/>
                                          </p:val>
                                        </p:tav>
                                        <p:tav tm="100000">
                                          <p:val>
                                            <p:strVal val="#ppt_x"/>
                                          </p:val>
                                        </p:tav>
                                      </p:tavLst>
                                    </p:anim>
                                    <p:anim calcmode="lin" valueType="num">
                                      <p:cBhvr additive="base">
                                        <p:cTn id="78" dur="550" fill="hold"/>
                                        <p:tgtEl>
                                          <p:spTgt spid="20"/>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50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50"/>
                                        <p:tgtEl>
                                          <p:spTgt spid="21"/>
                                        </p:tgtEl>
                                      </p:cBhvr>
                                    </p:animEffect>
                                    <p:anim calcmode="lin" valueType="num">
                                      <p:cBhvr additive="base">
                                        <p:cTn id="82" dur="550" fill="hold"/>
                                        <p:tgtEl>
                                          <p:spTgt spid="21"/>
                                        </p:tgtEl>
                                        <p:attrNameLst>
                                          <p:attrName>ppt_x</p:attrName>
                                        </p:attrNameLst>
                                      </p:cBhvr>
                                      <p:tavLst>
                                        <p:tav tm="0">
                                          <p:val>
                                            <p:strVal val="#ppt_x"/>
                                          </p:val>
                                        </p:tav>
                                        <p:tav tm="100000">
                                          <p:val>
                                            <p:strVal val="#ppt_x"/>
                                          </p:val>
                                        </p:tav>
                                      </p:tavLst>
                                    </p:anim>
                                    <p:anim calcmode="lin" valueType="num">
                                      <p:cBhvr additive="base">
                                        <p:cTn id="83" dur="550" fill="hold"/>
                                        <p:tgtEl>
                                          <p:spTgt spid="21"/>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50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50"/>
                                        <p:tgtEl>
                                          <p:spTgt spid="22"/>
                                        </p:tgtEl>
                                      </p:cBhvr>
                                    </p:animEffect>
                                    <p:anim calcmode="lin" valueType="num">
                                      <p:cBhvr additive="base">
                                        <p:cTn id="87" dur="550" fill="hold"/>
                                        <p:tgtEl>
                                          <p:spTgt spid="22"/>
                                        </p:tgtEl>
                                        <p:attrNameLst>
                                          <p:attrName>ppt_x</p:attrName>
                                        </p:attrNameLst>
                                      </p:cBhvr>
                                      <p:tavLst>
                                        <p:tav tm="0">
                                          <p:val>
                                            <p:strVal val="#ppt_x"/>
                                          </p:val>
                                        </p:tav>
                                        <p:tav tm="100000">
                                          <p:val>
                                            <p:strVal val="#ppt_x"/>
                                          </p:val>
                                        </p:tav>
                                      </p:tavLst>
                                    </p:anim>
                                    <p:anim calcmode="lin" valueType="num">
                                      <p:cBhvr additive="base">
                                        <p:cTn id="88" dur="550" fill="hold"/>
                                        <p:tgtEl>
                                          <p:spTgt spid="22"/>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70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50"/>
                                        <p:tgtEl>
                                          <p:spTgt spid="23"/>
                                        </p:tgtEl>
                                      </p:cBhvr>
                                    </p:animEffect>
                                    <p:anim calcmode="lin" valueType="num">
                                      <p:cBhvr additive="base">
                                        <p:cTn id="92" dur="550" fill="hold"/>
                                        <p:tgtEl>
                                          <p:spTgt spid="23"/>
                                        </p:tgtEl>
                                        <p:attrNameLst>
                                          <p:attrName>ppt_x</p:attrName>
                                        </p:attrNameLst>
                                      </p:cBhvr>
                                      <p:tavLst>
                                        <p:tav tm="0">
                                          <p:val>
                                            <p:strVal val="#ppt_x"/>
                                          </p:val>
                                        </p:tav>
                                        <p:tav tm="100000">
                                          <p:val>
                                            <p:strVal val="#ppt_x"/>
                                          </p:val>
                                        </p:tav>
                                      </p:tavLst>
                                    </p:anim>
                                    <p:anim calcmode="lin" valueType="num">
                                      <p:cBhvr additive="base">
                                        <p:cTn id="93" dur="550" fill="hold"/>
                                        <p:tgtEl>
                                          <p:spTgt spid="23"/>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70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550"/>
                                        <p:tgtEl>
                                          <p:spTgt spid="24"/>
                                        </p:tgtEl>
                                      </p:cBhvr>
                                    </p:animEffect>
                                    <p:anim calcmode="lin" valueType="num">
                                      <p:cBhvr additive="base">
                                        <p:cTn id="97" dur="550" fill="hold"/>
                                        <p:tgtEl>
                                          <p:spTgt spid="24"/>
                                        </p:tgtEl>
                                        <p:attrNameLst>
                                          <p:attrName>ppt_x</p:attrName>
                                        </p:attrNameLst>
                                      </p:cBhvr>
                                      <p:tavLst>
                                        <p:tav tm="0">
                                          <p:val>
                                            <p:strVal val="#ppt_x"/>
                                          </p:val>
                                        </p:tav>
                                        <p:tav tm="100000">
                                          <p:val>
                                            <p:strVal val="#ppt_x"/>
                                          </p:val>
                                        </p:tav>
                                      </p:tavLst>
                                    </p:anim>
                                    <p:anim calcmode="lin" valueType="num">
                                      <p:cBhvr additive="base">
                                        <p:cTn id="98" dur="550" fill="hold"/>
                                        <p:tgtEl>
                                          <p:spTgt spid="24"/>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70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550"/>
                                        <p:tgtEl>
                                          <p:spTgt spid="25"/>
                                        </p:tgtEl>
                                      </p:cBhvr>
                                    </p:animEffect>
                                    <p:anim calcmode="lin" valueType="num">
                                      <p:cBhvr additive="base">
                                        <p:cTn id="102" dur="550" fill="hold"/>
                                        <p:tgtEl>
                                          <p:spTgt spid="25"/>
                                        </p:tgtEl>
                                        <p:attrNameLst>
                                          <p:attrName>ppt_x</p:attrName>
                                        </p:attrNameLst>
                                      </p:cBhvr>
                                      <p:tavLst>
                                        <p:tav tm="0">
                                          <p:val>
                                            <p:strVal val="#ppt_x"/>
                                          </p:val>
                                        </p:tav>
                                        <p:tav tm="100000">
                                          <p:val>
                                            <p:strVal val="#ppt_x"/>
                                          </p:val>
                                        </p:tav>
                                      </p:tavLst>
                                    </p:anim>
                                    <p:anim calcmode="lin" valueType="num">
                                      <p:cBhvr additive="base">
                                        <p:cTn id="103" dur="550" fill="hold"/>
                                        <p:tgtEl>
                                          <p:spTgt spid="25"/>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70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70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550"/>
                                        <p:tgtEl>
                                          <p:spTgt spid="27"/>
                                        </p:tgtEl>
                                      </p:cBhvr>
                                    </p:animEffect>
                                    <p:anim calcmode="lin" valueType="num">
                                      <p:cBhvr additive="base">
                                        <p:cTn id="112" dur="550" fill="hold"/>
                                        <p:tgtEl>
                                          <p:spTgt spid="27"/>
                                        </p:tgtEl>
                                        <p:attrNameLst>
                                          <p:attrName>ppt_x</p:attrName>
                                        </p:attrNameLst>
                                      </p:cBhvr>
                                      <p:tavLst>
                                        <p:tav tm="0">
                                          <p:val>
                                            <p:strVal val="#ppt_x"/>
                                          </p:val>
                                        </p:tav>
                                        <p:tav tm="100000">
                                          <p:val>
                                            <p:strVal val="#ppt_x"/>
                                          </p:val>
                                        </p:tav>
                                      </p:tavLst>
                                    </p:anim>
                                    <p:anim calcmode="lin" valueType="num">
                                      <p:cBhvr additive="base">
                                        <p:cTn id="113" dur="550" fill="hold"/>
                                        <p:tgtEl>
                                          <p:spTgt spid="27"/>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700"/>
                                  </p:stCondLst>
                                  <p:childTnLst>
                                    <p:set>
                                      <p:cBhvr>
                                        <p:cTn id="115" dur="1" fill="hold">
                                          <p:stCondLst>
                                            <p:cond delay="0"/>
                                          </p:stCondLst>
                                        </p:cTn>
                                        <p:tgtEl>
                                          <p:spTgt spid="28"/>
                                        </p:tgtEl>
                                        <p:attrNameLst>
                                          <p:attrName>style.visibility</p:attrName>
                                        </p:attrNameLst>
                                      </p:cBhvr>
                                      <p:to>
                                        <p:strVal val="visible"/>
                                      </p:to>
                                    </p:set>
                                    <p:animEffect transition="in" filter="fade">
                                      <p:cBhvr>
                                        <p:cTn id="116" dur="550"/>
                                        <p:tgtEl>
                                          <p:spTgt spid="28"/>
                                        </p:tgtEl>
                                      </p:cBhvr>
                                    </p:animEffect>
                                    <p:anim calcmode="lin" valueType="num">
                                      <p:cBhvr additive="base">
                                        <p:cTn id="117" dur="550" fill="hold"/>
                                        <p:tgtEl>
                                          <p:spTgt spid="28"/>
                                        </p:tgtEl>
                                        <p:attrNameLst>
                                          <p:attrName>ppt_x</p:attrName>
                                        </p:attrNameLst>
                                      </p:cBhvr>
                                      <p:tavLst>
                                        <p:tav tm="0">
                                          <p:val>
                                            <p:strVal val="#ppt_x"/>
                                          </p:val>
                                        </p:tav>
                                        <p:tav tm="100000">
                                          <p:val>
                                            <p:strVal val="#ppt_x"/>
                                          </p:val>
                                        </p:tav>
                                      </p:tavLst>
                                    </p:anim>
                                    <p:anim calcmode="lin" valueType="num">
                                      <p:cBhvr additive="base">
                                        <p:cTn id="118" dur="550" fill="hold"/>
                                        <p:tgtEl>
                                          <p:spTgt spid="2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3" grpId="0" animBg="1"/>
      <p:bldP spid="14" grpId="0" animBg="1"/>
      <p:bldP spid="15" grpId="0" animBg="1"/>
      <p:bldP spid="16" grpId="0" animBg="1"/>
      <p:bldP spid="10" grpId="0" animBg="1"/>
      <p:bldP spid="17" grpId="0" animBg="1"/>
      <p:bldP spid="19" grpId="0" animBg="1"/>
      <p:bldP spid="20" grpId="0" animBg="1"/>
      <p:bldP spid="21" grpId="0" animBg="1"/>
      <p:bldP spid="22" grpId="0" animBg="1"/>
      <p:bldP spid="23" grpId="0" animBg="1"/>
      <p:bldP spid="25" grpId="0" animBg="1"/>
      <p:bldP spid="26" grpId="0" animBg="1"/>
      <p:bldP spid="27" grpId="0" animBg="1"/>
      <p:bldP spid="28"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bg" descr="light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4"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1F4FD8"/>
                </a:solidFill>
                <a:latin typeface="Lexend Exa"/>
                <a:ea typeface="Lexend Exa"/>
                <a:cs typeface="Lexend Exa"/>
              </a:rPr>
              <a:t>KIẾN TẠO</a:t>
            </a:r>
          </a:p>
        </p:txBody>
      </p:sp>
      <p:sp>
        <p:nvSpPr>
          <p:cNvPr id="5" name="!!tag"/>
          <p:cNvSpPr/>
          <p:nvPr/>
        </p:nvSpPr>
        <p:spPr>
          <a:xfrm>
            <a:off x="548640" y="292608"/>
            <a:ext cx="1117223" cy="329184"/>
          </a:xfrm>
          <a:prstGeom prst="roundRect">
            <a:avLst>
              <a:gd name="adj" fmla="val 50000"/>
            </a:avLst>
          </a:prstGeom>
          <a:solidFill>
            <a:srgbClr val="FFFFFF"/>
          </a:solidFill>
          <a:ln w="9525">
            <a:solidFill>
              <a:srgbClr val="D5DEEE"/>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03</a:t>
            </a:r>
          </a:p>
        </p:txBody>
      </p:sp>
      <p:sp>
        <p:nvSpPr>
          <p:cNvPr id="7" name="!!tag_text"/>
          <p:cNvSpPr txBox="1"/>
          <p:nvPr/>
        </p:nvSpPr>
        <p:spPr>
          <a:xfrm>
            <a:off x="896112" y="292608"/>
            <a:ext cx="751463" cy="329184"/>
          </a:xfrm>
          <a:prstGeom prst="rect">
            <a:avLst/>
          </a:prstGeom>
          <a:noFill/>
        </p:spPr>
        <p:txBody>
          <a:bodyPr wrap="square" lIns="0" rIns="0" tIns="0" bIns="0" anchor="ctr">
            <a:noAutofit/>
          </a:bodyPr>
          <a:lstStyle/>
          <a:p>
            <a:pPr algn="l"/>
            <a:r>
              <a:rPr sz="900" b="0" i="0" spc="100">
                <a:solidFill>
                  <a:srgbClr val="0B1F4D"/>
                </a:solidFill>
                <a:latin typeface="Be Vietnam Pro SemiBold"/>
                <a:ea typeface="Be Vietnam Pro SemiBold"/>
                <a:cs typeface="Be Vietnam Pro SemiBold"/>
              </a:rPr>
              <a:t>DỰ ÁN</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B1F4D"/>
                </a:solidFill>
                <a:latin typeface="Lexend Exa"/>
                <a:ea typeface="Lexend Exa"/>
                <a:cs typeface="Lexend Exa"/>
              </a:rPr>
              <a:t>NĂNG LỰC THIẾT BỊ &amp; NHÂN LỰC</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A5878"/>
                </a:solidFill>
                <a:latin typeface="Be Vietnam Pro"/>
                <a:ea typeface="Be Vietnam Pro"/>
                <a:cs typeface="Be Vietnam Pro"/>
              </a:rPr>
              <a:t>Chủ động máy móc và con người cho nhiều dự án cùng lúc</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A97B5"/>
                </a:solidFill>
                <a:latin typeface="Be Vietnam Pro SemiBold"/>
                <a:ea typeface="Be Vietnam Pro SemiBold"/>
                <a:cs typeface="Be Vietnam Pro SemiBold"/>
              </a:rPr>
              <a:t>13</a:t>
            </a:r>
          </a:p>
        </p:txBody>
      </p:sp>
      <p:pic>
        <p:nvPicPr>
          <p:cNvPr id="11" name="!!ph1" descr="96643688640f9f28.jpg"/>
          <p:cNvPicPr>
            <a:picLocks noChangeAspect="1"/>
          </p:cNvPicPr>
          <p:nvPr/>
        </p:nvPicPr>
        <p:blipFill>
          <a:blip r:embed="rId4"/>
          <a:srcRect t="54" b="20054"/>
          <a:stretch>
            <a:fillRect/>
          </a:stretch>
        </p:blipFill>
        <p:spPr>
          <a:xfrm>
            <a:off x="7436815" y="1691640"/>
            <a:ext cx="4206240" cy="4480560"/>
          </a:xfrm>
          <a:prstGeom prst="roundRect">
            <a:avLst>
              <a:gd name="adj" fmla="val 3478"/>
            </a:avLst>
          </a:prstGeom>
          <a:effectLst>
            <a:outerShdw blurRad="274320" dist="73152" dir="5400000" algn="ctr" rotWithShape="0">
              <a:srgbClr val="0B1F4D">
                <a:alpha val="22000"/>
              </a:srgbClr>
            </a:outerShdw>
          </a:effectLst>
        </p:spPr>
      </p:pic>
      <p:sp>
        <p:nvSpPr>
          <p:cNvPr id="12" name="Rounded Rectangle 11"/>
          <p:cNvSpPr/>
          <p:nvPr/>
        </p:nvSpPr>
        <p:spPr>
          <a:xfrm>
            <a:off x="548640" y="1691640"/>
            <a:ext cx="3169768" cy="2103120"/>
          </a:xfrm>
          <a:prstGeom prst="roundRect">
            <a:avLst>
              <a:gd name="adj" fmla="val 6086"/>
            </a:avLst>
          </a:prstGeom>
          <a:solidFill>
            <a:srgbClr val="1F4FD8"/>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3" name="Picture 12" descr="construction_FFFFFF.png"/>
          <p:cNvPicPr>
            <a:picLocks noChangeAspect="1"/>
          </p:cNvPicPr>
          <p:nvPr/>
        </p:nvPicPr>
        <p:blipFill>
          <a:blip r:embed="rId5"/>
          <a:stretch>
            <a:fillRect/>
          </a:stretch>
        </p:blipFill>
        <p:spPr>
          <a:xfrm>
            <a:off x="822960" y="1965960"/>
            <a:ext cx="411480" cy="411480"/>
          </a:xfrm>
          <a:prstGeom prst="rect">
            <a:avLst/>
          </a:prstGeom>
        </p:spPr>
      </p:pic>
      <p:sp>
        <p:nvSpPr>
          <p:cNvPr id="14" name="TextBox 13"/>
          <p:cNvSpPr txBox="1"/>
          <p:nvPr/>
        </p:nvSpPr>
        <p:spPr>
          <a:xfrm>
            <a:off x="822960" y="2423160"/>
            <a:ext cx="2712568" cy="777240"/>
          </a:xfrm>
          <a:prstGeom prst="rect">
            <a:avLst/>
          </a:prstGeom>
          <a:noFill/>
        </p:spPr>
        <p:txBody>
          <a:bodyPr wrap="none" lIns="0" rIns="0" tIns="0" bIns="0" anchor="ctr">
            <a:noAutofit/>
          </a:bodyPr>
          <a:lstStyle/>
          <a:p>
            <a:pPr algn="l">
              <a:lnSpc>
                <a:spcPct val="100000"/>
              </a:lnSpc>
            </a:pPr>
            <a:r>
              <a:rPr sz="4000" b="1" i="0">
                <a:solidFill>
                  <a:srgbClr val="FFFFFF"/>
                </a:solidFill>
                <a:latin typeface="Lexend Exa"/>
                <a:ea typeface="Lexend Exa"/>
                <a:cs typeface="Lexend Exa"/>
              </a:rPr>
              <a:t>120</a:t>
            </a:r>
            <a:r>
              <a:rPr sz="1800" b="1" i="0">
                <a:solidFill>
                  <a:srgbClr val="FFFFFF"/>
                </a:solidFill>
                <a:latin typeface="Lexend Exa"/>
                <a:ea typeface="Lexend Exa"/>
                <a:cs typeface="Lexend Exa"/>
              </a:rPr>
              <a:t>+</a:t>
            </a:r>
          </a:p>
        </p:txBody>
      </p:sp>
      <p:sp>
        <p:nvSpPr>
          <p:cNvPr id="15" name="TextBox 14"/>
          <p:cNvSpPr txBox="1"/>
          <p:nvPr/>
        </p:nvSpPr>
        <p:spPr>
          <a:xfrm>
            <a:off x="822960" y="3200400"/>
            <a:ext cx="2712568" cy="502920"/>
          </a:xfrm>
          <a:prstGeom prst="rect">
            <a:avLst/>
          </a:prstGeom>
          <a:noFill/>
        </p:spPr>
        <p:txBody>
          <a:bodyPr wrap="square" lIns="0" rIns="0" tIns="0" bIns="0" anchor="t">
            <a:noAutofit/>
          </a:bodyPr>
          <a:lstStyle/>
          <a:p>
            <a:pPr algn="l">
              <a:lnSpc>
                <a:spcPct val="110000"/>
              </a:lnSpc>
            </a:pPr>
            <a:r>
              <a:rPr sz="1100" b="0" i="0">
                <a:solidFill>
                  <a:srgbClr val="FFFFFF"/>
                </a:solidFill>
                <a:latin typeface="Be Vietnam Pro"/>
                <a:ea typeface="Be Vietnam Pro"/>
                <a:cs typeface="Be Vietnam Pro"/>
              </a:rPr>
              <a:t>cẩu tháp, vận thăng và cẩu bánh xích</a:t>
            </a:r>
          </a:p>
        </p:txBody>
      </p:sp>
      <p:sp>
        <p:nvSpPr>
          <p:cNvPr id="16" name="Rounded Rectangle 15"/>
          <p:cNvSpPr/>
          <p:nvPr/>
        </p:nvSpPr>
        <p:spPr>
          <a:xfrm>
            <a:off x="3992728" y="1691640"/>
            <a:ext cx="3169768"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7" name="Picture 16" descr="users_1F4FD8.png"/>
          <p:cNvPicPr>
            <a:picLocks noChangeAspect="1"/>
          </p:cNvPicPr>
          <p:nvPr/>
        </p:nvPicPr>
        <p:blipFill>
          <a:blip r:embed="rId6"/>
          <a:stretch>
            <a:fillRect/>
          </a:stretch>
        </p:blipFill>
        <p:spPr>
          <a:xfrm>
            <a:off x="4267048" y="1965960"/>
            <a:ext cx="411480" cy="411480"/>
          </a:xfrm>
          <a:prstGeom prst="rect">
            <a:avLst/>
          </a:prstGeom>
        </p:spPr>
      </p:pic>
      <p:sp>
        <p:nvSpPr>
          <p:cNvPr id="18" name="TextBox 17"/>
          <p:cNvSpPr txBox="1"/>
          <p:nvPr/>
        </p:nvSpPr>
        <p:spPr>
          <a:xfrm>
            <a:off x="4267048" y="2423160"/>
            <a:ext cx="2712568" cy="777240"/>
          </a:xfrm>
          <a:prstGeom prst="rect">
            <a:avLst/>
          </a:prstGeom>
          <a:noFill/>
        </p:spPr>
        <p:txBody>
          <a:bodyPr wrap="none" lIns="0" rIns="0" tIns="0" bIns="0" anchor="ctr">
            <a:noAutofit/>
          </a:bodyPr>
          <a:lstStyle/>
          <a:p>
            <a:pPr algn="l">
              <a:lnSpc>
                <a:spcPct val="100000"/>
              </a:lnSpc>
            </a:pPr>
            <a:r>
              <a:rPr sz="4000" b="1" i="0">
                <a:solidFill>
                  <a:srgbClr val="0B1F4D"/>
                </a:solidFill>
                <a:latin typeface="Lexend Exa"/>
                <a:ea typeface="Lexend Exa"/>
                <a:cs typeface="Lexend Exa"/>
              </a:rPr>
              <a:t>450</a:t>
            </a:r>
            <a:r>
              <a:rPr sz="1800" b="1" i="0">
                <a:solidFill>
                  <a:srgbClr val="0B1F4D"/>
                </a:solidFill>
                <a:latin typeface="Lexend Exa"/>
                <a:ea typeface="Lexend Exa"/>
                <a:cs typeface="Lexend Exa"/>
              </a:rPr>
              <a:t>+</a:t>
            </a:r>
          </a:p>
        </p:txBody>
      </p:sp>
      <p:sp>
        <p:nvSpPr>
          <p:cNvPr id="19" name="TextBox 18"/>
          <p:cNvSpPr txBox="1"/>
          <p:nvPr/>
        </p:nvSpPr>
        <p:spPr>
          <a:xfrm>
            <a:off x="4267048" y="3200400"/>
            <a:ext cx="2712568" cy="502920"/>
          </a:xfrm>
          <a:prstGeom prst="rect">
            <a:avLst/>
          </a:prstGeom>
          <a:noFill/>
        </p:spPr>
        <p:txBody>
          <a:bodyPr wrap="square" lIns="0" rIns="0" tIns="0" bIns="0" anchor="t">
            <a:noAutofit/>
          </a:bodyPr>
          <a:lstStyle/>
          <a:p>
            <a:pPr algn="l">
              <a:lnSpc>
                <a:spcPct val="110000"/>
              </a:lnSpc>
            </a:pPr>
            <a:r>
              <a:rPr sz="1100" b="0" i="0">
                <a:solidFill>
                  <a:srgbClr val="0B1F4D"/>
                </a:solidFill>
                <a:latin typeface="Be Vietnam Pro"/>
                <a:ea typeface="Be Vietnam Pro"/>
                <a:cs typeface="Be Vietnam Pro"/>
              </a:rPr>
              <a:t>kỹ sư, kiến trúc sư được chứng nhận</a:t>
            </a:r>
          </a:p>
        </p:txBody>
      </p:sp>
      <p:sp>
        <p:nvSpPr>
          <p:cNvPr id="20" name="Rounded Rectangle 19"/>
          <p:cNvSpPr/>
          <p:nvPr/>
        </p:nvSpPr>
        <p:spPr>
          <a:xfrm>
            <a:off x="548640" y="4023360"/>
            <a:ext cx="3169768"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1" name="Picture 20" descr="hard-hat_1F4FD8.png"/>
          <p:cNvPicPr>
            <a:picLocks noChangeAspect="1"/>
          </p:cNvPicPr>
          <p:nvPr/>
        </p:nvPicPr>
        <p:blipFill>
          <a:blip r:embed="rId7"/>
          <a:stretch>
            <a:fillRect/>
          </a:stretch>
        </p:blipFill>
        <p:spPr>
          <a:xfrm>
            <a:off x="822960" y="4297680"/>
            <a:ext cx="411480" cy="411480"/>
          </a:xfrm>
          <a:prstGeom prst="rect">
            <a:avLst/>
          </a:prstGeom>
        </p:spPr>
      </p:pic>
      <p:sp>
        <p:nvSpPr>
          <p:cNvPr id="22" name="TextBox 21"/>
          <p:cNvSpPr txBox="1"/>
          <p:nvPr/>
        </p:nvSpPr>
        <p:spPr>
          <a:xfrm>
            <a:off x="822960" y="4754880"/>
            <a:ext cx="2712568" cy="777240"/>
          </a:xfrm>
          <a:prstGeom prst="rect">
            <a:avLst/>
          </a:prstGeom>
          <a:noFill/>
        </p:spPr>
        <p:txBody>
          <a:bodyPr wrap="none" lIns="0" rIns="0" tIns="0" bIns="0" anchor="ctr">
            <a:noAutofit/>
          </a:bodyPr>
          <a:lstStyle/>
          <a:p>
            <a:pPr algn="l">
              <a:lnSpc>
                <a:spcPct val="100000"/>
              </a:lnSpc>
            </a:pPr>
            <a:r>
              <a:rPr sz="4000" b="1" i="0">
                <a:solidFill>
                  <a:srgbClr val="0B1F4D"/>
                </a:solidFill>
                <a:latin typeface="Lexend Exa"/>
                <a:ea typeface="Lexend Exa"/>
                <a:cs typeface="Lexend Exa"/>
              </a:rPr>
              <a:t>10</a:t>
            </a:r>
            <a:r>
              <a:rPr sz="1800" b="1" i="0">
                <a:solidFill>
                  <a:srgbClr val="0B1F4D"/>
                </a:solidFill>
                <a:latin typeface="Lexend Exa"/>
                <a:ea typeface="Lexend Exa"/>
                <a:cs typeface="Lexend Exa"/>
              </a:rPr>
              <a:t> triệu</a:t>
            </a:r>
          </a:p>
        </p:txBody>
      </p:sp>
      <p:sp>
        <p:nvSpPr>
          <p:cNvPr id="23" name="TextBox 22"/>
          <p:cNvSpPr txBox="1"/>
          <p:nvPr/>
        </p:nvSpPr>
        <p:spPr>
          <a:xfrm>
            <a:off x="822960" y="5532120"/>
            <a:ext cx="2712568" cy="502920"/>
          </a:xfrm>
          <a:prstGeom prst="rect">
            <a:avLst/>
          </a:prstGeom>
          <a:noFill/>
        </p:spPr>
        <p:txBody>
          <a:bodyPr wrap="square" lIns="0" rIns="0" tIns="0" bIns="0" anchor="t">
            <a:noAutofit/>
          </a:bodyPr>
          <a:lstStyle/>
          <a:p>
            <a:pPr algn="l">
              <a:lnSpc>
                <a:spcPct val="110000"/>
              </a:lnSpc>
            </a:pPr>
            <a:r>
              <a:rPr sz="1100" b="0" i="0">
                <a:solidFill>
                  <a:srgbClr val="0B1F4D"/>
                </a:solidFill>
                <a:latin typeface="Be Vietnam Pro"/>
                <a:ea typeface="Be Vietnam Pro"/>
                <a:cs typeface="Be Vietnam Pro"/>
              </a:rPr>
              <a:t>giờ công an toàn liên tục</a:t>
            </a:r>
          </a:p>
        </p:txBody>
      </p:sp>
      <p:sp>
        <p:nvSpPr>
          <p:cNvPr id="24" name="Rounded Rectangle 23"/>
          <p:cNvSpPr/>
          <p:nvPr/>
        </p:nvSpPr>
        <p:spPr>
          <a:xfrm>
            <a:off x="3992728" y="4023360"/>
            <a:ext cx="3169768" cy="2103120"/>
          </a:xfrm>
          <a:prstGeom prst="roundRect">
            <a:avLst>
              <a:gd name="adj" fmla="val 6086"/>
            </a:avLst>
          </a:prstGeom>
          <a:solidFill>
            <a:srgbClr val="1F4FD8"/>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5" name="Picture 24" descr="layers_FFFFFF.png"/>
          <p:cNvPicPr>
            <a:picLocks noChangeAspect="1"/>
          </p:cNvPicPr>
          <p:nvPr/>
        </p:nvPicPr>
        <p:blipFill>
          <a:blip r:embed="rId8"/>
          <a:stretch>
            <a:fillRect/>
          </a:stretch>
        </p:blipFill>
        <p:spPr>
          <a:xfrm>
            <a:off x="4267048" y="4297680"/>
            <a:ext cx="411480" cy="411480"/>
          </a:xfrm>
          <a:prstGeom prst="rect">
            <a:avLst/>
          </a:prstGeom>
        </p:spPr>
      </p:pic>
      <p:sp>
        <p:nvSpPr>
          <p:cNvPr id="26" name="TextBox 25"/>
          <p:cNvSpPr txBox="1"/>
          <p:nvPr/>
        </p:nvSpPr>
        <p:spPr>
          <a:xfrm>
            <a:off x="4267048" y="4754880"/>
            <a:ext cx="2712568" cy="777240"/>
          </a:xfrm>
          <a:prstGeom prst="rect">
            <a:avLst/>
          </a:prstGeom>
          <a:noFill/>
        </p:spPr>
        <p:txBody>
          <a:bodyPr wrap="none" lIns="0" rIns="0" tIns="0" bIns="0" anchor="ctr">
            <a:noAutofit/>
          </a:bodyPr>
          <a:lstStyle/>
          <a:p>
            <a:pPr algn="l">
              <a:lnSpc>
                <a:spcPct val="100000"/>
              </a:lnSpc>
            </a:pPr>
            <a:r>
              <a:rPr sz="4000" b="1" i="0">
                <a:solidFill>
                  <a:srgbClr val="FFFFFF"/>
                </a:solidFill>
                <a:latin typeface="Lexend Exa"/>
                <a:ea typeface="Lexend Exa"/>
                <a:cs typeface="Lexend Exa"/>
              </a:rPr>
              <a:t>30</a:t>
            </a:r>
            <a:r>
              <a:rPr sz="1800" b="1" i="0">
                <a:solidFill>
                  <a:srgbClr val="FFFFFF"/>
                </a:solidFill>
                <a:latin typeface="Lexend Exa"/>
                <a:ea typeface="Lexend Exa"/>
                <a:cs typeface="Lexend Exa"/>
              </a:rPr>
              <a:t/>
            </a:r>
          </a:p>
        </p:txBody>
      </p:sp>
      <p:sp>
        <p:nvSpPr>
          <p:cNvPr id="27" name="TextBox 26"/>
          <p:cNvSpPr txBox="1"/>
          <p:nvPr/>
        </p:nvSpPr>
        <p:spPr>
          <a:xfrm>
            <a:off x="4267048" y="5532120"/>
            <a:ext cx="2712568" cy="502920"/>
          </a:xfrm>
          <a:prstGeom prst="rect">
            <a:avLst/>
          </a:prstGeom>
          <a:noFill/>
        </p:spPr>
        <p:txBody>
          <a:bodyPr wrap="square" lIns="0" rIns="0" tIns="0" bIns="0" anchor="t">
            <a:noAutofit/>
          </a:bodyPr>
          <a:lstStyle/>
          <a:p>
            <a:pPr algn="l">
              <a:lnSpc>
                <a:spcPct val="110000"/>
              </a:lnSpc>
            </a:pPr>
            <a:r>
              <a:rPr sz="1100" b="0" i="0">
                <a:solidFill>
                  <a:srgbClr val="FFFFFF"/>
                </a:solidFill>
                <a:latin typeface="Be Vietnam Pro"/>
                <a:ea typeface="Be Vietnam Pro"/>
                <a:cs typeface="Be Vietnam Pro"/>
              </a:rPr>
              <a:t>dự án triển khai đồng thời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2" presetClass="entr" presetSubtype="2" fill="hold" grpId="0" nodeType="withEffect">
                                  <p:stCondLst>
                                    <p:cond delay="20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00" fill="hold"/>
                                        <p:tgtEl>
                                          <p:spTgt spid="11"/>
                                        </p:tgtEl>
                                        <p:attrNameLst>
                                          <p:attrName>ppt_x</p:attrName>
                                        </p:attrNameLst>
                                      </p:cBhvr>
                                      <p:tavLst>
                                        <p:tav tm="0">
                                          <p:val>
                                            <p:strVal val="1+#ppt_w/2"/>
                                          </p:val>
                                        </p:tav>
                                        <p:tav tm="100000">
                                          <p:val>
                                            <p:strVal val="#ppt_x"/>
                                          </p:val>
                                        </p:tav>
                                      </p:tavLst>
                                    </p:anim>
                                    <p:anim calcmode="lin" valueType="num">
                                      <p:cBhvr additive="base">
                                        <p:cTn id="23" dur="700" fill="hold"/>
                                        <p:tgtEl>
                                          <p:spTgt spid="11"/>
                                        </p:tgtEl>
                                        <p:attrNameLst>
                                          <p:attrName>ppt_y</p:attrName>
                                        </p:attrNameLst>
                                      </p:cBhvr>
                                      <p:tavLst>
                                        <p:tav tm="0">
                                          <p:val>
                                            <p:strVal val="#ppt_y"/>
                                          </p:val>
                                        </p:tav>
                                        <p:tav tm="100000">
                                          <p:val>
                                            <p:strVal val="#ppt_y"/>
                                          </p:val>
                                        </p:tav>
                                      </p:tavLst>
                                    </p:anim>
                                  </p:childTnLst>
                                </p:cTn>
                              </p:par>
                              <p:par>
                                <p:cTn id="24" presetID="10" presetClass="entr" presetSubtype="0" fill="hold" grpId="0" nodeType="withEffect">
                                  <p:stCondLst>
                                    <p:cond delay="2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400"/>
                                        <p:tgtEl>
                                          <p:spTgt spid="8"/>
                                        </p:tgtEl>
                                      </p:cBhvr>
                                    </p:animEffect>
                                  </p:childTnLst>
                                </p:cTn>
                              </p:par>
                              <p:par>
                                <p:cTn id="27" presetID="10" presetClass="entr" presetSubtype="0" fill="hold" grpId="0" nodeType="withEffect">
                                  <p:stCondLst>
                                    <p:cond delay="3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00"/>
                                        <p:tgtEl>
                                          <p:spTgt spid="9"/>
                                        </p:tgtEl>
                                      </p:cBhvr>
                                    </p:animEffect>
                                  </p:childTnLst>
                                </p:cTn>
                              </p:par>
                              <p:par>
                                <p:cTn id="30" presetID="10" presetClass="entr" presetSubtype="0" fill="hold" grpId="0" nodeType="withEffect">
                                  <p:stCondLst>
                                    <p:cond delay="3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00"/>
                                        <p:tgtEl>
                                          <p:spTgt spid="10"/>
                                        </p:tgtEl>
                                      </p:cBhvr>
                                    </p:animEffect>
                                  </p:childTnLst>
                                </p:cTn>
                              </p:par>
                              <p:par>
                                <p:cTn id="33" presetID="53" presetClass="entr" presetSubtype="16" fill="hold" grpId="0" nodeType="withEffect">
                                  <p:stCondLst>
                                    <p:cond delay="40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ppt_w</p:attrName>
                                        </p:attrNameLst>
                                      </p:cBhvr>
                                      <p:tavLst>
                                        <p:tav tm="0">
                                          <p:val>
                                            <p:strVal val="#ppt_w*0.7"/>
                                          </p:val>
                                        </p:tav>
                                        <p:tav tm="100000">
                                          <p:val>
                                            <p:strVal val="#ppt_w"/>
                                          </p:val>
                                        </p:tav>
                                      </p:tavLst>
                                    </p:anim>
                                    <p:anim calcmode="lin" valueType="num">
                                      <p:cBhvr additive="base">
                                        <p:cTn id="36" dur="500" fill="hold"/>
                                        <p:tgtEl>
                                          <p:spTgt spid="12"/>
                                        </p:tgtEl>
                                        <p:attrNameLst>
                                          <p:attrName>ppt_h</p:attrName>
                                        </p:attrNameLst>
                                      </p:cBhvr>
                                      <p:tavLst>
                                        <p:tav tm="0">
                                          <p:val>
                                            <p:strVal val="#ppt_h*0.7"/>
                                          </p:val>
                                        </p:tav>
                                        <p:tav tm="100000">
                                          <p:val>
                                            <p:strVal val="#ppt_h"/>
                                          </p:val>
                                        </p:tav>
                                      </p:tavLst>
                                    </p:anim>
                                    <p:animEffect transition="in" filter="fade">
                                      <p:cBhvr>
                                        <p:cTn id="37" dur="500"/>
                                        <p:tgtEl>
                                          <p:spTgt spid="12"/>
                                        </p:tgtEl>
                                      </p:cBhvr>
                                    </p:animEffect>
                                  </p:childTnLst>
                                </p:cTn>
                              </p:par>
                              <p:par>
                                <p:cTn id="38" presetID="53" presetClass="entr" presetSubtype="16" fill="hold" grpId="0" nodeType="withEffect">
                                  <p:stCondLst>
                                    <p:cond delay="40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ppt_w</p:attrName>
                                        </p:attrNameLst>
                                      </p:cBhvr>
                                      <p:tavLst>
                                        <p:tav tm="0">
                                          <p:val>
                                            <p:strVal val="#ppt_w*0.7"/>
                                          </p:val>
                                        </p:tav>
                                        <p:tav tm="100000">
                                          <p:val>
                                            <p:strVal val="#ppt_w"/>
                                          </p:val>
                                        </p:tav>
                                      </p:tavLst>
                                    </p:anim>
                                    <p:anim calcmode="lin" valueType="num">
                                      <p:cBhvr additive="base">
                                        <p:cTn id="41" dur="500" fill="hold"/>
                                        <p:tgtEl>
                                          <p:spTgt spid="13"/>
                                        </p:tgtEl>
                                        <p:attrNameLst>
                                          <p:attrName>ppt_h</p:attrName>
                                        </p:attrNameLst>
                                      </p:cBhvr>
                                      <p:tavLst>
                                        <p:tav tm="0">
                                          <p:val>
                                            <p:strVal val="#ppt_h*0.7"/>
                                          </p:val>
                                        </p:tav>
                                        <p:tav tm="100000">
                                          <p:val>
                                            <p:strVal val="#ppt_h"/>
                                          </p:val>
                                        </p:tav>
                                      </p:tavLst>
                                    </p:anim>
                                    <p:animEffect transition="in" filter="fade">
                                      <p:cBhvr>
                                        <p:cTn id="42" dur="500"/>
                                        <p:tgtEl>
                                          <p:spTgt spid="13"/>
                                        </p:tgtEl>
                                      </p:cBhvr>
                                    </p:animEffect>
                                  </p:childTnLst>
                                </p:cTn>
                              </p:par>
                              <p:par>
                                <p:cTn id="43" presetID="53" presetClass="entr" presetSubtype="16" fill="hold" grpId="0" nodeType="withEffect">
                                  <p:stCondLst>
                                    <p:cond delay="40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ppt_w</p:attrName>
                                        </p:attrNameLst>
                                      </p:cBhvr>
                                      <p:tavLst>
                                        <p:tav tm="0">
                                          <p:val>
                                            <p:strVal val="#ppt_w*0.7"/>
                                          </p:val>
                                        </p:tav>
                                        <p:tav tm="100000">
                                          <p:val>
                                            <p:strVal val="#ppt_w"/>
                                          </p:val>
                                        </p:tav>
                                      </p:tavLst>
                                    </p:anim>
                                    <p:anim calcmode="lin" valueType="num">
                                      <p:cBhvr additive="base">
                                        <p:cTn id="46" dur="500" fill="hold"/>
                                        <p:tgtEl>
                                          <p:spTgt spid="14"/>
                                        </p:tgtEl>
                                        <p:attrNameLst>
                                          <p:attrName>ppt_h</p:attrName>
                                        </p:attrNameLst>
                                      </p:cBhvr>
                                      <p:tavLst>
                                        <p:tav tm="0">
                                          <p:val>
                                            <p:strVal val="#ppt_h*0.7"/>
                                          </p:val>
                                        </p:tav>
                                        <p:tav tm="100000">
                                          <p:val>
                                            <p:strVal val="#ppt_h"/>
                                          </p:val>
                                        </p:tav>
                                      </p:tavLst>
                                    </p:anim>
                                    <p:animEffect transition="in" filter="fade">
                                      <p:cBhvr>
                                        <p:cTn id="47" dur="500"/>
                                        <p:tgtEl>
                                          <p:spTgt spid="14"/>
                                        </p:tgtEl>
                                      </p:cBhvr>
                                    </p:animEffect>
                                  </p:childTnLst>
                                </p:cTn>
                              </p:par>
                              <p:par>
                                <p:cTn id="48" presetID="53" presetClass="entr" presetSubtype="16" fill="hold" grpId="0" nodeType="withEffect">
                                  <p:stCondLst>
                                    <p:cond delay="40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ppt_w</p:attrName>
                                        </p:attrNameLst>
                                      </p:cBhvr>
                                      <p:tavLst>
                                        <p:tav tm="0">
                                          <p:val>
                                            <p:strVal val="#ppt_w*0.7"/>
                                          </p:val>
                                        </p:tav>
                                        <p:tav tm="100000">
                                          <p:val>
                                            <p:strVal val="#ppt_w"/>
                                          </p:val>
                                        </p:tav>
                                      </p:tavLst>
                                    </p:anim>
                                    <p:anim calcmode="lin" valueType="num">
                                      <p:cBhvr additive="base">
                                        <p:cTn id="51" dur="500" fill="hold"/>
                                        <p:tgtEl>
                                          <p:spTgt spid="15"/>
                                        </p:tgtEl>
                                        <p:attrNameLst>
                                          <p:attrName>ppt_h</p:attrName>
                                        </p:attrNameLst>
                                      </p:cBhvr>
                                      <p:tavLst>
                                        <p:tav tm="0">
                                          <p:val>
                                            <p:strVal val="#ppt_h*0.7"/>
                                          </p:val>
                                        </p:tav>
                                        <p:tav tm="100000">
                                          <p:val>
                                            <p:strVal val="#ppt_h"/>
                                          </p:val>
                                        </p:tav>
                                      </p:tavLst>
                                    </p:anim>
                                    <p:animEffect transition="in" filter="fade">
                                      <p:cBhvr>
                                        <p:cTn id="52" dur="500"/>
                                        <p:tgtEl>
                                          <p:spTgt spid="15"/>
                                        </p:tgtEl>
                                      </p:cBhvr>
                                    </p:animEffect>
                                  </p:childTnLst>
                                </p:cTn>
                              </p:par>
                              <p:par>
                                <p:cTn id="53" presetID="53" presetClass="entr" presetSubtype="16" fill="hold" grpId="0" nodeType="withEffect">
                                  <p:stCondLst>
                                    <p:cond delay="55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ppt_w</p:attrName>
                                        </p:attrNameLst>
                                      </p:cBhvr>
                                      <p:tavLst>
                                        <p:tav tm="0">
                                          <p:val>
                                            <p:strVal val="#ppt_w*0.7"/>
                                          </p:val>
                                        </p:tav>
                                        <p:tav tm="100000">
                                          <p:val>
                                            <p:strVal val="#ppt_w"/>
                                          </p:val>
                                        </p:tav>
                                      </p:tavLst>
                                    </p:anim>
                                    <p:anim calcmode="lin" valueType="num">
                                      <p:cBhvr additive="base">
                                        <p:cTn id="56" dur="500" fill="hold"/>
                                        <p:tgtEl>
                                          <p:spTgt spid="16"/>
                                        </p:tgtEl>
                                        <p:attrNameLst>
                                          <p:attrName>ppt_h</p:attrName>
                                        </p:attrNameLst>
                                      </p:cBhvr>
                                      <p:tavLst>
                                        <p:tav tm="0">
                                          <p:val>
                                            <p:strVal val="#ppt_h*0.7"/>
                                          </p:val>
                                        </p:tav>
                                        <p:tav tm="100000">
                                          <p:val>
                                            <p:strVal val="#ppt_h"/>
                                          </p:val>
                                        </p:tav>
                                      </p:tavLst>
                                    </p:anim>
                                    <p:animEffect transition="in" filter="fade">
                                      <p:cBhvr>
                                        <p:cTn id="57" dur="500"/>
                                        <p:tgtEl>
                                          <p:spTgt spid="16"/>
                                        </p:tgtEl>
                                      </p:cBhvr>
                                    </p:animEffect>
                                  </p:childTnLst>
                                </p:cTn>
                              </p:par>
                              <p:par>
                                <p:cTn id="58" presetID="53" presetClass="entr" presetSubtype="16" fill="hold" grpId="0" nodeType="withEffect">
                                  <p:stCondLst>
                                    <p:cond delay="550"/>
                                  </p:stCondLst>
                                  <p:childTnLst>
                                    <p:set>
                                      <p:cBhvr>
                                        <p:cTn id="59" dur="1" fill="hold">
                                          <p:stCondLst>
                                            <p:cond delay="0"/>
                                          </p:stCondLst>
                                        </p:cTn>
                                        <p:tgtEl>
                                          <p:spTgt spid="17"/>
                                        </p:tgtEl>
                                        <p:attrNameLst>
                                          <p:attrName>style.visibility</p:attrName>
                                        </p:attrNameLst>
                                      </p:cBhvr>
                                      <p:to>
                                        <p:strVal val="visible"/>
                                      </p:to>
                                    </p:set>
                                    <p:anim calcmode="lin" valueType="num">
                                      <p:cBhvr additive="base">
                                        <p:cTn id="60" dur="500" fill="hold"/>
                                        <p:tgtEl>
                                          <p:spTgt spid="17"/>
                                        </p:tgtEl>
                                        <p:attrNameLst>
                                          <p:attrName>ppt_w</p:attrName>
                                        </p:attrNameLst>
                                      </p:cBhvr>
                                      <p:tavLst>
                                        <p:tav tm="0">
                                          <p:val>
                                            <p:strVal val="#ppt_w*0.7"/>
                                          </p:val>
                                        </p:tav>
                                        <p:tav tm="100000">
                                          <p:val>
                                            <p:strVal val="#ppt_w"/>
                                          </p:val>
                                        </p:tav>
                                      </p:tavLst>
                                    </p:anim>
                                    <p:anim calcmode="lin" valueType="num">
                                      <p:cBhvr additive="base">
                                        <p:cTn id="61" dur="500" fill="hold"/>
                                        <p:tgtEl>
                                          <p:spTgt spid="17"/>
                                        </p:tgtEl>
                                        <p:attrNameLst>
                                          <p:attrName>ppt_h</p:attrName>
                                        </p:attrNameLst>
                                      </p:cBhvr>
                                      <p:tavLst>
                                        <p:tav tm="0">
                                          <p:val>
                                            <p:strVal val="#ppt_h*0.7"/>
                                          </p:val>
                                        </p:tav>
                                        <p:tav tm="100000">
                                          <p:val>
                                            <p:strVal val="#ppt_h"/>
                                          </p:val>
                                        </p:tav>
                                      </p:tavLst>
                                    </p:anim>
                                    <p:animEffect transition="in" filter="fade">
                                      <p:cBhvr>
                                        <p:cTn id="62" dur="500"/>
                                        <p:tgtEl>
                                          <p:spTgt spid="17"/>
                                        </p:tgtEl>
                                      </p:cBhvr>
                                    </p:animEffect>
                                  </p:childTnLst>
                                </p:cTn>
                              </p:par>
                              <p:par>
                                <p:cTn id="63" presetID="53" presetClass="entr" presetSubtype="16" fill="hold" grpId="0" nodeType="withEffect">
                                  <p:stCondLst>
                                    <p:cond delay="55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500" fill="hold"/>
                                        <p:tgtEl>
                                          <p:spTgt spid="18"/>
                                        </p:tgtEl>
                                        <p:attrNameLst>
                                          <p:attrName>ppt_w</p:attrName>
                                        </p:attrNameLst>
                                      </p:cBhvr>
                                      <p:tavLst>
                                        <p:tav tm="0">
                                          <p:val>
                                            <p:strVal val="#ppt_w*0.7"/>
                                          </p:val>
                                        </p:tav>
                                        <p:tav tm="100000">
                                          <p:val>
                                            <p:strVal val="#ppt_w"/>
                                          </p:val>
                                        </p:tav>
                                      </p:tavLst>
                                    </p:anim>
                                    <p:anim calcmode="lin" valueType="num">
                                      <p:cBhvr additive="base">
                                        <p:cTn id="66" dur="500" fill="hold"/>
                                        <p:tgtEl>
                                          <p:spTgt spid="18"/>
                                        </p:tgtEl>
                                        <p:attrNameLst>
                                          <p:attrName>ppt_h</p:attrName>
                                        </p:attrNameLst>
                                      </p:cBhvr>
                                      <p:tavLst>
                                        <p:tav tm="0">
                                          <p:val>
                                            <p:strVal val="#ppt_h*0.7"/>
                                          </p:val>
                                        </p:tav>
                                        <p:tav tm="100000">
                                          <p:val>
                                            <p:strVal val="#ppt_h"/>
                                          </p:val>
                                        </p:tav>
                                      </p:tavLst>
                                    </p:anim>
                                    <p:animEffect transition="in" filter="fade">
                                      <p:cBhvr>
                                        <p:cTn id="67" dur="500"/>
                                        <p:tgtEl>
                                          <p:spTgt spid="18"/>
                                        </p:tgtEl>
                                      </p:cBhvr>
                                    </p:animEffect>
                                  </p:childTnLst>
                                </p:cTn>
                              </p:par>
                              <p:par>
                                <p:cTn id="68" presetID="53" presetClass="entr" presetSubtype="16" fill="hold" grpId="0" nodeType="withEffect">
                                  <p:stCondLst>
                                    <p:cond delay="55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00" fill="hold"/>
                                        <p:tgtEl>
                                          <p:spTgt spid="19"/>
                                        </p:tgtEl>
                                        <p:attrNameLst>
                                          <p:attrName>ppt_w</p:attrName>
                                        </p:attrNameLst>
                                      </p:cBhvr>
                                      <p:tavLst>
                                        <p:tav tm="0">
                                          <p:val>
                                            <p:strVal val="#ppt_w*0.7"/>
                                          </p:val>
                                        </p:tav>
                                        <p:tav tm="100000">
                                          <p:val>
                                            <p:strVal val="#ppt_w"/>
                                          </p:val>
                                        </p:tav>
                                      </p:tavLst>
                                    </p:anim>
                                    <p:anim calcmode="lin" valueType="num">
                                      <p:cBhvr additive="base">
                                        <p:cTn id="71" dur="500" fill="hold"/>
                                        <p:tgtEl>
                                          <p:spTgt spid="19"/>
                                        </p:tgtEl>
                                        <p:attrNameLst>
                                          <p:attrName>ppt_h</p:attrName>
                                        </p:attrNameLst>
                                      </p:cBhvr>
                                      <p:tavLst>
                                        <p:tav tm="0">
                                          <p:val>
                                            <p:strVal val="#ppt_h*0.7"/>
                                          </p:val>
                                        </p:tav>
                                        <p:tav tm="100000">
                                          <p:val>
                                            <p:strVal val="#ppt_h"/>
                                          </p:val>
                                        </p:tav>
                                      </p:tavLst>
                                    </p:anim>
                                    <p:animEffect transition="in" filter="fade">
                                      <p:cBhvr>
                                        <p:cTn id="72" dur="500"/>
                                        <p:tgtEl>
                                          <p:spTgt spid="19"/>
                                        </p:tgtEl>
                                      </p:cBhvr>
                                    </p:animEffect>
                                  </p:childTnLst>
                                </p:cTn>
                              </p:par>
                              <p:par>
                                <p:cTn id="73" presetID="53" presetClass="entr" presetSubtype="16" fill="hold" grpId="0" nodeType="withEffect">
                                  <p:stCondLst>
                                    <p:cond delay="70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fill="hold"/>
                                        <p:tgtEl>
                                          <p:spTgt spid="20"/>
                                        </p:tgtEl>
                                        <p:attrNameLst>
                                          <p:attrName>ppt_w</p:attrName>
                                        </p:attrNameLst>
                                      </p:cBhvr>
                                      <p:tavLst>
                                        <p:tav tm="0">
                                          <p:val>
                                            <p:strVal val="#ppt_w*0.7"/>
                                          </p:val>
                                        </p:tav>
                                        <p:tav tm="100000">
                                          <p:val>
                                            <p:strVal val="#ppt_w"/>
                                          </p:val>
                                        </p:tav>
                                      </p:tavLst>
                                    </p:anim>
                                    <p:anim calcmode="lin" valueType="num">
                                      <p:cBhvr additive="base">
                                        <p:cTn id="76" dur="500" fill="hold"/>
                                        <p:tgtEl>
                                          <p:spTgt spid="20"/>
                                        </p:tgtEl>
                                        <p:attrNameLst>
                                          <p:attrName>ppt_h</p:attrName>
                                        </p:attrNameLst>
                                      </p:cBhvr>
                                      <p:tavLst>
                                        <p:tav tm="0">
                                          <p:val>
                                            <p:strVal val="#ppt_h*0.7"/>
                                          </p:val>
                                        </p:tav>
                                        <p:tav tm="100000">
                                          <p:val>
                                            <p:strVal val="#ppt_h"/>
                                          </p:val>
                                        </p:tav>
                                      </p:tavLst>
                                    </p:anim>
                                    <p:animEffect transition="in" filter="fade">
                                      <p:cBhvr>
                                        <p:cTn id="77" dur="500"/>
                                        <p:tgtEl>
                                          <p:spTgt spid="20"/>
                                        </p:tgtEl>
                                      </p:cBhvr>
                                    </p:animEffect>
                                  </p:childTnLst>
                                </p:cTn>
                              </p:par>
                              <p:par>
                                <p:cTn id="78" presetID="53" presetClass="entr" presetSubtype="16" fill="hold" grpId="0" nodeType="withEffect">
                                  <p:stCondLst>
                                    <p:cond delay="700"/>
                                  </p:stCondLst>
                                  <p:childTnLst>
                                    <p:set>
                                      <p:cBhvr>
                                        <p:cTn id="79" dur="1" fill="hold">
                                          <p:stCondLst>
                                            <p:cond delay="0"/>
                                          </p:stCondLst>
                                        </p:cTn>
                                        <p:tgtEl>
                                          <p:spTgt spid="21"/>
                                        </p:tgtEl>
                                        <p:attrNameLst>
                                          <p:attrName>style.visibility</p:attrName>
                                        </p:attrNameLst>
                                      </p:cBhvr>
                                      <p:to>
                                        <p:strVal val="visible"/>
                                      </p:to>
                                    </p:set>
                                    <p:anim calcmode="lin" valueType="num">
                                      <p:cBhvr additive="base">
                                        <p:cTn id="80" dur="500" fill="hold"/>
                                        <p:tgtEl>
                                          <p:spTgt spid="21"/>
                                        </p:tgtEl>
                                        <p:attrNameLst>
                                          <p:attrName>ppt_w</p:attrName>
                                        </p:attrNameLst>
                                      </p:cBhvr>
                                      <p:tavLst>
                                        <p:tav tm="0">
                                          <p:val>
                                            <p:strVal val="#ppt_w*0.7"/>
                                          </p:val>
                                        </p:tav>
                                        <p:tav tm="100000">
                                          <p:val>
                                            <p:strVal val="#ppt_w"/>
                                          </p:val>
                                        </p:tav>
                                      </p:tavLst>
                                    </p:anim>
                                    <p:anim calcmode="lin" valueType="num">
                                      <p:cBhvr additive="base">
                                        <p:cTn id="81" dur="500" fill="hold"/>
                                        <p:tgtEl>
                                          <p:spTgt spid="21"/>
                                        </p:tgtEl>
                                        <p:attrNameLst>
                                          <p:attrName>ppt_h</p:attrName>
                                        </p:attrNameLst>
                                      </p:cBhvr>
                                      <p:tavLst>
                                        <p:tav tm="0">
                                          <p:val>
                                            <p:strVal val="#ppt_h*0.7"/>
                                          </p:val>
                                        </p:tav>
                                        <p:tav tm="100000">
                                          <p:val>
                                            <p:strVal val="#ppt_h"/>
                                          </p:val>
                                        </p:tav>
                                      </p:tavLst>
                                    </p:anim>
                                    <p:animEffect transition="in" filter="fade">
                                      <p:cBhvr>
                                        <p:cTn id="82" dur="500"/>
                                        <p:tgtEl>
                                          <p:spTgt spid="21"/>
                                        </p:tgtEl>
                                      </p:cBhvr>
                                    </p:animEffect>
                                  </p:childTnLst>
                                </p:cTn>
                              </p:par>
                              <p:par>
                                <p:cTn id="83" presetID="53" presetClass="entr" presetSubtype="16" fill="hold" grpId="0" nodeType="withEffect">
                                  <p:stCondLst>
                                    <p:cond delay="700"/>
                                  </p:stCondLst>
                                  <p:childTnLst>
                                    <p:set>
                                      <p:cBhvr>
                                        <p:cTn id="84" dur="1" fill="hold">
                                          <p:stCondLst>
                                            <p:cond delay="0"/>
                                          </p:stCondLst>
                                        </p:cTn>
                                        <p:tgtEl>
                                          <p:spTgt spid="22"/>
                                        </p:tgtEl>
                                        <p:attrNameLst>
                                          <p:attrName>style.visibility</p:attrName>
                                        </p:attrNameLst>
                                      </p:cBhvr>
                                      <p:to>
                                        <p:strVal val="visible"/>
                                      </p:to>
                                    </p:set>
                                    <p:anim calcmode="lin" valueType="num">
                                      <p:cBhvr additive="base">
                                        <p:cTn id="85" dur="500" fill="hold"/>
                                        <p:tgtEl>
                                          <p:spTgt spid="22"/>
                                        </p:tgtEl>
                                        <p:attrNameLst>
                                          <p:attrName>ppt_w</p:attrName>
                                        </p:attrNameLst>
                                      </p:cBhvr>
                                      <p:tavLst>
                                        <p:tav tm="0">
                                          <p:val>
                                            <p:strVal val="#ppt_w*0.7"/>
                                          </p:val>
                                        </p:tav>
                                        <p:tav tm="100000">
                                          <p:val>
                                            <p:strVal val="#ppt_w"/>
                                          </p:val>
                                        </p:tav>
                                      </p:tavLst>
                                    </p:anim>
                                    <p:anim calcmode="lin" valueType="num">
                                      <p:cBhvr additive="base">
                                        <p:cTn id="86" dur="500" fill="hold"/>
                                        <p:tgtEl>
                                          <p:spTgt spid="22"/>
                                        </p:tgtEl>
                                        <p:attrNameLst>
                                          <p:attrName>ppt_h</p:attrName>
                                        </p:attrNameLst>
                                      </p:cBhvr>
                                      <p:tavLst>
                                        <p:tav tm="0">
                                          <p:val>
                                            <p:strVal val="#ppt_h*0.7"/>
                                          </p:val>
                                        </p:tav>
                                        <p:tav tm="100000">
                                          <p:val>
                                            <p:strVal val="#ppt_h"/>
                                          </p:val>
                                        </p:tav>
                                      </p:tavLst>
                                    </p:anim>
                                    <p:animEffect transition="in" filter="fade">
                                      <p:cBhvr>
                                        <p:cTn id="87" dur="500"/>
                                        <p:tgtEl>
                                          <p:spTgt spid="22"/>
                                        </p:tgtEl>
                                      </p:cBhvr>
                                    </p:animEffect>
                                  </p:childTnLst>
                                </p:cTn>
                              </p:par>
                              <p:par>
                                <p:cTn id="88" presetID="53" presetClass="entr" presetSubtype="16" fill="hold" grpId="0" nodeType="withEffect">
                                  <p:stCondLst>
                                    <p:cond delay="700"/>
                                  </p:stCondLst>
                                  <p:childTnLst>
                                    <p:set>
                                      <p:cBhvr>
                                        <p:cTn id="89" dur="1" fill="hold">
                                          <p:stCondLst>
                                            <p:cond delay="0"/>
                                          </p:stCondLst>
                                        </p:cTn>
                                        <p:tgtEl>
                                          <p:spTgt spid="23"/>
                                        </p:tgtEl>
                                        <p:attrNameLst>
                                          <p:attrName>style.visibility</p:attrName>
                                        </p:attrNameLst>
                                      </p:cBhvr>
                                      <p:to>
                                        <p:strVal val="visible"/>
                                      </p:to>
                                    </p:set>
                                    <p:anim calcmode="lin" valueType="num">
                                      <p:cBhvr additive="base">
                                        <p:cTn id="90" dur="500" fill="hold"/>
                                        <p:tgtEl>
                                          <p:spTgt spid="23"/>
                                        </p:tgtEl>
                                        <p:attrNameLst>
                                          <p:attrName>ppt_w</p:attrName>
                                        </p:attrNameLst>
                                      </p:cBhvr>
                                      <p:tavLst>
                                        <p:tav tm="0">
                                          <p:val>
                                            <p:strVal val="#ppt_w*0.7"/>
                                          </p:val>
                                        </p:tav>
                                        <p:tav tm="100000">
                                          <p:val>
                                            <p:strVal val="#ppt_w"/>
                                          </p:val>
                                        </p:tav>
                                      </p:tavLst>
                                    </p:anim>
                                    <p:anim calcmode="lin" valueType="num">
                                      <p:cBhvr additive="base">
                                        <p:cTn id="91" dur="500" fill="hold"/>
                                        <p:tgtEl>
                                          <p:spTgt spid="23"/>
                                        </p:tgtEl>
                                        <p:attrNameLst>
                                          <p:attrName>ppt_h</p:attrName>
                                        </p:attrNameLst>
                                      </p:cBhvr>
                                      <p:tavLst>
                                        <p:tav tm="0">
                                          <p:val>
                                            <p:strVal val="#ppt_h*0.7"/>
                                          </p:val>
                                        </p:tav>
                                        <p:tav tm="100000">
                                          <p:val>
                                            <p:strVal val="#ppt_h"/>
                                          </p:val>
                                        </p:tav>
                                      </p:tavLst>
                                    </p:anim>
                                    <p:animEffect transition="in" filter="fade">
                                      <p:cBhvr>
                                        <p:cTn id="92" dur="500"/>
                                        <p:tgtEl>
                                          <p:spTgt spid="23"/>
                                        </p:tgtEl>
                                      </p:cBhvr>
                                    </p:animEffect>
                                  </p:childTnLst>
                                </p:cTn>
                              </p:par>
                              <p:par>
                                <p:cTn id="93" presetID="53" presetClass="entr" presetSubtype="16" fill="hold" grpId="0" nodeType="withEffect">
                                  <p:stCondLst>
                                    <p:cond delay="850"/>
                                  </p:stCondLst>
                                  <p:childTnLst>
                                    <p:set>
                                      <p:cBhvr>
                                        <p:cTn id="94" dur="1" fill="hold">
                                          <p:stCondLst>
                                            <p:cond delay="0"/>
                                          </p:stCondLst>
                                        </p:cTn>
                                        <p:tgtEl>
                                          <p:spTgt spid="24"/>
                                        </p:tgtEl>
                                        <p:attrNameLst>
                                          <p:attrName>style.visibility</p:attrName>
                                        </p:attrNameLst>
                                      </p:cBhvr>
                                      <p:to>
                                        <p:strVal val="visible"/>
                                      </p:to>
                                    </p:set>
                                    <p:anim calcmode="lin" valueType="num">
                                      <p:cBhvr additive="base">
                                        <p:cTn id="95" dur="500" fill="hold"/>
                                        <p:tgtEl>
                                          <p:spTgt spid="24"/>
                                        </p:tgtEl>
                                        <p:attrNameLst>
                                          <p:attrName>ppt_w</p:attrName>
                                        </p:attrNameLst>
                                      </p:cBhvr>
                                      <p:tavLst>
                                        <p:tav tm="0">
                                          <p:val>
                                            <p:strVal val="#ppt_w*0.7"/>
                                          </p:val>
                                        </p:tav>
                                        <p:tav tm="100000">
                                          <p:val>
                                            <p:strVal val="#ppt_w"/>
                                          </p:val>
                                        </p:tav>
                                      </p:tavLst>
                                    </p:anim>
                                    <p:anim calcmode="lin" valueType="num">
                                      <p:cBhvr additive="base">
                                        <p:cTn id="96" dur="500" fill="hold"/>
                                        <p:tgtEl>
                                          <p:spTgt spid="24"/>
                                        </p:tgtEl>
                                        <p:attrNameLst>
                                          <p:attrName>ppt_h</p:attrName>
                                        </p:attrNameLst>
                                      </p:cBhvr>
                                      <p:tavLst>
                                        <p:tav tm="0">
                                          <p:val>
                                            <p:strVal val="#ppt_h*0.7"/>
                                          </p:val>
                                        </p:tav>
                                        <p:tav tm="100000">
                                          <p:val>
                                            <p:strVal val="#ppt_h"/>
                                          </p:val>
                                        </p:tav>
                                      </p:tavLst>
                                    </p:anim>
                                    <p:animEffect transition="in" filter="fade">
                                      <p:cBhvr>
                                        <p:cTn id="97" dur="500"/>
                                        <p:tgtEl>
                                          <p:spTgt spid="24"/>
                                        </p:tgtEl>
                                      </p:cBhvr>
                                    </p:animEffect>
                                  </p:childTnLst>
                                </p:cTn>
                              </p:par>
                              <p:par>
                                <p:cTn id="98" presetID="53" presetClass="entr" presetSubtype="16" fill="hold" grpId="0" nodeType="withEffect">
                                  <p:stCondLst>
                                    <p:cond delay="850"/>
                                  </p:stCondLst>
                                  <p:childTnLst>
                                    <p:set>
                                      <p:cBhvr>
                                        <p:cTn id="99" dur="1" fill="hold">
                                          <p:stCondLst>
                                            <p:cond delay="0"/>
                                          </p:stCondLst>
                                        </p:cTn>
                                        <p:tgtEl>
                                          <p:spTgt spid="25"/>
                                        </p:tgtEl>
                                        <p:attrNameLst>
                                          <p:attrName>style.visibility</p:attrName>
                                        </p:attrNameLst>
                                      </p:cBhvr>
                                      <p:to>
                                        <p:strVal val="visible"/>
                                      </p:to>
                                    </p:set>
                                    <p:anim calcmode="lin" valueType="num">
                                      <p:cBhvr additive="base">
                                        <p:cTn id="100" dur="500" fill="hold"/>
                                        <p:tgtEl>
                                          <p:spTgt spid="25"/>
                                        </p:tgtEl>
                                        <p:attrNameLst>
                                          <p:attrName>ppt_w</p:attrName>
                                        </p:attrNameLst>
                                      </p:cBhvr>
                                      <p:tavLst>
                                        <p:tav tm="0">
                                          <p:val>
                                            <p:strVal val="#ppt_w*0.7"/>
                                          </p:val>
                                        </p:tav>
                                        <p:tav tm="100000">
                                          <p:val>
                                            <p:strVal val="#ppt_w"/>
                                          </p:val>
                                        </p:tav>
                                      </p:tavLst>
                                    </p:anim>
                                    <p:anim calcmode="lin" valueType="num">
                                      <p:cBhvr additive="base">
                                        <p:cTn id="101" dur="500" fill="hold"/>
                                        <p:tgtEl>
                                          <p:spTgt spid="25"/>
                                        </p:tgtEl>
                                        <p:attrNameLst>
                                          <p:attrName>ppt_h</p:attrName>
                                        </p:attrNameLst>
                                      </p:cBhvr>
                                      <p:tavLst>
                                        <p:tav tm="0">
                                          <p:val>
                                            <p:strVal val="#ppt_h*0.7"/>
                                          </p:val>
                                        </p:tav>
                                        <p:tav tm="100000">
                                          <p:val>
                                            <p:strVal val="#ppt_h"/>
                                          </p:val>
                                        </p:tav>
                                      </p:tavLst>
                                    </p:anim>
                                    <p:animEffect transition="in" filter="fade">
                                      <p:cBhvr>
                                        <p:cTn id="102" dur="500"/>
                                        <p:tgtEl>
                                          <p:spTgt spid="25"/>
                                        </p:tgtEl>
                                      </p:cBhvr>
                                    </p:animEffect>
                                  </p:childTnLst>
                                </p:cTn>
                              </p:par>
                              <p:par>
                                <p:cTn id="103" presetID="53" presetClass="entr" presetSubtype="16" fill="hold" grpId="0" nodeType="withEffect">
                                  <p:stCondLst>
                                    <p:cond delay="850"/>
                                  </p:stCondLst>
                                  <p:childTnLst>
                                    <p:set>
                                      <p:cBhvr>
                                        <p:cTn id="104" dur="1" fill="hold">
                                          <p:stCondLst>
                                            <p:cond delay="0"/>
                                          </p:stCondLst>
                                        </p:cTn>
                                        <p:tgtEl>
                                          <p:spTgt spid="26"/>
                                        </p:tgtEl>
                                        <p:attrNameLst>
                                          <p:attrName>style.visibility</p:attrName>
                                        </p:attrNameLst>
                                      </p:cBhvr>
                                      <p:to>
                                        <p:strVal val="visible"/>
                                      </p:to>
                                    </p:set>
                                    <p:anim calcmode="lin" valueType="num">
                                      <p:cBhvr additive="base">
                                        <p:cTn id="105" dur="500" fill="hold"/>
                                        <p:tgtEl>
                                          <p:spTgt spid="26"/>
                                        </p:tgtEl>
                                        <p:attrNameLst>
                                          <p:attrName>ppt_w</p:attrName>
                                        </p:attrNameLst>
                                      </p:cBhvr>
                                      <p:tavLst>
                                        <p:tav tm="0">
                                          <p:val>
                                            <p:strVal val="#ppt_w*0.7"/>
                                          </p:val>
                                        </p:tav>
                                        <p:tav tm="100000">
                                          <p:val>
                                            <p:strVal val="#ppt_w"/>
                                          </p:val>
                                        </p:tav>
                                      </p:tavLst>
                                    </p:anim>
                                    <p:anim calcmode="lin" valueType="num">
                                      <p:cBhvr additive="base">
                                        <p:cTn id="106" dur="500" fill="hold"/>
                                        <p:tgtEl>
                                          <p:spTgt spid="26"/>
                                        </p:tgtEl>
                                        <p:attrNameLst>
                                          <p:attrName>ppt_h</p:attrName>
                                        </p:attrNameLst>
                                      </p:cBhvr>
                                      <p:tavLst>
                                        <p:tav tm="0">
                                          <p:val>
                                            <p:strVal val="#ppt_h*0.7"/>
                                          </p:val>
                                        </p:tav>
                                        <p:tav tm="100000">
                                          <p:val>
                                            <p:strVal val="#ppt_h"/>
                                          </p:val>
                                        </p:tav>
                                      </p:tavLst>
                                    </p:anim>
                                    <p:animEffect transition="in" filter="fade">
                                      <p:cBhvr>
                                        <p:cTn id="107" dur="500"/>
                                        <p:tgtEl>
                                          <p:spTgt spid="26"/>
                                        </p:tgtEl>
                                      </p:cBhvr>
                                    </p:animEffect>
                                  </p:childTnLst>
                                </p:cTn>
                              </p:par>
                              <p:par>
                                <p:cTn id="108" presetID="53" presetClass="entr" presetSubtype="16" fill="hold" grpId="0" nodeType="withEffect">
                                  <p:stCondLst>
                                    <p:cond delay="850"/>
                                  </p:stCondLst>
                                  <p:childTnLst>
                                    <p:set>
                                      <p:cBhvr>
                                        <p:cTn id="109" dur="1" fill="hold">
                                          <p:stCondLst>
                                            <p:cond delay="0"/>
                                          </p:stCondLst>
                                        </p:cTn>
                                        <p:tgtEl>
                                          <p:spTgt spid="27"/>
                                        </p:tgtEl>
                                        <p:attrNameLst>
                                          <p:attrName>style.visibility</p:attrName>
                                        </p:attrNameLst>
                                      </p:cBhvr>
                                      <p:to>
                                        <p:strVal val="visible"/>
                                      </p:to>
                                    </p:set>
                                    <p:anim calcmode="lin" valueType="num">
                                      <p:cBhvr additive="base">
                                        <p:cTn id="110" dur="500" fill="hold"/>
                                        <p:tgtEl>
                                          <p:spTgt spid="27"/>
                                        </p:tgtEl>
                                        <p:attrNameLst>
                                          <p:attrName>ppt_w</p:attrName>
                                        </p:attrNameLst>
                                      </p:cBhvr>
                                      <p:tavLst>
                                        <p:tav tm="0">
                                          <p:val>
                                            <p:strVal val="#ppt_w*0.7"/>
                                          </p:val>
                                        </p:tav>
                                        <p:tav tm="100000">
                                          <p:val>
                                            <p:strVal val="#ppt_w"/>
                                          </p:val>
                                        </p:tav>
                                      </p:tavLst>
                                    </p:anim>
                                    <p:anim calcmode="lin" valueType="num">
                                      <p:cBhvr additive="base">
                                        <p:cTn id="111" dur="500" fill="hold"/>
                                        <p:tgtEl>
                                          <p:spTgt spid="27"/>
                                        </p:tgtEl>
                                        <p:attrNameLst>
                                          <p:attrName>ppt_h</p:attrName>
                                        </p:attrNameLst>
                                      </p:cBhvr>
                                      <p:tavLst>
                                        <p:tav tm="0">
                                          <p:val>
                                            <p:strVal val="#ppt_h*0.7"/>
                                          </p:val>
                                        </p:tav>
                                        <p:tav tm="100000">
                                          <p:val>
                                            <p:strVal val="#ppt_h"/>
                                          </p:val>
                                        </p:tav>
                                      </p:tavLst>
                                    </p:anim>
                                    <p:animEffect transition="in" filter="fade">
                                      <p:cBhvr>
                                        <p:cTn id="1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bg" descr="light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4"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1F4FD8"/>
                </a:solidFill>
                <a:latin typeface="Lexend Exa"/>
                <a:ea typeface="Lexend Exa"/>
                <a:cs typeface="Lexend Exa"/>
              </a:rPr>
              <a:t>KIẾN TẠO</a:t>
            </a:r>
          </a:p>
        </p:txBody>
      </p:sp>
      <p:sp>
        <p:nvSpPr>
          <p:cNvPr id="5" name="!!tag"/>
          <p:cNvSpPr/>
          <p:nvPr/>
        </p:nvSpPr>
        <p:spPr>
          <a:xfrm>
            <a:off x="548640" y="292608"/>
            <a:ext cx="1384518" cy="329184"/>
          </a:xfrm>
          <a:prstGeom prst="roundRect">
            <a:avLst>
              <a:gd name="adj" fmla="val 50000"/>
            </a:avLst>
          </a:prstGeom>
          <a:solidFill>
            <a:srgbClr val="FFFFFF"/>
          </a:solidFill>
          <a:ln w="9525">
            <a:solidFill>
              <a:srgbClr val="D5DEEE"/>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04</a:t>
            </a:r>
          </a:p>
        </p:txBody>
      </p:sp>
      <p:sp>
        <p:nvSpPr>
          <p:cNvPr id="7" name="!!tag_text"/>
          <p:cNvSpPr txBox="1"/>
          <p:nvPr/>
        </p:nvSpPr>
        <p:spPr>
          <a:xfrm>
            <a:off x="896112" y="292608"/>
            <a:ext cx="1018758" cy="329184"/>
          </a:xfrm>
          <a:prstGeom prst="rect">
            <a:avLst/>
          </a:prstGeom>
          <a:noFill/>
        </p:spPr>
        <p:txBody>
          <a:bodyPr wrap="square" lIns="0" rIns="0" tIns="0" bIns="0" anchor="ctr">
            <a:noAutofit/>
          </a:bodyPr>
          <a:lstStyle/>
          <a:p>
            <a:pPr algn="l"/>
            <a:r>
              <a:rPr sz="900" b="0" i="0" spc="100">
                <a:solidFill>
                  <a:srgbClr val="0B1F4D"/>
                </a:solidFill>
                <a:latin typeface="Be Vietnam Pro SemiBold"/>
                <a:ea typeface="Be Vietnam Pro SemiBold"/>
                <a:cs typeface="Be Vietnam Pro SemiBold"/>
              </a:rPr>
              <a:t>TÀI CHÍNH</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B1F4D"/>
                </a:solidFill>
                <a:latin typeface="Lexend Exa"/>
                <a:ea typeface="Lexend Exa"/>
                <a:cs typeface="Lexend Exa"/>
              </a:rPr>
              <a:t>NĂNG LỰC TÀI CHÍNH</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A5878"/>
                </a:solidFill>
                <a:latin typeface="Be Vietnam Pro"/>
                <a:ea typeface="Be Vietnam Pro"/>
                <a:cs typeface="Be Vietnam Pro"/>
              </a:rPr>
              <a:t>Tăng trưởng ổn định, cơ cấu tài chính lành mạnh</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A97B5"/>
                </a:solidFill>
                <a:latin typeface="Be Vietnam Pro SemiBold"/>
                <a:ea typeface="Be Vietnam Pro SemiBold"/>
                <a:cs typeface="Be Vietnam Pro SemiBold"/>
              </a:rPr>
              <a:t>14</a:t>
            </a:r>
          </a:p>
        </p:txBody>
      </p:sp>
      <p:sp>
        <p:nvSpPr>
          <p:cNvPr id="11" name="Rounded Rectangle 10"/>
          <p:cNvSpPr/>
          <p:nvPr/>
        </p:nvSpPr>
        <p:spPr>
          <a:xfrm>
            <a:off x="548640" y="1691640"/>
            <a:ext cx="7315200" cy="4526280"/>
          </a:xfrm>
          <a:prstGeom prst="roundRect">
            <a:avLst>
              <a:gd name="adj" fmla="val 2828"/>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graphicFrame>
        <p:nvGraphicFramePr>
          <p:cNvPr id="12" name="Chart 11"/>
          <p:cNvGraphicFramePr>
            <a:graphicFrameLocks noGrp="1"/>
          </p:cNvGraphicFramePr>
          <p:nvPr/>
        </p:nvGraphicFramePr>
        <p:xfrm>
          <a:off x="777240" y="1874520"/>
          <a:ext cx="6858000" cy="3931920"/>
        </p:xfrm>
        <a:graphic>
          <a:graphicData uri="http://schemas.openxmlformats.org/drawingml/2006/chart">
            <c:chart xmlns:c="http://schemas.openxmlformats.org/drawingml/2006/chart" r:id="rId4"/>
          </a:graphicData>
        </a:graphic>
      </p:graphicFrame>
      <p:sp>
        <p:nvSpPr>
          <p:cNvPr id="13" name="TextBox 12"/>
          <p:cNvSpPr txBox="1"/>
          <p:nvPr/>
        </p:nvSpPr>
        <p:spPr>
          <a:xfrm>
            <a:off x="822960" y="5806440"/>
            <a:ext cx="6766560" cy="320040"/>
          </a:xfrm>
          <a:prstGeom prst="rect">
            <a:avLst/>
          </a:prstGeom>
          <a:noFill/>
        </p:spPr>
        <p:txBody>
          <a:bodyPr wrap="square" lIns="0" rIns="0" tIns="0" bIns="0" anchor="t">
            <a:noAutofit/>
          </a:bodyPr>
          <a:lstStyle/>
          <a:p>
            <a:pPr algn="l"/>
            <a:r>
              <a:rPr sz="950" b="0" i="1">
                <a:solidFill>
                  <a:srgbClr val="8A97B5"/>
                </a:solidFill>
                <a:latin typeface="Be Vietnam Pro"/>
                <a:ea typeface="Be Vietnam Pro"/>
                <a:cs typeface="Be Vietnam Pro"/>
              </a:rPr>
              <a:t>Số liệu minh họa — thay bằng báo cáo tài chính đã kiểm toán.</a:t>
            </a:r>
          </a:p>
        </p:txBody>
      </p:sp>
      <p:sp>
        <p:nvSpPr>
          <p:cNvPr id="14" name="Rounded Rectangle 13"/>
          <p:cNvSpPr/>
          <p:nvPr/>
        </p:nvSpPr>
        <p:spPr>
          <a:xfrm>
            <a:off x="8138160" y="1691640"/>
            <a:ext cx="3504895" cy="1371600"/>
          </a:xfrm>
          <a:prstGeom prst="roundRect">
            <a:avLst>
              <a:gd name="adj" fmla="val 9333"/>
            </a:avLst>
          </a:prstGeom>
          <a:solidFill>
            <a:srgbClr val="1F4FD8"/>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5" name="TextBox 14"/>
          <p:cNvSpPr txBox="1"/>
          <p:nvPr/>
        </p:nvSpPr>
        <p:spPr>
          <a:xfrm>
            <a:off x="8412480" y="1801368"/>
            <a:ext cx="3047695" cy="685800"/>
          </a:xfrm>
          <a:prstGeom prst="rect">
            <a:avLst/>
          </a:prstGeom>
          <a:noFill/>
        </p:spPr>
        <p:txBody>
          <a:bodyPr wrap="none" lIns="0" rIns="0" tIns="0" bIns="0" anchor="ctr">
            <a:noAutofit/>
          </a:bodyPr>
          <a:lstStyle/>
          <a:p>
            <a:pPr algn="l">
              <a:lnSpc>
                <a:spcPct val="100000"/>
              </a:lnSpc>
            </a:pPr>
            <a:r>
              <a:rPr sz="3000" b="1" i="0">
                <a:solidFill>
                  <a:srgbClr val="FFFFFF"/>
                </a:solidFill>
                <a:latin typeface="Lexend Exa"/>
                <a:ea typeface="Lexend Exa"/>
                <a:cs typeface="Lexend Exa"/>
              </a:rPr>
              <a:t>14.500</a:t>
            </a:r>
            <a:r>
              <a:rPr sz="1500" b="1" i="0">
                <a:solidFill>
                  <a:srgbClr val="FFFFFF"/>
                </a:solidFill>
                <a:latin typeface="Lexend Exa"/>
                <a:ea typeface="Lexend Exa"/>
                <a:cs typeface="Lexend Exa"/>
              </a:rPr>
              <a:t> tỷ</a:t>
            </a:r>
          </a:p>
        </p:txBody>
      </p:sp>
      <p:sp>
        <p:nvSpPr>
          <p:cNvPr id="16" name="TextBox 15"/>
          <p:cNvSpPr txBox="1"/>
          <p:nvPr/>
        </p:nvSpPr>
        <p:spPr>
          <a:xfrm>
            <a:off x="8412480" y="2468880"/>
            <a:ext cx="3047695" cy="502920"/>
          </a:xfrm>
          <a:prstGeom prst="rect">
            <a:avLst/>
          </a:prstGeom>
          <a:noFill/>
        </p:spPr>
        <p:txBody>
          <a:bodyPr wrap="square" lIns="0" rIns="0" tIns="0" bIns="0" anchor="t">
            <a:noAutofit/>
          </a:bodyPr>
          <a:lstStyle/>
          <a:p>
            <a:pPr algn="l">
              <a:lnSpc>
                <a:spcPct val="110000"/>
              </a:lnSpc>
            </a:pPr>
            <a:r>
              <a:rPr sz="1050" b="0" i="0">
                <a:solidFill>
                  <a:srgbClr val="FFFFFF"/>
                </a:solidFill>
                <a:latin typeface="Be Vietnam Pro"/>
                <a:ea typeface="Be Vietnam Pro"/>
                <a:cs typeface="Be Vietnam Pro"/>
              </a:rPr>
              <a:t>doanh thu năm 2025</a:t>
            </a:r>
          </a:p>
        </p:txBody>
      </p:sp>
      <p:sp>
        <p:nvSpPr>
          <p:cNvPr id="17" name="Rounded Rectangle 16"/>
          <p:cNvSpPr/>
          <p:nvPr/>
        </p:nvSpPr>
        <p:spPr>
          <a:xfrm>
            <a:off x="8138160" y="3246120"/>
            <a:ext cx="3504895" cy="1371600"/>
          </a:xfrm>
          <a:prstGeom prst="roundRect">
            <a:avLst>
              <a:gd name="adj" fmla="val 933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8" name="TextBox 17"/>
          <p:cNvSpPr txBox="1"/>
          <p:nvPr/>
        </p:nvSpPr>
        <p:spPr>
          <a:xfrm>
            <a:off x="8412480" y="3355848"/>
            <a:ext cx="3047695" cy="685800"/>
          </a:xfrm>
          <a:prstGeom prst="rect">
            <a:avLst/>
          </a:prstGeom>
          <a:noFill/>
        </p:spPr>
        <p:txBody>
          <a:bodyPr wrap="none" lIns="0" rIns="0" tIns="0" bIns="0" anchor="ctr">
            <a:noAutofit/>
          </a:bodyPr>
          <a:lstStyle/>
          <a:p>
            <a:pPr algn="l">
              <a:lnSpc>
                <a:spcPct val="100000"/>
              </a:lnSpc>
            </a:pPr>
            <a:r>
              <a:rPr sz="3000" b="1" i="0">
                <a:solidFill>
                  <a:srgbClr val="1F4FD8"/>
                </a:solidFill>
                <a:latin typeface="Lexend Exa"/>
                <a:ea typeface="Lexend Exa"/>
                <a:cs typeface="Lexend Exa"/>
              </a:rPr>
              <a:t>15</a:t>
            </a:r>
            <a:r>
              <a:rPr sz="1500" b="1" i="0">
                <a:solidFill>
                  <a:srgbClr val="1F4FD8"/>
                </a:solidFill>
                <a:latin typeface="Lexend Exa"/>
                <a:ea typeface="Lexend Exa"/>
                <a:cs typeface="Lexend Exa"/>
              </a:rPr>
              <a:t>%</a:t>
            </a:r>
          </a:p>
        </p:txBody>
      </p:sp>
      <p:sp>
        <p:nvSpPr>
          <p:cNvPr id="19" name="TextBox 18"/>
          <p:cNvSpPr txBox="1"/>
          <p:nvPr/>
        </p:nvSpPr>
        <p:spPr>
          <a:xfrm>
            <a:off x="8412480" y="4023360"/>
            <a:ext cx="3047695" cy="502920"/>
          </a:xfrm>
          <a:prstGeom prst="rect">
            <a:avLst/>
          </a:prstGeom>
          <a:noFill/>
        </p:spPr>
        <p:txBody>
          <a:bodyPr wrap="square" lIns="0" rIns="0" tIns="0" bIns="0" anchor="t">
            <a:noAutofit/>
          </a:bodyPr>
          <a:lstStyle/>
          <a:p>
            <a:pPr algn="l">
              <a:lnSpc>
                <a:spcPct val="110000"/>
              </a:lnSpc>
            </a:pPr>
            <a:r>
              <a:rPr sz="1050" b="0" i="0">
                <a:solidFill>
                  <a:srgbClr val="4A5878"/>
                </a:solidFill>
                <a:latin typeface="Be Vietnam Pro"/>
                <a:ea typeface="Be Vietnam Pro"/>
                <a:cs typeface="Be Vietnam Pro"/>
              </a:rPr>
              <a:t>tăng trưởng bình quân/năm</a:t>
            </a:r>
          </a:p>
        </p:txBody>
      </p:sp>
      <p:sp>
        <p:nvSpPr>
          <p:cNvPr id="20" name="Rounded Rectangle 19"/>
          <p:cNvSpPr/>
          <p:nvPr/>
        </p:nvSpPr>
        <p:spPr>
          <a:xfrm>
            <a:off x="8138160" y="4800600"/>
            <a:ext cx="3504895" cy="1371600"/>
          </a:xfrm>
          <a:prstGeom prst="roundRect">
            <a:avLst>
              <a:gd name="adj" fmla="val 933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TextBox 20"/>
          <p:cNvSpPr txBox="1"/>
          <p:nvPr/>
        </p:nvSpPr>
        <p:spPr>
          <a:xfrm>
            <a:off x="8412480" y="4910328"/>
            <a:ext cx="3047695" cy="685800"/>
          </a:xfrm>
          <a:prstGeom prst="rect">
            <a:avLst/>
          </a:prstGeom>
          <a:noFill/>
        </p:spPr>
        <p:txBody>
          <a:bodyPr wrap="none" lIns="0" rIns="0" tIns="0" bIns="0" anchor="ctr">
            <a:noAutofit/>
          </a:bodyPr>
          <a:lstStyle/>
          <a:p>
            <a:pPr algn="l">
              <a:lnSpc>
                <a:spcPct val="100000"/>
              </a:lnSpc>
            </a:pPr>
            <a:r>
              <a:rPr sz="3000" b="1" i="0">
                <a:solidFill>
                  <a:srgbClr val="1F4FD8"/>
                </a:solidFill>
                <a:latin typeface="Lexend Exa"/>
                <a:ea typeface="Lexend Exa"/>
                <a:cs typeface="Lexend Exa"/>
              </a:rPr>
              <a:t>0,8</a:t>
            </a:r>
            <a:r>
              <a:rPr sz="1500" b="1" i="0">
                <a:solidFill>
                  <a:srgbClr val="1F4FD8"/>
                </a:solidFill>
                <a:latin typeface="Lexend Exa"/>
                <a:ea typeface="Lexend Exa"/>
                <a:cs typeface="Lexend Exa"/>
              </a:rPr>
              <a:t> lần</a:t>
            </a:r>
          </a:p>
        </p:txBody>
      </p:sp>
      <p:sp>
        <p:nvSpPr>
          <p:cNvPr id="22" name="TextBox 21"/>
          <p:cNvSpPr txBox="1"/>
          <p:nvPr/>
        </p:nvSpPr>
        <p:spPr>
          <a:xfrm>
            <a:off x="8412480" y="5577840"/>
            <a:ext cx="3047695" cy="502920"/>
          </a:xfrm>
          <a:prstGeom prst="rect">
            <a:avLst/>
          </a:prstGeom>
          <a:noFill/>
        </p:spPr>
        <p:txBody>
          <a:bodyPr wrap="square" lIns="0" rIns="0" tIns="0" bIns="0" anchor="t">
            <a:noAutofit/>
          </a:bodyPr>
          <a:lstStyle/>
          <a:p>
            <a:pPr algn="l">
              <a:lnSpc>
                <a:spcPct val="110000"/>
              </a:lnSpc>
            </a:pPr>
            <a:r>
              <a:rPr sz="1050" b="0" i="0">
                <a:solidFill>
                  <a:srgbClr val="4A5878"/>
                </a:solidFill>
                <a:latin typeface="Be Vietnam Pro"/>
                <a:ea typeface="Be Vietnam Pro"/>
                <a:cs typeface="Be Vietnam Pro"/>
              </a:rPr>
              <a:t>hệ số nợ/vốn chủ sở hữu</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22" presetClass="entr" presetSubtype="4" fill="hold" grpId="0" nodeType="withEffect">
                                  <p:stCondLst>
                                    <p:cond delay="400"/>
                                  </p:stCondLst>
                                  <p:childTnLst>
                                    <p:set>
                                      <p:cBhvr>
                                        <p:cTn id="33" dur="1" fill="hold">
                                          <p:stCondLst>
                                            <p:cond delay="0"/>
                                          </p:stCondLst>
                                        </p:cTn>
                                        <p:tgtEl>
                                          <p:spTgt spid="12"/>
                                        </p:tgtEl>
                                        <p:attrNameLst>
                                          <p:attrName>style.visibility</p:attrName>
                                        </p:attrNameLst>
                                      </p:cBhvr>
                                      <p:to>
                                        <p:strVal val="visible"/>
                                      </p:to>
                                    </p:set>
                                    <p:animEffect transition="in" filter="wipe(down)">
                                      <p:cBhvr>
                                        <p:cTn id="34" dur="1000"/>
                                        <p:tgtEl>
                                          <p:spTgt spid="12"/>
                                        </p:tgtEl>
                                      </p:cBhvr>
                                    </p:animEffect>
                                  </p:childTnLst>
                                </p:cTn>
                              </p:par>
                              <p:par>
                                <p:cTn id="35" presetID="2" presetClass="entr" presetSubtype="2" fill="hold" grpId="0" nodeType="withEffect">
                                  <p:stCondLst>
                                    <p:cond delay="50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1+#ppt_w/2"/>
                                          </p:val>
                                        </p:tav>
                                        <p:tav tm="100000">
                                          <p:val>
                                            <p:strVal val="#ppt_x"/>
                                          </p:val>
                                        </p:tav>
                                      </p:tavLst>
                                    </p:anim>
                                    <p:anim calcmode="lin" valueType="num">
                                      <p:cBhvr additive="base">
                                        <p:cTn id="38" dur="500" fill="hold"/>
                                        <p:tgtEl>
                                          <p:spTgt spid="14"/>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50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1+#ppt_w/2"/>
                                          </p:val>
                                        </p:tav>
                                        <p:tav tm="100000">
                                          <p:val>
                                            <p:strVal val="#ppt_x"/>
                                          </p:val>
                                        </p:tav>
                                      </p:tavLst>
                                    </p:anim>
                                    <p:anim calcmode="lin" valueType="num">
                                      <p:cBhvr additive="base">
                                        <p:cTn id="42" dur="500" fill="hold"/>
                                        <p:tgtEl>
                                          <p:spTgt spid="15"/>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50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1+#ppt_w/2"/>
                                          </p:val>
                                        </p:tav>
                                        <p:tav tm="100000">
                                          <p:val>
                                            <p:strVal val="#ppt_x"/>
                                          </p:val>
                                        </p:tav>
                                      </p:tavLst>
                                    </p:anim>
                                    <p:anim calcmode="lin" valueType="num">
                                      <p:cBhvr additive="base">
                                        <p:cTn id="46" dur="500" fill="hold"/>
                                        <p:tgtEl>
                                          <p:spTgt spid="16"/>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70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1+#ppt_w/2"/>
                                          </p:val>
                                        </p:tav>
                                        <p:tav tm="100000">
                                          <p:val>
                                            <p:strVal val="#ppt_x"/>
                                          </p:val>
                                        </p:tav>
                                      </p:tavLst>
                                    </p:anim>
                                    <p:anim calcmode="lin" valueType="num">
                                      <p:cBhvr additive="base">
                                        <p:cTn id="50" dur="500" fill="hold"/>
                                        <p:tgtEl>
                                          <p:spTgt spid="17"/>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70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500" fill="hold"/>
                                        <p:tgtEl>
                                          <p:spTgt spid="18"/>
                                        </p:tgtEl>
                                        <p:attrNameLst>
                                          <p:attrName>ppt_x</p:attrName>
                                        </p:attrNameLst>
                                      </p:cBhvr>
                                      <p:tavLst>
                                        <p:tav tm="0">
                                          <p:val>
                                            <p:strVal val="1+#ppt_w/2"/>
                                          </p:val>
                                        </p:tav>
                                        <p:tav tm="100000">
                                          <p:val>
                                            <p:strVal val="#ppt_x"/>
                                          </p:val>
                                        </p:tav>
                                      </p:tavLst>
                                    </p:anim>
                                    <p:anim calcmode="lin" valueType="num">
                                      <p:cBhvr additive="base">
                                        <p:cTn id="54" dur="500" fill="hold"/>
                                        <p:tgtEl>
                                          <p:spTgt spid="18"/>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70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1+#ppt_w/2"/>
                                          </p:val>
                                        </p:tav>
                                        <p:tav tm="100000">
                                          <p:val>
                                            <p:strVal val="#ppt_x"/>
                                          </p:val>
                                        </p:tav>
                                      </p:tavLst>
                                    </p:anim>
                                    <p:anim calcmode="lin" valueType="num">
                                      <p:cBhvr additive="base">
                                        <p:cTn id="58" dur="500" fill="hold"/>
                                        <p:tgtEl>
                                          <p:spTgt spid="19"/>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899"/>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1+#ppt_w/2"/>
                                          </p:val>
                                        </p:tav>
                                        <p:tav tm="100000">
                                          <p:val>
                                            <p:strVal val="#ppt_x"/>
                                          </p:val>
                                        </p:tav>
                                      </p:tavLst>
                                    </p:anim>
                                    <p:anim calcmode="lin" valueType="num">
                                      <p:cBhvr additive="base">
                                        <p:cTn id="62" dur="500" fill="hold"/>
                                        <p:tgtEl>
                                          <p:spTgt spid="20"/>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899"/>
                                  </p:stCondLst>
                                  <p:childTnLst>
                                    <p:set>
                                      <p:cBhvr>
                                        <p:cTn id="64" dur="1" fill="hold">
                                          <p:stCondLst>
                                            <p:cond delay="0"/>
                                          </p:stCondLst>
                                        </p:cTn>
                                        <p:tgtEl>
                                          <p:spTgt spid="21"/>
                                        </p:tgtEl>
                                        <p:attrNameLst>
                                          <p:attrName>style.visibility</p:attrName>
                                        </p:attrNameLst>
                                      </p:cBhvr>
                                      <p:to>
                                        <p:strVal val="visible"/>
                                      </p:to>
                                    </p:set>
                                    <p:anim calcmode="lin" valueType="num">
                                      <p:cBhvr additive="base">
                                        <p:cTn id="65" dur="500" fill="hold"/>
                                        <p:tgtEl>
                                          <p:spTgt spid="21"/>
                                        </p:tgtEl>
                                        <p:attrNameLst>
                                          <p:attrName>ppt_x</p:attrName>
                                        </p:attrNameLst>
                                      </p:cBhvr>
                                      <p:tavLst>
                                        <p:tav tm="0">
                                          <p:val>
                                            <p:strVal val="1+#ppt_w/2"/>
                                          </p:val>
                                        </p:tav>
                                        <p:tav tm="100000">
                                          <p:val>
                                            <p:strVal val="#ppt_x"/>
                                          </p:val>
                                        </p:tav>
                                      </p:tavLst>
                                    </p:anim>
                                    <p:anim calcmode="lin" valueType="num">
                                      <p:cBhvr additive="base">
                                        <p:cTn id="66" dur="500" fill="hold"/>
                                        <p:tgtEl>
                                          <p:spTgt spid="21"/>
                                        </p:tgtEl>
                                        <p:attrNameLst>
                                          <p:attrName>ppt_y</p:attrName>
                                        </p:attrNameLst>
                                      </p:cBhvr>
                                      <p:tavLst>
                                        <p:tav tm="0">
                                          <p:val>
                                            <p:strVal val="#ppt_y"/>
                                          </p:val>
                                        </p:tav>
                                        <p:tav tm="100000">
                                          <p:val>
                                            <p:strVal val="#ppt_y"/>
                                          </p:val>
                                        </p:tav>
                                      </p:tavLst>
                                    </p:anim>
                                  </p:childTnLst>
                                </p:cTn>
                              </p:par>
                              <p:par>
                                <p:cTn id="67" presetID="2" presetClass="entr" presetSubtype="2" fill="hold" grpId="0" nodeType="withEffect">
                                  <p:stCondLst>
                                    <p:cond delay="899"/>
                                  </p:stCondLst>
                                  <p:childTnLst>
                                    <p:set>
                                      <p:cBhvr>
                                        <p:cTn id="68" dur="1" fill="hold">
                                          <p:stCondLst>
                                            <p:cond delay="0"/>
                                          </p:stCondLst>
                                        </p:cTn>
                                        <p:tgtEl>
                                          <p:spTgt spid="22"/>
                                        </p:tgtEl>
                                        <p:attrNameLst>
                                          <p:attrName>style.visibility</p:attrName>
                                        </p:attrNameLst>
                                      </p:cBhvr>
                                      <p:to>
                                        <p:strVal val="visible"/>
                                      </p:to>
                                    </p:set>
                                    <p:anim calcmode="lin" valueType="num">
                                      <p:cBhvr additive="base">
                                        <p:cTn id="69" dur="500" fill="hold"/>
                                        <p:tgtEl>
                                          <p:spTgt spid="22"/>
                                        </p:tgtEl>
                                        <p:attrNameLst>
                                          <p:attrName>ppt_x</p:attrName>
                                        </p:attrNameLst>
                                      </p:cBhvr>
                                      <p:tavLst>
                                        <p:tav tm="0">
                                          <p:val>
                                            <p:strVal val="1+#ppt_w/2"/>
                                          </p:val>
                                        </p:tav>
                                        <p:tav tm="100000">
                                          <p:val>
                                            <p:strVal val="#ppt_x"/>
                                          </p:val>
                                        </p:tav>
                                      </p:tavLst>
                                    </p:anim>
                                    <p:anim calcmode="lin" valueType="num">
                                      <p:cBhvr additive="base">
                                        <p:cTn id="70" dur="500" fill="hold"/>
                                        <p:tgtEl>
                                          <p:spTgt spid="22"/>
                                        </p:tgtEl>
                                        <p:attrNameLst>
                                          <p:attrName>ppt_y</p:attrName>
                                        </p:attrNameLst>
                                      </p:cBhvr>
                                      <p:tavLst>
                                        <p:tav tm="0">
                                          <p:val>
                                            <p:strVal val="#ppt_y"/>
                                          </p:val>
                                        </p:tav>
                                        <p:tav tm="100000">
                                          <p:val>
                                            <p:strVal val="#ppt_y"/>
                                          </p:val>
                                        </p:tav>
                                      </p:tavLst>
                                    </p:anim>
                                  </p:childTnLst>
                                </p:cTn>
                              </p:par>
                              <p:par>
                                <p:cTn id="71" presetID="10" presetClass="entr" presetSubtype="0" fill="hold" grpId="0" nodeType="withEffect">
                                  <p:stCondLst>
                                    <p:cond delay="1200"/>
                                  </p:stCondLst>
                                  <p:childTnLst>
                                    <p:set>
                                      <p:cBhvr>
                                        <p:cTn id="72" dur="1" fill="hold">
                                          <p:stCondLst>
                                            <p:cond delay="0"/>
                                          </p:stCondLst>
                                        </p:cTn>
                                        <p:tgtEl>
                                          <p:spTgt spid="13"/>
                                        </p:tgtEl>
                                        <p:attrNameLst>
                                          <p:attrName>style.visibility</p:attrName>
                                        </p:attrNameLst>
                                      </p:cBhvr>
                                      <p:to>
                                        <p:strVal val="visible"/>
                                      </p:to>
                                    </p:set>
                                    <p:animEffect transition="in" filter="fade">
                                      <p:cBhvr>
                                        <p:cTn id="73"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animBg="1"/>
      <p:bldP spid="8" grpId="0" animBg="1"/>
      <p:bldP spid="9" grpId="0" animBg="1"/>
      <p:bldP spid="10" grpId="0" animBg="1"/>
      <p:bldGraphic spid="12" grpId="0">
        <p:bldAsOne/>
      </p:bldGraphic>
      <p:bldP spid="14" grpId="0" animBg="1"/>
      <p:bldP spid="15" grpId="0" animBg="1"/>
      <p:bldP spid="16" grpId="0" animBg="1"/>
      <p:bldP spid="17" grpId="0" animBg="1"/>
      <p:bldP spid="18" grpId="0" animBg="1"/>
      <p:bldP spid="19" grpId="0" animBg="1"/>
      <p:bldP spid="20" grpId="0" animBg="1"/>
      <p:bldP spid="21" grpId="0" animBg="1"/>
      <p:bldP spid="22" grpId="0" animBg="1"/>
      <p:bldP spid="13"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bg" descr="light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4"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1F4FD8"/>
                </a:solidFill>
                <a:latin typeface="Lexend Exa"/>
                <a:ea typeface="Lexend Exa"/>
                <a:cs typeface="Lexend Exa"/>
              </a:rPr>
              <a:t>KIẾN TẠO</a:t>
            </a:r>
          </a:p>
        </p:txBody>
      </p:sp>
      <p:sp>
        <p:nvSpPr>
          <p:cNvPr id="5" name="!!tag"/>
          <p:cNvSpPr/>
          <p:nvPr/>
        </p:nvSpPr>
        <p:spPr>
          <a:xfrm>
            <a:off x="548640" y="292608"/>
            <a:ext cx="1384518" cy="329184"/>
          </a:xfrm>
          <a:prstGeom prst="roundRect">
            <a:avLst>
              <a:gd name="adj" fmla="val 50000"/>
            </a:avLst>
          </a:prstGeom>
          <a:solidFill>
            <a:srgbClr val="FFFFFF"/>
          </a:solidFill>
          <a:ln w="9525">
            <a:solidFill>
              <a:srgbClr val="D5DEEE"/>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04</a:t>
            </a:r>
          </a:p>
        </p:txBody>
      </p:sp>
      <p:sp>
        <p:nvSpPr>
          <p:cNvPr id="7" name="!!tag_text"/>
          <p:cNvSpPr txBox="1"/>
          <p:nvPr/>
        </p:nvSpPr>
        <p:spPr>
          <a:xfrm>
            <a:off x="896112" y="292608"/>
            <a:ext cx="1018758" cy="329184"/>
          </a:xfrm>
          <a:prstGeom prst="rect">
            <a:avLst/>
          </a:prstGeom>
          <a:noFill/>
        </p:spPr>
        <p:txBody>
          <a:bodyPr wrap="square" lIns="0" rIns="0" tIns="0" bIns="0" anchor="ctr">
            <a:noAutofit/>
          </a:bodyPr>
          <a:lstStyle/>
          <a:p>
            <a:pPr algn="l"/>
            <a:r>
              <a:rPr sz="900" b="0" i="0" spc="100">
                <a:solidFill>
                  <a:srgbClr val="0B1F4D"/>
                </a:solidFill>
                <a:latin typeface="Be Vietnam Pro SemiBold"/>
                <a:ea typeface="Be Vietnam Pro SemiBold"/>
                <a:cs typeface="Be Vietnam Pro SemiBold"/>
              </a:rPr>
              <a:t>TÀI CHÍNH</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B1F4D"/>
                </a:solidFill>
                <a:latin typeface="Lexend Exa"/>
                <a:ea typeface="Lexend Exa"/>
                <a:cs typeface="Lexend Exa"/>
              </a:rPr>
              <a:t>HỆ THỐNG QUẢN LÝ &amp; CHỨNG CHỈ</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A5878"/>
                </a:solidFill>
                <a:latin typeface="Be Vietnam Pro"/>
                <a:ea typeface="Be Vietnam Pro"/>
                <a:cs typeface="Be Vietnam Pro"/>
              </a:rPr>
              <a:t>Quy trình chuẩn hóa theo các tiêu chuẩn quốc tế</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A97B5"/>
                </a:solidFill>
                <a:latin typeface="Be Vietnam Pro SemiBold"/>
                <a:ea typeface="Be Vietnam Pro SemiBold"/>
                <a:cs typeface="Be Vietnam Pro SemiBold"/>
              </a:rPr>
              <a:t>15</a:t>
            </a:r>
          </a:p>
        </p:txBody>
      </p:sp>
      <p:graphicFrame>
        <p:nvGraphicFramePr>
          <p:cNvPr id="11" name="Table 10"/>
          <p:cNvGraphicFramePr>
            <a:graphicFrameLocks noGrp="1"/>
          </p:cNvGraphicFramePr>
          <p:nvPr/>
        </p:nvGraphicFramePr>
        <p:xfrm>
          <a:off x="548640" y="1783080"/>
          <a:ext cx="11094415" cy="3950208"/>
        </p:xfrm>
        <a:graphic>
          <a:graphicData uri="http://schemas.openxmlformats.org/drawingml/2006/table">
            <a:tbl>
              <a:tblPr firstRow="0" bandRow="0">
                <a:tableStyleId>{2D5ABB26-0587-4C30-8999-92F81FD0307C}</a:tableStyleId>
              </a:tblPr>
              <a:tblGrid>
                <a:gridCol w="2259973"/>
                <a:gridCol w="4314495"/>
                <a:gridCol w="2670878"/>
                <a:gridCol w="1849069"/>
              </a:tblGrid>
              <a:tr h="658368">
                <a:tc>
                  <a:txBody>
                    <a:bodyPr wrap="square"/>
                    <a:lstStyle/>
                    <a:p>
                      <a:pPr algn="ctr"/>
                      <a:r>
                        <a:rPr sz="1200" b="0" i="0">
                          <a:solidFill>
                            <a:srgbClr val="FFFFFF"/>
                          </a:solidFill>
                          <a:latin typeface="Be Vietnam Pro SemiBold"/>
                          <a:ea typeface="Be Vietnam Pro SemiBold"/>
                          <a:cs typeface="Be Vietnam Pro SemiBold"/>
                        </a:rPr>
                        <a:t>Tiêu chuẩn</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1F4FD8"/>
                    </a:solidFill>
                  </a:tcPr>
                </a:tc>
                <a:tc>
                  <a:txBody>
                    <a:bodyPr wrap="square"/>
                    <a:lstStyle/>
                    <a:p>
                      <a:pPr algn="ctr"/>
                      <a:r>
                        <a:rPr sz="1200" b="0" i="0">
                          <a:solidFill>
                            <a:srgbClr val="FFFFFF"/>
                          </a:solidFill>
                          <a:latin typeface="Be Vietnam Pro SemiBold"/>
                          <a:ea typeface="Be Vietnam Pro SemiBold"/>
                          <a:cs typeface="Be Vietnam Pro SemiBold"/>
                        </a:rPr>
                        <a:t>Phạm vi áp dụng</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1F4FD8"/>
                    </a:solidFill>
                  </a:tcPr>
                </a:tc>
                <a:tc>
                  <a:txBody>
                    <a:bodyPr wrap="square"/>
                    <a:lstStyle/>
                    <a:p>
                      <a:pPr algn="ctr"/>
                      <a:r>
                        <a:rPr sz="1200" b="0" i="0">
                          <a:solidFill>
                            <a:srgbClr val="FFFFFF"/>
                          </a:solidFill>
                          <a:latin typeface="Be Vietnam Pro SemiBold"/>
                          <a:ea typeface="Be Vietnam Pro SemiBold"/>
                          <a:cs typeface="Be Vietnam Pro SemiBold"/>
                        </a:rPr>
                        <a:t>Tổ chức chứng nhận</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1F4FD8"/>
                    </a:solidFill>
                  </a:tcPr>
                </a:tc>
                <a:tc>
                  <a:txBody>
                    <a:bodyPr wrap="square"/>
                    <a:lstStyle/>
                    <a:p>
                      <a:pPr algn="ctr"/>
                      <a:r>
                        <a:rPr sz="1200" b="0" i="0">
                          <a:solidFill>
                            <a:srgbClr val="FFFFFF"/>
                          </a:solidFill>
                          <a:latin typeface="Be Vietnam Pro SemiBold"/>
                          <a:ea typeface="Be Vietnam Pro SemiBold"/>
                          <a:cs typeface="Be Vietnam Pro SemiBold"/>
                        </a:rPr>
                        <a:t>Hiệu lực</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1F4FD8"/>
                    </a:solidFill>
                  </a:tcPr>
                </a:tc>
              </a:tr>
              <a:tr h="658368">
                <a:tc>
                  <a:txBody>
                    <a:bodyPr wrap="square"/>
                    <a:lstStyle/>
                    <a:p>
                      <a:pPr algn="l"/>
                      <a:r>
                        <a:rPr sz="1150" b="0" i="0">
                          <a:solidFill>
                            <a:srgbClr val="0B1F4D"/>
                          </a:solidFill>
                          <a:latin typeface="Be Vietnam Pro SemiBold"/>
                          <a:ea typeface="Be Vietnam Pro SemiBold"/>
                          <a:cs typeface="Be Vietnam Pro SemiBold"/>
                        </a:rPr>
                        <a:t>ISO 9001:2015</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c>
                  <a:txBody>
                    <a:bodyPr wrap="square"/>
                    <a:lstStyle/>
                    <a:p>
                      <a:pPr algn="ctr"/>
                      <a:r>
                        <a:rPr sz="1150" b="0" i="0">
                          <a:solidFill>
                            <a:srgbClr val="0B1F4D"/>
                          </a:solidFill>
                          <a:latin typeface="Be Vietnam Pro"/>
                          <a:ea typeface="Be Vietnam Pro"/>
                          <a:cs typeface="Be Vietnam Pro"/>
                        </a:rPr>
                        <a:t>Quản lý chất lượng thi công</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c>
                  <a:txBody>
                    <a:bodyPr wrap="square"/>
                    <a:lstStyle/>
                    <a:p>
                      <a:pPr algn="ctr"/>
                      <a:r>
                        <a:rPr sz="1150" b="0" i="0">
                          <a:solidFill>
                            <a:srgbClr val="0B1F4D"/>
                          </a:solidFill>
                          <a:latin typeface="Be Vietnam Pro"/>
                          <a:ea typeface="Be Vietnam Pro"/>
                          <a:cs typeface="Be Vietnam Pro"/>
                        </a:rPr>
                        <a:t>Bureau Veritas</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c>
                  <a:txBody>
                    <a:bodyPr wrap="square"/>
                    <a:lstStyle/>
                    <a:p>
                      <a:pPr algn="ctr"/>
                      <a:r>
                        <a:rPr sz="1150" b="0" i="0">
                          <a:solidFill>
                            <a:srgbClr val="0B1F4D"/>
                          </a:solidFill>
                          <a:latin typeface="Be Vietnam Pro"/>
                          <a:ea typeface="Be Vietnam Pro"/>
                          <a:cs typeface="Be Vietnam Pro"/>
                        </a:rPr>
                        <a:t>2024 – 2027</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r>
              <a:tr h="658368">
                <a:tc>
                  <a:txBody>
                    <a:bodyPr wrap="square"/>
                    <a:lstStyle/>
                    <a:p>
                      <a:pPr algn="l"/>
                      <a:r>
                        <a:rPr sz="1150" b="0" i="0">
                          <a:solidFill>
                            <a:srgbClr val="0B1F4D"/>
                          </a:solidFill>
                          <a:latin typeface="Be Vietnam Pro SemiBold"/>
                          <a:ea typeface="Be Vietnam Pro SemiBold"/>
                          <a:cs typeface="Be Vietnam Pro SemiBold"/>
                        </a:rPr>
                        <a:t>ISO 14001:2015</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DCE7F7"/>
                    </a:solidFill>
                  </a:tcPr>
                </a:tc>
                <a:tc>
                  <a:txBody>
                    <a:bodyPr wrap="square"/>
                    <a:lstStyle/>
                    <a:p>
                      <a:pPr algn="ctr"/>
                      <a:r>
                        <a:rPr sz="1150" b="0" i="0">
                          <a:solidFill>
                            <a:srgbClr val="0B1F4D"/>
                          </a:solidFill>
                          <a:latin typeface="Be Vietnam Pro"/>
                          <a:ea typeface="Be Vietnam Pro"/>
                          <a:cs typeface="Be Vietnam Pro"/>
                        </a:rPr>
                        <a:t>Quản lý môi trường công trường</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DCE7F7"/>
                    </a:solidFill>
                  </a:tcPr>
                </a:tc>
                <a:tc>
                  <a:txBody>
                    <a:bodyPr wrap="square"/>
                    <a:lstStyle/>
                    <a:p>
                      <a:pPr algn="ctr"/>
                      <a:r>
                        <a:rPr sz="1150" b="0" i="0">
                          <a:solidFill>
                            <a:srgbClr val="0B1F4D"/>
                          </a:solidFill>
                          <a:latin typeface="Be Vietnam Pro"/>
                          <a:ea typeface="Be Vietnam Pro"/>
                          <a:cs typeface="Be Vietnam Pro"/>
                        </a:rPr>
                        <a:t>Bureau Veritas</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DCE7F7"/>
                    </a:solidFill>
                  </a:tcPr>
                </a:tc>
                <a:tc>
                  <a:txBody>
                    <a:bodyPr wrap="square"/>
                    <a:lstStyle/>
                    <a:p>
                      <a:pPr algn="ctr"/>
                      <a:r>
                        <a:rPr sz="1150" b="0" i="0">
                          <a:solidFill>
                            <a:srgbClr val="0B1F4D"/>
                          </a:solidFill>
                          <a:latin typeface="Be Vietnam Pro"/>
                          <a:ea typeface="Be Vietnam Pro"/>
                          <a:cs typeface="Be Vietnam Pro"/>
                        </a:rPr>
                        <a:t>2024 – 2027</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DCE7F7"/>
                    </a:solidFill>
                  </a:tcPr>
                </a:tc>
              </a:tr>
              <a:tr h="658368">
                <a:tc>
                  <a:txBody>
                    <a:bodyPr wrap="square"/>
                    <a:lstStyle/>
                    <a:p>
                      <a:pPr algn="l"/>
                      <a:r>
                        <a:rPr sz="1150" b="0" i="0">
                          <a:solidFill>
                            <a:srgbClr val="0B1F4D"/>
                          </a:solidFill>
                          <a:latin typeface="Be Vietnam Pro SemiBold"/>
                          <a:ea typeface="Be Vietnam Pro SemiBold"/>
                          <a:cs typeface="Be Vietnam Pro SemiBold"/>
                        </a:rPr>
                        <a:t>ISO 45001:2018</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c>
                  <a:txBody>
                    <a:bodyPr wrap="square"/>
                    <a:lstStyle/>
                    <a:p>
                      <a:pPr algn="ctr"/>
                      <a:r>
                        <a:rPr sz="1150" b="0" i="0">
                          <a:solidFill>
                            <a:srgbClr val="0B1F4D"/>
                          </a:solidFill>
                          <a:latin typeface="Be Vietnam Pro"/>
                          <a:ea typeface="Be Vietnam Pro"/>
                          <a:cs typeface="Be Vietnam Pro"/>
                        </a:rPr>
                        <a:t>An toàn và sức khỏe nghề nghiệp</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c>
                  <a:txBody>
                    <a:bodyPr wrap="square"/>
                    <a:lstStyle/>
                    <a:p>
                      <a:pPr algn="ctr"/>
                      <a:r>
                        <a:rPr sz="1150" b="0" i="0">
                          <a:solidFill>
                            <a:srgbClr val="0B1F4D"/>
                          </a:solidFill>
                          <a:latin typeface="Be Vietnam Pro"/>
                          <a:ea typeface="Be Vietnam Pro"/>
                          <a:cs typeface="Be Vietnam Pro"/>
                        </a:rPr>
                        <a:t>TÜV Nord</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c>
                  <a:txBody>
                    <a:bodyPr wrap="square"/>
                    <a:lstStyle/>
                    <a:p>
                      <a:pPr algn="ctr"/>
                      <a:r>
                        <a:rPr sz="1150" b="0" i="0">
                          <a:solidFill>
                            <a:srgbClr val="0B1F4D"/>
                          </a:solidFill>
                          <a:latin typeface="Be Vietnam Pro"/>
                          <a:ea typeface="Be Vietnam Pro"/>
                          <a:cs typeface="Be Vietnam Pro"/>
                        </a:rPr>
                        <a:t>2023 – 2026</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r>
              <a:tr h="658368">
                <a:tc>
                  <a:txBody>
                    <a:bodyPr wrap="square"/>
                    <a:lstStyle/>
                    <a:p>
                      <a:pPr algn="l"/>
                      <a:r>
                        <a:rPr sz="1150" b="0" i="0">
                          <a:solidFill>
                            <a:srgbClr val="0B1F4D"/>
                          </a:solidFill>
                          <a:latin typeface="Be Vietnam Pro SemiBold"/>
                          <a:ea typeface="Be Vietnam Pro SemiBold"/>
                          <a:cs typeface="Be Vietnam Pro SemiBold"/>
                        </a:rPr>
                        <a:t>LEED AP</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DCE7F7"/>
                    </a:solidFill>
                  </a:tcPr>
                </a:tc>
                <a:tc>
                  <a:txBody>
                    <a:bodyPr wrap="square"/>
                    <a:lstStyle/>
                    <a:p>
                      <a:pPr algn="ctr"/>
                      <a:r>
                        <a:rPr sz="1150" b="0" i="0">
                          <a:solidFill>
                            <a:srgbClr val="0B1F4D"/>
                          </a:solidFill>
                          <a:latin typeface="Be Vietnam Pro"/>
                          <a:ea typeface="Be Vietnam Pro"/>
                          <a:cs typeface="Be Vietnam Pro"/>
                        </a:rPr>
                        <a:t>Tư vấn và thi công công trình xanh</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DCE7F7"/>
                    </a:solidFill>
                  </a:tcPr>
                </a:tc>
                <a:tc>
                  <a:txBody>
                    <a:bodyPr wrap="square"/>
                    <a:lstStyle/>
                    <a:p>
                      <a:pPr algn="ctr"/>
                      <a:r>
                        <a:rPr sz="1150" b="0" i="0">
                          <a:solidFill>
                            <a:srgbClr val="0B1F4D"/>
                          </a:solidFill>
                          <a:latin typeface="Be Vietnam Pro"/>
                          <a:ea typeface="Be Vietnam Pro"/>
                          <a:cs typeface="Be Vietnam Pro"/>
                        </a:rPr>
                        <a:t>USGBC</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DCE7F7"/>
                    </a:solidFill>
                  </a:tcPr>
                </a:tc>
                <a:tc>
                  <a:txBody>
                    <a:bodyPr wrap="square"/>
                    <a:lstStyle/>
                    <a:p>
                      <a:pPr algn="ctr"/>
                      <a:r>
                        <a:rPr sz="1150" b="0" i="0">
                          <a:solidFill>
                            <a:srgbClr val="0B1F4D"/>
                          </a:solidFill>
                          <a:latin typeface="Be Vietnam Pro"/>
                          <a:ea typeface="Be Vietnam Pro"/>
                          <a:cs typeface="Be Vietnam Pro"/>
                        </a:rPr>
                        <a:t>2025 – 2027</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DCE7F7"/>
                    </a:solidFill>
                  </a:tcPr>
                </a:tc>
              </a:tr>
              <a:tr h="658368">
                <a:tc>
                  <a:txBody>
                    <a:bodyPr wrap="square"/>
                    <a:lstStyle/>
                    <a:p>
                      <a:pPr algn="l"/>
                      <a:r>
                        <a:rPr sz="1150" b="0" i="0">
                          <a:solidFill>
                            <a:srgbClr val="0B1F4D"/>
                          </a:solidFill>
                          <a:latin typeface="Be Vietnam Pro SemiBold"/>
                          <a:ea typeface="Be Vietnam Pro SemiBold"/>
                          <a:cs typeface="Be Vietnam Pro SemiBold"/>
                        </a:rPr>
                        <a:t>BIM Level 2</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c>
                  <a:txBody>
                    <a:bodyPr wrap="square"/>
                    <a:lstStyle/>
                    <a:p>
                      <a:pPr algn="ctr"/>
                      <a:r>
                        <a:rPr sz="1150" b="0" i="0">
                          <a:solidFill>
                            <a:srgbClr val="0B1F4D"/>
                          </a:solidFill>
                          <a:latin typeface="Be Vietnam Pro"/>
                          <a:ea typeface="Be Vietnam Pro"/>
                          <a:cs typeface="Be Vietnam Pro"/>
                        </a:rPr>
                        <a:t>Mô hình thông tin công trình</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c>
                  <a:txBody>
                    <a:bodyPr wrap="square"/>
                    <a:lstStyle/>
                    <a:p>
                      <a:pPr algn="ctr"/>
                      <a:r>
                        <a:rPr sz="1150" b="0" i="0">
                          <a:solidFill>
                            <a:srgbClr val="0B1F4D"/>
                          </a:solidFill>
                          <a:latin typeface="Be Vietnam Pro"/>
                          <a:ea typeface="Be Vietnam Pro"/>
                          <a:cs typeface="Be Vietnam Pro"/>
                        </a:rPr>
                        <a:t>BSI</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c>
                  <a:txBody>
                    <a:bodyPr wrap="square"/>
                    <a:lstStyle/>
                    <a:p>
                      <a:pPr algn="ctr"/>
                      <a:r>
                        <a:rPr sz="1150" b="0" i="0">
                          <a:solidFill>
                            <a:srgbClr val="0B1F4D"/>
                          </a:solidFill>
                          <a:latin typeface="Be Vietnam Pro"/>
                          <a:ea typeface="Be Vietnam Pro"/>
                          <a:cs typeface="Be Vietnam Pro"/>
                        </a:rPr>
                        <a:t>2025 – 2028</a:t>
                      </a:r>
                    </a:p>
                  </a:txBody>
                  <a:tcPr marL="91440" marR="91440" marT="27432" marB="27432" anchor="ctr">
                    <a:lnL w="9525">
                      <a:solidFill>
                        <a:srgbClr val="D5DEEE"/>
                      </a:solidFill>
                    </a:lnL>
                    <a:lnR w="9525">
                      <a:solidFill>
                        <a:srgbClr val="D5DEEE"/>
                      </a:solidFill>
                    </a:lnR>
                    <a:lnT w="9525">
                      <a:solidFill>
                        <a:srgbClr val="D5DEEE"/>
                      </a:solidFill>
                    </a:lnT>
                    <a:lnB w="9525">
                      <a:solidFill>
                        <a:srgbClr val="D5DEEE"/>
                      </a:solidFill>
                    </a:lnB>
                    <a:solidFill>
                      <a:srgbClr val="FFFFFF"/>
                    </a:solidFill>
                  </a:tcPr>
                </a:tc>
              </a:tr>
            </a:tbl>
          </a:graphicData>
        </a:graphic>
      </p:graphicFrame>
      <p:sp>
        <p:nvSpPr>
          <p:cNvPr id="12" name="TextBox 11"/>
          <p:cNvSpPr txBox="1"/>
          <p:nvPr/>
        </p:nvSpPr>
        <p:spPr>
          <a:xfrm>
            <a:off x="548640" y="5870448"/>
            <a:ext cx="11094415" cy="320040"/>
          </a:xfrm>
          <a:prstGeom prst="rect">
            <a:avLst/>
          </a:prstGeom>
          <a:noFill/>
        </p:spPr>
        <p:txBody>
          <a:bodyPr wrap="square" lIns="0" rIns="0" tIns="0" bIns="0" anchor="t">
            <a:noAutofit/>
          </a:bodyPr>
          <a:lstStyle/>
          <a:p>
            <a:pPr algn="l"/>
            <a:r>
              <a:rPr sz="950" b="0" i="1">
                <a:solidFill>
                  <a:srgbClr val="8A97B5"/>
                </a:solidFill>
                <a:latin typeface="Be Vietnam Pro"/>
                <a:ea typeface="Be Vietnam Pro"/>
                <a:cs typeface="Be Vietnam Pro"/>
              </a:rPr>
              <a:t>Danh mục minh họa.</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22" presetClass="entr" presetSubtype="1" fill="hold" grpId="0" nodeType="withEffect">
                                  <p:stCondLst>
                                    <p:cond delay="300"/>
                                  </p:stCondLst>
                                  <p:childTnLst>
                                    <p:set>
                                      <p:cBhvr>
                                        <p:cTn id="27" dur="1" fill="hold">
                                          <p:stCondLst>
                                            <p:cond delay="0"/>
                                          </p:stCondLst>
                                        </p:cTn>
                                        <p:tgtEl>
                                          <p:spTgt spid="11"/>
                                        </p:tgtEl>
                                        <p:attrNameLst>
                                          <p:attrName>style.visibility</p:attrName>
                                        </p:attrNameLst>
                                      </p:cBhvr>
                                      <p:to>
                                        <p:strVal val="visible"/>
                                      </p:to>
                                    </p:set>
                                    <p:animEffect transition="in" filter="wipe(up)">
                                      <p:cBhvr>
                                        <p:cTn id="28" dur="900"/>
                                        <p:tgtEl>
                                          <p:spTgt spid="11"/>
                                        </p:tgtEl>
                                      </p:cBhvr>
                                    </p:animEffect>
                                  </p:childTnLst>
                                </p:cTn>
                              </p:par>
                              <p:par>
                                <p:cTn id="29" presetID="10" presetClass="entr" presetSubtype="0"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110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Graphic spid="11" grpId="0">
        <p:bldAsOne/>
      </p:bldGraphic>
      <p:bldP spid="10" grpId="0" animBg="1"/>
      <p:bldP spid="12"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pic>
        <p:nvPicPr>
          <p:cNvPr id="2" name="!!bg" descr="light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emblem_K_1F4FD8061A5E.png"/>
          <p:cNvPicPr>
            <a:picLocks noChangeAspect="1"/>
          </p:cNvPicPr>
          <p:nvPr/>
        </p:nvPicPr>
        <p:blipFill>
          <a:blip r:embed="rId3"/>
          <a:srcRect/>
          <a:stretch>
            <a:fillRect/>
          </a:stretch>
        </p:blipFill>
        <p:spPr>
          <a:xfrm>
            <a:off x="10066953" y="246888"/>
            <a:ext cx="475488" cy="475488"/>
          </a:xfrm>
          <a:prstGeom prst="rect">
            <a:avLst/>
          </a:prstGeom>
        </p:spPr>
      </p:pic>
      <p:sp>
        <p:nvSpPr>
          <p:cNvPr id="4" name="!!logo_name"/>
          <p:cNvSpPr txBox="1"/>
          <p:nvPr/>
        </p:nvSpPr>
        <p:spPr>
          <a:xfrm>
            <a:off x="10615593" y="292608"/>
            <a:ext cx="1100614" cy="384048"/>
          </a:xfrm>
          <a:prstGeom prst="rect">
            <a:avLst/>
          </a:prstGeom>
          <a:noFill/>
        </p:spPr>
        <p:txBody>
          <a:bodyPr wrap="none" lIns="0" rIns="0" tIns="0" bIns="0" anchor="ctr">
            <a:noAutofit/>
          </a:bodyPr>
          <a:lstStyle/>
          <a:p>
            <a:pPr algn="l"/>
            <a:r>
              <a:rPr sz="1100" b="1" i="0" spc="150">
                <a:solidFill>
                  <a:srgbClr val="1F4FD8"/>
                </a:solidFill>
                <a:latin typeface="Lexend Exa"/>
                <a:ea typeface="Lexend Exa"/>
                <a:cs typeface="Lexend Exa"/>
              </a:rPr>
              <a:t>KIẾN TẠO</a:t>
            </a:r>
          </a:p>
        </p:txBody>
      </p:sp>
      <p:sp>
        <p:nvSpPr>
          <p:cNvPr id="5" name="!!tag"/>
          <p:cNvSpPr/>
          <p:nvPr/>
        </p:nvSpPr>
        <p:spPr>
          <a:xfrm>
            <a:off x="548640" y="292608"/>
            <a:ext cx="1515973" cy="329184"/>
          </a:xfrm>
          <a:prstGeom prst="roundRect">
            <a:avLst>
              <a:gd name="adj" fmla="val 50000"/>
            </a:avLst>
          </a:prstGeom>
          <a:solidFill>
            <a:srgbClr val="FFFFFF"/>
          </a:solidFill>
          <a:ln w="9525">
            <a:solidFill>
              <a:srgbClr val="D5DEEE"/>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05</a:t>
            </a:r>
          </a:p>
        </p:txBody>
      </p:sp>
      <p:sp>
        <p:nvSpPr>
          <p:cNvPr id="7" name="!!tag_text"/>
          <p:cNvSpPr txBox="1"/>
          <p:nvPr/>
        </p:nvSpPr>
        <p:spPr>
          <a:xfrm>
            <a:off x="896112" y="292608"/>
            <a:ext cx="1150213" cy="329184"/>
          </a:xfrm>
          <a:prstGeom prst="rect">
            <a:avLst/>
          </a:prstGeom>
          <a:noFill/>
        </p:spPr>
        <p:txBody>
          <a:bodyPr wrap="square" lIns="0" rIns="0" tIns="0" bIns="0" anchor="ctr">
            <a:noAutofit/>
          </a:bodyPr>
          <a:lstStyle/>
          <a:p>
            <a:pPr algn="l"/>
            <a:r>
              <a:rPr sz="900" b="0" i="0" spc="100">
                <a:solidFill>
                  <a:srgbClr val="0B1F4D"/>
                </a:solidFill>
                <a:latin typeface="Be Vietnam Pro SemiBold"/>
                <a:ea typeface="Be Vietnam Pro SemiBold"/>
                <a:cs typeface="Be Vietnam Pro SemiBold"/>
              </a:rPr>
              <a:t>CÔNG NGHỆ</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B1F4D"/>
                </a:solidFill>
                <a:latin typeface="Lexend Exa"/>
                <a:ea typeface="Lexend Exa"/>
                <a:cs typeface="Lexend Exa"/>
              </a:rPr>
              <a:t>CHUYỂN ĐỔI SỐ</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A5878"/>
                </a:solidFill>
                <a:latin typeface="Be Vietnam Pro"/>
                <a:ea typeface="Be Vietnam Pro"/>
                <a:cs typeface="Be Vietnam Pro"/>
              </a:rPr>
              <a:t>Quản lý dự án theo thời gian thực trên nền tảng số</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A97B5"/>
                </a:solidFill>
                <a:latin typeface="Be Vietnam Pro SemiBold"/>
                <a:ea typeface="Be Vietnam Pro SemiBold"/>
                <a:cs typeface="Be Vietnam Pro SemiBold"/>
              </a:rPr>
              <a:t>16</a:t>
            </a:r>
          </a:p>
        </p:txBody>
      </p:sp>
      <p:sp>
        <p:nvSpPr>
          <p:cNvPr id="11" name="Parallelogram 10"/>
          <p:cNvSpPr/>
          <p:nvPr/>
        </p:nvSpPr>
        <p:spPr>
          <a:xfrm>
            <a:off x="6858000" y="1783080"/>
            <a:ext cx="1280160" cy="4206240"/>
          </a:xfrm>
          <a:prstGeom prst="parallelogram">
            <a:avLst>
              <a:gd name="adj" fmla="val 35000"/>
            </a:avLst>
          </a:prstGeom>
          <a:solidFill>
            <a:srgbClr val="FFC531"/>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2" name="Rounded Rectangle 11"/>
          <p:cNvSpPr/>
          <p:nvPr/>
        </p:nvSpPr>
        <p:spPr>
          <a:xfrm>
            <a:off x="7863840" y="1234440"/>
            <a:ext cx="2606040" cy="5257800"/>
          </a:xfrm>
          <a:prstGeom prst="roundRect">
            <a:avLst>
              <a:gd name="adj" fmla="val 13333"/>
            </a:avLst>
          </a:prstGeom>
          <a:solidFill>
            <a:srgbClr val="1A1F2B"/>
          </a:solidFill>
          <a:ln>
            <a:noFill/>
          </a:ln>
          <a:effectLst>
            <a:outerShdw blurRad="411480" dist="137160" dir="5400000" algn="ctr" rotWithShape="0">
              <a:srgbClr val="000000">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Rounded Rectangle 12"/>
          <p:cNvSpPr/>
          <p:nvPr/>
        </p:nvSpPr>
        <p:spPr>
          <a:xfrm>
            <a:off x="7955280" y="1325880"/>
            <a:ext cx="2423160" cy="5074920"/>
          </a:xfrm>
          <a:prstGeom prst="roundRect">
            <a:avLst>
              <a:gd name="adj" fmla="val 1132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Rounded Rectangle 13"/>
          <p:cNvSpPr/>
          <p:nvPr/>
        </p:nvSpPr>
        <p:spPr>
          <a:xfrm>
            <a:off x="8755380" y="1362456"/>
            <a:ext cx="822960" cy="146304"/>
          </a:xfrm>
          <a:prstGeom prst="roundRect">
            <a:avLst>
              <a:gd name="adj" fmla="val 50000"/>
            </a:avLst>
          </a:prstGeom>
          <a:solidFill>
            <a:srgbClr val="1A1F2B"/>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5" name="Round Same Side Corner Rectangle 14"/>
          <p:cNvSpPr/>
          <p:nvPr/>
        </p:nvSpPr>
        <p:spPr>
          <a:xfrm>
            <a:off x="7955280" y="1325880"/>
            <a:ext cx="2423160" cy="1325880"/>
          </a:xfrm>
          <a:prstGeom prst="round2SameRect">
            <a:avLst>
              <a:gd name="adj1" fmla="val 20689"/>
              <a:gd name="adj2" fmla="val 0"/>
            </a:avLst>
          </a:prstGeom>
          <a:solidFill>
            <a:srgbClr val="1F4FD8"/>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6" name="TextBox 15"/>
          <p:cNvSpPr txBox="1"/>
          <p:nvPr/>
        </p:nvSpPr>
        <p:spPr>
          <a:xfrm>
            <a:off x="8138160" y="1645920"/>
            <a:ext cx="2057400" cy="274320"/>
          </a:xfrm>
          <a:prstGeom prst="rect">
            <a:avLst/>
          </a:prstGeom>
          <a:noFill/>
        </p:spPr>
        <p:txBody>
          <a:bodyPr wrap="square" lIns="0" rIns="0" tIns="0" bIns="0" anchor="t">
            <a:noAutofit/>
          </a:bodyPr>
          <a:lstStyle/>
          <a:p>
            <a:pPr algn="l"/>
            <a:r>
              <a:rPr sz="900" b="0" i="0">
                <a:solidFill>
                  <a:srgbClr val="FFFFFF"/>
                </a:solidFill>
                <a:latin typeface="Be Vietnam Pro"/>
                <a:ea typeface="Be Vietnam Pro"/>
                <a:cs typeface="Be Vietnam Pro"/>
              </a:rPr>
              <a:t>Dự án đang theo dõi</a:t>
            </a:r>
          </a:p>
        </p:txBody>
      </p:sp>
      <p:sp>
        <p:nvSpPr>
          <p:cNvPr id="17" name="TextBox 16"/>
          <p:cNvSpPr txBox="1"/>
          <p:nvPr/>
        </p:nvSpPr>
        <p:spPr>
          <a:xfrm>
            <a:off x="8138160" y="1874520"/>
            <a:ext cx="2057400" cy="320040"/>
          </a:xfrm>
          <a:prstGeom prst="rect">
            <a:avLst/>
          </a:prstGeom>
          <a:noFill/>
        </p:spPr>
        <p:txBody>
          <a:bodyPr wrap="square" lIns="0" rIns="0" tIns="0" bIns="0" anchor="t">
            <a:noAutofit/>
          </a:bodyPr>
          <a:lstStyle/>
          <a:p>
            <a:pPr algn="l"/>
            <a:r>
              <a:rPr sz="1200" b="1" i="0">
                <a:solidFill>
                  <a:srgbClr val="FFFFFF"/>
                </a:solidFill>
                <a:latin typeface="Be Vietnam Pro"/>
                <a:ea typeface="Be Vietnam Pro"/>
                <a:cs typeface="Be Vietnam Pro"/>
              </a:rPr>
              <a:t>Sky Tower – Block B</a:t>
            </a:r>
          </a:p>
        </p:txBody>
      </p:sp>
      <p:sp>
        <p:nvSpPr>
          <p:cNvPr id="18" name="Rounded Rectangle 17"/>
          <p:cNvSpPr/>
          <p:nvPr/>
        </p:nvSpPr>
        <p:spPr>
          <a:xfrm>
            <a:off x="8092440" y="2331720"/>
            <a:ext cx="2148840" cy="868680"/>
          </a:xfrm>
          <a:prstGeom prst="roundRect">
            <a:avLst>
              <a:gd name="adj" fmla="val 12631"/>
            </a:avLst>
          </a:prstGeom>
          <a:solidFill>
            <a:srgbClr val="FFFFFF"/>
          </a:solidFill>
          <a:ln>
            <a:noFill/>
          </a:ln>
          <a:effectLst>
            <a:outerShdw blurRad="182880" dist="36576" dir="5400000" algn="ctr" rotWithShape="0">
              <a:srgbClr val="000000">
                <a:alpha val="18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TextBox 18"/>
          <p:cNvSpPr txBox="1"/>
          <p:nvPr/>
        </p:nvSpPr>
        <p:spPr>
          <a:xfrm>
            <a:off x="8229600" y="2395728"/>
            <a:ext cx="1874520" cy="256032"/>
          </a:xfrm>
          <a:prstGeom prst="rect">
            <a:avLst/>
          </a:prstGeom>
          <a:noFill/>
        </p:spPr>
        <p:txBody>
          <a:bodyPr wrap="square" lIns="0" rIns="0" tIns="0" bIns="0" anchor="t">
            <a:noAutofit/>
          </a:bodyPr>
          <a:lstStyle/>
          <a:p>
            <a:pPr algn="l"/>
            <a:r>
              <a:rPr sz="800" b="0" i="0">
                <a:solidFill>
                  <a:srgbClr val="8A97B5"/>
                </a:solidFill>
                <a:latin typeface="Be Vietnam Pro"/>
                <a:ea typeface="Be Vietnam Pro"/>
                <a:cs typeface="Be Vietnam Pro"/>
              </a:rPr>
              <a:t>Tiến độ tổng thể</a:t>
            </a:r>
          </a:p>
        </p:txBody>
      </p:sp>
      <p:sp>
        <p:nvSpPr>
          <p:cNvPr id="20" name="TextBox 19"/>
          <p:cNvSpPr txBox="1"/>
          <p:nvPr/>
        </p:nvSpPr>
        <p:spPr>
          <a:xfrm>
            <a:off x="8229600" y="2624328"/>
            <a:ext cx="1874520" cy="457200"/>
          </a:xfrm>
          <a:prstGeom prst="rect">
            <a:avLst/>
          </a:prstGeom>
          <a:noFill/>
        </p:spPr>
        <p:txBody>
          <a:bodyPr wrap="square" lIns="0" rIns="0" tIns="0" bIns="0" anchor="ctr">
            <a:noAutofit/>
          </a:bodyPr>
          <a:lstStyle/>
          <a:p>
            <a:pPr algn="l"/>
            <a:r>
              <a:rPr sz="2000" b="1" i="0">
                <a:solidFill>
                  <a:srgbClr val="1F4FD8"/>
                </a:solidFill>
                <a:latin typeface="Lexend Exa"/>
                <a:ea typeface="Lexend Exa"/>
                <a:cs typeface="Lexend Exa"/>
              </a:rPr>
              <a:t>68%</a:t>
            </a:r>
          </a:p>
        </p:txBody>
      </p:sp>
      <p:sp>
        <p:nvSpPr>
          <p:cNvPr id="21" name="Oval 20"/>
          <p:cNvSpPr/>
          <p:nvPr/>
        </p:nvSpPr>
        <p:spPr>
          <a:xfrm>
            <a:off x="8289036" y="3465576"/>
            <a:ext cx="384048" cy="384048"/>
          </a:xfrm>
          <a:prstGeom prst="ellipse">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calendar_1F4FD8.png"/>
          <p:cNvPicPr>
            <a:picLocks noChangeAspect="1"/>
          </p:cNvPicPr>
          <p:nvPr/>
        </p:nvPicPr>
        <p:blipFill>
          <a:blip r:embed="rId4"/>
          <a:stretch>
            <a:fillRect/>
          </a:stretch>
        </p:blipFill>
        <p:spPr>
          <a:xfrm>
            <a:off x="8375447" y="3551987"/>
            <a:ext cx="211226" cy="211226"/>
          </a:xfrm>
          <a:prstGeom prst="rect">
            <a:avLst/>
          </a:prstGeom>
        </p:spPr>
      </p:pic>
      <p:sp>
        <p:nvSpPr>
          <p:cNvPr id="23" name="TextBox 22"/>
          <p:cNvSpPr txBox="1"/>
          <p:nvPr/>
        </p:nvSpPr>
        <p:spPr>
          <a:xfrm>
            <a:off x="8138160" y="3886200"/>
            <a:ext cx="685800" cy="274320"/>
          </a:xfrm>
          <a:prstGeom prst="rect">
            <a:avLst/>
          </a:prstGeom>
          <a:noFill/>
        </p:spPr>
        <p:txBody>
          <a:bodyPr wrap="square" lIns="0" rIns="0" tIns="0" bIns="0" anchor="t">
            <a:noAutofit/>
          </a:bodyPr>
          <a:lstStyle/>
          <a:p>
            <a:pPr algn="ctr"/>
            <a:r>
              <a:rPr sz="700" b="0" i="0">
                <a:solidFill>
                  <a:srgbClr val="0B1F4D"/>
                </a:solidFill>
                <a:latin typeface="Be Vietnam Pro"/>
                <a:ea typeface="Be Vietnam Pro"/>
                <a:cs typeface="Be Vietnam Pro"/>
              </a:rPr>
              <a:t>Tiến độ</a:t>
            </a:r>
          </a:p>
        </p:txBody>
      </p:sp>
      <p:sp>
        <p:nvSpPr>
          <p:cNvPr id="24" name="Oval 23"/>
          <p:cNvSpPr/>
          <p:nvPr/>
        </p:nvSpPr>
        <p:spPr>
          <a:xfrm>
            <a:off x="8974836" y="3465576"/>
            <a:ext cx="384048" cy="384048"/>
          </a:xfrm>
          <a:prstGeom prst="ellipse">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file-text_1F4FD8.png"/>
          <p:cNvPicPr>
            <a:picLocks noChangeAspect="1"/>
          </p:cNvPicPr>
          <p:nvPr/>
        </p:nvPicPr>
        <p:blipFill>
          <a:blip r:embed="rId5"/>
          <a:stretch>
            <a:fillRect/>
          </a:stretch>
        </p:blipFill>
        <p:spPr>
          <a:xfrm>
            <a:off x="9061247" y="3551987"/>
            <a:ext cx="211226" cy="211226"/>
          </a:xfrm>
          <a:prstGeom prst="rect">
            <a:avLst/>
          </a:prstGeom>
        </p:spPr>
      </p:pic>
      <p:sp>
        <p:nvSpPr>
          <p:cNvPr id="26" name="TextBox 25"/>
          <p:cNvSpPr txBox="1"/>
          <p:nvPr/>
        </p:nvSpPr>
        <p:spPr>
          <a:xfrm>
            <a:off x="8823960" y="3886200"/>
            <a:ext cx="685800" cy="274320"/>
          </a:xfrm>
          <a:prstGeom prst="rect">
            <a:avLst/>
          </a:prstGeom>
          <a:noFill/>
        </p:spPr>
        <p:txBody>
          <a:bodyPr wrap="square" lIns="0" rIns="0" tIns="0" bIns="0" anchor="t">
            <a:noAutofit/>
          </a:bodyPr>
          <a:lstStyle/>
          <a:p>
            <a:pPr algn="ctr"/>
            <a:r>
              <a:rPr sz="700" b="0" i="0">
                <a:solidFill>
                  <a:srgbClr val="0B1F4D"/>
                </a:solidFill>
                <a:latin typeface="Be Vietnam Pro"/>
                <a:ea typeface="Be Vietnam Pro"/>
                <a:cs typeface="Be Vietnam Pro"/>
              </a:rPr>
              <a:t>Nhật ký</a:t>
            </a:r>
          </a:p>
        </p:txBody>
      </p:sp>
      <p:sp>
        <p:nvSpPr>
          <p:cNvPr id="27" name="Oval 26"/>
          <p:cNvSpPr/>
          <p:nvPr/>
        </p:nvSpPr>
        <p:spPr>
          <a:xfrm>
            <a:off x="9660636" y="3465576"/>
            <a:ext cx="384048" cy="384048"/>
          </a:xfrm>
          <a:prstGeom prst="ellipse">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8" name="Picture 27" descr="shield-check_1F4FD8.png"/>
          <p:cNvPicPr>
            <a:picLocks noChangeAspect="1"/>
          </p:cNvPicPr>
          <p:nvPr/>
        </p:nvPicPr>
        <p:blipFill>
          <a:blip r:embed="rId6"/>
          <a:stretch>
            <a:fillRect/>
          </a:stretch>
        </p:blipFill>
        <p:spPr>
          <a:xfrm>
            <a:off x="9747047" y="3551987"/>
            <a:ext cx="211226" cy="211226"/>
          </a:xfrm>
          <a:prstGeom prst="rect">
            <a:avLst/>
          </a:prstGeom>
        </p:spPr>
      </p:pic>
      <p:sp>
        <p:nvSpPr>
          <p:cNvPr id="29" name="TextBox 28"/>
          <p:cNvSpPr txBox="1"/>
          <p:nvPr/>
        </p:nvSpPr>
        <p:spPr>
          <a:xfrm>
            <a:off x="9509760" y="3886200"/>
            <a:ext cx="685800" cy="274320"/>
          </a:xfrm>
          <a:prstGeom prst="rect">
            <a:avLst/>
          </a:prstGeom>
          <a:noFill/>
        </p:spPr>
        <p:txBody>
          <a:bodyPr wrap="square" lIns="0" rIns="0" tIns="0" bIns="0" anchor="t">
            <a:noAutofit/>
          </a:bodyPr>
          <a:lstStyle/>
          <a:p>
            <a:pPr algn="ctr"/>
            <a:r>
              <a:rPr sz="700" b="0" i="0">
                <a:solidFill>
                  <a:srgbClr val="0B1F4D"/>
                </a:solidFill>
                <a:latin typeface="Be Vietnam Pro"/>
                <a:ea typeface="Be Vietnam Pro"/>
                <a:cs typeface="Be Vietnam Pro"/>
              </a:rPr>
              <a:t>An toàn</a:t>
            </a:r>
          </a:p>
        </p:txBody>
      </p:sp>
      <p:sp>
        <p:nvSpPr>
          <p:cNvPr id="30" name="Oval 29"/>
          <p:cNvSpPr/>
          <p:nvPr/>
        </p:nvSpPr>
        <p:spPr>
          <a:xfrm>
            <a:off x="8289036" y="4334256"/>
            <a:ext cx="384048" cy="384048"/>
          </a:xfrm>
          <a:prstGeom prst="ellipse">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truck_1F4FD8.png"/>
          <p:cNvPicPr>
            <a:picLocks noChangeAspect="1"/>
          </p:cNvPicPr>
          <p:nvPr/>
        </p:nvPicPr>
        <p:blipFill>
          <a:blip r:embed="rId7"/>
          <a:stretch>
            <a:fillRect/>
          </a:stretch>
        </p:blipFill>
        <p:spPr>
          <a:xfrm>
            <a:off x="8375447" y="4420667"/>
            <a:ext cx="211226" cy="211226"/>
          </a:xfrm>
          <a:prstGeom prst="rect">
            <a:avLst/>
          </a:prstGeom>
        </p:spPr>
      </p:pic>
      <p:sp>
        <p:nvSpPr>
          <p:cNvPr id="32" name="TextBox 31"/>
          <p:cNvSpPr txBox="1"/>
          <p:nvPr/>
        </p:nvSpPr>
        <p:spPr>
          <a:xfrm>
            <a:off x="8138160" y="4754880"/>
            <a:ext cx="685800" cy="274320"/>
          </a:xfrm>
          <a:prstGeom prst="rect">
            <a:avLst/>
          </a:prstGeom>
          <a:noFill/>
        </p:spPr>
        <p:txBody>
          <a:bodyPr wrap="square" lIns="0" rIns="0" tIns="0" bIns="0" anchor="t">
            <a:noAutofit/>
          </a:bodyPr>
          <a:lstStyle/>
          <a:p>
            <a:pPr algn="ctr"/>
            <a:r>
              <a:rPr sz="700" b="0" i="0">
                <a:solidFill>
                  <a:srgbClr val="0B1F4D"/>
                </a:solidFill>
                <a:latin typeface="Be Vietnam Pro"/>
                <a:ea typeface="Be Vietnam Pro"/>
                <a:cs typeface="Be Vietnam Pro"/>
              </a:rPr>
              <a:t>Vật tư</a:t>
            </a:r>
          </a:p>
        </p:txBody>
      </p:sp>
      <p:sp>
        <p:nvSpPr>
          <p:cNvPr id="33" name="Oval 32"/>
          <p:cNvSpPr/>
          <p:nvPr/>
        </p:nvSpPr>
        <p:spPr>
          <a:xfrm>
            <a:off x="8974836" y="4334256"/>
            <a:ext cx="384048" cy="384048"/>
          </a:xfrm>
          <a:prstGeom prst="ellipse">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4" name="Picture 33" descr="cuboid_1F4FD8.png"/>
          <p:cNvPicPr>
            <a:picLocks noChangeAspect="1"/>
          </p:cNvPicPr>
          <p:nvPr/>
        </p:nvPicPr>
        <p:blipFill>
          <a:blip r:embed="rId8"/>
          <a:stretch>
            <a:fillRect/>
          </a:stretch>
        </p:blipFill>
        <p:spPr>
          <a:xfrm>
            <a:off x="9061247" y="4420667"/>
            <a:ext cx="211226" cy="211226"/>
          </a:xfrm>
          <a:prstGeom prst="rect">
            <a:avLst/>
          </a:prstGeom>
        </p:spPr>
      </p:pic>
      <p:sp>
        <p:nvSpPr>
          <p:cNvPr id="35" name="TextBox 34"/>
          <p:cNvSpPr txBox="1"/>
          <p:nvPr/>
        </p:nvSpPr>
        <p:spPr>
          <a:xfrm>
            <a:off x="8823960" y="4754880"/>
            <a:ext cx="685800" cy="274320"/>
          </a:xfrm>
          <a:prstGeom prst="rect">
            <a:avLst/>
          </a:prstGeom>
          <a:noFill/>
        </p:spPr>
        <p:txBody>
          <a:bodyPr wrap="square" lIns="0" rIns="0" tIns="0" bIns="0" anchor="t">
            <a:noAutofit/>
          </a:bodyPr>
          <a:lstStyle/>
          <a:p>
            <a:pPr algn="ctr"/>
            <a:r>
              <a:rPr sz="700" b="0" i="0">
                <a:solidFill>
                  <a:srgbClr val="0B1F4D"/>
                </a:solidFill>
                <a:latin typeface="Be Vietnam Pro"/>
                <a:ea typeface="Be Vietnam Pro"/>
                <a:cs typeface="Be Vietnam Pro"/>
              </a:rPr>
              <a:t>BIM 3D</a:t>
            </a:r>
          </a:p>
        </p:txBody>
      </p:sp>
      <p:sp>
        <p:nvSpPr>
          <p:cNvPr id="36" name="Oval 35"/>
          <p:cNvSpPr/>
          <p:nvPr/>
        </p:nvSpPr>
        <p:spPr>
          <a:xfrm>
            <a:off x="9660636" y="4334256"/>
            <a:ext cx="384048" cy="384048"/>
          </a:xfrm>
          <a:prstGeom prst="ellipse">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7" name="Picture 36" descr="chart-column_1F4FD8.png"/>
          <p:cNvPicPr>
            <a:picLocks noChangeAspect="1"/>
          </p:cNvPicPr>
          <p:nvPr/>
        </p:nvPicPr>
        <p:blipFill>
          <a:blip r:embed="rId9"/>
          <a:stretch>
            <a:fillRect/>
          </a:stretch>
        </p:blipFill>
        <p:spPr>
          <a:xfrm>
            <a:off x="9747047" y="4420667"/>
            <a:ext cx="211226" cy="211226"/>
          </a:xfrm>
          <a:prstGeom prst="rect">
            <a:avLst/>
          </a:prstGeom>
        </p:spPr>
      </p:pic>
      <p:sp>
        <p:nvSpPr>
          <p:cNvPr id="38" name="TextBox 37"/>
          <p:cNvSpPr txBox="1"/>
          <p:nvPr/>
        </p:nvSpPr>
        <p:spPr>
          <a:xfrm>
            <a:off x="9509760" y="4754880"/>
            <a:ext cx="685800" cy="274320"/>
          </a:xfrm>
          <a:prstGeom prst="rect">
            <a:avLst/>
          </a:prstGeom>
          <a:noFill/>
        </p:spPr>
        <p:txBody>
          <a:bodyPr wrap="square" lIns="0" rIns="0" tIns="0" bIns="0" anchor="t">
            <a:noAutofit/>
          </a:bodyPr>
          <a:lstStyle/>
          <a:p>
            <a:pPr algn="ctr"/>
            <a:r>
              <a:rPr sz="700" b="0" i="0">
                <a:solidFill>
                  <a:srgbClr val="0B1F4D"/>
                </a:solidFill>
                <a:latin typeface="Be Vietnam Pro"/>
                <a:ea typeface="Be Vietnam Pro"/>
                <a:cs typeface="Be Vietnam Pro"/>
              </a:rPr>
              <a:t>Báo cáo</a:t>
            </a:r>
          </a:p>
        </p:txBody>
      </p:sp>
      <p:sp>
        <p:nvSpPr>
          <p:cNvPr id="39" name="Rounded Rectangle 38"/>
          <p:cNvSpPr/>
          <p:nvPr/>
        </p:nvSpPr>
        <p:spPr>
          <a:xfrm>
            <a:off x="8138160" y="5303520"/>
            <a:ext cx="2057400" cy="347472"/>
          </a:xfrm>
          <a:prstGeom prst="roundRect">
            <a:avLst>
              <a:gd name="adj" fmla="val 21052"/>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40" name="Rounded Rectangle 39"/>
          <p:cNvSpPr/>
          <p:nvPr/>
        </p:nvSpPr>
        <p:spPr>
          <a:xfrm>
            <a:off x="8138160" y="5760720"/>
            <a:ext cx="2057400" cy="347472"/>
          </a:xfrm>
          <a:prstGeom prst="roundRect">
            <a:avLst>
              <a:gd name="adj" fmla="val 21052"/>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41" name="Picture 40" descr="circle-check_1F4FD8.png"/>
          <p:cNvPicPr>
            <a:picLocks noChangeAspect="1"/>
          </p:cNvPicPr>
          <p:nvPr/>
        </p:nvPicPr>
        <p:blipFill>
          <a:blip r:embed="rId10"/>
          <a:stretch>
            <a:fillRect/>
          </a:stretch>
        </p:blipFill>
        <p:spPr>
          <a:xfrm>
            <a:off x="548640" y="1938528"/>
            <a:ext cx="329184" cy="329184"/>
          </a:xfrm>
          <a:prstGeom prst="rect">
            <a:avLst/>
          </a:prstGeom>
        </p:spPr>
      </p:pic>
      <p:sp>
        <p:nvSpPr>
          <p:cNvPr id="42" name="TextBox 41"/>
          <p:cNvSpPr txBox="1"/>
          <p:nvPr/>
        </p:nvSpPr>
        <p:spPr>
          <a:xfrm>
            <a:off x="1051560" y="1783080"/>
            <a:ext cx="6309360" cy="640080"/>
          </a:xfrm>
          <a:prstGeom prst="rect">
            <a:avLst/>
          </a:prstGeom>
          <a:noFill/>
        </p:spPr>
        <p:txBody>
          <a:bodyPr wrap="square" lIns="0" rIns="0" tIns="0" bIns="0" anchor="ctr">
            <a:noAutofit/>
          </a:bodyPr>
          <a:lstStyle/>
          <a:p>
            <a:pPr algn="l">
              <a:lnSpc>
                <a:spcPct val="115000"/>
              </a:lnSpc>
              <a:spcAft>
                <a:spcPts val="0"/>
              </a:spcAft>
            </a:pPr>
            <a:r>
              <a:rPr sz="1250" b="1" i="0">
                <a:solidFill>
                  <a:srgbClr val="1F4FD8"/>
                </a:solidFill>
                <a:latin typeface="Be Vietnam Pro"/>
                <a:ea typeface="Be Vietnam Pro"/>
                <a:cs typeface="Be Vietnam Pro"/>
              </a:rPr>
              <a:t>BIM 3D – 5D</a:t>
            </a:r>
            <a:r>
              <a:rPr sz="1250" b="0" i="0">
                <a:solidFill>
                  <a:srgbClr val="4A5878"/>
                </a:solidFill>
                <a:latin typeface="Be Vietnam Pro"/>
                <a:ea typeface="Be Vietnam Pro"/>
                <a:cs typeface="Be Vietnam Pro"/>
              </a:rPr>
              <a:t>: phối hợp thiết kế, bóc khối lượng, kiểm soát chi phí</a:t>
            </a:r>
          </a:p>
        </p:txBody>
      </p:sp>
      <p:pic>
        <p:nvPicPr>
          <p:cNvPr id="43" name="Picture 42" descr="circle-check_1F4FD8.png"/>
          <p:cNvPicPr>
            <a:picLocks noChangeAspect="1"/>
          </p:cNvPicPr>
          <p:nvPr/>
        </p:nvPicPr>
        <p:blipFill>
          <a:blip r:embed="rId10"/>
          <a:stretch>
            <a:fillRect/>
          </a:stretch>
        </p:blipFill>
        <p:spPr>
          <a:xfrm>
            <a:off x="548640" y="2651760"/>
            <a:ext cx="329184" cy="329184"/>
          </a:xfrm>
          <a:prstGeom prst="rect">
            <a:avLst/>
          </a:prstGeom>
        </p:spPr>
      </p:pic>
      <p:sp>
        <p:nvSpPr>
          <p:cNvPr id="44" name="TextBox 43"/>
          <p:cNvSpPr txBox="1"/>
          <p:nvPr/>
        </p:nvSpPr>
        <p:spPr>
          <a:xfrm>
            <a:off x="1051560" y="2496312"/>
            <a:ext cx="6309360" cy="640080"/>
          </a:xfrm>
          <a:prstGeom prst="rect">
            <a:avLst/>
          </a:prstGeom>
          <a:noFill/>
        </p:spPr>
        <p:txBody>
          <a:bodyPr wrap="square" lIns="0" rIns="0" tIns="0" bIns="0" anchor="ctr">
            <a:noAutofit/>
          </a:bodyPr>
          <a:lstStyle/>
          <a:p>
            <a:pPr algn="l">
              <a:lnSpc>
                <a:spcPct val="115000"/>
              </a:lnSpc>
              <a:spcAft>
                <a:spcPts val="0"/>
              </a:spcAft>
            </a:pPr>
            <a:r>
              <a:rPr sz="1250" b="1" i="0">
                <a:solidFill>
                  <a:srgbClr val="1F4FD8"/>
                </a:solidFill>
                <a:latin typeface="Be Vietnam Pro"/>
                <a:ea typeface="Be Vietnam Pro"/>
                <a:cs typeface="Be Vietnam Pro"/>
              </a:rPr>
              <a:t>Nhật ký công trường điện tử</a:t>
            </a:r>
            <a:r>
              <a:rPr sz="1250" b="0" i="0">
                <a:solidFill>
                  <a:srgbClr val="4A5878"/>
                </a:solidFill>
                <a:latin typeface="Be Vietnam Pro"/>
                <a:ea typeface="Be Vietnam Pro"/>
                <a:cs typeface="Be Vietnam Pro"/>
              </a:rPr>
              <a:t>: cập nhật tiến độ, hình ảnh mỗi ngày</a:t>
            </a:r>
          </a:p>
        </p:txBody>
      </p:sp>
      <p:pic>
        <p:nvPicPr>
          <p:cNvPr id="45" name="Picture 44" descr="circle-check_1F4FD8.png"/>
          <p:cNvPicPr>
            <a:picLocks noChangeAspect="1"/>
          </p:cNvPicPr>
          <p:nvPr/>
        </p:nvPicPr>
        <p:blipFill>
          <a:blip r:embed="rId10"/>
          <a:stretch>
            <a:fillRect/>
          </a:stretch>
        </p:blipFill>
        <p:spPr>
          <a:xfrm>
            <a:off x="548640" y="3364992"/>
            <a:ext cx="329184" cy="329184"/>
          </a:xfrm>
          <a:prstGeom prst="rect">
            <a:avLst/>
          </a:prstGeom>
        </p:spPr>
      </p:pic>
      <p:sp>
        <p:nvSpPr>
          <p:cNvPr id="46" name="TextBox 45"/>
          <p:cNvSpPr txBox="1"/>
          <p:nvPr/>
        </p:nvSpPr>
        <p:spPr>
          <a:xfrm>
            <a:off x="1051560" y="3209544"/>
            <a:ext cx="6309360" cy="640080"/>
          </a:xfrm>
          <a:prstGeom prst="rect">
            <a:avLst/>
          </a:prstGeom>
          <a:noFill/>
        </p:spPr>
        <p:txBody>
          <a:bodyPr wrap="square" lIns="0" rIns="0" tIns="0" bIns="0" anchor="ctr">
            <a:noAutofit/>
          </a:bodyPr>
          <a:lstStyle/>
          <a:p>
            <a:pPr algn="l">
              <a:lnSpc>
                <a:spcPct val="115000"/>
              </a:lnSpc>
              <a:spcAft>
                <a:spcPts val="0"/>
              </a:spcAft>
            </a:pPr>
            <a:r>
              <a:rPr sz="1250" b="1" i="0">
                <a:solidFill>
                  <a:srgbClr val="1F4FD8"/>
                </a:solidFill>
                <a:latin typeface="Be Vietnam Pro"/>
                <a:ea typeface="Be Vietnam Pro"/>
                <a:cs typeface="Be Vietnam Pro"/>
              </a:rPr>
              <a:t>Giám sát an toàn</a:t>
            </a:r>
            <a:r>
              <a:rPr sz="1250" b="0" i="0">
                <a:solidFill>
                  <a:srgbClr val="4A5878"/>
                </a:solidFill>
                <a:latin typeface="Be Vietnam Pro"/>
                <a:ea typeface="Be Vietnam Pro"/>
                <a:cs typeface="Be Vietnam Pro"/>
              </a:rPr>
              <a:t>: cảnh báo rủi ro, kiểm tra HSE trên di động</a:t>
            </a:r>
          </a:p>
        </p:txBody>
      </p:sp>
      <p:pic>
        <p:nvPicPr>
          <p:cNvPr id="47" name="Picture 46" descr="circle-check_1F4FD8.png"/>
          <p:cNvPicPr>
            <a:picLocks noChangeAspect="1"/>
          </p:cNvPicPr>
          <p:nvPr/>
        </p:nvPicPr>
        <p:blipFill>
          <a:blip r:embed="rId10"/>
          <a:stretch>
            <a:fillRect/>
          </a:stretch>
        </p:blipFill>
        <p:spPr>
          <a:xfrm>
            <a:off x="548640" y="4078224"/>
            <a:ext cx="329184" cy="329184"/>
          </a:xfrm>
          <a:prstGeom prst="rect">
            <a:avLst/>
          </a:prstGeom>
        </p:spPr>
      </p:pic>
      <p:sp>
        <p:nvSpPr>
          <p:cNvPr id="48" name="TextBox 47"/>
          <p:cNvSpPr txBox="1"/>
          <p:nvPr/>
        </p:nvSpPr>
        <p:spPr>
          <a:xfrm>
            <a:off x="1051560" y="3922776"/>
            <a:ext cx="6309360" cy="640080"/>
          </a:xfrm>
          <a:prstGeom prst="rect">
            <a:avLst/>
          </a:prstGeom>
          <a:noFill/>
        </p:spPr>
        <p:txBody>
          <a:bodyPr wrap="square" lIns="0" rIns="0" tIns="0" bIns="0" anchor="ctr">
            <a:noAutofit/>
          </a:bodyPr>
          <a:lstStyle/>
          <a:p>
            <a:pPr algn="l">
              <a:lnSpc>
                <a:spcPct val="115000"/>
              </a:lnSpc>
              <a:spcAft>
                <a:spcPts val="0"/>
              </a:spcAft>
            </a:pPr>
            <a:r>
              <a:rPr sz="1250" b="1" i="0">
                <a:solidFill>
                  <a:srgbClr val="1F4FD8"/>
                </a:solidFill>
                <a:latin typeface="Be Vietnam Pro"/>
                <a:ea typeface="Be Vietnam Pro"/>
                <a:cs typeface="Be Vietnam Pro"/>
              </a:rPr>
              <a:t>Báo cáo chủ đầu tư</a:t>
            </a:r>
            <a:r>
              <a:rPr sz="1250" b="0" i="0">
                <a:solidFill>
                  <a:srgbClr val="4A5878"/>
                </a:solidFill>
                <a:latin typeface="Be Vietnam Pro"/>
                <a:ea typeface="Be Vietnam Pro"/>
                <a:cs typeface="Be Vietnam Pro"/>
              </a:rPr>
              <a:t>: bảng điều khiển minh bạch, cập nhật tức thì</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22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grpId="0" nodeType="withEffect">
                                  <p:stCondLst>
                                    <p:cond delay="24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00"/>
                                        <p:tgtEl>
                                          <p:spTgt spid="8"/>
                                        </p:tgtEl>
                                      </p:cBhvr>
                                    </p:animEffect>
                                  </p:childTnLst>
                                </p:cTn>
                              </p:par>
                              <p:par>
                                <p:cTn id="32" presetID="10" presetClass="entr" presetSubtype="0" fill="hold" grpId="0" nodeType="withEffect">
                                  <p:stCondLst>
                                    <p:cond delay="26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par>
                                <p:cTn id="35" presetID="10" presetClass="entr" presetSubtype="0" fill="hold" grpId="0" nodeType="withEffect">
                                  <p:stCondLst>
                                    <p:cond delay="28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par>
                                <p:cTn id="38" presetID="10" presetClass="entr" presetSubtype="0" fill="hold" grpId="0" nodeType="withEffect">
                                  <p:stCondLst>
                                    <p:cond delay="30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400"/>
                                        <p:tgtEl>
                                          <p:spTgt spid="9"/>
                                        </p:tgtEl>
                                      </p:cBhvr>
                                    </p:animEffect>
                                  </p:childTnLst>
                                </p:cTn>
                              </p:par>
                              <p:par>
                                <p:cTn id="41" presetID="10" presetClass="entr" presetSubtype="0" fill="hold" grpId="0" nodeType="withEffect">
                                  <p:stCondLst>
                                    <p:cond delay="3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par>
                                <p:cTn id="44" presetID="10" presetClass="entr" presetSubtype="0" fill="hold" grpId="0" nodeType="withEffect">
                                  <p:stCondLst>
                                    <p:cond delay="32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00"/>
                                        <p:tgtEl>
                                          <p:spTgt spid="17"/>
                                        </p:tgtEl>
                                      </p:cBhvr>
                                    </p:animEffect>
                                  </p:childTnLst>
                                </p:cTn>
                              </p:par>
                              <p:par>
                                <p:cTn id="47" presetID="10" presetClass="entr" presetSubtype="0" fill="hold" grpId="0" nodeType="withEffect">
                                  <p:stCondLst>
                                    <p:cond delay="34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35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400"/>
                                        <p:tgtEl>
                                          <p:spTgt spid="10"/>
                                        </p:tgtEl>
                                      </p:cBhvr>
                                    </p:animEffect>
                                  </p:childTnLst>
                                </p:cTn>
                              </p:par>
                              <p:par>
                                <p:cTn id="53" presetID="10" presetClass="entr" presetSubtype="0" fill="hold" grpId="0" nodeType="withEffect">
                                  <p:stCondLst>
                                    <p:cond delay="36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38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40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42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44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46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par>
                                <p:cTn id="71" presetID="10" presetClass="entr" presetSubtype="0" fill="hold" grpId="0" nodeType="withEffect">
                                  <p:stCondLst>
                                    <p:cond delay="480"/>
                                  </p:stCondLst>
                                  <p:childTnLst>
                                    <p:set>
                                      <p:cBhvr>
                                        <p:cTn id="72" dur="1" fill="hold">
                                          <p:stCondLst>
                                            <p:cond delay="0"/>
                                          </p:stCondLst>
                                        </p:cTn>
                                        <p:tgtEl>
                                          <p:spTgt spid="25"/>
                                        </p:tgtEl>
                                        <p:attrNameLst>
                                          <p:attrName>style.visibility</p:attrName>
                                        </p:attrNameLst>
                                      </p:cBhvr>
                                      <p:to>
                                        <p:strVal val="visible"/>
                                      </p:to>
                                    </p:set>
                                    <p:animEffect transition="in" filter="fade">
                                      <p:cBhvr>
                                        <p:cTn id="73" dur="400"/>
                                        <p:tgtEl>
                                          <p:spTgt spid="25"/>
                                        </p:tgtEl>
                                      </p:cBhvr>
                                    </p:animEffect>
                                  </p:childTnLst>
                                </p:cTn>
                              </p:par>
                              <p:par>
                                <p:cTn id="74" presetID="10" presetClass="entr" presetSubtype="0" fill="hold" grpId="0" nodeType="withEffect">
                                  <p:stCondLst>
                                    <p:cond delay="50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400"/>
                                        <p:tgtEl>
                                          <p:spTgt spid="26"/>
                                        </p:tgtEl>
                                      </p:cBhvr>
                                    </p:animEffect>
                                  </p:childTnLst>
                                </p:cTn>
                              </p:par>
                              <p:par>
                                <p:cTn id="77" presetID="10" presetClass="entr" presetSubtype="0" fill="hold" grpId="0" nodeType="withEffect">
                                  <p:stCondLst>
                                    <p:cond delay="52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00"/>
                                        <p:tgtEl>
                                          <p:spTgt spid="27"/>
                                        </p:tgtEl>
                                      </p:cBhvr>
                                    </p:animEffect>
                                  </p:childTnLst>
                                </p:cTn>
                              </p:par>
                              <p:par>
                                <p:cTn id="80" presetID="10" presetClass="entr" presetSubtype="0" fill="hold" grpId="0" nodeType="withEffect">
                                  <p:stCondLst>
                                    <p:cond delay="54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00"/>
                                        <p:tgtEl>
                                          <p:spTgt spid="28"/>
                                        </p:tgtEl>
                                      </p:cBhvr>
                                    </p:animEffect>
                                  </p:childTnLst>
                                </p:cTn>
                              </p:par>
                              <p:par>
                                <p:cTn id="83" presetID="10" presetClass="entr" presetSubtype="0" fill="hold" grpId="0" nodeType="withEffect">
                                  <p:stCondLst>
                                    <p:cond delay="56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400"/>
                                        <p:tgtEl>
                                          <p:spTgt spid="29"/>
                                        </p:tgtEl>
                                      </p:cBhvr>
                                    </p:animEffect>
                                  </p:childTnLst>
                                </p:cTn>
                              </p:par>
                              <p:par>
                                <p:cTn id="86" presetID="10" presetClass="entr" presetSubtype="0" fill="hold" grpId="0" nodeType="withEffect">
                                  <p:stCondLst>
                                    <p:cond delay="58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400"/>
                                        <p:tgtEl>
                                          <p:spTgt spid="30"/>
                                        </p:tgtEl>
                                      </p:cBhvr>
                                    </p:animEffect>
                                  </p:childTnLst>
                                </p:cTn>
                              </p:par>
                              <p:par>
                                <p:cTn id="89" presetID="10" presetClass="entr" presetSubtype="0" fill="hold" grpId="0" nodeType="withEffect">
                                  <p:stCondLst>
                                    <p:cond delay="60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00"/>
                                        <p:tgtEl>
                                          <p:spTgt spid="31"/>
                                        </p:tgtEl>
                                      </p:cBhvr>
                                    </p:animEffect>
                                  </p:childTnLst>
                                </p:cTn>
                              </p:par>
                              <p:par>
                                <p:cTn id="92" presetID="2" presetClass="entr" presetSubtype="8" fill="hold" grpId="0" nodeType="withEffect">
                                  <p:stCondLst>
                                    <p:cond delay="600"/>
                                  </p:stCondLst>
                                  <p:childTnLst>
                                    <p:set>
                                      <p:cBhvr>
                                        <p:cTn id="93" dur="1" fill="hold">
                                          <p:stCondLst>
                                            <p:cond delay="0"/>
                                          </p:stCondLst>
                                        </p:cTn>
                                        <p:tgtEl>
                                          <p:spTgt spid="41"/>
                                        </p:tgtEl>
                                        <p:attrNameLst>
                                          <p:attrName>style.visibility</p:attrName>
                                        </p:attrNameLst>
                                      </p:cBhvr>
                                      <p:to>
                                        <p:strVal val="visible"/>
                                      </p:to>
                                    </p:set>
                                    <p:anim calcmode="lin" valueType="num">
                                      <p:cBhvr additive="base">
                                        <p:cTn id="94" dur="450" fill="hold"/>
                                        <p:tgtEl>
                                          <p:spTgt spid="41"/>
                                        </p:tgtEl>
                                        <p:attrNameLst>
                                          <p:attrName>ppt_x</p:attrName>
                                        </p:attrNameLst>
                                      </p:cBhvr>
                                      <p:tavLst>
                                        <p:tav tm="0">
                                          <p:val>
                                            <p:strVal val="0-#ppt_w/2"/>
                                          </p:val>
                                        </p:tav>
                                        <p:tav tm="100000">
                                          <p:val>
                                            <p:strVal val="#ppt_x"/>
                                          </p:val>
                                        </p:tav>
                                      </p:tavLst>
                                    </p:anim>
                                    <p:anim calcmode="lin" valueType="num">
                                      <p:cBhvr additive="base">
                                        <p:cTn id="95" dur="450" fill="hold"/>
                                        <p:tgtEl>
                                          <p:spTgt spid="41"/>
                                        </p:tgtEl>
                                        <p:attrNameLst>
                                          <p:attrName>ppt_y</p:attrName>
                                        </p:attrNameLst>
                                      </p:cBhvr>
                                      <p:tavLst>
                                        <p:tav tm="0">
                                          <p:val>
                                            <p:strVal val="#ppt_y"/>
                                          </p:val>
                                        </p:tav>
                                        <p:tav tm="100000">
                                          <p:val>
                                            <p:strVal val="#ppt_y"/>
                                          </p:val>
                                        </p:tav>
                                      </p:tavLst>
                                    </p:anim>
                                  </p:childTnLst>
                                </p:cTn>
                              </p:par>
                              <p:par>
                                <p:cTn id="96" presetID="2" presetClass="entr" presetSubtype="8" fill="hold" grpId="0" nodeType="withEffect">
                                  <p:stCondLst>
                                    <p:cond delay="600"/>
                                  </p:stCondLst>
                                  <p:childTnLst>
                                    <p:set>
                                      <p:cBhvr>
                                        <p:cTn id="97" dur="1" fill="hold">
                                          <p:stCondLst>
                                            <p:cond delay="0"/>
                                          </p:stCondLst>
                                        </p:cTn>
                                        <p:tgtEl>
                                          <p:spTgt spid="42"/>
                                        </p:tgtEl>
                                        <p:attrNameLst>
                                          <p:attrName>style.visibility</p:attrName>
                                        </p:attrNameLst>
                                      </p:cBhvr>
                                      <p:to>
                                        <p:strVal val="visible"/>
                                      </p:to>
                                    </p:set>
                                    <p:anim calcmode="lin" valueType="num">
                                      <p:cBhvr additive="base">
                                        <p:cTn id="98" dur="450" fill="hold"/>
                                        <p:tgtEl>
                                          <p:spTgt spid="42"/>
                                        </p:tgtEl>
                                        <p:attrNameLst>
                                          <p:attrName>ppt_x</p:attrName>
                                        </p:attrNameLst>
                                      </p:cBhvr>
                                      <p:tavLst>
                                        <p:tav tm="0">
                                          <p:val>
                                            <p:strVal val="0-#ppt_w/2"/>
                                          </p:val>
                                        </p:tav>
                                        <p:tav tm="100000">
                                          <p:val>
                                            <p:strVal val="#ppt_x"/>
                                          </p:val>
                                        </p:tav>
                                      </p:tavLst>
                                    </p:anim>
                                    <p:anim calcmode="lin" valueType="num">
                                      <p:cBhvr additive="base">
                                        <p:cTn id="99" dur="450" fill="hold"/>
                                        <p:tgtEl>
                                          <p:spTgt spid="42"/>
                                        </p:tgtEl>
                                        <p:attrNameLst>
                                          <p:attrName>ppt_y</p:attrName>
                                        </p:attrNameLst>
                                      </p:cBhvr>
                                      <p:tavLst>
                                        <p:tav tm="0">
                                          <p:val>
                                            <p:strVal val="#ppt_y"/>
                                          </p:val>
                                        </p:tav>
                                        <p:tav tm="100000">
                                          <p:val>
                                            <p:strVal val="#ppt_y"/>
                                          </p:val>
                                        </p:tav>
                                      </p:tavLst>
                                    </p:anim>
                                  </p:childTnLst>
                                </p:cTn>
                              </p:par>
                              <p:par>
                                <p:cTn id="100" presetID="10" presetClass="entr" presetSubtype="0" fill="hold" grpId="0" nodeType="withEffect">
                                  <p:stCondLst>
                                    <p:cond delay="620"/>
                                  </p:stCondLst>
                                  <p:childTnLst>
                                    <p:set>
                                      <p:cBhvr>
                                        <p:cTn id="101" dur="1" fill="hold">
                                          <p:stCondLst>
                                            <p:cond delay="0"/>
                                          </p:stCondLst>
                                        </p:cTn>
                                        <p:tgtEl>
                                          <p:spTgt spid="32"/>
                                        </p:tgtEl>
                                        <p:attrNameLst>
                                          <p:attrName>style.visibility</p:attrName>
                                        </p:attrNameLst>
                                      </p:cBhvr>
                                      <p:to>
                                        <p:strVal val="visible"/>
                                      </p:to>
                                    </p:set>
                                    <p:animEffect transition="in" filter="fade">
                                      <p:cBhvr>
                                        <p:cTn id="102" dur="400"/>
                                        <p:tgtEl>
                                          <p:spTgt spid="32"/>
                                        </p:tgtEl>
                                      </p:cBhvr>
                                    </p:animEffect>
                                  </p:childTnLst>
                                </p:cTn>
                              </p:par>
                              <p:par>
                                <p:cTn id="103" presetID="10" presetClass="entr" presetSubtype="0" fill="hold" grpId="0" nodeType="withEffect">
                                  <p:stCondLst>
                                    <p:cond delay="640"/>
                                  </p:stCondLst>
                                  <p:childTnLst>
                                    <p:set>
                                      <p:cBhvr>
                                        <p:cTn id="104" dur="1" fill="hold">
                                          <p:stCondLst>
                                            <p:cond delay="0"/>
                                          </p:stCondLst>
                                        </p:cTn>
                                        <p:tgtEl>
                                          <p:spTgt spid="33"/>
                                        </p:tgtEl>
                                        <p:attrNameLst>
                                          <p:attrName>style.visibility</p:attrName>
                                        </p:attrNameLst>
                                      </p:cBhvr>
                                      <p:to>
                                        <p:strVal val="visible"/>
                                      </p:to>
                                    </p:set>
                                    <p:animEffect transition="in" filter="fade">
                                      <p:cBhvr>
                                        <p:cTn id="105" dur="400"/>
                                        <p:tgtEl>
                                          <p:spTgt spid="33"/>
                                        </p:tgtEl>
                                      </p:cBhvr>
                                    </p:animEffect>
                                  </p:childTnLst>
                                </p:cTn>
                              </p:par>
                              <p:par>
                                <p:cTn id="106" presetID="10" presetClass="entr" presetSubtype="0" fill="hold" grpId="0" nodeType="withEffect">
                                  <p:stCondLst>
                                    <p:cond delay="660"/>
                                  </p:stCondLst>
                                  <p:childTnLst>
                                    <p:set>
                                      <p:cBhvr>
                                        <p:cTn id="107" dur="1" fill="hold">
                                          <p:stCondLst>
                                            <p:cond delay="0"/>
                                          </p:stCondLst>
                                        </p:cTn>
                                        <p:tgtEl>
                                          <p:spTgt spid="34"/>
                                        </p:tgtEl>
                                        <p:attrNameLst>
                                          <p:attrName>style.visibility</p:attrName>
                                        </p:attrNameLst>
                                      </p:cBhvr>
                                      <p:to>
                                        <p:strVal val="visible"/>
                                      </p:to>
                                    </p:set>
                                    <p:animEffect transition="in" filter="fade">
                                      <p:cBhvr>
                                        <p:cTn id="108" dur="400"/>
                                        <p:tgtEl>
                                          <p:spTgt spid="34"/>
                                        </p:tgtEl>
                                      </p:cBhvr>
                                    </p:animEffect>
                                  </p:childTnLst>
                                </p:cTn>
                              </p:par>
                              <p:par>
                                <p:cTn id="109" presetID="10" presetClass="entr" presetSubtype="0" fill="hold" grpId="0" nodeType="withEffect">
                                  <p:stCondLst>
                                    <p:cond delay="68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11" dur="400"/>
                                        <p:tgtEl>
                                          <p:spTgt spid="35"/>
                                        </p:tgtEl>
                                      </p:cBhvr>
                                    </p:animEffect>
                                  </p:childTnLst>
                                </p:cTn>
                              </p:par>
                              <p:par>
                                <p:cTn id="112" presetID="10" presetClass="entr" presetSubtype="0" fill="hold" grpId="0" nodeType="withEffect">
                                  <p:stCondLst>
                                    <p:cond delay="700"/>
                                  </p:stCondLst>
                                  <p:childTnLst>
                                    <p:set>
                                      <p:cBhvr>
                                        <p:cTn id="113" dur="1" fill="hold">
                                          <p:stCondLst>
                                            <p:cond delay="0"/>
                                          </p:stCondLst>
                                        </p:cTn>
                                        <p:tgtEl>
                                          <p:spTgt spid="36"/>
                                        </p:tgtEl>
                                        <p:attrNameLst>
                                          <p:attrName>style.visibility</p:attrName>
                                        </p:attrNameLst>
                                      </p:cBhvr>
                                      <p:to>
                                        <p:strVal val="visible"/>
                                      </p:to>
                                    </p:set>
                                    <p:animEffect transition="in" filter="fade">
                                      <p:cBhvr>
                                        <p:cTn id="114" dur="400"/>
                                        <p:tgtEl>
                                          <p:spTgt spid="36"/>
                                        </p:tgtEl>
                                      </p:cBhvr>
                                    </p:animEffect>
                                  </p:childTnLst>
                                </p:cTn>
                              </p:par>
                              <p:par>
                                <p:cTn id="115" presetID="10" presetClass="entr" presetSubtype="0" fill="hold" grpId="0" nodeType="withEffect">
                                  <p:stCondLst>
                                    <p:cond delay="720"/>
                                  </p:stCondLst>
                                  <p:childTnLst>
                                    <p:set>
                                      <p:cBhvr>
                                        <p:cTn id="116" dur="1" fill="hold">
                                          <p:stCondLst>
                                            <p:cond delay="0"/>
                                          </p:stCondLst>
                                        </p:cTn>
                                        <p:tgtEl>
                                          <p:spTgt spid="37"/>
                                        </p:tgtEl>
                                        <p:attrNameLst>
                                          <p:attrName>style.visibility</p:attrName>
                                        </p:attrNameLst>
                                      </p:cBhvr>
                                      <p:to>
                                        <p:strVal val="visible"/>
                                      </p:to>
                                    </p:set>
                                    <p:animEffect transition="in" filter="fade">
                                      <p:cBhvr>
                                        <p:cTn id="117" dur="400"/>
                                        <p:tgtEl>
                                          <p:spTgt spid="37"/>
                                        </p:tgtEl>
                                      </p:cBhvr>
                                    </p:animEffect>
                                  </p:childTnLst>
                                </p:cTn>
                              </p:par>
                              <p:par>
                                <p:cTn id="118" presetID="2" presetClass="entr" presetSubtype="8" fill="hold" grpId="0" nodeType="withEffect">
                                  <p:stCondLst>
                                    <p:cond delay="720"/>
                                  </p:stCondLst>
                                  <p:childTnLst>
                                    <p:set>
                                      <p:cBhvr>
                                        <p:cTn id="119" dur="1" fill="hold">
                                          <p:stCondLst>
                                            <p:cond delay="0"/>
                                          </p:stCondLst>
                                        </p:cTn>
                                        <p:tgtEl>
                                          <p:spTgt spid="43"/>
                                        </p:tgtEl>
                                        <p:attrNameLst>
                                          <p:attrName>style.visibility</p:attrName>
                                        </p:attrNameLst>
                                      </p:cBhvr>
                                      <p:to>
                                        <p:strVal val="visible"/>
                                      </p:to>
                                    </p:set>
                                    <p:anim calcmode="lin" valueType="num">
                                      <p:cBhvr additive="base">
                                        <p:cTn id="120" dur="450" fill="hold"/>
                                        <p:tgtEl>
                                          <p:spTgt spid="43"/>
                                        </p:tgtEl>
                                        <p:attrNameLst>
                                          <p:attrName>ppt_x</p:attrName>
                                        </p:attrNameLst>
                                      </p:cBhvr>
                                      <p:tavLst>
                                        <p:tav tm="0">
                                          <p:val>
                                            <p:strVal val="0-#ppt_w/2"/>
                                          </p:val>
                                        </p:tav>
                                        <p:tav tm="100000">
                                          <p:val>
                                            <p:strVal val="#ppt_x"/>
                                          </p:val>
                                        </p:tav>
                                      </p:tavLst>
                                    </p:anim>
                                    <p:anim calcmode="lin" valueType="num">
                                      <p:cBhvr additive="base">
                                        <p:cTn id="121" dur="450" fill="hold"/>
                                        <p:tgtEl>
                                          <p:spTgt spid="43"/>
                                        </p:tgtEl>
                                        <p:attrNameLst>
                                          <p:attrName>ppt_y</p:attrName>
                                        </p:attrNameLst>
                                      </p:cBhvr>
                                      <p:tavLst>
                                        <p:tav tm="0">
                                          <p:val>
                                            <p:strVal val="#ppt_y"/>
                                          </p:val>
                                        </p:tav>
                                        <p:tav tm="100000">
                                          <p:val>
                                            <p:strVal val="#ppt_y"/>
                                          </p:val>
                                        </p:tav>
                                      </p:tavLst>
                                    </p:anim>
                                  </p:childTnLst>
                                </p:cTn>
                              </p:par>
                              <p:par>
                                <p:cTn id="122" presetID="2" presetClass="entr" presetSubtype="8" fill="hold" grpId="0" nodeType="withEffect">
                                  <p:stCondLst>
                                    <p:cond delay="720"/>
                                  </p:stCondLst>
                                  <p:childTnLst>
                                    <p:set>
                                      <p:cBhvr>
                                        <p:cTn id="123" dur="1" fill="hold">
                                          <p:stCondLst>
                                            <p:cond delay="0"/>
                                          </p:stCondLst>
                                        </p:cTn>
                                        <p:tgtEl>
                                          <p:spTgt spid="44"/>
                                        </p:tgtEl>
                                        <p:attrNameLst>
                                          <p:attrName>style.visibility</p:attrName>
                                        </p:attrNameLst>
                                      </p:cBhvr>
                                      <p:to>
                                        <p:strVal val="visible"/>
                                      </p:to>
                                    </p:set>
                                    <p:anim calcmode="lin" valueType="num">
                                      <p:cBhvr additive="base">
                                        <p:cTn id="124" dur="450" fill="hold"/>
                                        <p:tgtEl>
                                          <p:spTgt spid="44"/>
                                        </p:tgtEl>
                                        <p:attrNameLst>
                                          <p:attrName>ppt_x</p:attrName>
                                        </p:attrNameLst>
                                      </p:cBhvr>
                                      <p:tavLst>
                                        <p:tav tm="0">
                                          <p:val>
                                            <p:strVal val="0-#ppt_w/2"/>
                                          </p:val>
                                        </p:tav>
                                        <p:tav tm="100000">
                                          <p:val>
                                            <p:strVal val="#ppt_x"/>
                                          </p:val>
                                        </p:tav>
                                      </p:tavLst>
                                    </p:anim>
                                    <p:anim calcmode="lin" valueType="num">
                                      <p:cBhvr additive="base">
                                        <p:cTn id="125" dur="450" fill="hold"/>
                                        <p:tgtEl>
                                          <p:spTgt spid="44"/>
                                        </p:tgtEl>
                                        <p:attrNameLst>
                                          <p:attrName>ppt_y</p:attrName>
                                        </p:attrNameLst>
                                      </p:cBhvr>
                                      <p:tavLst>
                                        <p:tav tm="0">
                                          <p:val>
                                            <p:strVal val="#ppt_y"/>
                                          </p:val>
                                        </p:tav>
                                        <p:tav tm="100000">
                                          <p:val>
                                            <p:strVal val="#ppt_y"/>
                                          </p:val>
                                        </p:tav>
                                      </p:tavLst>
                                    </p:anim>
                                  </p:childTnLst>
                                </p:cTn>
                              </p:par>
                              <p:par>
                                <p:cTn id="126" presetID="10" presetClass="entr" presetSubtype="0" fill="hold" grpId="0" nodeType="withEffect">
                                  <p:stCondLst>
                                    <p:cond delay="740"/>
                                  </p:stCondLst>
                                  <p:childTnLst>
                                    <p:set>
                                      <p:cBhvr>
                                        <p:cTn id="127" dur="1" fill="hold">
                                          <p:stCondLst>
                                            <p:cond delay="0"/>
                                          </p:stCondLst>
                                        </p:cTn>
                                        <p:tgtEl>
                                          <p:spTgt spid="38"/>
                                        </p:tgtEl>
                                        <p:attrNameLst>
                                          <p:attrName>style.visibility</p:attrName>
                                        </p:attrNameLst>
                                      </p:cBhvr>
                                      <p:to>
                                        <p:strVal val="visible"/>
                                      </p:to>
                                    </p:set>
                                    <p:animEffect transition="in" filter="fade">
                                      <p:cBhvr>
                                        <p:cTn id="128" dur="400"/>
                                        <p:tgtEl>
                                          <p:spTgt spid="38"/>
                                        </p:tgtEl>
                                      </p:cBhvr>
                                    </p:animEffect>
                                  </p:childTnLst>
                                </p:cTn>
                              </p:par>
                              <p:par>
                                <p:cTn id="129" presetID="10" presetClass="entr" presetSubtype="0" fill="hold" grpId="0" nodeType="withEffect">
                                  <p:stCondLst>
                                    <p:cond delay="760"/>
                                  </p:stCondLst>
                                  <p:childTnLst>
                                    <p:set>
                                      <p:cBhvr>
                                        <p:cTn id="130" dur="1" fill="hold">
                                          <p:stCondLst>
                                            <p:cond delay="0"/>
                                          </p:stCondLst>
                                        </p:cTn>
                                        <p:tgtEl>
                                          <p:spTgt spid="39"/>
                                        </p:tgtEl>
                                        <p:attrNameLst>
                                          <p:attrName>style.visibility</p:attrName>
                                        </p:attrNameLst>
                                      </p:cBhvr>
                                      <p:to>
                                        <p:strVal val="visible"/>
                                      </p:to>
                                    </p:set>
                                    <p:animEffect transition="in" filter="fade">
                                      <p:cBhvr>
                                        <p:cTn id="131" dur="400"/>
                                        <p:tgtEl>
                                          <p:spTgt spid="39"/>
                                        </p:tgtEl>
                                      </p:cBhvr>
                                    </p:animEffect>
                                  </p:childTnLst>
                                </p:cTn>
                              </p:par>
                              <p:par>
                                <p:cTn id="132" presetID="10" presetClass="entr" presetSubtype="0" fill="hold" grpId="0" nodeType="withEffect">
                                  <p:stCondLst>
                                    <p:cond delay="780"/>
                                  </p:stCondLst>
                                  <p:childTnLst>
                                    <p:set>
                                      <p:cBhvr>
                                        <p:cTn id="133" dur="1" fill="hold">
                                          <p:stCondLst>
                                            <p:cond delay="0"/>
                                          </p:stCondLst>
                                        </p:cTn>
                                        <p:tgtEl>
                                          <p:spTgt spid="40"/>
                                        </p:tgtEl>
                                        <p:attrNameLst>
                                          <p:attrName>style.visibility</p:attrName>
                                        </p:attrNameLst>
                                      </p:cBhvr>
                                      <p:to>
                                        <p:strVal val="visible"/>
                                      </p:to>
                                    </p:set>
                                    <p:animEffect transition="in" filter="fade">
                                      <p:cBhvr>
                                        <p:cTn id="134" dur="400"/>
                                        <p:tgtEl>
                                          <p:spTgt spid="40"/>
                                        </p:tgtEl>
                                      </p:cBhvr>
                                    </p:animEffect>
                                  </p:childTnLst>
                                </p:cTn>
                              </p:par>
                              <p:par>
                                <p:cTn id="135" presetID="2" presetClass="entr" presetSubtype="8" fill="hold" grpId="0" nodeType="withEffect">
                                  <p:stCondLst>
                                    <p:cond delay="840"/>
                                  </p:stCondLst>
                                  <p:childTnLst>
                                    <p:set>
                                      <p:cBhvr>
                                        <p:cTn id="136" dur="1" fill="hold">
                                          <p:stCondLst>
                                            <p:cond delay="0"/>
                                          </p:stCondLst>
                                        </p:cTn>
                                        <p:tgtEl>
                                          <p:spTgt spid="45"/>
                                        </p:tgtEl>
                                        <p:attrNameLst>
                                          <p:attrName>style.visibility</p:attrName>
                                        </p:attrNameLst>
                                      </p:cBhvr>
                                      <p:to>
                                        <p:strVal val="visible"/>
                                      </p:to>
                                    </p:set>
                                    <p:anim calcmode="lin" valueType="num">
                                      <p:cBhvr additive="base">
                                        <p:cTn id="137" dur="450" fill="hold"/>
                                        <p:tgtEl>
                                          <p:spTgt spid="45"/>
                                        </p:tgtEl>
                                        <p:attrNameLst>
                                          <p:attrName>ppt_x</p:attrName>
                                        </p:attrNameLst>
                                      </p:cBhvr>
                                      <p:tavLst>
                                        <p:tav tm="0">
                                          <p:val>
                                            <p:strVal val="0-#ppt_w/2"/>
                                          </p:val>
                                        </p:tav>
                                        <p:tav tm="100000">
                                          <p:val>
                                            <p:strVal val="#ppt_x"/>
                                          </p:val>
                                        </p:tav>
                                      </p:tavLst>
                                    </p:anim>
                                    <p:anim calcmode="lin" valueType="num">
                                      <p:cBhvr additive="base">
                                        <p:cTn id="138" dur="450" fill="hold"/>
                                        <p:tgtEl>
                                          <p:spTgt spid="45"/>
                                        </p:tgtEl>
                                        <p:attrNameLst>
                                          <p:attrName>ppt_y</p:attrName>
                                        </p:attrNameLst>
                                      </p:cBhvr>
                                      <p:tavLst>
                                        <p:tav tm="0">
                                          <p:val>
                                            <p:strVal val="#ppt_y"/>
                                          </p:val>
                                        </p:tav>
                                        <p:tav tm="100000">
                                          <p:val>
                                            <p:strVal val="#ppt_y"/>
                                          </p:val>
                                        </p:tav>
                                      </p:tavLst>
                                    </p:anim>
                                  </p:childTnLst>
                                </p:cTn>
                              </p:par>
                              <p:par>
                                <p:cTn id="139" presetID="2" presetClass="entr" presetSubtype="8" fill="hold" grpId="0" nodeType="withEffect">
                                  <p:stCondLst>
                                    <p:cond delay="840"/>
                                  </p:stCondLst>
                                  <p:childTnLst>
                                    <p:set>
                                      <p:cBhvr>
                                        <p:cTn id="140" dur="1" fill="hold">
                                          <p:stCondLst>
                                            <p:cond delay="0"/>
                                          </p:stCondLst>
                                        </p:cTn>
                                        <p:tgtEl>
                                          <p:spTgt spid="46"/>
                                        </p:tgtEl>
                                        <p:attrNameLst>
                                          <p:attrName>style.visibility</p:attrName>
                                        </p:attrNameLst>
                                      </p:cBhvr>
                                      <p:to>
                                        <p:strVal val="visible"/>
                                      </p:to>
                                    </p:set>
                                    <p:anim calcmode="lin" valueType="num">
                                      <p:cBhvr additive="base">
                                        <p:cTn id="141" dur="450" fill="hold"/>
                                        <p:tgtEl>
                                          <p:spTgt spid="46"/>
                                        </p:tgtEl>
                                        <p:attrNameLst>
                                          <p:attrName>ppt_x</p:attrName>
                                        </p:attrNameLst>
                                      </p:cBhvr>
                                      <p:tavLst>
                                        <p:tav tm="0">
                                          <p:val>
                                            <p:strVal val="0-#ppt_w/2"/>
                                          </p:val>
                                        </p:tav>
                                        <p:tav tm="100000">
                                          <p:val>
                                            <p:strVal val="#ppt_x"/>
                                          </p:val>
                                        </p:tav>
                                      </p:tavLst>
                                    </p:anim>
                                    <p:anim calcmode="lin" valueType="num">
                                      <p:cBhvr additive="base">
                                        <p:cTn id="142" dur="450" fill="hold"/>
                                        <p:tgtEl>
                                          <p:spTgt spid="46"/>
                                        </p:tgtEl>
                                        <p:attrNameLst>
                                          <p:attrName>ppt_y</p:attrName>
                                        </p:attrNameLst>
                                      </p:cBhvr>
                                      <p:tavLst>
                                        <p:tav tm="0">
                                          <p:val>
                                            <p:strVal val="#ppt_y"/>
                                          </p:val>
                                        </p:tav>
                                        <p:tav tm="100000">
                                          <p:val>
                                            <p:strVal val="#ppt_y"/>
                                          </p:val>
                                        </p:tav>
                                      </p:tavLst>
                                    </p:anim>
                                  </p:childTnLst>
                                </p:cTn>
                              </p:par>
                              <p:par>
                                <p:cTn id="143" presetID="2" presetClass="entr" presetSubtype="8" fill="hold" grpId="0" nodeType="withEffect">
                                  <p:stCondLst>
                                    <p:cond delay="960"/>
                                  </p:stCondLst>
                                  <p:childTnLst>
                                    <p:set>
                                      <p:cBhvr>
                                        <p:cTn id="144" dur="1" fill="hold">
                                          <p:stCondLst>
                                            <p:cond delay="0"/>
                                          </p:stCondLst>
                                        </p:cTn>
                                        <p:tgtEl>
                                          <p:spTgt spid="47"/>
                                        </p:tgtEl>
                                        <p:attrNameLst>
                                          <p:attrName>style.visibility</p:attrName>
                                        </p:attrNameLst>
                                      </p:cBhvr>
                                      <p:to>
                                        <p:strVal val="visible"/>
                                      </p:to>
                                    </p:set>
                                    <p:anim calcmode="lin" valueType="num">
                                      <p:cBhvr additive="base">
                                        <p:cTn id="145" dur="450" fill="hold"/>
                                        <p:tgtEl>
                                          <p:spTgt spid="47"/>
                                        </p:tgtEl>
                                        <p:attrNameLst>
                                          <p:attrName>ppt_x</p:attrName>
                                        </p:attrNameLst>
                                      </p:cBhvr>
                                      <p:tavLst>
                                        <p:tav tm="0">
                                          <p:val>
                                            <p:strVal val="0-#ppt_w/2"/>
                                          </p:val>
                                        </p:tav>
                                        <p:tav tm="100000">
                                          <p:val>
                                            <p:strVal val="#ppt_x"/>
                                          </p:val>
                                        </p:tav>
                                      </p:tavLst>
                                    </p:anim>
                                    <p:anim calcmode="lin" valueType="num">
                                      <p:cBhvr additive="base">
                                        <p:cTn id="146" dur="450" fill="hold"/>
                                        <p:tgtEl>
                                          <p:spTgt spid="47"/>
                                        </p:tgtEl>
                                        <p:attrNameLst>
                                          <p:attrName>ppt_y</p:attrName>
                                        </p:attrNameLst>
                                      </p:cBhvr>
                                      <p:tavLst>
                                        <p:tav tm="0">
                                          <p:val>
                                            <p:strVal val="#ppt_y"/>
                                          </p:val>
                                        </p:tav>
                                        <p:tav tm="100000">
                                          <p:val>
                                            <p:strVal val="#ppt_y"/>
                                          </p:val>
                                        </p:tav>
                                      </p:tavLst>
                                    </p:anim>
                                  </p:childTnLst>
                                </p:cTn>
                              </p:par>
                              <p:par>
                                <p:cTn id="147" presetID="2" presetClass="entr" presetSubtype="8" fill="hold" grpId="0" nodeType="withEffect">
                                  <p:stCondLst>
                                    <p:cond delay="960"/>
                                  </p:stCondLst>
                                  <p:childTnLst>
                                    <p:set>
                                      <p:cBhvr>
                                        <p:cTn id="148" dur="1" fill="hold">
                                          <p:stCondLst>
                                            <p:cond delay="0"/>
                                          </p:stCondLst>
                                        </p:cTn>
                                        <p:tgtEl>
                                          <p:spTgt spid="48"/>
                                        </p:tgtEl>
                                        <p:attrNameLst>
                                          <p:attrName>style.visibility</p:attrName>
                                        </p:attrNameLst>
                                      </p:cBhvr>
                                      <p:to>
                                        <p:strVal val="visible"/>
                                      </p:to>
                                    </p:set>
                                    <p:anim calcmode="lin" valueType="num">
                                      <p:cBhvr additive="base">
                                        <p:cTn id="149" dur="450" fill="hold"/>
                                        <p:tgtEl>
                                          <p:spTgt spid="48"/>
                                        </p:tgtEl>
                                        <p:attrNameLst>
                                          <p:attrName>ppt_x</p:attrName>
                                        </p:attrNameLst>
                                      </p:cBhvr>
                                      <p:tavLst>
                                        <p:tav tm="0">
                                          <p:val>
                                            <p:strVal val="0-#ppt_w/2"/>
                                          </p:val>
                                        </p:tav>
                                        <p:tav tm="100000">
                                          <p:val>
                                            <p:strVal val="#ppt_x"/>
                                          </p:val>
                                        </p:tav>
                                      </p:tavLst>
                                    </p:anim>
                                    <p:anim calcmode="lin" valueType="num">
                                      <p:cBhvr additive="base">
                                        <p:cTn id="150" dur="450" fill="hold"/>
                                        <p:tgtEl>
                                          <p:spTgt spid="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animBg="1"/>
      <p:bldP spid="12" grpId="0" animBg="1"/>
      <p:bldP spid="13" grpId="0" animBg="1"/>
      <p:bldP spid="8" grpId="0" animBg="1"/>
      <p:bldP spid="14" grpId="0" animBg="1"/>
      <p:bldP spid="15" grpId="0" animBg="1"/>
      <p:bldP spid="9" grpId="0" animBg="1"/>
      <p:bldP spid="16" grpId="0" animBg="1"/>
      <p:bldP spid="17" grpId="0" animBg="1"/>
      <p:bldP spid="18" grpId="0" animBg="1"/>
      <p:bldP spid="10" grpId="0" animBg="1"/>
      <p:bldP spid="19" grpId="0" animBg="1"/>
      <p:bldP spid="20" grpId="0" animBg="1"/>
      <p:bldP spid="21" grpId="0" animBg="1"/>
      <p:bldP spid="23" grpId="0" animBg="1"/>
      <p:bldP spid="24" grpId="0" animBg="1"/>
      <p:bldP spid="26" grpId="0" animBg="1"/>
      <p:bldP spid="27" grpId="0" animBg="1"/>
      <p:bldP spid="29" grpId="0" animBg="1"/>
      <p:bldP spid="30" grpId="0" animBg="1"/>
      <p:bldP spid="42" grpId="0" animBg="1"/>
      <p:bldP spid="32" grpId="0" animBg="1"/>
      <p:bldP spid="33" grpId="0" animBg="1"/>
      <p:bldP spid="35" grpId="0" animBg="1"/>
      <p:bldP spid="36" grpId="0" animBg="1"/>
      <p:bldP spid="44" grpId="0" animBg="1"/>
      <p:bldP spid="38" grpId="0" animBg="1"/>
      <p:bldP spid="39" grpId="0" animBg="1"/>
      <p:bldP spid="40" grpId="0" animBg="1"/>
      <p:bldP spid="46" grpId="0" animBg="1"/>
      <p:bldP spid="4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61A5E"/>
        </a:solidFill>
        <a:effectLst/>
      </p:bgPr>
    </p:bg>
    <p:spTree>
      <p:nvGrpSpPr>
        <p:cNvPr id="1" name=""/>
        <p:cNvGrpSpPr/>
        <p:nvPr/>
      </p:nvGrpSpPr>
      <p:grpSpPr/>
      <p:pic>
        <p:nvPicPr>
          <p:cNvPr id="2" name="!!bg" descr="cover_1F4FD8061A5E.jpg"/>
          <p:cNvPicPr>
            <a:picLocks noChangeAspect="1"/>
          </p:cNvPicPr>
          <p:nvPr/>
        </p:nvPicPr>
        <p:blipFill>
          <a:blip r:embed="rId2"/>
          <a:srcRect l="1" r="1"/>
          <a:stretch>
            <a:fillRect/>
          </a:stretch>
        </p:blipFill>
        <p:spPr>
          <a:xfrm>
            <a:off x="0" y="0"/>
            <a:ext cx="12191695" cy="6858000"/>
          </a:xfrm>
          <a:prstGeom prst="rect">
            <a:avLst/>
          </a:prstGeom>
        </p:spPr>
      </p:pic>
      <p:pic>
        <p:nvPicPr>
          <p:cNvPr id="3" name="!!emblem" descr="emblem_K_1F4FD8061A5E.png"/>
          <p:cNvPicPr>
            <a:picLocks noChangeAspect="1"/>
          </p:cNvPicPr>
          <p:nvPr/>
        </p:nvPicPr>
        <p:blipFill>
          <a:blip r:embed="rId3"/>
          <a:srcRect/>
          <a:stretch>
            <a:fillRect/>
          </a:stretch>
        </p:blipFill>
        <p:spPr>
          <a:xfrm>
            <a:off x="7498080" y="1005840"/>
            <a:ext cx="4206240" cy="4206240"/>
          </a:xfrm>
          <a:prstGeom prst="rect">
            <a:avLst/>
          </a:prstGeom>
        </p:spPr>
      </p:pic>
      <p:sp>
        <p:nvSpPr>
          <p:cNvPr id="4" name="!!l2"/>
          <p:cNvSpPr txBox="1"/>
          <p:nvPr/>
        </p:nvSpPr>
        <p:spPr>
          <a:xfrm>
            <a:off x="548640" y="1463040"/>
            <a:ext cx="6400800" cy="1040130"/>
          </a:xfrm>
          <a:prstGeom prst="rect">
            <a:avLst/>
          </a:prstGeom>
          <a:noFill/>
        </p:spPr>
        <p:txBody>
          <a:bodyPr wrap="none" lIns="0" rIns="0" tIns="0" bIns="0" anchor="t">
            <a:noAutofit/>
          </a:bodyPr>
          <a:lstStyle/>
          <a:p>
            <a:pPr algn="l">
              <a:lnSpc>
                <a:spcPct val="100000"/>
              </a:lnSpc>
            </a:pPr>
            <a:r>
              <a:rPr sz="6300" b="1" i="0">
                <a:solidFill>
                  <a:srgbClr val="FFFFFF"/>
                </a:solidFill>
                <a:effectLst>
                  <a:glow rad="109728">
                    <a:srgbClr val="3FA9FF">
                      <a:alpha val="35000"/>
                    </a:srgbClr>
                  </a:glow>
                </a:effectLst>
                <a:latin typeface="Lexend Exa"/>
                <a:ea typeface="Lexend Exa"/>
                <a:cs typeface="Lexend Exa"/>
              </a:rPr>
              <a:t>XIN CẢM ƠN</a:t>
            </a:r>
          </a:p>
        </p:txBody>
      </p:sp>
      <p:sp>
        <p:nvSpPr>
          <p:cNvPr id="5" name="TextBox 4"/>
          <p:cNvSpPr txBox="1"/>
          <p:nvPr/>
        </p:nvSpPr>
        <p:spPr>
          <a:xfrm>
            <a:off x="548640" y="2503170"/>
            <a:ext cx="6035040" cy="457200"/>
          </a:xfrm>
          <a:prstGeom prst="rect">
            <a:avLst/>
          </a:prstGeom>
          <a:noFill/>
        </p:spPr>
        <p:txBody>
          <a:bodyPr wrap="square" lIns="0" rIns="0" tIns="0" bIns="0" anchor="t">
            <a:noAutofit/>
          </a:bodyPr>
          <a:lstStyle/>
          <a:p>
            <a:pPr algn="l"/>
            <a:r>
              <a:rPr sz="1600" b="0" i="0">
                <a:solidFill>
                  <a:srgbClr val="E6EEFF"/>
                </a:solidFill>
                <a:latin typeface="Be Vietnam Pro"/>
                <a:ea typeface="Be Vietnam Pro"/>
                <a:cs typeface="Be Vietnam Pro"/>
              </a:rPr>
              <a:t>Kiến tạo giá trị bền vững</a:t>
            </a:r>
          </a:p>
        </p:txBody>
      </p:sp>
      <p:pic>
        <p:nvPicPr>
          <p:cNvPr id="6" name="Picture 5" descr="map-pin_FFFFFF.png"/>
          <p:cNvPicPr>
            <a:picLocks noChangeAspect="1"/>
          </p:cNvPicPr>
          <p:nvPr/>
        </p:nvPicPr>
        <p:blipFill>
          <a:blip r:embed="rId4"/>
          <a:stretch>
            <a:fillRect/>
          </a:stretch>
        </p:blipFill>
        <p:spPr>
          <a:xfrm>
            <a:off x="548640" y="3328416"/>
            <a:ext cx="292608" cy="292608"/>
          </a:xfrm>
          <a:prstGeom prst="rect">
            <a:avLst/>
          </a:prstGeom>
        </p:spPr>
      </p:pic>
      <p:sp>
        <p:nvSpPr>
          <p:cNvPr id="7" name="TextBox 6"/>
          <p:cNvSpPr txBox="1"/>
          <p:nvPr/>
        </p:nvSpPr>
        <p:spPr>
          <a:xfrm>
            <a:off x="1005840" y="3291840"/>
            <a:ext cx="5669280" cy="384048"/>
          </a:xfrm>
          <a:prstGeom prst="rect">
            <a:avLst/>
          </a:prstGeom>
          <a:noFill/>
        </p:spPr>
        <p:txBody>
          <a:bodyPr wrap="square" lIns="0" rIns="0" tIns="0" bIns="0" anchor="ctr">
            <a:noAutofit/>
          </a:bodyPr>
          <a:lstStyle/>
          <a:p>
            <a:pPr algn="l"/>
            <a:r>
              <a:rPr sz="1300" b="0" i="0">
                <a:solidFill>
                  <a:srgbClr val="FFFFFF"/>
                </a:solidFill>
                <a:latin typeface="Be Vietnam Pro SemiBold"/>
                <a:ea typeface="Be Vietnam Pro SemiBold"/>
                <a:cs typeface="Be Vietnam Pro SemiBold"/>
              </a:rPr>
              <a:t>Tầng 12, Tòa nhà ABC, Quận 1, TP. Hồ Chí Minh</a:t>
            </a:r>
          </a:p>
        </p:txBody>
      </p:sp>
      <p:pic>
        <p:nvPicPr>
          <p:cNvPr id="8" name="Picture 7" descr="phone_FFFFFF.png"/>
          <p:cNvPicPr>
            <a:picLocks noChangeAspect="1"/>
          </p:cNvPicPr>
          <p:nvPr/>
        </p:nvPicPr>
        <p:blipFill>
          <a:blip r:embed="rId5"/>
          <a:stretch>
            <a:fillRect/>
          </a:stretch>
        </p:blipFill>
        <p:spPr>
          <a:xfrm>
            <a:off x="548640" y="3803904"/>
            <a:ext cx="292608" cy="292608"/>
          </a:xfrm>
          <a:prstGeom prst="rect">
            <a:avLst/>
          </a:prstGeom>
        </p:spPr>
      </p:pic>
      <p:sp>
        <p:nvSpPr>
          <p:cNvPr id="9" name="TextBox 8"/>
          <p:cNvSpPr txBox="1"/>
          <p:nvPr/>
        </p:nvSpPr>
        <p:spPr>
          <a:xfrm>
            <a:off x="1005840" y="3767328"/>
            <a:ext cx="5669280" cy="384048"/>
          </a:xfrm>
          <a:prstGeom prst="rect">
            <a:avLst/>
          </a:prstGeom>
          <a:noFill/>
        </p:spPr>
        <p:txBody>
          <a:bodyPr wrap="square" lIns="0" rIns="0" tIns="0" bIns="0" anchor="ctr">
            <a:noAutofit/>
          </a:bodyPr>
          <a:lstStyle/>
          <a:p>
            <a:pPr algn="l"/>
            <a:r>
              <a:rPr sz="1300" b="0" i="0">
                <a:solidFill>
                  <a:srgbClr val="FFFFFF"/>
                </a:solidFill>
                <a:latin typeface="Be Vietnam Pro SemiBold"/>
                <a:ea typeface="Be Vietnam Pro SemiBold"/>
                <a:cs typeface="Be Vietnam Pro SemiBold"/>
              </a:rPr>
              <a:t>(028) 3800 0000</a:t>
            </a:r>
          </a:p>
        </p:txBody>
      </p:sp>
      <p:pic>
        <p:nvPicPr>
          <p:cNvPr id="10" name="Picture 9" descr="mail_FFFFFF.png"/>
          <p:cNvPicPr>
            <a:picLocks noChangeAspect="1"/>
          </p:cNvPicPr>
          <p:nvPr/>
        </p:nvPicPr>
        <p:blipFill>
          <a:blip r:embed="rId6"/>
          <a:stretch>
            <a:fillRect/>
          </a:stretch>
        </p:blipFill>
        <p:spPr>
          <a:xfrm>
            <a:off x="548640" y="4279392"/>
            <a:ext cx="292608" cy="292608"/>
          </a:xfrm>
          <a:prstGeom prst="rect">
            <a:avLst/>
          </a:prstGeom>
        </p:spPr>
      </p:pic>
      <p:sp>
        <p:nvSpPr>
          <p:cNvPr id="11" name="TextBox 10"/>
          <p:cNvSpPr txBox="1"/>
          <p:nvPr/>
        </p:nvSpPr>
        <p:spPr>
          <a:xfrm>
            <a:off x="1005840" y="4242816"/>
            <a:ext cx="5669280" cy="384048"/>
          </a:xfrm>
          <a:prstGeom prst="rect">
            <a:avLst/>
          </a:prstGeom>
          <a:noFill/>
        </p:spPr>
        <p:txBody>
          <a:bodyPr wrap="square" lIns="0" rIns="0" tIns="0" bIns="0" anchor="ctr">
            <a:noAutofit/>
          </a:bodyPr>
          <a:lstStyle/>
          <a:p>
            <a:pPr algn="l"/>
            <a:r>
              <a:rPr sz="1300" b="0" i="0">
                <a:solidFill>
                  <a:srgbClr val="FFFFFF"/>
                </a:solidFill>
                <a:latin typeface="Be Vietnam Pro SemiBold"/>
                <a:ea typeface="Be Vietnam Pro SemiBold"/>
                <a:cs typeface="Be Vietnam Pro SemiBold"/>
              </a:rPr>
              <a:t>info@tencongty.vn</a:t>
            </a:r>
          </a:p>
        </p:txBody>
      </p:sp>
      <p:pic>
        <p:nvPicPr>
          <p:cNvPr id="12" name="Picture 11" descr="globe_FFFFFF.png"/>
          <p:cNvPicPr>
            <a:picLocks noChangeAspect="1"/>
          </p:cNvPicPr>
          <p:nvPr/>
        </p:nvPicPr>
        <p:blipFill>
          <a:blip r:embed="rId7"/>
          <a:stretch>
            <a:fillRect/>
          </a:stretch>
        </p:blipFill>
        <p:spPr>
          <a:xfrm>
            <a:off x="548640" y="4754880"/>
            <a:ext cx="292608" cy="292608"/>
          </a:xfrm>
          <a:prstGeom prst="rect">
            <a:avLst/>
          </a:prstGeom>
        </p:spPr>
      </p:pic>
      <p:sp>
        <p:nvSpPr>
          <p:cNvPr id="13" name="TextBox 12"/>
          <p:cNvSpPr txBox="1"/>
          <p:nvPr/>
        </p:nvSpPr>
        <p:spPr>
          <a:xfrm>
            <a:off x="1005840" y="4718304"/>
            <a:ext cx="5669280" cy="384048"/>
          </a:xfrm>
          <a:prstGeom prst="rect">
            <a:avLst/>
          </a:prstGeom>
          <a:noFill/>
        </p:spPr>
        <p:txBody>
          <a:bodyPr wrap="square" lIns="0" rIns="0" tIns="0" bIns="0" anchor="ctr">
            <a:noAutofit/>
          </a:bodyPr>
          <a:lstStyle/>
          <a:p>
            <a:pPr algn="l"/>
            <a:r>
              <a:rPr sz="1300" b="0" i="0">
                <a:solidFill>
                  <a:srgbClr val="FFFFFF"/>
                </a:solidFill>
                <a:latin typeface="Be Vietnam Pro SemiBold"/>
                <a:ea typeface="Be Vietnam Pro SemiBold"/>
                <a:cs typeface="Be Vietnam Pro SemiBold"/>
              </a:rPr>
              <a:t>www.tencongty.vn</a:t>
            </a:r>
          </a:p>
        </p:txBody>
      </p:sp>
      <p:pic>
        <p:nvPicPr>
          <p:cNvPr id="14" name="!!logo_mark" descr="emblem_K_1F4FD8061A5E.png"/>
          <p:cNvPicPr>
            <a:picLocks noChangeAspect="1"/>
          </p:cNvPicPr>
          <p:nvPr/>
        </p:nvPicPr>
        <p:blipFill>
          <a:blip r:embed="rId3"/>
          <a:srcRect/>
          <a:stretch>
            <a:fillRect/>
          </a:stretch>
        </p:blipFill>
        <p:spPr>
          <a:xfrm>
            <a:off x="548640" y="365760"/>
            <a:ext cx="475488" cy="475488"/>
          </a:xfrm>
          <a:prstGeom prst="rect">
            <a:avLst/>
          </a:prstGeom>
        </p:spPr>
      </p:pic>
      <p:sp>
        <p:nvSpPr>
          <p:cNvPr id="15" name="!!logo_name"/>
          <p:cNvSpPr txBox="1"/>
          <p:nvPr/>
        </p:nvSpPr>
        <p:spPr>
          <a:xfrm>
            <a:off x="1097280" y="411480"/>
            <a:ext cx="1100614" cy="384048"/>
          </a:xfrm>
          <a:prstGeom prst="rect">
            <a:avLst/>
          </a:prstGeom>
          <a:noFill/>
        </p:spPr>
        <p:txBody>
          <a:bodyPr wrap="none" lIns="0" rIns="0" tIns="0" bIns="0" anchor="ctr">
            <a:noAutofit/>
          </a:bodyPr>
          <a:lstStyle/>
          <a:p>
            <a:pPr algn="l"/>
            <a:r>
              <a:rPr sz="1100" b="1" i="0" spc="150">
                <a:solidFill>
                  <a:srgbClr val="FFFFFF"/>
                </a:solidFill>
                <a:latin typeface="Lexend Exa"/>
                <a:ea typeface="Lexend Exa"/>
                <a:cs typeface="Lexend Exa"/>
              </a:rPr>
              <a:t>KIẾN TẠO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ppt_w</p:attrName>
                                        </p:attrNameLst>
                                      </p:cBhvr>
                                      <p:tavLst>
                                        <p:tav tm="0">
                                          <p:val>
                                            <p:strVal val="#ppt_w*0.7"/>
                                          </p:val>
                                        </p:tav>
                                        <p:tav tm="100000">
                                          <p:val>
                                            <p:strVal val="#ppt_w"/>
                                          </p:val>
                                        </p:tav>
                                      </p:tavLst>
                                    </p:anim>
                                    <p:anim calcmode="lin" valueType="num">
                                      <p:cBhvr additive="base">
                                        <p:cTn id="8" dur="1000" fill="hold"/>
                                        <p:tgtEl>
                                          <p:spTgt spid="3"/>
                                        </p:tgtEl>
                                        <p:attrNameLst>
                                          <p:attrName>ppt_h</p:attrName>
                                        </p:attrNameLst>
                                      </p:cBhvr>
                                      <p:tavLst>
                                        <p:tav tm="0">
                                          <p:val>
                                            <p:strVal val="#ppt_h*0.7"/>
                                          </p:val>
                                        </p:tav>
                                        <p:tav tm="100000">
                                          <p:val>
                                            <p:strVal val="#ppt_h"/>
                                          </p:val>
                                        </p:tav>
                                      </p:tavLst>
                                    </p:anim>
                                    <p:animEffect transition="in" filter="fade">
                                      <p:cBhvr>
                                        <p:cTn id="9" dur="1000"/>
                                        <p:tgtEl>
                                          <p:spTgt spid="3"/>
                                        </p:tgtEl>
                                      </p:cBhvr>
                                    </p:animEffect>
                                  </p:childTnLst>
                                </p:cTn>
                              </p:par>
                              <p:par>
                                <p:cTn id="10" presetID="10" presetClass="entr" presetSubtype="0" fill="hold" grpId="0" nodeType="withEffect">
                                  <p:stCondLst>
                                    <p:cond delay="20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00"/>
                                        <p:tgtEl>
                                          <p:spTgt spid="15"/>
                                        </p:tgtEl>
                                      </p:cBhvr>
                                    </p:animEffect>
                                  </p:childTnLst>
                                </p:cTn>
                              </p:par>
                              <p:par>
                                <p:cTn id="16" presetID="42" presetClass="entr" presetSubtype="0" fill="hold" grpId="0" nodeType="withEffect">
                                  <p:stCondLst>
                                    <p:cond delay="4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800"/>
                                        <p:tgtEl>
                                          <p:spTgt spid="4"/>
                                        </p:tgtEl>
                                      </p:cBhvr>
                                    </p:animEffect>
                                    <p:anim calcmode="lin" valueType="num">
                                      <p:cBhvr additive="base">
                                        <p:cTn id="19" dur="800" fill="hold"/>
                                        <p:tgtEl>
                                          <p:spTgt spid="4"/>
                                        </p:tgtEl>
                                        <p:attrNameLst>
                                          <p:attrName>ppt_x</p:attrName>
                                        </p:attrNameLst>
                                      </p:cBhvr>
                                      <p:tavLst>
                                        <p:tav tm="0">
                                          <p:val>
                                            <p:strVal val="#ppt_x"/>
                                          </p:val>
                                        </p:tav>
                                        <p:tav tm="100000">
                                          <p:val>
                                            <p:strVal val="#ppt_x"/>
                                          </p:val>
                                        </p:tav>
                                      </p:tavLst>
                                    </p:anim>
                                    <p:anim calcmode="lin" valueType="num">
                                      <p:cBhvr additive="base">
                                        <p:cTn id="20" dur="800" fill="hold"/>
                                        <p:tgtEl>
                                          <p:spTgt spid="4"/>
                                        </p:tgtEl>
                                        <p:attrNameLst>
                                          <p:attrName>ppt_y</p:attrName>
                                        </p:attrNameLst>
                                      </p:cBhvr>
                                      <p:tavLst>
                                        <p:tav tm="0">
                                          <p:val>
                                            <p:strVal val="#ppt_y+.06"/>
                                          </p:val>
                                        </p:tav>
                                        <p:tav tm="100000">
                                          <p:val>
                                            <p:strVal val="#ppt_y"/>
                                          </p:val>
                                        </p:tav>
                                      </p:tavLst>
                                    </p:anim>
                                  </p:childTnLst>
                                </p:cTn>
                              </p:par>
                              <p:par>
                                <p:cTn id="21" presetID="10" presetClass="entr" presetSubtype="0" fill="hold" grpId="0" nodeType="withEffect">
                                  <p:stCondLst>
                                    <p:cond delay="9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22" presetClass="entr" presetSubtype="8" fill="hold" grpId="0" nodeType="withEffect">
                                  <p:stCondLst>
                                    <p:cond delay="110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400"/>
                                        <p:tgtEl>
                                          <p:spTgt spid="6"/>
                                        </p:tgtEl>
                                      </p:cBhvr>
                                    </p:animEffect>
                                  </p:childTnLst>
                                </p:cTn>
                              </p:par>
                              <p:par>
                                <p:cTn id="27" presetID="22" presetClass="entr" presetSubtype="8" fill="hold" grpId="0" nodeType="withEffect">
                                  <p:stCondLst>
                                    <p:cond delay="110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400"/>
                                        <p:tgtEl>
                                          <p:spTgt spid="7"/>
                                        </p:tgtEl>
                                      </p:cBhvr>
                                    </p:animEffect>
                                  </p:childTnLst>
                                </p:cTn>
                              </p:par>
                              <p:par>
                                <p:cTn id="30" presetID="22" presetClass="entr" presetSubtype="8" fill="hold" grpId="0" nodeType="withEffect">
                                  <p:stCondLst>
                                    <p:cond delay="122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400"/>
                                        <p:tgtEl>
                                          <p:spTgt spid="8"/>
                                        </p:tgtEl>
                                      </p:cBhvr>
                                    </p:animEffect>
                                  </p:childTnLst>
                                </p:cTn>
                              </p:par>
                              <p:par>
                                <p:cTn id="33" presetID="22" presetClass="entr" presetSubtype="8" fill="hold" grpId="0" nodeType="withEffect">
                                  <p:stCondLst>
                                    <p:cond delay="122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400"/>
                                        <p:tgtEl>
                                          <p:spTgt spid="9"/>
                                        </p:tgtEl>
                                      </p:cBhvr>
                                    </p:animEffect>
                                  </p:childTnLst>
                                </p:cTn>
                              </p:par>
                              <p:par>
                                <p:cTn id="36" presetID="22" presetClass="entr" presetSubtype="8" fill="hold" grpId="0" nodeType="withEffect">
                                  <p:stCondLst>
                                    <p:cond delay="134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400"/>
                                        <p:tgtEl>
                                          <p:spTgt spid="10"/>
                                        </p:tgtEl>
                                      </p:cBhvr>
                                    </p:animEffect>
                                  </p:childTnLst>
                                </p:cTn>
                              </p:par>
                              <p:par>
                                <p:cTn id="39" presetID="22" presetClass="entr" presetSubtype="8" fill="hold" grpId="0" nodeType="withEffect">
                                  <p:stCondLst>
                                    <p:cond delay="134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400"/>
                                        <p:tgtEl>
                                          <p:spTgt spid="11"/>
                                        </p:tgtEl>
                                      </p:cBhvr>
                                    </p:animEffect>
                                  </p:childTnLst>
                                </p:cTn>
                              </p:par>
                              <p:par>
                                <p:cTn id="42" presetID="22" presetClass="entr" presetSubtype="8" fill="hold" grpId="0" nodeType="withEffect">
                                  <p:stCondLst>
                                    <p:cond delay="146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400"/>
                                        <p:tgtEl>
                                          <p:spTgt spid="12"/>
                                        </p:tgtEl>
                                      </p:cBhvr>
                                    </p:animEffect>
                                  </p:childTnLst>
                                </p:cTn>
                              </p:par>
                              <p:par>
                                <p:cTn id="45" presetID="22" presetClass="entr" presetSubtype="8" fill="hold" grpId="0" nodeType="withEffect">
                                  <p:stCondLst>
                                    <p:cond delay="146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 grpId="0" animBg="1"/>
      <p:bldP spid="5" grpId="0" animBg="1"/>
      <p:bldP spid="7" grpId="0" animBg="1"/>
      <p:bldP spid="9" grpId="0" animBg="1"/>
      <p:bldP spid="11" grpId="0" animBg="1"/>
      <p:bldP spid="13" grpId="0" animBg="1"/>
    </p:bldLst>
  </p:timing>
</p:sld>
</file>

<file path=ppt/slides/slide18.xml><?xml version="1.0" encoding="utf-8"?>
<p:sld xmlns:a="http://schemas.openxmlformats.org/drawingml/2006/main" xmlns:p="http://schemas.openxmlformats.org/presentationml/2006/main" xmlns:r="http://schemas.openxmlformats.org/officeDocument/2006/relationships" show="0">
  <p:cSld>
    <p:bg>
      <p:bgPr>
        <a:solidFill>
          <a:srgbClr val="F4F7FB"/>
        </a:solidFill>
        <a:effectLst/>
      </p:bgPr>
    </p:bg>
    <p:spTree>
      <p:nvGrpSpPr>
        <p:cNvPr id="1" name=""/>
        <p:cNvGrpSpPr/>
        <p:nvPr/>
      </p:nvGrpSpPr>
      <p:grpSpPr/>
      <p:pic>
        <p:nvPicPr>
          <p:cNvPr id="2" name="!!bg" descr="light_1F4FD8061A5E.jpg"/>
          <p:cNvPicPr>
            <a:picLocks noChangeAspect="1"/>
          </p:cNvPicPr>
          <p:nvPr/>
        </p:nvPicPr>
        <p:blipFill>
          <a:blip r:embed="rId2"/>
          <a:srcRect l="1" r="1"/>
          <a:stretch>
            <a:fillRect/>
          </a:stretch>
        </p:blipFill>
        <p:spPr>
          <a:xfrm>
            <a:off x="0" y="0"/>
            <a:ext cx="12191695" cy="6858000"/>
          </a:xfrm>
          <a:prstGeom prst="rect">
            <a:avLst/>
          </a:prstGeom>
        </p:spPr>
      </p:pic>
      <p:sp>
        <p:nvSpPr>
          <p:cNvPr id="3" name="TextBox 2"/>
          <p:cNvSpPr txBox="1"/>
          <p:nvPr/>
        </p:nvSpPr>
        <p:spPr>
          <a:xfrm>
            <a:off x="548640" y="365760"/>
            <a:ext cx="10058400" cy="548640"/>
          </a:xfrm>
          <a:prstGeom prst="rect">
            <a:avLst/>
          </a:prstGeom>
          <a:noFill/>
        </p:spPr>
        <p:txBody>
          <a:bodyPr wrap="square" lIns="0" rIns="0" tIns="0" bIns="0" anchor="t">
            <a:noAutofit/>
          </a:bodyPr>
          <a:lstStyle/>
          <a:p>
            <a:pPr algn="l">
              <a:lnSpc>
                <a:spcPct val="100000"/>
              </a:lnSpc>
            </a:pPr>
            <a:r>
              <a:rPr sz="2400" b="1" i="0">
                <a:solidFill>
                  <a:srgbClr val="0B1F4D"/>
                </a:solidFill>
                <a:latin typeface="Lexend Exa"/>
                <a:ea typeface="Lexend Exa"/>
                <a:cs typeface="Lexend Exa"/>
              </a:rPr>
              <a:t>NGUỒN HÌNH ẢNH</a:t>
            </a:r>
          </a:p>
        </p:txBody>
      </p:sp>
      <p:sp>
        <p:nvSpPr>
          <p:cNvPr id="4" name="TextBox 3"/>
          <p:cNvSpPr txBox="1"/>
          <p:nvPr/>
        </p:nvSpPr>
        <p:spPr>
          <a:xfrm>
            <a:off x="548640" y="960120"/>
            <a:ext cx="10972800" cy="457200"/>
          </a:xfrm>
          <a:prstGeom prst="rect">
            <a:avLst/>
          </a:prstGeom>
          <a:noFill/>
        </p:spPr>
        <p:txBody>
          <a:bodyPr wrap="square" lIns="0" rIns="0" tIns="0" bIns="0" anchor="t">
            <a:noAutofit/>
          </a:bodyPr>
          <a:lstStyle/>
          <a:p>
            <a:pPr algn="l"/>
            <a:r>
              <a:rPr sz="1000" b="0" i="0">
                <a:solidFill>
                  <a:srgbClr val="8A97B5"/>
                </a:solidFill>
                <a:latin typeface="Be Vietnam Pro"/>
                <a:ea typeface="Be Vietnam Pro"/>
                <a:cs typeface="Be Vietnam Pro"/>
              </a:rPr>
              <a:t>Slide ẩn — không hiển thị khi trình chiếu. Ảnh: bộ dữ liệu Open Images (Google), giấy phép CC BY 2.0; chân dung được tách nền từ ảnh. Biểu tượng vòng tròn: vẽ bằng mã (thay bằng logo doanh nghiệp). Icon: Lucide (ISC). Font: Lexend Exa, Be Vietnam Pro, Great Vibes (SIL OFL).</a:t>
            </a:r>
          </a:p>
        </p:txBody>
      </p:sp>
      <p:sp>
        <p:nvSpPr>
          <p:cNvPr id="5" name="TextBox 4"/>
          <p:cNvSpPr txBox="1"/>
          <p:nvPr/>
        </p:nvSpPr>
        <p:spPr>
          <a:xfrm>
            <a:off x="548640" y="1600200"/>
            <a:ext cx="5394960" cy="4937760"/>
          </a:xfrm>
          <a:prstGeom prst="rect">
            <a:avLst/>
          </a:prstGeom>
          <a:noFill/>
        </p:spPr>
        <p:txBody>
          <a:bodyPr wrap="square" lIns="0" rIns="0" tIns="0" bIns="0" anchor="t">
            <a:noAutofit/>
          </a:bodyPr>
          <a:lstStyle/>
          <a:p>
            <a:pPr algn="l">
              <a:lnSpc>
                <a:spcPct val="105000"/>
              </a:lnSpc>
            </a:pPr>
            <a:r>
              <a:rPr sz="800" b="0" i="0">
                <a:solidFill>
                  <a:srgbClr val="4A5878"/>
                </a:solidFill>
                <a:latin typeface="Be Vietnam Pro"/>
                <a:ea typeface="Be Vietnam Pro"/>
                <a:cs typeface="Be Vietnam Pro"/>
              </a:rPr>
              <a:t>• San Francisco PUC Building, 525 Golden Gate — UC Davis College of Engineering (Flickr, CC BY 2.0)</a:t>
            </a:r>
          </a:p>
          <a:p>
            <a:pPr algn="l">
              <a:lnSpc>
                <a:spcPct val="105000"/>
              </a:lnSpc>
            </a:pPr>
            <a:r>
              <a:rPr sz="800" b="0" i="0">
                <a:solidFill>
                  <a:srgbClr val="4A5878"/>
                </a:solidFill>
                <a:latin typeface="Be Vietnam Pro"/>
                <a:ea typeface="Be Vietnam Pro"/>
                <a:cs typeface="Be Vietnam Pro"/>
              </a:rPr>
              <a:t>• Hafiizh + Syuhada // Reception — Azlan DuPree (Flickr, CC BY 2.0)</a:t>
            </a:r>
          </a:p>
          <a:p>
            <a:pPr algn="l">
              <a:lnSpc>
                <a:spcPct val="105000"/>
              </a:lnSpc>
            </a:pPr>
            <a:r>
              <a:rPr sz="800" b="0" i="0">
                <a:solidFill>
                  <a:srgbClr val="4A5878"/>
                </a:solidFill>
                <a:latin typeface="Be Vietnam Pro"/>
                <a:ea typeface="Be Vietnam Pro"/>
                <a:cs typeface="Be Vietnam Pro"/>
              </a:rPr>
              <a:t>• DSC04649 — Ben Abdallah Abdel Karim (Flickr, CC BY 2.0)</a:t>
            </a:r>
          </a:p>
          <a:p>
            <a:pPr algn="l">
              <a:lnSpc>
                <a:spcPct val="105000"/>
              </a:lnSpc>
            </a:pPr>
            <a:r>
              <a:rPr sz="800" b="0" i="0">
                <a:solidFill>
                  <a:srgbClr val="4A5878"/>
                </a:solidFill>
                <a:latin typeface="Be Vietnam Pro"/>
                <a:ea typeface="Be Vietnam Pro"/>
                <a:cs typeface="Be Vietnam Pro"/>
              </a:rPr>
              <a:t>• cranes — zven-ug (Flickr, CC BY 2.0)</a:t>
            </a:r>
          </a:p>
          <a:p>
            <a:pPr algn="l">
              <a:lnSpc>
                <a:spcPct val="105000"/>
              </a:lnSpc>
            </a:pPr>
            <a:r>
              <a:rPr sz="800" b="0" i="0">
                <a:solidFill>
                  <a:srgbClr val="4A5878"/>
                </a:solidFill>
                <a:latin typeface="Be Vietnam Pro"/>
                <a:ea typeface="Be Vietnam Pro"/>
                <a:cs typeface="Be Vietnam Pro"/>
              </a:rPr>
              <a:t>• Still giants — Edward Webb (Flickr, CC BY 2.0)</a:t>
            </a:r>
          </a:p>
          <a:p>
            <a:pPr algn="l">
              <a:lnSpc>
                <a:spcPct val="105000"/>
              </a:lnSpc>
            </a:pPr>
            <a:r>
              <a:rPr sz="800" b="0" i="0">
                <a:solidFill>
                  <a:srgbClr val="4A5878"/>
                </a:solidFill>
                <a:latin typeface="Be Vietnam Pro"/>
                <a:ea typeface="Be Vietnam Pro"/>
                <a:cs typeface="Be Vietnam Pro"/>
              </a:rPr>
              <a:t>• Very Tri Up! - How Many Triangles? — Say_No_To_Turtles (Flickr, CC BY 2.0)</a:t>
            </a:r>
          </a:p>
        </p:txBody>
      </p:sp>
      <p:sp>
        <p:nvSpPr>
          <p:cNvPr id="6" name="TextBox 5"/>
          <p:cNvSpPr txBox="1"/>
          <p:nvPr/>
        </p:nvSpPr>
        <p:spPr>
          <a:xfrm>
            <a:off x="6126480" y="1600200"/>
            <a:ext cx="5394960" cy="4937760"/>
          </a:xfrm>
          <a:prstGeom prst="rect">
            <a:avLst/>
          </a:prstGeom>
          <a:noFill/>
        </p:spPr>
        <p:txBody>
          <a:bodyPr wrap="square" lIns="0" rIns="0" tIns="0" bIns="0" anchor="t">
            <a:noAutofit/>
          </a:bodyPr>
          <a:lstStyle/>
          <a:p>
            <a:pPr algn="l">
              <a:lnSpc>
                <a:spcPct val="105000"/>
              </a:lnSpc>
            </a:pPr>
            <a:r>
              <a:rPr sz="800" b="0" i="0">
                <a:solidFill>
                  <a:srgbClr val="4A5878"/>
                </a:solidFill>
                <a:latin typeface="Be Vietnam Pro"/>
                <a:ea typeface="Be Vietnam Pro"/>
                <a:cs typeface="Be Vietnam Pro"/>
              </a:rPr>
              <a:t>• HOTEL ECO PREMIUM, Puerto Ordaz, Venezuela #ho — Quelverd Arias Camargo (Flickr, CC BY 2.0)</a:t>
            </a:r>
          </a:p>
          <a:p>
            <a:pPr algn="l">
              <a:lnSpc>
                <a:spcPct val="105000"/>
              </a:lnSpc>
            </a:pPr>
            <a:r>
              <a:rPr sz="800" b="0" i="0">
                <a:solidFill>
                  <a:srgbClr val="4A5878"/>
                </a:solidFill>
                <a:latin typeface="Be Vietnam Pro"/>
                <a:ea typeface="Be Vietnam Pro"/>
                <a:cs typeface="Be Vietnam Pro"/>
              </a:rPr>
              <a:t>• mostly blue — D.C.Atty (Flickr, CC BY 2.0)</a:t>
            </a:r>
          </a:p>
          <a:p>
            <a:pPr algn="l">
              <a:lnSpc>
                <a:spcPct val="105000"/>
              </a:lnSpc>
            </a:pPr>
            <a:r>
              <a:rPr sz="800" b="0" i="0">
                <a:solidFill>
                  <a:srgbClr val="4A5878"/>
                </a:solidFill>
                <a:latin typeface="Be Vietnam Pro"/>
                <a:ea typeface="Be Vietnam Pro"/>
                <a:cs typeface="Be Vietnam Pro"/>
              </a:rPr>
              <a:t>• Photo — Nobuyuki Hayashi (Flickr, CC BY 2.0)</a:t>
            </a:r>
          </a:p>
          <a:p>
            <a:pPr algn="l">
              <a:lnSpc>
                <a:spcPct val="105000"/>
              </a:lnSpc>
            </a:pPr>
            <a:r>
              <a:rPr sz="800" b="0" i="0">
                <a:solidFill>
                  <a:srgbClr val="4A5878"/>
                </a:solidFill>
                <a:latin typeface="Be Vietnam Pro"/>
                <a:ea typeface="Be Vietnam Pro"/>
                <a:cs typeface="Be Vietnam Pro"/>
              </a:rPr>
              <a:t>• Photovoltaic panels 1 — Michael Kleber (Flickr, CC BY 2.0)</a:t>
            </a:r>
          </a:p>
          <a:p>
            <a:pPr algn="l">
              <a:lnSpc>
                <a:spcPct val="105000"/>
              </a:lnSpc>
            </a:pPr>
            <a:r>
              <a:rPr sz="800" b="0" i="0">
                <a:solidFill>
                  <a:srgbClr val="4A5878"/>
                </a:solidFill>
                <a:latin typeface="Be Vietnam Pro"/>
                <a:ea typeface="Be Vietnam Pro"/>
                <a:cs typeface="Be Vietnam Pro"/>
              </a:rPr>
              <a:t>• Forklift inside Nine Mile Fresh pack house DSC — Apple and Pear Australia Ltd (Flickr, CC BY 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