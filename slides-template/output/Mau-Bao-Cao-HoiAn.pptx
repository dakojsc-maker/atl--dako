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Tổng lượt khách</c:v>
                </c:pt>
              </c:strCache>
            </c:strRef>
          </c:tx>
          <c:spPr>
            <a:gradFill rotWithShape="1">
              <a:gsLst>
                <a:gs pos="0">
                  <a:srgbClr val="E2BF7A"/>
                </a:gs>
                <a:gs pos="100000">
                  <a:srgbClr val="D69A3A"/>
                </a:gs>
              </a:gsLst>
              <a:lin ang="5400000" scaled="0"/>
            </a:gradFill>
            <a:ln>
              <a:noFill/>
            </a:ln>
          </c:spPr>
          <c:invertIfNegative val="0"/>
          <c:cat>
            <c:strRef>
              <c:f>Sheet1!$A$2:$A$9</c:f>
              <c:strCache>
                <c:ptCount val="8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2.4</c:v>
                </c:pt>
                <c:pt idx="1">
                  <c:v>2.7</c:v>
                </c:pt>
                <c:pt idx="2">
                  <c:v>3.2</c:v>
                </c:pt>
                <c:pt idx="3">
                  <c:v>3.9</c:v>
                </c:pt>
                <c:pt idx="4">
                  <c:v>4.7</c:v>
                </c:pt>
                <c:pt idx="5">
                  <c:v>5.6</c:v>
                </c:pt>
                <c:pt idx="6">
                  <c:v>6.7</c:v>
                </c:pt>
                <c:pt idx="7">
                  <c:v>7.7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 b="1">
                  <a:solidFill>
                    <a:srgbClr val="3D2B1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CDB88F"/>
            </a:solidFill>
          </a:ln>
        </c:spPr>
        <c:txPr>
          <a:bodyPr/>
          <a:lstStyle/>
          <a:p>
            <a:pPr>
              <a:defRPr sz="900">
                <a:solidFill>
                  <a:srgbClr val="8E7B62"/>
                </a:solidFill>
                <a:latin typeface="Noto Serif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E7B62"/>
                </a:solidFill>
                <a:latin typeface="Noto Serif"/>
              </a:defRPr>
            </a:pPr>
          </a:p>
        </c:txPr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8E7B62"/>
          </a:solidFill>
          <a:latin typeface="Noto Serif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Tổng thu du lịch</c:v>
                </c:pt>
              </c:strCache>
            </c:strRef>
          </c:tx>
          <c:spPr>
            <a:gradFill rotWithShape="1">
              <a:gsLst>
                <a:gs pos="0">
                  <a:srgbClr val="E2BF7A"/>
                </a:gs>
                <a:gs pos="100000">
                  <a:srgbClr val="D69A3A"/>
                </a:gs>
              </a:gsLst>
              <a:lin ang="5400000" scaled="0"/>
            </a:gradFill>
            <a:ln>
              <a:noFill/>
            </a:ln>
          </c:spPr>
          <c:invertIfNegative val="0"/>
          <c:cat>
            <c:strRef>
              <c:f>Sheet1!$A$2:$A$9</c:f>
              <c:strCache>
                <c:ptCount val="8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4600</c:v>
                </c:pt>
                <c:pt idx="1">
                  <c:v>6000</c:v>
                </c:pt>
                <c:pt idx="2">
                  <c:v>7784</c:v>
                </c:pt>
                <c:pt idx="3">
                  <c:v>9870</c:v>
                </c:pt>
                <c:pt idx="4">
                  <c:v>12817</c:v>
                </c:pt>
                <c:pt idx="5">
                  <c:v>16083</c:v>
                </c:pt>
                <c:pt idx="6">
                  <c:v>19504</c:v>
                </c:pt>
                <c:pt idx="7">
                  <c:v>24060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1">
                  <a:solidFill>
                    <a:srgbClr val="3D2B1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CDB88F"/>
            </a:solidFill>
          </a:ln>
        </c:spPr>
        <c:txPr>
          <a:bodyPr/>
          <a:lstStyle/>
          <a:p>
            <a:pPr>
              <a:defRPr sz="900">
                <a:solidFill>
                  <a:srgbClr val="8E7B62"/>
                </a:solidFill>
                <a:latin typeface="Noto Serif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E7B62"/>
                </a:solidFill>
                <a:latin typeface="Noto Serif"/>
              </a:defRPr>
            </a:pPr>
          </a:p>
        </c:txPr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8E7B62"/>
          </a:solidFill>
          <a:latin typeface="Noto Serif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bìa.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sang phần II: Thành phố lễ hội.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sang phần III: Lịch sử – văn hóa.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Cảm ơn và mời hội đồng đặt câu hỏi.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2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6" Type="http://schemas.openxmlformats.org/officeDocument/2006/relationships/image" Target="../media/image19.jpg"/><Relationship Id="rId7" Type="http://schemas.openxmlformats.org/officeDocument/2006/relationships/image" Target="../media/image3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Relationship Id="rId5" Type="http://schemas.openxmlformats.org/officeDocument/2006/relationships/image" Target="../media/image3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7.jpg"/><Relationship Id="rId4" Type="http://schemas.openxmlformats.org/officeDocument/2006/relationships/image" Target="../media/image16.jpg"/><Relationship Id="rId5" Type="http://schemas.openxmlformats.org/officeDocument/2006/relationships/image" Target="../media/image38.jpg"/><Relationship Id="rId6" Type="http://schemas.openxmlformats.org/officeDocument/2006/relationships/image" Target="../media/image18.jpg"/><Relationship Id="rId7" Type="http://schemas.openxmlformats.org/officeDocument/2006/relationships/image" Target="../media/image3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0.jpg"/><Relationship Id="rId4" Type="http://schemas.openxmlformats.org/officeDocument/2006/relationships/image" Target="../media/image41.jpg"/><Relationship Id="rId5" Type="http://schemas.openxmlformats.org/officeDocument/2006/relationships/image" Target="../media/image42.jpg"/><Relationship Id="rId6" Type="http://schemas.openxmlformats.org/officeDocument/2006/relationships/image" Target="../media/image43.jpg"/><Relationship Id="rId7" Type="http://schemas.openxmlformats.org/officeDocument/2006/relationships/image" Target="../media/image4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jp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6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Relationship Id="rId3" Type="http://schemas.openxmlformats.org/officeDocument/2006/relationships/image" Target="../media/image6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c0f36480d0d659de.jpg"/>
          <p:cNvPicPr>
            <a:picLocks noChangeAspect="1"/>
          </p:cNvPicPr>
          <p:nvPr/>
        </p:nvPicPr>
        <p:blipFill>
          <a:blip r:embed="rId2"/>
          <a:srcRect t="12499" b="12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sha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2136">
                  <a:alpha val="77000"/>
                </a:srgbClr>
              </a:gs>
              <a:gs pos="45000">
                <a:srgbClr val="0D2136">
                  <a:alpha val="16500"/>
                </a:srgbClr>
              </a:gs>
              <a:gs pos="100000">
                <a:srgbClr val="0D2136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t2"/>
          <p:cNvSpPr txBox="1"/>
          <p:nvPr/>
        </p:nvSpPr>
        <p:spPr>
          <a:xfrm>
            <a:off x="5691835" y="228600"/>
            <a:ext cx="5951220" cy="2133600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>
              <a:lnSpc>
                <a:spcPct val="85000"/>
              </a:lnSpc>
            </a:pPr>
            <a:r>
              <a:rPr sz="15000" b="0" i="0">
                <a:solidFill>
                  <a:srgbClr val="F4E8CE"/>
                </a:solidFill>
                <a:effectLst>
                  <a:outerShdw blurRad="109728" dist="45720" dir="5400000" algn="ctr" rotWithShape="0">
                    <a:srgbClr val="1A1206">
                      <a:alpha val="45000"/>
                    </a:srgbClr>
                  </a:outerShdw>
                </a:effectLst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HỘI AN</a:t>
            </a:r>
          </a:p>
        </p:txBody>
      </p:sp>
      <p:sp>
        <p:nvSpPr>
          <p:cNvPr id="5" name="!!t1"/>
          <p:cNvSpPr txBox="1"/>
          <p:nvPr/>
        </p:nvSpPr>
        <p:spPr>
          <a:xfrm>
            <a:off x="2897964" y="1230630"/>
            <a:ext cx="2839591" cy="1005840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6600" b="0" i="0">
                <a:solidFill>
                  <a:srgbClr val="F4E8CE"/>
                </a:solidFill>
                <a:effectLst>
                  <a:outerShdw blurRad="109728" dist="45720" dir="5400000" algn="ctr" rotWithShape="0">
                    <a:srgbClr val="1A1206">
                      <a:alpha val="45000"/>
                    </a:srgbClr>
                  </a:outerShdw>
                </a:effectLst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PHỐ CỔ</a:t>
            </a:r>
          </a:p>
        </p:txBody>
      </p:sp>
      <p:sp>
        <p:nvSpPr>
          <p:cNvPr id="6" name="!!kicker"/>
          <p:cNvSpPr txBox="1"/>
          <p:nvPr/>
        </p:nvSpPr>
        <p:spPr>
          <a:xfrm>
            <a:off x="2897964" y="773430"/>
            <a:ext cx="5486400" cy="411480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1800" b="0" i="1" spc="400">
                <a:solidFill>
                  <a:srgbClr val="F4E8CE"/>
                </a:solidFill>
                <a:latin typeface="Noto Serif Display Light"/>
                <a:ea typeface="Noto Serif Display Light"/>
                <a:cs typeface="Noto Serif Display Light"/>
              </a:rPr>
              <a:t>DI SẢN VĂN HÓA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5925312"/>
            <a:ext cx="822960" cy="0"/>
          </a:xfrm>
          <a:prstGeom prst="line">
            <a:avLst/>
          </a:prstGeom>
          <a:ln w="15875">
            <a:solidFill>
              <a:srgbClr val="E2BF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5989320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0" i="0" spc="15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BÁO CÁO CHUYÊN ĐỀ · VĂN HÓA VIỆT NAM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Nhóm 05 – Lớp VH47   |   GVHD: ThS. Nguyễn Văn A   |   Học kỳ I,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4" grpId="0" animBg="1"/>
      <p:bldP spid="8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AD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paper" descr="parchmen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tl"/>
          <p:cNvSpPr txBox="1"/>
          <p:nvPr/>
        </p:nvSpPr>
        <p:spPr>
          <a:xfrm>
            <a:off x="640080" y="64008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4600" b="0" i="0" spc="100">
                <a:solidFill>
                  <a:srgbClr val="3D2B1B"/>
                </a:solidFill>
                <a:latin typeface="Noto Serif Display Light"/>
                <a:ea typeface="Noto Serif Display Light"/>
                <a:cs typeface="Noto Serif Display Light"/>
              </a:rPr>
              <a:t>NỘI DUNG</a:t>
            </a:r>
          </a:p>
        </p:txBody>
      </p:sp>
      <p:sp>
        <p:nvSpPr>
          <p:cNvPr id="4" name="!!sub"/>
          <p:cNvSpPr txBox="1"/>
          <p:nvPr/>
        </p:nvSpPr>
        <p:spPr>
          <a:xfrm>
            <a:off x="640080" y="1463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 spc="150">
                <a:solidFill>
                  <a:srgbClr val="C9A15B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PHỐ CỔ HỘI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0" i="0">
                <a:solidFill>
                  <a:srgbClr val="C9A15B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258568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 spc="50">
                <a:solidFill>
                  <a:srgbClr val="3D2B1B"/>
                </a:solidFill>
                <a:latin typeface="Playfair Display"/>
                <a:ea typeface="Playfair Display"/>
                <a:cs typeface="Playfair Display"/>
              </a:rPr>
              <a:t>VỊ TRÍ ĐỊA LÝ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56946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1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Hạ lưu sông Thu Bồn, cách trung tâm Đà Nẵng khoảng 30 km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08760" y="2916936"/>
            <a:ext cx="4892040" cy="0"/>
          </a:xfrm>
          <a:prstGeom prst="line">
            <a:avLst/>
          </a:prstGeom>
          <a:ln w="9525">
            <a:solidFill>
              <a:srgbClr val="CDB88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3026664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0" i="0">
                <a:solidFill>
                  <a:srgbClr val="C9A15B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044952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 spc="50">
                <a:solidFill>
                  <a:srgbClr val="3D2B1B"/>
                </a:solidFill>
                <a:latin typeface="Playfair Display"/>
                <a:ea typeface="Playfair Display"/>
                <a:cs typeface="Playfair Display"/>
              </a:rPr>
              <a:t>THÀNH PHỐ LỄ HỘI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5584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1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Du lịch, di tích tiêu biểu và nhịp sống phố cổ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08760" y="3703320"/>
            <a:ext cx="4892040" cy="0"/>
          </a:xfrm>
          <a:prstGeom prst="line">
            <a:avLst/>
          </a:prstGeom>
          <a:ln w="9525">
            <a:solidFill>
              <a:srgbClr val="CDB88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813048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0" i="0">
                <a:solidFill>
                  <a:srgbClr val="C9A15B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831336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 spc="50">
                <a:solidFill>
                  <a:srgbClr val="3D2B1B"/>
                </a:solidFill>
                <a:latin typeface="Playfair Display"/>
                <a:ea typeface="Playfair Display"/>
                <a:cs typeface="Playfair Display"/>
              </a:rPr>
              <a:t>TRẢI NGHIỆM &amp; ẨM THỰC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14223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1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Những hoạt động và món ăn gắn với phố Hội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08760" y="4489704"/>
            <a:ext cx="4892040" cy="0"/>
          </a:xfrm>
          <a:prstGeom prst="line">
            <a:avLst/>
          </a:prstGeom>
          <a:ln w="9525">
            <a:solidFill>
              <a:srgbClr val="CDB88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599432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0" i="0">
                <a:solidFill>
                  <a:srgbClr val="C9A15B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617720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 spc="50">
                <a:solidFill>
                  <a:srgbClr val="3D2B1B"/>
                </a:solidFill>
                <a:latin typeface="Playfair Display"/>
                <a:ea typeface="Playfair Display"/>
                <a:cs typeface="Playfair Display"/>
              </a:rPr>
              <a:t>LỊCH SỬ – VĂN HÓA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92861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1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Từ thương cảng quốc tế đến di sản thế giới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508760" y="5276088"/>
            <a:ext cx="4892040" cy="0"/>
          </a:xfrm>
          <a:prstGeom prst="line">
            <a:avLst/>
          </a:prstGeom>
          <a:ln w="9525">
            <a:solidFill>
              <a:srgbClr val="CDB88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5385816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0" i="0">
                <a:solidFill>
                  <a:srgbClr val="C9A15B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404104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 spc="50">
                <a:solidFill>
                  <a:srgbClr val="3D2B1B"/>
                </a:solidFill>
                <a:latin typeface="Playfair Display"/>
                <a:ea typeface="Playfair Display"/>
                <a:cs typeface="Playfair Display"/>
              </a:rPr>
              <a:t>BẢO TỒN &amp; PHÁT HUY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7150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1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Số liệu, phân tích và kiến nghị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08760" y="6062472"/>
            <a:ext cx="4892040" cy="0"/>
          </a:xfrm>
          <a:prstGeom prst="line">
            <a:avLst/>
          </a:prstGeom>
          <a:ln w="9525">
            <a:solidFill>
              <a:srgbClr val="CDB88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42cda569f6e0996e.jpg"/>
          <p:cNvPicPr>
            <a:picLocks noChangeAspect="1"/>
          </p:cNvPicPr>
          <p:nvPr/>
        </p:nvPicPr>
        <p:blipFill>
          <a:blip r:embed="rId3"/>
          <a:srcRect l="25566" r="25566"/>
          <a:stretch>
            <a:fillRect/>
          </a:stretch>
        </p:blipFill>
        <p:spPr>
          <a:xfrm>
            <a:off x="7086600" y="548640"/>
            <a:ext cx="3291840" cy="4572000"/>
          </a:xfrm>
          <a:prstGeom prst="roundRect">
            <a:avLst>
              <a:gd name="adj" fmla="val 3888"/>
            </a:avLst>
          </a:prstGeom>
          <a:ln w="31750">
            <a:solidFill>
              <a:srgbClr val="FFFFFF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pic>
        <p:nvPicPr>
          <p:cNvPr id="26" name="Picture 25" descr="d25716f4209559a8.jpg"/>
          <p:cNvPicPr>
            <a:picLocks noChangeAspect="1"/>
          </p:cNvPicPr>
          <p:nvPr/>
        </p:nvPicPr>
        <p:blipFill>
          <a:blip r:embed="rId4"/>
          <a:srcRect l="24230" r="24230"/>
          <a:stretch>
            <a:fillRect/>
          </a:stretch>
        </p:blipFill>
        <p:spPr>
          <a:xfrm>
            <a:off x="9281160" y="3246120"/>
            <a:ext cx="2331720" cy="3017520"/>
          </a:xfrm>
          <a:prstGeom prst="roundRect">
            <a:avLst>
              <a:gd name="adj" fmla="val 5490"/>
            </a:avLst>
          </a:prstGeom>
          <a:ln w="31750">
            <a:solidFill>
              <a:srgbClr val="FFFFFF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pic>
        <p:nvPicPr>
          <p:cNvPr id="27" name="Picture 26" descr="emblem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583680" y="4800600"/>
            <a:ext cx="1143000" cy="1143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820095" y="64465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8E7B62"/>
                </a:solidFill>
                <a:latin typeface="Noto Serif Display Light"/>
                <a:ea typeface="Noto Serif Display Light"/>
                <a:cs typeface="Noto Serif Display Light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hoian_map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tl"/>
          <p:cNvSpPr txBox="1"/>
          <p:nvPr/>
        </p:nvSpPr>
        <p:spPr>
          <a:xfrm>
            <a:off x="7223760" y="502920"/>
            <a:ext cx="4327855" cy="5486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/>
            <a:r>
              <a:rPr sz="3000" b="0" i="0" spc="50">
                <a:solidFill>
                  <a:srgbClr val="F4E8CE"/>
                </a:solidFill>
                <a:latin typeface="Noto Serif Display Light"/>
                <a:ea typeface="Noto Serif Display Light"/>
                <a:cs typeface="Noto Serif Display Light"/>
              </a:rPr>
              <a:t>VỊ TRÍ ĐỊA LÝ</a:t>
            </a:r>
          </a:p>
        </p:txBody>
      </p:sp>
      <p:sp>
        <p:nvSpPr>
          <p:cNvPr id="4" name="!!sub"/>
          <p:cNvSpPr txBox="1"/>
          <p:nvPr/>
        </p:nvSpPr>
        <p:spPr>
          <a:xfrm>
            <a:off x="7223760" y="1069848"/>
            <a:ext cx="4327855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700" b="0" i="0" spc="15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PHỐ CỔ HỘI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1828800"/>
            <a:ext cx="3230575" cy="365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ct val="118000"/>
              </a:lnSpc>
              <a:spcAft>
                <a:spcPts val="500"/>
              </a:spcAft>
            </a:pPr>
            <a:r>
              <a:rPr sz="120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Phố cổ Hội An</a:t>
            </a: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 là một đô thị cổ nằm ở hạ lưu </a:t>
            </a:r>
            <a:r>
              <a:rPr sz="120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sông Thu Bồn</a:t>
            </a: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, thuộc vùng đồng bằng ven biển miền Trung Việt Nam, cách trung tâm Đà Nẵng khoảng </a:t>
            </a:r>
            <a:r>
              <a:rPr sz="120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30 km</a:t>
            </a: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 về phía Nam.</a:t>
            </a:r>
          </a:p>
          <a:p>
            <a:pPr algn="just">
              <a:lnSpc>
                <a:spcPct val="118000"/>
              </a:lnSpc>
              <a:spcAft>
                <a:spcPts val="500"/>
              </a:spcAft>
            </a:pP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Trong lịch sử, Hội An từng được biết đến trên thương trường quốc tế với nhiều tên gọi như </a:t>
            </a:r>
            <a:r>
              <a:rPr sz="120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Faifo</a:t>
            </a: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, </a:t>
            </a:r>
            <a:r>
              <a:rPr sz="120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Hoài Phố</a:t>
            </a: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 và </a:t>
            </a:r>
            <a:r>
              <a:rPr sz="120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Hội An</a:t>
            </a: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5943600"/>
            <a:ext cx="323057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0" i="1" spc="600">
                <a:solidFill>
                  <a:srgbClr val="8C8E8A"/>
                </a:solidFill>
                <a:latin typeface="Noto Serif Display Light"/>
                <a:ea typeface="Noto Serif Display Light"/>
                <a:cs typeface="Noto Serif Display Light"/>
              </a:rPr>
              <a:t>BIỂN ĐÔNG</a:t>
            </a:r>
          </a:p>
        </p:txBody>
      </p:sp>
      <p:cxnSp>
        <p:nvCxnSpPr>
          <p:cNvPr id="7" name="route"/>
          <p:cNvCxnSpPr/>
          <p:nvPr/>
        </p:nvCxnSpPr>
        <p:spPr>
          <a:xfrm>
            <a:off x="6111625" y="2873973"/>
            <a:ext cx="973901" cy="1300285"/>
          </a:xfrm>
          <a:prstGeom prst="curvedConnector3">
            <a:avLst/>
          </a:prstGeom>
          <a:ln w="28575">
            <a:solidFill>
              <a:srgbClr val="D69A3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047617" y="2809965"/>
            <a:ext cx="128016" cy="128016"/>
          </a:xfrm>
          <a:prstGeom prst="ellipse">
            <a:avLst/>
          </a:prstGeom>
          <a:solidFill>
            <a:srgbClr val="D69A3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76217" y="2700237"/>
            <a:ext cx="932805" cy="347472"/>
          </a:xfrm>
          <a:prstGeom prst="roundRect">
            <a:avLst>
              <a:gd name="adj" fmla="val 15789"/>
            </a:avLst>
          </a:prstGeom>
          <a:solidFill>
            <a:srgbClr val="D69A3A"/>
          </a:solidFill>
          <a:ln>
            <a:noFill/>
          </a:ln>
          <a:effectLst>
            <a:outerShdw blurRad="109728" dist="36576" dir="5400000" algn="ctr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D2136"/>
                </a:solidFill>
                <a:latin typeface="Noto Serif"/>
                <a:ea typeface="Noto Serif"/>
                <a:cs typeface="Noto Serif"/>
              </a:rPr>
              <a:t>Đà Nẵng</a:t>
            </a:r>
          </a:p>
        </p:txBody>
      </p:sp>
      <p:sp>
        <p:nvSpPr>
          <p:cNvPr id="10" name="Oval 9"/>
          <p:cNvSpPr/>
          <p:nvPr/>
        </p:nvSpPr>
        <p:spPr>
          <a:xfrm>
            <a:off x="7021518" y="4110250"/>
            <a:ext cx="128016" cy="128016"/>
          </a:xfrm>
          <a:prstGeom prst="ellipse">
            <a:avLst/>
          </a:prstGeom>
          <a:solidFill>
            <a:srgbClr val="D69A3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50118" y="4000522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D69A3A"/>
          </a:solidFill>
          <a:ln>
            <a:noFill/>
          </a:ln>
          <a:effectLst>
            <a:outerShdw blurRad="109728" dist="36576" dir="5400000" algn="ctr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D2136"/>
                </a:solidFill>
                <a:latin typeface="Noto Serif"/>
                <a:ea typeface="Noto Serif"/>
                <a:cs typeface="Noto Serif"/>
              </a:rPr>
              <a:t>Hội 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1256" y="3478395"/>
            <a:ext cx="1005840" cy="411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1800" b="0" i="0">
                <a:solidFill>
                  <a:srgbClr val="3D2B1B"/>
                </a:solidFill>
                <a:effectLst>
                  <a:outerShdw blurRad="109728" dist="45720" dir="5400000" algn="ctr" rotWithShape="0">
                    <a:srgbClr val="1A1206">
                      <a:alpha val="60000"/>
                    </a:srgbClr>
                  </a:outerShdw>
                </a:effectLst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30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FACA0"/>
                </a:solidFill>
                <a:latin typeface="Noto Serif Display Light"/>
                <a:ea typeface="Noto Serif Display Light"/>
                <a:cs typeface="Noto Serif Display Light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soft_cov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sha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2136">
                  <a:alpha val="85500"/>
                </a:srgbClr>
              </a:gs>
              <a:gs pos="42000">
                <a:srgbClr val="0D2136">
                  <a:alpha val="68399"/>
                </a:srgbClr>
              </a:gs>
              <a:gs pos="72000">
                <a:srgbClr val="0D2136">
                  <a:alpha val="33250"/>
                </a:srgbClr>
              </a:gs>
              <a:gs pos="100000">
                <a:srgbClr val="0D2136">
                  <a:alpha val="11399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ttl"/>
          <p:cNvSpPr txBox="1"/>
          <p:nvPr/>
        </p:nvSpPr>
        <p:spPr>
          <a:xfrm>
            <a:off x="640080" y="50292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000" b="0" i="0" spc="50">
                <a:solidFill>
                  <a:srgbClr val="F4E8CE"/>
                </a:solidFill>
                <a:latin typeface="Noto Serif Display Light"/>
                <a:ea typeface="Noto Serif Display Light"/>
                <a:cs typeface="Noto Serif Display Light"/>
              </a:rPr>
              <a:t>VỊ TRÍ ĐỊA LÝ</a:t>
            </a:r>
          </a:p>
        </p:txBody>
      </p:sp>
      <p:sp>
        <p:nvSpPr>
          <p:cNvPr id="5" name="!!sub"/>
          <p:cNvSpPr txBox="1"/>
          <p:nvPr/>
        </p:nvSpPr>
        <p:spPr>
          <a:xfrm>
            <a:off x="640080" y="1069848"/>
            <a:ext cx="68580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spc="15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PHỐ CỔ HỘI 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F4E8CE"/>
                </a:solidFill>
                <a:latin typeface="Playfair Display"/>
                <a:ea typeface="Playfair Display"/>
                <a:cs typeface="Playfair Display"/>
              </a:rPr>
              <a:t>Di sản văn hóa thế giới: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4937760" cy="228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Phố cổ Hội An nhiều lần được bình chọn là một trong những </a:t>
            </a:r>
            <a:r>
              <a:rPr sz="125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thành phố cổ quyến rũ</a:t>
            </a:r>
            <a:r>
              <a:rPr sz="125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 nhất thế giới và là điểm chụp ảnh ấn tượng hàng đầu của du khách.</a:t>
            </a:r>
          </a:p>
        </p:txBody>
      </p:sp>
      <p:pic>
        <p:nvPicPr>
          <p:cNvPr id="8" name="Picture 7" descr="blur_cover.jpg"/>
          <p:cNvPicPr>
            <a:picLocks noChangeAspect="1"/>
          </p:cNvPicPr>
          <p:nvPr/>
        </p:nvPicPr>
        <p:blipFill>
          <a:blip r:embed="rId3"/>
          <a:srcRect l="56626" r="6248" t="12000" b="12000"/>
          <a:stretch>
            <a:fillRect/>
          </a:stretch>
        </p:blipFill>
        <p:spPr>
          <a:xfrm>
            <a:off x="6903720" y="822960"/>
            <a:ext cx="4526280" cy="5212080"/>
          </a:xfrm>
          <a:prstGeom prst="roundRect">
            <a:avLst>
              <a:gd name="adj" fmla="val 6060"/>
            </a:avLst>
          </a:prstGeom>
        </p:spPr>
      </p:pic>
      <p:sp>
        <p:nvSpPr>
          <p:cNvPr id="9" name="Rounded Rectangle 8"/>
          <p:cNvSpPr/>
          <p:nvPr/>
        </p:nvSpPr>
        <p:spPr>
          <a:xfrm>
            <a:off x="6903720" y="822960"/>
            <a:ext cx="4526280" cy="5212080"/>
          </a:xfrm>
          <a:prstGeom prst="roundRect">
            <a:avLst>
              <a:gd name="adj" fmla="val 6060"/>
            </a:avLst>
          </a:prstGeom>
          <a:solidFill>
            <a:srgbClr val="0D2136">
              <a:alpha val="35000"/>
            </a:srgbClr>
          </a:solidFill>
          <a:ln w="15875">
            <a:solidFill>
              <a:srgbClr val="FFFFFF">
                <a:alpha val="45000"/>
              </a:srgbClr>
            </a:solidFill>
          </a:ln>
          <a:effectLst>
            <a:outerShdw blurRad="457200" dist="13716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69480" y="1234440"/>
            <a:ext cx="731520" cy="731520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F4E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1" name="Picture 10" descr="landmark_F4E8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371600"/>
            <a:ext cx="457200" cy="4572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138160" y="1307592"/>
            <a:ext cx="2926080" cy="585216"/>
          </a:xfrm>
          <a:prstGeom prst="roundRect">
            <a:avLst>
              <a:gd name="adj" fmla="val 12500"/>
            </a:avLst>
          </a:prstGeom>
          <a:noFill/>
          <a:ln w="15875">
            <a:solidFill>
              <a:srgbClr val="F4E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201168" rIns="201168" tIns="0" bIns="0" wrap="square"/>
          <a:lstStyle/>
          <a:p>
            <a:pPr algn="l"/>
            <a:r>
              <a:rPr sz="1800" b="1" i="0">
                <a:solidFill>
                  <a:srgbClr val="F4E8CE"/>
                </a:solidFill>
                <a:latin typeface="Playfair Display"/>
                <a:ea typeface="Playfair Display"/>
                <a:cs typeface="Playfair Display"/>
              </a:rPr>
              <a:t>Năm 1999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35240" y="1965960"/>
            <a:ext cx="0" cy="3611880"/>
          </a:xfrm>
          <a:prstGeom prst="line">
            <a:avLst/>
          </a:prstGeom>
          <a:ln w="15875">
            <a:solidFill>
              <a:srgbClr val="F4E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43800" y="2496312"/>
            <a:ext cx="182880" cy="182880"/>
          </a:xfrm>
          <a:prstGeom prst="ellipse">
            <a:avLst/>
          </a:prstGeom>
          <a:noFill/>
          <a:ln w="19050">
            <a:solidFill>
              <a:srgbClr val="F4E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242316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Vật thể nổi bật của sự </a:t>
            </a:r>
            <a:r>
              <a:rPr sz="120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kết hợp các nền văn hóa</a:t>
            </a: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 qua các thời kỳ trong một thương cảng quốc tế.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3730752"/>
            <a:ext cx="182880" cy="182880"/>
          </a:xfrm>
          <a:prstGeom prst="ellipse">
            <a:avLst/>
          </a:prstGeom>
          <a:noFill/>
          <a:ln w="19050">
            <a:solidFill>
              <a:srgbClr val="F4E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365760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Tiêu biểu về một </a:t>
            </a:r>
            <a:r>
              <a:rPr sz="120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cảng thị châu Á</a:t>
            </a: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 truyền thống được bảo tồn trọn vẹn.</a:t>
            </a:r>
          </a:p>
        </p:txBody>
      </p:sp>
      <p:sp>
        <p:nvSpPr>
          <p:cNvPr id="18" name="Oval 17"/>
          <p:cNvSpPr/>
          <p:nvPr/>
        </p:nvSpPr>
        <p:spPr>
          <a:xfrm>
            <a:off x="7543800" y="4965192"/>
            <a:ext cx="182880" cy="182880"/>
          </a:xfrm>
          <a:prstGeom prst="ellipse">
            <a:avLst/>
          </a:prstGeom>
          <a:noFill/>
          <a:ln w="19050">
            <a:solidFill>
              <a:srgbClr val="F4E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489204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UNESCO ghi danh vào </a:t>
            </a:r>
            <a:r>
              <a:rPr sz="120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Danh mục Di sản Thế giới</a:t>
            </a: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 tháng 12/1999.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465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FACA0"/>
                </a:solidFill>
                <a:latin typeface="Noto Serif Display Light"/>
                <a:ea typeface="Noto Serif Display Light"/>
                <a:cs typeface="Noto Serif Display Light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7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bg_bridge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sha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2136">
                  <a:alpha val="31500"/>
                </a:srgbClr>
              </a:gs>
              <a:gs pos="100000">
                <a:srgbClr val="0D2136">
                  <a:alpha val="2475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" name="Picture 3" descr="blur_bridge.jpg"/>
          <p:cNvPicPr>
            <a:picLocks noChangeAspect="1"/>
          </p:cNvPicPr>
          <p:nvPr/>
        </p:nvPicPr>
        <p:blipFill>
          <a:blip r:embed="rId3"/>
          <a:srcRect l="14250" r="14250" t="18000" b="16667"/>
          <a:stretch>
            <a:fillRect/>
          </a:stretch>
        </p:blipFill>
        <p:spPr>
          <a:xfrm>
            <a:off x="1737360" y="1234440"/>
            <a:ext cx="8716975" cy="4480560"/>
          </a:xfrm>
          <a:prstGeom prst="roundRect">
            <a:avLst>
              <a:gd name="adj" fmla="val 7142"/>
            </a:avLst>
          </a:prstGeom>
        </p:spPr>
      </p:pic>
      <p:sp>
        <p:nvSpPr>
          <p:cNvPr id="5" name="Rounded Rectangle 4"/>
          <p:cNvSpPr/>
          <p:nvPr/>
        </p:nvSpPr>
        <p:spPr>
          <a:xfrm>
            <a:off x="1737360" y="1234440"/>
            <a:ext cx="8716975" cy="4480560"/>
          </a:xfrm>
          <a:prstGeom prst="roundRect">
            <a:avLst>
              <a:gd name="adj" fmla="val 7142"/>
            </a:avLst>
          </a:prstGeom>
          <a:solidFill>
            <a:srgbClr val="0D2136">
              <a:alpha val="41000"/>
            </a:srgbClr>
          </a:solidFill>
          <a:ln w="15875">
            <a:solidFill>
              <a:srgbClr val="FFFFFF">
                <a:alpha val="45000"/>
              </a:srgbClr>
            </a:solidFill>
          </a:ln>
          <a:effectLst>
            <a:outerShdw blurRad="457200" dist="13716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6" name="!!emblem" descr="emblem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528920" y="667512"/>
            <a:ext cx="1133856" cy="11338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37360" y="2011680"/>
            <a:ext cx="871697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0" i="0" spc="40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PHẦN II</a:t>
            </a:r>
          </a:p>
        </p:txBody>
      </p:sp>
      <p:sp>
        <p:nvSpPr>
          <p:cNvPr id="8" name="!!ttl"/>
          <p:cNvSpPr txBox="1"/>
          <p:nvPr/>
        </p:nvSpPr>
        <p:spPr>
          <a:xfrm>
            <a:off x="2011680" y="2468880"/>
            <a:ext cx="8168335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400" b="0" i="0" spc="100">
                <a:solidFill>
                  <a:srgbClr val="F4E8CE"/>
                </a:solidFill>
                <a:effectLst>
                  <a:outerShdw blurRad="109728" dist="45720" dir="5400000" algn="ctr" rotWithShape="0">
                    <a:srgbClr val="1A1206">
                      <a:alpha val="35000"/>
                    </a:srgbClr>
                  </a:outerShdw>
                </a:effectLst>
                <a:latin typeface="Noto Serif Display Light"/>
                <a:ea typeface="Noto Serif Display Light"/>
                <a:cs typeface="Noto Serif Display Light"/>
              </a:rPr>
              <a:t>THÀNH PHỐ LỄ HỘI</a:t>
            </a:r>
          </a:p>
        </p:txBody>
      </p:sp>
      <p:sp>
        <p:nvSpPr>
          <p:cNvPr id="9" name="!!sub"/>
          <p:cNvSpPr txBox="1"/>
          <p:nvPr/>
        </p:nvSpPr>
        <p:spPr>
          <a:xfrm>
            <a:off x="1737360" y="3611880"/>
            <a:ext cx="8716975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400" b="0" i="0" spc="200">
                <a:solidFill>
                  <a:srgbClr val="FFFFFF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PHỐ CỔ HỘI AN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24248" y="4480560"/>
            <a:ext cx="1243584" cy="0"/>
          </a:xfrm>
          <a:prstGeom prst="line">
            <a:avLst/>
          </a:prstGeom>
          <a:ln w="11430">
            <a:solidFill>
              <a:srgbClr val="E2BF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 rot="2700000">
            <a:off x="6050128" y="4434840"/>
            <a:ext cx="91440" cy="91440"/>
          </a:xfrm>
          <a:prstGeom prst="rect">
            <a:avLst/>
          </a:prstGeom>
          <a:solidFill>
            <a:srgbClr val="E2B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223864" y="4480560"/>
            <a:ext cx="1243584" cy="0"/>
          </a:xfrm>
          <a:prstGeom prst="line">
            <a:avLst/>
          </a:prstGeom>
          <a:ln w="11430">
            <a:solidFill>
              <a:srgbClr val="E2BF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34640" y="4663440"/>
            <a:ext cx="6522415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i="1">
                <a:solidFill>
                  <a:srgbClr val="D1CAB7"/>
                </a:solidFill>
                <a:latin typeface="Noto Serif"/>
                <a:ea typeface="Noto Serif"/>
                <a:cs typeface="Noto Serif"/>
              </a:rPr>
              <a:t>Du lịch phát triển mạnh, di tích dày đặc và nhịp sống phố cổ lung linh về đêm.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1" grpId="0" animBg="1"/>
      <p:bldP spid="13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AD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paper" descr="parchmen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tl"/>
          <p:cNvSpPr txBox="1"/>
          <p:nvPr/>
        </p:nvSpPr>
        <p:spPr>
          <a:xfrm>
            <a:off x="640080" y="50292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000" b="0" i="0" spc="50">
                <a:solidFill>
                  <a:srgbClr val="3D2B1B"/>
                </a:solidFill>
                <a:latin typeface="Noto Serif Display Light"/>
                <a:ea typeface="Noto Serif Display Light"/>
                <a:cs typeface="Noto Serif Display Light"/>
              </a:rPr>
              <a:t>THÀNH PHỐ LỄ HỘI</a:t>
            </a:r>
          </a:p>
        </p:txBody>
      </p:sp>
      <p:sp>
        <p:nvSpPr>
          <p:cNvPr id="4" name="!!sub"/>
          <p:cNvSpPr txBox="1"/>
          <p:nvPr/>
        </p:nvSpPr>
        <p:spPr>
          <a:xfrm>
            <a:off x="640080" y="1069848"/>
            <a:ext cx="530352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spc="150">
                <a:solidFill>
                  <a:srgbClr val="C9A15B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PHỐ CỔ HỘI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566928"/>
            <a:ext cx="5242255" cy="8686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Lượng khách du lịch tăng đều qua từng năm (số liệu minh họa)</a:t>
            </a:r>
          </a:p>
        </p:txBody>
      </p:sp>
      <p:pic>
        <p:nvPicPr>
          <p:cNvPr id="6" name="Picture 5" descr="banner.png"/>
          <p:cNvPicPr>
            <a:picLocks noChangeAspect="1"/>
          </p:cNvPicPr>
          <p:nvPr/>
        </p:nvPicPr>
        <p:blipFill>
          <a:blip r:embed="rId3"/>
          <a:srcRect t="1040" b="1040"/>
          <a:stretch>
            <a:fillRect/>
          </a:stretch>
        </p:blipFill>
        <p:spPr>
          <a:xfrm>
            <a:off x="2163928" y="1572768"/>
            <a:ext cx="7863840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63928" y="1572768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0" i="0" spc="150">
                <a:solidFill>
                  <a:srgbClr val="0D2136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KHÁCH DU LỊCH TĂNG TRƯỞNG VƯỢT BẬC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1" i="0">
                <a:solidFill>
                  <a:srgbClr val="D69A3A"/>
                </a:solidFill>
                <a:latin typeface="Playfair Display"/>
                <a:ea typeface="Playfair Display"/>
                <a:cs typeface="Playfair Display"/>
              </a:rPr>
              <a:t>TỔNG LƯỢT KHÁCH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2880360"/>
          <a:ext cx="5303520" cy="3429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4360" y="274320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1">
                <a:solidFill>
                  <a:srgbClr val="8E7B62"/>
                </a:solidFill>
                <a:latin typeface="Noto Serif"/>
                <a:ea typeface="Noto Serif"/>
                <a:cs typeface="Noto Serif"/>
              </a:rPr>
              <a:t>Triệu lượt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5146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1" i="0">
                <a:solidFill>
                  <a:srgbClr val="D69A3A"/>
                </a:solidFill>
                <a:latin typeface="Playfair Display"/>
                <a:ea typeface="Playfair Display"/>
                <a:cs typeface="Playfair Display"/>
              </a:rPr>
              <a:t>TỔNG THU DU LỊCH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09360" y="2880360"/>
          <a:ext cx="5303520" cy="3429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63640" y="274320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1">
                <a:solidFill>
                  <a:srgbClr val="8E7B62"/>
                </a:solidFill>
                <a:latin typeface="Noto Serif"/>
                <a:ea typeface="Noto Serif"/>
                <a:cs typeface="Noto Serif"/>
              </a:rPr>
              <a:t>Tỷ đồng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1">
                <a:solidFill>
                  <a:srgbClr val="8E7B62"/>
                </a:solidFill>
                <a:latin typeface="Noto Serif"/>
                <a:ea typeface="Noto Serif"/>
                <a:cs typeface="Noto Serif"/>
              </a:rPr>
              <a:t>Số liệu minh họa — thay bằng dữ liệu của bạn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8E7B62"/>
                </a:solidFill>
                <a:latin typeface="Noto Serif Display Light"/>
                <a:ea typeface="Noto Serif Display Light"/>
                <a:cs typeface="Noto Serif Display Light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49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49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1749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Graphic spid="9" grpId="0">
        <p:bldAsOne/>
      </p:bldGraphic>
      <p:bldP spid="11" grpId="0" animBg="1"/>
      <p:bldP spid="13" grpId="0" animBg="1"/>
      <p:bldGraphic spid="12" grpId="0">
        <p:bldAsOne/>
      </p:bldGraphic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bg_bridge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sha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2136">
                  <a:alpha val="90000"/>
                </a:srgbClr>
              </a:gs>
              <a:gs pos="42000">
                <a:srgbClr val="0D2136">
                  <a:alpha val="72000"/>
                </a:srgbClr>
              </a:gs>
              <a:gs pos="72000">
                <a:srgbClr val="0D2136">
                  <a:alpha val="35000"/>
                </a:srgbClr>
              </a:gs>
              <a:gs pos="100000">
                <a:srgbClr val="0D2136">
                  <a:alpha val="12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ttl"/>
          <p:cNvSpPr txBox="1"/>
          <p:nvPr/>
        </p:nvSpPr>
        <p:spPr>
          <a:xfrm>
            <a:off x="640080" y="50292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000" b="0" i="0" spc="50">
                <a:solidFill>
                  <a:srgbClr val="F4E8CE"/>
                </a:solidFill>
                <a:latin typeface="Noto Serif Display Light"/>
                <a:ea typeface="Noto Serif Display Light"/>
                <a:cs typeface="Noto Serif Display Light"/>
              </a:rPr>
              <a:t>THÀNH PHỐ LỄ HỘI</a:t>
            </a:r>
          </a:p>
        </p:txBody>
      </p:sp>
      <p:sp>
        <p:nvSpPr>
          <p:cNvPr id="5" name="!!sub"/>
          <p:cNvSpPr txBox="1"/>
          <p:nvPr/>
        </p:nvSpPr>
        <p:spPr>
          <a:xfrm>
            <a:off x="640080" y="1069848"/>
            <a:ext cx="68580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spc="15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PHỐ CỔ HỘI 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120640" cy="13258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98000"/>
              </a:lnSpc>
            </a:pPr>
            <a:r>
              <a:rPr sz="3800" b="1" i="0">
                <a:solidFill>
                  <a:srgbClr val="E2BF7A"/>
                </a:solidFill>
                <a:effectLst>
                  <a:outerShdw blurRad="109728" dist="45720" dir="5400000" algn="ctr" rotWithShape="0">
                    <a:srgbClr val="1A1206">
                      <a:alpha val="50000"/>
                    </a:srgbClr>
                  </a:outerShdw>
                </a:effectLst>
                <a:latin typeface="Playfair Display"/>
                <a:ea typeface="Playfair Display"/>
                <a:cs typeface="Playfair Display"/>
              </a:rPr>
              <a:t>Chùa Cầu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4937760" cy="2651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ct val="118000"/>
              </a:lnSpc>
              <a:spcAft>
                <a:spcPts val="500"/>
              </a:spcAft>
            </a:pP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Chiếc cầu được các thương nhân </a:t>
            </a:r>
            <a:r>
              <a:rPr sz="120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Nhật Bản</a:t>
            </a: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 góp tiền xây dựng vào khoảng </a:t>
            </a:r>
            <a:r>
              <a:rPr sz="120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thế kỷ XVII</a:t>
            </a: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, nên còn được gọi là </a:t>
            </a:r>
            <a:r>
              <a:rPr sz="120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cầu Nhật Bản</a:t>
            </a: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. Đây là biểu tượng của Hội An, xuất hiện trên mặt sau tờ tiền polymer </a:t>
            </a:r>
            <a:r>
              <a:rPr sz="120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20.000 đồng</a:t>
            </a: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.</a:t>
            </a:r>
          </a:p>
        </p:txBody>
      </p:sp>
      <p:pic>
        <p:nvPicPr>
          <p:cNvPr id="8" name="Picture 7" descr="7571cf107f006fb7.jpg"/>
          <p:cNvPicPr>
            <a:picLocks noChangeAspect="1"/>
          </p:cNvPicPr>
          <p:nvPr/>
        </p:nvPicPr>
        <p:blipFill>
          <a:blip r:embed="rId3"/>
          <a:srcRect l="10294" r="10294"/>
          <a:stretch>
            <a:fillRect/>
          </a:stretch>
        </p:blipFill>
        <p:spPr>
          <a:xfrm>
            <a:off x="6629400" y="868680"/>
            <a:ext cx="2468880" cy="2331720"/>
          </a:xfrm>
          <a:prstGeom prst="roundRect">
            <a:avLst>
              <a:gd name="adj" fmla="val 5490"/>
            </a:avLst>
          </a:prstGeom>
          <a:ln w="19050">
            <a:solidFill>
              <a:srgbClr val="F4E8CE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pic>
        <p:nvPicPr>
          <p:cNvPr id="9" name="Picture 8" descr="ef6b3bd6de20622e.jpg"/>
          <p:cNvPicPr>
            <a:picLocks noChangeAspect="1"/>
          </p:cNvPicPr>
          <p:nvPr/>
        </p:nvPicPr>
        <p:blipFill>
          <a:blip r:embed="rId4"/>
          <a:srcRect l="16466" r="16466"/>
          <a:stretch>
            <a:fillRect/>
          </a:stretch>
        </p:blipFill>
        <p:spPr>
          <a:xfrm>
            <a:off x="9235440" y="868680"/>
            <a:ext cx="2331720" cy="2331720"/>
          </a:xfrm>
          <a:prstGeom prst="roundRect">
            <a:avLst>
              <a:gd name="adj" fmla="val 5490"/>
            </a:avLst>
          </a:prstGeom>
          <a:ln w="19050">
            <a:solidFill>
              <a:srgbClr val="F4E8CE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pic>
        <p:nvPicPr>
          <p:cNvPr id="10" name="Picture 9" descr="942a4ff30aa5e899.jpg"/>
          <p:cNvPicPr>
            <a:picLocks noChangeAspect="1"/>
          </p:cNvPicPr>
          <p:nvPr/>
        </p:nvPicPr>
        <p:blipFill>
          <a:blip r:embed="rId5"/>
          <a:srcRect l="13182" r="13182"/>
          <a:stretch>
            <a:fillRect/>
          </a:stretch>
        </p:blipFill>
        <p:spPr>
          <a:xfrm>
            <a:off x="6629400" y="3337560"/>
            <a:ext cx="2468880" cy="2514600"/>
          </a:xfrm>
          <a:prstGeom prst="roundRect">
            <a:avLst>
              <a:gd name="adj" fmla="val 5185"/>
            </a:avLst>
          </a:prstGeom>
          <a:ln w="19050">
            <a:solidFill>
              <a:srgbClr val="F4E8CE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pic>
        <p:nvPicPr>
          <p:cNvPr id="11" name="Picture 10" descr="f6e141c86b62ee05.jpg"/>
          <p:cNvPicPr>
            <a:picLocks noChangeAspect="1"/>
          </p:cNvPicPr>
          <p:nvPr/>
        </p:nvPicPr>
        <p:blipFill>
          <a:blip r:embed="rId6"/>
          <a:srcRect l="15227" r="15227"/>
          <a:stretch>
            <a:fillRect/>
          </a:stretch>
        </p:blipFill>
        <p:spPr>
          <a:xfrm>
            <a:off x="9235440" y="3337560"/>
            <a:ext cx="2331720" cy="2514600"/>
          </a:xfrm>
          <a:prstGeom prst="roundRect">
            <a:avLst>
              <a:gd name="adj" fmla="val 5490"/>
            </a:avLst>
          </a:prstGeom>
          <a:ln w="19050">
            <a:solidFill>
              <a:srgbClr val="F4E8CE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10820095" y="64465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FACA0"/>
                </a:solidFill>
                <a:latin typeface="Noto Serif Display Light"/>
                <a:ea typeface="Noto Serif Display Light"/>
                <a:cs typeface="Noto Serif Display Light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bg_street.jpg"/>
          <p:cNvPicPr>
            <a:picLocks noChangeAspect="1"/>
          </p:cNvPicPr>
          <p:nvPr/>
        </p:nvPicPr>
        <p:blipFill>
          <a:blip r:embed="rId2"/>
          <a:srcRect l="80" r="8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sha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2136">
                  <a:alpha val="90000"/>
                </a:srgbClr>
              </a:gs>
              <a:gs pos="42000">
                <a:srgbClr val="0D2136">
                  <a:alpha val="72000"/>
                </a:srgbClr>
              </a:gs>
              <a:gs pos="72000">
                <a:srgbClr val="0D2136">
                  <a:alpha val="35000"/>
                </a:srgbClr>
              </a:gs>
              <a:gs pos="100000">
                <a:srgbClr val="0D2136">
                  <a:alpha val="12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ttl"/>
          <p:cNvSpPr txBox="1"/>
          <p:nvPr/>
        </p:nvSpPr>
        <p:spPr>
          <a:xfrm>
            <a:off x="640080" y="50292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000" b="0" i="0" spc="50">
                <a:solidFill>
                  <a:srgbClr val="F4E8CE"/>
                </a:solidFill>
                <a:latin typeface="Noto Serif Display Light"/>
                <a:ea typeface="Noto Serif Display Light"/>
                <a:cs typeface="Noto Serif Display Light"/>
              </a:rPr>
              <a:t>THÀNH PHỐ LỄ HỘI</a:t>
            </a:r>
          </a:p>
        </p:txBody>
      </p:sp>
      <p:sp>
        <p:nvSpPr>
          <p:cNvPr id="5" name="!!sub"/>
          <p:cNvSpPr txBox="1"/>
          <p:nvPr/>
        </p:nvSpPr>
        <p:spPr>
          <a:xfrm>
            <a:off x="640080" y="1069848"/>
            <a:ext cx="68580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spc="15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PHỐ CỔ HỘI 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120640" cy="13258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98000"/>
              </a:lnSpc>
            </a:pPr>
            <a:r>
              <a:rPr sz="3800" b="1" i="0">
                <a:solidFill>
                  <a:srgbClr val="E2BF7A"/>
                </a:solidFill>
                <a:effectLst>
                  <a:outerShdw blurRad="109728" dist="45720" dir="5400000" algn="ctr" rotWithShape="0">
                    <a:srgbClr val="1A1206">
                      <a:alpha val="50000"/>
                    </a:srgbClr>
                  </a:outerShdw>
                </a:effectLst>
                <a:latin typeface="Playfair Display"/>
                <a:ea typeface="Playfair Display"/>
                <a:cs typeface="Playfair Display"/>
              </a:rPr>
              <a:t>Những ngôi</a:t>
            </a:r>
          </a:p>
          <a:p>
            <a:pPr algn="l">
              <a:lnSpc>
                <a:spcPct val="98000"/>
              </a:lnSpc>
            </a:pPr>
            <a:r>
              <a:rPr sz="3800" b="1" i="0">
                <a:solidFill>
                  <a:srgbClr val="E2BF7A"/>
                </a:solidFill>
                <a:effectLst>
                  <a:outerShdw blurRad="109728" dist="45720" dir="5400000" algn="ctr" rotWithShape="0">
                    <a:srgbClr val="1A1206">
                      <a:alpha val="50000"/>
                    </a:srgbClr>
                  </a:outerShdw>
                </a:effectLst>
                <a:latin typeface="Playfair Display"/>
                <a:ea typeface="Playfair Display"/>
                <a:cs typeface="Playfair Display"/>
              </a:rPr>
              <a:t>nhà cổ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4937760" cy="2651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ct val="118000"/>
              </a:lnSpc>
              <a:spcAft>
                <a:spcPts val="500"/>
              </a:spcAft>
            </a:pP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Những ngôi nhà gỗ hàng trăm năm tuổi mang phong cách kiến trúc </a:t>
            </a:r>
            <a:r>
              <a:rPr sz="120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Việt – Hoa – Nhật</a:t>
            </a: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, mái ngói âm dương, tường vàng rêu phong. Nhiều ngôi nhà vẫn giữ được </a:t>
            </a:r>
            <a:r>
              <a:rPr sz="120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nội thất và đồ gỗ</a:t>
            </a: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 từ thời thương cảng.</a:t>
            </a:r>
          </a:p>
        </p:txBody>
      </p:sp>
      <p:pic>
        <p:nvPicPr>
          <p:cNvPr id="8" name="Picture 7" descr="995f1704c3239ebe.jpg"/>
          <p:cNvPicPr>
            <a:picLocks noChangeAspect="1"/>
          </p:cNvPicPr>
          <p:nvPr/>
        </p:nvPicPr>
        <p:blipFill>
          <a:blip r:embed="rId3"/>
          <a:srcRect t="15766" b="15766"/>
          <a:stretch>
            <a:fillRect/>
          </a:stretch>
        </p:blipFill>
        <p:spPr>
          <a:xfrm>
            <a:off x="6492240" y="868680"/>
            <a:ext cx="5074920" cy="2606040"/>
          </a:xfrm>
          <a:prstGeom prst="roundRect">
            <a:avLst>
              <a:gd name="adj" fmla="val 4912"/>
            </a:avLst>
          </a:prstGeom>
          <a:ln w="19050">
            <a:solidFill>
              <a:srgbClr val="F4E8CE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pic>
        <p:nvPicPr>
          <p:cNvPr id="9" name="Picture 8" descr="9563bb7c6929e8ba.jpg"/>
          <p:cNvPicPr>
            <a:picLocks noChangeAspect="1"/>
          </p:cNvPicPr>
          <p:nvPr/>
        </p:nvPicPr>
        <p:blipFill>
          <a:blip r:embed="rId4"/>
          <a:srcRect t="19916" b="19916"/>
          <a:stretch>
            <a:fillRect/>
          </a:stretch>
        </p:blipFill>
        <p:spPr>
          <a:xfrm>
            <a:off x="6492240" y="3611880"/>
            <a:ext cx="2468880" cy="2240280"/>
          </a:xfrm>
          <a:prstGeom prst="roundRect">
            <a:avLst>
              <a:gd name="adj" fmla="val 5714"/>
            </a:avLst>
          </a:prstGeom>
          <a:ln w="19050">
            <a:solidFill>
              <a:srgbClr val="F4E8CE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pic>
        <p:nvPicPr>
          <p:cNvPr id="10" name="Picture 9" descr="991e8520cd8008b3.jpg"/>
          <p:cNvPicPr>
            <a:picLocks noChangeAspect="1"/>
          </p:cNvPicPr>
          <p:nvPr/>
        </p:nvPicPr>
        <p:blipFill>
          <a:blip r:embed="rId5"/>
          <a:srcRect l="12918" r="12918"/>
          <a:stretch>
            <a:fillRect/>
          </a:stretch>
        </p:blipFill>
        <p:spPr>
          <a:xfrm>
            <a:off x="9098280" y="3611880"/>
            <a:ext cx="2468880" cy="2240280"/>
          </a:xfrm>
          <a:prstGeom prst="roundRect">
            <a:avLst>
              <a:gd name="adj" fmla="val 5714"/>
            </a:avLst>
          </a:prstGeom>
          <a:ln w="19050">
            <a:solidFill>
              <a:srgbClr val="F4E8CE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10820095" y="64465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FACA0"/>
                </a:solidFill>
                <a:latin typeface="Noto Serif Display Light"/>
                <a:ea typeface="Noto Serif Display Light"/>
                <a:cs typeface="Noto Serif Display Light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bg_assembly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sha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2136">
                  <a:alpha val="90000"/>
                </a:srgbClr>
              </a:gs>
              <a:gs pos="42000">
                <a:srgbClr val="0D2136">
                  <a:alpha val="72000"/>
                </a:srgbClr>
              </a:gs>
              <a:gs pos="72000">
                <a:srgbClr val="0D2136">
                  <a:alpha val="35000"/>
                </a:srgbClr>
              </a:gs>
              <a:gs pos="100000">
                <a:srgbClr val="0D2136">
                  <a:alpha val="12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ttl"/>
          <p:cNvSpPr txBox="1"/>
          <p:nvPr/>
        </p:nvSpPr>
        <p:spPr>
          <a:xfrm>
            <a:off x="640080" y="50292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000" b="0" i="0" spc="50">
                <a:solidFill>
                  <a:srgbClr val="F4E8CE"/>
                </a:solidFill>
                <a:latin typeface="Noto Serif Display Light"/>
                <a:ea typeface="Noto Serif Display Light"/>
                <a:cs typeface="Noto Serif Display Light"/>
              </a:rPr>
              <a:t>THÀNH PHỐ LỄ HỘI</a:t>
            </a:r>
          </a:p>
        </p:txBody>
      </p:sp>
      <p:sp>
        <p:nvSpPr>
          <p:cNvPr id="5" name="!!sub"/>
          <p:cNvSpPr txBox="1"/>
          <p:nvPr/>
        </p:nvSpPr>
        <p:spPr>
          <a:xfrm>
            <a:off x="640080" y="1069848"/>
            <a:ext cx="68580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spc="15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PHỐ CỔ HỘI 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120640" cy="13258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98000"/>
              </a:lnSpc>
            </a:pPr>
            <a:r>
              <a:rPr sz="3800" b="1" i="0">
                <a:solidFill>
                  <a:srgbClr val="E2BF7A"/>
                </a:solidFill>
                <a:effectLst>
                  <a:outerShdw blurRad="109728" dist="45720" dir="5400000" algn="ctr" rotWithShape="0">
                    <a:srgbClr val="1A1206">
                      <a:alpha val="50000"/>
                    </a:srgbClr>
                  </a:outerShdw>
                </a:effectLst>
                <a:latin typeface="Playfair Display"/>
                <a:ea typeface="Playfair Display"/>
                <a:cs typeface="Playfair Display"/>
              </a:rPr>
              <a:t>Hội quán</a:t>
            </a:r>
          </a:p>
          <a:p>
            <a:pPr algn="l">
              <a:lnSpc>
                <a:spcPct val="98000"/>
              </a:lnSpc>
            </a:pPr>
            <a:r>
              <a:rPr sz="3800" b="1" i="0">
                <a:solidFill>
                  <a:srgbClr val="E2BF7A"/>
                </a:solidFill>
                <a:effectLst>
                  <a:outerShdw blurRad="109728" dist="45720" dir="5400000" algn="ctr" rotWithShape="0">
                    <a:srgbClr val="1A1206">
                      <a:alpha val="50000"/>
                    </a:srgbClr>
                  </a:outerShdw>
                </a:effectLst>
                <a:latin typeface="Playfair Display"/>
                <a:ea typeface="Playfair Display"/>
                <a:cs typeface="Playfair Display"/>
              </a:rPr>
              <a:t>Phúc Kiến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4937760" cy="2651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ct val="118000"/>
              </a:lnSpc>
              <a:spcAft>
                <a:spcPts val="500"/>
              </a:spcAft>
            </a:pP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Hội quán do cộng đồng người Hoa gốc </a:t>
            </a:r>
            <a:r>
              <a:rPr sz="120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Phúc Kiến</a:t>
            </a: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 xây dựng trên </a:t>
            </a:r>
            <a:r>
              <a:rPr sz="120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con đường di sản Trần Phú</a:t>
            </a: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, thờ </a:t>
            </a:r>
            <a:r>
              <a:rPr sz="120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Thiên Hậu Thánh Mẫu</a:t>
            </a: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 – vị thần phù hộ người đi biển. Cổng tam quan rực rỡ, mái ngói lưu ly và những vòng hương khổng lồ thu hút rất nhiều du khách.</a:t>
            </a:r>
          </a:p>
        </p:txBody>
      </p:sp>
      <p:pic>
        <p:nvPicPr>
          <p:cNvPr id="8" name="Picture 7" descr="a76010964add9256.jpg"/>
          <p:cNvPicPr>
            <a:picLocks noChangeAspect="1"/>
          </p:cNvPicPr>
          <p:nvPr/>
        </p:nvPicPr>
        <p:blipFill>
          <a:blip r:embed="rId3"/>
          <a:srcRect l="15670" r="15670"/>
          <a:stretch>
            <a:fillRect/>
          </a:stretch>
        </p:blipFill>
        <p:spPr>
          <a:xfrm>
            <a:off x="6492240" y="868680"/>
            <a:ext cx="2468880" cy="2286000"/>
          </a:xfrm>
          <a:prstGeom prst="roundRect">
            <a:avLst>
              <a:gd name="adj" fmla="val 5600"/>
            </a:avLst>
          </a:prstGeom>
          <a:ln w="19050">
            <a:solidFill>
              <a:srgbClr val="F4E8CE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pic>
        <p:nvPicPr>
          <p:cNvPr id="9" name="Picture 8" descr="941e3e83740c54c3.jpg"/>
          <p:cNvPicPr>
            <a:picLocks noChangeAspect="1"/>
          </p:cNvPicPr>
          <p:nvPr/>
        </p:nvPicPr>
        <p:blipFill>
          <a:blip r:embed="rId4"/>
          <a:srcRect l="13982" r="13982"/>
          <a:stretch>
            <a:fillRect/>
          </a:stretch>
        </p:blipFill>
        <p:spPr>
          <a:xfrm>
            <a:off x="9098280" y="868680"/>
            <a:ext cx="2468880" cy="2286000"/>
          </a:xfrm>
          <a:prstGeom prst="roundRect">
            <a:avLst>
              <a:gd name="adj" fmla="val 5600"/>
            </a:avLst>
          </a:prstGeom>
          <a:ln w="19050">
            <a:solidFill>
              <a:srgbClr val="F4E8CE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pic>
        <p:nvPicPr>
          <p:cNvPr id="10" name="Picture 9" descr="d3b1c3f78880874d.jpg"/>
          <p:cNvPicPr>
            <a:picLocks noChangeAspect="1"/>
          </p:cNvPicPr>
          <p:nvPr/>
        </p:nvPicPr>
        <p:blipFill>
          <a:blip r:embed="rId5"/>
          <a:srcRect t="12070" b="12070"/>
          <a:stretch>
            <a:fillRect/>
          </a:stretch>
        </p:blipFill>
        <p:spPr>
          <a:xfrm>
            <a:off x="6492240" y="3291840"/>
            <a:ext cx="5074920" cy="2560320"/>
          </a:xfrm>
          <a:prstGeom prst="roundRect">
            <a:avLst>
              <a:gd name="adj" fmla="val 5000"/>
            </a:avLst>
          </a:prstGeom>
          <a:ln w="19050">
            <a:solidFill>
              <a:srgbClr val="F4E8CE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10820095" y="64465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FACA0"/>
                </a:solidFill>
                <a:latin typeface="Noto Serif Display Light"/>
                <a:ea typeface="Noto Serif Display Light"/>
                <a:cs typeface="Noto Serif Display Light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blur_street2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sha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2136"/>
              </a:gs>
              <a:gs pos="42000">
                <a:srgbClr val="0D2136">
                  <a:alpha val="82800"/>
                </a:srgbClr>
              </a:gs>
              <a:gs pos="72000">
                <a:srgbClr val="0D2136">
                  <a:alpha val="40250"/>
                </a:srgbClr>
              </a:gs>
              <a:gs pos="100000">
                <a:srgbClr val="0D2136">
                  <a:alpha val="13799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" name="Picture 3" descr="glow_E2BF7A_55_2.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731520"/>
            <a:ext cx="6400800" cy="6400800"/>
          </a:xfrm>
          <a:prstGeom prst="rect">
            <a:avLst/>
          </a:prstGeom>
        </p:spPr>
      </p:pic>
      <p:sp>
        <p:nvSpPr>
          <p:cNvPr id="5" name="!!ttl"/>
          <p:cNvSpPr txBox="1"/>
          <p:nvPr/>
        </p:nvSpPr>
        <p:spPr>
          <a:xfrm>
            <a:off x="640080" y="50292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000" b="0" i="0" spc="50">
                <a:solidFill>
                  <a:srgbClr val="F4E8CE"/>
                </a:solidFill>
                <a:latin typeface="Noto Serif Display Light"/>
                <a:ea typeface="Noto Serif Display Light"/>
                <a:cs typeface="Noto Serif Display Light"/>
              </a:rPr>
              <a:t>THÀNH PHỐ LỄ HỘI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640080" y="1069848"/>
            <a:ext cx="68580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spc="15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PHỐ CỔ HỘI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120640" cy="13258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98000"/>
              </a:lnSpc>
            </a:pPr>
            <a:r>
              <a:rPr sz="3800" b="1" i="0">
                <a:solidFill>
                  <a:srgbClr val="E2BF7A"/>
                </a:solidFill>
                <a:effectLst>
                  <a:outerShdw blurRad="109728" dist="45720" dir="5400000" algn="ctr" rotWithShape="0">
                    <a:srgbClr val="1A1206">
                      <a:alpha val="50000"/>
                    </a:srgbClr>
                  </a:outerShdw>
                </a:effectLst>
                <a:latin typeface="Playfair Display"/>
                <a:ea typeface="Playfair Display"/>
                <a:cs typeface="Playfair Display"/>
              </a:rPr>
              <a:t>Gánh hàng 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4937760" cy="2651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ct val="118000"/>
              </a:lnSpc>
              <a:spcAft>
                <a:spcPts val="500"/>
              </a:spcAft>
            </a:pP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Hình ảnh người phụ nữ </a:t>
            </a:r>
            <a:r>
              <a:rPr sz="120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đội nón lá, quang gánh</a:t>
            </a: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 rong ruổi qua các con phố cổ đã trở thành biểu tượng bình dị của Hội An. Những gánh hoa quả, bánh trái mang theo </a:t>
            </a:r>
            <a:r>
              <a:rPr sz="120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nhịp sống thường nhật</a:t>
            </a: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 của người dân phố Hội.</a:t>
            </a:r>
          </a:p>
        </p:txBody>
      </p:sp>
      <p:pic>
        <p:nvPicPr>
          <p:cNvPr id="9" name="Picture 8" descr="heritage_vend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30002" y="1234440"/>
            <a:ext cx="5045116" cy="5394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9038" y="59893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1">
                <a:solidFill>
                  <a:srgbClr val="C6C0B0"/>
                </a:solidFill>
                <a:latin typeface="Noto Serif Display Light"/>
                <a:ea typeface="Noto Serif Display Light"/>
                <a:cs typeface="Noto Serif Display Light"/>
              </a:rPr>
              <a:t>Ảnh đã được tách nền tự động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FACA0"/>
                </a:solidFill>
                <a:latin typeface="Noto Serif Display Light"/>
                <a:ea typeface="Noto Serif Display Light"/>
                <a:cs typeface="Noto Serif Display Light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9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9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bg_museum_in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sha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2136">
                  <a:alpha val="90000"/>
                </a:srgbClr>
              </a:gs>
              <a:gs pos="42000">
                <a:srgbClr val="0D2136">
                  <a:alpha val="72000"/>
                </a:srgbClr>
              </a:gs>
              <a:gs pos="72000">
                <a:srgbClr val="0D2136">
                  <a:alpha val="35000"/>
                </a:srgbClr>
              </a:gs>
              <a:gs pos="100000">
                <a:srgbClr val="0D2136">
                  <a:alpha val="12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ttl"/>
          <p:cNvSpPr txBox="1"/>
          <p:nvPr/>
        </p:nvSpPr>
        <p:spPr>
          <a:xfrm>
            <a:off x="640080" y="50292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000" b="0" i="0" spc="50">
                <a:solidFill>
                  <a:srgbClr val="F4E8CE"/>
                </a:solidFill>
                <a:latin typeface="Noto Serif Display Light"/>
                <a:ea typeface="Noto Serif Display Light"/>
                <a:cs typeface="Noto Serif Display Light"/>
              </a:rPr>
              <a:t>THÀNH PHỐ LỄ HỘI</a:t>
            </a:r>
          </a:p>
        </p:txBody>
      </p:sp>
      <p:sp>
        <p:nvSpPr>
          <p:cNvPr id="5" name="!!sub"/>
          <p:cNvSpPr txBox="1"/>
          <p:nvPr/>
        </p:nvSpPr>
        <p:spPr>
          <a:xfrm>
            <a:off x="640080" y="1069848"/>
            <a:ext cx="68580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spc="15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PHỐ CỔ HỘI 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120640" cy="13258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98000"/>
              </a:lnSpc>
            </a:pPr>
            <a:r>
              <a:rPr sz="3800" b="1" i="0">
                <a:solidFill>
                  <a:srgbClr val="E2BF7A"/>
                </a:solidFill>
                <a:effectLst>
                  <a:outerShdw blurRad="109728" dist="45720" dir="5400000" algn="ctr" rotWithShape="0">
                    <a:srgbClr val="1A1206">
                      <a:alpha val="50000"/>
                    </a:srgbClr>
                  </a:outerShdw>
                </a:effectLst>
                <a:latin typeface="Playfair Display"/>
                <a:ea typeface="Playfair Display"/>
                <a:cs typeface="Playfair Display"/>
              </a:rPr>
              <a:t>Bảo tàng</a:t>
            </a:r>
          </a:p>
          <a:p>
            <a:pPr algn="l">
              <a:lnSpc>
                <a:spcPct val="98000"/>
              </a:lnSpc>
            </a:pPr>
            <a:r>
              <a:rPr sz="3800" b="1" i="0">
                <a:solidFill>
                  <a:srgbClr val="E2BF7A"/>
                </a:solidFill>
                <a:effectLst>
                  <a:outerShdw blurRad="109728" dist="45720" dir="5400000" algn="ctr" rotWithShape="0">
                    <a:srgbClr val="1A1206">
                      <a:alpha val="50000"/>
                    </a:srgbClr>
                  </a:outerShdw>
                </a:effectLst>
                <a:latin typeface="Playfair Display"/>
                <a:ea typeface="Playfair Display"/>
                <a:cs typeface="Playfair Display"/>
              </a:rPr>
              <a:t>gốm sứ mậu dịch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4937760" cy="2651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ct val="118000"/>
              </a:lnSpc>
              <a:spcAft>
                <a:spcPts val="500"/>
              </a:spcAft>
            </a:pP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Bảo tàng trưng bày hàng trăm hiện vật </a:t>
            </a:r>
            <a:r>
              <a:rPr sz="120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gốm sứ</a:t>
            </a: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 có nguồn gốc từ Việt Nam, Trung Quốc, Nhật Bản, Thái Lan…, minh chứng cho vai trò </a:t>
            </a:r>
            <a:r>
              <a:rPr sz="120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thương cảng quốc tế</a:t>
            </a: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 của Hội An từ thế kỷ XVI – XVIII.</a:t>
            </a:r>
          </a:p>
        </p:txBody>
      </p:sp>
      <p:pic>
        <p:nvPicPr>
          <p:cNvPr id="8" name="Picture 7" descr="34b59cce15ecbeaa.jpg"/>
          <p:cNvPicPr>
            <a:picLocks noChangeAspect="1"/>
          </p:cNvPicPr>
          <p:nvPr/>
        </p:nvPicPr>
        <p:blipFill>
          <a:blip r:embed="rId3"/>
          <a:srcRect l="5488" r="5488"/>
          <a:stretch>
            <a:fillRect/>
          </a:stretch>
        </p:blipFill>
        <p:spPr>
          <a:xfrm>
            <a:off x="7452360" y="868680"/>
            <a:ext cx="1965960" cy="2057400"/>
          </a:xfrm>
          <a:prstGeom prst="roundRect">
            <a:avLst>
              <a:gd name="adj" fmla="val 6511"/>
            </a:avLst>
          </a:prstGeom>
          <a:ln w="19050">
            <a:solidFill>
              <a:srgbClr val="F4E8CE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pic>
        <p:nvPicPr>
          <p:cNvPr id="9" name="Picture 8" descr="2cb9957a58ca849e.jpg"/>
          <p:cNvPicPr>
            <a:picLocks noChangeAspect="1"/>
          </p:cNvPicPr>
          <p:nvPr/>
        </p:nvPicPr>
        <p:blipFill>
          <a:blip r:embed="rId4"/>
          <a:srcRect l="7986" r="7986"/>
          <a:stretch>
            <a:fillRect/>
          </a:stretch>
        </p:blipFill>
        <p:spPr>
          <a:xfrm>
            <a:off x="9555480" y="868680"/>
            <a:ext cx="2011680" cy="2057400"/>
          </a:xfrm>
          <a:prstGeom prst="roundRect">
            <a:avLst>
              <a:gd name="adj" fmla="val 6363"/>
            </a:avLst>
          </a:prstGeom>
          <a:ln w="19050">
            <a:solidFill>
              <a:srgbClr val="F4E8CE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pic>
        <p:nvPicPr>
          <p:cNvPr id="10" name="Picture 9" descr="06722db4e3b3ad06.jpg"/>
          <p:cNvPicPr>
            <a:picLocks noChangeAspect="1"/>
          </p:cNvPicPr>
          <p:nvPr/>
        </p:nvPicPr>
        <p:blipFill>
          <a:blip r:embed="rId5"/>
          <a:srcRect l="6749" r="6749"/>
          <a:stretch>
            <a:fillRect/>
          </a:stretch>
        </p:blipFill>
        <p:spPr>
          <a:xfrm>
            <a:off x="6355080" y="3063240"/>
            <a:ext cx="1645920" cy="2560320"/>
          </a:xfrm>
          <a:prstGeom prst="roundRect">
            <a:avLst>
              <a:gd name="adj" fmla="val 7777"/>
            </a:avLst>
          </a:prstGeom>
          <a:ln w="19050">
            <a:solidFill>
              <a:srgbClr val="F4E8CE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pic>
        <p:nvPicPr>
          <p:cNvPr id="11" name="Picture 10" descr="9563bb7c6929e8ba.jpg"/>
          <p:cNvPicPr>
            <a:picLocks noChangeAspect="1"/>
          </p:cNvPicPr>
          <p:nvPr/>
        </p:nvPicPr>
        <p:blipFill>
          <a:blip r:embed="rId6"/>
          <a:srcRect l="1525" r="1525"/>
          <a:stretch>
            <a:fillRect/>
          </a:stretch>
        </p:blipFill>
        <p:spPr>
          <a:xfrm>
            <a:off x="8138160" y="3063240"/>
            <a:ext cx="1645920" cy="2560320"/>
          </a:xfrm>
          <a:prstGeom prst="roundRect">
            <a:avLst>
              <a:gd name="adj" fmla="val 7777"/>
            </a:avLst>
          </a:prstGeom>
          <a:ln w="19050">
            <a:solidFill>
              <a:srgbClr val="F4E8CE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pic>
        <p:nvPicPr>
          <p:cNvPr id="12" name="Picture 11" descr="df40becd03a1e86b.jpg"/>
          <p:cNvPicPr>
            <a:picLocks noChangeAspect="1"/>
          </p:cNvPicPr>
          <p:nvPr/>
        </p:nvPicPr>
        <p:blipFill>
          <a:blip r:embed="rId7"/>
          <a:srcRect l="25893" r="25893"/>
          <a:stretch>
            <a:fillRect/>
          </a:stretch>
        </p:blipFill>
        <p:spPr>
          <a:xfrm>
            <a:off x="9921240" y="3063240"/>
            <a:ext cx="1645920" cy="2560320"/>
          </a:xfrm>
          <a:prstGeom prst="roundRect">
            <a:avLst>
              <a:gd name="adj" fmla="val 7777"/>
            </a:avLst>
          </a:prstGeom>
          <a:ln w="19050">
            <a:solidFill>
              <a:srgbClr val="F4E8CE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10820095" y="64465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FACA0"/>
                </a:solidFill>
                <a:latin typeface="Noto Serif Display Light"/>
                <a:ea typeface="Noto Serif Display Light"/>
                <a:cs typeface="Noto Serif Display Light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919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bg_fish_marke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sha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2136">
                  <a:alpha val="90000"/>
                </a:srgbClr>
              </a:gs>
              <a:gs pos="42000">
                <a:srgbClr val="0D2136">
                  <a:alpha val="72000"/>
                </a:srgbClr>
              </a:gs>
              <a:gs pos="72000">
                <a:srgbClr val="0D2136">
                  <a:alpha val="35000"/>
                </a:srgbClr>
              </a:gs>
              <a:gs pos="100000">
                <a:srgbClr val="0D2136">
                  <a:alpha val="12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ttl"/>
          <p:cNvSpPr txBox="1"/>
          <p:nvPr/>
        </p:nvSpPr>
        <p:spPr>
          <a:xfrm>
            <a:off x="640080" y="50292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000" b="0" i="0" spc="50">
                <a:solidFill>
                  <a:srgbClr val="F4E8CE"/>
                </a:solidFill>
                <a:latin typeface="Noto Serif Display Light"/>
                <a:ea typeface="Noto Serif Display Light"/>
                <a:cs typeface="Noto Serif Display Light"/>
              </a:rPr>
              <a:t>THÀNH PHỐ LỄ HỘI</a:t>
            </a:r>
          </a:p>
        </p:txBody>
      </p:sp>
      <p:sp>
        <p:nvSpPr>
          <p:cNvPr id="5" name="!!sub"/>
          <p:cNvSpPr txBox="1"/>
          <p:nvPr/>
        </p:nvSpPr>
        <p:spPr>
          <a:xfrm>
            <a:off x="640080" y="1069848"/>
            <a:ext cx="68580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spc="15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PHỐ CỔ HỘI 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120640" cy="13258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98000"/>
              </a:lnSpc>
            </a:pPr>
            <a:r>
              <a:rPr sz="3800" b="1" i="0">
                <a:solidFill>
                  <a:srgbClr val="E2BF7A"/>
                </a:solidFill>
                <a:effectLst>
                  <a:outerShdw blurRad="109728" dist="45720" dir="5400000" algn="ctr" rotWithShape="0">
                    <a:srgbClr val="1A1206">
                      <a:alpha val="50000"/>
                    </a:srgbClr>
                  </a:outerShdw>
                </a:effectLst>
                <a:latin typeface="Playfair Display"/>
                <a:ea typeface="Playfair Display"/>
                <a:cs typeface="Playfair Display"/>
              </a:rPr>
              <a:t>Chợ Hội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4937760" cy="2651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ct val="118000"/>
              </a:lnSpc>
              <a:spcAft>
                <a:spcPts val="500"/>
              </a:spcAft>
            </a:pP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Chợ chính là </a:t>
            </a:r>
            <a:r>
              <a:rPr sz="120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nơi tái hiện rõ ràng và chân thực</a:t>
            </a: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 nét văn hóa, cuộc sống và tính cách con người của mỗi vùng đất. </a:t>
            </a:r>
            <a:r>
              <a:rPr sz="120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Chợ Hội An</a:t>
            </a:r>
            <a:r>
              <a:rPr sz="12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 gây ấn tượng bởi nét mộc mạc, thân quen.</a:t>
            </a:r>
          </a:p>
        </p:txBody>
      </p:sp>
      <p:pic>
        <p:nvPicPr>
          <p:cNvPr id="8" name="Picture 7" descr="78e191af1079b285.jpg"/>
          <p:cNvPicPr>
            <a:picLocks noChangeAspect="1"/>
          </p:cNvPicPr>
          <p:nvPr/>
        </p:nvPicPr>
        <p:blipFill>
          <a:blip r:embed="rId3"/>
          <a:srcRect l="23769" r="23769"/>
          <a:stretch>
            <a:fillRect/>
          </a:stretch>
        </p:blipFill>
        <p:spPr>
          <a:xfrm>
            <a:off x="6309360" y="3337560"/>
            <a:ext cx="1691640" cy="2377440"/>
          </a:xfrm>
          <a:prstGeom prst="roundRect">
            <a:avLst>
              <a:gd name="adj" fmla="val 7567"/>
            </a:avLst>
          </a:prstGeom>
          <a:ln w="19050">
            <a:solidFill>
              <a:srgbClr val="F4E8CE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pic>
        <p:nvPicPr>
          <p:cNvPr id="9" name="Picture 8" descr="d2aa31ce404adfd8.jpg"/>
          <p:cNvPicPr>
            <a:picLocks noChangeAspect="1"/>
          </p:cNvPicPr>
          <p:nvPr/>
        </p:nvPicPr>
        <p:blipFill>
          <a:blip r:embed="rId4"/>
          <a:srcRect l="2564" r="2564"/>
          <a:stretch>
            <a:fillRect/>
          </a:stretch>
        </p:blipFill>
        <p:spPr>
          <a:xfrm>
            <a:off x="8092440" y="3337560"/>
            <a:ext cx="1691640" cy="2377440"/>
          </a:xfrm>
          <a:prstGeom prst="roundRect">
            <a:avLst>
              <a:gd name="adj" fmla="val 7567"/>
            </a:avLst>
          </a:prstGeom>
          <a:ln w="19050">
            <a:solidFill>
              <a:srgbClr val="F4E8CE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pic>
        <p:nvPicPr>
          <p:cNvPr id="10" name="Picture 9" descr="b450f394b5d9e561.jpg"/>
          <p:cNvPicPr>
            <a:picLocks noChangeAspect="1"/>
          </p:cNvPicPr>
          <p:nvPr/>
        </p:nvPicPr>
        <p:blipFill>
          <a:blip r:embed="rId5"/>
          <a:srcRect l="20712" r="20712"/>
          <a:stretch>
            <a:fillRect/>
          </a:stretch>
        </p:blipFill>
        <p:spPr>
          <a:xfrm>
            <a:off x="9875520" y="3337560"/>
            <a:ext cx="1691640" cy="2377440"/>
          </a:xfrm>
          <a:prstGeom prst="roundRect">
            <a:avLst>
              <a:gd name="adj" fmla="val 7567"/>
            </a:avLst>
          </a:prstGeom>
          <a:ln w="19050">
            <a:solidFill>
              <a:srgbClr val="F4E8CE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10820095" y="64465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FACA0"/>
                </a:solidFill>
                <a:latin typeface="Noto Serif Display Light"/>
                <a:ea typeface="Noto Serif Display Light"/>
                <a:cs typeface="Noto Serif Display Light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AD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paper" descr="parchmen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tl"/>
          <p:cNvSpPr txBox="1"/>
          <p:nvPr/>
        </p:nvSpPr>
        <p:spPr>
          <a:xfrm>
            <a:off x="2926080" y="457200"/>
            <a:ext cx="6339535" cy="6400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/>
            <a:r>
              <a:rPr sz="3200" b="0" i="0" spc="100">
                <a:solidFill>
                  <a:srgbClr val="3D2B1B"/>
                </a:solidFill>
                <a:latin typeface="Noto Serif Display Light"/>
                <a:ea typeface="Noto Serif Display Light"/>
                <a:cs typeface="Noto Serif Display Light"/>
              </a:rPr>
              <a:t>CÁC TRẢI NGHIỆM</a:t>
            </a:r>
          </a:p>
        </p:txBody>
      </p:sp>
      <p:sp>
        <p:nvSpPr>
          <p:cNvPr id="4" name="!!sub"/>
          <p:cNvSpPr txBox="1"/>
          <p:nvPr/>
        </p:nvSpPr>
        <p:spPr>
          <a:xfrm>
            <a:off x="2926080" y="1097280"/>
            <a:ext cx="6339535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700" b="0" i="0" spc="150">
                <a:solidFill>
                  <a:srgbClr val="C9A15B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PHỐ CỔ HỘI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572768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3D2B1B"/>
                </a:solidFill>
                <a:latin typeface="Noto Serif"/>
                <a:ea typeface="Noto Serif"/>
                <a:cs typeface="Noto Serif"/>
              </a:rPr>
              <a:t>Ai đi phố Hội, Chùa Cầu</a:t>
            </a:r>
          </a:p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3D2B1B"/>
                </a:solidFill>
                <a:latin typeface="Noto Serif"/>
                <a:ea typeface="Noto Serif"/>
                <a:cs typeface="Noto Serif"/>
              </a:rPr>
              <a:t>Để thương, để nhớ, để sầu cho ai</a:t>
            </a:r>
          </a:p>
        </p:txBody>
      </p:sp>
      <p:pic>
        <p:nvPicPr>
          <p:cNvPr id="6" name="Picture 5" descr="93abecc1ad9d9fa3.jpg"/>
          <p:cNvPicPr>
            <a:picLocks noChangeAspect="1"/>
          </p:cNvPicPr>
          <p:nvPr/>
        </p:nvPicPr>
        <p:blipFill>
          <a:blip r:embed="rId3"/>
          <a:srcRect l="12926" r="12926"/>
          <a:stretch>
            <a:fillRect/>
          </a:stretch>
        </p:blipFill>
        <p:spPr>
          <a:xfrm>
            <a:off x="640080" y="1965960"/>
            <a:ext cx="2651760" cy="2011680"/>
          </a:xfrm>
          <a:prstGeom prst="roundRect">
            <a:avLst>
              <a:gd name="adj" fmla="val 6363"/>
            </a:avLst>
          </a:prstGeom>
          <a:ln w="25400">
            <a:solidFill>
              <a:srgbClr val="FFFFFF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sp>
        <p:nvSpPr>
          <p:cNvPr id="7" name="Rounded Rectangle 6"/>
          <p:cNvSpPr/>
          <p:nvPr/>
        </p:nvSpPr>
        <p:spPr>
          <a:xfrm>
            <a:off x="640080" y="1965960"/>
            <a:ext cx="2651760" cy="2011680"/>
          </a:xfrm>
          <a:prstGeom prst="roundRect">
            <a:avLst>
              <a:gd name="adj" fmla="val 6363"/>
            </a:avLst>
          </a:prstGeom>
          <a:gradFill rotWithShape="1">
            <a:gsLst>
              <a:gs pos="0">
                <a:srgbClr val="0D2136">
                  <a:alpha val="0"/>
                </a:srgbClr>
              </a:gs>
              <a:gs pos="50000">
                <a:srgbClr val="0D2136">
                  <a:alpha val="10000"/>
                </a:srgbClr>
              </a:gs>
              <a:gs pos="78000">
                <a:srgbClr val="0D2136">
                  <a:alpha val="65000"/>
                </a:srgbClr>
              </a:gs>
              <a:gs pos="100000">
                <a:srgbClr val="0D2136">
                  <a:alpha val="92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50215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0" i="0" spc="12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ĐI THUYỀN TRÊN SÔNG HOÀI</a:t>
            </a:r>
          </a:p>
        </p:txBody>
      </p:sp>
      <p:pic>
        <p:nvPicPr>
          <p:cNvPr id="9" name="Picture 8" descr="f6e141c86b62ee05.jpg"/>
          <p:cNvPicPr>
            <a:picLocks noChangeAspect="1"/>
          </p:cNvPicPr>
          <p:nvPr/>
        </p:nvPicPr>
        <p:blipFill>
          <a:blip r:embed="rId4"/>
          <a:srcRect l="2717" r="2717"/>
          <a:stretch>
            <a:fillRect/>
          </a:stretch>
        </p:blipFill>
        <p:spPr>
          <a:xfrm>
            <a:off x="640080" y="4114800"/>
            <a:ext cx="2651760" cy="2103120"/>
          </a:xfrm>
          <a:prstGeom prst="roundRect">
            <a:avLst>
              <a:gd name="adj" fmla="val 6086"/>
            </a:avLst>
          </a:prstGeom>
          <a:ln w="25400">
            <a:solidFill>
              <a:srgbClr val="FFFFFF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sp>
        <p:nvSpPr>
          <p:cNvPr id="10" name="Rounded Rectangle 9"/>
          <p:cNvSpPr/>
          <p:nvPr/>
        </p:nvSpPr>
        <p:spPr>
          <a:xfrm>
            <a:off x="640080" y="4114800"/>
            <a:ext cx="2651760" cy="2103120"/>
          </a:xfrm>
          <a:prstGeom prst="roundRect">
            <a:avLst>
              <a:gd name="adj" fmla="val 6086"/>
            </a:avLst>
          </a:prstGeom>
          <a:gradFill rotWithShape="1">
            <a:gsLst>
              <a:gs pos="0">
                <a:srgbClr val="0D2136">
                  <a:alpha val="0"/>
                </a:srgbClr>
              </a:gs>
              <a:gs pos="50000">
                <a:srgbClr val="0D2136">
                  <a:alpha val="10000"/>
                </a:srgbClr>
              </a:gs>
              <a:gs pos="78000">
                <a:srgbClr val="0D2136">
                  <a:alpha val="65000"/>
                </a:srgbClr>
              </a:gs>
              <a:gs pos="100000">
                <a:srgbClr val="0D2136">
                  <a:alpha val="92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74243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0" i="0" spc="12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THẢ ĐÈN HOA ĐĂNG</a:t>
            </a:r>
          </a:p>
        </p:txBody>
      </p:sp>
      <p:pic>
        <p:nvPicPr>
          <p:cNvPr id="12" name="Picture 11" descr="2acc5655fb4fbe20.jpg"/>
          <p:cNvPicPr>
            <a:picLocks noChangeAspect="1"/>
          </p:cNvPicPr>
          <p:nvPr/>
        </p:nvPicPr>
        <p:blipFill>
          <a:blip r:embed="rId5"/>
          <a:srcRect l="3064" r="3064"/>
          <a:stretch>
            <a:fillRect/>
          </a:stretch>
        </p:blipFill>
        <p:spPr>
          <a:xfrm>
            <a:off x="3474720" y="2514600"/>
            <a:ext cx="5212080" cy="3703320"/>
          </a:xfrm>
          <a:prstGeom prst="roundRect">
            <a:avLst>
              <a:gd name="adj" fmla="val 3456"/>
            </a:avLst>
          </a:prstGeom>
          <a:ln w="25400">
            <a:solidFill>
              <a:srgbClr val="FFFFFF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sp>
        <p:nvSpPr>
          <p:cNvPr id="13" name="Rounded Rectangle 12"/>
          <p:cNvSpPr/>
          <p:nvPr/>
        </p:nvSpPr>
        <p:spPr>
          <a:xfrm>
            <a:off x="3474720" y="2514600"/>
            <a:ext cx="5212080" cy="3703320"/>
          </a:xfrm>
          <a:prstGeom prst="roundRect">
            <a:avLst>
              <a:gd name="adj" fmla="val 3456"/>
            </a:avLst>
          </a:prstGeom>
          <a:gradFill rotWithShape="1">
            <a:gsLst>
              <a:gs pos="0">
                <a:srgbClr val="0D2136">
                  <a:alpha val="0"/>
                </a:srgbClr>
              </a:gs>
              <a:gs pos="50000">
                <a:srgbClr val="0D2136">
                  <a:alpha val="10000"/>
                </a:srgbClr>
              </a:gs>
              <a:gs pos="78000">
                <a:srgbClr val="0D2136">
                  <a:alpha val="65000"/>
                </a:srgbClr>
              </a:gs>
              <a:gs pos="100000">
                <a:srgbClr val="0D2136">
                  <a:alpha val="92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5742432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0" i="0" spc="12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PHỐ ĐÈN LỒNG VỀ ĐÊM</a:t>
            </a:r>
          </a:p>
        </p:txBody>
      </p:sp>
      <p:pic>
        <p:nvPicPr>
          <p:cNvPr id="15" name="Picture 14" descr="995f1704c3239ebe.jpg"/>
          <p:cNvPicPr>
            <a:picLocks noChangeAspect="1"/>
          </p:cNvPicPr>
          <p:nvPr/>
        </p:nvPicPr>
        <p:blipFill>
          <a:blip r:embed="rId6"/>
          <a:srcRect l="6618" r="6618"/>
          <a:stretch>
            <a:fillRect/>
          </a:stretch>
        </p:blipFill>
        <p:spPr>
          <a:xfrm>
            <a:off x="8869680" y="1463040"/>
            <a:ext cx="2697480" cy="2331720"/>
          </a:xfrm>
          <a:prstGeom prst="roundRect">
            <a:avLst>
              <a:gd name="adj" fmla="val 5490"/>
            </a:avLst>
          </a:prstGeom>
          <a:ln w="25400">
            <a:solidFill>
              <a:srgbClr val="FFFFFF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sp>
        <p:nvSpPr>
          <p:cNvPr id="16" name="Rounded Rectangle 15"/>
          <p:cNvSpPr/>
          <p:nvPr/>
        </p:nvSpPr>
        <p:spPr>
          <a:xfrm>
            <a:off x="8869680" y="1463040"/>
            <a:ext cx="2697480" cy="2331720"/>
          </a:xfrm>
          <a:prstGeom prst="roundRect">
            <a:avLst>
              <a:gd name="adj" fmla="val 5490"/>
            </a:avLst>
          </a:prstGeom>
          <a:gradFill rotWithShape="1">
            <a:gsLst>
              <a:gs pos="0">
                <a:srgbClr val="0D2136">
                  <a:alpha val="0"/>
                </a:srgbClr>
              </a:gs>
              <a:gs pos="50000">
                <a:srgbClr val="0D2136">
                  <a:alpha val="10000"/>
                </a:srgbClr>
              </a:gs>
              <a:gs pos="78000">
                <a:srgbClr val="0D2136">
                  <a:alpha val="65000"/>
                </a:srgbClr>
              </a:gs>
              <a:gs pos="100000">
                <a:srgbClr val="0D2136">
                  <a:alpha val="92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3319272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0" i="0" spc="12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THAM QUAN NHÀ CỔ</a:t>
            </a:r>
          </a:p>
        </p:txBody>
      </p:sp>
      <p:pic>
        <p:nvPicPr>
          <p:cNvPr id="18" name="Picture 17" descr="c1dc1c2ff4b4889e.jpg"/>
          <p:cNvPicPr>
            <a:picLocks noChangeAspect="1"/>
          </p:cNvPicPr>
          <p:nvPr/>
        </p:nvPicPr>
        <p:blipFill>
          <a:blip r:embed="rId7"/>
          <a:srcRect l="5750" r="5750"/>
          <a:stretch>
            <a:fillRect/>
          </a:stretch>
        </p:blipFill>
        <p:spPr>
          <a:xfrm>
            <a:off x="8869680" y="3931920"/>
            <a:ext cx="2697480" cy="2286000"/>
          </a:xfrm>
          <a:prstGeom prst="roundRect">
            <a:avLst>
              <a:gd name="adj" fmla="val 5600"/>
            </a:avLst>
          </a:prstGeom>
          <a:ln w="25400">
            <a:solidFill>
              <a:srgbClr val="FFFFFF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sp>
        <p:nvSpPr>
          <p:cNvPr id="19" name="Rounded Rectangle 18"/>
          <p:cNvSpPr/>
          <p:nvPr/>
        </p:nvSpPr>
        <p:spPr>
          <a:xfrm>
            <a:off x="8869680" y="3931920"/>
            <a:ext cx="2697480" cy="2286000"/>
          </a:xfrm>
          <a:prstGeom prst="roundRect">
            <a:avLst>
              <a:gd name="adj" fmla="val 5600"/>
            </a:avLst>
          </a:prstGeom>
          <a:gradFill rotWithShape="1">
            <a:gsLst>
              <a:gs pos="0">
                <a:srgbClr val="0D2136">
                  <a:alpha val="0"/>
                </a:srgbClr>
              </a:gs>
              <a:gs pos="50000">
                <a:srgbClr val="0D2136">
                  <a:alpha val="10000"/>
                </a:srgbClr>
              </a:gs>
              <a:gs pos="78000">
                <a:srgbClr val="0D2136">
                  <a:alpha val="65000"/>
                </a:srgbClr>
              </a:gs>
              <a:gs pos="100000">
                <a:srgbClr val="0D2136">
                  <a:alpha val="92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5742432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0" i="0" spc="12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MUA ĐÈN LỒNG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8E7B62"/>
                </a:solidFill>
                <a:latin typeface="Noto Serif Display Light"/>
                <a:ea typeface="Noto Serif Display Light"/>
                <a:cs typeface="Noto Serif Display Light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3" grpId="0" animBg="1"/>
      <p:bldP spid="14" grpId="0" animBg="1"/>
      <p:bldP spid="5" grpId="0" animBg="1"/>
      <p:bldP spid="7" grpId="0" animBg="1"/>
      <p:bldP spid="8" grpId="0" animBg="1"/>
      <p:bldP spid="10" grpId="0" animBg="1"/>
      <p:bldP spid="11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AD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paper" descr="parchmen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tl"/>
          <p:cNvSpPr txBox="1"/>
          <p:nvPr/>
        </p:nvSpPr>
        <p:spPr>
          <a:xfrm>
            <a:off x="2926080" y="457200"/>
            <a:ext cx="6339535" cy="6400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/>
            <a:r>
              <a:rPr sz="3200" b="0" i="0" spc="100">
                <a:solidFill>
                  <a:srgbClr val="3D2B1B"/>
                </a:solidFill>
                <a:latin typeface="Noto Serif Display Light"/>
                <a:ea typeface="Noto Serif Display Light"/>
                <a:cs typeface="Noto Serif Display Light"/>
              </a:rPr>
              <a:t>ẨM THỰC</a:t>
            </a:r>
          </a:p>
        </p:txBody>
      </p:sp>
      <p:sp>
        <p:nvSpPr>
          <p:cNvPr id="4" name="!!sub"/>
          <p:cNvSpPr txBox="1"/>
          <p:nvPr/>
        </p:nvSpPr>
        <p:spPr>
          <a:xfrm>
            <a:off x="2926080" y="1097280"/>
            <a:ext cx="6339535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700" b="0" i="0" spc="150">
                <a:solidFill>
                  <a:srgbClr val="C9A15B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PHỐ CỔ HỘI AN</a:t>
            </a:r>
          </a:p>
        </p:txBody>
      </p:sp>
      <p:pic>
        <p:nvPicPr>
          <p:cNvPr id="5" name="Picture 4" descr="6b83fd2a398d0b54.jpg"/>
          <p:cNvPicPr>
            <a:picLocks noChangeAspect="1"/>
          </p:cNvPicPr>
          <p:nvPr/>
        </p:nvPicPr>
        <p:blipFill>
          <a:blip r:embed="rId3"/>
          <a:srcRect l="21287" r="21287"/>
          <a:stretch>
            <a:fillRect/>
          </a:stretch>
        </p:blipFill>
        <p:spPr>
          <a:xfrm>
            <a:off x="640080" y="1600200"/>
            <a:ext cx="2651760" cy="4617720"/>
          </a:xfrm>
          <a:prstGeom prst="roundRect">
            <a:avLst>
              <a:gd name="adj" fmla="val 4827"/>
            </a:avLst>
          </a:prstGeom>
          <a:ln w="25400">
            <a:solidFill>
              <a:srgbClr val="FFFFFF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sp>
        <p:nvSpPr>
          <p:cNvPr id="6" name="Rounded Rectangle 5"/>
          <p:cNvSpPr/>
          <p:nvPr/>
        </p:nvSpPr>
        <p:spPr>
          <a:xfrm>
            <a:off x="640080" y="1600200"/>
            <a:ext cx="2651760" cy="4617720"/>
          </a:xfrm>
          <a:prstGeom prst="roundRect">
            <a:avLst>
              <a:gd name="adj" fmla="val 4827"/>
            </a:avLst>
          </a:prstGeom>
          <a:gradFill rotWithShape="1">
            <a:gsLst>
              <a:gs pos="0">
                <a:srgbClr val="0D2136">
                  <a:alpha val="0"/>
                </a:srgbClr>
              </a:gs>
              <a:gs pos="50000">
                <a:srgbClr val="0D2136">
                  <a:alpha val="10000"/>
                </a:srgbClr>
              </a:gs>
              <a:gs pos="78000">
                <a:srgbClr val="0D2136">
                  <a:alpha val="65000"/>
                </a:srgbClr>
              </a:gs>
              <a:gs pos="100000">
                <a:srgbClr val="0D2136">
                  <a:alpha val="92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4243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0" i="0" spc="12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PHỞ &amp; CÀ PHÊ SÁNG</a:t>
            </a:r>
          </a:p>
        </p:txBody>
      </p:sp>
      <p:pic>
        <p:nvPicPr>
          <p:cNvPr id="8" name="Picture 7" descr="958dd0ef5110115b.jpg"/>
          <p:cNvPicPr>
            <a:picLocks noChangeAspect="1"/>
          </p:cNvPicPr>
          <p:nvPr/>
        </p:nvPicPr>
        <p:blipFill>
          <a:blip r:embed="rId4"/>
          <a:srcRect t="2727" b="2727"/>
          <a:stretch>
            <a:fillRect/>
          </a:stretch>
        </p:blipFill>
        <p:spPr>
          <a:xfrm>
            <a:off x="3474720" y="2514600"/>
            <a:ext cx="2514600" cy="1783080"/>
          </a:xfrm>
          <a:prstGeom prst="roundRect">
            <a:avLst>
              <a:gd name="adj" fmla="val 7179"/>
            </a:avLst>
          </a:prstGeom>
          <a:ln w="25400">
            <a:solidFill>
              <a:srgbClr val="FFFFFF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sp>
        <p:nvSpPr>
          <p:cNvPr id="9" name="Rounded Rectangle 8"/>
          <p:cNvSpPr/>
          <p:nvPr/>
        </p:nvSpPr>
        <p:spPr>
          <a:xfrm>
            <a:off x="3474720" y="2514600"/>
            <a:ext cx="2514600" cy="1783080"/>
          </a:xfrm>
          <a:prstGeom prst="roundRect">
            <a:avLst>
              <a:gd name="adj" fmla="val 7179"/>
            </a:avLst>
          </a:prstGeom>
          <a:gradFill rotWithShape="1">
            <a:gsLst>
              <a:gs pos="0">
                <a:srgbClr val="0D2136">
                  <a:alpha val="0"/>
                </a:srgbClr>
              </a:gs>
              <a:gs pos="50000">
                <a:srgbClr val="0D2136">
                  <a:alpha val="10000"/>
                </a:srgbClr>
              </a:gs>
              <a:gs pos="78000">
                <a:srgbClr val="0D2136">
                  <a:alpha val="65000"/>
                </a:srgbClr>
              </a:gs>
              <a:gs pos="100000">
                <a:srgbClr val="0D2136">
                  <a:alpha val="92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3822192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0" i="0" spc="12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BÁNH XÈO</a:t>
            </a:r>
          </a:p>
        </p:txBody>
      </p:sp>
      <p:pic>
        <p:nvPicPr>
          <p:cNvPr id="11" name="Picture 10" descr="937b4178ca7f6861.jpg"/>
          <p:cNvPicPr>
            <a:picLocks noChangeAspect="1"/>
          </p:cNvPicPr>
          <p:nvPr/>
        </p:nvPicPr>
        <p:blipFill>
          <a:blip r:embed="rId5"/>
          <a:srcRect t="2727" b="2727"/>
          <a:stretch>
            <a:fillRect/>
          </a:stretch>
        </p:blipFill>
        <p:spPr>
          <a:xfrm>
            <a:off x="6172200" y="2514600"/>
            <a:ext cx="2514600" cy="1783080"/>
          </a:xfrm>
          <a:prstGeom prst="roundRect">
            <a:avLst>
              <a:gd name="adj" fmla="val 7179"/>
            </a:avLst>
          </a:prstGeom>
          <a:ln w="25400">
            <a:solidFill>
              <a:srgbClr val="FFFFFF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sp>
        <p:nvSpPr>
          <p:cNvPr id="12" name="Rounded Rectangle 11"/>
          <p:cNvSpPr/>
          <p:nvPr/>
        </p:nvSpPr>
        <p:spPr>
          <a:xfrm>
            <a:off x="6172200" y="2514600"/>
            <a:ext cx="2514600" cy="1783080"/>
          </a:xfrm>
          <a:prstGeom prst="roundRect">
            <a:avLst>
              <a:gd name="adj" fmla="val 7179"/>
            </a:avLst>
          </a:prstGeom>
          <a:gradFill rotWithShape="1">
            <a:gsLst>
              <a:gs pos="0">
                <a:srgbClr val="0D2136">
                  <a:alpha val="0"/>
                </a:srgbClr>
              </a:gs>
              <a:gs pos="50000">
                <a:srgbClr val="0D2136">
                  <a:alpha val="10000"/>
                </a:srgbClr>
              </a:gs>
              <a:gs pos="78000">
                <a:srgbClr val="0D2136">
                  <a:alpha val="65000"/>
                </a:srgbClr>
              </a:gs>
              <a:gs pos="100000">
                <a:srgbClr val="0D2136">
                  <a:alpha val="92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3822192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0" i="0" spc="12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GỎI CUỐN</a:t>
            </a:r>
          </a:p>
        </p:txBody>
      </p:sp>
      <p:pic>
        <p:nvPicPr>
          <p:cNvPr id="14" name="Picture 13" descr="99d88e58829db665.jpg"/>
          <p:cNvPicPr>
            <a:picLocks noChangeAspect="1"/>
          </p:cNvPicPr>
          <p:nvPr/>
        </p:nvPicPr>
        <p:blipFill>
          <a:blip r:embed="rId6"/>
          <a:srcRect t="32895" b="32895"/>
          <a:stretch>
            <a:fillRect/>
          </a:stretch>
        </p:blipFill>
        <p:spPr>
          <a:xfrm>
            <a:off x="3474720" y="4434840"/>
            <a:ext cx="5212080" cy="1783080"/>
          </a:xfrm>
          <a:prstGeom prst="roundRect">
            <a:avLst>
              <a:gd name="adj" fmla="val 7179"/>
            </a:avLst>
          </a:prstGeom>
          <a:ln w="25400">
            <a:solidFill>
              <a:srgbClr val="FFFFFF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sp>
        <p:nvSpPr>
          <p:cNvPr id="15" name="Rounded Rectangle 14"/>
          <p:cNvSpPr/>
          <p:nvPr/>
        </p:nvSpPr>
        <p:spPr>
          <a:xfrm>
            <a:off x="3474720" y="4434840"/>
            <a:ext cx="5212080" cy="1783080"/>
          </a:xfrm>
          <a:prstGeom prst="roundRect">
            <a:avLst>
              <a:gd name="adj" fmla="val 7179"/>
            </a:avLst>
          </a:prstGeom>
          <a:gradFill rotWithShape="1">
            <a:gsLst>
              <a:gs pos="0">
                <a:srgbClr val="0D2136">
                  <a:alpha val="0"/>
                </a:srgbClr>
              </a:gs>
              <a:gs pos="50000">
                <a:srgbClr val="0D2136">
                  <a:alpha val="10000"/>
                </a:srgbClr>
              </a:gs>
              <a:gs pos="78000">
                <a:srgbClr val="0D2136">
                  <a:alpha val="65000"/>
                </a:srgbClr>
              </a:gs>
              <a:gs pos="100000">
                <a:srgbClr val="0D2136">
                  <a:alpha val="92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5742432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0" i="0" spc="12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CƠM GÀ</a:t>
            </a:r>
          </a:p>
        </p:txBody>
      </p:sp>
      <p:pic>
        <p:nvPicPr>
          <p:cNvPr id="17" name="Picture 16" descr="217b5a017462c431.jpg"/>
          <p:cNvPicPr>
            <a:picLocks noChangeAspect="1"/>
          </p:cNvPicPr>
          <p:nvPr/>
        </p:nvPicPr>
        <p:blipFill>
          <a:blip r:embed="rId7"/>
          <a:srcRect l="21635" r="21635"/>
          <a:stretch>
            <a:fillRect/>
          </a:stretch>
        </p:blipFill>
        <p:spPr>
          <a:xfrm>
            <a:off x="8869680" y="1463040"/>
            <a:ext cx="2697480" cy="4754880"/>
          </a:xfrm>
          <a:prstGeom prst="roundRect">
            <a:avLst>
              <a:gd name="adj" fmla="val 4745"/>
            </a:avLst>
          </a:prstGeom>
          <a:ln w="25400">
            <a:solidFill>
              <a:srgbClr val="FFFFFF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sp>
        <p:nvSpPr>
          <p:cNvPr id="18" name="Rounded Rectangle 17"/>
          <p:cNvSpPr/>
          <p:nvPr/>
        </p:nvSpPr>
        <p:spPr>
          <a:xfrm>
            <a:off x="8869680" y="1463040"/>
            <a:ext cx="2697480" cy="4754880"/>
          </a:xfrm>
          <a:prstGeom prst="roundRect">
            <a:avLst>
              <a:gd name="adj" fmla="val 4745"/>
            </a:avLst>
          </a:prstGeom>
          <a:gradFill rotWithShape="1">
            <a:gsLst>
              <a:gs pos="0">
                <a:srgbClr val="0D2136">
                  <a:alpha val="0"/>
                </a:srgbClr>
              </a:gs>
              <a:gs pos="50000">
                <a:srgbClr val="0D2136">
                  <a:alpha val="10000"/>
                </a:srgbClr>
              </a:gs>
              <a:gs pos="78000">
                <a:srgbClr val="0D2136">
                  <a:alpha val="65000"/>
                </a:srgbClr>
              </a:gs>
              <a:gs pos="100000">
                <a:srgbClr val="0D2136">
                  <a:alpha val="92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5742432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0" i="0" spc="12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BÁNH MÌ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465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8E7B62"/>
                </a:solidFill>
                <a:latin typeface="Noto Serif Display Light"/>
                <a:ea typeface="Noto Serif Display Light"/>
                <a:cs typeface="Noto Serif Display Light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2" grpId="0" animBg="1"/>
      <p:bldP spid="13" grpId="0" animBg="1"/>
      <p:bldP spid="9" grpId="0" animBg="1"/>
      <p:bldP spid="10" grpId="0" animBg="1"/>
      <p:bldP spid="15" grpId="0" animBg="1"/>
      <p:bldP spid="16" grpId="0" animBg="1"/>
      <p:bldP spid="6" grpId="0" animBg="1"/>
      <p:bldP spid="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bg_roofs.jpg"/>
          <p:cNvPicPr>
            <a:picLocks noChangeAspect="1"/>
          </p:cNvPicPr>
          <p:nvPr/>
        </p:nvPicPr>
        <p:blipFill>
          <a:blip r:embed="rId2"/>
          <a:srcRect t="10" b="1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sha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2136">
                  <a:alpha val="31500"/>
                </a:srgbClr>
              </a:gs>
              <a:gs pos="100000">
                <a:srgbClr val="0D2136">
                  <a:alpha val="2475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" name="Picture 3" descr="blur_roofs.jpg"/>
          <p:cNvPicPr>
            <a:picLocks noChangeAspect="1"/>
          </p:cNvPicPr>
          <p:nvPr/>
        </p:nvPicPr>
        <p:blipFill>
          <a:blip r:embed="rId3"/>
          <a:srcRect l="14250" r="14250" t="18000" b="16667"/>
          <a:stretch>
            <a:fillRect/>
          </a:stretch>
        </p:blipFill>
        <p:spPr>
          <a:xfrm>
            <a:off x="1737360" y="1234440"/>
            <a:ext cx="8716975" cy="4480560"/>
          </a:xfrm>
          <a:prstGeom prst="roundRect">
            <a:avLst>
              <a:gd name="adj" fmla="val 7142"/>
            </a:avLst>
          </a:prstGeom>
        </p:spPr>
      </p:pic>
      <p:sp>
        <p:nvSpPr>
          <p:cNvPr id="5" name="Rounded Rectangle 4"/>
          <p:cNvSpPr/>
          <p:nvPr/>
        </p:nvSpPr>
        <p:spPr>
          <a:xfrm>
            <a:off x="1737360" y="1234440"/>
            <a:ext cx="8716975" cy="4480560"/>
          </a:xfrm>
          <a:prstGeom prst="roundRect">
            <a:avLst>
              <a:gd name="adj" fmla="val 7142"/>
            </a:avLst>
          </a:prstGeom>
          <a:solidFill>
            <a:srgbClr val="0D2136">
              <a:alpha val="54000"/>
            </a:srgbClr>
          </a:solidFill>
          <a:ln w="15875">
            <a:solidFill>
              <a:srgbClr val="FFFFFF">
                <a:alpha val="45000"/>
              </a:srgbClr>
            </a:solidFill>
          </a:ln>
          <a:effectLst>
            <a:outerShdw blurRad="457200" dist="13716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6" name="!!emblem" descr="emblem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528920" y="667512"/>
            <a:ext cx="1133856" cy="11338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37360" y="2011680"/>
            <a:ext cx="871697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0" i="0" spc="40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PHẦN III</a:t>
            </a:r>
          </a:p>
        </p:txBody>
      </p:sp>
      <p:sp>
        <p:nvSpPr>
          <p:cNvPr id="8" name="!!ttl"/>
          <p:cNvSpPr txBox="1"/>
          <p:nvPr/>
        </p:nvSpPr>
        <p:spPr>
          <a:xfrm>
            <a:off x="2011680" y="2468880"/>
            <a:ext cx="8168335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400" b="0" i="0" spc="100">
                <a:solidFill>
                  <a:srgbClr val="F4E8CE"/>
                </a:solidFill>
                <a:effectLst>
                  <a:outerShdw blurRad="109728" dist="45720" dir="5400000" algn="ctr" rotWithShape="0">
                    <a:srgbClr val="1A1206">
                      <a:alpha val="35000"/>
                    </a:srgbClr>
                  </a:outerShdw>
                </a:effectLst>
                <a:latin typeface="Noto Serif Display Light"/>
                <a:ea typeface="Noto Serif Display Light"/>
                <a:cs typeface="Noto Serif Display Light"/>
              </a:rPr>
              <a:t>LỊCH SỬ – VĂN HÓA</a:t>
            </a:r>
          </a:p>
        </p:txBody>
      </p:sp>
      <p:sp>
        <p:nvSpPr>
          <p:cNvPr id="9" name="!!sub"/>
          <p:cNvSpPr txBox="1"/>
          <p:nvPr/>
        </p:nvSpPr>
        <p:spPr>
          <a:xfrm>
            <a:off x="1737360" y="3611880"/>
            <a:ext cx="8716975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400" b="0" i="0" spc="200">
                <a:solidFill>
                  <a:srgbClr val="FFFFFF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PHỐ CỔ HỘI AN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24248" y="4480560"/>
            <a:ext cx="1243584" cy="0"/>
          </a:xfrm>
          <a:prstGeom prst="line">
            <a:avLst/>
          </a:prstGeom>
          <a:ln w="11430">
            <a:solidFill>
              <a:srgbClr val="E2BF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 rot="2700000">
            <a:off x="6050128" y="4434840"/>
            <a:ext cx="91440" cy="91440"/>
          </a:xfrm>
          <a:prstGeom prst="rect">
            <a:avLst/>
          </a:prstGeom>
          <a:solidFill>
            <a:srgbClr val="E2B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223864" y="4480560"/>
            <a:ext cx="1243584" cy="0"/>
          </a:xfrm>
          <a:prstGeom prst="line">
            <a:avLst/>
          </a:prstGeom>
          <a:ln w="11430">
            <a:solidFill>
              <a:srgbClr val="E2BF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34640" y="4663440"/>
            <a:ext cx="6522415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i="1">
                <a:solidFill>
                  <a:srgbClr val="D1CAB7"/>
                </a:solidFill>
                <a:latin typeface="Noto Serif"/>
                <a:ea typeface="Noto Serif"/>
                <a:cs typeface="Noto Serif"/>
              </a:rPr>
              <a:t>Từ thương cảng quốc tế sầm uất đến di sản văn hóa của nhân loại.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1" grpId="0" animBg="1"/>
      <p:bldP spid="13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bg_dusk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sha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2136">
                  <a:alpha val="87500"/>
                </a:srgbClr>
              </a:gs>
              <a:gs pos="100000">
                <a:srgbClr val="0D2136">
                  <a:alpha val="6875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ttl"/>
          <p:cNvSpPr txBox="1"/>
          <p:nvPr/>
        </p:nvSpPr>
        <p:spPr>
          <a:xfrm>
            <a:off x="640080" y="5029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/>
            <a:r>
              <a:rPr sz="3000" b="0" i="0" spc="50">
                <a:solidFill>
                  <a:srgbClr val="F4E8CE"/>
                </a:solidFill>
                <a:latin typeface="Noto Serif Display Light"/>
                <a:ea typeface="Noto Serif Display Light"/>
                <a:cs typeface="Noto Serif Display Light"/>
              </a:rPr>
              <a:t>DÒNG CHẢY LỊCH SỬ</a:t>
            </a:r>
          </a:p>
        </p:txBody>
      </p:sp>
      <p:sp>
        <p:nvSpPr>
          <p:cNvPr id="5" name="!!sub"/>
          <p:cNvSpPr txBox="1"/>
          <p:nvPr/>
        </p:nvSpPr>
        <p:spPr>
          <a:xfrm>
            <a:off x="640080" y="1069848"/>
            <a:ext cx="10911535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700" b="0" i="0" spc="15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PHỐ CỔ HỘI 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3520440"/>
            <a:ext cx="10911535" cy="0"/>
          </a:xfrm>
          <a:prstGeom prst="line">
            <a:avLst/>
          </a:prstGeom>
          <a:ln w="19050">
            <a:solidFill>
              <a:srgbClr val="E2BF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481328" y="3401568"/>
            <a:ext cx="237744" cy="237744"/>
          </a:xfrm>
          <a:prstGeom prst="ellipse">
            <a:avLst/>
          </a:prstGeom>
          <a:solidFill>
            <a:srgbClr val="0D2136"/>
          </a:solidFill>
          <a:ln w="25400">
            <a:solidFill>
              <a:srgbClr val="E2B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4480" y="3474720"/>
            <a:ext cx="91440" cy="91440"/>
          </a:xfrm>
          <a:prstGeom prst="ellipse">
            <a:avLst/>
          </a:prstGeom>
          <a:solidFill>
            <a:srgbClr val="E2B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1600200" y="3108960"/>
            <a:ext cx="0" cy="292608"/>
          </a:xfrm>
          <a:prstGeom prst="line">
            <a:avLst/>
          </a:prstGeom>
          <a:ln w="12700">
            <a:solidFill>
              <a:srgbClr val="E2BF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4868" y="2331720"/>
            <a:ext cx="2110664" cy="731520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ctr"/>
            <a:r>
              <a:rPr sz="3000" b="0" i="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XVI–XVII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868" y="3886200"/>
            <a:ext cx="2110664" cy="1874520"/>
          </a:xfrm>
          <a:prstGeom prst="roundRect">
            <a:avLst>
              <a:gd name="adj" fmla="val 6829"/>
            </a:avLst>
          </a:prstGeom>
          <a:solidFill>
            <a:srgbClr val="0D2136">
              <a:alpha val="55000"/>
            </a:srgbClr>
          </a:solidFill>
          <a:ln w="9525">
            <a:solidFill>
              <a:srgbClr val="C9A15B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596" y="4023360"/>
            <a:ext cx="189120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 i="0">
                <a:solidFill>
                  <a:srgbClr val="F4E8CE"/>
                </a:solidFill>
                <a:latin typeface="Playfair Display"/>
                <a:ea typeface="Playfair Display"/>
                <a:cs typeface="Playfair Display"/>
              </a:rPr>
              <a:t>Thương cảng quốc tế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028" y="4434840"/>
            <a:ext cx="1836344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D8D0BC"/>
                </a:solidFill>
                <a:latin typeface="Noto Serif"/>
                <a:ea typeface="Noto Serif"/>
                <a:cs typeface="Noto Serif"/>
              </a:rPr>
              <a:t>Thuyền buôn Nhật Bản, Trung Hoa, phương Tây cập bến.</a:t>
            </a:r>
          </a:p>
        </p:txBody>
      </p:sp>
      <p:sp>
        <p:nvSpPr>
          <p:cNvPr id="14" name="Oval 13"/>
          <p:cNvSpPr/>
          <p:nvPr/>
        </p:nvSpPr>
        <p:spPr>
          <a:xfrm>
            <a:off x="3729152" y="3401568"/>
            <a:ext cx="237744" cy="237744"/>
          </a:xfrm>
          <a:prstGeom prst="ellipse">
            <a:avLst/>
          </a:prstGeom>
          <a:solidFill>
            <a:srgbClr val="0D2136"/>
          </a:solidFill>
          <a:ln w="25400">
            <a:solidFill>
              <a:srgbClr val="E2B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802304" y="3474720"/>
            <a:ext cx="91440" cy="91440"/>
          </a:xfrm>
          <a:prstGeom prst="ellipse">
            <a:avLst/>
          </a:prstGeom>
          <a:solidFill>
            <a:srgbClr val="E2B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3848024" y="3108960"/>
            <a:ext cx="0" cy="292608"/>
          </a:xfrm>
          <a:prstGeom prst="line">
            <a:avLst/>
          </a:prstGeom>
          <a:ln w="12700">
            <a:solidFill>
              <a:srgbClr val="E2BF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92692" y="2331720"/>
            <a:ext cx="2110664" cy="731520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ctr"/>
            <a:r>
              <a:rPr sz="3000" b="0" i="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XIX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92692" y="3886200"/>
            <a:ext cx="2110664" cy="1874520"/>
          </a:xfrm>
          <a:prstGeom prst="roundRect">
            <a:avLst>
              <a:gd name="adj" fmla="val 6829"/>
            </a:avLst>
          </a:prstGeom>
          <a:solidFill>
            <a:srgbClr val="0D2136">
              <a:alpha val="55000"/>
            </a:srgbClr>
          </a:solidFill>
          <a:ln w="9525">
            <a:solidFill>
              <a:srgbClr val="C9A15B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02420" y="4023360"/>
            <a:ext cx="189120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 i="0">
                <a:solidFill>
                  <a:srgbClr val="F4E8CE"/>
                </a:solidFill>
                <a:latin typeface="Playfair Display"/>
                <a:ea typeface="Playfair Display"/>
                <a:cs typeface="Playfair Display"/>
              </a:rPr>
              <a:t>Dần lắng đọng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9852" y="4434840"/>
            <a:ext cx="1836344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D8D0BC"/>
                </a:solidFill>
                <a:latin typeface="Noto Serif"/>
                <a:ea typeface="Noto Serif"/>
                <a:cs typeface="Noto Serif"/>
              </a:rPr>
              <a:t>Sông bồi lắng, trung tâm thương mại dịch chuyển.</a:t>
            </a:r>
          </a:p>
        </p:txBody>
      </p:sp>
      <p:sp>
        <p:nvSpPr>
          <p:cNvPr id="21" name="Oval 20"/>
          <p:cNvSpPr/>
          <p:nvPr/>
        </p:nvSpPr>
        <p:spPr>
          <a:xfrm>
            <a:off x="5976976" y="3401568"/>
            <a:ext cx="237744" cy="237744"/>
          </a:xfrm>
          <a:prstGeom prst="ellipse">
            <a:avLst/>
          </a:prstGeom>
          <a:solidFill>
            <a:srgbClr val="0D2136"/>
          </a:solidFill>
          <a:ln w="25400">
            <a:solidFill>
              <a:srgbClr val="E2B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50128" y="3474720"/>
            <a:ext cx="91440" cy="91440"/>
          </a:xfrm>
          <a:prstGeom prst="ellipse">
            <a:avLst/>
          </a:prstGeom>
          <a:solidFill>
            <a:srgbClr val="E2B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6095848" y="3108960"/>
            <a:ext cx="0" cy="292608"/>
          </a:xfrm>
          <a:prstGeom prst="line">
            <a:avLst/>
          </a:prstGeom>
          <a:ln w="12700">
            <a:solidFill>
              <a:srgbClr val="E2BF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40516" y="2331720"/>
            <a:ext cx="2110664" cy="731520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ctr"/>
            <a:r>
              <a:rPr sz="3000" b="0" i="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1985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40516" y="3886200"/>
            <a:ext cx="2110664" cy="1874520"/>
          </a:xfrm>
          <a:prstGeom prst="roundRect">
            <a:avLst>
              <a:gd name="adj" fmla="val 6829"/>
            </a:avLst>
          </a:prstGeom>
          <a:solidFill>
            <a:srgbClr val="0D2136">
              <a:alpha val="55000"/>
            </a:srgbClr>
          </a:solidFill>
          <a:ln w="9525">
            <a:solidFill>
              <a:srgbClr val="C9A15B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50244" y="4023360"/>
            <a:ext cx="189120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 i="0">
                <a:solidFill>
                  <a:srgbClr val="F4E8CE"/>
                </a:solidFill>
                <a:latin typeface="Playfair Display"/>
                <a:ea typeface="Playfair Display"/>
                <a:cs typeface="Playfair Display"/>
              </a:rPr>
              <a:t>Di tích quốc gia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7676" y="4434840"/>
            <a:ext cx="1836344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D8D0BC"/>
                </a:solidFill>
                <a:latin typeface="Noto Serif"/>
                <a:ea typeface="Noto Serif"/>
                <a:cs typeface="Noto Serif"/>
              </a:rPr>
              <a:t>Khu phố cổ được công nhận di tích lịch sử – văn hóa.</a:t>
            </a:r>
          </a:p>
        </p:txBody>
      </p:sp>
      <p:sp>
        <p:nvSpPr>
          <p:cNvPr id="28" name="Oval 27"/>
          <p:cNvSpPr/>
          <p:nvPr/>
        </p:nvSpPr>
        <p:spPr>
          <a:xfrm>
            <a:off x="8224799" y="3401568"/>
            <a:ext cx="237744" cy="237744"/>
          </a:xfrm>
          <a:prstGeom prst="ellipse">
            <a:avLst/>
          </a:prstGeom>
          <a:solidFill>
            <a:srgbClr val="0D2136"/>
          </a:solidFill>
          <a:ln w="25400">
            <a:solidFill>
              <a:srgbClr val="E2B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97951" y="3474720"/>
            <a:ext cx="91440" cy="91440"/>
          </a:xfrm>
          <a:prstGeom prst="ellipse">
            <a:avLst/>
          </a:prstGeom>
          <a:solidFill>
            <a:srgbClr val="E2B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V="1">
            <a:off x="8343671" y="3108960"/>
            <a:ext cx="0" cy="292608"/>
          </a:xfrm>
          <a:prstGeom prst="line">
            <a:avLst/>
          </a:prstGeom>
          <a:ln w="12700">
            <a:solidFill>
              <a:srgbClr val="E2BF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288340" y="2331720"/>
            <a:ext cx="2110664" cy="731520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ctr"/>
            <a:r>
              <a:rPr sz="3000" b="0" i="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1999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88340" y="3886200"/>
            <a:ext cx="2110664" cy="1874520"/>
          </a:xfrm>
          <a:prstGeom prst="roundRect">
            <a:avLst>
              <a:gd name="adj" fmla="val 6829"/>
            </a:avLst>
          </a:prstGeom>
          <a:solidFill>
            <a:srgbClr val="0D2136">
              <a:alpha val="55000"/>
            </a:srgbClr>
          </a:solidFill>
          <a:ln w="9525">
            <a:solidFill>
              <a:srgbClr val="C9A15B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98067" y="4023360"/>
            <a:ext cx="189120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 i="0">
                <a:solidFill>
                  <a:srgbClr val="F4E8CE"/>
                </a:solidFill>
                <a:latin typeface="Playfair Display"/>
                <a:ea typeface="Playfair Display"/>
                <a:cs typeface="Playfair Display"/>
              </a:rPr>
              <a:t>Di sản thế giới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5500" y="4434840"/>
            <a:ext cx="1836344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D8D0BC"/>
                </a:solidFill>
                <a:latin typeface="Noto Serif"/>
                <a:ea typeface="Noto Serif"/>
                <a:cs typeface="Noto Serif"/>
              </a:rPr>
              <a:t>UNESCO ghi danh phố cổ Hội An.</a:t>
            </a:r>
          </a:p>
        </p:txBody>
      </p:sp>
      <p:sp>
        <p:nvSpPr>
          <p:cNvPr id="35" name="Oval 34"/>
          <p:cNvSpPr/>
          <p:nvPr/>
        </p:nvSpPr>
        <p:spPr>
          <a:xfrm>
            <a:off x="10472623" y="3401568"/>
            <a:ext cx="237744" cy="237744"/>
          </a:xfrm>
          <a:prstGeom prst="ellipse">
            <a:avLst/>
          </a:prstGeom>
          <a:solidFill>
            <a:srgbClr val="0D2136"/>
          </a:solidFill>
          <a:ln w="25400">
            <a:solidFill>
              <a:srgbClr val="E2B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545775" y="3474720"/>
            <a:ext cx="91440" cy="91440"/>
          </a:xfrm>
          <a:prstGeom prst="ellipse">
            <a:avLst/>
          </a:prstGeom>
          <a:solidFill>
            <a:srgbClr val="E2B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10591495" y="3108960"/>
            <a:ext cx="0" cy="292608"/>
          </a:xfrm>
          <a:prstGeom prst="line">
            <a:avLst/>
          </a:prstGeom>
          <a:ln w="12700">
            <a:solidFill>
              <a:srgbClr val="E2BF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536163" y="2331720"/>
            <a:ext cx="2110664" cy="731520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ctr"/>
            <a:r>
              <a:rPr sz="3000" b="0" i="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Nay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36163" y="3886200"/>
            <a:ext cx="2110664" cy="1874520"/>
          </a:xfrm>
          <a:prstGeom prst="roundRect">
            <a:avLst>
              <a:gd name="adj" fmla="val 6829"/>
            </a:avLst>
          </a:prstGeom>
          <a:solidFill>
            <a:srgbClr val="0D2136">
              <a:alpha val="55000"/>
            </a:srgbClr>
          </a:solidFill>
          <a:ln w="9525">
            <a:solidFill>
              <a:srgbClr val="C9A15B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45891" y="4023360"/>
            <a:ext cx="189120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 i="0">
                <a:solidFill>
                  <a:srgbClr val="F4E8CE"/>
                </a:solidFill>
                <a:latin typeface="Playfair Display"/>
                <a:ea typeface="Playfair Display"/>
                <a:cs typeface="Playfair Display"/>
              </a:rPr>
              <a:t>Điểm đến văn hóa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73323" y="4434840"/>
            <a:ext cx="1836344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D8D0BC"/>
                </a:solidFill>
                <a:latin typeface="Noto Serif"/>
                <a:ea typeface="Noto Serif"/>
                <a:cs typeface="Noto Serif"/>
              </a:rPr>
              <a:t>Bảo tồn gắn với phát triển du lịch bền vững.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20095" y="64465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FACA0"/>
                </a:solidFill>
                <a:latin typeface="Noto Serif Display Light"/>
                <a:ea typeface="Noto Serif Display Light"/>
                <a:cs typeface="Noto Serif Display Light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53" presetClass="entr" presetSubtype="16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53" presetClass="entr" presetSubtype="16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53" presetClass="entr" presetSubtype="16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53" presetClass="entr" presetSubtype="16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53" presetClass="entr" presetSubtype="16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53" presetClass="entr" presetSubtype="16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53" presetClass="entr" presetSubtype="16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53" presetClass="entr" presetSubtype="16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53" presetClass="entr" presetSubtype="16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53" presetClass="entr" presetSubtype="16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53" presetClass="entr" presetSubtype="16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53" presetClass="entr" presetSubtype="16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bg_roofs.jpg"/>
          <p:cNvPicPr>
            <a:picLocks noChangeAspect="1"/>
          </p:cNvPicPr>
          <p:nvPr/>
        </p:nvPicPr>
        <p:blipFill>
          <a:blip r:embed="rId2"/>
          <a:srcRect t="10" b="1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sha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2136">
                  <a:alpha val="90000"/>
                </a:srgbClr>
              </a:gs>
              <a:gs pos="42000">
                <a:srgbClr val="0D2136">
                  <a:alpha val="72000"/>
                </a:srgbClr>
              </a:gs>
              <a:gs pos="72000">
                <a:srgbClr val="0D2136">
                  <a:alpha val="35000"/>
                </a:srgbClr>
              </a:gs>
              <a:gs pos="100000">
                <a:srgbClr val="0D2136">
                  <a:alpha val="12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ttl"/>
          <p:cNvSpPr txBox="1"/>
          <p:nvPr/>
        </p:nvSpPr>
        <p:spPr>
          <a:xfrm>
            <a:off x="640080" y="50292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000" b="0" i="0" spc="50">
                <a:solidFill>
                  <a:srgbClr val="F4E8CE"/>
                </a:solidFill>
                <a:latin typeface="Noto Serif Display Light"/>
                <a:ea typeface="Noto Serif Display Light"/>
                <a:cs typeface="Noto Serif Display Light"/>
              </a:rPr>
              <a:t>LỊCH SỬ – VĂN HÓA</a:t>
            </a:r>
          </a:p>
        </p:txBody>
      </p:sp>
      <p:sp>
        <p:nvSpPr>
          <p:cNvPr id="5" name="!!sub"/>
          <p:cNvSpPr txBox="1"/>
          <p:nvPr/>
        </p:nvSpPr>
        <p:spPr>
          <a:xfrm>
            <a:off x="640080" y="1069848"/>
            <a:ext cx="713232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spc="15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PHỐ CỔ HỘI 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548640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ct val="118000"/>
              </a:lnSpc>
              <a:spcAft>
                <a:spcPts val="600"/>
              </a:spcAft>
            </a:pPr>
            <a:r>
              <a:rPr sz="115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Hội An</a:t>
            </a:r>
            <a:r>
              <a:rPr sz="115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 là minh chứng cho sự giao thoa văn hóa giữa các nền văn minh, bao gồm văn hóa </a:t>
            </a:r>
            <a:r>
              <a:rPr sz="115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Việt, Trung Quốc và Nhật Bản</a:t>
            </a:r>
            <a:r>
              <a:rPr sz="115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.</a:t>
            </a:r>
          </a:p>
          <a:p>
            <a:pPr algn="just">
              <a:lnSpc>
                <a:spcPct val="118000"/>
              </a:lnSpc>
              <a:spcAft>
                <a:spcPts val="600"/>
              </a:spcAft>
            </a:pPr>
            <a:r>
              <a:rPr sz="115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Từng là</a:t>
            </a:r>
            <a:r>
              <a:rPr sz="115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 một cảng thương mại sầm uất từ thế kỷ XVI – XVIII, điểm dừng chân của thương nhân nhiều quốc gia.</a:t>
            </a:r>
          </a:p>
          <a:p>
            <a:pPr algn="just">
              <a:lnSpc>
                <a:spcPct val="118000"/>
              </a:lnSpc>
              <a:spcAft>
                <a:spcPts val="600"/>
              </a:spcAft>
            </a:pPr>
            <a:r>
              <a:rPr sz="115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Hội An nổi tiếng</a:t>
            </a:r>
            <a:r>
              <a:rPr sz="115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 với các nghề thủ công truyền thống như làm đèn lồng, gốm, mộc, dệt vải, phản ánh sự tinh tế của người dân nơi đây.</a:t>
            </a:r>
          </a:p>
        </p:txBody>
      </p:sp>
      <p:pic>
        <p:nvPicPr>
          <p:cNvPr id="7" name="Picture 6" descr="move-right_E2BF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733288"/>
            <a:ext cx="329184" cy="329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57150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Hội An không chỉ là một điểm đến du lịch mà còn là </a:t>
            </a:r>
            <a:r>
              <a:rPr sz="115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một bảo tàng sống</a:t>
            </a:r>
            <a:r>
              <a:rPr sz="115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.</a:t>
            </a:r>
          </a:p>
        </p:txBody>
      </p:sp>
      <p:pic>
        <p:nvPicPr>
          <p:cNvPr id="9" name="Picture 8" descr="pr_ol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92240" y="411480"/>
            <a:ext cx="3456348" cy="2834640"/>
          </a:xfrm>
          <a:prstGeom prst="rect">
            <a:avLst/>
          </a:prstGeom>
        </p:spPr>
      </p:pic>
      <p:pic>
        <p:nvPicPr>
          <p:cNvPr id="10" name="Picture 9" descr="pr_street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730968" y="1417320"/>
            <a:ext cx="3277847" cy="2697480"/>
          </a:xfrm>
          <a:prstGeom prst="rect">
            <a:avLst/>
          </a:prstGeom>
        </p:spPr>
      </p:pic>
      <p:pic>
        <p:nvPicPr>
          <p:cNvPr id="11" name="Picture 10" descr="pr_house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949440" y="3246120"/>
            <a:ext cx="2535067" cy="3154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20095" y="64465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FACA0"/>
                </a:solidFill>
                <a:latin typeface="Noto Serif Display Light"/>
                <a:ea typeface="Noto Serif Display Light"/>
                <a:cs typeface="Noto Serif Display Light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bg_river_thubon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sha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2136">
                  <a:alpha val="90000"/>
                </a:srgbClr>
              </a:gs>
              <a:gs pos="42000">
                <a:srgbClr val="0D2136">
                  <a:alpha val="72000"/>
                </a:srgbClr>
              </a:gs>
              <a:gs pos="72000">
                <a:srgbClr val="0D2136">
                  <a:alpha val="35000"/>
                </a:srgbClr>
              </a:gs>
              <a:gs pos="100000">
                <a:srgbClr val="0D2136">
                  <a:alpha val="12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ttl"/>
          <p:cNvSpPr txBox="1"/>
          <p:nvPr/>
        </p:nvSpPr>
        <p:spPr>
          <a:xfrm>
            <a:off x="640080" y="50292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000" b="0" i="0" spc="50">
                <a:solidFill>
                  <a:srgbClr val="F4E8CE"/>
                </a:solidFill>
                <a:latin typeface="Noto Serif Display Light"/>
                <a:ea typeface="Noto Serif Display Light"/>
                <a:cs typeface="Noto Serif Display Light"/>
              </a:rPr>
              <a:t>BẢO TỒN &amp; PHÁT HUY GIÁ TRỊ</a:t>
            </a:r>
          </a:p>
        </p:txBody>
      </p:sp>
      <p:sp>
        <p:nvSpPr>
          <p:cNvPr id="5" name="!!sub"/>
          <p:cNvSpPr txBox="1"/>
          <p:nvPr/>
        </p:nvSpPr>
        <p:spPr>
          <a:xfrm>
            <a:off x="640080" y="1069848"/>
            <a:ext cx="713232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spc="15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PHỐ CỔ HỘI 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548640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ct val="118000"/>
              </a:lnSpc>
              <a:spcAft>
                <a:spcPts val="600"/>
              </a:spcAft>
            </a:pPr>
            <a:r>
              <a:rPr sz="115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Phố cổ Hội An</a:t>
            </a:r>
            <a:r>
              <a:rPr sz="115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 là một trong những đô thị cổ đẹp nhất Đông Nam Á, được UNESCO công nhận là di sản văn hóa thế giới năm 1999.</a:t>
            </a:r>
          </a:p>
          <a:p>
            <a:pPr algn="just">
              <a:lnSpc>
                <a:spcPct val="118000"/>
              </a:lnSpc>
              <a:spcAft>
                <a:spcPts val="600"/>
              </a:spcAft>
            </a:pPr>
            <a:r>
              <a:rPr sz="1150" b="1" i="0">
                <a:solidFill>
                  <a:srgbClr val="E2BF7A"/>
                </a:solidFill>
                <a:latin typeface="Noto Serif"/>
                <a:ea typeface="Noto Serif"/>
                <a:cs typeface="Noto Serif"/>
              </a:rPr>
              <a:t>Tuy nhiên</a:t>
            </a:r>
            <a:r>
              <a:rPr sz="115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, Hội An cũng đang đối mặt với nhiều nguy cơ ảnh hưởng đến giá trị di sản; nhiệm vụ bảo tồn trở nên quan trọng và cấp bách.</a:t>
            </a:r>
          </a:p>
        </p:txBody>
      </p:sp>
      <p:sp>
        <p:nvSpPr>
          <p:cNvPr id="7" name="Rectangle 6"/>
          <p:cNvSpPr/>
          <p:nvPr/>
        </p:nvSpPr>
        <p:spPr>
          <a:xfrm rot="2700000">
            <a:off x="681228" y="4082796"/>
            <a:ext cx="100584" cy="100584"/>
          </a:xfrm>
          <a:prstGeom prst="rect">
            <a:avLst/>
          </a:prstGeom>
          <a:solidFill>
            <a:srgbClr val="E2B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77640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Bảo tồn kiến trúc cổ</a:t>
            </a:r>
          </a:p>
        </p:txBody>
      </p:sp>
      <p:sp>
        <p:nvSpPr>
          <p:cNvPr id="9" name="Rectangle 8"/>
          <p:cNvSpPr/>
          <p:nvPr/>
        </p:nvSpPr>
        <p:spPr>
          <a:xfrm rot="2700000">
            <a:off x="681228" y="4503420"/>
            <a:ext cx="100584" cy="100584"/>
          </a:xfrm>
          <a:prstGeom prst="rect">
            <a:avLst/>
          </a:prstGeom>
          <a:solidFill>
            <a:srgbClr val="E2B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98264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Quản lý môi trường đô thị cổ</a:t>
            </a:r>
          </a:p>
        </p:txBody>
      </p:sp>
      <p:sp>
        <p:nvSpPr>
          <p:cNvPr id="11" name="Rectangle 10"/>
          <p:cNvSpPr/>
          <p:nvPr/>
        </p:nvSpPr>
        <p:spPr>
          <a:xfrm rot="2700000">
            <a:off x="681228" y="4924044"/>
            <a:ext cx="100584" cy="100584"/>
          </a:xfrm>
          <a:prstGeom prst="rect">
            <a:avLst/>
          </a:prstGeom>
          <a:solidFill>
            <a:srgbClr val="E2B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18888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Phát huy các giá trị văn hóa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681228" y="5344668"/>
            <a:ext cx="100584" cy="100584"/>
          </a:xfrm>
          <a:prstGeom prst="rect">
            <a:avLst/>
          </a:prstGeom>
          <a:solidFill>
            <a:srgbClr val="E2B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39512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Giáo dục và nâng cao nhận thức cộng đồng</a:t>
            </a:r>
          </a:p>
        </p:txBody>
      </p:sp>
      <p:pic>
        <p:nvPicPr>
          <p:cNvPr id="15" name="Picture 14" descr="pr_fest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55080" y="411480"/>
            <a:ext cx="3052072" cy="2514600"/>
          </a:xfrm>
          <a:prstGeom prst="rect">
            <a:avLst/>
          </a:prstGeom>
        </p:spPr>
      </p:pic>
      <p:pic>
        <p:nvPicPr>
          <p:cNvPr id="16" name="Picture 15" descr="pr_lantern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144000" y="274320"/>
            <a:ext cx="2474155" cy="3063240"/>
          </a:xfrm>
          <a:prstGeom prst="rect">
            <a:avLst/>
          </a:prstGeom>
        </p:spPr>
      </p:pic>
      <p:pic>
        <p:nvPicPr>
          <p:cNvPr id="17" name="Picture 16" descr="pr_craft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583680" y="3108960"/>
            <a:ext cx="3349335" cy="2697480"/>
          </a:xfrm>
          <a:prstGeom prst="rect">
            <a:avLst/>
          </a:prstGeom>
        </p:spPr>
      </p:pic>
      <p:pic>
        <p:nvPicPr>
          <p:cNvPr id="18" name="Picture 17" descr="pr_river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958628" y="3474720"/>
            <a:ext cx="3050187" cy="2514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20095" y="64465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FACA0"/>
                </a:solidFill>
                <a:latin typeface="Noto Serif Display Light"/>
                <a:ea typeface="Noto Serif Display Light"/>
                <a:cs typeface="Noto Serif Display Light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599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599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749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1749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AD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paper" descr="parchmen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tl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000" b="0" i="0" spc="50">
                <a:solidFill>
                  <a:srgbClr val="3D2B1B"/>
                </a:solidFill>
                <a:latin typeface="Noto Serif Display Light"/>
                <a:ea typeface="Noto Serif Display Light"/>
                <a:cs typeface="Noto Serif Display Light"/>
              </a:rPr>
              <a:t>NHỮNG CON SỐ</a:t>
            </a:r>
          </a:p>
        </p:txBody>
      </p:sp>
      <p:sp>
        <p:nvSpPr>
          <p:cNvPr id="4" name="!!sub"/>
          <p:cNvSpPr txBox="1"/>
          <p:nvPr/>
        </p:nvSpPr>
        <p:spPr>
          <a:xfrm>
            <a:off x="640080" y="1069848"/>
            <a:ext cx="73152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spc="150">
                <a:solidFill>
                  <a:srgbClr val="C9A15B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PHỐ CỔ HỘI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0" i="1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Các chỉ số tiêu biểu giúp người nghe hình dung nhanh quy mô và giá trị của di sản.</a:t>
            </a:r>
          </a:p>
        </p:txBody>
      </p:sp>
      <p:sp>
        <p:nvSpPr>
          <p:cNvPr id="6" name="Oval 5"/>
          <p:cNvSpPr/>
          <p:nvPr/>
        </p:nvSpPr>
        <p:spPr>
          <a:xfrm>
            <a:off x="859536" y="3236976"/>
            <a:ext cx="566928" cy="566928"/>
          </a:xfrm>
          <a:prstGeom prst="ellipse">
            <a:avLst/>
          </a:prstGeom>
          <a:solidFill>
            <a:srgbClr val="0D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andmark_E2BF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3378708"/>
            <a:ext cx="283464" cy="2834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3886200"/>
            <a:ext cx="2362124" cy="8686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4600" b="0" i="0">
                <a:solidFill>
                  <a:srgbClr val="C9A15B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1.100+</a:t>
            </a:r>
            <a:r>
              <a:rPr sz="1800" b="0" i="0">
                <a:solidFill>
                  <a:srgbClr val="C9A15B"/>
                </a:solidFill>
                <a:latin typeface="Noto Serif Display Light"/>
                <a:ea typeface="Noto Serif Display Light"/>
                <a:cs typeface="Noto Serif Display Light"/>
              </a:rPr>
              <a:t> di tích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00600"/>
            <a:ext cx="231640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Công trình kiến trúc, di tích được kiểm kê trong khu phố cổ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67964" y="3246120"/>
            <a:ext cx="0" cy="1691640"/>
          </a:xfrm>
          <a:prstGeom prst="line">
            <a:avLst/>
          </a:prstGeom>
          <a:ln w="11430">
            <a:solidFill>
              <a:srgbClr val="CDB8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587420" y="3236976"/>
            <a:ext cx="566928" cy="566928"/>
          </a:xfrm>
          <a:prstGeom prst="ellipse">
            <a:avLst/>
          </a:prstGeom>
          <a:solidFill>
            <a:srgbClr val="0D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lendar-days_E2BF7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152" y="3378708"/>
            <a:ext cx="283464" cy="2834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96564" y="3886200"/>
            <a:ext cx="2362124" cy="8686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4600" b="0" i="0">
                <a:solidFill>
                  <a:srgbClr val="C9A15B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400+</a:t>
            </a:r>
            <a:r>
              <a:rPr sz="1800" b="0" i="0">
                <a:solidFill>
                  <a:srgbClr val="C9A15B"/>
                </a:solidFill>
                <a:latin typeface="Noto Serif Display Light"/>
                <a:ea typeface="Noto Serif Display Light"/>
                <a:cs typeface="Noto Serif Display Light"/>
              </a:rPr>
              <a:t> năm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6564" y="4800600"/>
            <a:ext cx="231640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Lịch sử hình thành và phát triển của đô thị cổ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5848" y="3246120"/>
            <a:ext cx="0" cy="1691640"/>
          </a:xfrm>
          <a:prstGeom prst="line">
            <a:avLst/>
          </a:prstGeom>
          <a:ln w="11430">
            <a:solidFill>
              <a:srgbClr val="CDB8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315304" y="3236976"/>
            <a:ext cx="566928" cy="566928"/>
          </a:xfrm>
          <a:prstGeom prst="ellipse">
            <a:avLst/>
          </a:prstGeom>
          <a:solidFill>
            <a:srgbClr val="0D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ward_E2BF7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036" y="3378708"/>
            <a:ext cx="283464" cy="2834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24448" y="3886200"/>
            <a:ext cx="2362124" cy="8686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4600" b="0" i="0">
                <a:solidFill>
                  <a:srgbClr val="C9A15B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1999</a:t>
            </a:r>
            <a:r>
              <a:rPr sz="1800" b="0" i="0">
                <a:solidFill>
                  <a:srgbClr val="C9A15B"/>
                </a:solidFill>
                <a:latin typeface="Noto Serif Display Light"/>
                <a:ea typeface="Noto Serif Display Light"/>
                <a:cs typeface="Noto Serif Display Light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8" y="4800600"/>
            <a:ext cx="231640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Năm UNESCO ghi danh Di sản văn hóa thế giới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23731" y="3246120"/>
            <a:ext cx="0" cy="1691640"/>
          </a:xfrm>
          <a:prstGeom prst="line">
            <a:avLst/>
          </a:prstGeom>
          <a:ln w="11430">
            <a:solidFill>
              <a:srgbClr val="CDB8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043187" y="3236976"/>
            <a:ext cx="566928" cy="566928"/>
          </a:xfrm>
          <a:prstGeom prst="ellipse">
            <a:avLst/>
          </a:prstGeom>
          <a:solidFill>
            <a:srgbClr val="0D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ap-pin_E2BF7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4919" y="3378708"/>
            <a:ext cx="283464" cy="2834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052331" y="3886200"/>
            <a:ext cx="2362124" cy="8686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4600" b="0" i="0">
                <a:solidFill>
                  <a:srgbClr val="C9A15B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30</a:t>
            </a:r>
            <a:r>
              <a:rPr sz="1800" b="0" i="0">
                <a:solidFill>
                  <a:srgbClr val="C9A15B"/>
                </a:solidFill>
                <a:latin typeface="Noto Serif Display Light"/>
                <a:ea typeface="Noto Serif Display Light"/>
                <a:cs typeface="Noto Serif Display Light"/>
              </a:rPr>
              <a:t> 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331" y="4800600"/>
            <a:ext cx="231640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Khoảng cách tới trung tâm thành phố Đà Nẵng</a:t>
            </a:r>
          </a:p>
        </p:txBody>
      </p:sp>
      <p:pic>
        <p:nvPicPr>
          <p:cNvPr id="25" name="Picture 24" descr="7c7971995f1a2d0a.jpg"/>
          <p:cNvPicPr>
            <a:picLocks noChangeAspect="1"/>
          </p:cNvPicPr>
          <p:nvPr/>
        </p:nvPicPr>
        <p:blipFill>
          <a:blip r:embed="rId7"/>
          <a:srcRect t="14727" b="24727"/>
          <a:stretch>
            <a:fillRect/>
          </a:stretch>
        </p:blipFill>
        <p:spPr>
          <a:xfrm>
            <a:off x="5760720" y="548640"/>
            <a:ext cx="5790895" cy="2331720"/>
          </a:xfrm>
          <a:prstGeom prst="roundRect">
            <a:avLst>
              <a:gd name="adj" fmla="val 5490"/>
            </a:avLst>
          </a:prstGeom>
          <a:ln w="25400">
            <a:solidFill>
              <a:srgbClr val="FFFFFF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sp>
        <p:nvSpPr>
          <p:cNvPr id="26" name="TextBox 25"/>
          <p:cNvSpPr txBox="1"/>
          <p:nvPr/>
        </p:nvSpPr>
        <p:spPr>
          <a:xfrm>
            <a:off x="64008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1">
                <a:solidFill>
                  <a:srgbClr val="8E7B62"/>
                </a:solidFill>
                <a:latin typeface="Noto Serif"/>
                <a:ea typeface="Noto Serif"/>
                <a:cs typeface="Noto Serif"/>
              </a:rPr>
              <a:t>Số liệu minh họa — thay bằng dữ liệu của bạn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4465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8E7B62"/>
                </a:solidFill>
                <a:latin typeface="Noto Serif Display Light"/>
                <a:ea typeface="Noto Serif Display Light"/>
                <a:cs typeface="Noto Serif Display Light"/>
              </a:rP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799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799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799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799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99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99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99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99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0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1" grpId="0" animBg="1"/>
      <p:bldP spid="13" grpId="0" animBg="1"/>
      <p:bldP spid="14" grpId="0" animBg="1"/>
      <p:bldP spid="16" grpId="0" animBg="1"/>
      <p:bldP spid="18" grpId="0" animBg="1"/>
      <p:bldP spid="19" grpId="0" animBg="1"/>
      <p:bldP spid="21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AD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paper" descr="parchmen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tl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000" b="0" i="0" spc="50">
                <a:solidFill>
                  <a:srgbClr val="3D2B1B"/>
                </a:solidFill>
                <a:latin typeface="Noto Serif Display Light"/>
                <a:ea typeface="Noto Serif Display Light"/>
                <a:cs typeface="Noto Serif Display Light"/>
              </a:rPr>
              <a:t>DI TÍCH TIÊU BIỂU</a:t>
            </a:r>
          </a:p>
        </p:txBody>
      </p:sp>
      <p:sp>
        <p:nvSpPr>
          <p:cNvPr id="4" name="!!sub"/>
          <p:cNvSpPr txBox="1"/>
          <p:nvPr/>
        </p:nvSpPr>
        <p:spPr>
          <a:xfrm>
            <a:off x="640080" y="1069848"/>
            <a:ext cx="73152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 spc="150">
                <a:solidFill>
                  <a:srgbClr val="C9A15B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PHỐ CỔ HỘI 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74520"/>
          <a:ext cx="7589520" cy="4206237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1325880"/>
                <a:gridCol w="4160520"/>
              </a:tblGrid>
              <a:tr h="600891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spc="100">
                          <a:solidFill>
                            <a:srgbClr val="E2BF7A"/>
                          </a:solidFill>
                          <a:latin typeface="Noto Serif Display ExtraCondensed SemiBold"/>
                          <a:ea typeface="Noto Serif Display ExtraCondensed SemiBold"/>
                          <a:cs typeface="Noto Serif Display ExtraCondensed SemiBold"/>
                        </a:rPr>
                        <a:t>Di tích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8C7A2"/>
                      </a:solidFill>
                    </a:lnL>
                    <a:lnR w="9525">
                      <a:solidFill>
                        <a:srgbClr val="D8C7A2"/>
                      </a:solidFill>
                    </a:lnR>
                    <a:lnT w="9525">
                      <a:solidFill>
                        <a:srgbClr val="D8C7A2"/>
                      </a:solidFill>
                    </a:lnT>
                    <a:lnB w="9525">
                      <a:solidFill>
                        <a:srgbClr val="D8C7A2"/>
                      </a:solidFill>
                    </a:lnB>
                    <a:solidFill>
                      <a:srgbClr val="0D21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spc="100">
                          <a:solidFill>
                            <a:srgbClr val="E2BF7A"/>
                          </a:solidFill>
                          <a:latin typeface="Noto Serif Display ExtraCondensed SemiBold"/>
                          <a:ea typeface="Noto Serif Display ExtraCondensed SemiBold"/>
                          <a:cs typeface="Noto Serif Display ExtraCondensed SemiBold"/>
                        </a:rPr>
                        <a:t>Niên đại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8C7A2"/>
                      </a:solidFill>
                    </a:lnL>
                    <a:lnR w="9525">
                      <a:solidFill>
                        <a:srgbClr val="D8C7A2"/>
                      </a:solidFill>
                    </a:lnR>
                    <a:lnT w="9525">
                      <a:solidFill>
                        <a:srgbClr val="D8C7A2"/>
                      </a:solidFill>
                    </a:lnT>
                    <a:lnB w="9525">
                      <a:solidFill>
                        <a:srgbClr val="D8C7A2"/>
                      </a:solidFill>
                    </a:lnB>
                    <a:solidFill>
                      <a:srgbClr val="0D21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spc="100">
                          <a:solidFill>
                            <a:srgbClr val="E2BF7A"/>
                          </a:solidFill>
                          <a:latin typeface="Noto Serif Display ExtraCondensed SemiBold"/>
                          <a:ea typeface="Noto Serif Display ExtraCondensed SemiBold"/>
                          <a:cs typeface="Noto Serif Display ExtraCondensed SemiBold"/>
                        </a:rPr>
                        <a:t>Điểm nổi bật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8C7A2"/>
                      </a:solidFill>
                    </a:lnL>
                    <a:lnR w="9525">
                      <a:solidFill>
                        <a:srgbClr val="D8C7A2"/>
                      </a:solidFill>
                    </a:lnR>
                    <a:lnT w="9525">
                      <a:solidFill>
                        <a:srgbClr val="D8C7A2"/>
                      </a:solidFill>
                    </a:lnT>
                    <a:lnB w="9525">
                      <a:solidFill>
                        <a:srgbClr val="D8C7A2"/>
                      </a:solidFill>
                    </a:lnB>
                    <a:solidFill>
                      <a:srgbClr val="0D2136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3D2B1B"/>
                          </a:solidFill>
                          <a:latin typeface="Noto Serif"/>
                          <a:ea typeface="Noto Serif"/>
                          <a:cs typeface="Noto Serif"/>
                        </a:rPr>
                        <a:t>Chùa Cầu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8C7A2"/>
                      </a:solidFill>
                    </a:lnL>
                    <a:lnR w="9525">
                      <a:solidFill>
                        <a:srgbClr val="D8C7A2"/>
                      </a:solidFill>
                    </a:lnR>
                    <a:lnT w="9525">
                      <a:solidFill>
                        <a:srgbClr val="D8C7A2"/>
                      </a:solidFill>
                    </a:lnT>
                    <a:lnB w="9525">
                      <a:solidFill>
                        <a:srgbClr val="D8C7A2"/>
                      </a:solidFill>
                    </a:lnB>
                    <a:solidFill>
                      <a:srgbClr val="F7F0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D2B1B"/>
                          </a:solidFill>
                          <a:latin typeface="Noto Serif"/>
                          <a:ea typeface="Noto Serif"/>
                          <a:cs typeface="Noto Serif"/>
                        </a:rPr>
                        <a:t>TK XVII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8C7A2"/>
                      </a:solidFill>
                    </a:lnL>
                    <a:lnR w="9525">
                      <a:solidFill>
                        <a:srgbClr val="D8C7A2"/>
                      </a:solidFill>
                    </a:lnR>
                    <a:lnT w="9525">
                      <a:solidFill>
                        <a:srgbClr val="D8C7A2"/>
                      </a:solidFill>
                    </a:lnT>
                    <a:lnB w="9525">
                      <a:solidFill>
                        <a:srgbClr val="D8C7A2"/>
                      </a:solidFill>
                    </a:lnB>
                    <a:solidFill>
                      <a:srgbClr val="F7F0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D2B1B"/>
                          </a:solidFill>
                          <a:latin typeface="Noto Serif"/>
                          <a:ea typeface="Noto Serif"/>
                          <a:cs typeface="Noto Serif"/>
                        </a:rPr>
                        <a:t>Biểu tượng của Hội An, do thương nhân Nhật xây dựng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8C7A2"/>
                      </a:solidFill>
                    </a:lnL>
                    <a:lnR w="9525">
                      <a:solidFill>
                        <a:srgbClr val="D8C7A2"/>
                      </a:solidFill>
                    </a:lnR>
                    <a:lnT w="9525">
                      <a:solidFill>
                        <a:srgbClr val="D8C7A2"/>
                      </a:solidFill>
                    </a:lnT>
                    <a:lnB w="9525">
                      <a:solidFill>
                        <a:srgbClr val="D8C7A2"/>
                      </a:solidFill>
                    </a:lnB>
                    <a:solidFill>
                      <a:srgbClr val="F7F0DE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3D2B1B"/>
                          </a:solidFill>
                          <a:latin typeface="Noto Serif"/>
                          <a:ea typeface="Noto Serif"/>
                          <a:cs typeface="Noto Serif"/>
                        </a:rPr>
                        <a:t>Hội quán Phúc Kiến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8C7A2"/>
                      </a:solidFill>
                    </a:lnL>
                    <a:lnR w="9525">
                      <a:solidFill>
                        <a:srgbClr val="D8C7A2"/>
                      </a:solidFill>
                    </a:lnR>
                    <a:lnT w="9525">
                      <a:solidFill>
                        <a:srgbClr val="D8C7A2"/>
                      </a:solidFill>
                    </a:lnT>
                    <a:lnB w="9525">
                      <a:solidFill>
                        <a:srgbClr val="D8C7A2"/>
                      </a:solidFill>
                    </a:lnB>
                    <a:solidFill>
                      <a:srgbClr val="EFE2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D2B1B"/>
                          </a:solidFill>
                          <a:latin typeface="Noto Serif"/>
                          <a:ea typeface="Noto Serif"/>
                          <a:cs typeface="Noto Serif"/>
                        </a:rPr>
                        <a:t>TK XVII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8C7A2"/>
                      </a:solidFill>
                    </a:lnL>
                    <a:lnR w="9525">
                      <a:solidFill>
                        <a:srgbClr val="D8C7A2"/>
                      </a:solidFill>
                    </a:lnR>
                    <a:lnT w="9525">
                      <a:solidFill>
                        <a:srgbClr val="D8C7A2"/>
                      </a:solidFill>
                    </a:lnT>
                    <a:lnB w="9525">
                      <a:solidFill>
                        <a:srgbClr val="D8C7A2"/>
                      </a:solidFill>
                    </a:lnB>
                    <a:solidFill>
                      <a:srgbClr val="EFE2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D2B1B"/>
                          </a:solidFill>
                          <a:latin typeface="Noto Serif"/>
                          <a:ea typeface="Noto Serif"/>
                          <a:cs typeface="Noto Serif"/>
                        </a:rPr>
                        <a:t>Thờ Thiên Hậu, sinh hoạt cộng đồng người Hoa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8C7A2"/>
                      </a:solidFill>
                    </a:lnL>
                    <a:lnR w="9525">
                      <a:solidFill>
                        <a:srgbClr val="D8C7A2"/>
                      </a:solidFill>
                    </a:lnR>
                    <a:lnT w="9525">
                      <a:solidFill>
                        <a:srgbClr val="D8C7A2"/>
                      </a:solidFill>
                    </a:lnT>
                    <a:lnB w="9525">
                      <a:solidFill>
                        <a:srgbClr val="D8C7A2"/>
                      </a:solidFill>
                    </a:lnB>
                    <a:solidFill>
                      <a:srgbClr val="EFE2C6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3D2B1B"/>
                          </a:solidFill>
                          <a:latin typeface="Noto Serif"/>
                          <a:ea typeface="Noto Serif"/>
                          <a:cs typeface="Noto Serif"/>
                        </a:rPr>
                        <a:t>Nhà cổ Tấn Ký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8C7A2"/>
                      </a:solidFill>
                    </a:lnL>
                    <a:lnR w="9525">
                      <a:solidFill>
                        <a:srgbClr val="D8C7A2"/>
                      </a:solidFill>
                    </a:lnR>
                    <a:lnT w="9525">
                      <a:solidFill>
                        <a:srgbClr val="D8C7A2"/>
                      </a:solidFill>
                    </a:lnT>
                    <a:lnB w="9525">
                      <a:solidFill>
                        <a:srgbClr val="D8C7A2"/>
                      </a:solidFill>
                    </a:lnB>
                    <a:solidFill>
                      <a:srgbClr val="F7F0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D2B1B"/>
                          </a:solidFill>
                          <a:latin typeface="Noto Serif"/>
                          <a:ea typeface="Noto Serif"/>
                          <a:cs typeface="Noto Serif"/>
                        </a:rPr>
                        <a:t>TK XVIII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8C7A2"/>
                      </a:solidFill>
                    </a:lnL>
                    <a:lnR w="9525">
                      <a:solidFill>
                        <a:srgbClr val="D8C7A2"/>
                      </a:solidFill>
                    </a:lnR>
                    <a:lnT w="9525">
                      <a:solidFill>
                        <a:srgbClr val="D8C7A2"/>
                      </a:solidFill>
                    </a:lnT>
                    <a:lnB w="9525">
                      <a:solidFill>
                        <a:srgbClr val="D8C7A2"/>
                      </a:solidFill>
                    </a:lnB>
                    <a:solidFill>
                      <a:srgbClr val="F7F0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D2B1B"/>
                          </a:solidFill>
                          <a:latin typeface="Noto Serif"/>
                          <a:ea typeface="Noto Serif"/>
                          <a:cs typeface="Noto Serif"/>
                        </a:rPr>
                        <a:t>Nhà gỗ kết hợp phong cách Việt – Hoa – Nhật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8C7A2"/>
                      </a:solidFill>
                    </a:lnL>
                    <a:lnR w="9525">
                      <a:solidFill>
                        <a:srgbClr val="D8C7A2"/>
                      </a:solidFill>
                    </a:lnR>
                    <a:lnT w="9525">
                      <a:solidFill>
                        <a:srgbClr val="D8C7A2"/>
                      </a:solidFill>
                    </a:lnT>
                    <a:lnB w="9525">
                      <a:solidFill>
                        <a:srgbClr val="D8C7A2"/>
                      </a:solidFill>
                    </a:lnB>
                    <a:solidFill>
                      <a:srgbClr val="F7F0DE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3D2B1B"/>
                          </a:solidFill>
                          <a:latin typeface="Noto Serif"/>
                          <a:ea typeface="Noto Serif"/>
                          <a:cs typeface="Noto Serif"/>
                        </a:rPr>
                        <a:t>Hội quán Quảng Đông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8C7A2"/>
                      </a:solidFill>
                    </a:lnL>
                    <a:lnR w="9525">
                      <a:solidFill>
                        <a:srgbClr val="D8C7A2"/>
                      </a:solidFill>
                    </a:lnR>
                    <a:lnT w="9525">
                      <a:solidFill>
                        <a:srgbClr val="D8C7A2"/>
                      </a:solidFill>
                    </a:lnT>
                    <a:lnB w="9525">
                      <a:solidFill>
                        <a:srgbClr val="D8C7A2"/>
                      </a:solidFill>
                    </a:lnB>
                    <a:solidFill>
                      <a:srgbClr val="EFE2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D2B1B"/>
                          </a:solidFill>
                          <a:latin typeface="Noto Serif"/>
                          <a:ea typeface="Noto Serif"/>
                          <a:cs typeface="Noto Serif"/>
                        </a:rPr>
                        <a:t>TK XIX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8C7A2"/>
                      </a:solidFill>
                    </a:lnL>
                    <a:lnR w="9525">
                      <a:solidFill>
                        <a:srgbClr val="D8C7A2"/>
                      </a:solidFill>
                    </a:lnR>
                    <a:lnT w="9525">
                      <a:solidFill>
                        <a:srgbClr val="D8C7A2"/>
                      </a:solidFill>
                    </a:lnT>
                    <a:lnB w="9525">
                      <a:solidFill>
                        <a:srgbClr val="D8C7A2"/>
                      </a:solidFill>
                    </a:lnB>
                    <a:solidFill>
                      <a:srgbClr val="EFE2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D2B1B"/>
                          </a:solidFill>
                          <a:latin typeface="Noto Serif"/>
                          <a:ea typeface="Noto Serif"/>
                          <a:cs typeface="Noto Serif"/>
                        </a:rPr>
                        <a:t>Trên con đường di sản Trần Phú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8C7A2"/>
                      </a:solidFill>
                    </a:lnL>
                    <a:lnR w="9525">
                      <a:solidFill>
                        <a:srgbClr val="D8C7A2"/>
                      </a:solidFill>
                    </a:lnR>
                    <a:lnT w="9525">
                      <a:solidFill>
                        <a:srgbClr val="D8C7A2"/>
                      </a:solidFill>
                    </a:lnT>
                    <a:lnB w="9525">
                      <a:solidFill>
                        <a:srgbClr val="D8C7A2"/>
                      </a:solidFill>
                    </a:lnB>
                    <a:solidFill>
                      <a:srgbClr val="EFE2C6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3D2B1B"/>
                          </a:solidFill>
                          <a:latin typeface="Noto Serif"/>
                          <a:ea typeface="Noto Serif"/>
                          <a:cs typeface="Noto Serif"/>
                        </a:rPr>
                        <a:t>Bảo tàng gốm sứ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8C7A2"/>
                      </a:solidFill>
                    </a:lnL>
                    <a:lnR w="9525">
                      <a:solidFill>
                        <a:srgbClr val="D8C7A2"/>
                      </a:solidFill>
                    </a:lnR>
                    <a:lnT w="9525">
                      <a:solidFill>
                        <a:srgbClr val="D8C7A2"/>
                      </a:solidFill>
                    </a:lnT>
                    <a:lnB w="9525">
                      <a:solidFill>
                        <a:srgbClr val="D8C7A2"/>
                      </a:solidFill>
                    </a:lnB>
                    <a:solidFill>
                      <a:srgbClr val="F7F0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D2B1B"/>
                          </a:solidFill>
                          <a:latin typeface="Noto Serif"/>
                          <a:ea typeface="Noto Serif"/>
                          <a:cs typeface="Noto Serif"/>
                        </a:rPr>
                        <a:t>TK XX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8C7A2"/>
                      </a:solidFill>
                    </a:lnL>
                    <a:lnR w="9525">
                      <a:solidFill>
                        <a:srgbClr val="D8C7A2"/>
                      </a:solidFill>
                    </a:lnR>
                    <a:lnT w="9525">
                      <a:solidFill>
                        <a:srgbClr val="D8C7A2"/>
                      </a:solidFill>
                    </a:lnT>
                    <a:lnB w="9525">
                      <a:solidFill>
                        <a:srgbClr val="D8C7A2"/>
                      </a:solidFill>
                    </a:lnB>
                    <a:solidFill>
                      <a:srgbClr val="F7F0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D2B1B"/>
                          </a:solidFill>
                          <a:latin typeface="Noto Serif"/>
                          <a:ea typeface="Noto Serif"/>
                          <a:cs typeface="Noto Serif"/>
                        </a:rPr>
                        <a:t>Hiện vật gốm sứ mậu dịch nhiều quốc gia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8C7A2"/>
                      </a:solidFill>
                    </a:lnL>
                    <a:lnR w="9525">
                      <a:solidFill>
                        <a:srgbClr val="D8C7A2"/>
                      </a:solidFill>
                    </a:lnR>
                    <a:lnT w="9525">
                      <a:solidFill>
                        <a:srgbClr val="D8C7A2"/>
                      </a:solidFill>
                    </a:lnT>
                    <a:lnB w="9525">
                      <a:solidFill>
                        <a:srgbClr val="D8C7A2"/>
                      </a:solidFill>
                    </a:lnB>
                    <a:solidFill>
                      <a:srgbClr val="F7F0DE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3D2B1B"/>
                          </a:solidFill>
                          <a:latin typeface="Noto Serif"/>
                          <a:ea typeface="Noto Serif"/>
                          <a:cs typeface="Noto Serif"/>
                        </a:rPr>
                        <a:t>Chợ Hội An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8C7A2"/>
                      </a:solidFill>
                    </a:lnL>
                    <a:lnR w="9525">
                      <a:solidFill>
                        <a:srgbClr val="D8C7A2"/>
                      </a:solidFill>
                    </a:lnR>
                    <a:lnT w="9525">
                      <a:solidFill>
                        <a:srgbClr val="D8C7A2"/>
                      </a:solidFill>
                    </a:lnT>
                    <a:lnB w="9525">
                      <a:solidFill>
                        <a:srgbClr val="D8C7A2"/>
                      </a:solidFill>
                    </a:lnB>
                    <a:solidFill>
                      <a:srgbClr val="EFE2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D2B1B"/>
                          </a:solidFill>
                          <a:latin typeface="Noto Serif"/>
                          <a:ea typeface="Noto Serif"/>
                          <a:cs typeface="Noto Serif"/>
                        </a:rPr>
                        <a:t>TK XIX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8C7A2"/>
                      </a:solidFill>
                    </a:lnL>
                    <a:lnR w="9525">
                      <a:solidFill>
                        <a:srgbClr val="D8C7A2"/>
                      </a:solidFill>
                    </a:lnR>
                    <a:lnT w="9525">
                      <a:solidFill>
                        <a:srgbClr val="D8C7A2"/>
                      </a:solidFill>
                    </a:lnT>
                    <a:lnB w="9525">
                      <a:solidFill>
                        <a:srgbClr val="D8C7A2"/>
                      </a:solidFill>
                    </a:lnB>
                    <a:solidFill>
                      <a:srgbClr val="EFE2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D2B1B"/>
                          </a:solidFill>
                          <a:latin typeface="Noto Serif"/>
                          <a:ea typeface="Noto Serif"/>
                          <a:cs typeface="Noto Serif"/>
                        </a:rPr>
                        <a:t>Nhịp sống thường ngày của phố cổ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8C7A2"/>
                      </a:solidFill>
                    </a:lnL>
                    <a:lnR w="9525">
                      <a:solidFill>
                        <a:srgbClr val="D8C7A2"/>
                      </a:solidFill>
                    </a:lnR>
                    <a:lnT w="9525">
                      <a:solidFill>
                        <a:srgbClr val="D8C7A2"/>
                      </a:solidFill>
                    </a:lnT>
                    <a:lnB w="9525">
                      <a:solidFill>
                        <a:srgbClr val="D8C7A2"/>
                      </a:solidFill>
                    </a:lnB>
                    <a:solidFill>
                      <a:srgbClr val="EFE2C6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dc6922cb57c7e55e.jpg"/>
          <p:cNvPicPr>
            <a:picLocks noChangeAspect="1"/>
          </p:cNvPicPr>
          <p:nvPr/>
        </p:nvPicPr>
        <p:blipFill>
          <a:blip r:embed="rId3"/>
          <a:srcRect l="13250" r="13250"/>
          <a:stretch>
            <a:fillRect/>
          </a:stretch>
        </p:blipFill>
        <p:spPr>
          <a:xfrm>
            <a:off x="8549640" y="1874520"/>
            <a:ext cx="3001975" cy="3063240"/>
          </a:xfrm>
          <a:prstGeom prst="roundRect">
            <a:avLst>
              <a:gd name="adj" fmla="val 4264"/>
            </a:avLst>
          </a:prstGeom>
          <a:ln w="25400">
            <a:solidFill>
              <a:srgbClr val="FFFFFF"/>
            </a:solidFill>
          </a:ln>
          <a:effectLst>
            <a:outerShdw blurRad="256032" dist="91440" dir="5400000" algn="ctr" rotWithShape="0">
              <a:srgbClr val="000000">
                <a:alpha val="45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8549640" y="5074920"/>
            <a:ext cx="3001975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Bảng có thể thay bằng bất kỳ số liệu nào — giữ nguyên kiểu chữ và màu sắc.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8E7B62"/>
                </a:solidFill>
                <a:latin typeface="Noto Serif Display Light"/>
                <a:ea typeface="Noto Serif Display Light"/>
                <a:cs typeface="Noto Serif Display Light"/>
              </a:rPr>
              <a:t>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7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AD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paper" descr="parchmen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tl"/>
          <p:cNvSpPr txBox="1"/>
          <p:nvPr/>
        </p:nvSpPr>
        <p:spPr>
          <a:xfrm>
            <a:off x="640080" y="5029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/>
            <a:r>
              <a:rPr sz="3000" b="0" i="0" spc="50">
                <a:solidFill>
                  <a:srgbClr val="3D2B1B"/>
                </a:solidFill>
                <a:latin typeface="Noto Serif Display Light"/>
                <a:ea typeface="Noto Serif Display Light"/>
                <a:cs typeface="Noto Serif Display Light"/>
              </a:rPr>
              <a:t>PHÁT TRIỂN DU LỊCH BỀN VỮNG</a:t>
            </a:r>
          </a:p>
        </p:txBody>
      </p:sp>
      <p:sp>
        <p:nvSpPr>
          <p:cNvPr id="4" name="!!sub"/>
          <p:cNvSpPr txBox="1"/>
          <p:nvPr/>
        </p:nvSpPr>
        <p:spPr>
          <a:xfrm>
            <a:off x="640080" y="1069848"/>
            <a:ext cx="10911535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700" b="0" i="0" spc="150">
                <a:solidFill>
                  <a:srgbClr val="C9A15B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PHÂN TÍCH SWOT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18608" cy="2148840"/>
          </a:xfrm>
          <a:prstGeom prst="roundRect">
            <a:avLst>
              <a:gd name="adj" fmla="val 7659"/>
            </a:avLst>
          </a:prstGeom>
          <a:solidFill>
            <a:srgbClr val="0D2136"/>
          </a:solidFill>
          <a:ln>
            <a:noFill/>
          </a:ln>
          <a:effectLst>
            <a:outerShdw blurRad="274320" dist="73152" dir="5400000" algn="ctr" rotWithShape="0">
              <a:srgbClr val="3D2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20"/>
            <a:ext cx="128016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0" b="0" i="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2057400"/>
            <a:ext cx="367268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 spc="50">
                <a:solidFill>
                  <a:srgbClr val="F4E8CE"/>
                </a:solidFill>
                <a:latin typeface="Playfair Display"/>
                <a:ea typeface="Playfair Display"/>
                <a:cs typeface="Playfair Display"/>
              </a:rPr>
              <a:t>ĐIỂM MẠNH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514600"/>
            <a:ext cx="3626968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12000"/>
              </a:lnSpc>
              <a:spcAft>
                <a:spcPts val="300"/>
              </a:spcAft>
              <a:buClr>
                <a:srgbClr val="E2BF7A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Di sản được bảo tồn gần như nguyên vẹn</a:t>
            </a:r>
          </a:p>
          <a:p>
            <a:pPr algn="l" marL="201168" indent="-201168">
              <a:lnSpc>
                <a:spcPct val="112000"/>
              </a:lnSpc>
              <a:spcAft>
                <a:spcPts val="300"/>
              </a:spcAft>
              <a:buClr>
                <a:srgbClr val="E2BF7A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Thương hiệu du lịch quốc tế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8" y="1783080"/>
            <a:ext cx="5318608" cy="2148840"/>
          </a:xfrm>
          <a:prstGeom prst="roundRect">
            <a:avLst>
              <a:gd name="adj" fmla="val 7659"/>
            </a:avLst>
          </a:prstGeom>
          <a:solidFill>
            <a:srgbClr val="FBF5E6"/>
          </a:solidFill>
          <a:ln w="12700">
            <a:solidFill>
              <a:srgbClr val="CDB88F"/>
            </a:solidFill>
          </a:ln>
          <a:effectLst>
            <a:outerShdw blurRad="274320" dist="73152" dir="5400000" algn="ctr" rotWithShape="0">
              <a:srgbClr val="3D2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8" y="1874520"/>
            <a:ext cx="128016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0" b="0" i="0">
                <a:solidFill>
                  <a:srgbClr val="C9A15B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0328" y="2057400"/>
            <a:ext cx="367268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 spc="50">
                <a:solidFill>
                  <a:srgbClr val="3D2B1B"/>
                </a:solidFill>
                <a:latin typeface="Playfair Display"/>
                <a:ea typeface="Playfair Display"/>
                <a:cs typeface="Playfair Display"/>
              </a:rPr>
              <a:t>ĐIỂM YẾU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0328" y="2514600"/>
            <a:ext cx="3626968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12000"/>
              </a:lnSpc>
              <a:spcAft>
                <a:spcPts val="300"/>
              </a:spcAft>
              <a:buClr>
                <a:srgbClr val="C9A15B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Quá tải du khách vào mùa cao điểm</a:t>
            </a:r>
          </a:p>
          <a:p>
            <a:pPr algn="l" marL="201168" indent="-201168">
              <a:lnSpc>
                <a:spcPct val="112000"/>
              </a:lnSpc>
              <a:spcAft>
                <a:spcPts val="300"/>
              </a:spcAft>
              <a:buClr>
                <a:srgbClr val="C9A15B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Ngập lụt hằng năm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06240"/>
            <a:ext cx="5318608" cy="2148840"/>
          </a:xfrm>
          <a:prstGeom prst="roundRect">
            <a:avLst>
              <a:gd name="adj" fmla="val 7659"/>
            </a:avLst>
          </a:prstGeom>
          <a:solidFill>
            <a:srgbClr val="FBF5E6"/>
          </a:solidFill>
          <a:ln w="12700">
            <a:solidFill>
              <a:srgbClr val="CDB88F"/>
            </a:solidFill>
          </a:ln>
          <a:effectLst>
            <a:outerShdw blurRad="274320" dist="73152" dir="5400000" algn="ctr" rotWithShape="0">
              <a:srgbClr val="3D2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97680"/>
            <a:ext cx="128016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0" b="0" i="0">
                <a:solidFill>
                  <a:srgbClr val="C9A15B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480560"/>
            <a:ext cx="367268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 spc="50">
                <a:solidFill>
                  <a:srgbClr val="3D2B1B"/>
                </a:solidFill>
                <a:latin typeface="Playfair Display"/>
                <a:ea typeface="Playfair Display"/>
                <a:cs typeface="Playfair Display"/>
              </a:rPr>
              <a:t>CƠ HỘI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937760"/>
            <a:ext cx="3626968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12000"/>
              </a:lnSpc>
              <a:spcAft>
                <a:spcPts val="300"/>
              </a:spcAft>
              <a:buClr>
                <a:srgbClr val="C9A15B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Du lịch trải nghiệm, du lịch xanh</a:t>
            </a:r>
          </a:p>
          <a:p>
            <a:pPr algn="l" marL="201168" indent="-201168">
              <a:lnSpc>
                <a:spcPct val="112000"/>
              </a:lnSpc>
              <a:spcAft>
                <a:spcPts val="300"/>
              </a:spcAft>
              <a:buClr>
                <a:srgbClr val="C9A15B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Chuyển đổi số trong quảng bá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8" y="4206240"/>
            <a:ext cx="5318608" cy="2148840"/>
          </a:xfrm>
          <a:prstGeom prst="roundRect">
            <a:avLst>
              <a:gd name="adj" fmla="val 7659"/>
            </a:avLst>
          </a:prstGeom>
          <a:solidFill>
            <a:srgbClr val="0D2136"/>
          </a:solidFill>
          <a:ln>
            <a:noFill/>
          </a:ln>
          <a:effectLst>
            <a:outerShdw blurRad="274320" dist="73152" dir="5400000" algn="ctr" rotWithShape="0">
              <a:srgbClr val="3D2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8" y="4297680"/>
            <a:ext cx="128016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0" b="0" i="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0328" y="4480560"/>
            <a:ext cx="367268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i="0" spc="50">
                <a:solidFill>
                  <a:srgbClr val="F4E8CE"/>
                </a:solidFill>
                <a:latin typeface="Playfair Display"/>
                <a:ea typeface="Playfair Display"/>
                <a:cs typeface="Playfair Display"/>
              </a:rPr>
              <a:t>THÁCH THỨC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328" y="4937760"/>
            <a:ext cx="3626968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12000"/>
              </a:lnSpc>
              <a:spcAft>
                <a:spcPts val="300"/>
              </a:spcAft>
              <a:buClr>
                <a:srgbClr val="E2BF7A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Biến đổi khí hậu, xói lở</a:t>
            </a:r>
          </a:p>
          <a:p>
            <a:pPr algn="l" marL="201168" indent="-201168">
              <a:lnSpc>
                <a:spcPct val="112000"/>
              </a:lnSpc>
              <a:spcAft>
                <a:spcPts val="300"/>
              </a:spcAft>
              <a:buClr>
                <a:srgbClr val="E2BF7A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F4E8CE"/>
                </a:solidFill>
                <a:latin typeface="Noto Serif"/>
                <a:ea typeface="Noto Serif"/>
                <a:cs typeface="Noto Serif"/>
              </a:rPr>
              <a:t>Nguy cơ thương mại hóa di sản</a:t>
            </a:r>
          </a:p>
        </p:txBody>
      </p:sp>
      <p:pic>
        <p:nvPicPr>
          <p:cNvPr id="21" name="Picture 20" descr="emblem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592928" y="3566160"/>
            <a:ext cx="1005840" cy="10058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820095" y="64465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8E7B62"/>
                </a:solidFill>
                <a:latin typeface="Noto Serif Display Light"/>
                <a:ea typeface="Noto Serif Display Light"/>
                <a:cs typeface="Noto Serif Display Light"/>
              </a:rPr>
              <a:t>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839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839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839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839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bg_river_nigh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sha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2136">
                  <a:alpha val="77000"/>
                </a:srgbClr>
              </a:gs>
              <a:gs pos="100000">
                <a:srgbClr val="0D2136">
                  <a:alpha val="605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ttl"/>
          <p:cNvSpPr txBox="1"/>
          <p:nvPr/>
        </p:nvSpPr>
        <p:spPr>
          <a:xfrm>
            <a:off x="640080" y="5029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/>
            <a:r>
              <a:rPr sz="3000" b="0" i="0" spc="50">
                <a:solidFill>
                  <a:srgbClr val="F4E8CE"/>
                </a:solidFill>
                <a:latin typeface="Noto Serif Display Light"/>
                <a:ea typeface="Noto Serif Display Light"/>
                <a:cs typeface="Noto Serif Display Light"/>
              </a:rPr>
              <a:t>KẾT LUẬN</a:t>
            </a:r>
          </a:p>
        </p:txBody>
      </p:sp>
      <p:sp>
        <p:nvSpPr>
          <p:cNvPr id="5" name="!!sub"/>
          <p:cNvSpPr txBox="1"/>
          <p:nvPr/>
        </p:nvSpPr>
        <p:spPr>
          <a:xfrm>
            <a:off x="640080" y="1069848"/>
            <a:ext cx="10911535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700" b="0" i="0" spc="15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PHỐ CỔ HỘI 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600200"/>
            <a:ext cx="8168335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0" i="1">
                <a:solidFill>
                  <a:srgbClr val="DDD4BF"/>
                </a:solidFill>
                <a:latin typeface="Noto Serif"/>
                <a:ea typeface="Noto Serif"/>
                <a:cs typeface="Noto Serif"/>
              </a:rPr>
              <a:t>Hội An là bảo tàng sống của kiến trúc và lối sống đô thị cổ — cần được gìn giữ bằng sự chung tay của cả cộng đồng.</a:t>
            </a:r>
          </a:p>
        </p:txBody>
      </p:sp>
      <p:pic>
        <p:nvPicPr>
          <p:cNvPr id="7" name="Picture 6" descr="blur_river_night.jpg"/>
          <p:cNvPicPr>
            <a:picLocks noChangeAspect="1"/>
          </p:cNvPicPr>
          <p:nvPr/>
        </p:nvPicPr>
        <p:blipFill>
          <a:blip r:embed="rId3"/>
          <a:srcRect l="5250" r="66417" t="36667" b="11333"/>
          <a:stretch>
            <a:fillRect/>
          </a:stretch>
        </p:blipFill>
        <p:spPr>
          <a:xfrm>
            <a:off x="640080" y="2514600"/>
            <a:ext cx="3454298" cy="3566160"/>
          </a:xfrm>
          <a:prstGeom prst="roundRect">
            <a:avLst>
              <a:gd name="adj" fmla="val 6617"/>
            </a:avLst>
          </a:prstGeom>
        </p:spPr>
      </p:pic>
      <p:sp>
        <p:nvSpPr>
          <p:cNvPr id="8" name="Rounded Rectangle 7"/>
          <p:cNvSpPr/>
          <p:nvPr/>
        </p:nvSpPr>
        <p:spPr>
          <a:xfrm>
            <a:off x="640080" y="2514600"/>
            <a:ext cx="3454298" cy="3566160"/>
          </a:xfrm>
          <a:prstGeom prst="roundRect">
            <a:avLst>
              <a:gd name="adj" fmla="val 6617"/>
            </a:avLst>
          </a:prstGeom>
          <a:solidFill>
            <a:srgbClr val="0D2136">
              <a:alpha val="40000"/>
            </a:srgbClr>
          </a:solidFill>
          <a:ln w="15875">
            <a:solidFill>
              <a:srgbClr val="FFFFFF">
                <a:alpha val="45000"/>
              </a:srgbClr>
            </a:solidFill>
          </a:ln>
          <a:effectLst>
            <a:outerShdw blurRad="457200" dist="13716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3454298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" b="0" i="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27149" y="3520440"/>
            <a:ext cx="512064" cy="0"/>
          </a:xfrm>
          <a:prstGeom prst="line">
            <a:avLst/>
          </a:prstGeom>
          <a:ln w="11430">
            <a:solidFill>
              <a:srgbClr val="E2BF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 rot="2700000">
            <a:off x="2321509" y="3474720"/>
            <a:ext cx="91440" cy="91440"/>
          </a:xfrm>
          <a:prstGeom prst="rect">
            <a:avLst/>
          </a:prstGeom>
          <a:solidFill>
            <a:srgbClr val="E2B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495245" y="3520440"/>
            <a:ext cx="512064" cy="0"/>
          </a:xfrm>
          <a:prstGeom prst="line">
            <a:avLst/>
          </a:prstGeom>
          <a:ln w="11430">
            <a:solidFill>
              <a:srgbClr val="E2BF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3657600"/>
            <a:ext cx="290565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b="1" i="0">
                <a:solidFill>
                  <a:srgbClr val="F4E8CE"/>
                </a:solidFill>
                <a:latin typeface="Playfair Display"/>
                <a:ea typeface="Playfair Display"/>
                <a:cs typeface="Playfair Display"/>
              </a:rPr>
              <a:t>Giá trị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14800"/>
            <a:ext cx="2814218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D8D0BC"/>
                </a:solidFill>
                <a:latin typeface="Noto Serif"/>
                <a:ea typeface="Noto Serif"/>
                <a:cs typeface="Noto Serif"/>
              </a:rPr>
              <a:t>Minh chứng cho sự giao thoa văn hóa Việt – Hoa – Nhật và phương Tây qua nhiều thế kỷ.</a:t>
            </a:r>
          </a:p>
        </p:txBody>
      </p:sp>
      <p:pic>
        <p:nvPicPr>
          <p:cNvPr id="15" name="Picture 14" descr="blur_river_night.jpg"/>
          <p:cNvPicPr>
            <a:picLocks noChangeAspect="1"/>
          </p:cNvPicPr>
          <p:nvPr/>
        </p:nvPicPr>
        <p:blipFill>
          <a:blip r:embed="rId3"/>
          <a:srcRect l="35833" r="35833" t="36667" b="11333"/>
          <a:stretch>
            <a:fillRect/>
          </a:stretch>
        </p:blipFill>
        <p:spPr>
          <a:xfrm>
            <a:off x="4368698" y="2514600"/>
            <a:ext cx="3454298" cy="3566160"/>
          </a:xfrm>
          <a:prstGeom prst="roundRect">
            <a:avLst>
              <a:gd name="adj" fmla="val 6617"/>
            </a:avLst>
          </a:prstGeom>
        </p:spPr>
      </p:pic>
      <p:sp>
        <p:nvSpPr>
          <p:cNvPr id="16" name="Rounded Rectangle 15"/>
          <p:cNvSpPr/>
          <p:nvPr/>
        </p:nvSpPr>
        <p:spPr>
          <a:xfrm>
            <a:off x="4368698" y="2514600"/>
            <a:ext cx="3454298" cy="3566160"/>
          </a:xfrm>
          <a:prstGeom prst="roundRect">
            <a:avLst>
              <a:gd name="adj" fmla="val 6617"/>
            </a:avLst>
          </a:prstGeom>
          <a:solidFill>
            <a:srgbClr val="0D2136">
              <a:alpha val="40000"/>
            </a:srgbClr>
          </a:solidFill>
          <a:ln w="15875">
            <a:solidFill>
              <a:srgbClr val="FFFFFF">
                <a:alpha val="45000"/>
              </a:srgbClr>
            </a:solidFill>
          </a:ln>
          <a:effectLst>
            <a:outerShdw blurRad="457200" dist="13716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8698" y="2697480"/>
            <a:ext cx="3454298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" b="0" i="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II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55768" y="3520440"/>
            <a:ext cx="512064" cy="0"/>
          </a:xfrm>
          <a:prstGeom prst="line">
            <a:avLst/>
          </a:prstGeom>
          <a:ln w="11430">
            <a:solidFill>
              <a:srgbClr val="E2BF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 rot="2700000">
            <a:off x="6050128" y="3474720"/>
            <a:ext cx="91440" cy="91440"/>
          </a:xfrm>
          <a:prstGeom prst="rect">
            <a:avLst/>
          </a:prstGeom>
          <a:solidFill>
            <a:srgbClr val="E2B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223864" y="3520440"/>
            <a:ext cx="512064" cy="0"/>
          </a:xfrm>
          <a:prstGeom prst="line">
            <a:avLst/>
          </a:prstGeom>
          <a:ln w="11430">
            <a:solidFill>
              <a:srgbClr val="E2BF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43018" y="3657600"/>
            <a:ext cx="290565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b="1" i="0">
                <a:solidFill>
                  <a:srgbClr val="F4E8CE"/>
                </a:solidFill>
                <a:latin typeface="Playfair Display"/>
                <a:ea typeface="Playfair Display"/>
                <a:cs typeface="Playfair Display"/>
              </a:rPr>
              <a:t>Thách thức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8738" y="4114800"/>
            <a:ext cx="2814218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D8D0BC"/>
                </a:solidFill>
                <a:latin typeface="Noto Serif"/>
                <a:ea typeface="Noto Serif"/>
                <a:cs typeface="Noto Serif"/>
              </a:rPr>
              <a:t>Áp lực du lịch, biến đổi khí hậu và nguy cơ thương mại hóa đòi hỏi quản lý chặt chẽ.</a:t>
            </a:r>
          </a:p>
        </p:txBody>
      </p:sp>
      <p:pic>
        <p:nvPicPr>
          <p:cNvPr id="23" name="Picture 22" descr="blur_river_night.jpg"/>
          <p:cNvPicPr>
            <a:picLocks noChangeAspect="1"/>
          </p:cNvPicPr>
          <p:nvPr/>
        </p:nvPicPr>
        <p:blipFill>
          <a:blip r:embed="rId3"/>
          <a:srcRect l="66417" r="5250" t="36667" b="11333"/>
          <a:stretch>
            <a:fillRect/>
          </a:stretch>
        </p:blipFill>
        <p:spPr>
          <a:xfrm>
            <a:off x="8097317" y="2514600"/>
            <a:ext cx="3454298" cy="3566160"/>
          </a:xfrm>
          <a:prstGeom prst="roundRect">
            <a:avLst>
              <a:gd name="adj" fmla="val 6617"/>
            </a:avLst>
          </a:prstGeom>
        </p:spPr>
      </p:pic>
      <p:sp>
        <p:nvSpPr>
          <p:cNvPr id="24" name="Rounded Rectangle 23"/>
          <p:cNvSpPr/>
          <p:nvPr/>
        </p:nvSpPr>
        <p:spPr>
          <a:xfrm>
            <a:off x="8097317" y="2514600"/>
            <a:ext cx="3454298" cy="3566160"/>
          </a:xfrm>
          <a:prstGeom prst="roundRect">
            <a:avLst>
              <a:gd name="adj" fmla="val 6617"/>
            </a:avLst>
          </a:prstGeom>
          <a:solidFill>
            <a:srgbClr val="0D2136">
              <a:alpha val="40000"/>
            </a:srgbClr>
          </a:solidFill>
          <a:ln w="15875">
            <a:solidFill>
              <a:srgbClr val="FFFFFF">
                <a:alpha val="45000"/>
              </a:srgbClr>
            </a:solidFill>
          </a:ln>
          <a:effectLst>
            <a:outerShdw blurRad="457200" dist="13716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7317" y="2697480"/>
            <a:ext cx="3454298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" b="0" i="0">
                <a:solidFill>
                  <a:srgbClr val="E2BF7A"/>
                </a:solidFill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III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84386" y="3520440"/>
            <a:ext cx="512064" cy="0"/>
          </a:xfrm>
          <a:prstGeom prst="line">
            <a:avLst/>
          </a:prstGeom>
          <a:ln w="11430">
            <a:solidFill>
              <a:srgbClr val="E2BF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 rot="2700000">
            <a:off x="9778746" y="3474720"/>
            <a:ext cx="91440" cy="91440"/>
          </a:xfrm>
          <a:prstGeom prst="rect">
            <a:avLst/>
          </a:prstGeom>
          <a:solidFill>
            <a:srgbClr val="E2B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9952482" y="3520440"/>
            <a:ext cx="512064" cy="0"/>
          </a:xfrm>
          <a:prstGeom prst="line">
            <a:avLst/>
          </a:prstGeom>
          <a:ln w="11430">
            <a:solidFill>
              <a:srgbClr val="E2BF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371637" y="3657600"/>
            <a:ext cx="290565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b="1" i="0">
                <a:solidFill>
                  <a:srgbClr val="F4E8CE"/>
                </a:solidFill>
                <a:latin typeface="Playfair Display"/>
                <a:ea typeface="Playfair Display"/>
                <a:cs typeface="Playfair Display"/>
              </a:rPr>
              <a:t>Kiến nghị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7357" y="4114800"/>
            <a:ext cx="2814218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D8D0BC"/>
                </a:solidFill>
                <a:latin typeface="Noto Serif"/>
                <a:ea typeface="Noto Serif"/>
                <a:cs typeface="Noto Serif"/>
              </a:rPr>
              <a:t>Phát triển du lịch bền vững, số hóa di sản và giáo dục cộng đồng về bảo tồn.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44652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FACA0"/>
                </a:solidFill>
                <a:latin typeface="Noto Serif Display Light"/>
                <a:ea typeface="Noto Serif Display Light"/>
                <a:cs typeface="Noto Serif Display Light"/>
              </a:rPr>
              <a:t>22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9" grpId="0" animBg="1"/>
      <p:bldP spid="30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c0f36480d0d659de.jpg"/>
          <p:cNvPicPr>
            <a:picLocks noChangeAspect="1"/>
          </p:cNvPicPr>
          <p:nvPr/>
        </p:nvPicPr>
        <p:blipFill>
          <a:blip r:embed="rId2"/>
          <a:srcRect t="12499" b="12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sha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2136">
                  <a:alpha val="87500"/>
                </a:srgbClr>
              </a:gs>
              <a:gs pos="45000">
                <a:srgbClr val="0D2136">
                  <a:alpha val="18750"/>
                </a:srgbClr>
              </a:gs>
              <a:gs pos="100000">
                <a:srgbClr val="0D2136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t2"/>
          <p:cNvSpPr txBox="1"/>
          <p:nvPr/>
        </p:nvSpPr>
        <p:spPr>
          <a:xfrm>
            <a:off x="914400" y="502920"/>
            <a:ext cx="10362895" cy="14630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/>
            <a:r>
              <a:rPr sz="9600" b="0" i="0">
                <a:solidFill>
                  <a:srgbClr val="F4E8CE"/>
                </a:solidFill>
                <a:effectLst>
                  <a:outerShdw blurRad="109728" dist="45720" dir="5400000" algn="ctr" rotWithShape="0">
                    <a:srgbClr val="1A1206">
                      <a:alpha val="45000"/>
                    </a:srgbClr>
                  </a:outerShdw>
                </a:effectLst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Xin Cảm Ơn</a:t>
            </a:r>
          </a:p>
        </p:txBody>
      </p:sp>
      <p:sp>
        <p:nvSpPr>
          <p:cNvPr id="5" name="!!t1"/>
          <p:cNvSpPr txBox="1"/>
          <p:nvPr/>
        </p:nvSpPr>
        <p:spPr>
          <a:xfrm>
            <a:off x="914400" y="1874520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6400" b="0" i="0">
                <a:solidFill>
                  <a:srgbClr val="F4E8CE"/>
                </a:solidFill>
                <a:effectLst>
                  <a:outerShdw blurRad="109728" dist="45720" dir="5400000" algn="ctr" rotWithShape="0">
                    <a:srgbClr val="1A1206">
                      <a:alpha val="45000"/>
                    </a:srgbClr>
                  </a:outerShdw>
                </a:effectLst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Đã Lắng Nghe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632808" y="5715000"/>
            <a:ext cx="1335024" cy="0"/>
          </a:xfrm>
          <a:prstGeom prst="line">
            <a:avLst/>
          </a:prstGeom>
          <a:ln w="11430">
            <a:solidFill>
              <a:srgbClr val="E2BF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 rot="2700000">
            <a:off x="6050128" y="5669280"/>
            <a:ext cx="91440" cy="91440"/>
          </a:xfrm>
          <a:prstGeom prst="rect">
            <a:avLst/>
          </a:prstGeom>
          <a:solidFill>
            <a:srgbClr val="E2B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223864" y="5715000"/>
            <a:ext cx="1335024" cy="0"/>
          </a:xfrm>
          <a:prstGeom prst="line">
            <a:avLst/>
          </a:prstGeom>
          <a:ln w="11430">
            <a:solidFill>
              <a:srgbClr val="E2BF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28800" y="5870448"/>
            <a:ext cx="8534095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b="0" i="0" spc="300">
                <a:solidFill>
                  <a:srgbClr val="E2BF7A"/>
                </a:solidFill>
                <a:effectLst>
                  <a:outerShdw blurRad="109728" dist="45720" dir="5400000" algn="ctr" rotWithShape="0">
                    <a:srgbClr val="1A1206">
                      <a:alpha val="60000"/>
                    </a:srgbClr>
                  </a:outerShdw>
                </a:effectLst>
                <a:latin typeface="Noto Serif Display ExtraCondensed SemiBold"/>
                <a:ea typeface="Noto Serif Display ExtraCondensed SemiBold"/>
                <a:cs typeface="Noto Serif Display ExtraCondensed SemiBold"/>
              </a:rPr>
              <a:t>PHỐ CỔ HỘI AN · DI SẢN VĂN HÓA THẾ GIỚI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3EAD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paper" descr="parchmen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3D2B1B"/>
                </a:solidFill>
                <a:latin typeface="Noto Serif Display Light"/>
                <a:ea typeface="Noto Serif Display Light"/>
                <a:cs typeface="Noto Serif Display Light"/>
              </a:rPr>
              <a:t>NGUỒN HÌNH ẢNH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1">
                <a:solidFill>
                  <a:srgbClr val="8E7B62"/>
                </a:solidFill>
                <a:latin typeface="Noto Serif"/>
                <a:ea typeface="Noto Serif"/>
                <a:cs typeface="Noto Serif"/>
              </a:rPr>
              <a:t>Slide ẩn — không hiển thị khi trình chiếu. Ảnh: bộ dữ liệu Open Images (Google), giấy phép CC BY 2.0. Bản đồ: Natural Earth (public domain). Icon: Lucide (ISC). Font: Noto Serif Display, Noto Serif, Playfair Display (SIL OFL).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394960" cy="4754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Hoi An, riverside houses — Arian Zwegers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Le pont-pagode japonais à Hoi An — Jean-Pierre Dalbéra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Hoi An: Japanese Bridge by night — @felixtriller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Colorful Lanterns in Hội An, 3/2015 — Khánh Hmoong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Colorful Lanterns in Hội An, 3/2015 — Khánh Hmoong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Hoi An: paper lantern shop — @felixtriller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Đèn lồng Hội An — Nghia Nguyen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Luces y farolillos de Hoi An — pululante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Hoi An 07 — Graham C99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Hoi An - River — tefl Search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Hoi An — Jos Dielis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Le fleuve Thu Bon à Hoi An — Jean-Pierre Dalbéra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Maison de style colonial (Hoi An) — Jean-Pierre Dalbéra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Hoi An, Vietnam — rapidacid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Hội An, 8/2015 — Khánh Hmoong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Hội An, 3/2015 — Khánh Hmoong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houses in Hoi An — ippoippo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Hoi An, Assembly Hall of the Fujian Chinese Co — Arian Zwegers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2010-09-10 10-59-53 Hoi An — pululante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Chinese Assembly Hall, Hoi An — Andrea Schaffer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Salle d'assemblée Trung Hoa (Hoi An) — Jean-Pierre Dalbéra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Old Town, Hoi An — Nam-ho Park (Flickr, CC BY 2.0)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91640"/>
            <a:ext cx="5394960" cy="4754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Hoi An: incense sticks in an assembly hall — @felixtriller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Hoi An — John Fielding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Jour de marché à Hoi An — Jean-Pierre Dalbéra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Hoi an fish market — Loi Nguyen Duc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le marché (Hoi An) — Jean-Pierre Dalbéra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Eating outside in Hoi An (Vietnam 2001) — Paul Arps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Hội An, 8/2015 — Khánh Hmoong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Hội An, 8/2015 — Khánh Hmoong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Viet Nam, Quảng Nam, Hội An -  dusk — garycycles8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Hoi An — Matthias Ripp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Hoi An — Jos Dielis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Viet Nam, Quảng Nam, Hội An - souvenirs — garycycles8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Hoi An Flotilla — Ian @ ThePaperboy.com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Dish, Enameled Ware, Reed and Crane DesignLe d — manhhai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In an Museum of Hoi An — Armando Nguyen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Banh Xeo: Vietnamese Pan Cake — squidish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Fresh spring rolls from ...Hum, Saigon — Jeremy Weate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My #foodporn series. | Vietnamese roasted chic — Felix Chia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Last breakfast in Hoi An: pho and ca phe sua d — kaythaney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Dish, Design of Peony and Scroll in Underglaze — manhhai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C4632"/>
                </a:solidFill>
                <a:latin typeface="Noto Serif"/>
                <a:ea typeface="Noto Serif"/>
                <a:cs typeface="Noto Serif"/>
              </a:rPr>
              <a:t>• #Beef banh mi from Sawleaf at #Anaheim Packing — L.A. Foodie (Flickr, CC BY 2.0)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