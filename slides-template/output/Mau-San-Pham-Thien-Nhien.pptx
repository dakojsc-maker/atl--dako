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Canh tác thông thường</c:v>
                </c:pt>
              </c:strCache>
            </c:strRef>
          </c:tx>
          <c:spPr>
            <a:solidFill>
              <a:srgbClr val="2E8B3A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Vụ 1</c:v>
                </c:pt>
                <c:pt idx="1">
                  <c:v>Vụ 2</c:v>
                </c:pt>
                <c:pt idx="2">
                  <c:v>Vụ 3</c:v>
                </c:pt>
                <c:pt idx="3">
                  <c:v>Vụ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</c:v>
                </c:pt>
                <c:pt idx="1">
                  <c:v>57</c:v>
                </c:pt>
                <c:pt idx="2">
                  <c:v>56</c:v>
                </c:pt>
                <c:pt idx="3">
                  <c:v>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Dùng giải pháp Á Châu</c:v>
                </c:pt>
              </c:strCache>
            </c:strRef>
          </c:tx>
          <c:spPr>
            <a:solidFill>
              <a:srgbClr val="A8D26B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Vụ 1</c:v>
                </c:pt>
                <c:pt idx="1">
                  <c:v>Vụ 2</c:v>
                </c:pt>
                <c:pt idx="2">
                  <c:v>Vụ 3</c:v>
                </c:pt>
                <c:pt idx="3">
                  <c:v>Vụ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60</c:v>
                </c:pt>
                <c:pt idx="1">
                  <c:v>63</c:v>
                </c:pt>
                <c:pt idx="2">
                  <c:v>65</c:v>
                </c:pt>
                <c:pt idx="3">
                  <c:v>67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50" b="1">
                  <a:solidFill>
                    <a:srgbClr val="3B2A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DDE5D6"/>
            </a:solidFill>
          </a:ln>
        </c:spPr>
        <c:txPr>
          <a:bodyPr/>
          <a:lstStyle/>
          <a:p>
            <a:pPr>
              <a:defRPr sz="1050">
                <a:solidFill>
                  <a:srgbClr val="9A8F86"/>
                </a:solidFill>
                <a:latin typeface="Nunito Sa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 w="7620">
              <a:solidFill>
                <a:srgbClr val="DDE5D6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9A8F86"/>
                </a:solidFill>
                <a:latin typeface="Nunito Sans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50">
              <a:solidFill>
                <a:srgbClr val="9A8F86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050">
          <a:solidFill>
            <a:srgbClr val="9A8F86"/>
          </a:solidFill>
          <a:latin typeface="Nunito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Nội dung, thông số và số liệu là MINH HỌA — thay bằng hồ sơ và nhãn sản phẩm đã đăng ký của doanh nghiệp.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8.png"/><Relationship Id="rId8" Type="http://schemas.openxmlformats.org/officeDocument/2006/relationships/image" Target="../media/image21.png"/><Relationship Id="rId9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8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8.png"/><Relationship Id="rId14" Type="http://schemas.openxmlformats.org/officeDocument/2006/relationships/image" Target="../media/image9.png"/><Relationship Id="rId15" Type="http://schemas.openxmlformats.org/officeDocument/2006/relationships/image" Target="../media/image10.png"/><Relationship Id="rId16" Type="http://schemas.openxmlformats.org/officeDocument/2006/relationships/image" Target="../media/image21.png"/><Relationship Id="rId17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30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5.png"/><Relationship Id="rId13" Type="http://schemas.openxmlformats.org/officeDocument/2006/relationships/image" Target="../media/image9.png"/><Relationship Id="rId14" Type="http://schemas.openxmlformats.org/officeDocument/2006/relationships/image" Target="../media/image8.png"/><Relationship Id="rId15" Type="http://schemas.openxmlformats.org/officeDocument/2006/relationships/image" Target="../media/image10.png"/><Relationship Id="rId16" Type="http://schemas.openxmlformats.org/officeDocument/2006/relationships/image" Target="../media/image21.png"/><Relationship Id="rId17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24.png"/><Relationship Id="rId10" Type="http://schemas.openxmlformats.org/officeDocument/2006/relationships/image" Target="../media/image27.png"/><Relationship Id="rId11" Type="http://schemas.openxmlformats.org/officeDocument/2006/relationships/image" Target="../media/image30.png"/><Relationship Id="rId12" Type="http://schemas.openxmlformats.org/officeDocument/2006/relationships/image" Target="../media/image25.png"/><Relationship Id="rId13" Type="http://schemas.openxmlformats.org/officeDocument/2006/relationships/image" Target="../media/image10.png"/><Relationship Id="rId14" Type="http://schemas.openxmlformats.org/officeDocument/2006/relationships/image" Target="../media/image8.png"/><Relationship Id="rId15" Type="http://schemas.openxmlformats.org/officeDocument/2006/relationships/image" Target="../media/image9.png"/><Relationship Id="rId16" Type="http://schemas.openxmlformats.org/officeDocument/2006/relationships/image" Target="../media/image21.png"/><Relationship Id="rId17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26.png"/><Relationship Id="rId10" Type="http://schemas.openxmlformats.org/officeDocument/2006/relationships/image" Target="../media/image25.png"/><Relationship Id="rId11" Type="http://schemas.openxmlformats.org/officeDocument/2006/relationships/image" Target="../media/image30.png"/><Relationship Id="rId12" Type="http://schemas.openxmlformats.org/officeDocument/2006/relationships/image" Target="../media/image24.png"/><Relationship Id="rId13" Type="http://schemas.openxmlformats.org/officeDocument/2006/relationships/image" Target="../media/image21.png"/><Relationship Id="rId14" Type="http://schemas.openxmlformats.org/officeDocument/2006/relationships/image" Target="../media/image8.png"/><Relationship Id="rId15" Type="http://schemas.openxmlformats.org/officeDocument/2006/relationships/image" Target="../media/image9.png"/><Relationship Id="rId16" Type="http://schemas.openxmlformats.org/officeDocument/2006/relationships/image" Target="../media/image10.png"/><Relationship Id="rId17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30.png"/><Relationship Id="rId10" Type="http://schemas.openxmlformats.org/officeDocument/2006/relationships/image" Target="../media/image27.png"/><Relationship Id="rId11" Type="http://schemas.openxmlformats.org/officeDocument/2006/relationships/image" Target="../media/image24.png"/><Relationship Id="rId12" Type="http://schemas.openxmlformats.org/officeDocument/2006/relationships/image" Target="../media/image26.png"/><Relationship Id="rId13" Type="http://schemas.openxmlformats.org/officeDocument/2006/relationships/image" Target="../media/image28.png"/><Relationship Id="rId14" Type="http://schemas.openxmlformats.org/officeDocument/2006/relationships/image" Target="../media/image8.png"/><Relationship Id="rId15" Type="http://schemas.openxmlformats.org/officeDocument/2006/relationships/image" Target="../media/image9.png"/><Relationship Id="rId16" Type="http://schemas.openxmlformats.org/officeDocument/2006/relationships/image" Target="../media/image10.png"/><Relationship Id="rId17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21.png"/><Relationship Id="rId11" Type="http://schemas.openxmlformats.org/officeDocument/2006/relationships/image" Target="../media/image34.png"/><Relationship Id="rId12" Type="http://schemas.openxmlformats.org/officeDocument/2006/relationships/image" Target="../media/image35.png"/><Relationship Id="rId13" Type="http://schemas.openxmlformats.org/officeDocument/2006/relationships/image" Target="../media/image36.png"/><Relationship Id="rId14" Type="http://schemas.openxmlformats.org/officeDocument/2006/relationships/image" Target="../media/image37.png"/><Relationship Id="rId15" Type="http://schemas.openxmlformats.org/officeDocument/2006/relationships/image" Target="../media/image38.png"/><Relationship Id="rId16" Type="http://schemas.openxmlformats.org/officeDocument/2006/relationships/image" Target="../media/image39.png"/><Relationship Id="rId17" Type="http://schemas.openxmlformats.org/officeDocument/2006/relationships/image" Target="../media/image40.png"/><Relationship Id="rId18" Type="http://schemas.openxmlformats.org/officeDocument/2006/relationships/image" Target="../media/image41.png"/><Relationship Id="rId19" Type="http://schemas.openxmlformats.org/officeDocument/2006/relationships/image" Target="../media/image42.png"/><Relationship Id="rId20" Type="http://schemas.openxmlformats.org/officeDocument/2006/relationships/image" Target="../media/image43.png"/><Relationship Id="rId21" Type="http://schemas.openxmlformats.org/officeDocument/2006/relationships/image" Target="../media/image44.png"/><Relationship Id="rId22" Type="http://schemas.openxmlformats.org/officeDocument/2006/relationships/image" Target="../media/image4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46.png"/><Relationship Id="rId8" Type="http://schemas.openxmlformats.org/officeDocument/2006/relationships/image" Target="../media/image8.png"/><Relationship Id="rId9" Type="http://schemas.openxmlformats.org/officeDocument/2006/relationships/image" Target="../media/image47.png"/><Relationship Id="rId10" Type="http://schemas.openxmlformats.org/officeDocument/2006/relationships/image" Target="../media/image48.png"/><Relationship Id="rId11" Type="http://schemas.openxmlformats.org/officeDocument/2006/relationships/image" Target="../media/image49.png"/><Relationship Id="rId12" Type="http://schemas.openxmlformats.org/officeDocument/2006/relationships/image" Target="../media/image5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8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chart" Target="../charts/chart1.xml"/><Relationship Id="rId8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2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21.png"/><Relationship Id="rId8" Type="http://schemas.openxmlformats.org/officeDocument/2006/relationships/image" Target="../media/image9.png"/><Relationship Id="rId9" Type="http://schemas.openxmlformats.org/officeDocument/2006/relationships/image" Target="../media/image8.png"/><Relationship Id="rId10" Type="http://schemas.openxmlformats.org/officeDocument/2006/relationships/image" Target="../media/image10.png"/><Relationship Id="rId11" Type="http://schemas.openxmlformats.org/officeDocument/2006/relationships/image" Target="../media/image28.png"/><Relationship Id="rId12" Type="http://schemas.openxmlformats.org/officeDocument/2006/relationships/image" Target="../media/image2.png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31f3b4b392b5cdf2.jpg"/>
          <p:cNvPicPr>
            <a:picLocks noChangeAspect="1"/>
          </p:cNvPicPr>
          <p:nvPr/>
        </p:nvPicPr>
        <p:blipFill>
          <a:blip r:embed="rId2"/>
          <a:srcRect t="1566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ord"/>
          <p:cNvSpPr txBox="1"/>
          <p:nvPr/>
        </p:nvSpPr>
        <p:spPr>
          <a:xfrm>
            <a:off x="274320" y="1051560"/>
            <a:ext cx="11643055" cy="266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20000" b="1" i="0">
                <a:gradFill rotWithShape="1">
                  <a:gsLst>
                    <a:gs pos="0">
                      <a:srgbClr val="FFFFFF"/>
                    </a:gs>
                    <a:gs pos="60000">
                      <a:srgbClr val="F1F2F2"/>
                    </a:gs>
                    <a:gs pos="100000">
                      <a:srgbClr val="C9CDD0"/>
                    </a:gs>
                  </a:gsLst>
                  <a:lin ang="5400000" scaled="0"/>
                </a:gradFill>
                <a:effectLst>
                  <a:outerShdw blurRad="0" dist="82296" dir="2700000" algn="ctr" rotWithShape="0">
                    <a:srgbClr val="A9AEB2"/>
                  </a:outerShdw>
                </a:effectLst>
                <a:latin typeface="Oswald"/>
                <a:ea typeface="Oswald"/>
                <a:cs typeface="Oswald"/>
              </a:rPr>
              <a:t>HỮU CƠ</a:t>
            </a:r>
          </a:p>
        </p:txBody>
      </p:sp>
      <p:pic>
        <p:nvPicPr>
          <p:cNvPr id="4" name="!!d0" descr="leaf_a.png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 rot="748224">
            <a:off x="467562" y="391955"/>
            <a:ext cx="614452" cy="313371"/>
          </a:xfrm>
          <a:prstGeom prst="rect">
            <a:avLst/>
          </a:prstGeom>
        </p:spPr>
      </p:pic>
      <p:pic>
        <p:nvPicPr>
          <p:cNvPr id="5" name="!!d1" descr="leaf_b.png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 rot="2429777">
            <a:off x="10913684" y="449198"/>
            <a:ext cx="418704" cy="198885"/>
          </a:xfrm>
          <a:prstGeom prst="rect">
            <a:avLst/>
          </a:prstGeom>
        </p:spPr>
      </p:pic>
      <p:pic>
        <p:nvPicPr>
          <p:cNvPr id="6" name="!!d2" descr="pellet_blur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 rot="21385897">
            <a:off x="340907" y="3909735"/>
            <a:ext cx="957731" cy="623489"/>
          </a:xfrm>
          <a:prstGeom prst="rect">
            <a:avLst/>
          </a:prstGeom>
        </p:spPr>
      </p:pic>
      <p:pic>
        <p:nvPicPr>
          <p:cNvPr id="7" name="!!d3" descr="leaf_c_blur.png"/>
          <p:cNvPicPr>
            <a:picLocks noChangeAspect="1"/>
          </p:cNvPicPr>
          <p:nvPr/>
        </p:nvPicPr>
        <p:blipFill>
          <a:blip r:embed="rId6"/>
          <a:srcRect l="0" r="0"/>
          <a:stretch>
            <a:fillRect/>
          </a:stretch>
        </p:blipFill>
        <p:spPr>
          <a:xfrm rot="19084438">
            <a:off x="11223742" y="4020884"/>
            <a:ext cx="762098" cy="401193"/>
          </a:xfrm>
          <a:prstGeom prst="rect">
            <a:avLst/>
          </a:prstGeom>
        </p:spPr>
      </p:pic>
      <p:pic>
        <p:nvPicPr>
          <p:cNvPr id="8" name="!!d4" descr="leaf_a_blur.png"/>
          <p:cNvPicPr>
            <a:picLocks noChangeAspect="1"/>
          </p:cNvPicPr>
          <p:nvPr/>
        </p:nvPicPr>
        <p:blipFill>
          <a:blip r:embed="rId7"/>
          <a:srcRect l="0" r="0"/>
          <a:stretch>
            <a:fillRect/>
          </a:stretch>
        </p:blipFill>
        <p:spPr>
          <a:xfrm rot="1737013">
            <a:off x="1260249" y="5435190"/>
            <a:ext cx="698518" cy="396955"/>
          </a:xfrm>
          <a:prstGeom prst="rect">
            <a:avLst/>
          </a:prstGeom>
        </p:spPr>
      </p:pic>
      <p:pic>
        <p:nvPicPr>
          <p:cNvPr id="9" name="!!d5" descr="leaf_b_blur.png"/>
          <p:cNvPicPr>
            <a:picLocks noChangeAspect="1"/>
          </p:cNvPicPr>
          <p:nvPr/>
        </p:nvPicPr>
        <p:blipFill>
          <a:blip r:embed="rId8"/>
          <a:srcRect t="0" b="0"/>
          <a:stretch>
            <a:fillRect/>
          </a:stretch>
        </p:blipFill>
        <p:spPr>
          <a:xfrm rot="655917">
            <a:off x="10813749" y="326279"/>
            <a:ext cx="827475" cy="444722"/>
          </a:xfrm>
          <a:prstGeom prst="rect">
            <a:avLst/>
          </a:prstGeom>
        </p:spPr>
      </p:pic>
      <p:pic>
        <p:nvPicPr>
          <p:cNvPr id="10" name="!!p_phan_bon" descr="prod_phan_bon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 rot="21360000">
            <a:off x="4741304" y="1691640"/>
            <a:ext cx="2709086" cy="4480560"/>
          </a:xfrm>
          <a:prstGeom prst="rect">
            <a:avLst/>
          </a:prstGeom>
        </p:spPr>
      </p:pic>
      <p:pic>
        <p:nvPicPr>
          <p:cNvPr id="11" name="!!p_xu_ly" descr="prod_xu_ly.png"/>
          <p:cNvPicPr>
            <a:picLocks noChangeAspect="1"/>
          </p:cNvPicPr>
          <p:nvPr/>
        </p:nvPicPr>
        <p:blipFill>
          <a:blip r:embed="rId10"/>
          <a:srcRect l="0" r="0"/>
          <a:stretch>
            <a:fillRect/>
          </a:stretch>
        </p:blipFill>
        <p:spPr>
          <a:xfrm rot="21000000">
            <a:off x="2440165" y="3108960"/>
            <a:ext cx="1824966" cy="2926080"/>
          </a:xfrm>
          <a:prstGeom prst="rect">
            <a:avLst/>
          </a:prstGeom>
        </p:spPr>
      </p:pic>
      <p:pic>
        <p:nvPicPr>
          <p:cNvPr id="12" name="!!p_tru_sau" descr="prod_tru_sau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 rot="480000">
            <a:off x="7735043" y="3291840"/>
            <a:ext cx="2390890" cy="2743200"/>
          </a:xfrm>
          <a:prstGeom prst="rect">
            <a:avLst/>
          </a:prstGeom>
        </p:spPr>
      </p:pic>
      <p:sp>
        <p:nvSpPr>
          <p:cNvPr id="13" name="!!word_script"/>
          <p:cNvSpPr txBox="1"/>
          <p:nvPr/>
        </p:nvSpPr>
        <p:spPr>
          <a:xfrm>
            <a:off x="6644488" y="2880360"/>
            <a:ext cx="5272888" cy="1524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0" b="0" i="0">
                <a:solidFill>
                  <a:srgbClr val="1E6B30"/>
                </a:solidFill>
                <a:effectLst>
                  <a:glow rad="101600">
                    <a:srgbClr val="FFFFFF">
                      <a:alpha val="85000"/>
                    </a:srgbClr>
                  </a:glow>
                </a:effectLst>
                <a:latin typeface="Great Vibes"/>
                <a:ea typeface="Great Vibes"/>
                <a:cs typeface="Great Vibes"/>
              </a:rPr>
              <a:t>Á Châu</a:t>
            </a:r>
          </a:p>
        </p:txBody>
      </p:sp>
      <p:sp>
        <p:nvSpPr>
          <p:cNvPr id="14" name="!!kicker"/>
          <p:cNvSpPr/>
          <p:nvPr/>
        </p:nvSpPr>
        <p:spPr>
          <a:xfrm>
            <a:off x="548640" y="411480"/>
            <a:ext cx="2462510" cy="329184"/>
          </a:xfrm>
          <a:prstGeom prst="roundRect">
            <a:avLst>
              <a:gd name="adj" fmla="val 50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0" i="0" spc="200">
                <a:solidFill>
                  <a:srgbClr val="FFFFFF"/>
                </a:solidFill>
                <a:latin typeface="Nunito Sans SemiBold"/>
                <a:ea typeface="Nunito Sans SemiBold"/>
                <a:cs typeface="Nunito Sans SemiBold"/>
              </a:rPr>
              <a:t>GIỚI THIỆU SẢN PHẨM</a:t>
            </a:r>
          </a:p>
        </p:txBody>
      </p:sp>
      <p:sp>
        <p:nvSpPr>
          <p:cNvPr id="15" name="!!nav_brand"/>
          <p:cNvSpPr txBox="1"/>
          <p:nvPr/>
        </p:nvSpPr>
        <p:spPr>
          <a:xfrm>
            <a:off x="7985455" y="38404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400" b="1" i="0" spc="15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807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effectLst>
                  <a:outerShdw blurRad="91440" dist="27432" dir="5400000" algn="ctr" rotWithShape="0">
                    <a:srgbClr val="000000">
                      <a:alpha val="75000"/>
                    </a:srgbClr>
                  </a:outerShdw>
                </a:effectLst>
                <a:latin typeface="Nunito Sans SemiBold"/>
                <a:ea typeface="Nunito Sans SemiBold"/>
                <a:cs typeface="Nunito Sans SemiBold"/>
              </a:rPr>
              <a:t>Công ty CP Công nghệ Môi trường Nông nghiệp Á Châu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h_title"/>
          <p:cNvSpPr txBox="1"/>
          <p:nvPr/>
        </p:nvSpPr>
        <p:spPr>
          <a:xfrm>
            <a:off x="548640" y="91440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4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GIỚI THIỆU</a:t>
            </a:r>
          </a:p>
        </p:txBody>
      </p:sp>
      <p:sp>
        <p:nvSpPr>
          <p:cNvPr id="4" name="!!h_script"/>
          <p:cNvSpPr txBox="1"/>
          <p:nvPr/>
        </p:nvSpPr>
        <p:spPr>
          <a:xfrm>
            <a:off x="548640" y="129844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2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Về chúng tôi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240280"/>
            <a:ext cx="8534095" cy="164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3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Công ty CP Công nghệ Môi trường Nông nghiệp Á Châu</a:t>
            </a:r>
            <a:r>
              <a:rPr sz="13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 nghiên cứu và sản xuất phân bón hữu cơ, chế phẩm vi sinh và thuốc trừ sâu sinh học, hướng tới </a:t>
            </a:r>
            <a:r>
              <a:rPr sz="13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nền nông nghiệp xanh, an toàn và bền vững</a:t>
            </a:r>
            <a:r>
              <a:rPr sz="13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 — “Vì một nền nông nghiệp xanh”.</a:t>
            </a:r>
          </a:p>
        </p:txBody>
      </p:sp>
      <p:pic>
        <p:nvPicPr>
          <p:cNvPr id="6" name="!!strip" descr="1272118b3c317d0a.jpg"/>
          <p:cNvPicPr>
            <a:picLocks noChangeAspect="1"/>
          </p:cNvPicPr>
          <p:nvPr/>
        </p:nvPicPr>
        <p:blipFill>
          <a:blip r:embed="rId3"/>
          <a:srcRect t="40333" b="20333"/>
          <a:stretch>
            <a:fillRect/>
          </a:stretch>
        </p:blipFill>
        <p:spPr>
          <a:xfrm>
            <a:off x="0" y="4160520"/>
            <a:ext cx="12191695" cy="2697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160520"/>
            <a:ext cx="12191695" cy="109728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!!mist" descr="mist.png"/>
          <p:cNvPicPr>
            <a:picLocks noChangeAspect="1"/>
          </p:cNvPicPr>
          <p:nvPr/>
        </p:nvPicPr>
        <p:blipFill>
          <a:blip r:embed="rId4"/>
          <a:srcRect t="28103" b="28103"/>
          <a:stretch>
            <a:fillRect/>
          </a:stretch>
        </p:blipFill>
        <p:spPr>
          <a:xfrm>
            <a:off x="-457200" y="5486400"/>
            <a:ext cx="13106095" cy="1554480"/>
          </a:xfrm>
          <a:prstGeom prst="rect">
            <a:avLst/>
          </a:prstGeom>
        </p:spPr>
      </p:pic>
      <p:pic>
        <p:nvPicPr>
          <p:cNvPr id="9" name="!!d0" descr="leaf_a.png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 rot="19483907">
            <a:off x="1111726" y="3199102"/>
            <a:ext cx="728644" cy="371608"/>
          </a:xfrm>
          <a:prstGeom prst="rect">
            <a:avLst/>
          </a:prstGeom>
        </p:spPr>
      </p:pic>
      <p:pic>
        <p:nvPicPr>
          <p:cNvPr id="10" name="!!d1" descr="leaf_b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 rot="19153653">
            <a:off x="11166892" y="5223147"/>
            <a:ext cx="770001" cy="365751"/>
          </a:xfrm>
          <a:prstGeom prst="rect">
            <a:avLst/>
          </a:prstGeom>
        </p:spPr>
      </p:pic>
      <p:pic>
        <p:nvPicPr>
          <p:cNvPr id="11" name="!!d2" descr="pellet_blur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3260282">
            <a:off x="1095031" y="2688543"/>
            <a:ext cx="548638" cy="357167"/>
          </a:xfrm>
          <a:prstGeom prst="rect">
            <a:avLst/>
          </a:prstGeom>
        </p:spPr>
      </p:pic>
      <p:pic>
        <p:nvPicPr>
          <p:cNvPr id="12" name="!!d3" descr="leaf_c_blur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 rot="742972">
            <a:off x="11529070" y="1184353"/>
            <a:ext cx="883399" cy="4650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99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899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  <p:bldP spid="4" grpId="0" animBg="1"/>
      <p:bldP spid="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3931920" y="603504"/>
            <a:ext cx="623798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A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A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1097280"/>
            <a:ext cx="10545775" cy="1584960"/>
          </a:xfrm>
          <a:prstGeom prst="roundRect">
            <a:avLst>
              <a:gd name="adj" fmla="val 8076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sepia_farmers_field.jpg"/>
          <p:cNvPicPr>
            <a:picLocks noChangeAspect="1"/>
          </p:cNvPicPr>
          <p:nvPr/>
        </p:nvPicPr>
        <p:blipFill>
          <a:blip r:embed="rId7"/>
          <a:srcRect t="29505" b="29505"/>
          <a:stretch>
            <a:fillRect/>
          </a:stretch>
        </p:blipFill>
        <p:spPr>
          <a:xfrm>
            <a:off x="5294239" y="1097280"/>
            <a:ext cx="5800176" cy="1584960"/>
          </a:xfrm>
          <a:prstGeom prst="roundRect">
            <a:avLst>
              <a:gd name="adj" fmla="val 8076"/>
            </a:avLst>
          </a:prstGeom>
        </p:spPr>
      </p:pic>
      <p:sp>
        <p:nvSpPr>
          <p:cNvPr id="15" name="Rounded Rectangle 14"/>
          <p:cNvSpPr/>
          <p:nvPr/>
        </p:nvSpPr>
        <p:spPr>
          <a:xfrm>
            <a:off x="5294239" y="1097280"/>
            <a:ext cx="5800176" cy="1584960"/>
          </a:xfrm>
          <a:prstGeom prst="roundRect">
            <a:avLst>
              <a:gd name="adj" fmla="val 8076"/>
            </a:avLst>
          </a:prstGeom>
          <a:gradFill rotWithShape="1">
            <a:gsLst>
              <a:gs pos="0">
                <a:srgbClr val="FFFFFF"/>
              </a:gs>
              <a:gs pos="45000">
                <a:srgbClr val="FFFFFF">
                  <a:alpha val="40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207008"/>
            <a:ext cx="5483803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0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KHỞI NGUỒN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57909" y="1444752"/>
            <a:ext cx="5483803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câu chuyện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1965960"/>
            <a:ext cx="5392363" cy="624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Từ những cánh đồng bạc màu vì canh tác hóa học kéo dài, Á Châu ra đời với mong muốn </a:t>
            </a:r>
            <a:r>
              <a:rPr sz="11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trả lại sức sống cho đất</a:t>
            </a:r>
            <a:r>
              <a:rPr sz="11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 bằng giải pháp sinh học phù hợp với người nông dân Việt Nam.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2956560"/>
            <a:ext cx="10545775" cy="1584960"/>
          </a:xfrm>
          <a:prstGeom prst="roundRect">
            <a:avLst>
              <a:gd name="adj" fmla="val 8076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sepia_compost_pile.jpg"/>
          <p:cNvPicPr>
            <a:picLocks noChangeAspect="1"/>
          </p:cNvPicPr>
          <p:nvPr/>
        </p:nvPicPr>
        <p:blipFill>
          <a:blip r:embed="rId8"/>
          <a:srcRect t="29505" b="29505"/>
          <a:stretch>
            <a:fillRect/>
          </a:stretch>
        </p:blipFill>
        <p:spPr>
          <a:xfrm>
            <a:off x="1097280" y="2956560"/>
            <a:ext cx="5800176" cy="1584960"/>
          </a:xfrm>
          <a:prstGeom prst="roundRect">
            <a:avLst>
              <a:gd name="adj" fmla="val 8076"/>
            </a:avLst>
          </a:prstGeom>
        </p:spPr>
      </p:pic>
      <p:sp>
        <p:nvSpPr>
          <p:cNvPr id="21" name="Rounded Rectangle 20"/>
          <p:cNvSpPr/>
          <p:nvPr/>
        </p:nvSpPr>
        <p:spPr>
          <a:xfrm>
            <a:off x="1097280" y="2956560"/>
            <a:ext cx="5800176" cy="1584960"/>
          </a:xfrm>
          <a:prstGeom prst="roundRect">
            <a:avLst>
              <a:gd name="adj" fmla="val 8076"/>
            </a:avLst>
          </a:prstGeom>
          <a:gradFill rotWithShape="1">
            <a:gsLst>
              <a:gs pos="0">
                <a:srgbClr val="FFFFFF"/>
              </a:gs>
              <a:gs pos="45000">
                <a:srgbClr val="FFFFFF">
                  <a:alpha val="40000"/>
                </a:srgbClr>
              </a:gs>
              <a:gs pos="100000">
                <a:srgbClr val="FFFFFF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42879" y="3066288"/>
            <a:ext cx="5483803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0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GIÁ TRỊ CỐT LÕI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4667" y="3304032"/>
            <a:ext cx="5483803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bền vững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879" y="3825240"/>
            <a:ext cx="5392363" cy="624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Tuần hoàn</a:t>
            </a:r>
            <a:r>
              <a:rPr sz="11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 phụ phẩm nông nghiệp thành dinh dưỡng cho đất · </a:t>
            </a:r>
            <a:r>
              <a:rPr sz="11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An toàn</a:t>
            </a:r>
            <a:r>
              <a:rPr sz="11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 cho người sản xuất và người tiêu dùng · </a:t>
            </a:r>
            <a:r>
              <a:rPr sz="11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Hiệu quả</a:t>
            </a:r>
            <a:r>
              <a:rPr sz="11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 đo được trên từng vụ mùa.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15840"/>
            <a:ext cx="10545775" cy="1584960"/>
          </a:xfrm>
          <a:prstGeom prst="roundRect">
            <a:avLst>
              <a:gd name="adj" fmla="val 8076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sepia_rice_terrace.jpg"/>
          <p:cNvPicPr>
            <a:picLocks noChangeAspect="1"/>
          </p:cNvPicPr>
          <p:nvPr/>
        </p:nvPicPr>
        <p:blipFill>
          <a:blip r:embed="rId9"/>
          <a:srcRect t="29505" b="29505"/>
          <a:stretch>
            <a:fillRect/>
          </a:stretch>
        </p:blipFill>
        <p:spPr>
          <a:xfrm>
            <a:off x="5294239" y="4815840"/>
            <a:ext cx="5800176" cy="1584960"/>
          </a:xfrm>
          <a:prstGeom prst="roundRect">
            <a:avLst>
              <a:gd name="adj" fmla="val 8076"/>
            </a:avLst>
          </a:prstGeom>
        </p:spPr>
      </p:pic>
      <p:sp>
        <p:nvSpPr>
          <p:cNvPr id="27" name="Rounded Rectangle 26"/>
          <p:cNvSpPr/>
          <p:nvPr/>
        </p:nvSpPr>
        <p:spPr>
          <a:xfrm>
            <a:off x="5294239" y="4815840"/>
            <a:ext cx="5800176" cy="1584960"/>
          </a:xfrm>
          <a:prstGeom prst="roundRect">
            <a:avLst>
              <a:gd name="adj" fmla="val 8076"/>
            </a:avLst>
          </a:prstGeom>
          <a:gradFill rotWithShape="1">
            <a:gsLst>
              <a:gs pos="0">
                <a:srgbClr val="FFFFFF"/>
              </a:gs>
              <a:gs pos="45000">
                <a:srgbClr val="FFFFFF">
                  <a:alpha val="40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925568"/>
            <a:ext cx="5483803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0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ĐỊNH VỊ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7496" y="5163312"/>
            <a:ext cx="5483803" cy="502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thương hiệu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684520"/>
            <a:ext cx="5392363" cy="624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Thương hiệu sinh học </a:t>
            </a:r>
            <a:r>
              <a:rPr sz="11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đồng hành cùng nhà nông</a:t>
            </a:r>
            <a:r>
              <a:rPr sz="11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: sản phẩm rõ nguồn gốc, hướng dẫn kỹ thuật tận ruộng, giá hợp lý cho từng nhóm cây trồng.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5058638" y="603504"/>
            <a:ext cx="654854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A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A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91440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4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DÒNG SẢN PHẨM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548640" y="129844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2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Á Châu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3454298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252" y="3594418"/>
            <a:ext cx="1085632" cy="492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90000"/>
              </a:lnSpc>
            </a:pPr>
            <a:r>
              <a:rPr sz="31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PHÂN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9385" y="3594418"/>
            <a:ext cx="865942" cy="492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1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BÓN</a:t>
            </a:r>
          </a:p>
        </p:txBody>
      </p:sp>
      <p:pic>
        <p:nvPicPr>
          <p:cNvPr id="18" name="!!p_phan_bon" descr="prod_phan_bon.png"/>
          <p:cNvPicPr>
            <a:picLocks noChangeAspect="1"/>
          </p:cNvPicPr>
          <p:nvPr/>
        </p:nvPicPr>
        <p:blipFill>
          <a:blip r:embed="rId7"/>
          <a:srcRect l="0" r="0"/>
          <a:stretch>
            <a:fillRect/>
          </a:stretch>
        </p:blipFill>
        <p:spPr>
          <a:xfrm rot="21360000">
            <a:off x="1818938" y="2903220"/>
            <a:ext cx="1133393" cy="1874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8640" y="5166360"/>
            <a:ext cx="34542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Phân bón hữu cơ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698" y="2651760"/>
            <a:ext cx="3454298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5585" y="3475355"/>
            <a:ext cx="666016" cy="730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90000"/>
              </a:lnSpc>
            </a:pPr>
            <a:r>
              <a:rPr sz="46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VI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006" y="3475355"/>
            <a:ext cx="1343104" cy="730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46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SINH</a:t>
            </a:r>
          </a:p>
        </p:txBody>
      </p:sp>
      <p:pic>
        <p:nvPicPr>
          <p:cNvPr id="23" name="!!p_vi_sinh" descr="prod_vi_sinh.png"/>
          <p:cNvPicPr>
            <a:picLocks noChangeAspect="1"/>
          </p:cNvPicPr>
          <p:nvPr/>
        </p:nvPicPr>
        <p:blipFill>
          <a:blip r:embed="rId8"/>
          <a:srcRect l="0" r="0"/>
          <a:stretch>
            <a:fillRect/>
          </a:stretch>
        </p:blipFill>
        <p:spPr>
          <a:xfrm rot="21360000">
            <a:off x="5414183" y="2903220"/>
            <a:ext cx="686240" cy="1874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68698" y="5166360"/>
            <a:ext cx="34542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Chế phẩm &amp; dịch phẩm vi sinh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8757" y="2651760"/>
            <a:ext cx="3454298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7128" y="3657918"/>
            <a:ext cx="762982" cy="365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90000"/>
              </a:lnSpc>
            </a:pPr>
            <a:r>
              <a:rPr sz="23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SINH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8000" y="3657918"/>
            <a:ext cx="696684" cy="365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23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HỌC</a:t>
            </a:r>
          </a:p>
        </p:txBody>
      </p:sp>
      <p:pic>
        <p:nvPicPr>
          <p:cNvPr id="28" name="!!p_tru_sau" descr="prod_tru_sau.png"/>
          <p:cNvPicPr>
            <a:picLocks noChangeAspect="1"/>
          </p:cNvPicPr>
          <p:nvPr/>
        </p:nvPicPr>
        <p:blipFill>
          <a:blip r:embed="rId9"/>
          <a:srcRect t="0" b="0"/>
          <a:stretch>
            <a:fillRect/>
          </a:stretch>
        </p:blipFill>
        <p:spPr>
          <a:xfrm rot="21360000">
            <a:off x="9132168" y="2903220"/>
            <a:ext cx="1633775" cy="1874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188757" y="5166360"/>
            <a:ext cx="34542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Thuốc trừ sâu sinh học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9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5058638" y="603504"/>
            <a:ext cx="654854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A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A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catw"/>
          <p:cNvSpPr txBox="1"/>
          <p:nvPr/>
        </p:nvSpPr>
        <p:spPr>
          <a:xfrm>
            <a:off x="2063022" y="2103755"/>
            <a:ext cx="8065651" cy="3016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90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HỮU CƠ</a:t>
            </a:r>
          </a:p>
        </p:txBody>
      </p:sp>
      <p:pic>
        <p:nvPicPr>
          <p:cNvPr id="14" name="!!p_phan_bon" descr="prod_phan_bon.png"/>
          <p:cNvPicPr>
            <a:picLocks noChangeAspect="1"/>
          </p:cNvPicPr>
          <p:nvPr/>
        </p:nvPicPr>
        <p:blipFill>
          <a:blip r:embed="rId7"/>
          <a:srcRect l="0" r="0"/>
          <a:stretch>
            <a:fillRect/>
          </a:stretch>
        </p:blipFill>
        <p:spPr>
          <a:xfrm rot="21120000">
            <a:off x="4824236" y="1508760"/>
            <a:ext cx="2543224" cy="4206240"/>
          </a:xfrm>
          <a:prstGeom prst="rect">
            <a:avLst/>
          </a:prstGeom>
        </p:spPr>
      </p:pic>
      <p:sp>
        <p:nvSpPr>
          <p:cNvPr id="15" name="!!cat_script"/>
          <p:cNvSpPr txBox="1"/>
          <p:nvPr/>
        </p:nvSpPr>
        <p:spPr>
          <a:xfrm>
            <a:off x="7696048" y="4343400"/>
            <a:ext cx="4206240" cy="1097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0" b="0" i="0">
                <a:solidFill>
                  <a:srgbClr val="3B2A20"/>
                </a:solidFill>
                <a:effectLst>
                  <a:outerShdw blurRad="73152" dist="0" dir="5400000" algn="ctr" rotWithShape="0">
                    <a:srgbClr val="FFFFFF">
                      <a:alpha val="80000"/>
                    </a:srgbClr>
                  </a:outerShdw>
                </a:effectLst>
                <a:latin typeface="Great Vibes"/>
                <a:ea typeface="Great Vibes"/>
                <a:cs typeface="Great Vibes"/>
              </a:rPr>
              <a:t>Phân bón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Dinh dưỡng từ đất – Sức sống cho cây</a:t>
            </a:r>
          </a:p>
        </p:txBody>
      </p:sp>
      <p:pic>
        <p:nvPicPr>
          <p:cNvPr id="17" name="!!d0" descr="leaf_a.png"/>
          <p:cNvPicPr>
            <a:picLocks noChangeAspect="1"/>
          </p:cNvPicPr>
          <p:nvPr/>
        </p:nvPicPr>
        <p:blipFill>
          <a:blip r:embed="rId8"/>
          <a:srcRect t="0" b="0"/>
          <a:stretch>
            <a:fillRect/>
          </a:stretch>
        </p:blipFill>
        <p:spPr>
          <a:xfrm rot="18476867">
            <a:off x="1214780" y="1406641"/>
            <a:ext cx="808859" cy="412518"/>
          </a:xfrm>
          <a:prstGeom prst="rect">
            <a:avLst/>
          </a:prstGeom>
        </p:spPr>
      </p:pic>
      <p:pic>
        <p:nvPicPr>
          <p:cNvPr id="18" name="!!d1" descr="leaf_b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 rot="19224657">
            <a:off x="10915418" y="1435945"/>
            <a:ext cx="745073" cy="353910"/>
          </a:xfrm>
          <a:prstGeom prst="rect">
            <a:avLst/>
          </a:prstGeom>
        </p:spPr>
      </p:pic>
      <p:pic>
        <p:nvPicPr>
          <p:cNvPr id="19" name="!!d2" descr="pellet_blur.png"/>
          <p:cNvPicPr>
            <a:picLocks noChangeAspect="1"/>
          </p:cNvPicPr>
          <p:nvPr/>
        </p:nvPicPr>
        <p:blipFill>
          <a:blip r:embed="rId10"/>
          <a:srcRect l="0" r="0"/>
          <a:stretch>
            <a:fillRect/>
          </a:stretch>
        </p:blipFill>
        <p:spPr>
          <a:xfrm rot="1631497">
            <a:off x="702863" y="5418082"/>
            <a:ext cx="592245" cy="385556"/>
          </a:xfrm>
          <a:prstGeom prst="rect">
            <a:avLst/>
          </a:prstGeom>
        </p:spPr>
      </p:pic>
      <p:pic>
        <p:nvPicPr>
          <p:cNvPr id="20" name="!!d3" descr="leaf_c_blur.png"/>
          <p:cNvPicPr>
            <a:picLocks noChangeAspect="1"/>
          </p:cNvPicPr>
          <p:nvPr/>
        </p:nvPicPr>
        <p:blipFill>
          <a:blip r:embed="rId11"/>
          <a:srcRect l="0" r="0"/>
          <a:stretch>
            <a:fillRect/>
          </a:stretch>
        </p:blipFill>
        <p:spPr>
          <a:xfrm rot="19607710">
            <a:off x="10408409" y="5926354"/>
            <a:ext cx="731250" cy="38495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59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39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 animBg="1"/>
      <p:bldP spid="16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eeb542fae008dadf.jpg"/>
          <p:cNvPicPr>
            <a:picLocks noChangeAspect="1"/>
          </p:cNvPicPr>
          <p:nvPr/>
        </p:nvPicPr>
        <p:blipFill>
          <a:blip r:embed="rId2"/>
          <a:srcRect t="1578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ash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>
                  <a:alpha val="92000"/>
                </a:srgbClr>
              </a:gs>
              <a:gs pos="16000">
                <a:srgbClr val="FFFFFF">
                  <a:alpha val="55000"/>
                </a:srgbClr>
              </a:gs>
              <a:gs pos="4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mist" descr="mist.png"/>
          <p:cNvPicPr>
            <a:picLocks noChangeAspect="1"/>
          </p:cNvPicPr>
          <p:nvPr/>
        </p:nvPicPr>
        <p:blipFill>
          <a:blip r:embed="rId3"/>
          <a:srcRect t="13935" b="13935"/>
          <a:stretch>
            <a:fillRect/>
          </a:stretch>
        </p:blipFill>
        <p:spPr>
          <a:xfrm>
            <a:off x="-457200" y="4480560"/>
            <a:ext cx="13106095" cy="2560320"/>
          </a:xfrm>
          <a:prstGeom prst="rect">
            <a:avLst/>
          </a:prstGeom>
        </p:spPr>
      </p:pic>
      <p:pic>
        <p:nvPicPr>
          <p:cNvPr id="5" name="!!c_wash" descr="glow_FFFFFF_92_1.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11680" y="2926080"/>
            <a:ext cx="9509760" cy="5120640"/>
          </a:xfrm>
          <a:prstGeom prst="rect">
            <a:avLst/>
          </a:prstGeom>
        </p:spPr>
      </p:pic>
      <p:pic>
        <p:nvPicPr>
          <p:cNvPr id="6" name="!!nav_logo" descr="sprout_2E8B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7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8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9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10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11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12" name="!!nav_ind"/>
          <p:cNvSpPr/>
          <p:nvPr/>
        </p:nvSpPr>
        <p:spPr>
          <a:xfrm>
            <a:off x="5058638" y="603504"/>
            <a:ext cx="654854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!!nav_i0" descr="search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4" name="!!nav_i1" descr="user-round_3B2A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5" name="!!nav_i2" descr="shopping-bag_3B2A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6" name="!!p_xu_ly" descr="prod_xu_ly_blur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 rot="20760000">
            <a:off x="1697159" y="1417320"/>
            <a:ext cx="903363" cy="1417320"/>
          </a:xfrm>
          <a:prstGeom prst="rect">
            <a:avLst/>
          </a:prstGeom>
        </p:spPr>
      </p:pic>
      <p:pic>
        <p:nvPicPr>
          <p:cNvPr id="17" name="!!p_dich_vi_sinh" descr="prod_dich_vi_sinh_blur.png"/>
          <p:cNvPicPr>
            <a:picLocks noChangeAspect="1"/>
          </p:cNvPicPr>
          <p:nvPr/>
        </p:nvPicPr>
        <p:blipFill>
          <a:blip r:embed="rId10"/>
          <a:srcRect t="0" b="0"/>
          <a:stretch>
            <a:fillRect/>
          </a:stretch>
        </p:blipFill>
        <p:spPr>
          <a:xfrm rot="720000">
            <a:off x="9859088" y="2194560"/>
            <a:ext cx="672944" cy="1737360"/>
          </a:xfrm>
          <a:prstGeom prst="rect">
            <a:avLst/>
          </a:prstGeom>
        </p:spPr>
      </p:pic>
      <p:pic>
        <p:nvPicPr>
          <p:cNvPr id="18" name="!!p_tru_sau" descr="prod_tru_sau_blur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 rot="1080000">
            <a:off x="3917002" y="1234440"/>
            <a:ext cx="761356" cy="868680"/>
          </a:xfrm>
          <a:prstGeom prst="rect">
            <a:avLst/>
          </a:prstGeom>
        </p:spPr>
      </p:pic>
      <p:pic>
        <p:nvPicPr>
          <p:cNvPr id="19" name="!!p_vi_sinh" descr="prod_vi_sinh_blur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 rot="20400000">
            <a:off x="11161469" y="1280160"/>
            <a:ext cx="354181" cy="914400"/>
          </a:xfrm>
          <a:prstGeom prst="rect">
            <a:avLst/>
          </a:prstGeom>
        </p:spPr>
      </p:pic>
      <p:pic>
        <p:nvPicPr>
          <p:cNvPr id="20" name="!!p_phan_bon" descr="prod_phan_bon.png"/>
          <p:cNvPicPr>
            <a:picLocks noChangeAspect="1"/>
          </p:cNvPicPr>
          <p:nvPr/>
        </p:nvPicPr>
        <p:blipFill>
          <a:blip r:embed="rId13"/>
          <a:srcRect l="0" r="0"/>
          <a:stretch>
            <a:fillRect/>
          </a:stretch>
        </p:blipFill>
        <p:spPr>
          <a:xfrm rot="21300000">
            <a:off x="5189996" y="1783080"/>
            <a:ext cx="2543224" cy="4206240"/>
          </a:xfrm>
          <a:prstGeom prst="rect">
            <a:avLst/>
          </a:prstGeom>
        </p:spPr>
      </p:pic>
      <p:sp>
        <p:nvSpPr>
          <p:cNvPr id="21" name="!!c_name"/>
          <p:cNvSpPr txBox="1"/>
          <p:nvPr/>
        </p:nvSpPr>
        <p:spPr>
          <a:xfrm>
            <a:off x="548640" y="434340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4400" b="1" i="0">
                <a:solidFill>
                  <a:srgbClr val="1E6B30"/>
                </a:solidFill>
                <a:effectLst>
                  <a:outerShdw blurRad="91440" dist="27432" dir="5400000" algn="ctr" rotWithShape="0">
                    <a:srgbClr val="000000">
                      <a:alpha val="30000"/>
                    </a:srgbClr>
                  </a:outerShdw>
                </a:effectLst>
                <a:latin typeface="Oswald"/>
                <a:ea typeface="Oswald"/>
                <a:cs typeface="Oswald"/>
              </a:rPr>
              <a:t>PHÂN BÓN HỮU CƠ</a:t>
            </a:r>
          </a:p>
        </p:txBody>
      </p:sp>
      <p:sp>
        <p:nvSpPr>
          <p:cNvPr id="22" name="!!c_script"/>
          <p:cNvSpPr txBox="1"/>
          <p:nvPr/>
        </p:nvSpPr>
        <p:spPr>
          <a:xfrm>
            <a:off x="1097280" y="484632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600" b="0" i="0">
                <a:solidFill>
                  <a:srgbClr val="3B2A20"/>
                </a:solidFill>
                <a:effectLst>
                  <a:outerShdw blurRad="91440" dist="27432" dir="5400000" algn="ctr" rotWithShape="0">
                    <a:srgbClr val="FFFFFF">
                      <a:alpha val="30000"/>
                    </a:srgbClr>
                  </a:outerShdw>
                </a:effectLst>
                <a:latin typeface="Great Vibes"/>
                <a:ea typeface="Great Vibes"/>
                <a:cs typeface="Great Vibes"/>
              </a:rPr>
              <a:t>Bao 25 kg</a:t>
            </a:r>
          </a:p>
        </p:txBody>
      </p:sp>
      <p:sp>
        <p:nvSpPr>
          <p:cNvPr id="23" name="!!c_text"/>
          <p:cNvSpPr txBox="1"/>
          <p:nvPr/>
        </p:nvSpPr>
        <p:spPr>
          <a:xfrm>
            <a:off x="548640" y="56235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Bổ sung hữu cơ cho đất; giúp </a:t>
            </a:r>
            <a:r>
              <a:rPr sz="10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đất tơi xốp, rễ phát triển</a:t>
            </a:r>
            <a:r>
              <a:rPr sz="1050" b="0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, cây sinh trưởng khỏe.</a:t>
            </a:r>
          </a:p>
        </p:txBody>
      </p:sp>
      <p:pic>
        <p:nvPicPr>
          <p:cNvPr id="24" name="!!t_0" descr="prod_phan_bon.png"/>
          <p:cNvPicPr>
            <a:picLocks noChangeAspect="1"/>
          </p:cNvPicPr>
          <p:nvPr/>
        </p:nvPicPr>
        <p:blipFill>
          <a:blip r:embed="rId13"/>
          <a:srcRect t="12513" b="12513"/>
          <a:stretch>
            <a:fillRect/>
          </a:stretch>
        </p:blipFill>
        <p:spPr>
          <a:xfrm>
            <a:off x="8918143" y="5788152"/>
            <a:ext cx="457200" cy="566928"/>
          </a:xfrm>
          <a:prstGeom prst="rect">
            <a:avLst/>
          </a:prstGeom>
        </p:spPr>
      </p:pic>
      <p:pic>
        <p:nvPicPr>
          <p:cNvPr id="25" name="!!t_1" descr="prod_xu_ly.png"/>
          <p:cNvPicPr>
            <a:picLocks noChangeAspect="1"/>
          </p:cNvPicPr>
          <p:nvPr/>
        </p:nvPicPr>
        <p:blipFill>
          <a:blip r:embed="rId14"/>
          <a:srcRect t="11331" b="11331"/>
          <a:stretch>
            <a:fillRect/>
          </a:stretch>
        </p:blipFill>
        <p:spPr>
          <a:xfrm>
            <a:off x="9485071" y="5788152"/>
            <a:ext cx="457200" cy="566928"/>
          </a:xfrm>
          <a:prstGeom prst="rect">
            <a:avLst/>
          </a:prstGeom>
        </p:spPr>
      </p:pic>
      <p:pic>
        <p:nvPicPr>
          <p:cNvPr id="26" name="!!t_2" descr="prod_tru_sau.pn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10051999" y="5830509"/>
            <a:ext cx="457200" cy="524571"/>
          </a:xfrm>
          <a:prstGeom prst="rect">
            <a:avLst/>
          </a:prstGeom>
        </p:spPr>
      </p:pic>
      <p:pic>
        <p:nvPicPr>
          <p:cNvPr id="27" name="!!t_3" descr="prod_vi_sinh.png"/>
          <p:cNvPicPr>
            <a:picLocks noChangeAspect="1"/>
          </p:cNvPicPr>
          <p:nvPr/>
        </p:nvPicPr>
        <p:blipFill>
          <a:blip r:embed="rId16"/>
          <a:srcRect t="27303" b="27303"/>
          <a:stretch>
            <a:fillRect/>
          </a:stretch>
        </p:blipFill>
        <p:spPr>
          <a:xfrm>
            <a:off x="10618927" y="5788152"/>
            <a:ext cx="457200" cy="566928"/>
          </a:xfrm>
          <a:prstGeom prst="rect">
            <a:avLst/>
          </a:prstGeom>
        </p:spPr>
      </p:pic>
      <p:pic>
        <p:nvPicPr>
          <p:cNvPr id="28" name="!!t_4" descr="prod_dich_vi_sinh.png"/>
          <p:cNvPicPr>
            <a:picLocks noChangeAspect="1"/>
          </p:cNvPicPr>
          <p:nvPr/>
        </p:nvPicPr>
        <p:blipFill>
          <a:blip r:embed="rId17"/>
          <a:srcRect t="27303" b="27303"/>
          <a:stretch>
            <a:fillRect/>
          </a:stretch>
        </p:blipFill>
        <p:spPr>
          <a:xfrm>
            <a:off x="11185855" y="5788152"/>
            <a:ext cx="457200" cy="566928"/>
          </a:xfrm>
          <a:prstGeom prst="rect">
            <a:avLst/>
          </a:prstGeom>
        </p:spPr>
      </p:pic>
      <p:sp>
        <p:nvSpPr>
          <p:cNvPr id="29" name="!!t_ind"/>
          <p:cNvSpPr/>
          <p:nvPr/>
        </p:nvSpPr>
        <p:spPr>
          <a:xfrm>
            <a:off x="8918143" y="6446520"/>
            <a:ext cx="457200" cy="45720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99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21" grpId="0" animBg="1"/>
      <p:bldP spid="22" grpId="0" animBg="1"/>
      <p:bldP spid="23" grpId="0" animBg="1"/>
      <p:bldP spid="29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4e99bd1bbe3c1cd0.jpg"/>
          <p:cNvPicPr>
            <a:picLocks noChangeAspect="1"/>
          </p:cNvPicPr>
          <p:nvPr/>
        </p:nvPicPr>
        <p:blipFill>
          <a:blip r:embed="rId2"/>
          <a:srcRect t="7832" b="783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ash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>
                  <a:alpha val="92000"/>
                </a:srgbClr>
              </a:gs>
              <a:gs pos="16000">
                <a:srgbClr val="FFFFFF">
                  <a:alpha val="55000"/>
                </a:srgbClr>
              </a:gs>
              <a:gs pos="4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mist" descr="mist.png"/>
          <p:cNvPicPr>
            <a:picLocks noChangeAspect="1"/>
          </p:cNvPicPr>
          <p:nvPr/>
        </p:nvPicPr>
        <p:blipFill>
          <a:blip r:embed="rId3"/>
          <a:srcRect t="13935" b="13935"/>
          <a:stretch>
            <a:fillRect/>
          </a:stretch>
        </p:blipFill>
        <p:spPr>
          <a:xfrm>
            <a:off x="-457200" y="4480560"/>
            <a:ext cx="13106095" cy="2560320"/>
          </a:xfrm>
          <a:prstGeom prst="rect">
            <a:avLst/>
          </a:prstGeom>
        </p:spPr>
      </p:pic>
      <p:pic>
        <p:nvPicPr>
          <p:cNvPr id="5" name="!!c_wash" descr="glow_FFFFFF_92_1.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11680" y="2926080"/>
            <a:ext cx="9509760" cy="5120640"/>
          </a:xfrm>
          <a:prstGeom prst="rect">
            <a:avLst/>
          </a:prstGeom>
        </p:spPr>
      </p:pic>
      <p:pic>
        <p:nvPicPr>
          <p:cNvPr id="6" name="!!nav_logo" descr="sprout_2E8B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7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8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9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10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11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12" name="!!nav_ind"/>
          <p:cNvSpPr/>
          <p:nvPr/>
        </p:nvSpPr>
        <p:spPr>
          <a:xfrm>
            <a:off x="5058638" y="603504"/>
            <a:ext cx="654854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!!nav_i0" descr="search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4" name="!!nav_i1" descr="user-round_3B2A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5" name="!!nav_i2" descr="shopping-bag_3B2A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6" name="!!p_phan_bon" descr="prod_phan_bon_blur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 rot="20760000">
            <a:off x="1711971" y="1417320"/>
            <a:ext cx="873739" cy="1417320"/>
          </a:xfrm>
          <a:prstGeom prst="rect">
            <a:avLst/>
          </a:prstGeom>
        </p:spPr>
      </p:pic>
      <p:pic>
        <p:nvPicPr>
          <p:cNvPr id="17" name="!!p_tru_sau" descr="prod_tru_sau_blur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 rot="720000">
            <a:off x="9434204" y="2194560"/>
            <a:ext cx="1522713" cy="1737360"/>
          </a:xfrm>
          <a:prstGeom prst="rect">
            <a:avLst/>
          </a:prstGeom>
        </p:spPr>
      </p:pic>
      <p:pic>
        <p:nvPicPr>
          <p:cNvPr id="18" name="!!p_vi_sinh" descr="prod_vi_sinh_blur.png"/>
          <p:cNvPicPr>
            <a:picLocks noChangeAspect="1"/>
          </p:cNvPicPr>
          <p:nvPr/>
        </p:nvPicPr>
        <p:blipFill>
          <a:blip r:embed="rId11"/>
          <a:srcRect t="0" b="0"/>
          <a:stretch>
            <a:fillRect/>
          </a:stretch>
        </p:blipFill>
        <p:spPr>
          <a:xfrm rot="1080000">
            <a:off x="4129444" y="1234440"/>
            <a:ext cx="336472" cy="868680"/>
          </a:xfrm>
          <a:prstGeom prst="rect">
            <a:avLst/>
          </a:prstGeom>
        </p:spPr>
      </p:pic>
      <p:pic>
        <p:nvPicPr>
          <p:cNvPr id="19" name="!!p_dich_vi_sinh" descr="prod_dich_vi_sinh_blur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 rot="20400000">
            <a:off x="11161469" y="1280160"/>
            <a:ext cx="354181" cy="914400"/>
          </a:xfrm>
          <a:prstGeom prst="rect">
            <a:avLst/>
          </a:prstGeom>
        </p:spPr>
      </p:pic>
      <p:pic>
        <p:nvPicPr>
          <p:cNvPr id="20" name="!!p_xu_ly" descr="prod_xu_ly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 rot="21300000">
            <a:off x="5149913" y="1783080"/>
            <a:ext cx="2623389" cy="4206240"/>
          </a:xfrm>
          <a:prstGeom prst="rect">
            <a:avLst/>
          </a:prstGeom>
        </p:spPr>
      </p:pic>
      <p:sp>
        <p:nvSpPr>
          <p:cNvPr id="21" name="!!c_name"/>
          <p:cNvSpPr txBox="1"/>
          <p:nvPr/>
        </p:nvSpPr>
        <p:spPr>
          <a:xfrm>
            <a:off x="548640" y="434340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4400" b="1" i="0">
                <a:solidFill>
                  <a:srgbClr val="1E6B30"/>
                </a:solidFill>
                <a:effectLst>
                  <a:outerShdw blurRad="91440" dist="27432" dir="5400000" algn="ctr" rotWithShape="0">
                    <a:srgbClr val="000000">
                      <a:alpha val="30000"/>
                    </a:srgbClr>
                  </a:outerShdw>
                </a:effectLst>
                <a:latin typeface="Oswald"/>
                <a:ea typeface="Oswald"/>
                <a:cs typeface="Oswald"/>
              </a:rPr>
              <a:t>XỬ LÝ MÔI TRƯỜNG</a:t>
            </a:r>
          </a:p>
        </p:txBody>
      </p:sp>
      <p:sp>
        <p:nvSpPr>
          <p:cNvPr id="22" name="!!c_script"/>
          <p:cNvSpPr txBox="1"/>
          <p:nvPr/>
        </p:nvSpPr>
        <p:spPr>
          <a:xfrm>
            <a:off x="1097280" y="484632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600" b="0" i="0">
                <a:solidFill>
                  <a:srgbClr val="3B2A20"/>
                </a:solidFill>
                <a:effectLst>
                  <a:outerShdw blurRad="91440" dist="27432" dir="5400000" algn="ctr" rotWithShape="0">
                    <a:srgbClr val="FFFFFF">
                      <a:alpha val="30000"/>
                    </a:srgbClr>
                  </a:outerShdw>
                </a:effectLst>
                <a:latin typeface="Great Vibes"/>
                <a:ea typeface="Great Vibes"/>
                <a:cs typeface="Great Vibes"/>
              </a:rPr>
              <a:t>Can 10 L</a:t>
            </a:r>
          </a:p>
        </p:txBody>
      </p:sp>
      <p:sp>
        <p:nvSpPr>
          <p:cNvPr id="23" name="!!c_text"/>
          <p:cNvSpPr txBox="1"/>
          <p:nvPr/>
        </p:nvSpPr>
        <p:spPr>
          <a:xfrm>
            <a:off x="548640" y="56235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Chế phẩm xử lý môi trường: </a:t>
            </a:r>
            <a:r>
              <a:rPr sz="10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sạch đất – xanh môi trường</a:t>
            </a:r>
            <a:r>
              <a:rPr sz="1050" b="0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, phân giải phụ phẩm, khử mùi.</a:t>
            </a:r>
          </a:p>
        </p:txBody>
      </p:sp>
      <p:pic>
        <p:nvPicPr>
          <p:cNvPr id="24" name="!!t_0" descr="prod_phan_bon.png"/>
          <p:cNvPicPr>
            <a:picLocks noChangeAspect="1"/>
          </p:cNvPicPr>
          <p:nvPr/>
        </p:nvPicPr>
        <p:blipFill>
          <a:blip r:embed="rId14"/>
          <a:srcRect t="12513" b="12513"/>
          <a:stretch>
            <a:fillRect/>
          </a:stretch>
        </p:blipFill>
        <p:spPr>
          <a:xfrm>
            <a:off x="8918143" y="5788152"/>
            <a:ext cx="457200" cy="566928"/>
          </a:xfrm>
          <a:prstGeom prst="rect">
            <a:avLst/>
          </a:prstGeom>
        </p:spPr>
      </p:pic>
      <p:pic>
        <p:nvPicPr>
          <p:cNvPr id="25" name="!!t_1" descr="prod_xu_ly.png"/>
          <p:cNvPicPr>
            <a:picLocks noChangeAspect="1"/>
          </p:cNvPicPr>
          <p:nvPr/>
        </p:nvPicPr>
        <p:blipFill>
          <a:blip r:embed="rId13"/>
          <a:srcRect t="11331" b="11331"/>
          <a:stretch>
            <a:fillRect/>
          </a:stretch>
        </p:blipFill>
        <p:spPr>
          <a:xfrm>
            <a:off x="9485071" y="5788152"/>
            <a:ext cx="457200" cy="566928"/>
          </a:xfrm>
          <a:prstGeom prst="rect">
            <a:avLst/>
          </a:prstGeom>
        </p:spPr>
      </p:pic>
      <p:pic>
        <p:nvPicPr>
          <p:cNvPr id="26" name="!!t_2" descr="prod_tru_sau.pn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10051999" y="5830509"/>
            <a:ext cx="457200" cy="524571"/>
          </a:xfrm>
          <a:prstGeom prst="rect">
            <a:avLst/>
          </a:prstGeom>
        </p:spPr>
      </p:pic>
      <p:pic>
        <p:nvPicPr>
          <p:cNvPr id="27" name="!!t_3" descr="prod_vi_sinh.png"/>
          <p:cNvPicPr>
            <a:picLocks noChangeAspect="1"/>
          </p:cNvPicPr>
          <p:nvPr/>
        </p:nvPicPr>
        <p:blipFill>
          <a:blip r:embed="rId16"/>
          <a:srcRect t="27303" b="27303"/>
          <a:stretch>
            <a:fillRect/>
          </a:stretch>
        </p:blipFill>
        <p:spPr>
          <a:xfrm>
            <a:off x="10618927" y="5788152"/>
            <a:ext cx="457200" cy="566928"/>
          </a:xfrm>
          <a:prstGeom prst="rect">
            <a:avLst/>
          </a:prstGeom>
        </p:spPr>
      </p:pic>
      <p:pic>
        <p:nvPicPr>
          <p:cNvPr id="28" name="!!t_4" descr="prod_dich_vi_sinh.png"/>
          <p:cNvPicPr>
            <a:picLocks noChangeAspect="1"/>
          </p:cNvPicPr>
          <p:nvPr/>
        </p:nvPicPr>
        <p:blipFill>
          <a:blip r:embed="rId17"/>
          <a:srcRect t="27303" b="27303"/>
          <a:stretch>
            <a:fillRect/>
          </a:stretch>
        </p:blipFill>
        <p:spPr>
          <a:xfrm>
            <a:off x="11185855" y="5788152"/>
            <a:ext cx="457200" cy="566928"/>
          </a:xfrm>
          <a:prstGeom prst="rect">
            <a:avLst/>
          </a:prstGeom>
        </p:spPr>
      </p:pic>
      <p:sp>
        <p:nvSpPr>
          <p:cNvPr id="29" name="!!t_ind"/>
          <p:cNvSpPr/>
          <p:nvPr/>
        </p:nvSpPr>
        <p:spPr>
          <a:xfrm>
            <a:off x="9485071" y="6446520"/>
            <a:ext cx="457200" cy="45720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da55c467533b208c.jpg"/>
          <p:cNvPicPr>
            <a:picLocks noChangeAspect="1"/>
          </p:cNvPicPr>
          <p:nvPr/>
        </p:nvPicPr>
        <p:blipFill>
          <a:blip r:embed="rId2"/>
          <a:srcRect t="38906" b="1890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ash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>
                  <a:alpha val="92000"/>
                </a:srgbClr>
              </a:gs>
              <a:gs pos="16000">
                <a:srgbClr val="FFFFFF">
                  <a:alpha val="55000"/>
                </a:srgbClr>
              </a:gs>
              <a:gs pos="4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mist" descr="mist.png"/>
          <p:cNvPicPr>
            <a:picLocks noChangeAspect="1"/>
          </p:cNvPicPr>
          <p:nvPr/>
        </p:nvPicPr>
        <p:blipFill>
          <a:blip r:embed="rId3"/>
          <a:srcRect t="13935" b="13935"/>
          <a:stretch>
            <a:fillRect/>
          </a:stretch>
        </p:blipFill>
        <p:spPr>
          <a:xfrm>
            <a:off x="-457200" y="4480560"/>
            <a:ext cx="13106095" cy="2560320"/>
          </a:xfrm>
          <a:prstGeom prst="rect">
            <a:avLst/>
          </a:prstGeom>
        </p:spPr>
      </p:pic>
      <p:pic>
        <p:nvPicPr>
          <p:cNvPr id="5" name="!!c_wash" descr="glow_FFFFFF_92_1.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11680" y="2926080"/>
            <a:ext cx="9509760" cy="5120640"/>
          </a:xfrm>
          <a:prstGeom prst="rect">
            <a:avLst/>
          </a:prstGeom>
        </p:spPr>
      </p:pic>
      <p:pic>
        <p:nvPicPr>
          <p:cNvPr id="6" name="!!nav_logo" descr="sprout_2E8B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7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8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9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10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11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12" name="!!nav_ind"/>
          <p:cNvSpPr/>
          <p:nvPr/>
        </p:nvSpPr>
        <p:spPr>
          <a:xfrm>
            <a:off x="5058638" y="603504"/>
            <a:ext cx="654854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!!nav_i0" descr="search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4" name="!!nav_i1" descr="user-round_3B2A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5" name="!!nav_i2" descr="shopping-bag_3B2A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6" name="!!p_xu_ly" descr="prod_xu_ly_blur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 rot="20760000">
            <a:off x="1697159" y="1417320"/>
            <a:ext cx="903363" cy="1417320"/>
          </a:xfrm>
          <a:prstGeom prst="rect">
            <a:avLst/>
          </a:prstGeom>
        </p:spPr>
      </p:pic>
      <p:pic>
        <p:nvPicPr>
          <p:cNvPr id="17" name="!!p_vi_sinh" descr="prod_vi_sinh_blur.png"/>
          <p:cNvPicPr>
            <a:picLocks noChangeAspect="1"/>
          </p:cNvPicPr>
          <p:nvPr/>
        </p:nvPicPr>
        <p:blipFill>
          <a:blip r:embed="rId10"/>
          <a:srcRect t="0" b="0"/>
          <a:stretch>
            <a:fillRect/>
          </a:stretch>
        </p:blipFill>
        <p:spPr>
          <a:xfrm rot="720000">
            <a:off x="9859088" y="2194560"/>
            <a:ext cx="672944" cy="1737360"/>
          </a:xfrm>
          <a:prstGeom prst="rect">
            <a:avLst/>
          </a:prstGeom>
        </p:spPr>
      </p:pic>
      <p:pic>
        <p:nvPicPr>
          <p:cNvPr id="18" name="!!p_phan_bon" descr="prod_phan_bon_blur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 rot="1080000">
            <a:off x="4029921" y="1234440"/>
            <a:ext cx="535517" cy="868680"/>
          </a:xfrm>
          <a:prstGeom prst="rect">
            <a:avLst/>
          </a:prstGeom>
        </p:spPr>
      </p:pic>
      <p:pic>
        <p:nvPicPr>
          <p:cNvPr id="19" name="!!p_dich_vi_sinh" descr="prod_dich_vi_sinh_blur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 rot="20400000">
            <a:off x="11161469" y="1280160"/>
            <a:ext cx="354181" cy="914400"/>
          </a:xfrm>
          <a:prstGeom prst="rect">
            <a:avLst/>
          </a:prstGeom>
        </p:spPr>
      </p:pic>
      <p:pic>
        <p:nvPicPr>
          <p:cNvPr id="20" name="!!p_tru_sau" descr="prod_tru_sau.png"/>
          <p:cNvPicPr>
            <a:picLocks noChangeAspect="1"/>
          </p:cNvPicPr>
          <p:nvPr/>
        </p:nvPicPr>
        <p:blipFill>
          <a:blip r:embed="rId13"/>
          <a:srcRect t="0" b="0"/>
          <a:stretch>
            <a:fillRect/>
          </a:stretch>
        </p:blipFill>
        <p:spPr>
          <a:xfrm rot="21300000">
            <a:off x="4628592" y="1783080"/>
            <a:ext cx="3666031" cy="4206240"/>
          </a:xfrm>
          <a:prstGeom prst="rect">
            <a:avLst/>
          </a:prstGeom>
        </p:spPr>
      </p:pic>
      <p:sp>
        <p:nvSpPr>
          <p:cNvPr id="21" name="!!c_name"/>
          <p:cNvSpPr txBox="1"/>
          <p:nvPr/>
        </p:nvSpPr>
        <p:spPr>
          <a:xfrm>
            <a:off x="548640" y="434340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4400" b="1" i="0">
                <a:solidFill>
                  <a:srgbClr val="1E6B30"/>
                </a:solidFill>
                <a:effectLst>
                  <a:outerShdw blurRad="91440" dist="27432" dir="5400000" algn="ctr" rotWithShape="0">
                    <a:srgbClr val="000000">
                      <a:alpha val="30000"/>
                    </a:srgbClr>
                  </a:outerShdw>
                </a:effectLst>
                <a:latin typeface="Oswald"/>
                <a:ea typeface="Oswald"/>
                <a:cs typeface="Oswald"/>
              </a:rPr>
              <a:t>TRỪ SÂU SINH HỌC</a:t>
            </a:r>
          </a:p>
        </p:txBody>
      </p:sp>
      <p:sp>
        <p:nvSpPr>
          <p:cNvPr id="22" name="!!c_script"/>
          <p:cNvSpPr txBox="1"/>
          <p:nvPr/>
        </p:nvSpPr>
        <p:spPr>
          <a:xfrm>
            <a:off x="1097280" y="484632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600" b="0" i="0">
                <a:solidFill>
                  <a:srgbClr val="3B2A20"/>
                </a:solidFill>
                <a:effectLst>
                  <a:outerShdw blurRad="91440" dist="27432" dir="5400000" algn="ctr" rotWithShape="0">
                    <a:srgbClr val="FFFFFF">
                      <a:alpha val="30000"/>
                    </a:srgbClr>
                  </a:outerShdw>
                </a:effectLst>
                <a:latin typeface="Great Vibes"/>
                <a:ea typeface="Great Vibes"/>
                <a:cs typeface="Great Vibes"/>
              </a:rPr>
              <a:t>Thùng 20 L</a:t>
            </a:r>
          </a:p>
        </p:txBody>
      </p:sp>
      <p:sp>
        <p:nvSpPr>
          <p:cNvPr id="23" name="!!c_text"/>
          <p:cNvSpPr txBox="1"/>
          <p:nvPr/>
        </p:nvSpPr>
        <p:spPr>
          <a:xfrm>
            <a:off x="548640" y="56235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Thuốc trừ sâu sinh học </a:t>
            </a:r>
            <a:r>
              <a:rPr sz="10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an toàn cho cây trồng</a:t>
            </a:r>
            <a:r>
              <a:rPr sz="1050" b="0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, bảo vệ hệ sinh thái và thiên địch.</a:t>
            </a:r>
          </a:p>
        </p:txBody>
      </p:sp>
      <p:pic>
        <p:nvPicPr>
          <p:cNvPr id="24" name="!!t_0" descr="prod_phan_bon.png"/>
          <p:cNvPicPr>
            <a:picLocks noChangeAspect="1"/>
          </p:cNvPicPr>
          <p:nvPr/>
        </p:nvPicPr>
        <p:blipFill>
          <a:blip r:embed="rId14"/>
          <a:srcRect t="12513" b="12513"/>
          <a:stretch>
            <a:fillRect/>
          </a:stretch>
        </p:blipFill>
        <p:spPr>
          <a:xfrm>
            <a:off x="8918143" y="5788152"/>
            <a:ext cx="457200" cy="566928"/>
          </a:xfrm>
          <a:prstGeom prst="rect">
            <a:avLst/>
          </a:prstGeom>
        </p:spPr>
      </p:pic>
      <p:pic>
        <p:nvPicPr>
          <p:cNvPr id="25" name="!!t_1" descr="prod_xu_ly.png"/>
          <p:cNvPicPr>
            <a:picLocks noChangeAspect="1"/>
          </p:cNvPicPr>
          <p:nvPr/>
        </p:nvPicPr>
        <p:blipFill>
          <a:blip r:embed="rId15"/>
          <a:srcRect t="11331" b="11331"/>
          <a:stretch>
            <a:fillRect/>
          </a:stretch>
        </p:blipFill>
        <p:spPr>
          <a:xfrm>
            <a:off x="9485071" y="5788152"/>
            <a:ext cx="457200" cy="566928"/>
          </a:xfrm>
          <a:prstGeom prst="rect">
            <a:avLst/>
          </a:prstGeom>
        </p:spPr>
      </p:pic>
      <p:pic>
        <p:nvPicPr>
          <p:cNvPr id="26" name="!!t_2" descr="prod_tru_sau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10051999" y="5830509"/>
            <a:ext cx="457200" cy="524571"/>
          </a:xfrm>
          <a:prstGeom prst="rect">
            <a:avLst/>
          </a:prstGeom>
        </p:spPr>
      </p:pic>
      <p:pic>
        <p:nvPicPr>
          <p:cNvPr id="27" name="!!t_3" descr="prod_vi_sinh.png"/>
          <p:cNvPicPr>
            <a:picLocks noChangeAspect="1"/>
          </p:cNvPicPr>
          <p:nvPr/>
        </p:nvPicPr>
        <p:blipFill>
          <a:blip r:embed="rId16"/>
          <a:srcRect t="27303" b="27303"/>
          <a:stretch>
            <a:fillRect/>
          </a:stretch>
        </p:blipFill>
        <p:spPr>
          <a:xfrm>
            <a:off x="10618927" y="5788152"/>
            <a:ext cx="457200" cy="566928"/>
          </a:xfrm>
          <a:prstGeom prst="rect">
            <a:avLst/>
          </a:prstGeom>
        </p:spPr>
      </p:pic>
      <p:pic>
        <p:nvPicPr>
          <p:cNvPr id="28" name="!!t_4" descr="prod_dich_vi_sinh.png"/>
          <p:cNvPicPr>
            <a:picLocks noChangeAspect="1"/>
          </p:cNvPicPr>
          <p:nvPr/>
        </p:nvPicPr>
        <p:blipFill>
          <a:blip r:embed="rId17"/>
          <a:srcRect t="27303" b="27303"/>
          <a:stretch>
            <a:fillRect/>
          </a:stretch>
        </p:blipFill>
        <p:spPr>
          <a:xfrm>
            <a:off x="11185855" y="5788152"/>
            <a:ext cx="457200" cy="566928"/>
          </a:xfrm>
          <a:prstGeom prst="rect">
            <a:avLst/>
          </a:prstGeom>
        </p:spPr>
      </p:pic>
      <p:sp>
        <p:nvSpPr>
          <p:cNvPr id="29" name="!!t_ind"/>
          <p:cNvSpPr/>
          <p:nvPr/>
        </p:nvSpPr>
        <p:spPr>
          <a:xfrm>
            <a:off x="10051999" y="6446520"/>
            <a:ext cx="457200" cy="45720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d3e9b738f12adade.jpg"/>
          <p:cNvPicPr>
            <a:picLocks noChangeAspect="1"/>
          </p:cNvPicPr>
          <p:nvPr/>
        </p:nvPicPr>
        <p:blipFill>
          <a:blip r:embed="rId2"/>
          <a:srcRect t="12352" b="1235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ash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>
                  <a:alpha val="92000"/>
                </a:srgbClr>
              </a:gs>
              <a:gs pos="16000">
                <a:srgbClr val="FFFFFF">
                  <a:alpha val="55000"/>
                </a:srgbClr>
              </a:gs>
              <a:gs pos="4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mist" descr="mist.png"/>
          <p:cNvPicPr>
            <a:picLocks noChangeAspect="1"/>
          </p:cNvPicPr>
          <p:nvPr/>
        </p:nvPicPr>
        <p:blipFill>
          <a:blip r:embed="rId3"/>
          <a:srcRect t="13935" b="13935"/>
          <a:stretch>
            <a:fillRect/>
          </a:stretch>
        </p:blipFill>
        <p:spPr>
          <a:xfrm>
            <a:off x="-457200" y="4480560"/>
            <a:ext cx="13106095" cy="2560320"/>
          </a:xfrm>
          <a:prstGeom prst="rect">
            <a:avLst/>
          </a:prstGeom>
        </p:spPr>
      </p:pic>
      <p:pic>
        <p:nvPicPr>
          <p:cNvPr id="5" name="!!c_wash" descr="glow_FFFFFF_92_1.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11680" y="2926080"/>
            <a:ext cx="9509760" cy="5120640"/>
          </a:xfrm>
          <a:prstGeom prst="rect">
            <a:avLst/>
          </a:prstGeom>
        </p:spPr>
      </p:pic>
      <p:pic>
        <p:nvPicPr>
          <p:cNvPr id="6" name="!!nav_logo" descr="sprout_2E8B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7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8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9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10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11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12" name="!!nav_ind"/>
          <p:cNvSpPr/>
          <p:nvPr/>
        </p:nvSpPr>
        <p:spPr>
          <a:xfrm>
            <a:off x="5058638" y="603504"/>
            <a:ext cx="654854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!!nav_i0" descr="search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4" name="!!nav_i1" descr="user-round_3B2A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5" name="!!nav_i2" descr="shopping-bag_3B2A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6" name="!!p_tru_sau" descr="prod_tru_sau_blur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 rot="20760000">
            <a:off x="1527734" y="1417320"/>
            <a:ext cx="1242213" cy="1417320"/>
          </a:xfrm>
          <a:prstGeom prst="rect">
            <a:avLst/>
          </a:prstGeom>
        </p:spPr>
      </p:pic>
      <p:pic>
        <p:nvPicPr>
          <p:cNvPr id="17" name="!!p_dich_vi_sinh" descr="prod_dich_vi_sinh_blur.png"/>
          <p:cNvPicPr>
            <a:picLocks noChangeAspect="1"/>
          </p:cNvPicPr>
          <p:nvPr/>
        </p:nvPicPr>
        <p:blipFill>
          <a:blip r:embed="rId10"/>
          <a:srcRect t="0" b="0"/>
          <a:stretch>
            <a:fillRect/>
          </a:stretch>
        </p:blipFill>
        <p:spPr>
          <a:xfrm rot="720000">
            <a:off x="9859088" y="2194560"/>
            <a:ext cx="672944" cy="1737360"/>
          </a:xfrm>
          <a:prstGeom prst="rect">
            <a:avLst/>
          </a:prstGeom>
        </p:spPr>
      </p:pic>
      <p:pic>
        <p:nvPicPr>
          <p:cNvPr id="18" name="!!p_phan_bon" descr="prod_phan_bon_blur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 rot="1080000">
            <a:off x="4029921" y="1234440"/>
            <a:ext cx="535517" cy="868680"/>
          </a:xfrm>
          <a:prstGeom prst="rect">
            <a:avLst/>
          </a:prstGeom>
        </p:spPr>
      </p:pic>
      <p:pic>
        <p:nvPicPr>
          <p:cNvPr id="19" name="!!p_xu_ly" descr="prod_xu_ly_blur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 rot="20400000">
            <a:off x="11047153" y="1280160"/>
            <a:ext cx="582815" cy="914400"/>
          </a:xfrm>
          <a:prstGeom prst="rect">
            <a:avLst/>
          </a:prstGeom>
        </p:spPr>
      </p:pic>
      <p:pic>
        <p:nvPicPr>
          <p:cNvPr id="20" name="!!p_vi_sinh" descr="prod_vi_sinh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 rot="21300000">
            <a:off x="5691679" y="1783080"/>
            <a:ext cx="1539857" cy="4206240"/>
          </a:xfrm>
          <a:prstGeom prst="rect">
            <a:avLst/>
          </a:prstGeom>
        </p:spPr>
      </p:pic>
      <p:sp>
        <p:nvSpPr>
          <p:cNvPr id="21" name="!!c_name"/>
          <p:cNvSpPr txBox="1"/>
          <p:nvPr/>
        </p:nvSpPr>
        <p:spPr>
          <a:xfrm>
            <a:off x="548640" y="434340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4400" b="1" i="0">
                <a:solidFill>
                  <a:srgbClr val="1E6B30"/>
                </a:solidFill>
                <a:effectLst>
                  <a:outerShdw blurRad="91440" dist="27432" dir="5400000" algn="ctr" rotWithShape="0">
                    <a:srgbClr val="000000">
                      <a:alpha val="30000"/>
                    </a:srgbClr>
                  </a:outerShdw>
                </a:effectLst>
                <a:latin typeface="Oswald"/>
                <a:ea typeface="Oswald"/>
                <a:cs typeface="Oswald"/>
              </a:rPr>
              <a:t>CHẾ PHẨM VI SINH</a:t>
            </a:r>
          </a:p>
        </p:txBody>
      </p:sp>
      <p:sp>
        <p:nvSpPr>
          <p:cNvPr id="22" name="!!c_script"/>
          <p:cNvSpPr txBox="1"/>
          <p:nvPr/>
        </p:nvSpPr>
        <p:spPr>
          <a:xfrm>
            <a:off x="1097280" y="484632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600" b="0" i="0">
                <a:solidFill>
                  <a:srgbClr val="3B2A20"/>
                </a:solidFill>
                <a:effectLst>
                  <a:outerShdw blurRad="91440" dist="27432" dir="5400000" algn="ctr" rotWithShape="0">
                    <a:srgbClr val="FFFFFF">
                      <a:alpha val="30000"/>
                    </a:srgbClr>
                  </a:outerShdw>
                </a:effectLst>
                <a:latin typeface="Great Vibes"/>
                <a:ea typeface="Great Vibes"/>
                <a:cs typeface="Great Vibes"/>
              </a:rPr>
              <a:t>Chai 1 L</a:t>
            </a:r>
          </a:p>
        </p:txBody>
      </p:sp>
      <p:sp>
        <p:nvSpPr>
          <p:cNvPr id="23" name="!!c_text"/>
          <p:cNvSpPr txBox="1"/>
          <p:nvPr/>
        </p:nvSpPr>
        <p:spPr>
          <a:xfrm>
            <a:off x="548640" y="56235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Bổ sung vi sinh vật có ích, </a:t>
            </a:r>
            <a:r>
              <a:rPr sz="10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cải tạo đất, tăng độ phì</a:t>
            </a:r>
            <a:r>
              <a:rPr sz="1050" b="0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 và sức đề kháng cho cây.</a:t>
            </a:r>
          </a:p>
        </p:txBody>
      </p:sp>
      <p:pic>
        <p:nvPicPr>
          <p:cNvPr id="24" name="!!t_0" descr="prod_phan_bon.png"/>
          <p:cNvPicPr>
            <a:picLocks noChangeAspect="1"/>
          </p:cNvPicPr>
          <p:nvPr/>
        </p:nvPicPr>
        <p:blipFill>
          <a:blip r:embed="rId14"/>
          <a:srcRect t="12513" b="12513"/>
          <a:stretch>
            <a:fillRect/>
          </a:stretch>
        </p:blipFill>
        <p:spPr>
          <a:xfrm>
            <a:off x="8918143" y="5788152"/>
            <a:ext cx="457200" cy="566928"/>
          </a:xfrm>
          <a:prstGeom prst="rect">
            <a:avLst/>
          </a:prstGeom>
        </p:spPr>
      </p:pic>
      <p:pic>
        <p:nvPicPr>
          <p:cNvPr id="25" name="!!t_1" descr="prod_xu_ly.png"/>
          <p:cNvPicPr>
            <a:picLocks noChangeAspect="1"/>
          </p:cNvPicPr>
          <p:nvPr/>
        </p:nvPicPr>
        <p:blipFill>
          <a:blip r:embed="rId15"/>
          <a:srcRect t="11331" b="11331"/>
          <a:stretch>
            <a:fillRect/>
          </a:stretch>
        </p:blipFill>
        <p:spPr>
          <a:xfrm>
            <a:off x="9485071" y="5788152"/>
            <a:ext cx="457200" cy="566928"/>
          </a:xfrm>
          <a:prstGeom prst="rect">
            <a:avLst/>
          </a:prstGeom>
        </p:spPr>
      </p:pic>
      <p:pic>
        <p:nvPicPr>
          <p:cNvPr id="26" name="!!t_2" descr="prod_tru_sau.png"/>
          <p:cNvPicPr>
            <a:picLocks noChangeAspect="1"/>
          </p:cNvPicPr>
          <p:nvPr/>
        </p:nvPicPr>
        <p:blipFill>
          <a:blip r:embed="rId16"/>
          <a:srcRect/>
          <a:stretch>
            <a:fillRect/>
          </a:stretch>
        </p:blipFill>
        <p:spPr>
          <a:xfrm>
            <a:off x="10051999" y="5830509"/>
            <a:ext cx="457200" cy="524571"/>
          </a:xfrm>
          <a:prstGeom prst="rect">
            <a:avLst/>
          </a:prstGeom>
        </p:spPr>
      </p:pic>
      <p:pic>
        <p:nvPicPr>
          <p:cNvPr id="27" name="!!t_3" descr="prod_vi_sinh.png"/>
          <p:cNvPicPr>
            <a:picLocks noChangeAspect="1"/>
          </p:cNvPicPr>
          <p:nvPr/>
        </p:nvPicPr>
        <p:blipFill>
          <a:blip r:embed="rId13"/>
          <a:srcRect t="27303" b="27303"/>
          <a:stretch>
            <a:fillRect/>
          </a:stretch>
        </p:blipFill>
        <p:spPr>
          <a:xfrm>
            <a:off x="10618927" y="5788152"/>
            <a:ext cx="457200" cy="566928"/>
          </a:xfrm>
          <a:prstGeom prst="rect">
            <a:avLst/>
          </a:prstGeom>
        </p:spPr>
      </p:pic>
      <p:pic>
        <p:nvPicPr>
          <p:cNvPr id="28" name="!!t_4" descr="prod_dich_vi_sinh.png"/>
          <p:cNvPicPr>
            <a:picLocks noChangeAspect="1"/>
          </p:cNvPicPr>
          <p:nvPr/>
        </p:nvPicPr>
        <p:blipFill>
          <a:blip r:embed="rId17"/>
          <a:srcRect t="27303" b="27303"/>
          <a:stretch>
            <a:fillRect/>
          </a:stretch>
        </p:blipFill>
        <p:spPr>
          <a:xfrm>
            <a:off x="11185855" y="5788152"/>
            <a:ext cx="457200" cy="566928"/>
          </a:xfrm>
          <a:prstGeom prst="rect">
            <a:avLst/>
          </a:prstGeom>
        </p:spPr>
      </p:pic>
      <p:sp>
        <p:nvSpPr>
          <p:cNvPr id="29" name="!!t_ind"/>
          <p:cNvSpPr/>
          <p:nvPr/>
        </p:nvSpPr>
        <p:spPr>
          <a:xfrm>
            <a:off x="10618927" y="6446520"/>
            <a:ext cx="457200" cy="45720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81137697d7643e5a.jpg"/>
          <p:cNvPicPr>
            <a:picLocks noChangeAspect="1"/>
          </p:cNvPicPr>
          <p:nvPr/>
        </p:nvPicPr>
        <p:blipFill>
          <a:blip r:embed="rId2"/>
          <a:srcRect t="7014" b="701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ash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>
                  <a:alpha val="92000"/>
                </a:srgbClr>
              </a:gs>
              <a:gs pos="16000">
                <a:srgbClr val="FFFFFF">
                  <a:alpha val="55000"/>
                </a:srgbClr>
              </a:gs>
              <a:gs pos="4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mist" descr="mist.png"/>
          <p:cNvPicPr>
            <a:picLocks noChangeAspect="1"/>
          </p:cNvPicPr>
          <p:nvPr/>
        </p:nvPicPr>
        <p:blipFill>
          <a:blip r:embed="rId3"/>
          <a:srcRect t="13935" b="13935"/>
          <a:stretch>
            <a:fillRect/>
          </a:stretch>
        </p:blipFill>
        <p:spPr>
          <a:xfrm>
            <a:off x="-457200" y="4480560"/>
            <a:ext cx="13106095" cy="2560320"/>
          </a:xfrm>
          <a:prstGeom prst="rect">
            <a:avLst/>
          </a:prstGeom>
        </p:spPr>
      </p:pic>
      <p:pic>
        <p:nvPicPr>
          <p:cNvPr id="5" name="!!c_wash" descr="glow_FFFFFF_92_1.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11680" y="2926080"/>
            <a:ext cx="9509760" cy="5120640"/>
          </a:xfrm>
          <a:prstGeom prst="rect">
            <a:avLst/>
          </a:prstGeom>
        </p:spPr>
      </p:pic>
      <p:pic>
        <p:nvPicPr>
          <p:cNvPr id="6" name="!!nav_logo" descr="sprout_2E8B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7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8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9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10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11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12" name="!!nav_ind"/>
          <p:cNvSpPr/>
          <p:nvPr/>
        </p:nvSpPr>
        <p:spPr>
          <a:xfrm>
            <a:off x="5058638" y="603504"/>
            <a:ext cx="654854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!!nav_i0" descr="search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4" name="!!nav_i1" descr="user-round_3B2A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5" name="!!nav_i2" descr="shopping-bag_3B2A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6" name="!!p_phan_bon" descr="prod_phan_bon_blur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 rot="20760000">
            <a:off x="1711971" y="1417320"/>
            <a:ext cx="873739" cy="1417320"/>
          </a:xfrm>
          <a:prstGeom prst="rect">
            <a:avLst/>
          </a:prstGeom>
        </p:spPr>
      </p:pic>
      <p:pic>
        <p:nvPicPr>
          <p:cNvPr id="17" name="!!p_vi_sinh" descr="prod_vi_sinh_blur.png"/>
          <p:cNvPicPr>
            <a:picLocks noChangeAspect="1"/>
          </p:cNvPicPr>
          <p:nvPr/>
        </p:nvPicPr>
        <p:blipFill>
          <a:blip r:embed="rId10"/>
          <a:srcRect t="0" b="0"/>
          <a:stretch>
            <a:fillRect/>
          </a:stretch>
        </p:blipFill>
        <p:spPr>
          <a:xfrm rot="720000">
            <a:off x="9859088" y="2194560"/>
            <a:ext cx="672944" cy="1737360"/>
          </a:xfrm>
          <a:prstGeom prst="rect">
            <a:avLst/>
          </a:prstGeom>
        </p:spPr>
      </p:pic>
      <p:pic>
        <p:nvPicPr>
          <p:cNvPr id="18" name="!!p_xu_ly" descr="prod_xu_ly_blur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 rot="1080000">
            <a:off x="4020843" y="1234440"/>
            <a:ext cx="553674" cy="868680"/>
          </a:xfrm>
          <a:prstGeom prst="rect">
            <a:avLst/>
          </a:prstGeom>
        </p:spPr>
      </p:pic>
      <p:pic>
        <p:nvPicPr>
          <p:cNvPr id="19" name="!!p_tru_sau" descr="prod_tru_sau_blur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 rot="20400000">
            <a:off x="10937846" y="1280160"/>
            <a:ext cx="801428" cy="914400"/>
          </a:xfrm>
          <a:prstGeom prst="rect">
            <a:avLst/>
          </a:prstGeom>
        </p:spPr>
      </p:pic>
      <p:pic>
        <p:nvPicPr>
          <p:cNvPr id="20" name="!!p_dich_vi_sinh" descr="prod_dich_vi_sinh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 rot="21300000">
            <a:off x="5691679" y="1783080"/>
            <a:ext cx="1539857" cy="4206240"/>
          </a:xfrm>
          <a:prstGeom prst="rect">
            <a:avLst/>
          </a:prstGeom>
        </p:spPr>
      </p:pic>
      <p:sp>
        <p:nvSpPr>
          <p:cNvPr id="21" name="!!c_name"/>
          <p:cNvSpPr txBox="1"/>
          <p:nvPr/>
        </p:nvSpPr>
        <p:spPr>
          <a:xfrm>
            <a:off x="548640" y="434340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4400" b="1" i="0">
                <a:solidFill>
                  <a:srgbClr val="1E6B30"/>
                </a:solidFill>
                <a:effectLst>
                  <a:outerShdw blurRad="91440" dist="27432" dir="5400000" algn="ctr" rotWithShape="0">
                    <a:srgbClr val="000000">
                      <a:alpha val="30000"/>
                    </a:srgbClr>
                  </a:outerShdw>
                </a:effectLst>
                <a:latin typeface="Oswald"/>
                <a:ea typeface="Oswald"/>
                <a:cs typeface="Oswald"/>
              </a:rPr>
              <a:t>DỊCH PHẨM VI SINH</a:t>
            </a:r>
          </a:p>
        </p:txBody>
      </p:sp>
      <p:sp>
        <p:nvSpPr>
          <p:cNvPr id="22" name="!!c_script"/>
          <p:cNvSpPr txBox="1"/>
          <p:nvPr/>
        </p:nvSpPr>
        <p:spPr>
          <a:xfrm>
            <a:off x="1097280" y="484632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600" b="0" i="0">
                <a:solidFill>
                  <a:srgbClr val="3B2A20"/>
                </a:solidFill>
                <a:effectLst>
                  <a:outerShdw blurRad="91440" dist="27432" dir="5400000" algn="ctr" rotWithShape="0">
                    <a:srgbClr val="FFFFFF">
                      <a:alpha val="30000"/>
                    </a:srgbClr>
                  </a:outerShdw>
                </a:effectLst>
                <a:latin typeface="Great Vibes"/>
                <a:ea typeface="Great Vibes"/>
                <a:cs typeface="Great Vibes"/>
              </a:rPr>
              <a:t>Chai 1 L</a:t>
            </a:r>
          </a:p>
        </p:txBody>
      </p:sp>
      <p:sp>
        <p:nvSpPr>
          <p:cNvPr id="23" name="!!c_text"/>
          <p:cNvSpPr txBox="1"/>
          <p:nvPr/>
        </p:nvSpPr>
        <p:spPr>
          <a:xfrm>
            <a:off x="548640" y="56235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Dạng dịch dễ pha phun, </a:t>
            </a:r>
            <a:r>
              <a:rPr sz="10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phòng ngừa sâu bệnh</a:t>
            </a:r>
            <a:r>
              <a:rPr sz="1050" b="0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 từ sớm, an toàn khi sử dụng.</a:t>
            </a:r>
          </a:p>
        </p:txBody>
      </p:sp>
      <p:pic>
        <p:nvPicPr>
          <p:cNvPr id="24" name="!!t_0" descr="prod_phan_bon.png"/>
          <p:cNvPicPr>
            <a:picLocks noChangeAspect="1"/>
          </p:cNvPicPr>
          <p:nvPr/>
        </p:nvPicPr>
        <p:blipFill>
          <a:blip r:embed="rId14"/>
          <a:srcRect t="12513" b="12513"/>
          <a:stretch>
            <a:fillRect/>
          </a:stretch>
        </p:blipFill>
        <p:spPr>
          <a:xfrm>
            <a:off x="8918143" y="5788152"/>
            <a:ext cx="457200" cy="566928"/>
          </a:xfrm>
          <a:prstGeom prst="rect">
            <a:avLst/>
          </a:prstGeom>
        </p:spPr>
      </p:pic>
      <p:pic>
        <p:nvPicPr>
          <p:cNvPr id="25" name="!!t_1" descr="prod_xu_ly.png"/>
          <p:cNvPicPr>
            <a:picLocks noChangeAspect="1"/>
          </p:cNvPicPr>
          <p:nvPr/>
        </p:nvPicPr>
        <p:blipFill>
          <a:blip r:embed="rId15"/>
          <a:srcRect t="11331" b="11331"/>
          <a:stretch>
            <a:fillRect/>
          </a:stretch>
        </p:blipFill>
        <p:spPr>
          <a:xfrm>
            <a:off x="9485071" y="5788152"/>
            <a:ext cx="457200" cy="566928"/>
          </a:xfrm>
          <a:prstGeom prst="rect">
            <a:avLst/>
          </a:prstGeom>
        </p:spPr>
      </p:pic>
      <p:pic>
        <p:nvPicPr>
          <p:cNvPr id="26" name="!!t_2" descr="prod_tru_sau.png"/>
          <p:cNvPicPr>
            <a:picLocks noChangeAspect="1"/>
          </p:cNvPicPr>
          <p:nvPr/>
        </p:nvPicPr>
        <p:blipFill>
          <a:blip r:embed="rId16"/>
          <a:srcRect/>
          <a:stretch>
            <a:fillRect/>
          </a:stretch>
        </p:blipFill>
        <p:spPr>
          <a:xfrm>
            <a:off x="10051999" y="5830509"/>
            <a:ext cx="457200" cy="524571"/>
          </a:xfrm>
          <a:prstGeom prst="rect">
            <a:avLst/>
          </a:prstGeom>
        </p:spPr>
      </p:pic>
      <p:pic>
        <p:nvPicPr>
          <p:cNvPr id="27" name="!!t_3" descr="prod_vi_sinh.png"/>
          <p:cNvPicPr>
            <a:picLocks noChangeAspect="1"/>
          </p:cNvPicPr>
          <p:nvPr/>
        </p:nvPicPr>
        <p:blipFill>
          <a:blip r:embed="rId17"/>
          <a:srcRect t="27303" b="27303"/>
          <a:stretch>
            <a:fillRect/>
          </a:stretch>
        </p:blipFill>
        <p:spPr>
          <a:xfrm>
            <a:off x="10618927" y="5788152"/>
            <a:ext cx="457200" cy="566928"/>
          </a:xfrm>
          <a:prstGeom prst="rect">
            <a:avLst/>
          </a:prstGeom>
        </p:spPr>
      </p:pic>
      <p:pic>
        <p:nvPicPr>
          <p:cNvPr id="28" name="!!t_4" descr="prod_dich_vi_sinh.png"/>
          <p:cNvPicPr>
            <a:picLocks noChangeAspect="1"/>
          </p:cNvPicPr>
          <p:nvPr/>
        </p:nvPicPr>
        <p:blipFill>
          <a:blip r:embed="rId13"/>
          <a:srcRect t="27303" b="27303"/>
          <a:stretch>
            <a:fillRect/>
          </a:stretch>
        </p:blipFill>
        <p:spPr>
          <a:xfrm>
            <a:off x="11185855" y="5788152"/>
            <a:ext cx="457200" cy="566928"/>
          </a:xfrm>
          <a:prstGeom prst="rect">
            <a:avLst/>
          </a:prstGeom>
        </p:spPr>
      </p:pic>
      <p:sp>
        <p:nvSpPr>
          <p:cNvPr id="29" name="!!t_ind"/>
          <p:cNvSpPr/>
          <p:nvPr/>
        </p:nvSpPr>
        <p:spPr>
          <a:xfrm>
            <a:off x="11185855" y="6446520"/>
            <a:ext cx="457200" cy="45720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5058638" y="603504"/>
            <a:ext cx="654854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A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A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77724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0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CONCEPT BAO BÌ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548640" y="116128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8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4 phương án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965960"/>
            <a:ext cx="5410048" cy="208026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Pentagon 15"/>
          <p:cNvSpPr/>
          <p:nvPr/>
        </p:nvSpPr>
        <p:spPr>
          <a:xfrm>
            <a:off x="548640" y="2103120"/>
            <a:ext cx="1417320" cy="384048"/>
          </a:xfrm>
          <a:prstGeom prst="homePlate">
            <a:avLst/>
          </a:prstGeom>
          <a:solidFill>
            <a:srgbClr val="1E7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CONCEPT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075688"/>
            <a:ext cx="3718408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E7B34"/>
                </a:solidFill>
                <a:latin typeface="Nunito Sans SemiBold"/>
                <a:ea typeface="Nunito Sans SemiBold"/>
                <a:cs typeface="Nunito Sans SemiBold"/>
              </a:rPr>
              <a:t>Thân thiện đồng hành – Nông nghiệp bền vững</a:t>
            </a:r>
          </a:p>
        </p:txBody>
      </p:sp>
      <p:pic>
        <p:nvPicPr>
          <p:cNvPr id="18" name="Picture 17" descr="prod_phan_bon.png"/>
          <p:cNvPicPr>
            <a:picLocks noChangeAspect="1"/>
          </p:cNvPicPr>
          <p:nvPr/>
        </p:nvPicPr>
        <p:blipFill>
          <a:blip r:embed="rId7"/>
          <a:srcRect t="10853" b="10853"/>
          <a:stretch>
            <a:fillRect/>
          </a:stretch>
        </p:blipFill>
        <p:spPr>
          <a:xfrm>
            <a:off x="647664" y="2633472"/>
            <a:ext cx="1006269" cy="1303020"/>
          </a:xfrm>
          <a:prstGeom prst="rect">
            <a:avLst/>
          </a:prstGeom>
        </p:spPr>
      </p:pic>
      <p:pic>
        <p:nvPicPr>
          <p:cNvPr id="19" name="Picture 18" descr="prod_xu_ly.png"/>
          <p:cNvPicPr>
            <a:picLocks noChangeAspect="1"/>
          </p:cNvPicPr>
          <p:nvPr/>
        </p:nvPicPr>
        <p:blipFill>
          <a:blip r:embed="rId8"/>
          <a:srcRect t="13080" b="13080"/>
          <a:stretch>
            <a:fillRect/>
          </a:stretch>
        </p:blipFill>
        <p:spPr>
          <a:xfrm>
            <a:off x="1549113" y="2894076"/>
            <a:ext cx="880485" cy="1042416"/>
          </a:xfrm>
          <a:prstGeom prst="rect">
            <a:avLst/>
          </a:prstGeom>
        </p:spPr>
      </p:pic>
      <p:pic>
        <p:nvPicPr>
          <p:cNvPr id="20" name="Picture 19" descr="prod_tru_sau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2387671" y="2926263"/>
            <a:ext cx="880485" cy="1010229"/>
          </a:xfrm>
          <a:prstGeom prst="rect">
            <a:avLst/>
          </a:prstGeom>
        </p:spPr>
      </p:pic>
      <p:pic>
        <p:nvPicPr>
          <p:cNvPr id="21" name="Picture 20" descr="prod_vi_sinh.png"/>
          <p:cNvPicPr>
            <a:picLocks noChangeAspect="1"/>
          </p:cNvPicPr>
          <p:nvPr/>
        </p:nvPicPr>
        <p:blipFill>
          <a:blip r:embed="rId10"/>
          <a:srcRect t="28329" b="28329"/>
          <a:stretch>
            <a:fillRect/>
          </a:stretch>
        </p:blipFill>
        <p:spPr>
          <a:xfrm>
            <a:off x="3226228" y="2894076"/>
            <a:ext cx="880485" cy="1042416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4119271" y="2715768"/>
            <a:ext cx="219456" cy="219456"/>
          </a:xfrm>
          <a:prstGeom prst="ellipse">
            <a:avLst/>
          </a:prstGeom>
          <a:solidFill>
            <a:srgbClr val="1E7B3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93591" y="2715768"/>
            <a:ext cx="219456" cy="219456"/>
          </a:xfrm>
          <a:prstGeom prst="ellipse">
            <a:avLst/>
          </a:prstGeom>
          <a:solidFill>
            <a:srgbClr val="2E8B3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67911" y="2715768"/>
            <a:ext cx="219456" cy="219456"/>
          </a:xfrm>
          <a:prstGeom prst="ellipse">
            <a:avLst/>
          </a:prstGeom>
          <a:solidFill>
            <a:srgbClr val="7CC24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42231" y="2715768"/>
            <a:ext cx="219456" cy="219456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216551" y="2715768"/>
            <a:ext cx="219456" cy="219456"/>
          </a:xfrm>
          <a:prstGeom prst="ellipse">
            <a:avLst/>
          </a:prstGeom>
          <a:solidFill>
            <a:srgbClr val="E8A04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9271" y="3063240"/>
            <a:ext cx="1731215" cy="891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Tự nhiên, an toàn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Hiệu quả bền vững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Thân thiện môi trường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3008" y="1965960"/>
            <a:ext cx="5410048" cy="208026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Pentagon 28"/>
          <p:cNvSpPr/>
          <p:nvPr/>
        </p:nvSpPr>
        <p:spPr>
          <a:xfrm>
            <a:off x="6233008" y="2103120"/>
            <a:ext cx="1417320" cy="384048"/>
          </a:xfrm>
          <a:prstGeom prst="homePlat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CONCEPT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7488" y="2075688"/>
            <a:ext cx="3718408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C62828"/>
                </a:solidFill>
                <a:latin typeface="Nunito Sans SemiBold"/>
                <a:ea typeface="Nunito Sans SemiBold"/>
                <a:cs typeface="Nunito Sans SemiBold"/>
              </a:rPr>
              <a:t>Đất đỏ bazan – Dưỡng chất cho mùa vàng</a:t>
            </a:r>
          </a:p>
        </p:txBody>
      </p:sp>
      <p:pic>
        <p:nvPicPr>
          <p:cNvPr id="31" name="Picture 30" descr="prod_phan_bon@c2.png"/>
          <p:cNvPicPr>
            <a:picLocks noChangeAspect="1"/>
          </p:cNvPicPr>
          <p:nvPr/>
        </p:nvPicPr>
        <p:blipFill>
          <a:blip r:embed="rId11"/>
          <a:srcRect t="10853" b="10853"/>
          <a:stretch>
            <a:fillRect/>
          </a:stretch>
        </p:blipFill>
        <p:spPr>
          <a:xfrm>
            <a:off x="6332032" y="2633472"/>
            <a:ext cx="1006269" cy="1303020"/>
          </a:xfrm>
          <a:prstGeom prst="rect">
            <a:avLst/>
          </a:prstGeom>
        </p:spPr>
      </p:pic>
      <p:pic>
        <p:nvPicPr>
          <p:cNvPr id="32" name="Picture 31" descr="prod_xu_ly@c2.png"/>
          <p:cNvPicPr>
            <a:picLocks noChangeAspect="1"/>
          </p:cNvPicPr>
          <p:nvPr/>
        </p:nvPicPr>
        <p:blipFill>
          <a:blip r:embed="rId12"/>
          <a:srcRect t="13080" b="13080"/>
          <a:stretch>
            <a:fillRect/>
          </a:stretch>
        </p:blipFill>
        <p:spPr>
          <a:xfrm>
            <a:off x="7233481" y="2894076"/>
            <a:ext cx="880485" cy="1042416"/>
          </a:xfrm>
          <a:prstGeom prst="rect">
            <a:avLst/>
          </a:prstGeom>
        </p:spPr>
      </p:pic>
      <p:pic>
        <p:nvPicPr>
          <p:cNvPr id="33" name="Picture 32" descr="prod_tru_sau@c2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8072038" y="2926263"/>
            <a:ext cx="880485" cy="1010229"/>
          </a:xfrm>
          <a:prstGeom prst="rect">
            <a:avLst/>
          </a:prstGeom>
        </p:spPr>
      </p:pic>
      <p:pic>
        <p:nvPicPr>
          <p:cNvPr id="34" name="Picture 33" descr="prod_vi_sinh@c2.png"/>
          <p:cNvPicPr>
            <a:picLocks noChangeAspect="1"/>
          </p:cNvPicPr>
          <p:nvPr/>
        </p:nvPicPr>
        <p:blipFill>
          <a:blip r:embed="rId14"/>
          <a:srcRect t="28329" b="28329"/>
          <a:stretch>
            <a:fillRect/>
          </a:stretch>
        </p:blipFill>
        <p:spPr>
          <a:xfrm>
            <a:off x="8910596" y="2894076"/>
            <a:ext cx="880485" cy="1042416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9803639" y="2715768"/>
            <a:ext cx="219456" cy="21945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077959" y="2715768"/>
            <a:ext cx="219456" cy="219456"/>
          </a:xfrm>
          <a:prstGeom prst="ellipse">
            <a:avLst/>
          </a:prstGeom>
          <a:solidFill>
            <a:srgbClr val="E04A2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352279" y="2715768"/>
            <a:ext cx="219456" cy="219456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626599" y="2715768"/>
            <a:ext cx="219456" cy="219456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00919" y="2715768"/>
            <a:ext cx="219456" cy="219456"/>
          </a:xfrm>
          <a:prstGeom prst="ellipse">
            <a:avLst/>
          </a:prstGeom>
          <a:solidFill>
            <a:srgbClr val="F6D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03639" y="3063240"/>
            <a:ext cx="1731215" cy="891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Giàu dinh dưỡng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Tăng năng suất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An toàn, bền vững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274820"/>
            <a:ext cx="5410048" cy="208026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Pentagon 41"/>
          <p:cNvSpPr/>
          <p:nvPr/>
        </p:nvSpPr>
        <p:spPr>
          <a:xfrm>
            <a:off x="548640" y="4411980"/>
            <a:ext cx="1417320" cy="384048"/>
          </a:xfrm>
          <a:prstGeom prst="homePlat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CONCEPT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4384548"/>
            <a:ext cx="3718408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565C0"/>
                </a:solidFill>
                <a:latin typeface="Nunito Sans SemiBold"/>
                <a:ea typeface="Nunito Sans SemiBold"/>
                <a:cs typeface="Nunito Sans SemiBold"/>
              </a:rPr>
              <a:t>Xanh – trắng – Truy xuất nguồn gốc</a:t>
            </a:r>
          </a:p>
        </p:txBody>
      </p:sp>
      <p:pic>
        <p:nvPicPr>
          <p:cNvPr id="44" name="Picture 43" descr="prod_phan_bon@c3.png"/>
          <p:cNvPicPr>
            <a:picLocks noChangeAspect="1"/>
          </p:cNvPicPr>
          <p:nvPr/>
        </p:nvPicPr>
        <p:blipFill>
          <a:blip r:embed="rId15"/>
          <a:srcRect t="10853" b="10853"/>
          <a:stretch>
            <a:fillRect/>
          </a:stretch>
        </p:blipFill>
        <p:spPr>
          <a:xfrm>
            <a:off x="647664" y="4942332"/>
            <a:ext cx="1006269" cy="1303020"/>
          </a:xfrm>
          <a:prstGeom prst="rect">
            <a:avLst/>
          </a:prstGeom>
        </p:spPr>
      </p:pic>
      <p:pic>
        <p:nvPicPr>
          <p:cNvPr id="45" name="Picture 44" descr="prod_xu_ly@c3.png"/>
          <p:cNvPicPr>
            <a:picLocks noChangeAspect="1"/>
          </p:cNvPicPr>
          <p:nvPr/>
        </p:nvPicPr>
        <p:blipFill>
          <a:blip r:embed="rId16"/>
          <a:srcRect t="13080" b="13080"/>
          <a:stretch>
            <a:fillRect/>
          </a:stretch>
        </p:blipFill>
        <p:spPr>
          <a:xfrm>
            <a:off x="1549113" y="5202936"/>
            <a:ext cx="880485" cy="1042416"/>
          </a:xfrm>
          <a:prstGeom prst="rect">
            <a:avLst/>
          </a:prstGeom>
        </p:spPr>
      </p:pic>
      <p:pic>
        <p:nvPicPr>
          <p:cNvPr id="46" name="Picture 45" descr="prod_tru_sau@c3.png"/>
          <p:cNvPicPr>
            <a:picLocks noChangeAspect="1"/>
          </p:cNvPicPr>
          <p:nvPr/>
        </p:nvPicPr>
        <p:blipFill>
          <a:blip r:embed="rId17"/>
          <a:srcRect/>
          <a:stretch>
            <a:fillRect/>
          </a:stretch>
        </p:blipFill>
        <p:spPr>
          <a:xfrm>
            <a:off x="2387671" y="5235123"/>
            <a:ext cx="880485" cy="1010229"/>
          </a:xfrm>
          <a:prstGeom prst="rect">
            <a:avLst/>
          </a:prstGeom>
        </p:spPr>
      </p:pic>
      <p:pic>
        <p:nvPicPr>
          <p:cNvPr id="47" name="Picture 46" descr="prod_vi_sinh@c3.png"/>
          <p:cNvPicPr>
            <a:picLocks noChangeAspect="1"/>
          </p:cNvPicPr>
          <p:nvPr/>
        </p:nvPicPr>
        <p:blipFill>
          <a:blip r:embed="rId18"/>
          <a:srcRect t="28329" b="28329"/>
          <a:stretch>
            <a:fillRect/>
          </a:stretch>
        </p:blipFill>
        <p:spPr>
          <a:xfrm>
            <a:off x="3226228" y="5202936"/>
            <a:ext cx="880485" cy="1042416"/>
          </a:xfrm>
          <a:prstGeom prst="rect">
            <a:avLst/>
          </a:prstGeom>
        </p:spPr>
      </p:pic>
      <p:sp>
        <p:nvSpPr>
          <p:cNvPr id="48" name="Oval 47"/>
          <p:cNvSpPr/>
          <p:nvPr/>
        </p:nvSpPr>
        <p:spPr>
          <a:xfrm>
            <a:off x="4119271" y="5024628"/>
            <a:ext cx="219456" cy="219456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393591" y="5024628"/>
            <a:ext cx="219456" cy="219456"/>
          </a:xfrm>
          <a:prstGeom prst="ellipse">
            <a:avLst/>
          </a:prstGeom>
          <a:solidFill>
            <a:srgbClr val="43A04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667911" y="5024628"/>
            <a:ext cx="219456" cy="21945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942231" y="5024628"/>
            <a:ext cx="219456" cy="219456"/>
          </a:xfrm>
          <a:prstGeom prst="ellipse">
            <a:avLst/>
          </a:prstGeom>
          <a:solidFill>
            <a:srgbClr val="81C78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16551" y="5024628"/>
            <a:ext cx="219456" cy="219456"/>
          </a:xfrm>
          <a:prstGeom prst="ellipse">
            <a:avLst/>
          </a:prstGeom>
          <a:solidFill>
            <a:srgbClr val="B0BEC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9271" y="5372100"/>
            <a:ext cx="1731215" cy="891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Truy xuất nguồn gốc minh bạch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Chất lượng đồng nhất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Niềm tin bền vững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33008" y="4274820"/>
            <a:ext cx="5410048" cy="208026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Pentagon 54"/>
          <p:cNvSpPr/>
          <p:nvPr/>
        </p:nvSpPr>
        <p:spPr>
          <a:xfrm>
            <a:off x="6233008" y="4411980"/>
            <a:ext cx="1417320" cy="384048"/>
          </a:xfrm>
          <a:prstGeom prst="homePlat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CONCEPT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87488" y="4384548"/>
            <a:ext cx="3718408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E7D32"/>
                </a:solidFill>
                <a:latin typeface="Nunito Sans SemiBold"/>
                <a:ea typeface="Nunito Sans SemiBold"/>
                <a:cs typeface="Nunito Sans SemiBold"/>
              </a:rPr>
              <a:t>An toàn từ gốc – Xanh cho tương lai</a:t>
            </a:r>
          </a:p>
        </p:txBody>
      </p:sp>
      <p:pic>
        <p:nvPicPr>
          <p:cNvPr id="57" name="Picture 56" descr="prod_phan_bon@c4.png"/>
          <p:cNvPicPr>
            <a:picLocks noChangeAspect="1"/>
          </p:cNvPicPr>
          <p:nvPr/>
        </p:nvPicPr>
        <p:blipFill>
          <a:blip r:embed="rId19"/>
          <a:srcRect t="10853" b="10853"/>
          <a:stretch>
            <a:fillRect/>
          </a:stretch>
        </p:blipFill>
        <p:spPr>
          <a:xfrm>
            <a:off x="6332032" y="4942332"/>
            <a:ext cx="1006269" cy="1303020"/>
          </a:xfrm>
          <a:prstGeom prst="rect">
            <a:avLst/>
          </a:prstGeom>
        </p:spPr>
      </p:pic>
      <p:pic>
        <p:nvPicPr>
          <p:cNvPr id="58" name="Picture 57" descr="prod_xu_ly@c4.png"/>
          <p:cNvPicPr>
            <a:picLocks noChangeAspect="1"/>
          </p:cNvPicPr>
          <p:nvPr/>
        </p:nvPicPr>
        <p:blipFill>
          <a:blip r:embed="rId20"/>
          <a:srcRect t="13080" b="13080"/>
          <a:stretch>
            <a:fillRect/>
          </a:stretch>
        </p:blipFill>
        <p:spPr>
          <a:xfrm>
            <a:off x="7233481" y="5202936"/>
            <a:ext cx="880485" cy="1042416"/>
          </a:xfrm>
          <a:prstGeom prst="rect">
            <a:avLst/>
          </a:prstGeom>
        </p:spPr>
      </p:pic>
      <p:pic>
        <p:nvPicPr>
          <p:cNvPr id="59" name="Picture 58" descr="prod_tru_sau@c4.png"/>
          <p:cNvPicPr>
            <a:picLocks noChangeAspect="1"/>
          </p:cNvPicPr>
          <p:nvPr/>
        </p:nvPicPr>
        <p:blipFill>
          <a:blip r:embed="rId21"/>
          <a:srcRect/>
          <a:stretch>
            <a:fillRect/>
          </a:stretch>
        </p:blipFill>
        <p:spPr>
          <a:xfrm>
            <a:off x="8072038" y="5235123"/>
            <a:ext cx="880485" cy="1010229"/>
          </a:xfrm>
          <a:prstGeom prst="rect">
            <a:avLst/>
          </a:prstGeom>
        </p:spPr>
      </p:pic>
      <p:pic>
        <p:nvPicPr>
          <p:cNvPr id="60" name="Picture 59" descr="prod_vi_sinh@c4.png"/>
          <p:cNvPicPr>
            <a:picLocks noChangeAspect="1"/>
          </p:cNvPicPr>
          <p:nvPr/>
        </p:nvPicPr>
        <p:blipFill>
          <a:blip r:embed="rId22"/>
          <a:srcRect t="28329" b="28329"/>
          <a:stretch>
            <a:fillRect/>
          </a:stretch>
        </p:blipFill>
        <p:spPr>
          <a:xfrm>
            <a:off x="8910596" y="5202936"/>
            <a:ext cx="880485" cy="1042416"/>
          </a:xfrm>
          <a:prstGeom prst="rect">
            <a:avLst/>
          </a:prstGeom>
        </p:spPr>
      </p:pic>
      <p:sp>
        <p:nvSpPr>
          <p:cNvPr id="61" name="Oval 60"/>
          <p:cNvSpPr/>
          <p:nvPr/>
        </p:nvSpPr>
        <p:spPr>
          <a:xfrm>
            <a:off x="9803639" y="5024628"/>
            <a:ext cx="219456" cy="219456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077959" y="5024628"/>
            <a:ext cx="219456" cy="219456"/>
          </a:xfrm>
          <a:prstGeom prst="ellipse">
            <a:avLst/>
          </a:prstGeom>
          <a:solidFill>
            <a:srgbClr val="43A04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352279" y="5024628"/>
            <a:ext cx="219456" cy="219456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626599" y="5024628"/>
            <a:ext cx="219456" cy="219456"/>
          </a:xfrm>
          <a:prstGeom prst="ellipse">
            <a:avLst/>
          </a:prstGeom>
          <a:solidFill>
            <a:srgbClr val="9CCC6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900919" y="5024628"/>
            <a:ext cx="219456" cy="219456"/>
          </a:xfrm>
          <a:prstGeom prst="ellipse">
            <a:avLst/>
          </a:prstGeom>
          <a:solidFill>
            <a:srgbClr val="CFD8D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03639" y="5372100"/>
            <a:ext cx="1731215" cy="891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An toàn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Tiêu chuẩn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✓  Thân thiện môi trường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9A8F86"/>
                </a:solidFill>
                <a:latin typeface="Nunito Sans"/>
                <a:ea typeface="Nunito Sans"/>
                <a:cs typeface="Nunito Sans"/>
              </a:rPr>
              <a:t>Các phương án đang chờ lựa chọn — bộ slide dựng lại theo concept được chốt (đổi SCHEME).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9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3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8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9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3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8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3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8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9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3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4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8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9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3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4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3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4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8" dur="6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9" dur="6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3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4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8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9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3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4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8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3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4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8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9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3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4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8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9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3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4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5058638" y="603504"/>
            <a:ext cx="654854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A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A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2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ƯU ĐIỂM NỔI BẬT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548640" y="125272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0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sản phẩm sinh học</a:t>
            </a:r>
          </a:p>
        </p:txBody>
      </p:sp>
      <p:pic>
        <p:nvPicPr>
          <p:cNvPr id="15" name="Picture 14" descr="glow_A8D26B_45_1.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92728" y="2103120"/>
            <a:ext cx="4206240" cy="4206240"/>
          </a:xfrm>
          <a:prstGeom prst="rect">
            <a:avLst/>
          </a:prstGeom>
        </p:spPr>
      </p:pic>
      <p:pic>
        <p:nvPicPr>
          <p:cNvPr id="16" name="!!p_phan_bon" descr="prod_phan_bon.png"/>
          <p:cNvPicPr>
            <a:picLocks noChangeAspect="1"/>
          </p:cNvPicPr>
          <p:nvPr/>
        </p:nvPicPr>
        <p:blipFill>
          <a:blip r:embed="rId8"/>
          <a:srcRect l="0" r="0"/>
          <a:stretch>
            <a:fillRect/>
          </a:stretch>
        </p:blipFill>
        <p:spPr>
          <a:xfrm rot="21360000">
            <a:off x="4824236" y="2194560"/>
            <a:ext cx="2543224" cy="420624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66928" y="2167128"/>
            <a:ext cx="658368" cy="658368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rout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331720"/>
            <a:ext cx="329184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371600" y="216712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Cải tạo đất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5603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Tăng mùn, giúp đất tơi xốp, giữ ẩm và giữ dinh dưỡng tốt hơn.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60520" y="2496312"/>
            <a:ext cx="746608" cy="365760"/>
          </a:xfrm>
          <a:prstGeom prst="line">
            <a:avLst/>
          </a:prstGeom>
          <a:ln w="12700">
            <a:solidFill>
              <a:srgbClr val="2E8B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852264" y="2807208"/>
            <a:ext cx="109728" cy="109728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6928" y="4361688"/>
            <a:ext cx="658368" cy="658368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hield-check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526280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71600" y="436168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Cây khỏe – ít bệnh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7548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Vi sinh vật có ích ức chế nấm bệnh vùng rễ.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4160520" y="4416552"/>
            <a:ext cx="746608" cy="274320"/>
          </a:xfrm>
          <a:prstGeom prst="line">
            <a:avLst/>
          </a:prstGeom>
          <a:ln w="12700">
            <a:solidFill>
              <a:srgbClr val="2E8B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852264" y="4361688"/>
            <a:ext cx="109728" cy="109728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66399" y="2167128"/>
            <a:ext cx="658368" cy="658368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eaf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0991" y="2331720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076895" y="216712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500" b="1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An toàn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6895" y="25603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Thân thiện môi trường, an toàn cho người sử dụng và nông sản.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7284568" y="2496312"/>
            <a:ext cx="746607" cy="365760"/>
          </a:xfrm>
          <a:prstGeom prst="line">
            <a:avLst/>
          </a:prstGeom>
          <a:ln w="12700">
            <a:solidFill>
              <a:srgbClr val="2E8B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229704" y="2807208"/>
            <a:ext cx="109728" cy="109728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66399" y="4361688"/>
            <a:ext cx="658368" cy="658368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iggy-bank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30991" y="4526280"/>
            <a:ext cx="329184" cy="3291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76895" y="436168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500" b="1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Tiết kiệm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6895" y="47548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Giảm lượng phân, thuốc hóa học cần dùng, tối ưu chi phí mỗi vụ.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7284568" y="4416552"/>
            <a:ext cx="746607" cy="274320"/>
          </a:xfrm>
          <a:prstGeom prst="line">
            <a:avLst/>
          </a:prstGeom>
          <a:ln w="12700">
            <a:solidFill>
              <a:srgbClr val="2E8B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229704" y="4361688"/>
            <a:ext cx="109728" cy="109728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4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5058638" y="603504"/>
            <a:ext cx="654854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A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A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3" name="!!p_phan_bon" descr="prod_phan_bon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21300000">
            <a:off x="1570478" y="1417320"/>
            <a:ext cx="2985524" cy="4937760"/>
          </a:xfrm>
          <a:prstGeom prst="rect">
            <a:avLst/>
          </a:prstGeom>
        </p:spPr>
      </p:pic>
      <p:sp>
        <p:nvSpPr>
          <p:cNvPr id="14" name="!!h_title"/>
          <p:cNvSpPr txBox="1"/>
          <p:nvPr/>
        </p:nvSpPr>
        <p:spPr>
          <a:xfrm>
            <a:off x="5760720" y="914400"/>
            <a:ext cx="588233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6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THÔNG SỐ SẢN PHẨM</a:t>
            </a:r>
          </a:p>
        </p:txBody>
      </p:sp>
      <p:sp>
        <p:nvSpPr>
          <p:cNvPr id="15" name="!!h_script"/>
          <p:cNvSpPr txBox="1"/>
          <p:nvPr/>
        </p:nvSpPr>
        <p:spPr>
          <a:xfrm>
            <a:off x="6126480" y="1371600"/>
            <a:ext cx="5882335" cy="640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Phân bón hữu cơ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760720" y="2194560"/>
          <a:ext cx="5882336" cy="3200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41446"/>
                <a:gridCol w="224089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Chỉ tiêu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2E8B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Hàm lượng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2E8B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A20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Chất hữu cơ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A20"/>
                          </a:solidFill>
                          <a:latin typeface="Montserrat"/>
                          <a:ea typeface="Montserrat"/>
                          <a:cs typeface="Montserrat"/>
                        </a:rPr>
                        <a:t>≥ 20%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A20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Axit humic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2F5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A20"/>
                          </a:solidFill>
                          <a:latin typeface="Montserrat"/>
                          <a:ea typeface="Montserrat"/>
                          <a:cs typeface="Montserrat"/>
                        </a:rPr>
                        <a:t>≥ 2%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2F5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A20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Vi sinh vật có ích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A20"/>
                          </a:solidFill>
                          <a:latin typeface="Montserrat"/>
                          <a:ea typeface="Montserrat"/>
                          <a:cs typeface="Montserrat"/>
                        </a:rPr>
                        <a:t>≥ 1×10⁶ CFU/g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A20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Độ ẩm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2F5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A20"/>
                          </a:solidFill>
                          <a:latin typeface="Montserrat"/>
                          <a:ea typeface="Montserrat"/>
                          <a:cs typeface="Montserrat"/>
                        </a:rPr>
                        <a:t>≤ 30%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2F5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A20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pH H₂O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A20"/>
                          </a:solidFill>
                          <a:latin typeface="Montserrat"/>
                          <a:ea typeface="Montserrat"/>
                          <a:cs typeface="Montserrat"/>
                        </a:rPr>
                        <a:t>5 – 7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A20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Quy cách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2F5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A20"/>
                          </a:solidFill>
                          <a:latin typeface="Montserrat"/>
                          <a:ea typeface="Montserrat"/>
                          <a:cs typeface="Montserrat"/>
                        </a:rPr>
                        <a:t>Bao 25 kg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DDE5D6"/>
                      </a:solidFill>
                    </a:lnL>
                    <a:lnR w="9525">
                      <a:solidFill>
                        <a:srgbClr val="DDE5D6"/>
                      </a:solidFill>
                    </a:lnR>
                    <a:lnT w="9525">
                      <a:solidFill>
                        <a:srgbClr val="DDE5D6"/>
                      </a:solidFill>
                    </a:lnT>
                    <a:lnB w="9525">
                      <a:solidFill>
                        <a:srgbClr val="DDE5D6"/>
                      </a:solidFill>
                    </a:lnB>
                    <a:solidFill>
                      <a:srgbClr val="F2F5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760720" y="5486400"/>
            <a:ext cx="5882335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50" b="0" i="0">
                <a:solidFill>
                  <a:srgbClr val="9A8F86"/>
                </a:solidFill>
                <a:latin typeface="Nunito Sans"/>
                <a:ea typeface="Nunito Sans"/>
                <a:cs typeface="Nunito Sans"/>
              </a:rPr>
              <a:t>Thông số </a:t>
            </a:r>
            <a:r>
              <a:rPr sz="10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minh họa</a:t>
            </a:r>
            <a:r>
              <a:rPr sz="1050" b="0" i="0">
                <a:solidFill>
                  <a:srgbClr val="9A8F86"/>
                </a:solidFill>
                <a:latin typeface="Nunito Sans"/>
                <a:ea typeface="Nunito Sans"/>
                <a:cs typeface="Nunito Sans"/>
              </a:rPr>
              <a:t> — thay bằng thông số trên nhãn sản phẩm đã đăng ký lưu hành.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1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4" grpId="0" animBg="1"/>
      <p:bldP spid="15" grpId="0" animBg="1"/>
      <p:bldGraphic spid="16" grpId="0">
        <p:bldAsOne/>
      </p:bldGraphic>
      <p:bldP spid="1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6216412" y="603504"/>
            <a:ext cx="717520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A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A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2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HƯỚNG DẪN SỬ DỤNG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548640" y="125272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0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bộ giải pháp sinh học</a:t>
            </a:r>
          </a:p>
        </p:txBody>
      </p:sp>
      <p:pic>
        <p:nvPicPr>
          <p:cNvPr id="15" name="!!p_phan_bon" descr="prod_phan_bon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21240000">
            <a:off x="530603" y="2468880"/>
            <a:ext cx="2322074" cy="3840480"/>
          </a:xfrm>
          <a:prstGeom prst="rect">
            <a:avLst/>
          </a:prstGeom>
        </p:spPr>
      </p:pic>
      <p:cxnSp>
        <p:nvCxnSpPr>
          <p:cNvPr id="16" name="Connector 15"/>
          <p:cNvCxnSpPr/>
          <p:nvPr/>
        </p:nvCxnSpPr>
        <p:spPr>
          <a:xfrm>
            <a:off x="3797778" y="2880360"/>
            <a:ext cx="6973580" cy="0"/>
          </a:xfrm>
          <a:prstGeom prst="line">
            <a:avLst/>
          </a:prstGeom>
          <a:ln w="25400">
            <a:solidFill>
              <a:srgbClr val="2E8B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294858" y="237744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3A"/>
            </a:solidFill>
          </a:ln>
          <a:effectLst>
            <a:outerShdw blurRad="182880" dist="45720" dir="5400000" algn="ctr" rotWithShape="0">
              <a:srgbClr val="3B2A2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ovel_2E8B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1746" y="2624328"/>
            <a:ext cx="512064" cy="51206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3998946" y="2286000"/>
            <a:ext cx="347472" cy="347472"/>
          </a:xfrm>
          <a:prstGeom prst="ellipse">
            <a:avLst/>
          </a:prstGeom>
          <a:solidFill>
            <a:srgbClr val="1E6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232" y="3566160"/>
            <a:ext cx="1597091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Xử lý đất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60520"/>
            <a:ext cx="1560515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Phun chế phẩm xử lý môi trường, phân giải tàn dư vụ trước.</a:t>
            </a:r>
          </a:p>
        </p:txBody>
      </p:sp>
      <p:sp>
        <p:nvSpPr>
          <p:cNvPr id="22" name="Oval 21"/>
          <p:cNvSpPr/>
          <p:nvPr/>
        </p:nvSpPr>
        <p:spPr>
          <a:xfrm>
            <a:off x="5038253" y="237744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3A"/>
            </a:solidFill>
          </a:ln>
          <a:effectLst>
            <a:outerShdw blurRad="182880" dist="45720" dir="5400000" algn="ctr" rotWithShape="0">
              <a:srgbClr val="3B2A2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ackage-open_2E8B3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5141" y="2624328"/>
            <a:ext cx="512064" cy="512064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5742341" y="2286000"/>
            <a:ext cx="347472" cy="347472"/>
          </a:xfrm>
          <a:prstGeom prst="ellipse">
            <a:avLst/>
          </a:prstGeom>
          <a:solidFill>
            <a:srgbClr val="1E6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42627" y="3566160"/>
            <a:ext cx="1597091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Bón lót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0915" y="4160520"/>
            <a:ext cx="1560515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Rải phân bón hữu cơ trước khi gieo trồng.</a:t>
            </a:r>
          </a:p>
        </p:txBody>
      </p:sp>
      <p:sp>
        <p:nvSpPr>
          <p:cNvPr id="27" name="Oval 26"/>
          <p:cNvSpPr/>
          <p:nvPr/>
        </p:nvSpPr>
        <p:spPr>
          <a:xfrm>
            <a:off x="6781648" y="237744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3A"/>
            </a:solidFill>
          </a:ln>
          <a:effectLst>
            <a:outerShdw blurRad="182880" dist="45720" dir="5400000" algn="ctr" rotWithShape="0">
              <a:srgbClr val="3B2A2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8536" y="2624328"/>
            <a:ext cx="512064" cy="512064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7485736" y="2286000"/>
            <a:ext cx="347472" cy="347472"/>
          </a:xfrm>
          <a:prstGeom prst="ellipse">
            <a:avLst/>
          </a:prstGeom>
          <a:solidFill>
            <a:srgbClr val="1E6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6022" y="3566160"/>
            <a:ext cx="1597091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Bổ sung vi sinh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04310" y="4160520"/>
            <a:ext cx="1560515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Tưới chế phẩm vi sinh quanh vùng rễ.</a:t>
            </a:r>
          </a:p>
        </p:txBody>
      </p:sp>
      <p:sp>
        <p:nvSpPr>
          <p:cNvPr id="32" name="Oval 31"/>
          <p:cNvSpPr/>
          <p:nvPr/>
        </p:nvSpPr>
        <p:spPr>
          <a:xfrm>
            <a:off x="8525043" y="237744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3A"/>
            </a:solidFill>
          </a:ln>
          <a:effectLst>
            <a:outerShdw blurRad="182880" dist="45720" dir="5400000" algn="ctr" rotWithShape="0">
              <a:srgbClr val="3B2A2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hield-check_2E8B3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1931" y="2624328"/>
            <a:ext cx="512064" cy="512064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9229131" y="2286000"/>
            <a:ext cx="347472" cy="347472"/>
          </a:xfrm>
          <a:prstGeom prst="ellipse">
            <a:avLst/>
          </a:prstGeom>
          <a:solidFill>
            <a:srgbClr val="1E6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417" y="3566160"/>
            <a:ext cx="1597091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Phòng sâu bệnh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705" y="4160520"/>
            <a:ext cx="1560515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Phun dịch phẩm vi sinh, thuốc sinh học khi cần.</a:t>
            </a:r>
          </a:p>
        </p:txBody>
      </p:sp>
      <p:sp>
        <p:nvSpPr>
          <p:cNvPr id="37" name="Oval 36"/>
          <p:cNvSpPr/>
          <p:nvPr/>
        </p:nvSpPr>
        <p:spPr>
          <a:xfrm>
            <a:off x="10268438" y="237744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3A"/>
            </a:solidFill>
          </a:ln>
          <a:effectLst>
            <a:outerShdw blurRad="182880" dist="45720" dir="5400000" algn="ctr" rotWithShape="0">
              <a:srgbClr val="3B2A2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clipboard-check_2E8B3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15326" y="2624328"/>
            <a:ext cx="512064" cy="512064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0972526" y="2286000"/>
            <a:ext cx="347472" cy="347472"/>
          </a:xfrm>
          <a:prstGeom prst="ellipse">
            <a:avLst/>
          </a:prstGeom>
          <a:solidFill>
            <a:srgbClr val="1E6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72812" y="3566160"/>
            <a:ext cx="1597091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B2A20"/>
                </a:solidFill>
                <a:latin typeface="Nunito Sans"/>
                <a:ea typeface="Nunito Sans"/>
                <a:cs typeface="Nunito Sans"/>
              </a:rPr>
              <a:t>Theo dõi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1100" y="4160520"/>
            <a:ext cx="1560515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Ghi chép, đánh giá hiệu quả sau mỗi vụ.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30" grpId="0" animBg="1"/>
      <p:bldP spid="31" grpId="0" animBg="1"/>
      <p:bldP spid="32" grpId="0" animBg="1"/>
      <p:bldP spid="34" grpId="0" animBg="1"/>
      <p:bldP spid="35" grpId="0" animBg="1"/>
      <p:bldP spid="36" grpId="0" animBg="1"/>
      <p:bldP spid="37" grpId="0" animBg="1"/>
      <p:bldP spid="39" grpId="0" animBg="1"/>
      <p:bldP spid="40" grpId="0" animBg="1"/>
      <p:bldP spid="41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6216412" y="603504"/>
            <a:ext cx="717520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A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A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868680"/>
            <a:ext cx="73152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2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HIỆU QUẢ THỰC TẾ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868680" y="1252728"/>
            <a:ext cx="7315200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mô hình trình diễn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057400"/>
            <a:ext cx="6675120" cy="42062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777240" y="2240280"/>
          <a:ext cx="6217920" cy="352044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22960" y="580644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1">
                <a:solidFill>
                  <a:srgbClr val="9A8F86"/>
                </a:solidFill>
                <a:latin typeface="Nunito Sans"/>
                <a:ea typeface="Nunito Sans"/>
                <a:cs typeface="Nunito Sans"/>
              </a:rPr>
              <a:t>Năng suất lúa (tạ/ha) — số liệu minh họa, thay bằng kết quả mô hình thực tế.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057400"/>
            <a:ext cx="4099255" cy="896112"/>
          </a:xfrm>
          <a:prstGeom prst="roundRect">
            <a:avLst>
              <a:gd name="adj" fmla="val 16326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103120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+15</a:t>
            </a:r>
            <a:r>
              <a:rPr sz="15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130552"/>
            <a:ext cx="19504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Năng suất sau 4 vụ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3081528"/>
            <a:ext cx="4099255" cy="896112"/>
          </a:xfrm>
          <a:prstGeom prst="roundRect">
            <a:avLst>
              <a:gd name="adj" fmla="val 16326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127248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-25</a:t>
            </a:r>
            <a:r>
              <a:rPr sz="15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154680"/>
            <a:ext cx="19504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Lượng phân, thuốc hóa học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4105656"/>
            <a:ext cx="4099255" cy="896112"/>
          </a:xfrm>
          <a:prstGeom prst="roundRect">
            <a:avLst>
              <a:gd name="adj" fmla="val 16326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4151376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3</a:t>
            </a:r>
            <a:r>
              <a:rPr sz="15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 tỉnh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178808"/>
            <a:ext cx="19504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Có mô hình trình diễn</a:t>
            </a:r>
          </a:p>
        </p:txBody>
      </p:sp>
      <p:pic>
        <p:nvPicPr>
          <p:cNvPr id="27" name="Picture 26" descr="1272118b3c317d0a.jpg"/>
          <p:cNvPicPr>
            <a:picLocks noChangeAspect="1"/>
          </p:cNvPicPr>
          <p:nvPr/>
        </p:nvPicPr>
        <p:blipFill>
          <a:blip r:embed="rId8"/>
          <a:srcRect t="26206" b="26206"/>
          <a:stretch>
            <a:fillRect/>
          </a:stretch>
        </p:blipFill>
        <p:spPr>
          <a:xfrm>
            <a:off x="7543800" y="5166360"/>
            <a:ext cx="4099255" cy="1097280"/>
          </a:xfrm>
          <a:prstGeom prst="roundRect">
            <a:avLst>
              <a:gd name="adj" fmla="val 11666"/>
            </a:avLst>
          </a:prstGeom>
        </p:spPr>
      </p:pic>
      <p:sp>
        <p:nvSpPr>
          <p:cNvPr id="28" name="TextBox 27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Graphic spid="16" grpId="0">
        <p:bldAsOne/>
      </p:bldGraphic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17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6216412" y="603504"/>
            <a:ext cx="717520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A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A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86868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0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THỰC TẾ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868680" y="1252728"/>
            <a:ext cx="5486400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8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mô hình trình diễn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1874520"/>
            <a:ext cx="576072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2971800" y="1874520"/>
            <a:ext cx="5760720" cy="292608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F2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08960" y="1975104"/>
            <a:ext cx="91440" cy="91440"/>
          </a:xfrm>
          <a:prstGeom prst="ellipse">
            <a:avLst/>
          </a:prstGeom>
          <a:solidFill>
            <a:srgbClr val="E86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64408" y="1975104"/>
            <a:ext cx="91440" cy="9144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19856" y="1975104"/>
            <a:ext cx="91440" cy="91440"/>
          </a:xfrm>
          <a:prstGeom prst="ellipse">
            <a:avLst/>
          </a:prstGeom>
          <a:solidFill>
            <a:srgbClr val="7C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eb3f208a86aa23f.jpg"/>
          <p:cNvPicPr>
            <a:picLocks noChangeAspect="1"/>
          </p:cNvPicPr>
          <p:nvPr/>
        </p:nvPicPr>
        <p:blipFill>
          <a:blip r:embed="rId7"/>
          <a:srcRect t="4297" b="4297"/>
          <a:stretch>
            <a:fillRect/>
          </a:stretch>
        </p:blipFill>
        <p:spPr>
          <a:xfrm>
            <a:off x="3081528" y="2258568"/>
            <a:ext cx="5541264" cy="3383280"/>
          </a:xfrm>
          <a:prstGeom prst="roundRect">
            <a:avLst>
              <a:gd name="adj" fmla="val 2162"/>
            </a:avLst>
          </a:prstGeom>
        </p:spPr>
      </p:pic>
      <p:sp>
        <p:nvSpPr>
          <p:cNvPr id="21" name="TextBox 20"/>
          <p:cNvSpPr txBox="1"/>
          <p:nvPr/>
        </p:nvSpPr>
        <p:spPr>
          <a:xfrm>
            <a:off x="3200400" y="56692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MÔ HÌNH CANH TÁC SINH HỌC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24028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9098280" y="2240280"/>
            <a:ext cx="2606040" cy="292608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F2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0" y="2340864"/>
            <a:ext cx="91440" cy="91440"/>
          </a:xfrm>
          <a:prstGeom prst="ellipse">
            <a:avLst/>
          </a:prstGeom>
          <a:solidFill>
            <a:srgbClr val="E86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90888" y="2340864"/>
            <a:ext cx="91440" cy="9144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46336" y="2340864"/>
            <a:ext cx="91440" cy="91440"/>
          </a:xfrm>
          <a:prstGeom prst="ellipse">
            <a:avLst/>
          </a:prstGeom>
          <a:solidFill>
            <a:srgbClr val="7C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511495c5957f2db.jpg"/>
          <p:cNvPicPr>
            <a:picLocks noChangeAspect="1"/>
          </p:cNvPicPr>
          <p:nvPr/>
        </p:nvPicPr>
        <p:blipFill>
          <a:blip r:embed="rId8"/>
          <a:srcRect l="1559" r="1559"/>
          <a:stretch>
            <a:fillRect/>
          </a:stretch>
        </p:blipFill>
        <p:spPr>
          <a:xfrm>
            <a:off x="9208008" y="2624328"/>
            <a:ext cx="2386584" cy="1792224"/>
          </a:xfrm>
          <a:prstGeom prst="roundRect">
            <a:avLst>
              <a:gd name="adj" fmla="val 4081"/>
            </a:avLst>
          </a:prstGeom>
        </p:spPr>
      </p:pic>
      <p:sp>
        <p:nvSpPr>
          <p:cNvPr id="28" name="Rounded Rectangle 27"/>
          <p:cNvSpPr/>
          <p:nvPr/>
        </p:nvSpPr>
        <p:spPr>
          <a:xfrm>
            <a:off x="548640" y="342900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548640" y="3429000"/>
            <a:ext cx="2148840" cy="292608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F2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3529584"/>
            <a:ext cx="91440" cy="91440"/>
          </a:xfrm>
          <a:prstGeom prst="ellipse">
            <a:avLst/>
          </a:prstGeom>
          <a:solidFill>
            <a:srgbClr val="E86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1248" y="3529584"/>
            <a:ext cx="91440" cy="9144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6" y="3529584"/>
            <a:ext cx="91440" cy="91440"/>
          </a:xfrm>
          <a:prstGeom prst="ellipse">
            <a:avLst/>
          </a:prstGeom>
          <a:solidFill>
            <a:srgbClr val="7C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4e99bd1bbe3c1cd0.jpg"/>
          <p:cNvPicPr>
            <a:picLocks noChangeAspect="1"/>
          </p:cNvPicPr>
          <p:nvPr/>
        </p:nvPicPr>
        <p:blipFill>
          <a:blip r:embed="rId9"/>
          <a:srcRect l="11123" r="11123"/>
          <a:stretch>
            <a:fillRect/>
          </a:stretch>
        </p:blipFill>
        <p:spPr>
          <a:xfrm>
            <a:off x="658368" y="3813048"/>
            <a:ext cx="1929384" cy="1655064"/>
          </a:xfrm>
          <a:prstGeom prst="roundRect">
            <a:avLst>
              <a:gd name="adj" fmla="val 4419"/>
            </a:avLst>
          </a:prstGeom>
        </p:spPr>
      </p:pic>
      <p:sp>
        <p:nvSpPr>
          <p:cNvPr id="34" name="TextBox 33"/>
          <p:cNvSpPr txBox="1"/>
          <p:nvPr/>
        </p:nvSpPr>
        <p:spPr>
          <a:xfrm>
            <a:off x="9098280" y="4709160"/>
            <a:ext cx="2544775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Hình ảnh </a:t>
            </a:r>
            <a:r>
              <a:rPr sz="11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mô hình trình diễn</a:t>
            </a:r>
            <a:r>
              <a:rPr sz="11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 và vùng nguyên liệu — thay bằng ảnh thật của doanh nghiệp.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4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sprout_2E8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12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Á CHÂU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715238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Giới thiệu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058638" y="246888"/>
            <a:ext cx="74629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216412" y="246888"/>
            <a:ext cx="80896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Hướng dẫn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436852" y="246888"/>
            <a:ext cx="57507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3931920" y="603504"/>
            <a:ext cx="623798" cy="32004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A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A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A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105156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4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KẾT LUẬN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548640" y="143560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200" b="0" i="0">
                <a:solidFill>
                  <a:srgbClr val="3B2A20"/>
                </a:solidFill>
                <a:latin typeface="Great Vibes"/>
                <a:ea typeface="Great Vibes"/>
                <a:cs typeface="Great Vibes"/>
              </a:rPr>
              <a:t>vì một nền nông nghiệp xanh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331720"/>
            <a:ext cx="8899855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3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Bộ giải pháp sinh học Á Châu giúp </a:t>
            </a:r>
            <a:r>
              <a:rPr sz="1350" b="1" i="0">
                <a:solidFill>
                  <a:srgbClr val="2E8B3A"/>
                </a:solidFill>
                <a:latin typeface="Nunito Sans"/>
                <a:ea typeface="Nunito Sans"/>
                <a:cs typeface="Nunito Sans"/>
              </a:rPr>
              <a:t>đất khỏe – cây khỏe – nông sản an toàn</a:t>
            </a:r>
            <a:r>
              <a:rPr sz="135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, góp phần xây dựng nền nông nghiệp xanh và bền vững.</a:t>
            </a:r>
          </a:p>
        </p:txBody>
      </p:sp>
      <p:pic>
        <p:nvPicPr>
          <p:cNvPr id="16" name="!!p_vi_sinh" descr="prod_vi_sinh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21240000">
            <a:off x="1471168" y="3977640"/>
            <a:ext cx="836879" cy="2286000"/>
          </a:xfrm>
          <a:prstGeom prst="rect">
            <a:avLst/>
          </a:prstGeom>
        </p:spPr>
      </p:pic>
      <p:pic>
        <p:nvPicPr>
          <p:cNvPr id="17" name="!!p_xu_ly" descr="prod_xu_ly.png"/>
          <p:cNvPicPr>
            <a:picLocks noChangeAspect="1"/>
          </p:cNvPicPr>
          <p:nvPr/>
        </p:nvPicPr>
        <p:blipFill>
          <a:blip r:embed="rId8"/>
          <a:srcRect l="0" r="0"/>
          <a:stretch>
            <a:fillRect/>
          </a:stretch>
        </p:blipFill>
        <p:spPr>
          <a:xfrm rot="240000">
            <a:off x="3279850" y="3977640"/>
            <a:ext cx="1425755" cy="2286000"/>
          </a:xfrm>
          <a:prstGeom prst="rect">
            <a:avLst/>
          </a:prstGeom>
        </p:spPr>
      </p:pic>
      <p:pic>
        <p:nvPicPr>
          <p:cNvPr id="18" name="!!p_phan_bon" descr="prod_phan_bon.png"/>
          <p:cNvPicPr>
            <a:picLocks noChangeAspect="1"/>
          </p:cNvPicPr>
          <p:nvPr/>
        </p:nvPicPr>
        <p:blipFill>
          <a:blip r:embed="rId9"/>
          <a:srcRect l="0" r="0"/>
          <a:stretch>
            <a:fillRect/>
          </a:stretch>
        </p:blipFill>
        <p:spPr>
          <a:xfrm rot="21420000">
            <a:off x="5404754" y="3977640"/>
            <a:ext cx="1382187" cy="2286000"/>
          </a:xfrm>
          <a:prstGeom prst="rect">
            <a:avLst/>
          </a:prstGeom>
        </p:spPr>
      </p:pic>
      <p:pic>
        <p:nvPicPr>
          <p:cNvPr id="19" name="!!p_tru_sau" descr="prod_tru_sau.png"/>
          <p:cNvPicPr>
            <a:picLocks noChangeAspect="1"/>
          </p:cNvPicPr>
          <p:nvPr/>
        </p:nvPicPr>
        <p:blipFill>
          <a:blip r:embed="rId10"/>
          <a:srcRect t="0" b="0"/>
          <a:stretch>
            <a:fillRect/>
          </a:stretch>
        </p:blipFill>
        <p:spPr>
          <a:xfrm rot="420000">
            <a:off x="7202763" y="3977640"/>
            <a:ext cx="1992408" cy="2286000"/>
          </a:xfrm>
          <a:prstGeom prst="rect">
            <a:avLst/>
          </a:prstGeom>
        </p:spPr>
      </p:pic>
      <p:pic>
        <p:nvPicPr>
          <p:cNvPr id="20" name="!!p_dich_vi_sinh" descr="prod_dich_vi_sinh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 rot="21300000">
            <a:off x="9883648" y="3977640"/>
            <a:ext cx="836879" cy="2286000"/>
          </a:xfrm>
          <a:prstGeom prst="rect">
            <a:avLst/>
          </a:prstGeom>
        </p:spPr>
      </p:pic>
      <p:pic>
        <p:nvPicPr>
          <p:cNvPr id="21" name="!!d0" descr="leaf_a.png"/>
          <p:cNvPicPr>
            <a:picLocks noChangeAspect="1"/>
          </p:cNvPicPr>
          <p:nvPr/>
        </p:nvPicPr>
        <p:blipFill>
          <a:blip r:embed="rId12"/>
          <a:srcRect t="0" b="0"/>
          <a:stretch>
            <a:fillRect/>
          </a:stretch>
        </p:blipFill>
        <p:spPr>
          <a:xfrm rot="3096228">
            <a:off x="1058284" y="4098512"/>
            <a:ext cx="577333" cy="294440"/>
          </a:xfrm>
          <a:prstGeom prst="rect">
            <a:avLst/>
          </a:prstGeom>
        </p:spPr>
      </p:pic>
      <p:pic>
        <p:nvPicPr>
          <p:cNvPr id="22" name="!!d1" descr="leaf_b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 rot="2415925">
            <a:off x="11029414" y="4928183"/>
            <a:ext cx="662813" cy="314836"/>
          </a:xfrm>
          <a:prstGeom prst="rect">
            <a:avLst/>
          </a:prstGeom>
        </p:spPr>
      </p:pic>
      <p:pic>
        <p:nvPicPr>
          <p:cNvPr id="23" name="!!d2" descr="pellet_blur.pn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 rot="21241030">
            <a:off x="1582887" y="4070108"/>
            <a:ext cx="469640" cy="305739"/>
          </a:xfrm>
          <a:prstGeom prst="rect">
            <a:avLst/>
          </a:prstGeom>
        </p:spPr>
      </p:pic>
      <p:pic>
        <p:nvPicPr>
          <p:cNvPr id="24" name="!!d3" descr="leaf_c_blur.png"/>
          <p:cNvPicPr>
            <a:picLocks noChangeAspect="1"/>
          </p:cNvPicPr>
          <p:nvPr/>
        </p:nvPicPr>
        <p:blipFill>
          <a:blip r:embed="rId15"/>
          <a:srcRect t="0" b="0"/>
          <a:stretch>
            <a:fillRect/>
          </a:stretch>
        </p:blipFill>
        <p:spPr>
          <a:xfrm rot="923932">
            <a:off x="11601340" y="3883512"/>
            <a:ext cx="619116" cy="3259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A8F86"/>
                </a:solidFill>
                <a:latin typeface="Nunito Sans SemiBold"/>
                <a:ea typeface="Nunito Sans SemiBold"/>
                <a:cs typeface="Nunito Sans SemiBold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799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99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31f3b4b392b5cdf2.jpg"/>
          <p:cNvPicPr>
            <a:picLocks noChangeAspect="1"/>
          </p:cNvPicPr>
          <p:nvPr/>
        </p:nvPicPr>
        <p:blipFill>
          <a:blip r:embed="rId2"/>
          <a:srcRect t="1566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c_wash"/>
          <p:cNvSpPr/>
          <p:nvPr/>
        </p:nvSpPr>
        <p:spPr>
          <a:xfrm>
            <a:off x="0" y="0"/>
            <a:ext cx="8229600" cy="6858000"/>
          </a:xfrm>
          <a:prstGeom prst="rect">
            <a:avLst/>
          </a:prstGeom>
          <a:gradFill rotWithShape="1">
            <a:gsLst>
              <a:gs pos="0">
                <a:srgbClr val="FFFFFF">
                  <a:alpha val="88000"/>
                </a:srgbClr>
              </a:gs>
              <a:gs pos="60000">
                <a:srgbClr val="FFFFFF">
                  <a:alpha val="60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word"/>
          <p:cNvSpPr txBox="1"/>
          <p:nvPr/>
        </p:nvSpPr>
        <p:spPr>
          <a:xfrm>
            <a:off x="457200" y="822960"/>
            <a:ext cx="7498080" cy="153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XIN CẢM ƠN</a:t>
            </a:r>
          </a:p>
        </p:txBody>
      </p:sp>
      <p:sp>
        <p:nvSpPr>
          <p:cNvPr id="5" name="!!word_script"/>
          <p:cNvSpPr txBox="1"/>
          <p:nvPr/>
        </p:nvSpPr>
        <p:spPr>
          <a:xfrm>
            <a:off x="1463040" y="1731010"/>
            <a:ext cx="6400800" cy="8229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0" b="0" i="0">
                <a:solidFill>
                  <a:srgbClr val="2E8B3A"/>
                </a:solidFill>
                <a:latin typeface="Great Vibes"/>
                <a:ea typeface="Great Vibes"/>
                <a:cs typeface="Great Vibes"/>
              </a:rPr>
              <a:t>Á Châu</a:t>
            </a:r>
          </a:p>
        </p:txBody>
      </p:sp>
      <p:pic>
        <p:nvPicPr>
          <p:cNvPr id="6" name="!!p_phan_bon" descr="prod_phan_bon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21300000">
            <a:off x="7834118" y="1371600"/>
            <a:ext cx="2985524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3337560"/>
            <a:ext cx="6035040" cy="2377440"/>
          </a:xfrm>
          <a:prstGeom prst="roundRect">
            <a:avLst>
              <a:gd name="adj" fmla="val 6153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phone_2E8B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566160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352044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Hotline: 0xxx xxx xxx</a:t>
            </a:r>
          </a:p>
        </p:txBody>
      </p:sp>
      <p:pic>
        <p:nvPicPr>
          <p:cNvPr id="10" name="Picture 9" descr="globe_2E8B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9867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3941064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www.tenmien.vn</a:t>
            </a:r>
          </a:p>
        </p:txBody>
      </p:sp>
      <p:pic>
        <p:nvPicPr>
          <p:cNvPr id="12" name="Picture 11" descr="mail_2E8B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407408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80160" y="4361688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lienhe@tenmien.vn</a:t>
            </a:r>
          </a:p>
        </p:txBody>
      </p:sp>
      <p:pic>
        <p:nvPicPr>
          <p:cNvPr id="14" name="Picture 13" descr="map-pin_2E8B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4828032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80160" y="4782312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3B2A20"/>
                </a:solidFill>
                <a:latin typeface="Nunito Sans SemiBold"/>
                <a:ea typeface="Nunito Sans SemiBold"/>
                <a:cs typeface="Nunito Sans SemiBold"/>
              </a:rPr>
              <a:t>Địa chỉ: [cập nhật địa chỉ công ty]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white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 i="0">
                <a:solidFill>
                  <a:srgbClr val="1E6B30"/>
                </a:solidFill>
                <a:latin typeface="Oswald"/>
                <a:ea typeface="Oswald"/>
                <a:cs typeface="Oswald"/>
              </a:rPr>
              <a:t>NGUỒN HÌNH ẢNH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9A8F86"/>
                </a:solidFill>
                <a:latin typeface="Nunito Sans"/>
                <a:ea typeface="Nunito Sans"/>
                <a:cs typeface="Nunito Sans"/>
              </a:rPr>
              <a:t>Slide ẩn — không hiển thị khi trình chiếu. Ảnh: bộ dữ liệu Open Images (Google), giấy phép CC BY 2.0. Bao bì: hình minh họa theo concept, vẽ bằng mã — thay bằng ảnh thật khi chốt thiết kế. Icon: Lucide (ISC). Font: Oswald, Nunito Sans, Great Vibes (SIL OFL).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394960" cy="4937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• Hills with rice terraces in Vietnam — -JvL-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• Cabbage — bartholo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• Champs de pouces — Joseph SARDIN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• 2014 (Day 127 - May 7th): All this needs is a  — Tim Walker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• Working in the field - Near Hanoi - Vietnam — Esin Üstün (Flickr, CC BY 2.0)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600200"/>
            <a:ext cx="5394960" cy="4937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• 2012-09-12 16.00.40 — epicbeer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• As time goes by — Riccardo Bonuccelli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• Sicily vineyard — Massimo Peruffo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• 開聞岳 Kaimondake volcano — Kevin Jones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4E45"/>
                </a:solidFill>
                <a:latin typeface="Nunito Sans"/>
                <a:ea typeface="Nunito Sans"/>
                <a:cs typeface="Nunito Sans"/>
              </a:rPr>
              <a:t>• Compost with earthworms — SuSanA Secretariat (Flickr, CC BY 2.0)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