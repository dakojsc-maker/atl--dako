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Canh tác thông thường</c:v>
                </c:pt>
              </c:strCache>
            </c:strRef>
          </c:tx>
          <c:spPr>
            <a:solidFill>
              <a:srgbClr val="3E8E3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Vụ 1</c:v>
                </c:pt>
                <c:pt idx="1">
                  <c:v>Vụ 2</c:v>
                </c:pt>
                <c:pt idx="2">
                  <c:v>Vụ 3</c:v>
                </c:pt>
                <c:pt idx="3">
                  <c:v>Vụ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57</c:v>
                </c:pt>
                <c:pt idx="2">
                  <c:v>56</c:v>
                </c:pt>
                <c:pt idx="3">
                  <c:v>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Dùng hữu cơ vi sinh</c:v>
                </c:pt>
              </c:strCache>
            </c:strRef>
          </c:tx>
          <c:spPr>
            <a:solidFill>
              <a:srgbClr val="A8D26B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Vụ 1</c:v>
                </c:pt>
                <c:pt idx="1">
                  <c:v>Vụ 2</c:v>
                </c:pt>
                <c:pt idx="2">
                  <c:v>Vụ 3</c:v>
                </c:pt>
                <c:pt idx="3">
                  <c:v>Vụ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</c:v>
                </c:pt>
                <c:pt idx="1">
                  <c:v>63</c:v>
                </c:pt>
                <c:pt idx="2">
                  <c:v>65</c:v>
                </c:pt>
                <c:pt idx="3">
                  <c:v>67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50" b="1">
                  <a:solidFill>
                    <a:srgbClr val="3B2A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DDE5D6"/>
            </a:solidFill>
          </a:ln>
        </c:spPr>
        <c:txPr>
          <a:bodyPr/>
          <a:lstStyle/>
          <a:p>
            <a:pPr>
              <a:defRPr sz="1050">
                <a:solidFill>
                  <a:srgbClr val="9A8F86"/>
                </a:solidFill>
                <a:latin typeface="Nunito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 w="7620">
              <a:solidFill>
                <a:srgbClr val="DDE5D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9A8F86"/>
                </a:solidFill>
                <a:latin typeface="Nunito San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50">
              <a:solidFill>
                <a:srgbClr val="9A8F86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50">
          <a:solidFill>
            <a:srgbClr val="9A8F86"/>
          </a:solidFill>
          <a:latin typeface="Nunito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dung, thông số và số liệu là MINH HỌA — thay bằng hồ sơ và nhãn sản phẩm đã đăng ký của doanh nghiệp.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21.png"/><Relationship Id="rId9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8.png"/><Relationship Id="rId12" Type="http://schemas.openxmlformats.org/officeDocument/2006/relationships/image" Target="../media/image10.png"/><Relationship Id="rId13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28.png"/><Relationship Id="rId10" Type="http://schemas.openxmlformats.org/officeDocument/2006/relationships/image" Target="../media/image25.png"/><Relationship Id="rId11" Type="http://schemas.openxmlformats.org/officeDocument/2006/relationships/image" Target="../media/image10.png"/><Relationship Id="rId12" Type="http://schemas.openxmlformats.org/officeDocument/2006/relationships/image" Target="../media/image8.png"/><Relationship Id="rId13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28.png"/><Relationship Id="rId10" Type="http://schemas.openxmlformats.org/officeDocument/2006/relationships/image" Target="../media/image24.png"/><Relationship Id="rId11" Type="http://schemas.openxmlformats.org/officeDocument/2006/relationships/image" Target="../media/image26.png"/><Relationship Id="rId12" Type="http://schemas.openxmlformats.org/officeDocument/2006/relationships/image" Target="../media/image8.png"/><Relationship Id="rId1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9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36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9.png"/><Relationship Id="rId13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36.png"/><Relationship Id="rId10" Type="http://schemas.openxmlformats.org/officeDocument/2006/relationships/image" Target="../media/image31.png"/><Relationship Id="rId11" Type="http://schemas.openxmlformats.org/officeDocument/2006/relationships/image" Target="../media/image34.png"/><Relationship Id="rId12" Type="http://schemas.openxmlformats.org/officeDocument/2006/relationships/image" Target="../media/image9.png"/><Relationship Id="rId1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38.png"/><Relationship Id="rId8" Type="http://schemas.openxmlformats.org/officeDocument/2006/relationships/image" Target="../media/image10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chart" Target="../charts/chart1.xml"/><Relationship Id="rId8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Relationship Id="rId9" Type="http://schemas.openxmlformats.org/officeDocument/2006/relationships/image" Target="../media/image8.png"/><Relationship Id="rId10" Type="http://schemas.openxmlformats.org/officeDocument/2006/relationships/image" Target="../media/image34.png"/><Relationship Id="rId11" Type="http://schemas.openxmlformats.org/officeDocument/2006/relationships/image" Target="../media/image21.png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31f3b4b392b5cdf2.jpg"/>
          <p:cNvPicPr>
            <a:picLocks noChangeAspect="1"/>
          </p:cNvPicPr>
          <p:nvPr/>
        </p:nvPicPr>
        <p:blipFill>
          <a:blip r:embed="rId2"/>
          <a:srcRect t="1566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ord"/>
          <p:cNvSpPr txBox="1"/>
          <p:nvPr/>
        </p:nvSpPr>
        <p:spPr>
          <a:xfrm>
            <a:off x="274320" y="1051560"/>
            <a:ext cx="11643055" cy="266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20000" b="1" i="0">
                <a:gradFill rotWithShape="1">
                  <a:gsLst>
                    <a:gs pos="0">
                      <a:srgbClr val="FFFFFF"/>
                    </a:gs>
                    <a:gs pos="60000">
                      <a:srgbClr val="F1F2F2"/>
                    </a:gs>
                    <a:gs pos="100000">
                      <a:srgbClr val="C9CDD0"/>
                    </a:gs>
                  </a:gsLst>
                  <a:lin ang="5400000" scaled="0"/>
                </a:gradFill>
                <a:effectLst>
                  <a:outerShdw blurRad="0" dist="82296" dir="2700000" algn="ctr" rotWithShape="0">
                    <a:srgbClr val="A9AEB2"/>
                  </a:outerShdw>
                </a:effectLst>
                <a:latin typeface="Oswald"/>
                <a:ea typeface="Oswald"/>
                <a:cs typeface="Oswald"/>
              </a:rPr>
              <a:t>HỮU CƠ</a:t>
            </a:r>
          </a:p>
        </p:txBody>
      </p:sp>
      <p:pic>
        <p:nvPicPr>
          <p:cNvPr id="4" name="!!d0" descr="leaf_a.pn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 rot="748224">
            <a:off x="467562" y="391955"/>
            <a:ext cx="614452" cy="313371"/>
          </a:xfrm>
          <a:prstGeom prst="rect">
            <a:avLst/>
          </a:prstGeom>
        </p:spPr>
      </p:pic>
      <p:pic>
        <p:nvPicPr>
          <p:cNvPr id="5" name="!!d1" descr="leaf_b.png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 rot="2429777">
            <a:off x="10913684" y="449198"/>
            <a:ext cx="418704" cy="198885"/>
          </a:xfrm>
          <a:prstGeom prst="rect">
            <a:avLst/>
          </a:prstGeom>
        </p:spPr>
      </p:pic>
      <p:pic>
        <p:nvPicPr>
          <p:cNvPr id="6" name="!!d2" descr="pellet_blu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1385897">
            <a:off x="340907" y="3909735"/>
            <a:ext cx="957731" cy="623489"/>
          </a:xfrm>
          <a:prstGeom prst="rect">
            <a:avLst/>
          </a:prstGeom>
        </p:spPr>
      </p:pic>
      <p:pic>
        <p:nvPicPr>
          <p:cNvPr id="7" name="!!d3" descr="leaf_c_blur.png"/>
          <p:cNvPicPr>
            <a:picLocks noChangeAspect="1"/>
          </p:cNvPicPr>
          <p:nvPr/>
        </p:nvPicPr>
        <p:blipFill>
          <a:blip r:embed="rId6"/>
          <a:srcRect l="0" r="0"/>
          <a:stretch>
            <a:fillRect/>
          </a:stretch>
        </p:blipFill>
        <p:spPr>
          <a:xfrm rot="19084438">
            <a:off x="11223742" y="4020884"/>
            <a:ext cx="762098" cy="401193"/>
          </a:xfrm>
          <a:prstGeom prst="rect">
            <a:avLst/>
          </a:prstGeom>
        </p:spPr>
      </p:pic>
      <p:pic>
        <p:nvPicPr>
          <p:cNvPr id="8" name="!!d4" descr="leaf_a_blur.png"/>
          <p:cNvPicPr>
            <a:picLocks noChangeAspect="1"/>
          </p:cNvPicPr>
          <p:nvPr/>
        </p:nvPicPr>
        <p:blipFill>
          <a:blip r:embed="rId7"/>
          <a:srcRect l="0" r="0"/>
          <a:stretch>
            <a:fillRect/>
          </a:stretch>
        </p:blipFill>
        <p:spPr>
          <a:xfrm rot="1737013">
            <a:off x="1260249" y="5435190"/>
            <a:ext cx="698518" cy="396955"/>
          </a:xfrm>
          <a:prstGeom prst="rect">
            <a:avLst/>
          </a:prstGeom>
        </p:spPr>
      </p:pic>
      <p:pic>
        <p:nvPicPr>
          <p:cNvPr id="9" name="!!d5" descr="leaf_b_blur.png"/>
          <p:cNvPicPr>
            <a:picLocks noChangeAspect="1"/>
          </p:cNvPicPr>
          <p:nvPr/>
        </p:nvPicPr>
        <p:blipFill>
          <a:blip r:embed="rId8"/>
          <a:srcRect t="0" b="0"/>
          <a:stretch>
            <a:fillRect/>
          </a:stretch>
        </p:blipFill>
        <p:spPr>
          <a:xfrm rot="655917">
            <a:off x="10813749" y="326279"/>
            <a:ext cx="827475" cy="444722"/>
          </a:xfrm>
          <a:prstGeom prst="rect">
            <a:avLst/>
          </a:prstGeom>
        </p:spPr>
      </p:pic>
      <p:pic>
        <p:nvPicPr>
          <p:cNvPr id="10" name="!!p_hcvs_lua" descr="prod_hcvs_lua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21360000">
            <a:off x="4681743" y="1691640"/>
            <a:ext cx="2828209" cy="4480560"/>
          </a:xfrm>
          <a:prstGeom prst="rect">
            <a:avLst/>
          </a:prstGeom>
        </p:spPr>
      </p:pic>
      <p:pic>
        <p:nvPicPr>
          <p:cNvPr id="11" name="!!p_la_rare" descr="prod_la_rare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 rot="21000000">
            <a:off x="2588002" y="3108960"/>
            <a:ext cx="1529291" cy="2926080"/>
          </a:xfrm>
          <a:prstGeom prst="rect">
            <a:avLst/>
          </a:prstGeom>
        </p:spPr>
      </p:pic>
      <p:pic>
        <p:nvPicPr>
          <p:cNvPr id="12" name="!!p_hcvs_rau" descr="prod_hcvs_rau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480000">
            <a:off x="8064709" y="3291840"/>
            <a:ext cx="1731557" cy="2743200"/>
          </a:xfrm>
          <a:prstGeom prst="rect">
            <a:avLst/>
          </a:prstGeom>
        </p:spPr>
      </p:pic>
      <p:sp>
        <p:nvSpPr>
          <p:cNvPr id="13" name="!!word_script"/>
          <p:cNvSpPr txBox="1"/>
          <p:nvPr/>
        </p:nvSpPr>
        <p:spPr>
          <a:xfrm>
            <a:off x="6644488" y="2880360"/>
            <a:ext cx="5272888" cy="152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0" b="0" i="0">
                <a:solidFill>
                  <a:srgbClr val="7A3B22"/>
                </a:solidFill>
                <a:effectLst>
                  <a:glow rad="101600">
                    <a:srgbClr val="FFFFFF">
                      <a:alpha val="85000"/>
                    </a:srgbClr>
                  </a:glow>
                </a:effectLst>
                <a:latin typeface="Great Vibes"/>
                <a:ea typeface="Great Vibes"/>
                <a:cs typeface="Great Vibes"/>
              </a:rPr>
              <a:t>Á Châu Agri</a:t>
            </a:r>
          </a:p>
        </p:txBody>
      </p:sp>
      <p:sp>
        <p:nvSpPr>
          <p:cNvPr id="14" name="!!kicker"/>
          <p:cNvSpPr/>
          <p:nvPr/>
        </p:nvSpPr>
        <p:spPr>
          <a:xfrm>
            <a:off x="548640" y="411480"/>
            <a:ext cx="2462510" cy="329184"/>
          </a:xfrm>
          <a:prstGeom prst="roundRect">
            <a:avLst>
              <a:gd name="adj" fmla="val 50000"/>
            </a:avLst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Nunito Sans SemiBold"/>
                <a:ea typeface="Nunito Sans SemiBold"/>
                <a:cs typeface="Nunito Sans SemiBold"/>
              </a:rPr>
              <a:t>GIỚI THIỆU SẢN PHẨM</a:t>
            </a:r>
          </a:p>
        </p:txBody>
      </p:sp>
      <p:sp>
        <p:nvSpPr>
          <p:cNvPr id="15" name="!!nav_brand"/>
          <p:cNvSpPr txBox="1"/>
          <p:nvPr/>
        </p:nvSpPr>
        <p:spPr>
          <a:xfrm>
            <a:off x="7985455" y="38404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 spc="15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807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effectLst>
                  <a:outerShdw blurRad="91440" dist="27432" dir="5400000" algn="ctr" rotWithShape="0">
                    <a:srgbClr val="000000">
                      <a:alpha val="75000"/>
                    </a:srgbClr>
                  </a:outerShdw>
                </a:effectLst>
                <a:latin typeface="Nunito Sans SemiBold"/>
                <a:ea typeface="Nunito Sans SemiBold"/>
                <a:cs typeface="Nunito Sans SemiBold"/>
              </a:rPr>
              <a:t>Công ty CP Công nghệ Môi trường Nông nghiệp Á Châu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h_title"/>
          <p:cNvSpPr txBox="1"/>
          <p:nvPr/>
        </p:nvSpPr>
        <p:spPr>
          <a:xfrm>
            <a:off x="548640" y="91440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4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GIỚI THIỆU</a:t>
            </a:r>
          </a:p>
        </p:txBody>
      </p:sp>
      <p:sp>
        <p:nvSpPr>
          <p:cNvPr id="4" name="!!h_script"/>
          <p:cNvSpPr txBox="1"/>
          <p:nvPr/>
        </p:nvSpPr>
        <p:spPr>
          <a:xfrm>
            <a:off x="548640" y="129844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2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Về chúng tôi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40280"/>
            <a:ext cx="8534095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Công ty CP Công nghệ Môi trường Nông nghiệp Á Châu</a:t>
            </a:r>
            <a:r>
              <a:rPr sz="13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 nghiên cứu và sản xuất phân bón hữu cơ từ phụ phẩm nông nghiệp, hướng tới </a:t>
            </a:r>
            <a:r>
              <a:rPr sz="13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nền nông nghiệp xanh, an toàn và bền vững</a:t>
            </a:r>
            <a:r>
              <a:rPr sz="13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. Sản phẩm giúp cải tạo đất, tăng sức khỏe cây trồng và giảm phụ thuộc vào phân bón hóa học.</a:t>
            </a:r>
          </a:p>
        </p:txBody>
      </p:sp>
      <p:pic>
        <p:nvPicPr>
          <p:cNvPr id="6" name="!!strip" descr="1272118b3c317d0a.jpg"/>
          <p:cNvPicPr>
            <a:picLocks noChangeAspect="1"/>
          </p:cNvPicPr>
          <p:nvPr/>
        </p:nvPicPr>
        <p:blipFill>
          <a:blip r:embed="rId3"/>
          <a:srcRect t="40333" b="20333"/>
          <a:stretch>
            <a:fillRect/>
          </a:stretch>
        </p:blipFill>
        <p:spPr>
          <a:xfrm>
            <a:off x="0" y="4160520"/>
            <a:ext cx="12191695" cy="2697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160520"/>
            <a:ext cx="12191695" cy="109728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" name="!!mist" descr="mist.png"/>
          <p:cNvPicPr>
            <a:picLocks noChangeAspect="1"/>
          </p:cNvPicPr>
          <p:nvPr/>
        </p:nvPicPr>
        <p:blipFill>
          <a:blip r:embed="rId4"/>
          <a:srcRect t="28103" b="28103"/>
          <a:stretch>
            <a:fillRect/>
          </a:stretch>
        </p:blipFill>
        <p:spPr>
          <a:xfrm>
            <a:off x="-457200" y="5486400"/>
            <a:ext cx="13106095" cy="1554480"/>
          </a:xfrm>
          <a:prstGeom prst="rect">
            <a:avLst/>
          </a:prstGeom>
        </p:spPr>
      </p:pic>
      <p:pic>
        <p:nvPicPr>
          <p:cNvPr id="9" name="!!d0" descr="leaf_a.png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 rot="19483907">
            <a:off x="1111726" y="3199102"/>
            <a:ext cx="728644" cy="371608"/>
          </a:xfrm>
          <a:prstGeom prst="rect">
            <a:avLst/>
          </a:prstGeom>
        </p:spPr>
      </p:pic>
      <p:pic>
        <p:nvPicPr>
          <p:cNvPr id="10" name="!!d1" descr="leaf_b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19153653">
            <a:off x="11166892" y="5223147"/>
            <a:ext cx="770001" cy="365751"/>
          </a:xfrm>
          <a:prstGeom prst="rect">
            <a:avLst/>
          </a:prstGeom>
        </p:spPr>
      </p:pic>
      <p:pic>
        <p:nvPicPr>
          <p:cNvPr id="11" name="!!d2" descr="pellet_blur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3260282">
            <a:off x="1095031" y="2688543"/>
            <a:ext cx="548638" cy="357167"/>
          </a:xfrm>
          <a:prstGeom prst="rect">
            <a:avLst/>
          </a:prstGeom>
        </p:spPr>
      </p:pic>
      <p:pic>
        <p:nvPicPr>
          <p:cNvPr id="12" name="!!d3" descr="leaf_c_blur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742972">
            <a:off x="11529070" y="1184353"/>
            <a:ext cx="883399" cy="4650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5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6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7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8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9" name="!!nav_ind"/>
          <p:cNvSpPr/>
          <p:nvPr/>
        </p:nvSpPr>
        <p:spPr>
          <a:xfrm>
            <a:off x="3931920" y="603504"/>
            <a:ext cx="623798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nav_i0" descr="search_3B2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1" name="!!nav_i1" descr="user-round_3B2A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2" name="!!nav_i2" descr="shopping-bag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1097280"/>
            <a:ext cx="10545775" cy="1584960"/>
          </a:xfrm>
          <a:prstGeom prst="roundRect">
            <a:avLst>
              <a:gd name="adj" fmla="val 8076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Picture 13" descr="sepia_farmers_field.jpg"/>
          <p:cNvPicPr>
            <a:picLocks noChangeAspect="1"/>
          </p:cNvPicPr>
          <p:nvPr/>
        </p:nvPicPr>
        <p:blipFill>
          <a:blip r:embed="rId7"/>
          <a:srcRect t="29505" b="29505"/>
          <a:stretch>
            <a:fillRect/>
          </a:stretch>
        </p:blipFill>
        <p:spPr>
          <a:xfrm>
            <a:off x="5294239" y="1097280"/>
            <a:ext cx="5800176" cy="1584960"/>
          </a:xfrm>
          <a:prstGeom prst="roundRect">
            <a:avLst>
              <a:gd name="adj" fmla="val 8076"/>
            </a:avLst>
          </a:prstGeom>
        </p:spPr>
      </p:pic>
      <p:sp>
        <p:nvSpPr>
          <p:cNvPr id="15" name="Rounded Rectangle 14"/>
          <p:cNvSpPr/>
          <p:nvPr/>
        </p:nvSpPr>
        <p:spPr>
          <a:xfrm>
            <a:off x="5294239" y="1097280"/>
            <a:ext cx="5800176" cy="1584960"/>
          </a:xfrm>
          <a:prstGeom prst="roundRect">
            <a:avLst>
              <a:gd name="adj" fmla="val 8076"/>
            </a:avLst>
          </a:prstGeom>
          <a:gradFill rotWithShape="1">
            <a:gsLst>
              <a:gs pos="0">
                <a:srgbClr val="FFFFFF"/>
              </a:gs>
              <a:gs pos="45000">
                <a:srgbClr val="FFFFFF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207008"/>
            <a:ext cx="5483803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KHỞI NGUỒN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7909" y="1444752"/>
            <a:ext cx="5483803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câu chuyện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65960"/>
            <a:ext cx="5392363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Từ những cánh đồng bạc màu vì canh tác hóa học kéo dài, Á Châu ra đời với mong muốn </a:t>
            </a:r>
            <a:r>
              <a:rPr sz="11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trả lại sức sống cho đất</a:t>
            </a:r>
            <a:r>
              <a:rPr sz="11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 bằng giải pháp hữu cơ phù hợp với người nông dân Việt Nam.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2956560"/>
            <a:ext cx="10545775" cy="1584960"/>
          </a:xfrm>
          <a:prstGeom prst="roundRect">
            <a:avLst>
              <a:gd name="adj" fmla="val 8076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0" name="Picture 19" descr="sepia_compost_pile.jpg"/>
          <p:cNvPicPr>
            <a:picLocks noChangeAspect="1"/>
          </p:cNvPicPr>
          <p:nvPr/>
        </p:nvPicPr>
        <p:blipFill>
          <a:blip r:embed="rId8"/>
          <a:srcRect t="29505" b="29505"/>
          <a:stretch>
            <a:fillRect/>
          </a:stretch>
        </p:blipFill>
        <p:spPr>
          <a:xfrm>
            <a:off x="1097280" y="2956560"/>
            <a:ext cx="5800176" cy="1584960"/>
          </a:xfrm>
          <a:prstGeom prst="roundRect">
            <a:avLst>
              <a:gd name="adj" fmla="val 8076"/>
            </a:avLst>
          </a:prstGeom>
        </p:spPr>
      </p:pic>
      <p:sp>
        <p:nvSpPr>
          <p:cNvPr id="21" name="Rounded Rectangle 20"/>
          <p:cNvSpPr/>
          <p:nvPr/>
        </p:nvSpPr>
        <p:spPr>
          <a:xfrm>
            <a:off x="1097280" y="2956560"/>
            <a:ext cx="5800176" cy="1584960"/>
          </a:xfrm>
          <a:prstGeom prst="roundRect">
            <a:avLst>
              <a:gd name="adj" fmla="val 8076"/>
            </a:avLst>
          </a:prstGeom>
          <a:gradFill rotWithShape="1">
            <a:gsLst>
              <a:gs pos="0">
                <a:srgbClr val="FFFFFF"/>
              </a:gs>
              <a:gs pos="45000">
                <a:srgbClr val="FFFFFF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42879" y="3066288"/>
            <a:ext cx="5483803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GIÁ TRỊ CỐT LÕI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4667" y="3304032"/>
            <a:ext cx="5483803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bền vững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879" y="3825240"/>
            <a:ext cx="5392363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Tuần hoàn</a:t>
            </a:r>
            <a:r>
              <a:rPr sz="11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 phụ phẩm nông nghiệp thành dinh dưỡng cho đất · </a:t>
            </a:r>
            <a:r>
              <a:rPr sz="11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An toàn</a:t>
            </a:r>
            <a:r>
              <a:rPr sz="11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 cho người sản xuất và người tiêu dùng · </a:t>
            </a:r>
            <a:r>
              <a:rPr sz="11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Hiệu quả</a:t>
            </a:r>
            <a:r>
              <a:rPr sz="11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 đo được trên từng vụ mùa.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15840"/>
            <a:ext cx="10545775" cy="1584960"/>
          </a:xfrm>
          <a:prstGeom prst="roundRect">
            <a:avLst>
              <a:gd name="adj" fmla="val 8076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Picture 25" descr="sepia_rice_terrace.jpg"/>
          <p:cNvPicPr>
            <a:picLocks noChangeAspect="1"/>
          </p:cNvPicPr>
          <p:nvPr/>
        </p:nvPicPr>
        <p:blipFill>
          <a:blip r:embed="rId9"/>
          <a:srcRect t="29505" b="29505"/>
          <a:stretch>
            <a:fillRect/>
          </a:stretch>
        </p:blipFill>
        <p:spPr>
          <a:xfrm>
            <a:off x="5294239" y="4815840"/>
            <a:ext cx="5800176" cy="1584960"/>
          </a:xfrm>
          <a:prstGeom prst="roundRect">
            <a:avLst>
              <a:gd name="adj" fmla="val 8076"/>
            </a:avLst>
          </a:prstGeom>
        </p:spPr>
      </p:pic>
      <p:sp>
        <p:nvSpPr>
          <p:cNvPr id="27" name="Rounded Rectangle 26"/>
          <p:cNvSpPr/>
          <p:nvPr/>
        </p:nvSpPr>
        <p:spPr>
          <a:xfrm>
            <a:off x="5294239" y="4815840"/>
            <a:ext cx="5800176" cy="1584960"/>
          </a:xfrm>
          <a:prstGeom prst="roundRect">
            <a:avLst>
              <a:gd name="adj" fmla="val 8076"/>
            </a:avLst>
          </a:prstGeom>
          <a:gradFill rotWithShape="1">
            <a:gsLst>
              <a:gs pos="0">
                <a:srgbClr val="FFFFFF"/>
              </a:gs>
              <a:gs pos="45000">
                <a:srgbClr val="FFFFFF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925568"/>
            <a:ext cx="5483803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ĐỊNH VỊ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7496" y="5163312"/>
            <a:ext cx="5483803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thương hiệu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684520"/>
            <a:ext cx="5392363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Thương hiệu phân bón hữu cơ </a:t>
            </a:r>
            <a:r>
              <a:rPr sz="11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đồng hành cùng nhà nông</a:t>
            </a:r>
            <a:r>
              <a:rPr sz="11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: sản phẩm rõ nguồn gốc, hướng dẫn kỹ thuật tận ruộng, giá hợp lý cho từng nhóm cây trồng.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5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6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7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8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9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nav_i0" descr="search_3B2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1" name="!!nav_i1" descr="user-round_3B2A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2" name="!!nav_i2" descr="shopping-bag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3" name="!!h_title"/>
          <p:cNvSpPr txBox="1"/>
          <p:nvPr/>
        </p:nvSpPr>
        <p:spPr>
          <a:xfrm>
            <a:off x="548640" y="91440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4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DÒNG SẢN PHẨM</a:t>
            </a:r>
          </a:p>
        </p:txBody>
      </p:sp>
      <p:sp>
        <p:nvSpPr>
          <p:cNvPr id="14" name="!!h_script"/>
          <p:cNvSpPr txBox="1"/>
          <p:nvPr/>
        </p:nvSpPr>
        <p:spPr>
          <a:xfrm>
            <a:off x="548640" y="129844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2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Á Châu Agri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3454298" cy="237744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655" y="3499168"/>
            <a:ext cx="634504" cy="6826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90000"/>
              </a:lnSpc>
            </a:pPr>
            <a:r>
              <a:rPr sz="43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8494" y="3499168"/>
            <a:ext cx="1267430" cy="6826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43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SINH</a:t>
            </a:r>
          </a:p>
        </p:txBody>
      </p:sp>
      <p:pic>
        <p:nvPicPr>
          <p:cNvPr id="18" name="!!p_hcvs_lua" descr="prod_hcvs_lua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1360000">
            <a:off x="1367711" y="2903220"/>
            <a:ext cx="1183230" cy="1874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5166360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Hữu cơ vi sinh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2651760"/>
            <a:ext cx="3454298" cy="237744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5475" y="3562668"/>
            <a:ext cx="966539" cy="5556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90000"/>
              </a:lnSpc>
            </a:pPr>
            <a:r>
              <a:rPr sz="35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KHO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0349" y="3562668"/>
            <a:ext cx="935871" cy="5556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5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ÁNG</a:t>
            </a:r>
          </a:p>
        </p:txBody>
      </p:sp>
      <p:pic>
        <p:nvPicPr>
          <p:cNvPr id="23" name="!!p_hc_khoang" descr="prod_hc_khoang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1360000">
            <a:off x="5519567" y="2903220"/>
            <a:ext cx="1183230" cy="18745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68698" y="5166360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Hữu cơ khoáng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8757" y="2651760"/>
            <a:ext cx="3454298" cy="237744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0515" y="3475355"/>
            <a:ext cx="1196469" cy="730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90000"/>
              </a:lnSpc>
            </a:pPr>
            <a:r>
              <a:rPr sz="46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BÓN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77720" y="3475355"/>
            <a:ext cx="763578" cy="730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46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LÁ</a:t>
            </a:r>
          </a:p>
        </p:txBody>
      </p:sp>
      <p:pic>
        <p:nvPicPr>
          <p:cNvPr id="28" name="!!p_la_rare" descr="prod_la_rare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21360000">
            <a:off x="9642501" y="2903220"/>
            <a:ext cx="979702" cy="1874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188757" y="5166360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Phân bón lá hữu cơ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5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6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7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8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9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nav_i0" descr="search_3B2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1" name="!!nav_i1" descr="user-round_3B2A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2" name="!!nav_i2" descr="shopping-bag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3" name="!!catw"/>
          <p:cNvSpPr txBox="1"/>
          <p:nvPr/>
        </p:nvSpPr>
        <p:spPr>
          <a:xfrm>
            <a:off x="2210223" y="2103755"/>
            <a:ext cx="7771249" cy="3016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190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VI SINH</a:t>
            </a:r>
          </a:p>
        </p:txBody>
      </p:sp>
      <p:pic>
        <p:nvPicPr>
          <p:cNvPr id="14" name="!!p_hcvs_lua" descr="prod_hcvs_lua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1120000">
            <a:off x="4768321" y="1508760"/>
            <a:ext cx="2655054" cy="4206240"/>
          </a:xfrm>
          <a:prstGeom prst="rect">
            <a:avLst/>
          </a:prstGeom>
        </p:spPr>
      </p:pic>
      <p:sp>
        <p:nvSpPr>
          <p:cNvPr id="15" name="!!cat_script"/>
          <p:cNvSpPr txBox="1"/>
          <p:nvPr/>
        </p:nvSpPr>
        <p:spPr>
          <a:xfrm>
            <a:off x="7696048" y="4343400"/>
            <a:ext cx="4206240" cy="1097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0" b="0" i="0">
                <a:solidFill>
                  <a:srgbClr val="3B2A20"/>
                </a:solidFill>
                <a:effectLst>
                  <a:outerShdw blurRad="73152" dist="0" dir="5400000" algn="ctr" rotWithShape="0">
                    <a:srgbClr val="FFFFFF">
                      <a:alpha val="80000"/>
                    </a:srgbClr>
                  </a:outerShdw>
                </a:effectLst>
                <a:latin typeface="Great Vibes"/>
                <a:ea typeface="Great Vibes"/>
                <a:cs typeface="Great Vibes"/>
              </a:rPr>
              <a:t>Hữu cơ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Bộ sản phẩm hữu cơ vi sinh chuyên dùng cho từng nhóm cây trồng</a:t>
            </a:r>
          </a:p>
        </p:txBody>
      </p:sp>
      <p:pic>
        <p:nvPicPr>
          <p:cNvPr id="17" name="!!d0" descr="leaf_a.png"/>
          <p:cNvPicPr>
            <a:picLocks noChangeAspect="1"/>
          </p:cNvPicPr>
          <p:nvPr/>
        </p:nvPicPr>
        <p:blipFill>
          <a:blip r:embed="rId8"/>
          <a:srcRect t="0" b="0"/>
          <a:stretch>
            <a:fillRect/>
          </a:stretch>
        </p:blipFill>
        <p:spPr>
          <a:xfrm rot="18476867">
            <a:off x="1214780" y="1406641"/>
            <a:ext cx="808859" cy="412518"/>
          </a:xfrm>
          <a:prstGeom prst="rect">
            <a:avLst/>
          </a:prstGeom>
        </p:spPr>
      </p:pic>
      <p:pic>
        <p:nvPicPr>
          <p:cNvPr id="18" name="!!d1" descr="leaf_b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19224657">
            <a:off x="10915418" y="1435945"/>
            <a:ext cx="745073" cy="353910"/>
          </a:xfrm>
          <a:prstGeom prst="rect">
            <a:avLst/>
          </a:prstGeom>
        </p:spPr>
      </p:pic>
      <p:pic>
        <p:nvPicPr>
          <p:cNvPr id="19" name="!!d2" descr="pellet_blur.png"/>
          <p:cNvPicPr>
            <a:picLocks noChangeAspect="1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 rot="1631497">
            <a:off x="702863" y="5418082"/>
            <a:ext cx="592245" cy="385556"/>
          </a:xfrm>
          <a:prstGeom prst="rect">
            <a:avLst/>
          </a:prstGeom>
        </p:spPr>
      </p:pic>
      <p:pic>
        <p:nvPicPr>
          <p:cNvPr id="20" name="!!d3" descr="leaf_c_blur.png"/>
          <p:cNvPicPr>
            <a:picLocks noChangeAspect="1"/>
          </p:cNvPicPr>
          <p:nvPr/>
        </p:nvPicPr>
        <p:blipFill>
          <a:blip r:embed="rId11"/>
          <a:srcRect l="0" r="0"/>
          <a:stretch>
            <a:fillRect/>
          </a:stretch>
        </p:blipFill>
        <p:spPr>
          <a:xfrm rot="19607710">
            <a:off x="10408409" y="5926354"/>
            <a:ext cx="731250" cy="38495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59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39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eeb542fae008dadf.jpg"/>
          <p:cNvPicPr>
            <a:picLocks noChangeAspect="1"/>
          </p:cNvPicPr>
          <p:nvPr/>
        </p:nvPicPr>
        <p:blipFill>
          <a:blip r:embed="rId2"/>
          <a:srcRect t="1578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16000">
                <a:srgbClr val="FFFFFF">
                  <a:alpha val="55000"/>
                </a:srgbClr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FFFFF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sprout_3E8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8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9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10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11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12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3" name="!!nav_i0" descr="search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4" name="!!nav_i1" descr="user-round_3B2A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5" name="!!nav_i2" descr="shopping-bag_3B2A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6" name="!!p_hcvs_rau" descr="prod_hcvs_rau_blur.png"/>
          <p:cNvPicPr>
            <a:picLocks noChangeAspect="1"/>
          </p:cNvPicPr>
          <p:nvPr/>
        </p:nvPicPr>
        <p:blipFill>
          <a:blip r:embed="rId9"/>
          <a:srcRect t="0" b="0"/>
          <a:stretch>
            <a:fillRect/>
          </a:stretch>
        </p:blipFill>
        <p:spPr>
          <a:xfrm rot="20760000">
            <a:off x="1693694" y="1417320"/>
            <a:ext cx="910292" cy="1417320"/>
          </a:xfrm>
          <a:prstGeom prst="rect">
            <a:avLst/>
          </a:prstGeom>
        </p:spPr>
      </p:pic>
      <p:pic>
        <p:nvPicPr>
          <p:cNvPr id="17" name="!!p_hcvs_cay" descr="prod_hcvs_cay_blur.png"/>
          <p:cNvPicPr>
            <a:picLocks noChangeAspect="1"/>
          </p:cNvPicPr>
          <p:nvPr/>
        </p:nvPicPr>
        <p:blipFill>
          <a:blip r:embed="rId10"/>
          <a:srcRect t="0" b="0"/>
          <a:stretch>
            <a:fillRect/>
          </a:stretch>
        </p:blipFill>
        <p:spPr>
          <a:xfrm rot="720000">
            <a:off x="9637639" y="2194560"/>
            <a:ext cx="1115842" cy="1737360"/>
          </a:xfrm>
          <a:prstGeom prst="rect">
            <a:avLst/>
          </a:prstGeom>
        </p:spPr>
      </p:pic>
      <p:pic>
        <p:nvPicPr>
          <p:cNvPr id="18" name="!!p_hcvs_lua" descr="prod_hcvs_lua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1300000">
            <a:off x="5018644" y="1417320"/>
            <a:ext cx="2885928" cy="4572000"/>
          </a:xfrm>
          <a:prstGeom prst="rect">
            <a:avLst/>
          </a:prstGeom>
        </p:spPr>
      </p:pic>
      <p:sp>
        <p:nvSpPr>
          <p:cNvPr id="19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1" i="0">
                <a:solidFill>
                  <a:srgbClr val="7A3B22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Oswald"/>
                <a:ea typeface="Oswald"/>
                <a:cs typeface="Oswald"/>
              </a:rPr>
              <a:t>HỮU CƠ VI SINH</a:t>
            </a:r>
          </a:p>
        </p:txBody>
      </p:sp>
      <p:sp>
        <p:nvSpPr>
          <p:cNvPr id="20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0" i="0">
                <a:solidFill>
                  <a:srgbClr val="3B2A20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Great Vibes"/>
                <a:ea typeface="Great Vibes"/>
                <a:cs typeface="Great Vibes"/>
              </a:rPr>
              <a:t>Chuyên lúa</a:t>
            </a:r>
          </a:p>
        </p:txBody>
      </p:sp>
      <p:sp>
        <p:nvSpPr>
          <p:cNvPr id="21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Bón lót và bón thúc cho lúa; giúp </a:t>
            </a:r>
            <a:r>
              <a:rPr sz="10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đẻ nhánh khỏe, cứng cây</a:t>
            </a: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, hạn chế đổ ngã.</a:t>
            </a:r>
          </a:p>
        </p:txBody>
      </p:sp>
      <p:pic>
        <p:nvPicPr>
          <p:cNvPr id="22" name="!!t_0" descr="prod_hcvs_lua.png"/>
          <p:cNvPicPr>
            <a:picLocks noChangeAspect="1"/>
          </p:cNvPicPr>
          <p:nvPr/>
        </p:nvPicPr>
        <p:blipFill>
          <a:blip r:embed="rId11"/>
          <a:srcRect t="10864" b="10864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3" name="!!t_1" descr="prod_hcvs_rau.png"/>
          <p:cNvPicPr>
            <a:picLocks noChangeAspect="1"/>
          </p:cNvPicPr>
          <p:nvPr/>
        </p:nvPicPr>
        <p:blipFill>
          <a:blip r:embed="rId12"/>
          <a:srcRect t="10864" b="10864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4" name="!!t_2" descr="prod_hcvs_cay.png"/>
          <p:cNvPicPr>
            <a:picLocks noChangeAspect="1"/>
          </p:cNvPicPr>
          <p:nvPr/>
        </p:nvPicPr>
        <p:blipFill>
          <a:blip r:embed="rId13"/>
          <a:srcRect t="10864" b="10864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25" name="!!t_ind"/>
          <p:cNvSpPr/>
          <p:nvPr/>
        </p:nvSpPr>
        <p:spPr>
          <a:xfrm>
            <a:off x="10051999" y="6446520"/>
            <a:ext cx="457200" cy="45720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da55c467533b208c.jpg"/>
          <p:cNvPicPr>
            <a:picLocks noChangeAspect="1"/>
          </p:cNvPicPr>
          <p:nvPr/>
        </p:nvPicPr>
        <p:blipFill>
          <a:blip r:embed="rId2"/>
          <a:srcRect t="38906" b="18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16000">
                <a:srgbClr val="FFFFFF">
                  <a:alpha val="55000"/>
                </a:srgbClr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FFFFF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sprout_3E8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8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9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10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11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12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3" name="!!nav_i0" descr="search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4" name="!!nav_i1" descr="user-round_3B2A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5" name="!!nav_i2" descr="shopping-bag_3B2A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6" name="!!p_hcvs_lua" descr="prod_hcvs_lua_blur.png"/>
          <p:cNvPicPr>
            <a:picLocks noChangeAspect="1"/>
          </p:cNvPicPr>
          <p:nvPr/>
        </p:nvPicPr>
        <p:blipFill>
          <a:blip r:embed="rId9"/>
          <a:srcRect t="0" b="0"/>
          <a:stretch>
            <a:fillRect/>
          </a:stretch>
        </p:blipFill>
        <p:spPr>
          <a:xfrm rot="20760000">
            <a:off x="1693694" y="1417320"/>
            <a:ext cx="910292" cy="1417320"/>
          </a:xfrm>
          <a:prstGeom prst="rect">
            <a:avLst/>
          </a:prstGeom>
        </p:spPr>
      </p:pic>
      <p:pic>
        <p:nvPicPr>
          <p:cNvPr id="17" name="!!p_hcvs_cay" descr="prod_hcvs_cay_blur.png"/>
          <p:cNvPicPr>
            <a:picLocks noChangeAspect="1"/>
          </p:cNvPicPr>
          <p:nvPr/>
        </p:nvPicPr>
        <p:blipFill>
          <a:blip r:embed="rId10"/>
          <a:srcRect t="0" b="0"/>
          <a:stretch>
            <a:fillRect/>
          </a:stretch>
        </p:blipFill>
        <p:spPr>
          <a:xfrm rot="720000">
            <a:off x="9637639" y="2194560"/>
            <a:ext cx="1115842" cy="1737360"/>
          </a:xfrm>
          <a:prstGeom prst="rect">
            <a:avLst/>
          </a:prstGeom>
        </p:spPr>
      </p:pic>
      <p:pic>
        <p:nvPicPr>
          <p:cNvPr id="18" name="!!p_hcvs_rau" descr="prod_hcvs_rau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1300000">
            <a:off x="5018644" y="1417320"/>
            <a:ext cx="2885928" cy="4572000"/>
          </a:xfrm>
          <a:prstGeom prst="rect">
            <a:avLst/>
          </a:prstGeom>
        </p:spPr>
      </p:pic>
      <p:sp>
        <p:nvSpPr>
          <p:cNvPr id="19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1" i="0">
                <a:solidFill>
                  <a:srgbClr val="7A3B22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Oswald"/>
                <a:ea typeface="Oswald"/>
                <a:cs typeface="Oswald"/>
              </a:rPr>
              <a:t>HỮU CƠ VI SINH</a:t>
            </a:r>
          </a:p>
        </p:txBody>
      </p:sp>
      <p:sp>
        <p:nvSpPr>
          <p:cNvPr id="20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0" i="0">
                <a:solidFill>
                  <a:srgbClr val="3B2A20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Great Vibes"/>
                <a:ea typeface="Great Vibes"/>
                <a:cs typeface="Great Vibes"/>
              </a:rPr>
              <a:t>Chuyên rau màu</a:t>
            </a:r>
          </a:p>
        </p:txBody>
      </p:sp>
      <p:sp>
        <p:nvSpPr>
          <p:cNvPr id="21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Cho rau ăn lá, củ, quả; </a:t>
            </a:r>
            <a:r>
              <a:rPr sz="10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đất tơi xốp, rễ phát triển</a:t>
            </a: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, rau xanh mướt.</a:t>
            </a:r>
          </a:p>
        </p:txBody>
      </p:sp>
      <p:pic>
        <p:nvPicPr>
          <p:cNvPr id="22" name="!!t_0" descr="prod_hcvs_lua.png"/>
          <p:cNvPicPr>
            <a:picLocks noChangeAspect="1"/>
          </p:cNvPicPr>
          <p:nvPr/>
        </p:nvPicPr>
        <p:blipFill>
          <a:blip r:embed="rId12"/>
          <a:srcRect t="10864" b="10864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3" name="!!t_1" descr="prod_hcvs_rau.png"/>
          <p:cNvPicPr>
            <a:picLocks noChangeAspect="1"/>
          </p:cNvPicPr>
          <p:nvPr/>
        </p:nvPicPr>
        <p:blipFill>
          <a:blip r:embed="rId11"/>
          <a:srcRect t="10864" b="10864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4" name="!!t_2" descr="prod_hcvs_cay.png"/>
          <p:cNvPicPr>
            <a:picLocks noChangeAspect="1"/>
          </p:cNvPicPr>
          <p:nvPr/>
        </p:nvPicPr>
        <p:blipFill>
          <a:blip r:embed="rId13"/>
          <a:srcRect t="10864" b="10864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25" name="!!t_ind"/>
          <p:cNvSpPr/>
          <p:nvPr/>
        </p:nvSpPr>
        <p:spPr>
          <a:xfrm>
            <a:off x="10618927" y="6446520"/>
            <a:ext cx="457200" cy="45720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44418dcddc0c8b6d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16000">
                <a:srgbClr val="FFFFFF">
                  <a:alpha val="55000"/>
                </a:srgbClr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FFFFF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sprout_3E8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8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9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10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11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12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3" name="!!nav_i0" descr="search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4" name="!!nav_i1" descr="user-round_3B2A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5" name="!!nav_i2" descr="shopping-bag_3B2A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6" name="!!p_hcvs_lua" descr="prod_hcvs_lua_blur.png"/>
          <p:cNvPicPr>
            <a:picLocks noChangeAspect="1"/>
          </p:cNvPicPr>
          <p:nvPr/>
        </p:nvPicPr>
        <p:blipFill>
          <a:blip r:embed="rId9"/>
          <a:srcRect t="0" b="0"/>
          <a:stretch>
            <a:fillRect/>
          </a:stretch>
        </p:blipFill>
        <p:spPr>
          <a:xfrm rot="20760000">
            <a:off x="1693694" y="1417320"/>
            <a:ext cx="910292" cy="1417320"/>
          </a:xfrm>
          <a:prstGeom prst="rect">
            <a:avLst/>
          </a:prstGeom>
        </p:spPr>
      </p:pic>
      <p:pic>
        <p:nvPicPr>
          <p:cNvPr id="17" name="!!p_hcvs_rau" descr="prod_hcvs_rau_blur.png"/>
          <p:cNvPicPr>
            <a:picLocks noChangeAspect="1"/>
          </p:cNvPicPr>
          <p:nvPr/>
        </p:nvPicPr>
        <p:blipFill>
          <a:blip r:embed="rId10"/>
          <a:srcRect t="0" b="0"/>
          <a:stretch>
            <a:fillRect/>
          </a:stretch>
        </p:blipFill>
        <p:spPr>
          <a:xfrm rot="720000">
            <a:off x="9637639" y="2194560"/>
            <a:ext cx="1115842" cy="1737360"/>
          </a:xfrm>
          <a:prstGeom prst="rect">
            <a:avLst/>
          </a:prstGeom>
        </p:spPr>
      </p:pic>
      <p:pic>
        <p:nvPicPr>
          <p:cNvPr id="18" name="!!p_hcvs_cay" descr="prod_hcvs_cay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1300000">
            <a:off x="5018644" y="1417320"/>
            <a:ext cx="2885928" cy="4572000"/>
          </a:xfrm>
          <a:prstGeom prst="rect">
            <a:avLst/>
          </a:prstGeom>
        </p:spPr>
      </p:pic>
      <p:sp>
        <p:nvSpPr>
          <p:cNvPr id="19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1" i="0">
                <a:solidFill>
                  <a:srgbClr val="7A3B22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Oswald"/>
                <a:ea typeface="Oswald"/>
                <a:cs typeface="Oswald"/>
              </a:rPr>
              <a:t>HỮU CƠ VI SINH</a:t>
            </a:r>
          </a:p>
        </p:txBody>
      </p:sp>
      <p:sp>
        <p:nvSpPr>
          <p:cNvPr id="20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0" i="0">
                <a:solidFill>
                  <a:srgbClr val="3B2A20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Great Vibes"/>
                <a:ea typeface="Great Vibes"/>
                <a:cs typeface="Great Vibes"/>
              </a:rPr>
              <a:t>Cây ăn trái</a:t>
            </a:r>
          </a:p>
        </p:txBody>
      </p:sp>
      <p:sp>
        <p:nvSpPr>
          <p:cNvPr id="21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Phục hồi cây sau thu hoạch, </a:t>
            </a:r>
            <a:r>
              <a:rPr sz="10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nuôi trái lớn đều</a:t>
            </a: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, tăng độ ngọt tự nhiên.</a:t>
            </a:r>
          </a:p>
        </p:txBody>
      </p:sp>
      <p:pic>
        <p:nvPicPr>
          <p:cNvPr id="22" name="!!t_0" descr="prod_hcvs_lua.png"/>
          <p:cNvPicPr>
            <a:picLocks noChangeAspect="1"/>
          </p:cNvPicPr>
          <p:nvPr/>
        </p:nvPicPr>
        <p:blipFill>
          <a:blip r:embed="rId12"/>
          <a:srcRect t="10864" b="10864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3" name="!!t_1" descr="prod_hcvs_rau.png"/>
          <p:cNvPicPr>
            <a:picLocks noChangeAspect="1"/>
          </p:cNvPicPr>
          <p:nvPr/>
        </p:nvPicPr>
        <p:blipFill>
          <a:blip r:embed="rId13"/>
          <a:srcRect t="10864" b="10864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4" name="!!t_2" descr="prod_hcvs_cay.png"/>
          <p:cNvPicPr>
            <a:picLocks noChangeAspect="1"/>
          </p:cNvPicPr>
          <p:nvPr/>
        </p:nvPicPr>
        <p:blipFill>
          <a:blip r:embed="rId11"/>
          <a:srcRect t="10864" b="10864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25" name="!!t_ind"/>
          <p:cNvSpPr/>
          <p:nvPr/>
        </p:nvSpPr>
        <p:spPr>
          <a:xfrm>
            <a:off x="11185855" y="6446520"/>
            <a:ext cx="457200" cy="45720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5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6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7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8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9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nav_i0" descr="search_3B2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1" name="!!nav_i1" descr="user-round_3B2A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2" name="!!nav_i2" descr="shopping-bag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3" name="!!catw"/>
          <p:cNvSpPr txBox="1"/>
          <p:nvPr/>
        </p:nvSpPr>
        <p:spPr>
          <a:xfrm>
            <a:off x="2311565" y="2103755"/>
            <a:ext cx="7568565" cy="3016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190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BÓN LÁ</a:t>
            </a:r>
          </a:p>
        </p:txBody>
      </p:sp>
      <p:pic>
        <p:nvPicPr>
          <p:cNvPr id="14" name="!!p_la_rare" descr="prod_la_rare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1120000">
            <a:off x="4996670" y="1508760"/>
            <a:ext cx="2198356" cy="4206240"/>
          </a:xfrm>
          <a:prstGeom prst="rect">
            <a:avLst/>
          </a:prstGeom>
        </p:spPr>
      </p:pic>
      <p:sp>
        <p:nvSpPr>
          <p:cNvPr id="15" name="!!cat_script"/>
          <p:cNvSpPr txBox="1"/>
          <p:nvPr/>
        </p:nvSpPr>
        <p:spPr>
          <a:xfrm>
            <a:off x="7696048" y="4343400"/>
            <a:ext cx="4206240" cy="1097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0" b="0" i="0">
                <a:solidFill>
                  <a:srgbClr val="3B2A20"/>
                </a:solidFill>
                <a:effectLst>
                  <a:outerShdw blurRad="73152" dist="0" dir="5400000" algn="ctr" rotWithShape="0">
                    <a:srgbClr val="FFFFFF">
                      <a:alpha val="80000"/>
                    </a:srgbClr>
                  </a:outerShdw>
                </a:effectLst>
                <a:latin typeface="Great Vibes"/>
                <a:ea typeface="Great Vibes"/>
                <a:cs typeface="Great Vibes"/>
              </a:rPr>
              <a:t>Dạng lỏng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Phân bón lá hữu cơ – hấp thu nhanh qua lá, dùng kết hợp với bón gốc</a:t>
            </a:r>
          </a:p>
        </p:txBody>
      </p:sp>
      <p:pic>
        <p:nvPicPr>
          <p:cNvPr id="17" name="!!d0" descr="leaf_a.png"/>
          <p:cNvPicPr>
            <a:picLocks noChangeAspect="1"/>
          </p:cNvPicPr>
          <p:nvPr/>
        </p:nvPicPr>
        <p:blipFill>
          <a:blip r:embed="rId8"/>
          <a:srcRect t="0" b="0"/>
          <a:stretch>
            <a:fillRect/>
          </a:stretch>
        </p:blipFill>
        <p:spPr>
          <a:xfrm rot="21208938">
            <a:off x="149948" y="1473521"/>
            <a:ext cx="546582" cy="278757"/>
          </a:xfrm>
          <a:prstGeom prst="rect">
            <a:avLst/>
          </a:prstGeom>
        </p:spPr>
      </p:pic>
      <p:pic>
        <p:nvPicPr>
          <p:cNvPr id="18" name="!!d1" descr="leaf_b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1758845">
            <a:off x="9918578" y="5429329"/>
            <a:ext cx="718957" cy="341505"/>
          </a:xfrm>
          <a:prstGeom prst="rect">
            <a:avLst/>
          </a:prstGeom>
        </p:spPr>
      </p:pic>
      <p:pic>
        <p:nvPicPr>
          <p:cNvPr id="19" name="!!d2" descr="pellet_blur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 rot="18921292">
            <a:off x="1888638" y="5393248"/>
            <a:ext cx="668539" cy="435223"/>
          </a:xfrm>
          <a:prstGeom prst="rect">
            <a:avLst/>
          </a:prstGeom>
        </p:spPr>
      </p:pic>
      <p:pic>
        <p:nvPicPr>
          <p:cNvPr id="20" name="!!d3" descr="leaf_c_blur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19204014">
            <a:off x="11180063" y="1383818"/>
            <a:ext cx="610848" cy="3215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59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39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d3e9b738f12adade.jpg"/>
          <p:cNvPicPr>
            <a:picLocks noChangeAspect="1"/>
          </p:cNvPicPr>
          <p:nvPr/>
        </p:nvPicPr>
        <p:blipFill>
          <a:blip r:embed="rId2"/>
          <a:srcRect t="12352" b="1235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16000">
                <a:srgbClr val="FFFFFF">
                  <a:alpha val="55000"/>
                </a:srgbClr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FFFFF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sprout_3E8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8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9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10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11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12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3" name="!!nav_i0" descr="search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4" name="!!nav_i1" descr="user-round_3B2A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5" name="!!nav_i2" descr="shopping-bag_3B2A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6" name="!!p_la_duong" descr="prod_la_duong_blur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20760000">
            <a:off x="1767353" y="1417320"/>
            <a:ext cx="762973" cy="1417320"/>
          </a:xfrm>
          <a:prstGeom prst="rect">
            <a:avLst/>
          </a:prstGeom>
        </p:spPr>
      </p:pic>
      <p:pic>
        <p:nvPicPr>
          <p:cNvPr id="17" name="!!p_la_trai" descr="prod_la_trai_blur.png"/>
          <p:cNvPicPr>
            <a:picLocks noChangeAspect="1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 rot="720000">
            <a:off x="9727931" y="2194560"/>
            <a:ext cx="935258" cy="1737360"/>
          </a:xfrm>
          <a:prstGeom prst="rect">
            <a:avLst/>
          </a:prstGeom>
        </p:spPr>
      </p:pic>
      <p:pic>
        <p:nvPicPr>
          <p:cNvPr id="18" name="!!p_la_rare" descr="prod_la_rare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1300000">
            <a:off x="5362430" y="1783080"/>
            <a:ext cx="2198356" cy="4206240"/>
          </a:xfrm>
          <a:prstGeom prst="rect">
            <a:avLst/>
          </a:prstGeom>
        </p:spPr>
      </p:pic>
      <p:sp>
        <p:nvSpPr>
          <p:cNvPr id="19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1" i="0">
                <a:solidFill>
                  <a:srgbClr val="7A3B22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Oswald"/>
                <a:ea typeface="Oswald"/>
                <a:cs typeface="Oswald"/>
              </a:rPr>
              <a:t>RA RỄ CỰC MẠNH</a:t>
            </a:r>
          </a:p>
        </p:txBody>
      </p:sp>
      <p:sp>
        <p:nvSpPr>
          <p:cNvPr id="20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0" i="0">
                <a:solidFill>
                  <a:srgbClr val="3B2A20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Great Vibes"/>
                <a:ea typeface="Great Vibes"/>
                <a:cs typeface="Great Vibes"/>
              </a:rPr>
              <a:t>Bón lá</a:t>
            </a:r>
          </a:p>
        </p:txBody>
      </p:sp>
      <p:sp>
        <p:nvSpPr>
          <p:cNvPr id="21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Kích thích </a:t>
            </a:r>
            <a:r>
              <a:rPr sz="10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ra rễ non</a:t>
            </a: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, phục hồi cây sau ngập úng, cây con sau trồng.</a:t>
            </a:r>
          </a:p>
        </p:txBody>
      </p:sp>
      <p:pic>
        <p:nvPicPr>
          <p:cNvPr id="22" name="!!t_0" descr="prod_la_rare.png"/>
          <p:cNvPicPr>
            <a:picLocks noChangeAspect="1"/>
          </p:cNvPicPr>
          <p:nvPr/>
        </p:nvPicPr>
        <p:blipFill>
          <a:blip r:embed="rId11"/>
          <a:srcRect t="17596" b="17596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3" name="!!t_1" descr="prod_la_duong.png"/>
          <p:cNvPicPr>
            <a:picLocks noChangeAspect="1"/>
          </p:cNvPicPr>
          <p:nvPr/>
        </p:nvPicPr>
        <p:blipFill>
          <a:blip r:embed="rId12"/>
          <a:srcRect t="17596" b="17596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4" name="!!t_2" descr="prod_la_trai.png"/>
          <p:cNvPicPr>
            <a:picLocks noChangeAspect="1"/>
          </p:cNvPicPr>
          <p:nvPr/>
        </p:nvPicPr>
        <p:blipFill>
          <a:blip r:embed="rId13"/>
          <a:srcRect t="17596" b="17596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25" name="!!t_ind"/>
          <p:cNvSpPr/>
          <p:nvPr/>
        </p:nvSpPr>
        <p:spPr>
          <a:xfrm>
            <a:off x="10051999" y="6446520"/>
            <a:ext cx="457200" cy="45720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81137697d7643e5a.jpg"/>
          <p:cNvPicPr>
            <a:picLocks noChangeAspect="1"/>
          </p:cNvPicPr>
          <p:nvPr/>
        </p:nvPicPr>
        <p:blipFill>
          <a:blip r:embed="rId2"/>
          <a:srcRect t="7014" b="701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16000">
                <a:srgbClr val="FFFFFF">
                  <a:alpha val="55000"/>
                </a:srgbClr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FFFFF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sprout_3E8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8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9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10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11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12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3" name="!!nav_i0" descr="search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4" name="!!nav_i1" descr="user-round_3B2A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5" name="!!nav_i2" descr="shopping-bag_3B2A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6" name="!!p_la_rare" descr="prod_la_rare_blur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20760000">
            <a:off x="1767353" y="1417320"/>
            <a:ext cx="762973" cy="1417320"/>
          </a:xfrm>
          <a:prstGeom prst="rect">
            <a:avLst/>
          </a:prstGeom>
        </p:spPr>
      </p:pic>
      <p:pic>
        <p:nvPicPr>
          <p:cNvPr id="17" name="!!p_la_trai" descr="prod_la_trai_blur.png"/>
          <p:cNvPicPr>
            <a:picLocks noChangeAspect="1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 rot="720000">
            <a:off x="9727931" y="2194560"/>
            <a:ext cx="935258" cy="1737360"/>
          </a:xfrm>
          <a:prstGeom prst="rect">
            <a:avLst/>
          </a:prstGeom>
        </p:spPr>
      </p:pic>
      <p:pic>
        <p:nvPicPr>
          <p:cNvPr id="18" name="!!p_la_duong" descr="prod_la_duong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1300000">
            <a:off x="5362430" y="1783080"/>
            <a:ext cx="2198356" cy="4206240"/>
          </a:xfrm>
          <a:prstGeom prst="rect">
            <a:avLst/>
          </a:prstGeom>
        </p:spPr>
      </p:pic>
      <p:sp>
        <p:nvSpPr>
          <p:cNvPr id="19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1" i="0">
                <a:solidFill>
                  <a:srgbClr val="7A3B22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Oswald"/>
                <a:ea typeface="Oswald"/>
                <a:cs typeface="Oswald"/>
              </a:rPr>
              <a:t>DƯỠNG LÁ XANH</a:t>
            </a:r>
          </a:p>
        </p:txBody>
      </p:sp>
      <p:sp>
        <p:nvSpPr>
          <p:cNvPr id="20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0" i="0">
                <a:solidFill>
                  <a:srgbClr val="3B2A20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Great Vibes"/>
                <a:ea typeface="Great Vibes"/>
                <a:cs typeface="Great Vibes"/>
              </a:rPr>
              <a:t>Bón lá</a:t>
            </a:r>
          </a:p>
        </p:txBody>
      </p:sp>
      <p:sp>
        <p:nvSpPr>
          <p:cNvPr id="21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Lá dày, xanh bóng</a:t>
            </a: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, tăng quang hợp và sức đề kháng của cây.</a:t>
            </a:r>
          </a:p>
        </p:txBody>
      </p:sp>
      <p:pic>
        <p:nvPicPr>
          <p:cNvPr id="22" name="!!t_0" descr="prod_la_rare.png"/>
          <p:cNvPicPr>
            <a:picLocks noChangeAspect="1"/>
          </p:cNvPicPr>
          <p:nvPr/>
        </p:nvPicPr>
        <p:blipFill>
          <a:blip r:embed="rId12"/>
          <a:srcRect t="17596" b="17596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3" name="!!t_1" descr="prod_la_duong.png"/>
          <p:cNvPicPr>
            <a:picLocks noChangeAspect="1"/>
          </p:cNvPicPr>
          <p:nvPr/>
        </p:nvPicPr>
        <p:blipFill>
          <a:blip r:embed="rId11"/>
          <a:srcRect t="17596" b="17596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4" name="!!t_2" descr="prod_la_trai.png"/>
          <p:cNvPicPr>
            <a:picLocks noChangeAspect="1"/>
          </p:cNvPicPr>
          <p:nvPr/>
        </p:nvPicPr>
        <p:blipFill>
          <a:blip r:embed="rId13"/>
          <a:srcRect t="17596" b="17596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25" name="!!t_ind"/>
          <p:cNvSpPr/>
          <p:nvPr/>
        </p:nvSpPr>
        <p:spPr>
          <a:xfrm>
            <a:off x="10618927" y="6446520"/>
            <a:ext cx="457200" cy="45720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eaee7fecc7286deb.jpg"/>
          <p:cNvPicPr>
            <a:picLocks noChangeAspect="1"/>
          </p:cNvPicPr>
          <p:nvPr/>
        </p:nvPicPr>
        <p:blipFill>
          <a:blip r:embed="rId2"/>
          <a:srcRect t="190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16000">
                <a:srgbClr val="FFFFFF">
                  <a:alpha val="55000"/>
                </a:srgbClr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FFFFF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sprout_3E8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8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9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10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11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12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3" name="!!nav_i0" descr="search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4" name="!!nav_i1" descr="user-round_3B2A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5" name="!!nav_i2" descr="shopping-bag_3B2A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6" name="!!p_la_rare" descr="prod_la_rare_blur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20760000">
            <a:off x="1767353" y="1417320"/>
            <a:ext cx="762973" cy="1417320"/>
          </a:xfrm>
          <a:prstGeom prst="rect">
            <a:avLst/>
          </a:prstGeom>
        </p:spPr>
      </p:pic>
      <p:pic>
        <p:nvPicPr>
          <p:cNvPr id="17" name="!!p_la_duong" descr="prod_la_duong_blur.png"/>
          <p:cNvPicPr>
            <a:picLocks noChangeAspect="1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 rot="720000">
            <a:off x="9727931" y="2194560"/>
            <a:ext cx="935258" cy="1737360"/>
          </a:xfrm>
          <a:prstGeom prst="rect">
            <a:avLst/>
          </a:prstGeom>
        </p:spPr>
      </p:pic>
      <p:pic>
        <p:nvPicPr>
          <p:cNvPr id="18" name="!!p_la_trai" descr="prod_la_trai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1300000">
            <a:off x="5362430" y="1783080"/>
            <a:ext cx="2198356" cy="4206240"/>
          </a:xfrm>
          <a:prstGeom prst="rect">
            <a:avLst/>
          </a:prstGeom>
        </p:spPr>
      </p:pic>
      <p:sp>
        <p:nvSpPr>
          <p:cNvPr id="19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1" i="0">
                <a:solidFill>
                  <a:srgbClr val="7A3B22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Oswald"/>
                <a:ea typeface="Oswald"/>
                <a:cs typeface="Oswald"/>
              </a:rPr>
              <a:t>ĐẬU TRÁI</a:t>
            </a:r>
          </a:p>
        </p:txBody>
      </p:sp>
      <p:sp>
        <p:nvSpPr>
          <p:cNvPr id="20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0" i="0">
                <a:solidFill>
                  <a:srgbClr val="3B2A20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Great Vibes"/>
                <a:ea typeface="Great Vibes"/>
                <a:cs typeface="Great Vibes"/>
              </a:rPr>
              <a:t>Lớn trái</a:t>
            </a:r>
          </a:p>
        </p:txBody>
      </p:sp>
      <p:sp>
        <p:nvSpPr>
          <p:cNvPr id="21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Hỗ trợ </a:t>
            </a:r>
            <a:r>
              <a:rPr sz="10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đậu hoa, đậu trái</a:t>
            </a:r>
            <a:r>
              <a:rPr sz="1050" b="0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, hạn chế rụng trái non, trái lớn đều.</a:t>
            </a:r>
          </a:p>
        </p:txBody>
      </p:sp>
      <p:pic>
        <p:nvPicPr>
          <p:cNvPr id="22" name="!!t_0" descr="prod_la_rare.png"/>
          <p:cNvPicPr>
            <a:picLocks noChangeAspect="1"/>
          </p:cNvPicPr>
          <p:nvPr/>
        </p:nvPicPr>
        <p:blipFill>
          <a:blip r:embed="rId12"/>
          <a:srcRect t="17596" b="17596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3" name="!!t_1" descr="prod_la_duong.png"/>
          <p:cNvPicPr>
            <a:picLocks noChangeAspect="1"/>
          </p:cNvPicPr>
          <p:nvPr/>
        </p:nvPicPr>
        <p:blipFill>
          <a:blip r:embed="rId13"/>
          <a:srcRect t="17596" b="17596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4" name="!!t_2" descr="prod_la_trai.png"/>
          <p:cNvPicPr>
            <a:picLocks noChangeAspect="1"/>
          </p:cNvPicPr>
          <p:nvPr/>
        </p:nvPicPr>
        <p:blipFill>
          <a:blip r:embed="rId11"/>
          <a:srcRect t="17596" b="17596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25" name="!!t_ind"/>
          <p:cNvSpPr/>
          <p:nvPr/>
        </p:nvSpPr>
        <p:spPr>
          <a:xfrm>
            <a:off x="11185855" y="6446520"/>
            <a:ext cx="457200" cy="45720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5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6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7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8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9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nav_i0" descr="search_3B2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1" name="!!nav_i1" descr="user-round_3B2A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2" name="!!nav_i2" descr="shopping-bag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3" name="!!h_title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2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ƯU ĐIỂM NỔI BẬT</a:t>
            </a:r>
          </a:p>
        </p:txBody>
      </p:sp>
      <p:sp>
        <p:nvSpPr>
          <p:cNvPr id="14" name="!!h_script"/>
          <p:cNvSpPr txBox="1"/>
          <p:nvPr/>
        </p:nvSpPr>
        <p:spPr>
          <a:xfrm>
            <a:off x="548640" y="125272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hữu cơ vi sinh</a:t>
            </a:r>
          </a:p>
        </p:txBody>
      </p:sp>
      <p:pic>
        <p:nvPicPr>
          <p:cNvPr id="15" name="Picture 14" descr="glow_A8D26B_45_1.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2728" y="2103120"/>
            <a:ext cx="4206240" cy="4206240"/>
          </a:xfrm>
          <a:prstGeom prst="rect">
            <a:avLst/>
          </a:prstGeom>
        </p:spPr>
      </p:pic>
      <p:pic>
        <p:nvPicPr>
          <p:cNvPr id="16" name="!!p_hcvs_rau" descr="prod_hcvs_rau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1360000">
            <a:off x="4768321" y="2194560"/>
            <a:ext cx="2655054" cy="420624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66928" y="2167128"/>
            <a:ext cx="658368" cy="658368"/>
          </a:xfrm>
          <a:prstGeom prst="ellipse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rou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2331720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216712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Cải tạo đất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56032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Tăng mùn, giúp đất tơi xốp, giữ ẩm và giữ dinh dưỡng tốt hơn.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60520" y="2496312"/>
            <a:ext cx="746608" cy="365760"/>
          </a:xfrm>
          <a:prstGeom prst="line">
            <a:avLst/>
          </a:prstGeom>
          <a:ln w="12700">
            <a:solidFill>
              <a:srgbClr val="3E8E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52264" y="2807208"/>
            <a:ext cx="109728" cy="109728"/>
          </a:xfrm>
          <a:prstGeom prst="ellipse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" y="4361688"/>
            <a:ext cx="658368" cy="658368"/>
          </a:xfrm>
          <a:prstGeom prst="ellipse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hield-check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526280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436168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Cây khỏe – ít bệnh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7548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Vi sinh vật có ích ức chế nấm bệnh vùng rễ.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4160520" y="4416552"/>
            <a:ext cx="746608" cy="274320"/>
          </a:xfrm>
          <a:prstGeom prst="line">
            <a:avLst/>
          </a:prstGeom>
          <a:ln w="12700">
            <a:solidFill>
              <a:srgbClr val="3E8E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852264" y="4361688"/>
            <a:ext cx="109728" cy="109728"/>
          </a:xfrm>
          <a:prstGeom prst="ellipse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66399" y="2167128"/>
            <a:ext cx="658368" cy="658368"/>
          </a:xfrm>
          <a:prstGeom prst="ellipse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eaf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30991" y="2331720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076895" y="216712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500" b="1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An toàn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6895" y="256032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Thân thiện môi trường, an toàn cho người sử dụng và nông sản.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284568" y="2496312"/>
            <a:ext cx="746607" cy="365760"/>
          </a:xfrm>
          <a:prstGeom prst="line">
            <a:avLst/>
          </a:prstGeom>
          <a:ln w="12700">
            <a:solidFill>
              <a:srgbClr val="3E8E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229704" y="2807208"/>
            <a:ext cx="109728" cy="109728"/>
          </a:xfrm>
          <a:prstGeom prst="ellipse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66399" y="4361688"/>
            <a:ext cx="658368" cy="658368"/>
          </a:xfrm>
          <a:prstGeom prst="ellipse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iggy-bank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30991" y="4526280"/>
            <a:ext cx="329184" cy="3291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76895" y="436168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500" b="1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Tiết kiệm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6895" y="47548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Giảm lượng phân hóa học cần dùng, tối ưu chi phí mỗi vụ.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7284568" y="4416552"/>
            <a:ext cx="746607" cy="274320"/>
          </a:xfrm>
          <a:prstGeom prst="line">
            <a:avLst/>
          </a:prstGeom>
          <a:ln w="12700">
            <a:solidFill>
              <a:srgbClr val="3E8E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229704" y="4361688"/>
            <a:ext cx="109728" cy="109728"/>
          </a:xfrm>
          <a:prstGeom prst="ellipse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5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6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7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8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9" name="!!nav_ind"/>
          <p:cNvSpPr/>
          <p:nvPr/>
        </p:nvSpPr>
        <p:spPr>
          <a:xfrm>
            <a:off x="5058638" y="603504"/>
            <a:ext cx="654854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nav_i0" descr="search_3B2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1" name="!!nav_i1" descr="user-round_3B2A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2" name="!!nav_i2" descr="shopping-bag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3" name="!!p_hcvs_lua" descr="prod_hcvs_lua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1300000">
            <a:off x="1504839" y="1417320"/>
            <a:ext cx="3116802" cy="4937760"/>
          </a:xfrm>
          <a:prstGeom prst="rect">
            <a:avLst/>
          </a:prstGeom>
        </p:spPr>
      </p:pic>
      <p:sp>
        <p:nvSpPr>
          <p:cNvPr id="14" name="!!h_title"/>
          <p:cNvSpPr txBox="1"/>
          <p:nvPr/>
        </p:nvSpPr>
        <p:spPr>
          <a:xfrm>
            <a:off x="5760720" y="914400"/>
            <a:ext cx="588233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6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THÔNG SỐ SẢN PHẨM</a:t>
            </a:r>
          </a:p>
        </p:txBody>
      </p:sp>
      <p:sp>
        <p:nvSpPr>
          <p:cNvPr id="15" name="!!h_script"/>
          <p:cNvSpPr txBox="1"/>
          <p:nvPr/>
        </p:nvSpPr>
        <p:spPr>
          <a:xfrm>
            <a:off x="6126480" y="1371600"/>
            <a:ext cx="5882335" cy="6400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Hữu cơ vi sinh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760720" y="2194560"/>
          <a:ext cx="5882336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41446"/>
                <a:gridCol w="224089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Chỉ tiêu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3E8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Hàm lượng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3E8E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A20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Chất hữu cơ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A20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 20%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A20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Axit humic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2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A20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 2%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2F5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A20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Vi sinh vật có ích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A20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 1×10⁶ CFU/g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A20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Độ ẩm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2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A20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≤ 30%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2F5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A20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pH H₂O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A20"/>
                          </a:solidFill>
                          <a:latin typeface="Montserrat"/>
                          <a:ea typeface="Montserrat"/>
                          <a:cs typeface="Montserrat"/>
                        </a:rPr>
                        <a:t>5 – 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A20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Quy cách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2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A20"/>
                          </a:solidFill>
                          <a:latin typeface="Montserrat"/>
                          <a:ea typeface="Montserrat"/>
                          <a:cs typeface="Montserrat"/>
                        </a:rPr>
                        <a:t>Bao 25 kg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DE5D6"/>
                      </a:solidFill>
                    </a:lnL>
                    <a:lnR w="9525">
                      <a:solidFill>
                        <a:srgbClr val="DDE5D6"/>
                      </a:solidFill>
                    </a:lnR>
                    <a:lnT w="9525">
                      <a:solidFill>
                        <a:srgbClr val="DDE5D6"/>
                      </a:solidFill>
                    </a:lnT>
                    <a:lnB w="9525">
                      <a:solidFill>
                        <a:srgbClr val="DDE5D6"/>
                      </a:solidFill>
                    </a:lnB>
                    <a:solidFill>
                      <a:srgbClr val="F2F5EE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60720" y="5486400"/>
            <a:ext cx="588233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9A8F86"/>
                </a:solidFill>
                <a:latin typeface="Nunito Sans"/>
                <a:ea typeface="Nunito Sans"/>
                <a:cs typeface="Nunito Sans"/>
              </a:rPr>
              <a:t>Thông số </a:t>
            </a:r>
            <a:r>
              <a:rPr sz="10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minh họa</a:t>
            </a:r>
            <a:r>
              <a:rPr sz="1050" b="0" i="0">
                <a:solidFill>
                  <a:srgbClr val="9A8F86"/>
                </a:solidFill>
                <a:latin typeface="Nunito Sans"/>
                <a:ea typeface="Nunito Sans"/>
                <a:cs typeface="Nunito Sans"/>
              </a:rPr>
              <a:t> — thay bằng thông số trên nhãn sản phẩm đã đăng ký lưu hành.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4" grpId="0" animBg="1"/>
      <p:bldP spid="15" grpId="0" animBg="1"/>
      <p:bldGraphic spid="16" grpId="0">
        <p:bldAsOne/>
      </p:bldGraphic>
      <p:bldP spid="17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5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6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7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8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9" name="!!nav_ind"/>
          <p:cNvSpPr/>
          <p:nvPr/>
        </p:nvSpPr>
        <p:spPr>
          <a:xfrm>
            <a:off x="6216412" y="603504"/>
            <a:ext cx="717520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nav_i0" descr="search_3B2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1" name="!!nav_i1" descr="user-round_3B2A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2" name="!!nav_i2" descr="shopping-bag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3" name="!!h_title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2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HƯỚNG DẪN SỬ DỤNG</a:t>
            </a:r>
          </a:p>
        </p:txBody>
      </p:sp>
      <p:sp>
        <p:nvSpPr>
          <p:cNvPr id="14" name="!!h_script"/>
          <p:cNvSpPr txBox="1"/>
          <p:nvPr/>
        </p:nvSpPr>
        <p:spPr>
          <a:xfrm>
            <a:off x="548640" y="125272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cho cây lúa</a:t>
            </a:r>
          </a:p>
        </p:txBody>
      </p:sp>
      <p:pic>
        <p:nvPicPr>
          <p:cNvPr id="15" name="!!p_hcvs_lua" descr="prod_hcvs_lua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1240000">
            <a:off x="479550" y="2468880"/>
            <a:ext cx="2424179" cy="3840480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3797778" y="2880360"/>
            <a:ext cx="6973580" cy="0"/>
          </a:xfrm>
          <a:prstGeom prst="line">
            <a:avLst/>
          </a:prstGeom>
          <a:ln w="25400">
            <a:solidFill>
              <a:srgbClr val="3E8E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294858" y="23774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8E3A"/>
            </a:solidFill>
          </a:ln>
          <a:effectLst>
            <a:outerShdw blurRad="182880" dist="45720" dir="5400000" algn="ctr" rotWithShape="0">
              <a:srgbClr val="3B2A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ovel_3E8E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1746" y="2624328"/>
            <a:ext cx="512064" cy="512064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3998946" y="2286000"/>
            <a:ext cx="347472" cy="347472"/>
          </a:xfrm>
          <a:prstGeom prst="ellipse">
            <a:avLst/>
          </a:prstGeom>
          <a:solidFill>
            <a:srgbClr val="7A3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3566160"/>
            <a:ext cx="1597091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Làm đất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160520"/>
            <a:ext cx="156051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Cày bừa, vệ sinh đồng ruộng trước khi gieo sạ.</a:t>
            </a:r>
          </a:p>
        </p:txBody>
      </p:sp>
      <p:sp>
        <p:nvSpPr>
          <p:cNvPr id="22" name="Oval 21"/>
          <p:cNvSpPr/>
          <p:nvPr/>
        </p:nvSpPr>
        <p:spPr>
          <a:xfrm>
            <a:off x="5038253" y="23774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8E3A"/>
            </a:solidFill>
          </a:ln>
          <a:effectLst>
            <a:outerShdw blurRad="182880" dist="45720" dir="5400000" algn="ctr" rotWithShape="0">
              <a:srgbClr val="3B2A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ackage-open_3E8E3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5141" y="2624328"/>
            <a:ext cx="512064" cy="512064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5742341" y="2286000"/>
            <a:ext cx="347472" cy="347472"/>
          </a:xfrm>
          <a:prstGeom prst="ellipse">
            <a:avLst/>
          </a:prstGeom>
          <a:solidFill>
            <a:srgbClr val="7A3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2627" y="3566160"/>
            <a:ext cx="1597091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Bón lót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0915" y="4160520"/>
            <a:ext cx="156051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Rải đều 400–600 kg/ha trước khi bừa trục.</a:t>
            </a:r>
          </a:p>
        </p:txBody>
      </p:sp>
      <p:sp>
        <p:nvSpPr>
          <p:cNvPr id="27" name="Oval 26"/>
          <p:cNvSpPr/>
          <p:nvPr/>
        </p:nvSpPr>
        <p:spPr>
          <a:xfrm>
            <a:off x="6781648" y="23774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8E3A"/>
            </a:solidFill>
          </a:ln>
          <a:effectLst>
            <a:outerShdw blurRad="182880" dist="45720" dir="5400000" algn="ctr" rotWithShape="0">
              <a:srgbClr val="3B2A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536" y="2624328"/>
            <a:ext cx="512064" cy="512064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7485736" y="2286000"/>
            <a:ext cx="347472" cy="347472"/>
          </a:xfrm>
          <a:prstGeom prst="ellipse">
            <a:avLst/>
          </a:prstGeom>
          <a:solidFill>
            <a:srgbClr val="7A3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6022" y="3566160"/>
            <a:ext cx="1597091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Bón thúc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4310" y="4160520"/>
            <a:ext cx="156051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Bón 200–300 kg/ha giai đoạn đẻ nhánh.</a:t>
            </a:r>
          </a:p>
        </p:txBody>
      </p:sp>
      <p:sp>
        <p:nvSpPr>
          <p:cNvPr id="32" name="Oval 31"/>
          <p:cNvSpPr/>
          <p:nvPr/>
        </p:nvSpPr>
        <p:spPr>
          <a:xfrm>
            <a:off x="8525043" y="23774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8E3A"/>
            </a:solidFill>
          </a:ln>
          <a:effectLst>
            <a:outerShdw blurRad="182880" dist="45720" dir="5400000" algn="ctr" rotWithShape="0">
              <a:srgbClr val="3B2A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roplets_3E8E3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1931" y="2624328"/>
            <a:ext cx="512064" cy="512064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9229131" y="2286000"/>
            <a:ext cx="347472" cy="347472"/>
          </a:xfrm>
          <a:prstGeom prst="ellipse">
            <a:avLst/>
          </a:prstGeom>
          <a:solidFill>
            <a:srgbClr val="7A3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417" y="3566160"/>
            <a:ext cx="1597091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Giữ ẩm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705" y="4160520"/>
            <a:ext cx="156051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Giữ mực nước phù hợp để vi sinh vật hoạt động.</a:t>
            </a:r>
          </a:p>
        </p:txBody>
      </p:sp>
      <p:sp>
        <p:nvSpPr>
          <p:cNvPr id="37" name="Oval 36"/>
          <p:cNvSpPr/>
          <p:nvPr/>
        </p:nvSpPr>
        <p:spPr>
          <a:xfrm>
            <a:off x="10268438" y="23774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8E3A"/>
            </a:solidFill>
          </a:ln>
          <a:effectLst>
            <a:outerShdw blurRad="182880" dist="45720" dir="5400000" algn="ctr" rotWithShape="0">
              <a:srgbClr val="3B2A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lipboard-check_3E8E3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326" y="2624328"/>
            <a:ext cx="512064" cy="512064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10972526" y="2286000"/>
            <a:ext cx="347472" cy="347472"/>
          </a:xfrm>
          <a:prstGeom prst="ellipse">
            <a:avLst/>
          </a:prstGeom>
          <a:solidFill>
            <a:srgbClr val="7A3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72812" y="3566160"/>
            <a:ext cx="1597091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B2A20"/>
                </a:solidFill>
                <a:latin typeface="Nunito Sans"/>
                <a:ea typeface="Nunito Sans"/>
                <a:cs typeface="Nunito Sans"/>
              </a:rPr>
              <a:t>Theo dõi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1100" y="4160520"/>
            <a:ext cx="156051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Quan sát sinh trưởng, kết hợp bón lá khi cần.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5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6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7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8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9" name="!!nav_ind"/>
          <p:cNvSpPr/>
          <p:nvPr/>
        </p:nvSpPr>
        <p:spPr>
          <a:xfrm>
            <a:off x="6216412" y="603504"/>
            <a:ext cx="717520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nav_i0" descr="search_3B2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1" name="!!nav_i1" descr="user-round_3B2A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2" name="!!nav_i2" descr="shopping-bag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3" name="!!h_title"/>
          <p:cNvSpPr txBox="1"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2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HIỆU QUẢ THỰC TẾ</a:t>
            </a:r>
          </a:p>
        </p:txBody>
      </p:sp>
      <p:sp>
        <p:nvSpPr>
          <p:cNvPr id="14" name="!!h_script"/>
          <p:cNvSpPr txBox="1"/>
          <p:nvPr/>
        </p:nvSpPr>
        <p:spPr>
          <a:xfrm>
            <a:off x="868680" y="1252728"/>
            <a:ext cx="7315200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mô hình trình diễn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57400"/>
            <a:ext cx="66751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77240" y="2240280"/>
          <a:ext cx="6217920" cy="35204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22960" y="580644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1">
                <a:solidFill>
                  <a:srgbClr val="9A8F86"/>
                </a:solidFill>
                <a:latin typeface="Nunito Sans"/>
                <a:ea typeface="Nunito Sans"/>
                <a:cs typeface="Nunito Sans"/>
              </a:rPr>
              <a:t>Năng suất lúa (tạ/ha) — số liệu minh họa, thay bằng kết quả mô hình thực tế.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057400"/>
            <a:ext cx="4099255" cy="896112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103120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+15</a:t>
            </a:r>
            <a:r>
              <a:rPr sz="15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130552"/>
            <a:ext cx="19504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Năng suất sau 4 vụ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3081528"/>
            <a:ext cx="4099255" cy="896112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127248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-25</a:t>
            </a:r>
            <a:r>
              <a:rPr sz="15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154680"/>
            <a:ext cx="19504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Lượng phân hóa học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105656"/>
            <a:ext cx="4099255" cy="896112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151376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3</a:t>
            </a:r>
            <a:r>
              <a:rPr sz="15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 tỉnh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178808"/>
            <a:ext cx="19504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Có mô hình trình diễn</a:t>
            </a:r>
          </a:p>
        </p:txBody>
      </p:sp>
      <p:pic>
        <p:nvPicPr>
          <p:cNvPr id="27" name="Picture 26" descr="1272118b3c317d0a.jpg"/>
          <p:cNvPicPr>
            <a:picLocks noChangeAspect="1"/>
          </p:cNvPicPr>
          <p:nvPr/>
        </p:nvPicPr>
        <p:blipFill>
          <a:blip r:embed="rId8"/>
          <a:srcRect t="26206" b="26206"/>
          <a:stretch>
            <a:fillRect/>
          </a:stretch>
        </p:blipFill>
        <p:spPr>
          <a:xfrm>
            <a:off x="7543800" y="5166360"/>
            <a:ext cx="4099255" cy="1097280"/>
          </a:xfrm>
          <a:prstGeom prst="roundRect">
            <a:avLst>
              <a:gd name="adj" fmla="val 11666"/>
            </a:avLst>
          </a:prstGeom>
        </p:spPr>
      </p:pic>
      <p:sp>
        <p:nvSpPr>
          <p:cNvPr id="28" name="TextBox 27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Graphic spid="16" grpId="0">
        <p:bldAsOne/>
      </p:bldGraphic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17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5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6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7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8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9" name="!!nav_ind"/>
          <p:cNvSpPr/>
          <p:nvPr/>
        </p:nvSpPr>
        <p:spPr>
          <a:xfrm>
            <a:off x="6216412" y="603504"/>
            <a:ext cx="717520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nav_i0" descr="search_3B2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1" name="!!nav_i1" descr="user-round_3B2A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2" name="!!nav_i2" descr="shopping-bag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3" name="!!h_title"/>
          <p:cNvSpPr txBox="1"/>
          <p:nvPr/>
        </p:nvSpPr>
        <p:spPr>
          <a:xfrm>
            <a:off x="548640" y="86868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THỰC TẾ</a:t>
            </a:r>
          </a:p>
        </p:txBody>
      </p:sp>
      <p:sp>
        <p:nvSpPr>
          <p:cNvPr id="14" name="!!h_script"/>
          <p:cNvSpPr txBox="1"/>
          <p:nvPr/>
        </p:nvSpPr>
        <p:spPr>
          <a:xfrm>
            <a:off x="868680" y="1252728"/>
            <a:ext cx="5486400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mô hình trình diễn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1874520"/>
            <a:ext cx="576072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2971800" y="1874520"/>
            <a:ext cx="5760720" cy="292608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F2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08960" y="1975104"/>
            <a:ext cx="91440" cy="91440"/>
          </a:xfrm>
          <a:prstGeom prst="ellipse">
            <a:avLst/>
          </a:prstGeom>
          <a:solidFill>
            <a:srgbClr val="E8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64408" y="1975104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9856" y="1975104"/>
            <a:ext cx="91440" cy="91440"/>
          </a:xfrm>
          <a:prstGeom prst="ellipse">
            <a:avLst/>
          </a:prstGeom>
          <a:solidFill>
            <a:srgbClr val="7C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eb3f208a86aa23f.jpg"/>
          <p:cNvPicPr>
            <a:picLocks noChangeAspect="1"/>
          </p:cNvPicPr>
          <p:nvPr/>
        </p:nvPicPr>
        <p:blipFill>
          <a:blip r:embed="rId7"/>
          <a:srcRect t="4297" b="4297"/>
          <a:stretch>
            <a:fillRect/>
          </a:stretch>
        </p:blipFill>
        <p:spPr>
          <a:xfrm>
            <a:off x="3081528" y="2258568"/>
            <a:ext cx="5541264" cy="3383280"/>
          </a:xfrm>
          <a:prstGeom prst="roundRect">
            <a:avLst>
              <a:gd name="adj" fmla="val 2162"/>
            </a:avLst>
          </a:prstGeom>
        </p:spPr>
      </p:pic>
      <p:sp>
        <p:nvSpPr>
          <p:cNvPr id="21" name="TextBox 20"/>
          <p:cNvSpPr txBox="1"/>
          <p:nvPr/>
        </p:nvSpPr>
        <p:spPr>
          <a:xfrm>
            <a:off x="3200400" y="56692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MÔ HÌNH LÚA HỮU CƠ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224028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9098280" y="2240280"/>
            <a:ext cx="2606040" cy="292608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F2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40" y="2340864"/>
            <a:ext cx="91440" cy="91440"/>
          </a:xfrm>
          <a:prstGeom prst="ellipse">
            <a:avLst/>
          </a:prstGeom>
          <a:solidFill>
            <a:srgbClr val="E8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90888" y="2340864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46336" y="2340864"/>
            <a:ext cx="91440" cy="91440"/>
          </a:xfrm>
          <a:prstGeom prst="ellipse">
            <a:avLst/>
          </a:prstGeom>
          <a:solidFill>
            <a:srgbClr val="7C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511495c5957f2db.jpg"/>
          <p:cNvPicPr>
            <a:picLocks noChangeAspect="1"/>
          </p:cNvPicPr>
          <p:nvPr/>
        </p:nvPicPr>
        <p:blipFill>
          <a:blip r:embed="rId8"/>
          <a:srcRect l="1559" r="1559"/>
          <a:stretch>
            <a:fillRect/>
          </a:stretch>
        </p:blipFill>
        <p:spPr>
          <a:xfrm>
            <a:off x="9208008" y="2624328"/>
            <a:ext cx="2386584" cy="1792224"/>
          </a:xfrm>
          <a:prstGeom prst="roundRect">
            <a:avLst>
              <a:gd name="adj" fmla="val 4081"/>
            </a:avLst>
          </a:prstGeom>
        </p:spPr>
      </p:pic>
      <p:sp>
        <p:nvSpPr>
          <p:cNvPr id="28" name="Rounded Rectangle 27"/>
          <p:cNvSpPr/>
          <p:nvPr/>
        </p:nvSpPr>
        <p:spPr>
          <a:xfrm>
            <a:off x="548640" y="3429000"/>
            <a:ext cx="2148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548640" y="3429000"/>
            <a:ext cx="2148840" cy="292608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F2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3529584"/>
            <a:ext cx="91440" cy="91440"/>
          </a:xfrm>
          <a:prstGeom prst="ellipse">
            <a:avLst/>
          </a:prstGeom>
          <a:solidFill>
            <a:srgbClr val="E8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" y="3529584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6696" y="3529584"/>
            <a:ext cx="91440" cy="91440"/>
          </a:xfrm>
          <a:prstGeom prst="ellipse">
            <a:avLst/>
          </a:prstGeom>
          <a:solidFill>
            <a:srgbClr val="7C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4e99bd1bbe3c1cd0.jpg"/>
          <p:cNvPicPr>
            <a:picLocks noChangeAspect="1"/>
          </p:cNvPicPr>
          <p:nvPr/>
        </p:nvPicPr>
        <p:blipFill>
          <a:blip r:embed="rId9"/>
          <a:srcRect l="11123" r="11123"/>
          <a:stretch>
            <a:fillRect/>
          </a:stretch>
        </p:blipFill>
        <p:spPr>
          <a:xfrm>
            <a:off x="658368" y="3813048"/>
            <a:ext cx="1929384" cy="1655064"/>
          </a:xfrm>
          <a:prstGeom prst="roundRect">
            <a:avLst>
              <a:gd name="adj" fmla="val 4419"/>
            </a:avLst>
          </a:prstGeom>
        </p:spPr>
      </p:pic>
      <p:sp>
        <p:nvSpPr>
          <p:cNvPr id="34" name="TextBox 33"/>
          <p:cNvSpPr txBox="1"/>
          <p:nvPr/>
        </p:nvSpPr>
        <p:spPr>
          <a:xfrm>
            <a:off x="9098280" y="4709160"/>
            <a:ext cx="2544775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Hình ảnh </a:t>
            </a:r>
            <a:r>
              <a:rPr sz="11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mô hình trình diễn</a:t>
            </a:r>
            <a:r>
              <a:rPr sz="11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 và vùng nguyên liệu — thay bằng ảnh thật của doanh nghiệp.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sprout_3E8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12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Á CHÂU AGRI</a:t>
            </a:r>
          </a:p>
        </p:txBody>
      </p:sp>
      <p:sp>
        <p:nvSpPr>
          <p:cNvPr id="5" name="!!nav_m0"/>
          <p:cNvSpPr txBox="1"/>
          <p:nvPr/>
        </p:nvSpPr>
        <p:spPr>
          <a:xfrm>
            <a:off x="3931920" y="246888"/>
            <a:ext cx="715238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Giới thiệu</a:t>
            </a:r>
          </a:p>
        </p:txBody>
      </p:sp>
      <p:sp>
        <p:nvSpPr>
          <p:cNvPr id="6" name="!!nav_m1"/>
          <p:cNvSpPr txBox="1"/>
          <p:nvPr/>
        </p:nvSpPr>
        <p:spPr>
          <a:xfrm>
            <a:off x="5058638" y="246888"/>
            <a:ext cx="74629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Sản phẩm</a:t>
            </a:r>
          </a:p>
        </p:txBody>
      </p:sp>
      <p:sp>
        <p:nvSpPr>
          <p:cNvPr id="7" name="!!nav_m2"/>
          <p:cNvSpPr txBox="1"/>
          <p:nvPr/>
        </p:nvSpPr>
        <p:spPr>
          <a:xfrm>
            <a:off x="6216412" y="246888"/>
            <a:ext cx="8089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Hướng dẫn</a:t>
            </a:r>
          </a:p>
        </p:txBody>
      </p:sp>
      <p:sp>
        <p:nvSpPr>
          <p:cNvPr id="8" name="!!nav_m3"/>
          <p:cNvSpPr txBox="1"/>
          <p:nvPr/>
        </p:nvSpPr>
        <p:spPr>
          <a:xfrm>
            <a:off x="7436852" y="246888"/>
            <a:ext cx="57507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Liên hệ</a:t>
            </a:r>
          </a:p>
        </p:txBody>
      </p:sp>
      <p:sp>
        <p:nvSpPr>
          <p:cNvPr id="9" name="!!nav_ind"/>
          <p:cNvSpPr/>
          <p:nvPr/>
        </p:nvSpPr>
        <p:spPr>
          <a:xfrm>
            <a:off x="3931920" y="603504"/>
            <a:ext cx="623798" cy="32004"/>
          </a:xfrm>
          <a:prstGeom prst="rect">
            <a:avLst/>
          </a:prstGeom>
          <a:solidFill>
            <a:srgbClr val="3E8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nav_i0" descr="search_3B2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1" name="!!nav_i1" descr="user-round_3B2A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2" name="!!nav_i2" descr="shopping-bag_3B2A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3" name="!!h_title"/>
          <p:cNvSpPr txBox="1"/>
          <p:nvPr/>
        </p:nvSpPr>
        <p:spPr>
          <a:xfrm>
            <a:off x="548640" y="105156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4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KẾT LUẬN</a:t>
            </a:r>
          </a:p>
        </p:txBody>
      </p:sp>
      <p:sp>
        <p:nvSpPr>
          <p:cNvPr id="14" name="!!h_script"/>
          <p:cNvSpPr txBox="1"/>
          <p:nvPr/>
        </p:nvSpPr>
        <p:spPr>
          <a:xfrm>
            <a:off x="548640" y="143560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200" b="0" i="0">
                <a:solidFill>
                  <a:srgbClr val="3B2A20"/>
                </a:solidFill>
                <a:latin typeface="Great Vibes"/>
                <a:ea typeface="Great Vibes"/>
                <a:cs typeface="Great Vibes"/>
              </a:rPr>
              <a:t>đồng hành cùng nhà nông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331720"/>
            <a:ext cx="8899855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Phân bón hữu cơ Á Châu giúp </a:t>
            </a:r>
            <a:r>
              <a:rPr sz="1350" b="1" i="0">
                <a:solidFill>
                  <a:srgbClr val="3E8E3A"/>
                </a:solidFill>
                <a:latin typeface="Nunito Sans"/>
                <a:ea typeface="Nunito Sans"/>
                <a:cs typeface="Nunito Sans"/>
              </a:rPr>
              <a:t>đất khỏe – cây khỏe – nông sản an toàn</a:t>
            </a:r>
            <a:r>
              <a:rPr sz="135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, góp phần xây dựng nền nông nghiệp xanh và bền vững.</a:t>
            </a:r>
          </a:p>
        </p:txBody>
      </p:sp>
      <p:pic>
        <p:nvPicPr>
          <p:cNvPr id="16" name="!!p_hcvs_cay" descr="prod_hcvs_cay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1240000">
            <a:off x="1168126" y="3977640"/>
            <a:ext cx="1442964" cy="2286000"/>
          </a:xfrm>
          <a:prstGeom prst="rect">
            <a:avLst/>
          </a:prstGeom>
        </p:spPr>
      </p:pic>
      <p:pic>
        <p:nvPicPr>
          <p:cNvPr id="17" name="!!p_la_duong" descr="prod_la_duong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40000">
            <a:off x="3395348" y="3977640"/>
            <a:ext cx="1194758" cy="2286000"/>
          </a:xfrm>
          <a:prstGeom prst="rect">
            <a:avLst/>
          </a:prstGeom>
        </p:spPr>
      </p:pic>
      <p:pic>
        <p:nvPicPr>
          <p:cNvPr id="18" name="!!p_hcvs_lua" descr="prod_hcvs_lua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21420000">
            <a:off x="5374366" y="3977640"/>
            <a:ext cx="1442964" cy="2286000"/>
          </a:xfrm>
          <a:prstGeom prst="rect">
            <a:avLst/>
          </a:prstGeom>
        </p:spPr>
      </p:pic>
      <p:pic>
        <p:nvPicPr>
          <p:cNvPr id="19" name="!!p_la_trai" descr="prod_la_trai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 rot="420000">
            <a:off x="7601588" y="3977640"/>
            <a:ext cx="1194758" cy="2286000"/>
          </a:xfrm>
          <a:prstGeom prst="rect">
            <a:avLst/>
          </a:prstGeom>
        </p:spPr>
      </p:pic>
      <p:pic>
        <p:nvPicPr>
          <p:cNvPr id="20" name="!!p_hc_khoang" descr="prod_hc_khoang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1300000">
            <a:off x="9580606" y="3977640"/>
            <a:ext cx="1442964" cy="2286000"/>
          </a:xfrm>
          <a:prstGeom prst="rect">
            <a:avLst/>
          </a:prstGeom>
        </p:spPr>
      </p:pic>
      <p:pic>
        <p:nvPicPr>
          <p:cNvPr id="21" name="!!d0" descr="leaf_a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2767459">
            <a:off x="1226655" y="5050256"/>
            <a:ext cx="560599" cy="285905"/>
          </a:xfrm>
          <a:prstGeom prst="rect">
            <a:avLst/>
          </a:prstGeom>
        </p:spPr>
      </p:pic>
      <p:pic>
        <p:nvPicPr>
          <p:cNvPr id="22" name="!!d1" descr="leaf_b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 rot="20371687">
            <a:off x="11344638" y="5899597"/>
            <a:ext cx="757599" cy="359860"/>
          </a:xfrm>
          <a:prstGeom prst="rect">
            <a:avLst/>
          </a:prstGeom>
        </p:spPr>
      </p:pic>
      <p:pic>
        <p:nvPicPr>
          <p:cNvPr id="23" name="!!d2" descr="pellet_blur.png"/>
          <p:cNvPicPr>
            <a:picLocks noChangeAspect="1"/>
          </p:cNvPicPr>
          <p:nvPr/>
        </p:nvPicPr>
        <p:blipFill>
          <a:blip r:embed="rId14"/>
          <a:srcRect l="0" r="0"/>
          <a:stretch>
            <a:fillRect/>
          </a:stretch>
        </p:blipFill>
        <p:spPr>
          <a:xfrm rot="18983553">
            <a:off x="1642738" y="1529690"/>
            <a:ext cx="712392" cy="463772"/>
          </a:xfrm>
          <a:prstGeom prst="rect">
            <a:avLst/>
          </a:prstGeom>
        </p:spPr>
      </p:pic>
      <p:pic>
        <p:nvPicPr>
          <p:cNvPr id="24" name="!!d3" descr="leaf_c_blur.png"/>
          <p:cNvPicPr>
            <a:picLocks noChangeAspect="1"/>
          </p:cNvPicPr>
          <p:nvPr/>
        </p:nvPicPr>
        <p:blipFill>
          <a:blip r:embed="rId15"/>
          <a:srcRect t="0" b="0"/>
          <a:stretch>
            <a:fillRect/>
          </a:stretch>
        </p:blipFill>
        <p:spPr>
          <a:xfrm rot="18996576">
            <a:off x="11072782" y="3866410"/>
            <a:ext cx="840360" cy="4423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A8F86"/>
                </a:solidFill>
                <a:latin typeface="Nunito Sans SemiBold"/>
                <a:ea typeface="Nunito Sans SemiBold"/>
                <a:cs typeface="Nunito Sans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31f3b4b392b5cdf2.jpg"/>
          <p:cNvPicPr>
            <a:picLocks noChangeAspect="1"/>
          </p:cNvPicPr>
          <p:nvPr/>
        </p:nvPicPr>
        <p:blipFill>
          <a:blip r:embed="rId2"/>
          <a:srcRect t="1566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c_wash"/>
          <p:cNvSpPr/>
          <p:nvPr/>
        </p:nvSpPr>
        <p:spPr>
          <a:xfrm>
            <a:off x="0" y="0"/>
            <a:ext cx="8229600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88000"/>
                </a:srgbClr>
              </a:gs>
              <a:gs pos="6000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word"/>
          <p:cNvSpPr txBox="1"/>
          <p:nvPr/>
        </p:nvSpPr>
        <p:spPr>
          <a:xfrm>
            <a:off x="457200" y="822960"/>
            <a:ext cx="7498080" cy="153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110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XIN CẢM ƠN</a:t>
            </a:r>
          </a:p>
        </p:txBody>
      </p:sp>
      <p:sp>
        <p:nvSpPr>
          <p:cNvPr id="5" name="!!word_script"/>
          <p:cNvSpPr txBox="1"/>
          <p:nvPr/>
        </p:nvSpPr>
        <p:spPr>
          <a:xfrm>
            <a:off x="1463040" y="1731010"/>
            <a:ext cx="6400800" cy="8229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0" b="0" i="0">
                <a:solidFill>
                  <a:srgbClr val="3E8E3A"/>
                </a:solidFill>
                <a:latin typeface="Great Vibes"/>
                <a:ea typeface="Great Vibes"/>
                <a:cs typeface="Great Vibes"/>
              </a:rPr>
              <a:t>Á Châu Agri</a:t>
            </a:r>
          </a:p>
        </p:txBody>
      </p:sp>
      <p:pic>
        <p:nvPicPr>
          <p:cNvPr id="6" name="!!p_hcvs_lua" descr="prod_hcvs_lua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21300000">
            <a:off x="7768479" y="1371600"/>
            <a:ext cx="3116802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337560"/>
            <a:ext cx="6035040" cy="237744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" name="Picture 7" descr="phone_3E8E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66160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3520440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Hotline: 0xxx xxx xxx</a:t>
            </a:r>
          </a:p>
        </p:txBody>
      </p:sp>
      <p:pic>
        <p:nvPicPr>
          <p:cNvPr id="10" name="Picture 9" descr="globe_3E8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867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394106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www.tenmien.vn</a:t>
            </a:r>
          </a:p>
        </p:txBody>
      </p:sp>
      <p:pic>
        <p:nvPicPr>
          <p:cNvPr id="12" name="Picture 11" descr="mail_3E8E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07408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436168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lienhe@tenmien.vn</a:t>
            </a:r>
          </a:p>
        </p:txBody>
      </p:sp>
      <p:pic>
        <p:nvPicPr>
          <p:cNvPr id="14" name="Picture 13" descr="map-pin_3E8E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82803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80160" y="4782312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3B2A20"/>
                </a:solidFill>
                <a:latin typeface="Nunito Sans SemiBold"/>
                <a:ea typeface="Nunito Sans SemiBold"/>
                <a:cs typeface="Nunito Sans SemiBold"/>
              </a:rPr>
              <a:t>Địa chỉ: [cập nhật địa chỉ công ty]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whit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7A3B22"/>
                </a:solidFill>
                <a:latin typeface="Oswald"/>
                <a:ea typeface="Oswald"/>
                <a:cs typeface="Oswald"/>
              </a:rPr>
              <a:t>NGUỒN HÌNH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9A8F86"/>
                </a:solidFill>
                <a:latin typeface="Nunito Sans"/>
                <a:ea typeface="Nunito Sans"/>
                <a:cs typeface="Nunito Sans"/>
              </a:rPr>
              <a:t>Slide ẩn — không hiển thị khi trình chiếu. Ảnh: bộ dữ liệu Open Images (Google), giấy phép CC BY 2.0. Bao bì sản phẩm: hình minh họa vẽ bằng mã — thay bằng ảnh thật của sản phẩm. Icon: Lucide (ISC). Font: Oswald, Nunito Sans, Great Vibes (SIL OFL).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vanishing point makes a rare appearance — emdot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Rice Fields, Hoi An — Nico Caramella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Hills with rice terraces in Vietnam — -JvL-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Cabbage — bartholo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Champs de pouces — Joseph SARDIN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2014 (Day 127 - May 7th): All this needs is a  — Tim Walker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Working in the field - Near Hanoi - Vietnam — Esin Üstün (Flickr, CC BY 2.0)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0020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2012-09-12 16.00.40 — epicbeer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As time goes by — Riccardo Bonuccelli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Dragon tree field, South Vietnam — Xuan Nguyen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Sicily vineyard — Massimo Peruffo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開聞岳 Kaimondake volcano — Kevin Jones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4E45"/>
                </a:solidFill>
                <a:latin typeface="Nunito Sans"/>
                <a:ea typeface="Nunito Sans"/>
                <a:cs typeface="Nunito Sans"/>
              </a:rPr>
              <a:t>• Compost with earthworms — SuSanA Secretariat (Flickr, CC BY 2.0)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