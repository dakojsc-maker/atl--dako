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spPr>
            <a:solidFill>
              <a:srgbClr val="0C1B49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5.1</c:v>
                </c:pt>
                <c:pt idx="2">
                  <c:v>6.4</c:v>
                </c:pt>
                <c:pt idx="3">
                  <c:v>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 phí</c:v>
                </c:pt>
              </c:strCache>
            </c:strRef>
          </c:tx>
          <c:spPr>
            <a:solidFill>
              <a:srgbClr val="2A55E5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3.6</c:v>
                </c:pt>
                <c:pt idx="1">
                  <c:v>3.9</c:v>
                </c:pt>
                <c:pt idx="2">
                  <c:v>3.4</c:v>
                </c:pt>
                <c:pt idx="3">
                  <c:v>3.2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Lợi nhuận</c:v>
                </c:pt>
              </c:strCache>
            </c:strRef>
          </c:tx>
          <c:spPr>
            <a:solidFill>
              <a:srgbClr val="2BCBDD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</c:v>
                </c:pt>
                <c:pt idx="1">
                  <c:v>1.2</c:v>
                </c:pt>
                <c:pt idx="2">
                  <c:v>3.0</c:v>
                </c:pt>
                <c:pt idx="3">
                  <c:v>4.4</c:v>
                </c:pt>
              </c:numCache>
            </c:numRef>
          </c:val>
        </c:ser>
        <c:gapWidth val="90"/>
        <c:overlap val="-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9D3EA"/>
            </a:solidFill>
          </a:ln>
        </c:spPr>
        <c:txPr>
          <a:bodyPr/>
          <a:lstStyle/>
          <a:p>
            <a:pPr>
              <a:defRPr sz="1000">
                <a:solidFill>
                  <a:srgbClr val="7F8BA6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7620">
              <a:solidFill>
                <a:srgbClr val="C9D3E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F8BA6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7F8BA6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7F8BA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Năm 2024</c:v>
                </c:pt>
              </c:strCache>
            </c:strRef>
          </c:tx>
          <c:spPr>
            <a:solidFill>
              <a:srgbClr val="0C1B49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Hệ thống ERP</c:v>
                </c:pt>
                <c:pt idx="1">
                  <c:v>Phần mềm CRM</c:v>
                </c:pt>
                <c:pt idx="2">
                  <c:v>Thương mại điện tử</c:v>
                </c:pt>
                <c:pt idx="3">
                  <c:v>Hóa đơn điện tử</c:v>
                </c:pt>
                <c:pt idx="4">
                  <c:v>Kế toán điện tử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26</c:v>
                </c:pt>
                <c:pt idx="2">
                  <c:v>48</c:v>
                </c:pt>
                <c:pt idx="3">
                  <c:v>65</c:v>
                </c:pt>
                <c:pt idx="4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Năm 2026</c:v>
                </c:pt>
              </c:strCache>
            </c:strRef>
          </c:tx>
          <c:spPr>
            <a:solidFill>
              <a:srgbClr val="2BCBDD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Hệ thống ERP</c:v>
                </c:pt>
                <c:pt idx="1">
                  <c:v>Phần mềm CRM</c:v>
                </c:pt>
                <c:pt idx="2">
                  <c:v>Thương mại điện tử</c:v>
                </c:pt>
                <c:pt idx="3">
                  <c:v>Hóa đơn điện tử</c:v>
                </c:pt>
                <c:pt idx="4">
                  <c:v>Kế toán điện tử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</c:v>
                </c:pt>
                <c:pt idx="1">
                  <c:v>41</c:v>
                </c:pt>
                <c:pt idx="2">
                  <c:v>67</c:v>
                </c:pt>
                <c:pt idx="3">
                  <c:v>88</c:v>
                </c:pt>
                <c:pt idx="4">
                  <c:v>91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0B1A4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C9D3EA"/>
            </a:solidFill>
          </a:ln>
        </c:spPr>
        <c:txPr>
          <a:bodyPr/>
          <a:lstStyle/>
          <a:p>
            <a:pPr>
              <a:defRPr sz="1000">
                <a:solidFill>
                  <a:srgbClr val="7F8BA6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7620">
              <a:solidFill>
                <a:srgbClr val="C9D3EA"/>
              </a:solidFill>
            </a:ln>
          </c:spPr>
        </c:majorGridlines>
        <c:numFmt formatCode="0&quot;%&quot;" sourceLinked="0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F8BA6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7F8BA6"/>
              </a:solidFill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7F8BA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Đầu tư công nghệ</c:v>
                </c:pt>
              </c:strCache>
            </c:strRef>
          </c:tx>
          <c:spPr>
            <a:ln w="34925">
              <a:solidFill>
                <a:srgbClr val="0C1B4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1.4</c:v>
                </c:pt>
                <c:pt idx="2">
                  <c:v>2.2</c:v>
                </c:pt>
                <c:pt idx="3">
                  <c:v>3.1</c:v>
                </c:pt>
                <c:pt idx="4">
                  <c:v>3.9</c:v>
                </c:pt>
                <c:pt idx="5">
                  <c:v>4.6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 phí / đơn hàng</c:v>
                </c:pt>
              </c:strCache>
            </c:strRef>
          </c:tx>
          <c:spPr>
            <a:ln w="34925">
              <a:solidFill>
                <a:srgbClr val="2A55E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4.4</c:v>
                </c:pt>
                <c:pt idx="1">
                  <c:v>4.1</c:v>
                </c:pt>
                <c:pt idx="2">
                  <c:v>3.5</c:v>
                </c:pt>
                <c:pt idx="3">
                  <c:v>2.9</c:v>
                </c:pt>
                <c:pt idx="4">
                  <c:v>2.6</c:v>
                </c:pt>
                <c:pt idx="5">
                  <c:v>2.3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Doanh thu online</c:v>
                </c:pt>
              </c:strCache>
            </c:strRef>
          </c:tx>
          <c:spPr>
            <a:ln w="34925">
              <a:solidFill>
                <a:srgbClr val="2BCBDD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</c:v>
                </c:pt>
                <c:pt idx="1">
                  <c:v>1.1</c:v>
                </c:pt>
                <c:pt idx="2">
                  <c:v>1.9</c:v>
                </c:pt>
                <c:pt idx="3">
                  <c:v>2.8</c:v>
                </c:pt>
                <c:pt idx="4">
                  <c:v>3.6</c:v>
                </c:pt>
                <c:pt idx="5">
                  <c:v>4.9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9D3EA"/>
            </a:solidFill>
          </a:ln>
        </c:spPr>
        <c:txPr>
          <a:bodyPr/>
          <a:lstStyle/>
          <a:p>
            <a:pPr>
              <a:defRPr sz="1000">
                <a:solidFill>
                  <a:srgbClr val="7F8BA6"/>
                </a:solidFill>
                <a:latin typeface="Montserra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7620">
              <a:solidFill>
                <a:srgbClr val="C9D3E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F8BA6"/>
                </a:solidFill>
                <a:latin typeface="Montserrat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7F8BA6"/>
              </a:solidFill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7F8BA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0C1B49"/>
              </a:solidFill>
              <a:ln w="31750">
                <a:solidFill>
                  <a:srgbClr val="F4F7FE"/>
                </a:solidFill>
              </a:ln>
            </c:spPr>
          </c:dPt>
          <c:dPt>
            <c:idx val="1"/>
            <c:spPr>
              <a:solidFill>
                <a:srgbClr val="2A55E5"/>
              </a:solidFill>
              <a:ln w="31750">
                <a:solidFill>
                  <a:srgbClr val="F4F7FE"/>
                </a:solidFill>
              </a:ln>
            </c:spPr>
          </c:dPt>
          <c:dPt>
            <c:idx val="2"/>
            <c:spPr>
              <a:solidFill>
                <a:srgbClr val="2BCBDD"/>
              </a:solidFill>
              <a:ln w="31750">
                <a:solidFill>
                  <a:srgbClr val="F4F7FE"/>
                </a:solidFill>
              </a:ln>
            </c:spPr>
          </c:dPt>
          <c:dPt>
            <c:idx val="3"/>
            <c:spPr>
              <a:solidFill>
                <a:srgbClr val="7A5CFF"/>
              </a:solidFill>
              <a:ln w="31750">
                <a:solidFill>
                  <a:srgbClr val="F4F7FE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Phần mềm &amp; bản quyền</c:v>
                </c:pt>
                <c:pt idx="1">
                  <c:v>Hạ tầng đám mây</c:v>
                </c:pt>
                <c:pt idx="2">
                  <c:v>Đào tạo nhân sự</c:v>
                </c:pt>
                <c:pt idx="3">
                  <c:v>Tư vấn triển khai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6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7F8BA6"/>
          </a:solidFill>
          <a:latin typeface="Montserrat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Cửa hàng</c:v>
                </c:pt>
              </c:strCache>
            </c:strRef>
          </c:tx>
          <c:spPr>
            <a:ln w="28575">
              <a:solidFill>
                <a:srgbClr val="FFFFFF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8.6</c:v>
                </c:pt>
                <c:pt idx="2">
                  <c:v>8.1</c:v>
                </c:pt>
                <c:pt idx="3">
                  <c:v>9.4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</c:v>
                </c:pt>
              </c:strCache>
            </c:strRef>
          </c:tx>
          <c:spPr>
            <a:ln w="28575">
              <a:solidFill>
                <a:srgbClr val="3DE3F0"/>
              </a:solidFill>
            </a:ln>
          </c:spPr>
          <c:marker>
            <c:symbol val="circle"/>
            <c:size val="7"/>
            <c:spPr>
              <a:solidFill>
                <a:srgbClr val="3DE3F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5.1</c:v>
                </c:pt>
                <c:pt idx="1">
                  <c:v>6.3</c:v>
                </c:pt>
                <c:pt idx="2">
                  <c:v>7.9</c:v>
                </c:pt>
                <c:pt idx="3">
                  <c:v>10.6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Đại lý</c:v>
                </c:pt>
              </c:strCache>
            </c:strRef>
          </c:tx>
          <c:spPr>
            <a:ln w="28575">
              <a:solidFill>
                <a:srgbClr val="7A5CFF"/>
              </a:solidFill>
            </a:ln>
          </c:spPr>
          <c:marker>
            <c:symbol val="circle"/>
            <c:size val="7"/>
            <c:spPr>
              <a:solidFill>
                <a:srgbClr val="7A5CFF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Quý I</c:v>
                </c:pt>
                <c:pt idx="1">
                  <c:v>Quý II</c:v>
                </c:pt>
                <c:pt idx="2">
                  <c:v>Quý III</c:v>
                </c:pt>
                <c:pt idx="3">
                  <c:v>Quý IV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3.4</c:v>
                </c:pt>
                <c:pt idx="1">
                  <c:v>3.1</c:v>
                </c:pt>
                <c:pt idx="2">
                  <c:v>3.8</c:v>
                </c:pt>
                <c:pt idx="3">
                  <c:v>4.2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9D3EA"/>
            </a:solidFill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7620">
              <a:solidFill>
                <a:srgbClr val="27407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900">
              <a:solidFill>
                <a:srgbClr val="C9D3EA"/>
              </a:solidFill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C9D3EA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 phí</c:v>
                </c:pt>
              </c:strCache>
            </c:strRef>
          </c:tx>
          <c:spPr>
            <a:gradFill rotWithShape="1">
              <a:gsLst>
                <a:gs pos="0">
                  <a:srgbClr val="3DE3F0">
                    <a:alpha val="95000"/>
                  </a:srgbClr>
                </a:gs>
                <a:gs pos="100000">
                  <a:srgbClr val="3DE3F0">
                    <a:alpha val="15000"/>
                  </a:srgbClr>
                </a:gs>
              </a:gsLst>
              <a:lin ang="5400000" scaled="0"/>
            </a:gradFill>
            <a:ln w="31750">
              <a:solidFill>
                <a:srgbClr val="3DE3F0"/>
              </a:solidFill>
            </a:ln>
          </c:spP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30</c:v>
                </c:pt>
                <c:pt idx="2">
                  <c:v>22</c:v>
                </c:pt>
                <c:pt idx="3">
                  <c:v>14</c:v>
                </c:pt>
                <c:pt idx="4">
                  <c:v>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C9D3EA"/>
            </a:solidFill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in val="0.0"/>
        </c:scaling>
        <c:delete val="0"/>
        <c:axPos val="l"/>
        <c:majorGridlines>
          <c:spPr>
            <a:ln w="7620">
              <a:solidFill>
                <a:srgbClr val="27407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C9D3EA"/>
          </a:solidFill>
          <a:latin typeface="Montserrat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Đơn</c:v>
                </c:pt>
              </c:strCache>
            </c:strRef>
          </c:tx>
          <c:spPr>
            <a:solidFill>
              <a:srgbClr val="3DE3F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11</c:v>
                </c:pt>
                <c:pt idx="2">
                  <c:v>23</c:v>
                </c:pt>
                <c:pt idx="3">
                  <c:v>24</c:v>
                </c:pt>
                <c:pt idx="4">
                  <c:v>9</c:v>
                </c:pt>
                <c:pt idx="5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C9D3EA"/>
            </a:solidFill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7620">
              <a:solidFill>
                <a:srgbClr val="27407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C9D3EA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C9D3EA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bìa: giới thiệu đề tài, giảng viên hướng dẫn và nhóm thực hiện.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lục: giới thiệu nhanh 7 phần của bài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01: Giới thiệu đề tài.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02: Mô hình giải pháp.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03: Phân tích số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04: Kết quả khảo sát.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05: Phân tích SWOT.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06: Dashboard tổng hợp.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sang phần 07: Kết luận &amp; đề xuất.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Cảm ơn và mời hội đồng đặt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jp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20.jpg"/><Relationship Id="rId9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2.png"/><Relationship Id="rId8" Type="http://schemas.openxmlformats.org/officeDocument/2006/relationships/image" Target="../media/image35.png"/><Relationship Id="rId9" Type="http://schemas.openxmlformats.org/officeDocument/2006/relationships/image" Target="../media/image34.png"/><Relationship Id="rId10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2.xml"/><Relationship Id="rId6" Type="http://schemas.openxmlformats.org/officeDocument/2006/relationships/image" Target="../media/image39.png"/><Relationship Id="rId7" Type="http://schemas.openxmlformats.org/officeDocument/2006/relationships/image" Target="../media/image47.png"/><Relationship Id="rId8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3.xml"/><Relationship Id="rId6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9.jpg"/><Relationship Id="rId6" Type="http://schemas.openxmlformats.org/officeDocument/2006/relationships/image" Target="../media/image50.jp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4.jpg"/><Relationship Id="rId6" Type="http://schemas.openxmlformats.org/officeDocument/2006/relationships/image" Target="../media/image1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jpg"/><Relationship Id="rId6" Type="http://schemas.openxmlformats.org/officeDocument/2006/relationships/image" Target="../media/image5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jpg"/><Relationship Id="rId8" Type="http://schemas.openxmlformats.org/officeDocument/2006/relationships/image" Target="../media/image62.jpg"/><Relationship Id="rId9" Type="http://schemas.openxmlformats.org/officeDocument/2006/relationships/image" Target="../media/image63.jpg"/><Relationship Id="rId10" Type="http://schemas.openxmlformats.org/officeDocument/2006/relationships/image" Target="../media/image2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67.png"/><Relationship Id="rId7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8.jp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notesSlide" Target="../notesSlides/notes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94360" y="411480"/>
            <a:ext cx="457200" cy="457200"/>
          </a:xfrm>
          <a:prstGeom prst="ellipse">
            <a:avLst/>
          </a:prstGeom>
          <a:solidFill>
            <a:srgbClr val="0B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duation-cap_3DE3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12064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1288" y="429768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 spc="5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TRƯỜNG ĐẠI HỌC ABC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658368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7F8BA6"/>
                </a:solidFill>
                <a:latin typeface="Montserrat Medium"/>
                <a:ea typeface="Montserrat Medium"/>
                <a:cs typeface="Montserrat Medium"/>
              </a:rPr>
              <a:t>Khoa Quản trị Kinh doanh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975470" cy="310896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BÁO CÁO CHUYÊN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6949440" cy="9601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CHUYỂN ĐỔI SỐ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2800" b="0" i="0">
                <a:solidFill>
                  <a:srgbClr val="1B3FC4"/>
                </a:solidFill>
                <a:latin typeface="Montserrat ExtraBold"/>
                <a:ea typeface="Montserrat ExtraBold"/>
                <a:cs typeface="Montserrat ExtraBold"/>
              </a:rPr>
              <a:t>CHO DOANH NGHIỆP SME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11880"/>
            <a:ext cx="6309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B4866"/>
                </a:solidFill>
                <a:latin typeface="Montserrat Medium"/>
                <a:ea typeface="Montserrat Medium"/>
                <a:cs typeface="Montserrat Medium"/>
              </a:rPr>
              <a:t>Thực trạng, giải pháp và lộ trình ứng dụng công nghệ số tại doanh nghiệp vừa và nhỏ ở Việt Nam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4572000"/>
            <a:ext cx="3108960" cy="0"/>
          </a:xfrm>
          <a:prstGeom prst="line">
            <a:avLst/>
          </a:prstGeom>
          <a:ln w="12700">
            <a:solidFill>
              <a:srgbClr val="0B1A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662172" y="4530852"/>
            <a:ext cx="82296" cy="82296"/>
          </a:xfrm>
          <a:prstGeom prst="ellipse">
            <a:avLst/>
          </a:prstGeom>
          <a:solidFill>
            <a:srgbClr val="0B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737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GIẢNG VIÊN HƯỚNG DẪN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0235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ThS. Nguyễn Văn 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78608" y="4919472"/>
            <a:ext cx="0" cy="54864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43200" y="48737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NHÓM THỰC HIỆN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10235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Nhóm 05 – Lớp QT47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27448" y="4919472"/>
            <a:ext cx="0" cy="54864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92040" y="487375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THỜI GIAN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10235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Học kỳ I, 2026</a:t>
            </a:r>
          </a:p>
        </p:txBody>
      </p:sp>
      <p:sp>
        <p:nvSpPr>
          <p:cNvPr id="23" name="Oval 22"/>
          <p:cNvSpPr/>
          <p:nvPr/>
        </p:nvSpPr>
        <p:spPr>
          <a:xfrm>
            <a:off x="7086600" y="4892040"/>
            <a:ext cx="1554480" cy="1554480"/>
          </a:xfrm>
          <a:prstGeom prst="ellipse">
            <a:avLst/>
          </a:prstGeom>
          <a:noFill/>
          <a:ln w="15875">
            <a:solidFill>
              <a:srgbClr val="1B3F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!!hero" descr="cover_bg.jpg"/>
          <p:cNvPicPr>
            <a:picLocks noChangeAspect="1"/>
          </p:cNvPicPr>
          <p:nvPr/>
        </p:nvPicPr>
        <p:blipFill>
          <a:blip r:embed="rId6"/>
          <a:srcRect l="26226" r="16226"/>
          <a:stretch>
            <a:fillRect/>
          </a:stretch>
        </p:blipFill>
        <p:spPr>
          <a:xfrm>
            <a:off x="7589520" y="1188720"/>
            <a:ext cx="4023360" cy="5120640"/>
          </a:xfrm>
          <a:prstGeom prst="roundRect">
            <a:avLst>
              <a:gd name="adj" fmla="val 8181"/>
            </a:avLst>
          </a:prstGeom>
          <a:effectLst>
            <a:outerShdw blurRad="457200" dist="182880" dir="5400000" algn="ctr" rotWithShape="0">
              <a:srgbClr val="0B1A48">
                <a:alpha val="25000"/>
              </a:srgbClr>
            </a:outerShdw>
          </a:effectLst>
        </p:spPr>
      </p:pic>
      <p:sp>
        <p:nvSpPr>
          <p:cNvPr id="25" name="Rounded Rectangle 24"/>
          <p:cNvSpPr/>
          <p:nvPr/>
        </p:nvSpPr>
        <p:spPr>
          <a:xfrm>
            <a:off x="7589520" y="1188720"/>
            <a:ext cx="4023360" cy="5120640"/>
          </a:xfrm>
          <a:prstGeom prst="roundRect">
            <a:avLst>
              <a:gd name="adj" fmla="val 8181"/>
            </a:avLst>
          </a:prstGeom>
          <a:gradFill rotWithShape="1">
            <a:gsLst>
              <a:gs pos="0">
                <a:srgbClr val="0B1A48">
                  <a:alpha val="0"/>
                </a:srgbClr>
              </a:gs>
              <a:gs pos="55000">
                <a:srgbClr val="0B1A48">
                  <a:alpha val="15000"/>
                </a:srgbClr>
              </a:gs>
              <a:gs pos="100000">
                <a:srgbClr val="0B1A48">
                  <a:alpha val="8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Picture 25" descr="cover_per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8621" y="594360"/>
            <a:ext cx="3588037" cy="57150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720840" y="4983480"/>
            <a:ext cx="2331720" cy="841248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94576" y="5148072"/>
            <a:ext cx="512064" cy="51206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rending-up_0612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9790" y="5263286"/>
            <a:ext cx="281635" cy="28163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25512" y="5047488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+32%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53949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>
                <a:solidFill>
                  <a:srgbClr val="7F8BA6"/>
                </a:solidFill>
                <a:latin typeface="Montserrat Medium"/>
                <a:ea typeface="Montserrat Medium"/>
                <a:cs typeface="Montserrat Medium"/>
              </a:rPr>
              <a:t>Năng suất sau số hóa</a:t>
            </a:r>
          </a:p>
        </p:txBody>
      </p:sp>
      <p:sp>
        <p:nvSpPr>
          <p:cNvPr id="32" name="Oval 31"/>
          <p:cNvSpPr/>
          <p:nvPr/>
        </p:nvSpPr>
        <p:spPr>
          <a:xfrm>
            <a:off x="11192256" y="1133856"/>
            <a:ext cx="566928" cy="566928"/>
          </a:xfrm>
          <a:prstGeom prst="ellipse">
            <a:avLst/>
          </a:prstGeom>
          <a:solidFill>
            <a:srgbClr val="0C1B49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parkles_3DE3F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3988" y="1275588"/>
            <a:ext cx="283464" cy="2834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5" grpId="0" animBg="1"/>
      <p:bldP spid="23" grpId="0" animBg="1"/>
      <p:bldP spid="11" grpId="0" animBg="1"/>
      <p:bldP spid="12" grpId="0" animBg="1"/>
      <p:bldP spid="15" grpId="0" animBg="1"/>
      <p:bldP spid="16" grpId="0" animBg="1"/>
      <p:bldP spid="18" grpId="0" animBg="1"/>
      <p:bldP spid="19" grpId="0" animBg="1"/>
      <p:bldP spid="14" grpId="0" animBg="1"/>
      <p:bldP spid="27" grpId="0" animBg="1"/>
      <p:bldP spid="28" grpId="0" animBg="1"/>
      <p:bldP spid="21" grpId="0" animBg="1"/>
      <p:bldP spid="30" grpId="0" animBg="1"/>
      <p:bldP spid="22" grpId="0" animBg="1"/>
      <p:bldP spid="31" grpId="0" animBg="1"/>
      <p:bldP spid="3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384048"/>
            <a:ext cx="6949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800" b="0" i="0">
                <a:ln w="15875">
                  <a:solidFill>
                    <a:srgbClr val="0B1A48"/>
                  </a:solidFill>
                </a:ln>
                <a:noFill/>
                <a:latin typeface="Montserrat ExtraBold"/>
                <a:ea typeface="Montserrat ExtraBold"/>
                <a:cs typeface="Montserrat ExtraBold"/>
              </a:rPr>
              <a:t>NỘI DUNG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0" y="914400"/>
            <a:ext cx="1691640" cy="0"/>
          </a:xfrm>
          <a:prstGeom prst="line">
            <a:avLst/>
          </a:prstGeom>
          <a:ln w="12700">
            <a:solidFill>
              <a:srgbClr val="0B1A48">
                <a:alpha val="6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40080" y="1828800"/>
            <a:ext cx="585216" cy="58521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num01"/>
          <p:cNvSpPr txBox="1"/>
          <p:nvPr/>
        </p:nvSpPr>
        <p:spPr>
          <a:xfrm>
            <a:off x="640080" y="182880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9" name="!!sec01"/>
          <p:cNvSpPr txBox="1"/>
          <p:nvPr/>
        </p:nvSpPr>
        <p:spPr>
          <a:xfrm>
            <a:off x="1389888" y="181051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GIỚI THIỆU ĐỀ TÀI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89888" y="2542032"/>
            <a:ext cx="2450592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251960" y="1828800"/>
            <a:ext cx="585216" cy="58521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num02"/>
          <p:cNvSpPr txBox="1"/>
          <p:nvPr/>
        </p:nvSpPr>
        <p:spPr>
          <a:xfrm>
            <a:off x="4251960" y="182880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3" name="!!sec02"/>
          <p:cNvSpPr txBox="1"/>
          <p:nvPr/>
        </p:nvSpPr>
        <p:spPr>
          <a:xfrm>
            <a:off x="5001768" y="181051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MÔ HÌNH GIẢI PHÁP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01768" y="2542032"/>
            <a:ext cx="2450592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40080" y="2926080"/>
            <a:ext cx="585216" cy="58521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num03"/>
          <p:cNvSpPr txBox="1"/>
          <p:nvPr/>
        </p:nvSpPr>
        <p:spPr>
          <a:xfrm>
            <a:off x="640080" y="292608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7" name="!!sec03"/>
          <p:cNvSpPr txBox="1"/>
          <p:nvPr/>
        </p:nvSpPr>
        <p:spPr>
          <a:xfrm>
            <a:off x="1389888" y="290779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PHÂN TÍCH SỐ LIỆU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89888" y="3639312"/>
            <a:ext cx="2450592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251960" y="2926080"/>
            <a:ext cx="585216" cy="58521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num04"/>
          <p:cNvSpPr txBox="1"/>
          <p:nvPr/>
        </p:nvSpPr>
        <p:spPr>
          <a:xfrm>
            <a:off x="4251960" y="292608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21" name="!!sec04"/>
          <p:cNvSpPr txBox="1"/>
          <p:nvPr/>
        </p:nvSpPr>
        <p:spPr>
          <a:xfrm>
            <a:off x="5001768" y="290779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KẾT QUẢ KHẢO SÁT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01768" y="3639312"/>
            <a:ext cx="2450592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40080" y="4023360"/>
            <a:ext cx="585216" cy="58521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num05"/>
          <p:cNvSpPr txBox="1"/>
          <p:nvPr/>
        </p:nvSpPr>
        <p:spPr>
          <a:xfrm>
            <a:off x="640080" y="402336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25" name="!!sec05"/>
          <p:cNvSpPr txBox="1"/>
          <p:nvPr/>
        </p:nvSpPr>
        <p:spPr>
          <a:xfrm>
            <a:off x="1389888" y="400507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PHÂN TÍCH SWOT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89888" y="4736592"/>
            <a:ext cx="2450592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251960" y="4023360"/>
            <a:ext cx="585216" cy="58521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num06"/>
          <p:cNvSpPr txBox="1"/>
          <p:nvPr/>
        </p:nvSpPr>
        <p:spPr>
          <a:xfrm>
            <a:off x="4251960" y="402336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29" name="!!sec06"/>
          <p:cNvSpPr txBox="1"/>
          <p:nvPr/>
        </p:nvSpPr>
        <p:spPr>
          <a:xfrm>
            <a:off x="5001768" y="400507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DASHBOARD TỔNG HỢP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01768" y="4736592"/>
            <a:ext cx="2450592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40080" y="5120640"/>
            <a:ext cx="585216" cy="58521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num07"/>
          <p:cNvSpPr txBox="1"/>
          <p:nvPr/>
        </p:nvSpPr>
        <p:spPr>
          <a:xfrm>
            <a:off x="640080" y="5120640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33" name="!!sec07"/>
          <p:cNvSpPr txBox="1"/>
          <p:nvPr/>
        </p:nvSpPr>
        <p:spPr>
          <a:xfrm>
            <a:off x="1389888" y="5102352"/>
            <a:ext cx="26974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KẾT LUẬN &amp; ĐỀ XUẤT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89888" y="5833872"/>
            <a:ext cx="2450592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!!hero" descr="cover_bg.jpg"/>
          <p:cNvPicPr>
            <a:picLocks noChangeAspect="1"/>
          </p:cNvPicPr>
          <p:nvPr/>
        </p:nvPicPr>
        <p:blipFill>
          <a:blip r:embed="rId5"/>
          <a:srcRect l="27746" r="27746"/>
          <a:stretch>
            <a:fillRect/>
          </a:stretch>
        </p:blipFill>
        <p:spPr>
          <a:xfrm>
            <a:off x="8001000" y="457200"/>
            <a:ext cx="3611880" cy="5943600"/>
          </a:xfrm>
          <a:prstGeom prst="roundRect">
            <a:avLst>
              <a:gd name="adj" fmla="val 9113"/>
            </a:avLst>
          </a:prstGeom>
        </p:spPr>
      </p:pic>
      <p:sp>
        <p:nvSpPr>
          <p:cNvPr id="36" name="Rounded Rectangle 35"/>
          <p:cNvSpPr/>
          <p:nvPr/>
        </p:nvSpPr>
        <p:spPr>
          <a:xfrm>
            <a:off x="8001000" y="457200"/>
            <a:ext cx="3611880" cy="5943600"/>
          </a:xfrm>
          <a:prstGeom prst="roundRect">
            <a:avLst>
              <a:gd name="adj" fmla="val 9113"/>
            </a:avLst>
          </a:prstGeom>
          <a:gradFill rotWithShape="1">
            <a:gsLst>
              <a:gs pos="0">
                <a:srgbClr val="0B1A48">
                  <a:alpha val="20000"/>
                </a:srgbClr>
              </a:gs>
              <a:gs pos="100000">
                <a:srgbClr val="0B1A48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69880" y="731520"/>
            <a:ext cx="1005840" cy="5394960"/>
          </a:xfrm>
          <a:prstGeom prst="rect">
            <a:avLst/>
          </a:prstGeom>
          <a:noFill/>
        </p:spPr>
        <p:txBody>
          <a:bodyPr wrap="square" lIns="0" rIns="0" tIns="0" bIns="0" anchor="ctr" vert="vert">
            <a:noAutofit/>
          </a:bodyPr>
          <a:lstStyle/>
          <a:p>
            <a:pPr algn="ctr"/>
            <a:r>
              <a:rPr sz="5000" b="0" i="0">
                <a:ln w="12700">
                  <a:solidFill>
                    <a:srgbClr val="FFFFFF"/>
                  </a:solidFill>
                </a:ln>
                <a:noFill/>
                <a:latin typeface="Montserrat ExtraBold"/>
                <a:ea typeface="Montserrat ExtraBold"/>
                <a:cs typeface="Montserrat ExtraBold"/>
              </a:rPr>
              <a:t>TRÌNH BÀY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212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07 PHẦN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623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FDFDFF"/>
                </a:solidFill>
                <a:latin typeface="Montserrat Medium"/>
                <a:ea typeface="Montserrat Medium"/>
                <a:cs typeface="Montserrat Medium"/>
              </a:rPr>
              <a:t>Thời lượng trình bày khoảng 15 phút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9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6" grpId="0" animBg="1"/>
      <p:bldP spid="7" grpId="0" animBg="1"/>
      <p:bldP spid="8" grpId="0" animBg="1"/>
      <p:bldP spid="9" grpId="0" animBg="1"/>
      <p:bldP spid="11" grpId="0" animBg="1"/>
      <p:bldP spid="12" grpId="0" animBg="1"/>
      <p:bldP spid="37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38" grpId="0" animBg="1"/>
      <p:bldP spid="29" grpId="0" animBg="1"/>
      <p:bldP spid="39" grpId="0" animBg="1"/>
      <p:bldP spid="31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3291840"/>
            <a:ext cx="4937760" cy="4937760"/>
          </a:xfrm>
          <a:prstGeom prst="rect">
            <a:avLst/>
          </a:prstGeom>
        </p:spPr>
      </p:pic>
      <p:pic>
        <p:nvPicPr>
          <p:cNvPr id="3" name="!!blob2" descr="glow_2A55E5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572" y="4658868"/>
            <a:ext cx="5678424" cy="5678424"/>
          </a:xfrm>
          <a:prstGeom prst="rect">
            <a:avLst/>
          </a:prstGeom>
        </p:spPr>
      </p:pic>
      <p:pic>
        <p:nvPicPr>
          <p:cNvPr id="4" name="!!blob3" descr="glow_7A5CFF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361688"/>
            <a:ext cx="4443984" cy="4443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B9FAA"/>
                </a:solidFill>
                <a:latin typeface="Montserrat SemiBold"/>
                <a:ea typeface="Montserrat SemiBold"/>
                <a:cs typeface="Montserrat SemiBold"/>
              </a:rPr>
              <a:t>PHẦN 01 / 07</a:t>
            </a:r>
          </a:p>
        </p:txBody>
      </p:sp>
      <p:sp>
        <p:nvSpPr>
          <p:cNvPr id="6" name="!!sec01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GIỚI THIỆU ĐỀ TÀI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4B7BF"/>
                </a:solidFill>
                <a:latin typeface="Montserrat Medium"/>
                <a:ea typeface="Montserrat Medium"/>
                <a:cs typeface="Montserrat Medium"/>
              </a:rPr>
              <a:t>Bối cảnh, lý do chọn đề tài, mục tiêu – đối tượng – phạm vi và phương pháp nghiên cứu.</a:t>
            </a:r>
          </a:p>
        </p:txBody>
      </p:sp>
      <p:sp>
        <p:nvSpPr>
          <p:cNvPr id="10" name="!!num00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00</a:t>
            </a:r>
          </a:p>
        </p:txBody>
      </p:sp>
      <p:sp>
        <p:nvSpPr>
          <p:cNvPr id="11" name="!!num01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2" name="!!num02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-2350008"/>
            <a:ext cx="5431536" cy="5431536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392" y="2532888"/>
            <a:ext cx="4443984" cy="4443984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6012180"/>
            <a:ext cx="3703320" cy="3703320"/>
          </a:xfrm>
          <a:prstGeom prst="rect">
            <a:avLst/>
          </a:prstGeom>
        </p:spPr>
      </p:pic>
      <p:sp>
        <p:nvSpPr>
          <p:cNvPr id="5" name="!!num01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6" name="!!sec01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GIỚI THIỆU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60350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TỔNG QUAN ĐỀ TÀI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99616"/>
            <a:ext cx="45720" cy="274320"/>
          </a:xfrm>
          <a:prstGeom prst="rect">
            <a:avLst/>
          </a:prstGeom>
          <a:solidFill>
            <a:srgbClr val="0B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463040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LÝ DO CHỌN ĐỀ TÀI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84832"/>
            <a:ext cx="1108984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Lý do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87168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Doanh nghiệp vừa và nhỏ chiếm tỷ trọng lớn trong nền kinh tế nhưng mức độ ứng dụng công nghệ số còn thấp.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3291840"/>
            <a:ext cx="237744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" y="3456432"/>
            <a:ext cx="1108984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Lý do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58768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Chi phí vận hành tăng, cạnh tranh gay gắt buộc doanh nghiệp phải tối ưu quy trình bằng dữ liệu.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4663440"/>
            <a:ext cx="237744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4360" y="4828032"/>
            <a:ext cx="1108984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Lý do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30368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Nhiều chương trình hỗ trợ chuyển đổi số được triển khai nhưng doanh nghiệp chưa biết bắt đầu từ đâu.</a:t>
            </a:r>
          </a:p>
        </p:txBody>
      </p:sp>
      <p:pic>
        <p:nvPicPr>
          <p:cNvPr id="19" name="Picture 18" descr="00be189ddee94ecc.jpg"/>
          <p:cNvPicPr>
            <a:picLocks noChangeAspect="1"/>
          </p:cNvPicPr>
          <p:nvPr/>
        </p:nvPicPr>
        <p:blipFill>
          <a:blip r:embed="rId5"/>
          <a:srcRect l="18500" r="18500"/>
          <a:stretch>
            <a:fillRect/>
          </a:stretch>
        </p:blipFill>
        <p:spPr>
          <a:xfrm>
            <a:off x="6858000" y="502920"/>
            <a:ext cx="2304288" cy="2743200"/>
          </a:xfrm>
          <a:prstGeom prst="roundRect">
            <a:avLst>
              <a:gd name="adj" fmla="val 9920"/>
            </a:avLst>
          </a:prstGeom>
          <a:effectLst>
            <a:outerShdw blurRad="274320" dist="91440" dir="5400000" algn="ctr" rotWithShape="0">
              <a:srgbClr val="0B1A48">
                <a:alpha val="18000"/>
              </a:srgbClr>
            </a:outerShdw>
          </a:effectLst>
        </p:spPr>
      </p:pic>
      <p:pic>
        <p:nvPicPr>
          <p:cNvPr id="20" name="Picture 19" descr="883cc4f6d6587b2d.jpg"/>
          <p:cNvPicPr>
            <a:picLocks noChangeAspect="1"/>
          </p:cNvPicPr>
          <p:nvPr/>
        </p:nvPicPr>
        <p:blipFill>
          <a:blip r:embed="rId6"/>
          <a:srcRect l="22068" r="22068"/>
          <a:stretch>
            <a:fillRect/>
          </a:stretch>
        </p:blipFill>
        <p:spPr>
          <a:xfrm>
            <a:off x="9308592" y="502920"/>
            <a:ext cx="2304288" cy="2743200"/>
          </a:xfrm>
          <a:prstGeom prst="roundRect">
            <a:avLst>
              <a:gd name="adj" fmla="val 9920"/>
            </a:avLst>
          </a:prstGeom>
          <a:effectLst>
            <a:outerShdw blurRad="274320" dist="91440" dir="5400000" algn="ctr" rotWithShape="0">
              <a:srgbClr val="0B1A48">
                <a:alpha val="18000"/>
              </a:srgbClr>
            </a:outerShdw>
          </a:effectLst>
        </p:spPr>
      </p:pic>
      <p:pic>
        <p:nvPicPr>
          <p:cNvPr id="21" name="Picture 20" descr="d6fb311b2d7b4572.jpg"/>
          <p:cNvPicPr>
            <a:picLocks noChangeAspect="1"/>
          </p:cNvPicPr>
          <p:nvPr/>
        </p:nvPicPr>
        <p:blipFill>
          <a:blip r:embed="rId7"/>
          <a:srcRect b="7737"/>
          <a:stretch>
            <a:fillRect/>
          </a:stretch>
        </p:blipFill>
        <p:spPr>
          <a:xfrm>
            <a:off x="6858000" y="3401568"/>
            <a:ext cx="4754880" cy="2926080"/>
          </a:xfrm>
          <a:prstGeom prst="roundRect">
            <a:avLst>
              <a:gd name="adj" fmla="val 7812"/>
            </a:avLst>
          </a:prstGeom>
          <a:effectLst>
            <a:outerShdw blurRad="274320" dist="91440" dir="5400000" algn="ctr" rotWithShape="0">
              <a:srgbClr val="0B1A48">
                <a:alpha val="18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!!num01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6" name="!!sec01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GIỚI THIỆU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MỤC TIÊU NGHIÊN CỨU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2068007" cy="310896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Mục tiêu tổng quát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400"/>
              </a:spcAft>
              <a:buClr>
                <a:srgbClr val="0B1A48"/>
              </a:buClr>
              <a:buSzPct val="100000"/>
              <a:buFont typeface="Arial"/>
              <a:buChar char="•"/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Đánh giá thực trạng chuyển đổi số tại doanh nghiệp SME.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Clr>
                <a:srgbClr val="0B1A48"/>
              </a:buClr>
              <a:buSzPct val="100000"/>
              <a:buFont typeface="Arial"/>
              <a:buChar char="•"/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Xác định rào cản chính về nguồn lực, chi phí và con người.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Clr>
                <a:srgbClr val="0B1A48"/>
              </a:buClr>
              <a:buSzPct val="100000"/>
              <a:buFont typeface="Arial"/>
              <a:buChar char="•"/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Đề xuất lộ trình triển khai phù hợp, khả thi.</a:t>
            </a:r>
          </a:p>
        </p:txBody>
      </p:sp>
      <p:pic>
        <p:nvPicPr>
          <p:cNvPr id="11" name="Picture 10" descr="d89e123ddd967671.jpg"/>
          <p:cNvPicPr>
            <a:picLocks noChangeAspect="1"/>
          </p:cNvPicPr>
          <p:nvPr/>
        </p:nvPicPr>
        <p:blipFill>
          <a:blip r:embed="rId5"/>
          <a:srcRect t="10675" b="10675"/>
          <a:stretch>
            <a:fillRect/>
          </a:stretch>
        </p:blipFill>
        <p:spPr>
          <a:xfrm>
            <a:off x="594360" y="3401568"/>
            <a:ext cx="5577840" cy="2926080"/>
          </a:xfrm>
          <a:prstGeom prst="roundRect">
            <a:avLst>
              <a:gd name="adj" fmla="val 7812"/>
            </a:avLst>
          </a:prstGeom>
          <a:effectLst>
            <a:outerShdw blurRad="274320" dist="91440" dir="5400000" algn="ctr" rotWithShape="0">
              <a:srgbClr val="0B1A48">
                <a:alpha val="18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6537960" y="502920"/>
            <a:ext cx="5074920" cy="5852160"/>
          </a:xfrm>
          <a:prstGeom prst="roundRect">
            <a:avLst>
              <a:gd name="adj" fmla="val 5765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92840" y="292608"/>
            <a:ext cx="384048" cy="384048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n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3490" y="373258"/>
            <a:ext cx="222748" cy="2227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0" y="841248"/>
            <a:ext cx="1790395" cy="310896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Mục tiêu cụ thể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6304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Mục tiêu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92224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FEFF"/>
                </a:solidFill>
                <a:latin typeface="Montserrat"/>
                <a:ea typeface="Montserrat"/>
                <a:cs typeface="Montserrat"/>
              </a:rPr>
              <a:t>Khảo sát mức độ ứng dụng các công cụ số (ERP, CRM, kế toán điện tử, TMĐT).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0" y="2834640"/>
            <a:ext cx="2194560" cy="0"/>
          </a:xfrm>
          <a:prstGeom prst="line">
            <a:avLst/>
          </a:prstGeom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0" y="3035808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Mục tiêu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64992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FEFF"/>
                </a:solidFill>
                <a:latin typeface="Montserrat"/>
                <a:ea typeface="Montserrat"/>
                <a:cs typeface="Montserrat"/>
              </a:rPr>
              <a:t>Đo lường hiệu quả vận hành trước và sau khi số hóa quy trình cốt lõi.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4407408"/>
            <a:ext cx="2194560" cy="0"/>
          </a:xfrm>
          <a:prstGeom prst="line">
            <a:avLst/>
          </a:prstGeom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0" y="460857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Mục tiêu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93776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DFEFF"/>
                </a:solidFill>
                <a:latin typeface="Montserrat"/>
                <a:ea typeface="Montserrat"/>
                <a:cs typeface="Montserrat"/>
              </a:rPr>
              <a:t>Xây dựng bộ khuyến nghị theo 3 giai đoạn: nền tảng – tăng tốc – bứt phá.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9" grpId="0" animBg="1"/>
      <p:bldP spid="10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!!num01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6" name="!!sec01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GIỚI THIỆU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ĐỐI TƯỢNG &amp; PHẠM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53896"/>
            <a:ext cx="45720" cy="274320"/>
          </a:xfrm>
          <a:prstGeom prst="rect">
            <a:avLst/>
          </a:prstGeom>
          <a:solidFill>
            <a:srgbClr val="0B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417320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ĐỐI TƯỢNG KHẢO SÁT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453896"/>
            <a:ext cx="45720" cy="274320"/>
          </a:xfrm>
          <a:prstGeom prst="rect">
            <a:avLst/>
          </a:prstGeom>
          <a:solidFill>
            <a:srgbClr val="0B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38544" y="1417320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PHẠM VI NGHIÊN CỨU</a:t>
            </a:r>
          </a:p>
        </p:txBody>
      </p:sp>
      <p:pic>
        <p:nvPicPr>
          <p:cNvPr id="13" name="Picture 12" descr="71c4e12b3e9dc7ee.jpg"/>
          <p:cNvPicPr>
            <a:picLocks noChangeAspect="1"/>
          </p:cNvPicPr>
          <p:nvPr/>
        </p:nvPicPr>
        <p:blipFill>
          <a:blip r:embed="rId5"/>
          <a:srcRect t="833" b="40833"/>
          <a:stretch>
            <a:fillRect/>
          </a:stretch>
        </p:blipFill>
        <p:spPr>
          <a:xfrm>
            <a:off x="594360" y="1965960"/>
            <a:ext cx="1645920" cy="1280160"/>
          </a:xfrm>
          <a:prstGeom prst="roundRect">
            <a:avLst>
              <a:gd name="adj" fmla="val 12857"/>
            </a:avLst>
          </a:prstGeom>
        </p:spPr>
      </p:pic>
      <p:sp>
        <p:nvSpPr>
          <p:cNvPr id="14" name="Rounded Rectangle 13"/>
          <p:cNvSpPr/>
          <p:nvPr/>
        </p:nvSpPr>
        <p:spPr>
          <a:xfrm>
            <a:off x="2423160" y="1984248"/>
            <a:ext cx="991210" cy="274320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NHÓM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350008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Vai trò: </a:t>
            </a: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Chủ doanh nghiệp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Quy mô: </a:t>
            </a: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10 – 49 lao động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Số phiếu: </a:t>
            </a: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120</a:t>
            </a:r>
          </a:p>
        </p:txBody>
      </p:sp>
      <p:pic>
        <p:nvPicPr>
          <p:cNvPr id="16" name="Picture 15" descr="0e15ae93621e4b12.jpg"/>
          <p:cNvPicPr>
            <a:picLocks noChangeAspect="1"/>
          </p:cNvPicPr>
          <p:nvPr/>
        </p:nvPicPr>
        <p:blipFill>
          <a:blip r:embed="rId6"/>
          <a:srcRect t="4061" b="44061"/>
          <a:stretch>
            <a:fillRect/>
          </a:stretch>
        </p:blipFill>
        <p:spPr>
          <a:xfrm>
            <a:off x="594360" y="3429000"/>
            <a:ext cx="1645920" cy="1280160"/>
          </a:xfrm>
          <a:prstGeom prst="roundRect">
            <a:avLst>
              <a:gd name="adj" fmla="val 12857"/>
            </a:avLst>
          </a:prstGeom>
        </p:spPr>
      </p:pic>
      <p:sp>
        <p:nvSpPr>
          <p:cNvPr id="17" name="Rounded Rectangle 16"/>
          <p:cNvSpPr/>
          <p:nvPr/>
        </p:nvSpPr>
        <p:spPr>
          <a:xfrm>
            <a:off x="2423160" y="3447288"/>
            <a:ext cx="991210" cy="274320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NHÓM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813048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Vai trò: </a:t>
            </a: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Trưởng bộ phận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Quy mô: </a:t>
            </a: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50 – 99 lao động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Số phiếu: </a:t>
            </a: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118</a:t>
            </a:r>
          </a:p>
        </p:txBody>
      </p:sp>
      <p:pic>
        <p:nvPicPr>
          <p:cNvPr id="19" name="Picture 18" descr="05b5f2ace53df30e.jpg"/>
          <p:cNvPicPr>
            <a:picLocks noChangeAspect="1"/>
          </p:cNvPicPr>
          <p:nvPr/>
        </p:nvPicPr>
        <p:blipFill>
          <a:blip r:embed="rId7"/>
          <a:srcRect b="37793"/>
          <a:stretch>
            <a:fillRect/>
          </a:stretch>
        </p:blipFill>
        <p:spPr>
          <a:xfrm>
            <a:off x="594360" y="4892040"/>
            <a:ext cx="1645920" cy="1280160"/>
          </a:xfrm>
          <a:prstGeom prst="roundRect">
            <a:avLst>
              <a:gd name="adj" fmla="val 12857"/>
            </a:avLst>
          </a:prstGeom>
        </p:spPr>
      </p:pic>
      <p:sp>
        <p:nvSpPr>
          <p:cNvPr id="20" name="Rounded Rectangle 19"/>
          <p:cNvSpPr/>
          <p:nvPr/>
        </p:nvSpPr>
        <p:spPr>
          <a:xfrm>
            <a:off x="2423160" y="4910328"/>
            <a:ext cx="991210" cy="274320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NHÓM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276088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Vai trò: </a:t>
            </a: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Nhân viên vận hành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Quy mô: </a:t>
            </a: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100 – 200 lao động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Số phiếu: </a:t>
            </a: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80</a:t>
            </a:r>
          </a:p>
        </p:txBody>
      </p:sp>
      <p:pic>
        <p:nvPicPr>
          <p:cNvPr id="22" name="Picture 21" descr="ce54cf870cea336a.jpg"/>
          <p:cNvPicPr>
            <a:picLocks noChangeAspect="1"/>
          </p:cNvPicPr>
          <p:nvPr/>
        </p:nvPicPr>
        <p:blipFill>
          <a:blip r:embed="rId8"/>
          <a:srcRect t="7282" b="7282"/>
          <a:stretch>
            <a:fillRect/>
          </a:stretch>
        </p:blipFill>
        <p:spPr>
          <a:xfrm>
            <a:off x="6492240" y="1965960"/>
            <a:ext cx="2487168" cy="1417320"/>
          </a:xfrm>
          <a:prstGeom prst="roundRect">
            <a:avLst>
              <a:gd name="adj" fmla="val 11612"/>
            </a:avLst>
          </a:prstGeom>
        </p:spPr>
      </p:pic>
      <p:pic>
        <p:nvPicPr>
          <p:cNvPr id="23" name="Picture 22" descr="394161d072604c3f.jpg"/>
          <p:cNvPicPr>
            <a:picLocks noChangeAspect="1"/>
          </p:cNvPicPr>
          <p:nvPr/>
        </p:nvPicPr>
        <p:blipFill>
          <a:blip r:embed="rId9"/>
          <a:srcRect t="6980" b="36980"/>
          <a:stretch>
            <a:fillRect/>
          </a:stretch>
        </p:blipFill>
        <p:spPr>
          <a:xfrm>
            <a:off x="9125712" y="1965960"/>
            <a:ext cx="2487168" cy="1417320"/>
          </a:xfrm>
          <a:prstGeom prst="roundRect">
            <a:avLst>
              <a:gd name="adj" fmla="val 11612"/>
            </a:avLst>
          </a:prstGeom>
        </p:spPr>
      </p:pic>
      <p:sp>
        <p:nvSpPr>
          <p:cNvPr id="24" name="Rounded Rectangle 23"/>
          <p:cNvSpPr/>
          <p:nvPr/>
        </p:nvSpPr>
        <p:spPr>
          <a:xfrm>
            <a:off x="6492240" y="3566160"/>
            <a:ext cx="5120640" cy="1280160"/>
          </a:xfrm>
          <a:prstGeom prst="roundRect">
            <a:avLst>
              <a:gd name="adj" fmla="val 14285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6941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KHÔNG GIAN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995928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0000"/>
              </a:lnSpc>
              <a:buClr>
                <a:srgbClr val="3DE3F0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FEFEFF"/>
                </a:solidFill>
                <a:latin typeface="Montserrat"/>
                <a:ea typeface="Montserrat"/>
                <a:cs typeface="Montserrat"/>
              </a:rPr>
              <a:t>Hà Nội, TP. Hồ Chí Minh và Đà Nẵng</a:t>
            </a:r>
          </a:p>
          <a:p>
            <a:pPr algn="l" marL="201168" indent="-201168">
              <a:lnSpc>
                <a:spcPct val="110000"/>
              </a:lnSpc>
              <a:buClr>
                <a:srgbClr val="3DE3F0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FEFEFF"/>
                </a:solidFill>
                <a:latin typeface="Montserrat"/>
                <a:ea typeface="Montserrat"/>
                <a:cs typeface="Montserrat"/>
              </a:rPr>
              <a:t>Lĩnh vực: thương mại, dịch vụ, sản xuất nhẹ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983480"/>
            <a:ext cx="5120640" cy="1280160"/>
          </a:xfrm>
          <a:prstGeom prst="roundRect">
            <a:avLst>
              <a:gd name="adj" fmla="val 14285"/>
            </a:avLst>
          </a:prstGeom>
          <a:solidFill>
            <a:srgbClr val="1B3FC4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511149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THỜI GIAN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413248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0000"/>
              </a:lnSpc>
              <a:buClr>
                <a:srgbClr val="3DE3F0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FEFEFF"/>
                </a:solidFill>
                <a:latin typeface="Montserrat"/>
                <a:ea typeface="Montserrat"/>
                <a:cs typeface="Montserrat"/>
              </a:rPr>
              <a:t>Dữ liệu thứ cấp giai đoạn 2021 – 2025</a:t>
            </a:r>
          </a:p>
          <a:p>
            <a:pPr algn="l" marL="201168" indent="-201168">
              <a:lnSpc>
                <a:spcPct val="110000"/>
              </a:lnSpc>
              <a:buClr>
                <a:srgbClr val="3DE3F0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FEFEFF"/>
                </a:solidFill>
                <a:latin typeface="Montserrat"/>
                <a:ea typeface="Montserrat"/>
                <a:cs typeface="Montserrat"/>
              </a:rPr>
              <a:t>Khảo sát sơ cấp: tháng 3 – tháng 6/2026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!!num01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6" name="!!sec01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GIỚI THIỆU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54406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7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PHƯƠNG PHÁP NGHIÊN CỨU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Nghiên cứu kết hợp phương pháp định tính và định lượng, dữ liệu được thu thập từ khảo sát trực tiếp, phỏng vấn chuyên gia và báo cáo ngành.</a:t>
            </a:r>
          </a:p>
        </p:txBody>
      </p:sp>
      <p:pic>
        <p:nvPicPr>
          <p:cNvPr id="10" name="Picture 9" descr="93ef8ab5b8aa1ccc.jpg"/>
          <p:cNvPicPr>
            <a:picLocks noChangeAspect="1"/>
          </p:cNvPicPr>
          <p:nvPr/>
        </p:nvPicPr>
        <p:blipFill>
          <a:blip r:embed="rId5"/>
          <a:srcRect l="5852"/>
          <a:stretch>
            <a:fillRect/>
          </a:stretch>
        </p:blipFill>
        <p:spPr>
          <a:xfrm>
            <a:off x="594360" y="2788920"/>
            <a:ext cx="5394960" cy="3547872"/>
          </a:xfrm>
          <a:prstGeom prst="roundRect">
            <a:avLst>
              <a:gd name="adj" fmla="val 6443"/>
            </a:avLst>
          </a:prstGeom>
          <a:effectLst>
            <a:outerShdw blurRad="274320" dist="91440" dir="5400000" algn="ctr" rotWithShape="0">
              <a:srgbClr val="0B1A48">
                <a:alpha val="18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6355080" y="640080"/>
            <a:ext cx="5257800" cy="1691640"/>
          </a:xfrm>
          <a:prstGeom prst="roundRect">
            <a:avLst>
              <a:gd name="adj" fmla="val 11891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731520"/>
            <a:ext cx="12344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4000" b="0" i="0">
                <a:solidFill>
                  <a:srgbClr val="DFE3EE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6" y="1106424"/>
            <a:ext cx="749808" cy="749808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ipboard-list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708" y="1293876"/>
            <a:ext cx="374904" cy="3749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35240" y="89611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Khảo sát bảng hỏi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280160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Thu thập 318 phiếu hợp lệ từ doanh nghiệp SME, thang đo Likert 5 mức độ.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560320"/>
            <a:ext cx="5257800" cy="1691640"/>
          </a:xfrm>
          <a:prstGeom prst="roundRect">
            <a:avLst>
              <a:gd name="adj" fmla="val 11891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651760"/>
            <a:ext cx="12344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4000" b="0" i="0">
                <a:solidFill>
                  <a:srgbClr val="DFE3EE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6620256" y="3026664"/>
            <a:ext cx="749808" cy="749808"/>
          </a:xfrm>
          <a:prstGeom prst="ellipse">
            <a:avLst/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ssages-square_3DE3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708" y="3214116"/>
            <a:ext cx="374904" cy="3749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35240" y="28163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Phỏng vấn chuyên sâu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200400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Phỏng vấn 12 chuyên gia và chủ doanh nghiệp để làm rõ rào cản thực tế.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480560"/>
            <a:ext cx="5257800" cy="1691640"/>
          </a:xfrm>
          <a:prstGeom prst="roundRect">
            <a:avLst>
              <a:gd name="adj" fmla="val 11891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4572000"/>
            <a:ext cx="12344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4000" b="0" i="0">
                <a:solidFill>
                  <a:srgbClr val="DFE3EE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25" name="Oval 24"/>
          <p:cNvSpPr/>
          <p:nvPr/>
        </p:nvSpPr>
        <p:spPr>
          <a:xfrm>
            <a:off x="6620256" y="4946904"/>
            <a:ext cx="749808" cy="749808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art-line_0612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708" y="5134356"/>
            <a:ext cx="374904" cy="3749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35240" y="473659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Phân tích dữ liệu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120640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Thống kê mô tả, kiểm định độ tin cậy và hồi quy đa biến trên SPSS.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-2350008"/>
            <a:ext cx="5431536" cy="5431536"/>
          </a:xfrm>
          <a:prstGeom prst="rect">
            <a:avLst/>
          </a:prstGeom>
        </p:spPr>
      </p:pic>
      <p:pic>
        <p:nvPicPr>
          <p:cNvPr id="3" name="!!blob2" descr="glow_2A55E5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392" y="2532888"/>
            <a:ext cx="4443984" cy="4443984"/>
          </a:xfrm>
          <a:prstGeom prst="rect">
            <a:avLst/>
          </a:prstGeom>
        </p:spPr>
      </p:pic>
      <p:pic>
        <p:nvPicPr>
          <p:cNvPr id="4" name="!!blob3" descr="glow_7A5CFF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6012180"/>
            <a:ext cx="370332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B9FAA"/>
                </a:solidFill>
                <a:latin typeface="Montserrat SemiBold"/>
                <a:ea typeface="Montserrat SemiBold"/>
                <a:cs typeface="Montserrat SemiBold"/>
              </a:rPr>
              <a:t>PHẦN 02 / 07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MÔ HÌNH GIẢI PHÁP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4B7BF"/>
                </a:solidFill>
                <a:latin typeface="Montserrat Medium"/>
                <a:ea typeface="Montserrat Medium"/>
                <a:cs typeface="Montserrat Medium"/>
              </a:rPr>
              <a:t>Các infographic trình bày mục tiêu chiến lược, quy trình, ma trận năng lực và lộ trình.</a:t>
            </a:r>
          </a:p>
        </p:txBody>
      </p:sp>
      <p:sp>
        <p:nvSpPr>
          <p:cNvPr id="10" name="!!num01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1" name="!!num02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2" name="!!num03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3291840"/>
            <a:ext cx="4937760" cy="4937760"/>
          </a:xfrm>
          <a:prstGeom prst="rect">
            <a:avLst/>
          </a:prstGeom>
        </p:spPr>
      </p:pic>
      <p:pic>
        <p:nvPicPr>
          <p:cNvPr id="3" name="!!blob2" descr="glow_2A55E5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572" y="4658868"/>
            <a:ext cx="5678424" cy="5678424"/>
          </a:xfrm>
          <a:prstGeom prst="rect">
            <a:avLst/>
          </a:prstGeom>
        </p:spPr>
      </p:pic>
      <p:pic>
        <p:nvPicPr>
          <p:cNvPr id="4" name="!!blob3" descr="glow_7A5CFF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361688"/>
            <a:ext cx="4443984" cy="4443984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B4B7BF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58368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34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MỤC TIÊU CHIẾN LƯỢC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2588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50" b="0" i="0">
                <a:solidFill>
                  <a:srgbClr val="B4B7BF"/>
                </a:solidFill>
                <a:latin typeface="Montserrat"/>
                <a:ea typeface="Montserrat"/>
                <a:cs typeface="Montserrat"/>
              </a:rPr>
              <a:t>Tập trung nguồn lực vào đúng điểm tạo ra giá trị lớn nhất</a:t>
            </a:r>
          </a:p>
        </p:txBody>
      </p:sp>
      <p:pic>
        <p:nvPicPr>
          <p:cNvPr id="10" name="Picture 9" descr="glow_3DE3F0_55_2.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630" y="697230"/>
            <a:ext cx="6688836" cy="6688836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4137660" y="2080260"/>
            <a:ext cx="3922776" cy="3922776"/>
          </a:xfrm>
          <a:prstGeom prst="ellipse">
            <a:avLst/>
          </a:prstGeom>
          <a:noFill/>
          <a:ln w="15875">
            <a:solidFill>
              <a:srgbClr val="3DE3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rt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685" y="2281428"/>
            <a:ext cx="3370725" cy="3520440"/>
          </a:xfrm>
          <a:prstGeom prst="rect">
            <a:avLst/>
          </a:prstGeom>
          <a:effectLst>
            <a:outerShdw blurRad="548640" dist="228600" dir="5400000" algn="ctr" rotWithShape="0">
              <a:srgbClr val="000000">
                <a:alpha val="45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822960" y="2514600"/>
            <a:ext cx="3246120" cy="2240280"/>
          </a:xfrm>
          <a:prstGeom prst="roundRect">
            <a:avLst>
              <a:gd name="adj" fmla="val 11428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4320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Tăng 30% năng suất vận hành sau 24 tháng triển khai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160520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Chỉ tiêu trọng tâm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064508" y="3611880"/>
            <a:ext cx="4572" cy="228600"/>
          </a:xfrm>
          <a:prstGeom prst="line">
            <a:avLst/>
          </a:prstGeom>
          <a:ln w="15875">
            <a:solidFill>
              <a:srgbClr val="3DE3F0"/>
            </a:solidFill>
            <a:prstDash val="dash"/>
            <a:tail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83880" y="2011680"/>
            <a:ext cx="3291840" cy="201168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2212848"/>
            <a:ext cx="1197315" cy="310896"/>
          </a:xfrm>
          <a:prstGeom prst="roundRect">
            <a:avLst>
              <a:gd name="adj" fmla="val 50000"/>
            </a:avLst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TỔNG QUAN</a:t>
            </a:r>
          </a:p>
        </p:txBody>
      </p:sp>
      <p:pic>
        <p:nvPicPr>
          <p:cNvPr id="19" name="Picture 18" descr="users_0B1A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0" y="2240280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2480" y="2670048"/>
            <a:ext cx="288036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A48"/>
                </a:solidFill>
                <a:latin typeface="Montserrat"/>
                <a:ea typeface="Montserrat"/>
                <a:cs typeface="Montserrat"/>
              </a:rPr>
              <a:t>Số hóa quy trình bán hàng, kho và kế toán trước; sau đó mở rộng sang quản trị nhân sự và chăm sóc khách hàng.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4297680"/>
            <a:ext cx="2926080" cy="1417320"/>
          </a:xfrm>
          <a:prstGeom prst="roundRect">
            <a:avLst>
              <a:gd name="adj" fmla="val 15483"/>
            </a:avLst>
          </a:pr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0" y="4133088"/>
            <a:ext cx="347472" cy="347472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in_0612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74369" y="4206057"/>
            <a:ext cx="201534" cy="2015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78240" y="448056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Ưu tiên giải pháp điện toán đám mây để giảm chi phí đầu tư ban đầu.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133588" y="3017520"/>
            <a:ext cx="50292" cy="548640"/>
          </a:xfrm>
          <a:prstGeom prst="line">
            <a:avLst/>
          </a:prstGeom>
          <a:ln w="15875">
            <a:solidFill>
              <a:srgbClr val="3DE3F0"/>
            </a:solidFill>
            <a:prstDash val="dash"/>
            <a:tailEnd type="oval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-2350008"/>
            <a:ext cx="5431536" cy="5431536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392" y="2532888"/>
            <a:ext cx="4443984" cy="4443984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6012180"/>
            <a:ext cx="3703320" cy="3703320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QUY TRÌNH 3 BƯỚC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Vòng lặp cải tiến liên tục cho doanh nghiệp SME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139696"/>
            <a:ext cx="2080626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Đánh giá hiện trạng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Đo mức độ trưởng thành số, xác định quy trình tốn nhiều thời gian nhất.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3291840"/>
            <a:ext cx="525780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4290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511296"/>
            <a:ext cx="2080626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Triển khai thí điểm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04488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Chọn 1 – 2 quy trình, áp dụng công cụ số và đo lường kết quả trong 3 tháng.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4663440"/>
            <a:ext cx="525780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48006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4882896"/>
            <a:ext cx="1992295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Nhân rộng &amp; tối ưu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276088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Chuẩn hóa, đào tạo nhân sự và mở rộng sang các bộ phận khác.</a:t>
            </a:r>
          </a:p>
        </p:txBody>
      </p:sp>
      <p:sp>
        <p:nvSpPr>
          <p:cNvPr id="21" name="Oval 20"/>
          <p:cNvSpPr/>
          <p:nvPr/>
        </p:nvSpPr>
        <p:spPr>
          <a:xfrm>
            <a:off x="6656832" y="2907792"/>
            <a:ext cx="2139696" cy="2139696"/>
          </a:xfrm>
          <a:prstGeom prst="ellipse">
            <a:avLst/>
          </a:prstGeom>
          <a:noFill/>
          <a:ln w="12700">
            <a:solidFill>
              <a:srgbClr val="0B1A4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66560" y="3017520"/>
            <a:ext cx="1920240" cy="1920240"/>
          </a:xfrm>
          <a:prstGeom prst="ellipse">
            <a:avLst/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017520"/>
            <a:ext cx="1920240" cy="1920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24" name="Oval 23"/>
          <p:cNvSpPr/>
          <p:nvPr/>
        </p:nvSpPr>
        <p:spPr>
          <a:xfrm>
            <a:off x="6377940" y="2446020"/>
            <a:ext cx="502920" cy="502920"/>
          </a:xfrm>
          <a:prstGeom prst="ellipse">
            <a:avLst/>
          </a:pr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andshak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641" y="2566721"/>
            <a:ext cx="261518" cy="261518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9262872" y="1764792"/>
            <a:ext cx="1499616" cy="1499616"/>
          </a:xfrm>
          <a:prstGeom prst="ellipse">
            <a:avLst/>
          </a:prstGeom>
          <a:noFill/>
          <a:ln w="12700">
            <a:solidFill>
              <a:srgbClr val="0B1A4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72600" y="1874520"/>
            <a:ext cx="1280160" cy="1280160"/>
          </a:xfrm>
          <a:prstGeom prst="ellipse">
            <a:avLst/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87452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29" name="Oval 28"/>
          <p:cNvSpPr/>
          <p:nvPr/>
        </p:nvSpPr>
        <p:spPr>
          <a:xfrm>
            <a:off x="10675620" y="1440180"/>
            <a:ext cx="502920" cy="502920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rocket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6321" y="1560881"/>
            <a:ext cx="261518" cy="261518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9400032" y="4279392"/>
            <a:ext cx="1682496" cy="1682496"/>
          </a:xfrm>
          <a:prstGeom prst="ellipse">
            <a:avLst/>
          </a:prstGeom>
          <a:noFill/>
          <a:ln w="12700">
            <a:solidFill>
              <a:srgbClr val="0B1A4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09760" y="4389120"/>
            <a:ext cx="1463040" cy="1463040"/>
          </a:xfrm>
          <a:prstGeom prst="ellipse">
            <a:avLst/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438912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34" name="Oval 33"/>
          <p:cNvSpPr/>
          <p:nvPr/>
        </p:nvSpPr>
        <p:spPr>
          <a:xfrm>
            <a:off x="11041380" y="5554980"/>
            <a:ext cx="502920" cy="502920"/>
          </a:xfrm>
          <a:prstGeom prst="ellipse">
            <a:avLst/>
          </a:pr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ightbulb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2081" y="5675681"/>
            <a:ext cx="261518" cy="261518"/>
          </a:xfrm>
          <a:prstGeom prst="rect">
            <a:avLst/>
          </a:prstGeom>
        </p:spPr>
      </p:pic>
      <p:cxnSp>
        <p:nvCxnSpPr>
          <p:cNvPr id="36" name="Connector 35"/>
          <p:cNvCxnSpPr/>
          <p:nvPr/>
        </p:nvCxnSpPr>
        <p:spPr>
          <a:xfrm flipV="1">
            <a:off x="8549640" y="2240280"/>
            <a:ext cx="777240" cy="685800"/>
          </a:xfrm>
          <a:prstGeom prst="curvedConnector3">
            <a:avLst/>
          </a:prstGeom>
          <a:ln w="19050">
            <a:solidFill>
              <a:srgbClr val="0B1A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561320" y="3200400"/>
            <a:ext cx="45720" cy="1143000"/>
          </a:xfrm>
          <a:prstGeom prst="curvedConnector3">
            <a:avLst/>
          </a:prstGeom>
          <a:ln w="19050">
            <a:solidFill>
              <a:srgbClr val="0B1A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8412480" y="4983480"/>
            <a:ext cx="1051560" cy="548640"/>
          </a:xfrm>
          <a:prstGeom prst="curvedConnector3">
            <a:avLst/>
          </a:prstGeom>
          <a:ln w="19050">
            <a:solidFill>
              <a:srgbClr val="0B1A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13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21" grpId="0" animBg="1"/>
      <p:bldP spid="22" grpId="0" animBg="1"/>
      <p:bldP spid="23" grpId="0" animBg="1"/>
      <p:bldP spid="24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MA TRẬN NĂNG LỰC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23944" y="1920240"/>
            <a:ext cx="1901952" cy="1901952"/>
          </a:xfrm>
          <a:prstGeom prst="roundRect">
            <a:avLst>
              <a:gd name="adj" fmla="val 11538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Picture 9" descr="star_3DE3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2148840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52544" y="278892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ĐIỂM MẠNH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CỐT LÕI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52544" y="3584448"/>
            <a:ext cx="1444752" cy="0"/>
          </a:xfrm>
          <a:prstGeom prst="line">
            <a:avLst/>
          </a:prstGeom>
          <a:ln w="15875">
            <a:solidFill>
              <a:srgbClr val="3DE3F0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920240"/>
            <a:ext cx="1901952" cy="1901952"/>
          </a:xfrm>
          <a:prstGeom prst="roundRect">
            <a:avLst>
              <a:gd name="adj" fmla="val 11538"/>
            </a:avLst>
          </a:prstGeom>
          <a:solidFill>
            <a:srgbClr val="1B3FC4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4" name="Picture 13" descr="circle-help_3DE3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48840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278892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THÁCH THỨC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HIỆN TẠI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3584448"/>
            <a:ext cx="1444752" cy="0"/>
          </a:xfrm>
          <a:prstGeom prst="line">
            <a:avLst/>
          </a:prstGeom>
          <a:ln w="15875">
            <a:solidFill>
              <a:srgbClr val="3DE3F0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23944" y="3968496"/>
            <a:ext cx="1901952" cy="1901952"/>
          </a:xfrm>
          <a:prstGeom prst="roundRect">
            <a:avLst>
              <a:gd name="adj" fmla="val 11538"/>
            </a:avLst>
          </a:prstGeom>
          <a:solidFill>
            <a:srgbClr val="1B3FC4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8" name="Picture 17" descr="settings_3DE3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544" y="4197096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52544" y="4837176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PHƯƠNG PHÁP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THỰC HIỆN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52544" y="5632704"/>
            <a:ext cx="1444752" cy="0"/>
          </a:xfrm>
          <a:prstGeom prst="line">
            <a:avLst/>
          </a:prstGeom>
          <a:ln w="15875">
            <a:solidFill>
              <a:srgbClr val="3DE3F0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3968496"/>
            <a:ext cx="1901952" cy="1901952"/>
          </a:xfrm>
          <a:prstGeom prst="roundRect">
            <a:avLst>
              <a:gd name="adj" fmla="val 11538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2" name="Picture 21" descr="chart-column_3DE3F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197096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4837176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ĐỊNH HƯỚNG</a:t>
            </a: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PHÁT TRIỂN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5632704"/>
            <a:ext cx="1444752" cy="0"/>
          </a:xfrm>
          <a:prstGeom prst="line">
            <a:avLst/>
          </a:prstGeom>
          <a:ln w="15875">
            <a:solidFill>
              <a:srgbClr val="3DE3F0">
                <a:alpha val="7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512223" y="2194560"/>
            <a:ext cx="1373977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Nội dung 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6060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Đội ngũ trẻ, thích ứng nhanh với công cụ mới.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194560"/>
            <a:ext cx="1373977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Nội dung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6060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Thiếu dữ liệu tập trung, quy trình còn thủ công.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2223" y="4251960"/>
            <a:ext cx="1373977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Nội dung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6634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Triển khai theo giai đoạn, đo lường bằng KPI.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4251960"/>
            <a:ext cx="1373977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Nội dung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6634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Hướng tới vận hành dựa trên dữ liệu thời gian thực.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5 CẤP ĐỘ TRƯỞNG THÀNH SỐ</a:t>
            </a:r>
          </a:p>
        </p:txBody>
      </p:sp>
      <p:sp>
        <p:nvSpPr>
          <p:cNvPr id="9" name="Freeform 8"/>
          <p:cNvSpPr/>
          <p:nvPr/>
        </p:nvSpPr>
        <p:spPr>
          <a:xfrm>
            <a:off x="2630693" y="1600200"/>
            <a:ext cx="956534" cy="886968"/>
          </a:xfrm>
          <a:custGeom>
            <a:avLst/>
            <a:gdLst/>
            <a:ahLst/>
            <a:cxnLst/>
            <a:rect l="l" t="t" r="r" b="b"/>
            <a:pathLst>
              <a:path w="956534" h="886968">
                <a:moveTo>
                  <a:pt x="478267" y="0"/>
                </a:moveTo>
                <a:lnTo>
                  <a:pt x="956534" y="886968"/>
                </a:lnTo>
                <a:lnTo>
                  <a:pt x="0" y="886968"/>
                </a:lnTo>
                <a:close/>
              </a:path>
            </a:pathLst>
          </a:cu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ophy_3DE3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2016252"/>
            <a:ext cx="274320" cy="27432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3393814" y="2043684"/>
            <a:ext cx="2641226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5040" y="2043684"/>
            <a:ext cx="22860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373368" y="1833372"/>
            <a:ext cx="420624" cy="42062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ircle-check-big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008" y="1928012"/>
            <a:ext cx="231343" cy="23134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49440" y="1714500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Cấp 5 · Dẫn dắt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01625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Mô hình kinh doanh mới dựa trên dữ liệu và nền tảng số.</a:t>
            </a:r>
          </a:p>
        </p:txBody>
      </p:sp>
      <p:sp>
        <p:nvSpPr>
          <p:cNvPr id="17" name="Freeform 16"/>
          <p:cNvSpPr/>
          <p:nvPr/>
        </p:nvSpPr>
        <p:spPr>
          <a:xfrm>
            <a:off x="2127773" y="2578608"/>
            <a:ext cx="1962374" cy="841248"/>
          </a:xfrm>
          <a:custGeom>
            <a:avLst/>
            <a:gdLst/>
            <a:ahLst/>
            <a:cxnLst/>
            <a:rect l="l" t="t" r="r" b="b"/>
            <a:pathLst>
              <a:path w="1962374" h="841248">
                <a:moveTo>
                  <a:pt x="453614" y="0"/>
                </a:moveTo>
                <a:lnTo>
                  <a:pt x="1508760" y="0"/>
                </a:lnTo>
                <a:lnTo>
                  <a:pt x="1962374" y="841248"/>
                </a:lnTo>
                <a:lnTo>
                  <a:pt x="0" y="841248"/>
                </a:lnTo>
                <a:close/>
              </a:path>
            </a:pathLst>
          </a:cu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tar_3DE3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4368" y="2834640"/>
            <a:ext cx="329184" cy="329184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3909060" y="2999232"/>
            <a:ext cx="212598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35040" y="2999232"/>
            <a:ext cx="22860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73368" y="2788920"/>
            <a:ext cx="420624" cy="42062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-big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008" y="2883560"/>
            <a:ext cx="231343" cy="2313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9440" y="2670048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Cấp 4 · Tối ưu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71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Tự động hóa, phân tích dự báo hỗ trợ ra quyết định.</a:t>
            </a:r>
          </a:p>
        </p:txBody>
      </p:sp>
      <p:sp>
        <p:nvSpPr>
          <p:cNvPr id="25" name="Freeform 24"/>
          <p:cNvSpPr/>
          <p:nvPr/>
        </p:nvSpPr>
        <p:spPr>
          <a:xfrm>
            <a:off x="1624853" y="3511296"/>
            <a:ext cx="2968214" cy="841248"/>
          </a:xfrm>
          <a:custGeom>
            <a:avLst/>
            <a:gdLst/>
            <a:ahLst/>
            <a:cxnLst/>
            <a:rect l="l" t="t" r="r" b="b"/>
            <a:pathLst>
              <a:path w="2968214" h="841248">
                <a:moveTo>
                  <a:pt x="453614" y="0"/>
                </a:moveTo>
                <a:lnTo>
                  <a:pt x="2514600" y="0"/>
                </a:lnTo>
                <a:lnTo>
                  <a:pt x="2968214" y="841248"/>
                </a:lnTo>
                <a:lnTo>
                  <a:pt x="0" y="841248"/>
                </a:lnTo>
                <a:close/>
              </a:path>
            </a:pathLst>
          </a:cu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art-column_3DE3F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4368" y="3767328"/>
            <a:ext cx="329184" cy="329184"/>
          </a:xfrm>
          <a:prstGeom prst="rect">
            <a:avLst/>
          </a:prstGeom>
        </p:spPr>
      </p:pic>
      <p:cxnSp>
        <p:nvCxnSpPr>
          <p:cNvPr id="27" name="Connector 26"/>
          <p:cNvCxnSpPr/>
          <p:nvPr/>
        </p:nvCxnSpPr>
        <p:spPr>
          <a:xfrm>
            <a:off x="4411980" y="3931920"/>
            <a:ext cx="162306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35040" y="3931920"/>
            <a:ext cx="22860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373368" y="3721608"/>
            <a:ext cx="420624" cy="42062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ircle-check-big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008" y="3816248"/>
            <a:ext cx="231343" cy="23134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49440" y="3602736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Cấp 3 · Kết nối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0448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Hệ thống liên thông giữa bán hàng, kho và tài chính.</a:t>
            </a:r>
          </a:p>
        </p:txBody>
      </p:sp>
      <p:sp>
        <p:nvSpPr>
          <p:cNvPr id="33" name="Freeform 32"/>
          <p:cNvSpPr/>
          <p:nvPr/>
        </p:nvSpPr>
        <p:spPr>
          <a:xfrm>
            <a:off x="1121933" y="4443984"/>
            <a:ext cx="3974054" cy="841248"/>
          </a:xfrm>
          <a:custGeom>
            <a:avLst/>
            <a:gdLst/>
            <a:ahLst/>
            <a:cxnLst/>
            <a:rect l="l" t="t" r="r" b="b"/>
            <a:pathLst>
              <a:path w="3974054" h="841248">
                <a:moveTo>
                  <a:pt x="453614" y="0"/>
                </a:moveTo>
                <a:lnTo>
                  <a:pt x="3520440" y="0"/>
                </a:lnTo>
                <a:lnTo>
                  <a:pt x="3974054" y="841248"/>
                </a:lnTo>
                <a:lnTo>
                  <a:pt x="0" y="841248"/>
                </a:lnTo>
                <a:close/>
              </a:path>
            </a:pathLst>
          </a:cu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ettings_3DE3F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4368" y="4700016"/>
            <a:ext cx="329184" cy="329184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4914900" y="4864608"/>
            <a:ext cx="112014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35040" y="4864608"/>
            <a:ext cx="22860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373368" y="4654296"/>
            <a:ext cx="420624" cy="42062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ircle-check-big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008" y="4748936"/>
            <a:ext cx="231343" cy="23134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49440" y="453542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Cấp 2 · Số hóa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83717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Các quy trình chính được đưa lên phần mềm riêng lẻ.</a:t>
            </a:r>
          </a:p>
        </p:txBody>
      </p:sp>
      <p:sp>
        <p:nvSpPr>
          <p:cNvPr id="41" name="Freeform 40"/>
          <p:cNvSpPr/>
          <p:nvPr/>
        </p:nvSpPr>
        <p:spPr>
          <a:xfrm>
            <a:off x="619013" y="5376672"/>
            <a:ext cx="4979894" cy="841248"/>
          </a:xfrm>
          <a:custGeom>
            <a:avLst/>
            <a:gdLst/>
            <a:ahLst/>
            <a:cxnLst/>
            <a:rect l="l" t="t" r="r" b="b"/>
            <a:pathLst>
              <a:path w="4979894" h="841248">
                <a:moveTo>
                  <a:pt x="453614" y="0"/>
                </a:moveTo>
                <a:lnTo>
                  <a:pt x="4526280" y="0"/>
                </a:lnTo>
                <a:lnTo>
                  <a:pt x="4979894" y="841248"/>
                </a:lnTo>
                <a:lnTo>
                  <a:pt x="0" y="841248"/>
                </a:lnTo>
                <a:close/>
              </a:path>
            </a:pathLst>
          </a:cu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users_3DE3F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4368" y="5632704"/>
            <a:ext cx="329184" cy="329184"/>
          </a:xfrm>
          <a:prstGeom prst="rect">
            <a:avLst/>
          </a:prstGeom>
        </p:spPr>
      </p:pic>
      <p:cxnSp>
        <p:nvCxnSpPr>
          <p:cNvPr id="43" name="Connector 42"/>
          <p:cNvCxnSpPr/>
          <p:nvPr/>
        </p:nvCxnSpPr>
        <p:spPr>
          <a:xfrm>
            <a:off x="5417820" y="5797296"/>
            <a:ext cx="61722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35040" y="5797296"/>
            <a:ext cx="22860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373368" y="5586984"/>
            <a:ext cx="420624" cy="42062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ircle-check-big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008" y="5681624"/>
            <a:ext cx="231343" cy="23134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949440" y="546811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Cấp 1 · Khởi động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76986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Làm việc thủ công, dữ liệu phân tán trên giấy và Excel.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1349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1" grpId="0" animBg="1"/>
      <p:bldP spid="33" grpId="0" animBg="1"/>
      <p:bldP spid="25" grpId="0" animBg="1"/>
      <p:bldP spid="17" grpId="0" animBg="1"/>
      <p:bldP spid="9" grpId="0" animBg="1"/>
      <p:bldP spid="13" grpId="0" animBg="1"/>
      <p:bldP spid="15" grpId="0" animBg="1"/>
      <p:bldP spid="16" grpId="0" animBg="1"/>
      <p:bldP spid="21" grpId="0" animBg="1"/>
      <p:bldP spid="23" grpId="0" animBg="1"/>
      <p:bldP spid="24" grpId="0" animBg="1"/>
      <p:bldP spid="29" grpId="0" animBg="1"/>
      <p:bldP spid="31" grpId="0" animBg="1"/>
      <p:bldP spid="32" grpId="0" animBg="1"/>
      <p:bldP spid="37" grpId="0" animBg="1"/>
      <p:bldP spid="39" grpId="0" animBg="1"/>
      <p:bldP spid="40" grpId="0" animBg="1"/>
      <p:bldP spid="45" grpId="0" animBg="1"/>
      <p:bldP spid="47" grpId="0" animBg="1"/>
      <p:bldP spid="4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HỆ SINH THÁI GIẢI PHÁP</a:t>
            </a:r>
          </a:p>
        </p:txBody>
      </p:sp>
      <p:sp>
        <p:nvSpPr>
          <p:cNvPr id="9" name="Oval 8"/>
          <p:cNvSpPr/>
          <p:nvPr/>
        </p:nvSpPr>
        <p:spPr>
          <a:xfrm>
            <a:off x="4681728" y="2560320"/>
            <a:ext cx="2834640" cy="2834640"/>
          </a:xfrm>
          <a:prstGeom prst="ellipse">
            <a:avLst/>
          </a:prstGeom>
          <a:solidFill>
            <a:srgbClr val="E6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10328" y="2788920"/>
            <a:ext cx="2377440" cy="2377440"/>
          </a:xfrm>
          <a:prstGeom prst="ellipse">
            <a:avLst/>
          </a:prstGeom>
          <a:noFill/>
          <a:ln w="12700">
            <a:solidFill>
              <a:srgbClr val="0B1A4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74920" y="2953512"/>
            <a:ext cx="2048256" cy="2048256"/>
          </a:xfrm>
          <a:prstGeom prst="ellipse">
            <a:avLst/>
          </a:prstGeom>
          <a:solidFill>
            <a:srgbClr val="0C1B49"/>
          </a:solidFill>
          <a:ln>
            <a:noFill/>
          </a:ln>
          <a:effectLst>
            <a:outerShdw blurRad="365760" dist="109728" dir="5400000" algn="ctr" rotWithShape="0">
              <a:srgbClr val="0B1A48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3017520"/>
            <a:ext cx="1920240" cy="1920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NỀN TẢNG</a:t>
            </a:r>
          </a:p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SỐ HÓA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4211093" y="2431470"/>
            <a:ext cx="791431" cy="648155"/>
          </a:xfrm>
          <a:prstGeom prst="line">
            <a:avLst/>
          </a:prstGeom>
          <a:ln w="15875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694176" y="1956816"/>
            <a:ext cx="566928" cy="566928"/>
          </a:xfrm>
          <a:prstGeom prst="ellipse">
            <a:avLst/>
          </a:prstGeom>
          <a:solidFill>
            <a:srgbClr val="3DE3F0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arget_061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0239" y="2092879"/>
            <a:ext cx="294803" cy="29480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750527" y="1737360"/>
            <a:ext cx="1815633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Bán hàng đa kênh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10312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Website, sàn TMĐT và mạng xã hội trên một hệ thống.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195572" y="2431470"/>
            <a:ext cx="791431" cy="648155"/>
          </a:xfrm>
          <a:prstGeom prst="line">
            <a:avLst/>
          </a:prstGeom>
          <a:ln w="15875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936992" y="1956816"/>
            <a:ext cx="566928" cy="566928"/>
          </a:xfrm>
          <a:prstGeom prst="ellipse">
            <a:avLst/>
          </a:prstGeom>
          <a:solidFill>
            <a:srgbClr val="3DE3F0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ghtbulb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3055" y="2092879"/>
            <a:ext cx="294803" cy="29480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631936" y="1737360"/>
            <a:ext cx="1462308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Quản trị kho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210312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Theo dõi tồn kho thời gian thực, cảnh báo tự động.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822192" y="3977640"/>
            <a:ext cx="859536" cy="0"/>
          </a:xfrm>
          <a:prstGeom prst="line">
            <a:avLst/>
          </a:prstGeom>
          <a:ln w="15875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36976" y="3694176"/>
            <a:ext cx="566928" cy="566928"/>
          </a:xfrm>
          <a:prstGeom prst="ellipse">
            <a:avLst/>
          </a:prstGeom>
          <a:solidFill>
            <a:srgbClr val="3DE3F0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le-text_0612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3039" y="3830239"/>
            <a:ext cx="294803" cy="294803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381658" y="3474720"/>
            <a:ext cx="1727302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Kế toán điện tử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38404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Hóa đơn điện tử, báo cáo thuế và dòng tiền.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16368" y="3977640"/>
            <a:ext cx="859536" cy="0"/>
          </a:xfrm>
          <a:prstGeom prst="line">
            <a:avLst/>
          </a:prstGeom>
          <a:ln w="15875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94192" y="3694176"/>
            <a:ext cx="566928" cy="566928"/>
          </a:xfrm>
          <a:prstGeom prst="ellipse">
            <a:avLst/>
          </a:prstGeom>
          <a:solidFill>
            <a:srgbClr val="3DE3F0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users_0612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0255" y="3830239"/>
            <a:ext cx="294803" cy="294803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089136" y="3474720"/>
            <a:ext cx="2168957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Nhân sự – tiền lương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8404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Chấm công, KPI và bảng lương tự động.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211093" y="4875655"/>
            <a:ext cx="791431" cy="648155"/>
          </a:xfrm>
          <a:prstGeom prst="line">
            <a:avLst/>
          </a:prstGeom>
          <a:ln w="15875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694176" y="5431536"/>
            <a:ext cx="566928" cy="566928"/>
          </a:xfrm>
          <a:prstGeom prst="ellipse">
            <a:avLst/>
          </a:prstGeom>
          <a:solidFill>
            <a:srgbClr val="3DE3F0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lobe_06123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0239" y="5567599"/>
            <a:ext cx="294803" cy="294803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485534" y="5212080"/>
            <a:ext cx="2080626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Chăm sóc khách hàng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778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CRM lưu lịch sử mua hàng, cá nhân hóa ưu đãi.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95572" y="4875655"/>
            <a:ext cx="791431" cy="648155"/>
          </a:xfrm>
          <a:prstGeom prst="line">
            <a:avLst/>
          </a:prstGeom>
          <a:ln w="15875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936992" y="5431536"/>
            <a:ext cx="566928" cy="566928"/>
          </a:xfrm>
          <a:prstGeom prst="ellipse">
            <a:avLst/>
          </a:prstGeom>
          <a:solidFill>
            <a:srgbClr val="3DE3F0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hield-check_06123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3055" y="5567599"/>
            <a:ext cx="294803" cy="294803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631936" y="5212080"/>
            <a:ext cx="1727302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An toàn dữ liệu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1936" y="557784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Sao lưu đám mây, phân quyền và bảo mật.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1" grpId="0" animBg="1"/>
      <p:bldP spid="32" grpId="0" animBg="1"/>
      <p:bldP spid="34" grpId="0" animBg="1"/>
      <p:bldP spid="36" grpId="0" animBg="1"/>
      <p:bldP spid="37" grpId="0" animBg="1"/>
      <p:bldP spid="39" grpId="0" animBg="1"/>
      <p:bldP spid="41" grpId="0" animBg="1"/>
      <p:bldP spid="42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980" y="-2171700"/>
            <a:ext cx="6172200" cy="6172200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4308" y="4119372"/>
            <a:ext cx="4197096" cy="4197096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5705856"/>
            <a:ext cx="3950208" cy="3950208"/>
          </a:xfrm>
          <a:prstGeom prst="rect">
            <a:avLst/>
          </a:prstGeom>
        </p:spPr>
      </p:pic>
      <p:sp>
        <p:nvSpPr>
          <p:cNvPr id="5" name="!!num02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6" name="!!sec02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MÔ HÌNH GIẢI PHÁP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LỘ TRÌNH TRIỂN KHAI 7 BƯỚC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Kế hoạch 18 tháng, mỗi bước đều có đầu ra đo lường được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4434840"/>
            <a:ext cx="11002975" cy="0"/>
          </a:xfrm>
          <a:prstGeom prst="line">
            <a:avLst/>
          </a:prstGeom>
          <a:ln w="1905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entagon 10"/>
          <p:cNvSpPr/>
          <p:nvPr/>
        </p:nvSpPr>
        <p:spPr>
          <a:xfrm>
            <a:off x="594360" y="1965960"/>
            <a:ext cx="1699870" cy="658368"/>
          </a:xfrm>
          <a:prstGeom prst="homePlate">
            <a:avLst>
              <a:gd name="adj" fmla="val 35000"/>
            </a:avLst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Khảo sát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Đánh giá hiện trạng và xác định ưu tiên.</a:t>
            </a:r>
          </a:p>
        </p:txBody>
      </p:sp>
      <p:sp>
        <p:nvSpPr>
          <p:cNvPr id="14" name="Oval 13"/>
          <p:cNvSpPr/>
          <p:nvPr/>
        </p:nvSpPr>
        <p:spPr>
          <a:xfrm>
            <a:off x="1297991" y="4352544"/>
            <a:ext cx="164592" cy="164592"/>
          </a:xfrm>
          <a:prstGeom prst="ellipse">
            <a:avLst/>
          </a:prstGeom>
          <a:solidFill>
            <a:srgbClr val="3DE3F0"/>
          </a:solidFill>
          <a:ln w="15875">
            <a:solidFill>
              <a:srgbClr val="0B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Tháng 1</a:t>
            </a:r>
          </a:p>
        </p:txBody>
      </p:sp>
      <p:sp>
        <p:nvSpPr>
          <p:cNvPr id="16" name="Chevron 15"/>
          <p:cNvSpPr/>
          <p:nvPr/>
        </p:nvSpPr>
        <p:spPr>
          <a:xfrm>
            <a:off x="2166214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9366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Lập kế hoạch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9366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Chọn giải pháp, ngân sách và nhân sự.</a:t>
            </a:r>
          </a:p>
        </p:txBody>
      </p:sp>
      <p:sp>
        <p:nvSpPr>
          <p:cNvPr id="19" name="Oval 18"/>
          <p:cNvSpPr/>
          <p:nvPr/>
        </p:nvSpPr>
        <p:spPr>
          <a:xfrm>
            <a:off x="2869844" y="4352544"/>
            <a:ext cx="164592" cy="164592"/>
          </a:xfrm>
          <a:prstGeom prst="ellipse">
            <a:avLst/>
          </a:prstGeom>
          <a:solidFill>
            <a:srgbClr val="3DE3F0"/>
          </a:solidFill>
          <a:ln w="15875">
            <a:solidFill>
              <a:srgbClr val="0B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6214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Tháng 2</a:t>
            </a:r>
          </a:p>
        </p:txBody>
      </p:sp>
      <p:sp>
        <p:nvSpPr>
          <p:cNvPr id="21" name="Chevron 20"/>
          <p:cNvSpPr/>
          <p:nvPr/>
        </p:nvSpPr>
        <p:spPr>
          <a:xfrm>
            <a:off x="3738067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1219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Chuẩn hóa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1219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Chuẩn hóa dữ liệu và quy trình đầu vào.</a:t>
            </a:r>
          </a:p>
        </p:txBody>
      </p:sp>
      <p:sp>
        <p:nvSpPr>
          <p:cNvPr id="24" name="Oval 23"/>
          <p:cNvSpPr/>
          <p:nvPr/>
        </p:nvSpPr>
        <p:spPr>
          <a:xfrm>
            <a:off x="4441698" y="4352544"/>
            <a:ext cx="164592" cy="164592"/>
          </a:xfrm>
          <a:prstGeom prst="ellipse">
            <a:avLst/>
          </a:prstGeom>
          <a:solidFill>
            <a:srgbClr val="3DE3F0"/>
          </a:solidFill>
          <a:ln w="15875">
            <a:solidFill>
              <a:srgbClr val="0B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8067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Tháng 3–4</a:t>
            </a:r>
          </a:p>
        </p:txBody>
      </p:sp>
      <p:sp>
        <p:nvSpPr>
          <p:cNvPr id="26" name="Chevron 25"/>
          <p:cNvSpPr/>
          <p:nvPr/>
        </p:nvSpPr>
        <p:spPr>
          <a:xfrm>
            <a:off x="5309921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3073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Thí điểm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3073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Triển khai tại một bộ phận.</a:t>
            </a:r>
          </a:p>
        </p:txBody>
      </p:sp>
      <p:sp>
        <p:nvSpPr>
          <p:cNvPr id="29" name="Oval 28"/>
          <p:cNvSpPr/>
          <p:nvPr/>
        </p:nvSpPr>
        <p:spPr>
          <a:xfrm>
            <a:off x="6013552" y="4352544"/>
            <a:ext cx="164592" cy="164592"/>
          </a:xfrm>
          <a:prstGeom prst="ellipse">
            <a:avLst/>
          </a:prstGeom>
          <a:solidFill>
            <a:srgbClr val="3DE3F0"/>
          </a:solidFill>
          <a:ln w="15875">
            <a:solidFill>
              <a:srgbClr val="0B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9921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Tháng 5–7</a:t>
            </a:r>
          </a:p>
        </p:txBody>
      </p:sp>
      <p:sp>
        <p:nvSpPr>
          <p:cNvPr id="31" name="Chevron 30"/>
          <p:cNvSpPr/>
          <p:nvPr/>
        </p:nvSpPr>
        <p:spPr>
          <a:xfrm>
            <a:off x="6881774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4926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Đào tạo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4926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Đào tạo người dùng, cập nhật tài liệu.</a:t>
            </a:r>
          </a:p>
        </p:txBody>
      </p:sp>
      <p:sp>
        <p:nvSpPr>
          <p:cNvPr id="34" name="Oval 33"/>
          <p:cNvSpPr/>
          <p:nvPr/>
        </p:nvSpPr>
        <p:spPr>
          <a:xfrm>
            <a:off x="7585405" y="4352544"/>
            <a:ext cx="164592" cy="164592"/>
          </a:xfrm>
          <a:prstGeom prst="ellipse">
            <a:avLst/>
          </a:prstGeom>
          <a:solidFill>
            <a:srgbClr val="3DE3F0"/>
          </a:solidFill>
          <a:ln w="15875">
            <a:solidFill>
              <a:srgbClr val="0B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81774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Tháng 8–9</a:t>
            </a:r>
          </a:p>
        </p:txBody>
      </p:sp>
      <p:sp>
        <p:nvSpPr>
          <p:cNvPr id="36" name="Chevron 35"/>
          <p:cNvSpPr/>
          <p:nvPr/>
        </p:nvSpPr>
        <p:spPr>
          <a:xfrm>
            <a:off x="8453628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6780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Mở rộng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6780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Nhân rộng ra toàn doanh nghiệp.</a:t>
            </a:r>
          </a:p>
        </p:txBody>
      </p:sp>
      <p:sp>
        <p:nvSpPr>
          <p:cNvPr id="39" name="Oval 38"/>
          <p:cNvSpPr/>
          <p:nvPr/>
        </p:nvSpPr>
        <p:spPr>
          <a:xfrm>
            <a:off x="9157259" y="4352544"/>
            <a:ext cx="164592" cy="164592"/>
          </a:xfrm>
          <a:prstGeom prst="ellipse">
            <a:avLst/>
          </a:prstGeom>
          <a:solidFill>
            <a:srgbClr val="3DE3F0"/>
          </a:solidFill>
          <a:ln w="15875">
            <a:solidFill>
              <a:srgbClr val="0B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3628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Tháng 10–14</a:t>
            </a:r>
          </a:p>
        </p:txBody>
      </p:sp>
      <p:sp>
        <p:nvSpPr>
          <p:cNvPr id="41" name="Chevron 40"/>
          <p:cNvSpPr/>
          <p:nvPr/>
        </p:nvSpPr>
        <p:spPr>
          <a:xfrm>
            <a:off x="10025482" y="1965960"/>
            <a:ext cx="1699870" cy="658368"/>
          </a:xfrm>
          <a:prstGeom prst="chevron">
            <a:avLst>
              <a:gd name="adj" fmla="val 35000"/>
            </a:avLst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8634" y="2852928"/>
            <a:ext cx="142555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Đánh giá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8634" y="3200400"/>
            <a:ext cx="142555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Đo KPI, cải tiến giai đoạn tiếp theo.</a:t>
            </a:r>
          </a:p>
        </p:txBody>
      </p:sp>
      <p:sp>
        <p:nvSpPr>
          <p:cNvPr id="44" name="Oval 43"/>
          <p:cNvSpPr/>
          <p:nvPr/>
        </p:nvSpPr>
        <p:spPr>
          <a:xfrm>
            <a:off x="10729112" y="4352544"/>
            <a:ext cx="164592" cy="164592"/>
          </a:xfrm>
          <a:prstGeom prst="ellipse">
            <a:avLst/>
          </a:prstGeom>
          <a:solidFill>
            <a:srgbClr val="3DE3F0"/>
          </a:solidFill>
          <a:ln w="15875">
            <a:solidFill>
              <a:srgbClr val="0B1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25482" y="4599432"/>
            <a:ext cx="157185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Tháng 15–18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349240"/>
            <a:ext cx="11002975" cy="658368"/>
          </a:xfrm>
          <a:prstGeom prst="roundRect">
            <a:avLst>
              <a:gd name="adj" fmla="val 27777"/>
            </a:avLst>
          </a:prstGeom>
          <a:solidFill>
            <a:srgbClr val="E6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8680" y="5477256"/>
            <a:ext cx="402336" cy="402336"/>
          </a:xfrm>
          <a:prstGeom prst="ellipse">
            <a:avLst/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calendar-days_3DE3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41" y="5573817"/>
            <a:ext cx="209215" cy="20921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99032" y="55229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Tổng thời gian: </a:t>
            </a:r>
            <a:r>
              <a:rPr sz="11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18 tháng</a:t>
            </a:r>
          </a:p>
        </p:txBody>
      </p:sp>
      <p:sp>
        <p:nvSpPr>
          <p:cNvPr id="50" name="Oval 49"/>
          <p:cNvSpPr/>
          <p:nvPr/>
        </p:nvSpPr>
        <p:spPr>
          <a:xfrm>
            <a:off x="4526280" y="5477256"/>
            <a:ext cx="402336" cy="402336"/>
          </a:xfrm>
          <a:prstGeom prst="ellipse">
            <a:avLst/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wallet_3DE3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841" y="5573817"/>
            <a:ext cx="209215" cy="20921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056632" y="55229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Ngân sách dự kiến: </a:t>
            </a:r>
            <a:r>
              <a:rPr sz="11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4,2 tỷ đồng</a:t>
            </a:r>
          </a:p>
        </p:txBody>
      </p:sp>
      <p:sp>
        <p:nvSpPr>
          <p:cNvPr id="53" name="Oval 52"/>
          <p:cNvSpPr/>
          <p:nvPr/>
        </p:nvSpPr>
        <p:spPr>
          <a:xfrm>
            <a:off x="8183880" y="5477256"/>
            <a:ext cx="402336" cy="402336"/>
          </a:xfrm>
          <a:prstGeom prst="ellipse">
            <a:avLst/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users_3DE3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441" y="5573817"/>
            <a:ext cx="209215" cy="20921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714232" y="55229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Nhân sự nòng cốt: </a:t>
            </a:r>
            <a:r>
              <a:rPr sz="11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06 người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8" fill="hold" grpId="0" nodeType="withEffect">
                                  <p:stCondLst>
                                    <p:cond delay="8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8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8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3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" presetClass="entr" presetSubtype="8" fill="hold" grpId="0" nodeType="withEffect">
                                  <p:stCondLst>
                                    <p:cond delay="131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3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3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3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3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151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3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3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62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5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6" grpId="0" animBg="1"/>
      <p:bldP spid="14" grpId="0" animBg="1"/>
      <p:bldP spid="15" grpId="0" animBg="1"/>
      <p:bldP spid="12" grpId="0" animBg="1"/>
      <p:bldP spid="13" grpId="0" animBg="1"/>
      <p:bldP spid="21" grpId="0" animBg="1"/>
      <p:bldP spid="19" grpId="0" animBg="1"/>
      <p:bldP spid="20" grpId="0" animBg="1"/>
      <p:bldP spid="17" grpId="0" animBg="1"/>
      <p:bldP spid="18" grpId="0" animBg="1"/>
      <p:bldP spid="26" grpId="0" animBg="1"/>
      <p:bldP spid="24" grpId="0" animBg="1"/>
      <p:bldP spid="25" grpId="0" animBg="1"/>
      <p:bldP spid="22" grpId="0" animBg="1"/>
      <p:bldP spid="23" grpId="0" animBg="1"/>
      <p:bldP spid="31" grpId="0" animBg="1"/>
      <p:bldP spid="29" grpId="0" animBg="1"/>
      <p:bldP spid="30" grpId="0" animBg="1"/>
      <p:bldP spid="27" grpId="0" animBg="1"/>
      <p:bldP spid="28" grpId="0" animBg="1"/>
      <p:bldP spid="36" grpId="0" animBg="1"/>
      <p:bldP spid="34" grpId="0" animBg="1"/>
      <p:bldP spid="35" grpId="0" animBg="1"/>
      <p:bldP spid="32" grpId="0" animBg="1"/>
      <p:bldP spid="33" grpId="0" animBg="1"/>
      <p:bldP spid="41" grpId="0" animBg="1"/>
      <p:bldP spid="39" grpId="0" animBg="1"/>
      <p:bldP spid="40" grpId="0" animBg="1"/>
      <p:bldP spid="46" grpId="0" animBg="1"/>
      <p:bldP spid="37" grpId="0" animBg="1"/>
      <p:bldP spid="38" grpId="0" animBg="1"/>
      <p:bldP spid="47" grpId="0" animBg="1"/>
      <p:bldP spid="49" grpId="0" animBg="1"/>
      <p:bldP spid="44" grpId="0" animBg="1"/>
      <p:bldP spid="45" grpId="0" animBg="1"/>
      <p:bldP spid="42" grpId="0" animBg="1"/>
      <p:bldP spid="43" grpId="0" animBg="1"/>
      <p:bldP spid="50" grpId="0" animBg="1"/>
      <p:bldP spid="52" grpId="0" animBg="1"/>
      <p:bldP spid="53" grpId="0" animBg="1"/>
      <p:bldP spid="55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2A55E5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7A5CFF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B9FAA"/>
                </a:solidFill>
                <a:latin typeface="Montserrat SemiBold"/>
                <a:ea typeface="Montserrat SemiBold"/>
                <a:cs typeface="Montserrat SemiBold"/>
              </a:rPr>
              <a:t>PHẦN 03 / 07</a:t>
            </a:r>
          </a:p>
        </p:txBody>
      </p:sp>
      <p:sp>
        <p:nvSpPr>
          <p:cNvPr id="6" name="!!sec03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PHÂN TÍCH SỐ LIỆU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4B7BF"/>
                </a:solidFill>
                <a:latin typeface="Montserrat Medium"/>
                <a:ea typeface="Montserrat Medium"/>
                <a:cs typeface="Montserrat Medium"/>
              </a:rPr>
              <a:t>Biểu đồ cột, thanh ngang, đường và biểu đồ tròn cho các chỉ số chính.</a:t>
            </a:r>
          </a:p>
        </p:txBody>
      </p:sp>
      <p:sp>
        <p:nvSpPr>
          <p:cNvPr id="10" name="!!num02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1" name="!!num03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2" name="!!num04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-2350008"/>
            <a:ext cx="5431536" cy="5431536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392" y="2532888"/>
            <a:ext cx="4443984" cy="4443984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6012180"/>
            <a:ext cx="3703320" cy="3703320"/>
          </a:xfrm>
          <a:prstGeom prst="rect">
            <a:avLst/>
          </a:prstGeom>
        </p:spPr>
      </p:pic>
      <p:sp>
        <p:nvSpPr>
          <p:cNvPr id="5" name="!!num03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6" name="!!sec03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PHÂN TÍCH SỐ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HIỆU QUẢ VẬN HÀNH THEO QUÝ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80"/>
            <a:ext cx="4983480" cy="1965960"/>
          </a:xfrm>
          <a:prstGeom prst="roundRect">
            <a:avLst>
              <a:gd name="adj" fmla="val 11162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NHẬN XÉT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4434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FEFEFF"/>
                </a:solidFill>
                <a:latin typeface="Montserrat"/>
                <a:ea typeface="Montserrat"/>
                <a:cs typeface="Montserrat"/>
              </a:rPr>
              <a:t>Doanh thu tăng đều qua các quý, đặc biệt quý IV nhờ kênh bán hàng trực tuyến đi vào ổn định.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60520"/>
            <a:ext cx="4983480" cy="1965960"/>
          </a:xfrm>
          <a:prstGeom prst="roundRect">
            <a:avLst>
              <a:gd name="adj" fmla="val 11162"/>
            </a:avLst>
          </a:prstGeom>
          <a:solidFill>
            <a:srgbClr val="1B3FC4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NHẬN XÉT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27448"/>
            <a:ext cx="443484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FEFEFF"/>
                </a:solidFill>
                <a:latin typeface="Montserrat"/>
                <a:ea typeface="Montserrat"/>
                <a:cs typeface="Montserrat"/>
              </a:rPr>
              <a:t>Chi phí vận hành giảm từ quý III khi quy trình kho và kế toán được tự động hóa.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30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DOANH THU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73152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31K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2344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12B886"/>
                </a:solidFill>
                <a:latin typeface="Montserrat SemiBold"/>
                <a:ea typeface="Montserrat SemiBold"/>
                <a:cs typeface="Montserrat SemiBold"/>
              </a:rPr>
              <a:t>▲ </a:t>
            </a:r>
            <a:r>
              <a:rPr sz="9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20% so với cùng kỳ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30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CHI PHÍ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73152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18K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2344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FF5D5D"/>
                </a:solidFill>
                <a:latin typeface="Montserrat SemiBold"/>
                <a:ea typeface="Montserrat SemiBold"/>
                <a:cs typeface="Montserrat SemiBold"/>
              </a:rPr>
              <a:t>▼ </a:t>
            </a:r>
            <a:r>
              <a:rPr sz="9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12% so với cùng kỳ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530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LỢI NHUẬN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73152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13K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123444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12B886"/>
                </a:solidFill>
                <a:latin typeface="Montserrat SemiBold"/>
                <a:ea typeface="Montserrat SemiBold"/>
                <a:cs typeface="Montserrat SemiBold"/>
              </a:rPr>
              <a:t>▲ </a:t>
            </a:r>
            <a:r>
              <a:rPr sz="95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26% so với cùng kỳ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989320" y="1737360"/>
          <a:ext cx="5669280" cy="46177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F8BA6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Graphic spid="24" grpId="0">
        <p:bldAsOne/>
      </p:bldGraphic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!!num03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6" name="!!sec03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PHÂN TÍCH SỐ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MỨC ĐỘ ỨNG DỤNG</a:t>
            </a:r>
          </a:p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CÔNG CỤ SỐ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1828800"/>
          <a:ext cx="6766560" cy="4526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89520" y="640080"/>
            <a:ext cx="4023360" cy="1719072"/>
          </a:xfrm>
          <a:prstGeom prst="roundRect">
            <a:avLst>
              <a:gd name="adj" fmla="val 12765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90688" y="905256"/>
            <a:ext cx="603504" cy="60350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rget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1564" y="1056132"/>
            <a:ext cx="301752" cy="301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914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DFDFF"/>
                </a:solidFill>
                <a:latin typeface="Montserrat SemiBold"/>
                <a:ea typeface="Montserrat SemiBold"/>
                <a:cs typeface="Montserrat SemiBold"/>
              </a:rPr>
              <a:t>Doanh nghiệp khảo sát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17043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318</a:t>
            </a:r>
            <a:r>
              <a:rPr sz="12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 DN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783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FCFDFF"/>
                </a:solidFill>
                <a:latin typeface="Montserrat"/>
                <a:ea typeface="Montserrat"/>
                <a:cs typeface="Montserrat"/>
              </a:rPr>
              <a:t>▲ 11,8% so với dự kiến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560320"/>
            <a:ext cx="4023360" cy="1719072"/>
          </a:xfrm>
          <a:prstGeom prst="roundRect">
            <a:avLst>
              <a:gd name="adj" fmla="val 12765"/>
            </a:avLst>
          </a:prstGeom>
          <a:solidFill>
            <a:srgbClr val="1B3FC4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0688" y="2825496"/>
            <a:ext cx="603504" cy="6035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sers_1B3F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1564" y="2976372"/>
            <a:ext cx="301752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49640" y="28346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FDFDFF"/>
                </a:solidFill>
                <a:latin typeface="Montserrat SemiBold"/>
                <a:ea typeface="Montserrat SemiBold"/>
                <a:cs typeface="Montserrat SemiBold"/>
              </a:rPr>
              <a:t>Người tham gia phỏng vấn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09067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3.108</a:t>
            </a:r>
            <a:r>
              <a:rPr sz="1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 lượt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703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FCFDFF"/>
                </a:solidFill>
                <a:latin typeface="Montserrat"/>
                <a:ea typeface="Montserrat"/>
                <a:cs typeface="Montserrat"/>
              </a:rPr>
              <a:t>Tỷ lệ phản hồi 86%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480560"/>
            <a:ext cx="4023360" cy="1719072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90688" y="4745736"/>
            <a:ext cx="603504" cy="60350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art-line_0612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1564" y="4896612"/>
            <a:ext cx="301752" cy="3017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49640" y="4754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Mức tăng ứng dụng 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501091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+15</a:t>
            </a:r>
            <a:r>
              <a:rPr sz="1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 điểm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5623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B1A48"/>
                </a:solidFill>
                <a:latin typeface="Montserrat"/>
                <a:ea typeface="Montserrat"/>
                <a:cs typeface="Montserrat"/>
              </a:rPr>
              <a:t>Tăng mạnh nhất trong nhóm công cụ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F8BA6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Graphic spid="9" grpId="0">
        <p:bldAsOne/>
      </p:bldGraphic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!!num03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6" name="!!sec03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PHÂN TÍCH SỐ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18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868680"/>
          <a:ext cx="6949440" cy="5440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26680" y="658368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XU HƯỚNG ĐẦU TƯ CÔNG NGHỆ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2057400"/>
            <a:ext cx="38862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Ngân sách cho công nghệ tăng liên tục kể từ 2022, trong khi chi phí vận hành trên mỗi đơn hàng giảm dần.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3566160"/>
            <a:ext cx="3886200" cy="2103120"/>
          </a:xfrm>
          <a:prstGeom prst="roundRect">
            <a:avLst>
              <a:gd name="adj" fmla="val 11304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74904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31,8</a:t>
            </a:r>
            <a:r>
              <a:rPr sz="18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3" name="Oval 12"/>
          <p:cNvSpPr/>
          <p:nvPr/>
        </p:nvSpPr>
        <p:spPr>
          <a:xfrm>
            <a:off x="10607040" y="3886200"/>
            <a:ext cx="640080" cy="640080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ending-up_3DE3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7060" y="4046220"/>
            <a:ext cx="320040" cy="32004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0607040" y="3886200"/>
            <a:ext cx="640080" cy="640080"/>
          </a:xfrm>
          <a:prstGeom prst="ellipse">
            <a:avLst/>
          </a:prstGeom>
          <a:noFill/>
          <a:ln w="15875">
            <a:solidFill>
              <a:srgbClr val="3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7091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DFDFF"/>
                </a:solidFill>
                <a:latin typeface="Montserrat"/>
                <a:ea typeface="Montserrat"/>
                <a:cs typeface="Montserrat"/>
              </a:rPr>
              <a:t>Tăng trưởng bình quân ngân sách công nghệ mỗi năm giai đoạn 2021 –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F8BA6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Graphic spid="8" grpId="0">
        <p:bldAsOne/>
      </p:bldGraphic>
      <p:bldP spid="10" grpId="0" animBg="1"/>
      <p:bldP spid="11" grpId="0" animBg="1"/>
      <p:bldP spid="12" grpId="0" animBg="1"/>
      <p:bldP spid="16" grpId="0" animBg="1"/>
      <p:bldP spid="15" grpId="0" animBg="1"/>
      <p:bldP spid="13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!!num03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6" name="!!sec03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PHÂN TÍCH SỐ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603504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CƠ CẤU NGÂN SÁCH SỐ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Phần lớn ngân sách được dành cho phần mềm và hạ tầng đám mây; đào tạo con người vẫn chiếm tỷ trọng đáng kể.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2395728"/>
            <a:ext cx="5166360" cy="0"/>
          </a:xfrm>
          <a:prstGeom prst="line">
            <a:avLst/>
          </a:prstGeom>
          <a:ln w="12700">
            <a:solidFill>
              <a:srgbClr val="C9D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26517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3347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PHẦN MỀM &amp; BẢN QUYỀN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1518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0" i="0">
                <a:solidFill>
                  <a:srgbClr val="1B3FC4"/>
                </a:solidFill>
                <a:latin typeface="Montserrat ExtraBold"/>
                <a:ea typeface="Montserrat ExtraBold"/>
                <a:cs typeface="Montserrat ExtraBold"/>
              </a:rP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4436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ERP, CRM, kế toán và các ứng dụng quản trị.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44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A5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66160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HẠ TẦNG ĐÁM MÂY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4787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0" i="0">
                <a:solidFill>
                  <a:srgbClr val="1B3FC4"/>
                </a:solidFill>
                <a:latin typeface="Montserrat ExtraBold"/>
                <a:ea typeface="Montserrat ExtraBold"/>
                <a:cs typeface="Montserrat ExtraBold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7705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Máy chủ, lưu trữ, sao lưu và bảo mật dữ liệu.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1713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BC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9884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ĐÀO TẠO NHÂN SỰ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8056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0" i="0">
                <a:solidFill>
                  <a:srgbClr val="1B3FC4"/>
                </a:solidFill>
                <a:latin typeface="Montserrat ExtraBold"/>
                <a:ea typeface="Montserrat ExtraBold"/>
                <a:cs typeface="Montserrat ExtraBold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0974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Đào tạo kỹ năng số cho quản lý và nhân viên.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44982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7A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3153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TƯ VẤN TRIỂN KHAI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132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0" i="0">
                <a:solidFill>
                  <a:srgbClr val="1B3FC4"/>
                </a:solidFill>
                <a:latin typeface="Montserrat ExtraBold"/>
                <a:ea typeface="Montserrat ExtraBold"/>
                <a:cs typeface="Montserrat ExtraBold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74243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Chuyên gia hỗ trợ thiết kế và vận hành.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766560" y="1280160"/>
          <a:ext cx="4663440" cy="4663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818120" y="3044952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4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4,2 tỷ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8404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 spc="10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TỔNG NGÂN SÁCH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F8BA6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59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039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Graphic spid="27" grpId="0">
        <p:bldAsOne/>
      </p:bldGraphic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2A55E5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7A5CFF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B9FAA"/>
                </a:solidFill>
                <a:latin typeface="Montserrat SemiBold"/>
                <a:ea typeface="Montserrat SemiBold"/>
                <a:cs typeface="Montserrat SemiBold"/>
              </a:rPr>
              <a:t>PHẦN 04 / 07</a:t>
            </a:r>
          </a:p>
        </p:txBody>
      </p:sp>
      <p:sp>
        <p:nvSpPr>
          <p:cNvPr id="6" name="!!sec04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KẾT QUẢ KHẢO SÁT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4B7BF"/>
                </a:solidFill>
                <a:latin typeface="Montserrat Medium"/>
                <a:ea typeface="Montserrat Medium"/>
                <a:cs typeface="Montserrat Medium"/>
              </a:rPr>
              <a:t>Những con số nổi bật, bảng số liệu tổng hợp và hình ảnh khảo sát thực tế.</a:t>
            </a:r>
          </a:p>
        </p:txBody>
      </p:sp>
      <p:sp>
        <p:nvSpPr>
          <p:cNvPr id="10" name="!!num03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11" name="!!num04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12" name="!!num05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3291840"/>
            <a:ext cx="4937760" cy="4937760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572" y="4658868"/>
            <a:ext cx="5678424" cy="5678424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361688"/>
            <a:ext cx="4443984" cy="4443984"/>
          </a:xfrm>
          <a:prstGeom prst="rect">
            <a:avLst/>
          </a:prstGeom>
        </p:spPr>
      </p:pic>
      <p:sp>
        <p:nvSpPr>
          <p:cNvPr id="5" name="!!num04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6" name="!!sec04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KẾT QUẢ KHẢO SÁT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CHỈ SỐ NỔI BẬT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Bốn con số tóm tắt kết quả khảo sát 318 doanh nghiệp vừa và nhỏ tại ba thành phố lớn.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48840"/>
            <a:ext cx="2743200" cy="4160520"/>
          </a:xfrm>
          <a:prstGeom prst="roundRect">
            <a:avLst>
              <a:gd name="adj" fmla="val 8666"/>
            </a:avLst>
          </a:prstGeom>
          <a:solidFill>
            <a:srgbClr val="1B3FC4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1" name="Picture 10" descr="4eeae6a9e029a07b.jpg"/>
          <p:cNvPicPr>
            <a:picLocks noChangeAspect="1"/>
          </p:cNvPicPr>
          <p:nvPr/>
        </p:nvPicPr>
        <p:blipFill>
          <a:blip r:embed="rId5"/>
          <a:srcRect r="15217"/>
          <a:stretch>
            <a:fillRect/>
          </a:stretch>
        </p:blipFill>
        <p:spPr>
          <a:xfrm>
            <a:off x="777240" y="2331720"/>
            <a:ext cx="2377440" cy="2103120"/>
          </a:xfrm>
          <a:prstGeom prst="roundRect">
            <a:avLst>
              <a:gd name="adj" fmla="val 7826"/>
            </a:avLst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45720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68,5</a:t>
            </a:r>
            <a:r>
              <a:rPr sz="1596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Doanh nghiệp đã dùng ít nhất một phần mềm quản trị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148840"/>
            <a:ext cx="2743200" cy="4160520"/>
          </a:xfrm>
          <a:prstGeom prst="roundRect">
            <a:avLst>
              <a:gd name="adj" fmla="val 8666"/>
            </a:avLst>
          </a:prstGeom>
          <a:solidFill>
            <a:srgbClr val="3DE3F0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5" name="Picture 14" descr="63e6d6cf636c9aee.jpg"/>
          <p:cNvPicPr>
            <a:picLocks noChangeAspect="1"/>
          </p:cNvPicPr>
          <p:nvPr/>
        </p:nvPicPr>
        <p:blipFill>
          <a:blip r:embed="rId6"/>
          <a:srcRect l="15761" r="15761"/>
          <a:stretch>
            <a:fillRect/>
          </a:stretch>
        </p:blipFill>
        <p:spPr>
          <a:xfrm>
            <a:off x="3703320" y="2331720"/>
            <a:ext cx="1920240" cy="2103120"/>
          </a:xfrm>
          <a:prstGeom prst="roundRect">
            <a:avLst>
              <a:gd name="adj" fmla="val 8571"/>
            </a:avLst>
          </a:prstGeom>
        </p:spPr>
      </p:pic>
      <p:sp>
        <p:nvSpPr>
          <p:cNvPr id="16" name="Oval 15"/>
          <p:cNvSpPr/>
          <p:nvPr/>
        </p:nvSpPr>
        <p:spPr>
          <a:xfrm>
            <a:off x="5696712" y="2395728"/>
            <a:ext cx="420624" cy="420624"/>
          </a:xfrm>
          <a:prstGeom prst="ellipse">
            <a:avLst/>
          </a:prstGeom>
          <a:noFill/>
          <a:ln w="15875">
            <a:solidFill>
              <a:srgbClr val="061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rrow-up-right_0612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8152" y="2487168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9040" y="457200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8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42,3</a:t>
            </a:r>
            <a:r>
              <a:rPr sz="1596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53492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6123A"/>
                </a:solidFill>
                <a:latin typeface="Montserrat"/>
                <a:ea typeface="Montserrat"/>
                <a:cs typeface="Montserrat"/>
              </a:rPr>
              <a:t>Doanh nghiệp có kế hoạch chuyển đổi số trong 2 năm tới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148840"/>
            <a:ext cx="5166360" cy="1965960"/>
          </a:xfrm>
          <a:prstGeom prst="roundRect">
            <a:avLst>
              <a:gd name="adj" fmla="val 12093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33172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31,8</a:t>
            </a:r>
            <a:r>
              <a:rPr sz="168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0040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DFEFF"/>
                </a:solidFill>
                <a:latin typeface="Montserrat"/>
                <a:ea typeface="Montserrat"/>
                <a:cs typeface="Montserrat"/>
              </a:rPr>
              <a:t>Mức giảm thời gian xử lý đơn hàng sau khi số hóa quy trình bán hàng</a:t>
            </a:r>
          </a:p>
        </p:txBody>
      </p:sp>
      <p:sp>
        <p:nvSpPr>
          <p:cNvPr id="23" name="Oval 22"/>
          <p:cNvSpPr/>
          <p:nvPr/>
        </p:nvSpPr>
        <p:spPr>
          <a:xfrm>
            <a:off x="10716768" y="2395728"/>
            <a:ext cx="603504" cy="60350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auge_0612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7644" y="2546604"/>
            <a:ext cx="301752" cy="30175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446520" y="4297680"/>
            <a:ext cx="5166360" cy="2011680"/>
          </a:xfrm>
          <a:prstGeom prst="roundRect">
            <a:avLst>
              <a:gd name="adj" fmla="val 11818"/>
            </a:avLst>
          </a:prstGeom>
          <a:solidFill>
            <a:srgbClr val="FFFFFF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48056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24,6</a:t>
            </a:r>
            <a:r>
              <a:rPr sz="168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34924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Doanh nghiệp đã có bộ phận hoặc nhân sự phụ trách công nghệ</a:t>
            </a:r>
          </a:p>
        </p:txBody>
      </p:sp>
      <p:sp>
        <p:nvSpPr>
          <p:cNvPr id="28" name="Oval 27"/>
          <p:cNvSpPr/>
          <p:nvPr/>
        </p:nvSpPr>
        <p:spPr>
          <a:xfrm>
            <a:off x="10716768" y="4544568"/>
            <a:ext cx="603504" cy="603504"/>
          </a:xfrm>
          <a:prstGeom prst="ellipse">
            <a:avLst/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adge-check_3DE3F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7644" y="4695444"/>
            <a:ext cx="301752" cy="3017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F8BA6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-2350008"/>
            <a:ext cx="5431536" cy="5431536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392" y="2532888"/>
            <a:ext cx="4443984" cy="4443984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580" y="6012180"/>
            <a:ext cx="3703320" cy="3703320"/>
          </a:xfrm>
          <a:prstGeom prst="rect">
            <a:avLst/>
          </a:prstGeom>
        </p:spPr>
      </p:pic>
      <p:sp>
        <p:nvSpPr>
          <p:cNvPr id="5" name="!!num04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6" name="!!sec04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KẾT QUẢ KHẢO SÁT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KẾT QUẢ</a:t>
            </a:r>
          </a:p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KHẢO SÁT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794760"/>
            <a:ext cx="45720" cy="566928"/>
          </a:xfrm>
          <a:prstGeom prst="rect">
            <a:avLst/>
          </a:prstGeom>
          <a:solidFill>
            <a:srgbClr val="0B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Rào cản lớn nhất không nằm ở công nghệ mà ở chi phí ban đầu, kỹ năng nhân sự và thói quen làm việc thủ công.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502920"/>
            <a:ext cx="2103120" cy="1828800"/>
          </a:xfrm>
          <a:prstGeom prst="roundRect">
            <a:avLst>
              <a:gd name="adj" fmla="val 11000"/>
            </a:avLst>
          </a:prstGeom>
          <a:solidFill>
            <a:srgbClr val="3DE3F0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64008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0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57,2</a:t>
            </a:r>
            <a:r>
              <a:rPr sz="126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298448"/>
            <a:ext cx="17830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06123A"/>
                </a:solidFill>
                <a:latin typeface="Montserrat"/>
                <a:ea typeface="Montserrat"/>
                <a:cs typeface="Montserrat"/>
              </a:rPr>
              <a:t>Cho rằng chi phí là rào cản lớn nhất</a:t>
            </a:r>
          </a:p>
        </p:txBody>
      </p:sp>
      <p:pic>
        <p:nvPicPr>
          <p:cNvPr id="14" name="Picture 13" descr="3e3d48572cd5d62f.jpg"/>
          <p:cNvPicPr>
            <a:picLocks noChangeAspect="1"/>
          </p:cNvPicPr>
          <p:nvPr/>
        </p:nvPicPr>
        <p:blipFill>
          <a:blip r:embed="rId5"/>
          <a:srcRect t="10199" b="10199"/>
          <a:stretch>
            <a:fillRect/>
          </a:stretch>
        </p:blipFill>
        <p:spPr>
          <a:xfrm>
            <a:off x="8549640" y="502920"/>
            <a:ext cx="3063240" cy="1828800"/>
          </a:xfrm>
          <a:prstGeom prst="roundRect">
            <a:avLst>
              <a:gd name="adj" fmla="val 11000"/>
            </a:avLst>
          </a:prstGeom>
        </p:spPr>
      </p:pic>
      <p:pic>
        <p:nvPicPr>
          <p:cNvPr id="15" name="Picture 14" descr="d6fb311b2d7b4572.jpg"/>
          <p:cNvPicPr>
            <a:picLocks noChangeAspect="1"/>
          </p:cNvPicPr>
          <p:nvPr/>
        </p:nvPicPr>
        <p:blipFill>
          <a:blip r:embed="rId6"/>
          <a:srcRect l="18028" r="38028"/>
          <a:stretch>
            <a:fillRect/>
          </a:stretch>
        </p:blipFill>
        <p:spPr>
          <a:xfrm>
            <a:off x="6309360" y="2468880"/>
            <a:ext cx="2560320" cy="3886200"/>
          </a:xfrm>
          <a:prstGeom prst="roundRect">
            <a:avLst>
              <a:gd name="adj" fmla="val 7857"/>
            </a:avLst>
          </a:prstGeom>
        </p:spPr>
      </p:pic>
      <p:sp>
        <p:nvSpPr>
          <p:cNvPr id="16" name="Rounded Rectangle 15"/>
          <p:cNvSpPr/>
          <p:nvPr/>
        </p:nvSpPr>
        <p:spPr>
          <a:xfrm>
            <a:off x="9006840" y="2468880"/>
            <a:ext cx="2606040" cy="2148840"/>
          </a:xfrm>
          <a:prstGeom prst="roundRect">
            <a:avLst>
              <a:gd name="adj" fmla="val 9361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6517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49,1</a:t>
            </a:r>
            <a:r>
              <a:rPr sz="1344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3832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FDFEFF"/>
                </a:solidFill>
                <a:latin typeface="Montserrat"/>
                <a:ea typeface="Montserrat"/>
                <a:cs typeface="Montserrat"/>
              </a:rPr>
              <a:t>Thiếu nhân sự có kỹ năng số phù hợp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4754880"/>
            <a:ext cx="2606040" cy="1600200"/>
          </a:xfrm>
          <a:prstGeom prst="roundRect">
            <a:avLst>
              <a:gd name="adj" fmla="val 12571"/>
            </a:avLst>
          </a:prstGeom>
          <a:solidFill>
            <a:srgbClr val="1B3FC4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4846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36,4</a:t>
            </a:r>
            <a:r>
              <a:rPr sz="1092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44068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FDFEFF"/>
                </a:solidFill>
                <a:latin typeface="Montserrat"/>
                <a:ea typeface="Montserrat"/>
                <a:cs typeface="Montserrat"/>
              </a:rPr>
              <a:t>Lo ngại rủi ro bảo mật dữ liệu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F8BA6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3" grpId="0" animBg="1"/>
      <p:bldP spid="9" grpId="0" animBg="1"/>
      <p:bldP spid="10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2A55E5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7A5CFF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!!num04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6" name="!!sec04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B4B7BF"/>
                </a:solidFill>
                <a:latin typeface="Montserrat SemiBold"/>
                <a:ea typeface="Montserrat SemiBold"/>
                <a:cs typeface="Montserrat SemiBold"/>
              </a:rPr>
              <a:t>KẾT QUẢ KHẢO SÁT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MỨC ĐỘ HÀI LÒNG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B9BCC3"/>
                </a:solidFill>
                <a:latin typeface="Montserrat"/>
                <a:ea typeface="Montserrat"/>
                <a:cs typeface="Montserrat"/>
              </a:rPr>
              <a:t>Đánh giá của doanh nghiệp sau 12 tháng sử dụng công cụ số</a:t>
            </a:r>
          </a:p>
        </p:txBody>
      </p:sp>
      <p:pic>
        <p:nvPicPr>
          <p:cNvPr id="10" name="Picture 9" descr="883cc4f6d6587b2d.jpg"/>
          <p:cNvPicPr>
            <a:picLocks noChangeAspect="1"/>
          </p:cNvPicPr>
          <p:nvPr/>
        </p:nvPicPr>
        <p:blipFill>
          <a:blip r:embed="rId5"/>
          <a:srcRect b="6438"/>
          <a:stretch>
            <a:fillRect/>
          </a:stretch>
        </p:blipFill>
        <p:spPr>
          <a:xfrm>
            <a:off x="594360" y="2148840"/>
            <a:ext cx="4114800" cy="2560320"/>
          </a:xfrm>
          <a:prstGeom prst="roundRect">
            <a:avLst>
              <a:gd name="adj" fmla="val 8571"/>
            </a:avLst>
          </a:prstGeom>
        </p:spPr>
      </p:pic>
      <p:sp>
        <p:nvSpPr>
          <p:cNvPr id="11" name="Rectangle 10"/>
          <p:cNvSpPr/>
          <p:nvPr/>
        </p:nvSpPr>
        <p:spPr>
          <a:xfrm>
            <a:off x="594360" y="5001768"/>
            <a:ext cx="45720" cy="566928"/>
          </a:xfrm>
          <a:prstGeom prst="rect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56048"/>
            <a:ext cx="38404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CDCFD4"/>
                </a:solidFill>
                <a:latin typeface="Montserrat"/>
                <a:ea typeface="Montserrat"/>
                <a:cs typeface="Montserrat"/>
              </a:rPr>
              <a:t>Mức hài lòng cao nhất đến từ khả năng theo dõi số liệu theo thời gian thực và giảm sai sót thủ công.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148840"/>
            <a:ext cx="3154680" cy="1874520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23317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4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86,2</a:t>
            </a:r>
            <a:r>
              <a:rPr sz="1428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pic>
        <p:nvPicPr>
          <p:cNvPr id="15" name="Picture 14" descr="chart-column_1B3F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423160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0952" y="310896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Hài lòng với tốc độ xử lý công việc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148840"/>
            <a:ext cx="3154680" cy="1874520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8512" y="23317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4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78,4</a:t>
            </a:r>
            <a:r>
              <a:rPr sz="1428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pic>
        <p:nvPicPr>
          <p:cNvPr id="19" name="Picture 18" descr="chart-column_1B3F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2423160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68512" y="310896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Hài lòng với khả năng báo cáo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4206240"/>
            <a:ext cx="3154680" cy="1874520"/>
          </a:xfrm>
          <a:prstGeom prst="roundRect">
            <a:avLst>
              <a:gd name="adj" fmla="val 117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438912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4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71,9</a:t>
            </a:r>
            <a:r>
              <a:rPr sz="1428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pic>
        <p:nvPicPr>
          <p:cNvPr id="23" name="Picture 22" descr="chart-column_1B3F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4480560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0952" y="516636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Hài lòng với chi phí đầu tư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206240"/>
            <a:ext cx="3154680" cy="1874520"/>
          </a:xfrm>
          <a:prstGeom prst="roundRect">
            <a:avLst>
              <a:gd name="adj" fmla="val 11707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438912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Cứ 10 doanh nghiệp thì có 8 doanh nghiệp sẵn sàng mở rộng ứng dụng.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828694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6" grpId="0" animBg="1"/>
      <p:bldP spid="11" grpId="0" animBg="1"/>
      <p:bldP spid="17" grpId="0" animBg="1"/>
      <p:bldP spid="18" grpId="0" animBg="1"/>
      <p:bldP spid="20" grpId="0" animBg="1"/>
      <p:bldP spid="12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228" y="-3387852"/>
            <a:ext cx="5678424" cy="5678424"/>
          </a:xfrm>
          <a:prstGeom prst="rect">
            <a:avLst/>
          </a:prstGeom>
        </p:spPr>
      </p:pic>
      <p:pic>
        <p:nvPicPr>
          <p:cNvPr id="3" name="!!blob2" descr="glow_2A55E5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6956" y="4604004"/>
            <a:ext cx="4690872" cy="4690872"/>
          </a:xfrm>
          <a:prstGeom prst="rect">
            <a:avLst/>
          </a:prstGeom>
        </p:spPr>
      </p:pic>
      <p:pic>
        <p:nvPicPr>
          <p:cNvPr id="4" name="!!blob3" descr="glow_7A5CFF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4000500"/>
            <a:ext cx="3703320" cy="3703320"/>
          </a:xfrm>
          <a:prstGeom prst="rect">
            <a:avLst/>
          </a:prstGeom>
        </p:spPr>
      </p:pic>
      <p:sp>
        <p:nvSpPr>
          <p:cNvPr id="5" name="!!num04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6" name="!!sec04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B4B7BF"/>
                </a:solidFill>
                <a:latin typeface="Montserrat SemiBold"/>
                <a:ea typeface="Montserrat SemiBold"/>
                <a:cs typeface="Montserrat SemiBold"/>
              </a:rPr>
              <a:t>KẾT QUẢ KHẢO SÁT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85800"/>
            <a:ext cx="4572000" cy="5623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14400" y="1051560"/>
            <a:ext cx="3931920" cy="0"/>
          </a:xfrm>
          <a:prstGeom prst="line">
            <a:avLst/>
          </a:prstGeom>
          <a:ln w="12700">
            <a:solidFill>
              <a:srgbClr val="0B1A48">
                <a:alpha val="50000"/>
              </a:srgb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1143000"/>
            <a:ext cx="4114800" cy="1143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64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31,8</a:t>
            </a:r>
            <a:r>
              <a:rPr sz="2688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23160"/>
            <a:ext cx="2257288" cy="310896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5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Tăng trưởng lợi nhuận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Lợi nhuận bình quân tăng rõ rệt ở nhóm doanh nghiệp số hóa đồng thời bán hàng và kế toán.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Bán hàng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16052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1B3FC4"/>
                </a:solidFill>
                <a:latin typeface="Montserrat ExtraBold"/>
                <a:ea typeface="Montserrat ExtraBold"/>
                <a:cs typeface="Montserrat ExtraBold"/>
              </a:rPr>
              <a:t>82%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71416"/>
            <a:ext cx="3931920" cy="10972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471416"/>
            <a:ext cx="3224174" cy="109728"/>
          </a:xfrm>
          <a:prstGeom prst="roundRect">
            <a:avLst>
              <a:gd name="adj" fmla="val 50000"/>
            </a:avLst>
          </a:pr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823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Kế toán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7823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1B3FC4"/>
                </a:solidFill>
                <a:latin typeface="Montserrat ExtraBold"/>
                <a:ea typeface="Montserrat ExtraBold"/>
                <a:cs typeface="Montserrat ExtraBold"/>
              </a:rPr>
              <a:t>74%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93208"/>
            <a:ext cx="3931920" cy="10972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093208"/>
            <a:ext cx="2909621" cy="109728"/>
          </a:xfrm>
          <a:prstGeom prst="roundRect">
            <a:avLst>
              <a:gd name="adj" fmla="val 50000"/>
            </a:avLst>
          </a:pr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041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Kho vận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40410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1B3FC4"/>
                </a:solidFill>
                <a:latin typeface="Montserrat ExtraBold"/>
                <a:ea typeface="Montserrat ExtraBold"/>
                <a:cs typeface="Montserrat ExtraBold"/>
              </a:rPr>
              <a:t>58%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15000"/>
            <a:ext cx="3931920" cy="10972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715000"/>
            <a:ext cx="2280514" cy="109728"/>
          </a:xfrm>
          <a:prstGeom prst="roundRect">
            <a:avLst>
              <a:gd name="adj" fmla="val 50000"/>
            </a:avLst>
          </a:prstGeom>
          <a:solidFill>
            <a:srgbClr val="1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658368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SỐ LIỆU TỔNG HỢP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298448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1C3CA"/>
                </a:solidFill>
                <a:latin typeface="Montserrat"/>
                <a:ea typeface="Montserrat"/>
                <a:cs typeface="Montserrat"/>
              </a:rPr>
              <a:t>So sánh các chỉ tiêu chính trước và sau khi triển khai (đơn vị: trung bình/doanh nghiệp).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0" y="1965960"/>
            <a:ext cx="2194560" cy="0"/>
          </a:xfrm>
          <a:prstGeom prst="line">
            <a:avLst/>
          </a:prstGeom>
          <a:ln w="15875">
            <a:solidFill>
              <a:srgbClr val="3D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669280" y="2240280"/>
          <a:ext cx="5943600" cy="402336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1280160"/>
                <a:gridCol w="1280160"/>
                <a:gridCol w="1280160"/>
              </a:tblGrid>
              <a:tr h="57476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6123A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Chỉ tiêu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3DE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6123A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Trước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3DE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6123A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Sau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3DE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6123A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Thay đổi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3DE3F0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Doanh thu (tỷ)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3,18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4,12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+29,6%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Khách hàng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3.108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4.215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+35,6%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Đơn hàng / tháng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1.240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1.705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+37,5%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Tỷ lệ chuyển đổi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3,18%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4,05%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+0,87 đ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Thời gian xử lý (giờ)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26,0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17,7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−31,8%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0C1B49"/>
                    </a:solidFill>
                  </a:tcPr>
                </a:tc>
              </a:tr>
              <a:tr h="57476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</a:rPr>
                        <a:t>Lợi nhuận (tỷ)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0,42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0,55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+31,8%</a:t>
                      </a:r>
                    </a:p>
                  </a:txBody>
                  <a:tcPr marL="91440" marR="91440" marT="27432" marB="27432" anchor="ctr">
                    <a:lnL w="9525">
                      <a:solidFill>
                        <a:srgbClr val="27407A"/>
                      </a:solidFill>
                    </a:lnL>
                    <a:lnR w="9525">
                      <a:solidFill>
                        <a:srgbClr val="27407A"/>
                      </a:solidFill>
                    </a:lnR>
                    <a:lnT w="9525">
                      <a:solidFill>
                        <a:srgbClr val="27407A"/>
                      </a:solidFill>
                    </a:lnT>
                    <a:lnB w="9525">
                      <a:solidFill>
                        <a:srgbClr val="27407A"/>
                      </a:solidFill>
                    </a:lnB>
                    <a:solidFill>
                      <a:srgbClr val="13265E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828694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799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5" grpId="0" animBg="1"/>
      <p:bldP spid="26" grpId="0" animBg="1"/>
      <p:bldP spid="10" grpId="0" animBg="1"/>
      <p:bldGraphic spid="28" grpId="0">
        <p:bldAsOne/>
      </p:bldGraphic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allery_bg.jpg"/>
          <p:cNvPicPr>
            <a:picLocks noChangeAspect="1"/>
          </p:cNvPicPr>
          <p:nvPr/>
        </p:nvPicPr>
        <p:blipFill>
          <a:blip r:embed="rId2"/>
          <a:srcRect t="85" b="8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E2A">
                  <a:alpha val="94000"/>
                </a:srgbClr>
              </a:gs>
              <a:gs pos="45000">
                <a:srgbClr val="060E2A">
                  <a:alpha val="82000"/>
                </a:srgbClr>
              </a:gs>
              <a:gs pos="100000">
                <a:srgbClr val="060E2A">
                  <a:alpha val="3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blob1" descr="glow_3DE3F0_38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5" name="!!blob2" descr="glow_2A55E5_49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6" name="!!blob3" descr="glow_7A5CFF_31_1.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7" name="!!num04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8" name="!!sec04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B4B7BF"/>
                </a:solidFill>
                <a:latin typeface="Montserrat SemiBold"/>
                <a:ea typeface="Montserrat SemiBold"/>
                <a:cs typeface="Montserrat SemiBold"/>
              </a:rPr>
              <a:t>KẾT QUẢ KHẢO SÁT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86868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HÌNH ẢNH KHẢO SÁT THỰC TẾ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CDCFD4"/>
                </a:solidFill>
                <a:latin typeface="Montserrat"/>
                <a:ea typeface="Montserrat"/>
                <a:cs typeface="Montserrat"/>
              </a:rPr>
              <a:t>Nhóm trực tiếp làm việc với doanh nghiệp, quan sát quy trình và phỏng vấn người dùng.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273552"/>
            <a:ext cx="402336" cy="40233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6" y="3364078"/>
            <a:ext cx="221285" cy="2212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" y="32918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12 buổi làm việc tại doanh nghiệp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931920"/>
            <a:ext cx="402336" cy="40233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6" y="4022446"/>
            <a:ext cx="221285" cy="2212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3000" y="395020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318 phiếu khảo sát hợp lệ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590288"/>
            <a:ext cx="402336" cy="40233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6" y="4680814"/>
            <a:ext cx="221285" cy="2212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43000" y="4608576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03 hội thảo chia sẻ kết quả</a:t>
            </a:r>
          </a:p>
        </p:txBody>
      </p:sp>
      <p:grpSp>
        <p:nvGrpSpPr>
          <p:cNvPr id="21" name="Group 20"/>
          <p:cNvGrpSpPr/>
          <p:nvPr/>
        </p:nvGrpSpPr>
        <p:grpSpPr>
          <a:xfrm rot="-420000">
            <a:off x="5989320" y="822960"/>
            <a:ext cx="2514600" cy="2788920"/>
            <a:chOff x="5989320" y="822960"/>
            <a:chExt cx="2514600" cy="2788920"/>
          </a:xfrm>
        </p:grpSpPr>
        <p:sp>
          <p:nvSpPr>
            <p:cNvPr id="22" name="Rectangle 21"/>
            <p:cNvSpPr/>
            <p:nvPr/>
          </p:nvSpPr>
          <p:spPr>
            <a:xfrm>
              <a:off x="5989320" y="822960"/>
              <a:ext cx="2514600" cy="2788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23" name="Picture 22" descr="124d86a6d3953a13.jpg"/>
            <p:cNvPicPr>
              <a:picLocks noChangeAspect="1"/>
            </p:cNvPicPr>
            <p:nvPr/>
          </p:nvPicPr>
          <p:blipFill>
            <a:blip r:embed="rId7"/>
            <a:srcRect l="10247" r="10247"/>
            <a:stretch>
              <a:fillRect/>
            </a:stretch>
          </p:blipFill>
          <p:spPr>
            <a:xfrm>
              <a:off x="6117336" y="950976"/>
              <a:ext cx="2258568" cy="2130552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6117336" y="3099816"/>
              <a:ext cx="225856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100" b="0" i="1">
                  <a:solidFill>
                    <a:srgbClr val="0B1A48"/>
                  </a:solidFill>
                  <a:latin typeface="Montserrat SemiBold"/>
                  <a:ea typeface="Montserrat SemiBold"/>
                  <a:cs typeface="Montserrat SemiBold"/>
                </a:rPr>
                <a:t>Hội thảo chia sẻ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 rot="300000">
            <a:off x="8732520" y="594360"/>
            <a:ext cx="2514600" cy="2788920"/>
            <a:chOff x="8732520" y="594360"/>
            <a:chExt cx="2514600" cy="2788920"/>
          </a:xfrm>
        </p:grpSpPr>
        <p:sp>
          <p:nvSpPr>
            <p:cNvPr id="26" name="Rectangle 25"/>
            <p:cNvSpPr/>
            <p:nvPr/>
          </p:nvSpPr>
          <p:spPr>
            <a:xfrm>
              <a:off x="8732520" y="594360"/>
              <a:ext cx="2514600" cy="2788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27" name="Picture 26" descr="216f77a3366db4d1.jpg"/>
            <p:cNvPicPr>
              <a:picLocks noChangeAspect="1"/>
            </p:cNvPicPr>
            <p:nvPr/>
          </p:nvPicPr>
          <p:blipFill>
            <a:blip r:embed="rId8"/>
            <a:srcRect l="19667" r="19667"/>
            <a:stretch>
              <a:fillRect/>
            </a:stretch>
          </p:blipFill>
          <p:spPr>
            <a:xfrm>
              <a:off x="8860536" y="722376"/>
              <a:ext cx="2258568" cy="2130552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8860536" y="2871216"/>
              <a:ext cx="225856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100" b="0" i="1">
                  <a:solidFill>
                    <a:srgbClr val="0B1A48"/>
                  </a:solidFill>
                  <a:latin typeface="Montserrat SemiBold"/>
                  <a:ea typeface="Montserrat SemiBold"/>
                  <a:cs typeface="Montserrat SemiBold"/>
                </a:rPr>
                <a:t>Đào tạo người dùng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 rot="240000">
            <a:off x="6720840" y="3520440"/>
            <a:ext cx="2514600" cy="2788920"/>
            <a:chOff x="6720840" y="3520440"/>
            <a:chExt cx="2514600" cy="2788920"/>
          </a:xfrm>
        </p:grpSpPr>
        <p:sp>
          <p:nvSpPr>
            <p:cNvPr id="30" name="Rectangle 29"/>
            <p:cNvSpPr/>
            <p:nvPr/>
          </p:nvSpPr>
          <p:spPr>
            <a:xfrm>
              <a:off x="6720840" y="3520440"/>
              <a:ext cx="2514600" cy="2788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31" name="Picture 30" descr="a5510558f0dc5589.jpg"/>
            <p:cNvPicPr>
              <a:picLocks noChangeAspect="1"/>
            </p:cNvPicPr>
            <p:nvPr/>
          </p:nvPicPr>
          <p:blipFill>
            <a:blip r:embed="rId9"/>
            <a:srcRect l="14647" r="14647"/>
            <a:stretch>
              <a:fillRect/>
            </a:stretch>
          </p:blipFill>
          <p:spPr>
            <a:xfrm>
              <a:off x="6848856" y="3648456"/>
              <a:ext cx="2258568" cy="2130552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6848856" y="5797296"/>
              <a:ext cx="225856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100" b="0" i="1">
                  <a:solidFill>
                    <a:srgbClr val="0B1A48"/>
                  </a:solidFill>
                  <a:latin typeface="Montserrat SemiBold"/>
                  <a:ea typeface="Montserrat SemiBold"/>
                  <a:cs typeface="Montserrat SemiBold"/>
                </a:rPr>
                <a:t>Báo cáo khoa học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 rot="-300000">
            <a:off x="9326880" y="3429000"/>
            <a:ext cx="2514600" cy="2788920"/>
            <a:chOff x="9326880" y="3429000"/>
            <a:chExt cx="2514600" cy="2788920"/>
          </a:xfrm>
        </p:grpSpPr>
        <p:sp>
          <p:nvSpPr>
            <p:cNvPr id="34" name="Rectangle 33"/>
            <p:cNvSpPr/>
            <p:nvPr/>
          </p:nvSpPr>
          <p:spPr>
            <a:xfrm>
              <a:off x="9326880" y="3429000"/>
              <a:ext cx="2514600" cy="27889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20040" dist="109728" dir="6000000" algn="ctr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/>
            <a:lstStyle/>
            <a:p>
              <a:pPr algn="ctr"/>
            </a:p>
          </p:txBody>
        </p:sp>
        <p:pic>
          <p:nvPicPr>
            <p:cNvPr id="35" name="Picture 34" descr="93ef8ab5b8aa1ccc.jpg"/>
            <p:cNvPicPr>
              <a:picLocks noChangeAspect="1"/>
            </p:cNvPicPr>
            <p:nvPr/>
          </p:nvPicPr>
          <p:blipFill>
            <a:blip r:embed="rId10"/>
            <a:srcRect l="17183" r="17183"/>
            <a:stretch>
              <a:fillRect/>
            </a:stretch>
          </p:blipFill>
          <p:spPr>
            <a:xfrm>
              <a:off x="9454896" y="3557016"/>
              <a:ext cx="2258568" cy="2130552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9454896" y="5705856"/>
              <a:ext cx="2258568" cy="384048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/>
              <a:r>
                <a:rPr sz="1100" b="0" i="1">
                  <a:solidFill>
                    <a:srgbClr val="0B1A48"/>
                  </a:solidFill>
                  <a:latin typeface="Montserrat SemiBold"/>
                  <a:ea typeface="Montserrat SemiBold"/>
                  <a:cs typeface="Montserrat SemiBold"/>
                </a:rPr>
                <a:t>Nhập liệu khảo sát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2A55E5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7A5CFF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B9FAA"/>
                </a:solidFill>
                <a:latin typeface="Montserrat SemiBold"/>
                <a:ea typeface="Montserrat SemiBold"/>
                <a:cs typeface="Montserrat SemiBold"/>
              </a:rPr>
              <a:t>PHẦN 05 / 07</a:t>
            </a:r>
          </a:p>
        </p:txBody>
      </p:sp>
      <p:sp>
        <p:nvSpPr>
          <p:cNvPr id="6" name="!!sec05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PHÂN TÍCH SWOT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4B7BF"/>
                </a:solidFill>
                <a:latin typeface="Montserrat Medium"/>
                <a:ea typeface="Montserrat Medium"/>
                <a:cs typeface="Montserrat Medium"/>
              </a:rPr>
              <a:t>Điểm mạnh, điểm yếu, cơ hội và thách thức khi triển khai chuyển đổi số.</a:t>
            </a:r>
          </a:p>
        </p:txBody>
      </p:sp>
      <p:sp>
        <p:nvSpPr>
          <p:cNvPr id="10" name="!!num04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04</a:t>
            </a:r>
          </a:p>
        </p:txBody>
      </p:sp>
      <p:sp>
        <p:nvSpPr>
          <p:cNvPr id="11" name="!!num05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12" name="!!num06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3291840"/>
            <a:ext cx="4937760" cy="4937760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572" y="4658868"/>
            <a:ext cx="5678424" cy="5678424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361688"/>
            <a:ext cx="4443984" cy="4443984"/>
          </a:xfrm>
          <a:prstGeom prst="rect">
            <a:avLst/>
          </a:prstGeom>
        </p:spPr>
      </p:pic>
      <p:sp>
        <p:nvSpPr>
          <p:cNvPr id="5" name="!!num05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6" name="!!sec05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PHÂN TÍCH SWOT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4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PHÂN TÍCH SWOT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09360" y="731520"/>
            <a:ext cx="0" cy="685800"/>
          </a:xfrm>
          <a:prstGeom prst="line">
            <a:avLst/>
          </a:prstGeom>
          <a:ln w="15875">
            <a:solidFill>
              <a:srgbClr val="0B1A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92240" y="65836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Đánh giá toàn diện các yếu tố bên trong và bên ngoài ảnh hưởng đến quá trình chuyển đổi số của doanh nghiệp.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28800"/>
            <a:ext cx="11002975" cy="4526280"/>
          </a:xfrm>
          <a:prstGeom prst="roundRect">
            <a:avLst>
              <a:gd name="adj" fmla="val 6464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251460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0" b="0" i="0">
                <a:solidFill>
                  <a:srgbClr val="2E3B62"/>
                </a:solidFill>
                <a:latin typeface="Montserrat ExtraBold"/>
                <a:ea typeface="Montserrat ExtraBold"/>
                <a:cs typeface="Montserrat ExtraBold"/>
              </a:rPr>
              <a:t>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834640"/>
            <a:ext cx="2514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017520"/>
            <a:ext cx="1159459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ĐIỂM MẠNH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93008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1A4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1A48"/>
                </a:solidFill>
                <a:latin typeface="Montserrat"/>
                <a:ea typeface="Montserrat"/>
                <a:cs typeface="Montserrat"/>
              </a:rPr>
              <a:t>Bộ máy gọn nhẹ, ra quyết định nhanh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1A4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1A48"/>
                </a:solidFill>
                <a:latin typeface="Montserrat"/>
                <a:ea typeface="Montserrat"/>
                <a:cs typeface="Montserrat"/>
              </a:rPr>
              <a:t>Đội ngũ trẻ, dễ tiếp nhận công nghệ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1A4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1A48"/>
                </a:solidFill>
                <a:latin typeface="Montserrat"/>
                <a:ea typeface="Montserrat"/>
                <a:cs typeface="Montserrat"/>
              </a:rPr>
              <a:t>Gần khách hàng, linh hoạt thay đổi</a:t>
            </a:r>
          </a:p>
        </p:txBody>
      </p:sp>
      <p:pic>
        <p:nvPicPr>
          <p:cNvPr id="16" name="Picture 15" descr="rocket_0B1A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5577840"/>
            <a:ext cx="347472" cy="3474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47872" y="1737360"/>
            <a:ext cx="251460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0" b="0" i="0">
                <a:solidFill>
                  <a:srgbClr val="2E3B62"/>
                </a:solidFill>
                <a:latin typeface="Montserrat ExtraBold"/>
                <a:ea typeface="Montserrat ExtraBold"/>
                <a:cs typeface="Montserrat ExtraBold"/>
              </a:rPr>
              <a:t>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2834640"/>
            <a:ext cx="2514600" cy="3246120"/>
          </a:xfrm>
          <a:prstGeom prst="roundRect">
            <a:avLst>
              <a:gd name="adj" fmla="val 8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30752" y="3017520"/>
            <a:ext cx="1075334" cy="292608"/>
          </a:xfrm>
          <a:prstGeom prst="roundRect">
            <a:avLst>
              <a:gd name="adj" fmla="val 50000"/>
            </a:avLst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ĐIỂM YẾU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3493008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6123A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6123A"/>
                </a:solidFill>
                <a:latin typeface="Montserrat"/>
                <a:ea typeface="Montserrat"/>
                <a:cs typeface="Montserrat"/>
              </a:rPr>
              <a:t>Nguồn vốn đầu tư hạn chế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6123A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6123A"/>
                </a:solidFill>
                <a:latin typeface="Montserrat"/>
                <a:ea typeface="Montserrat"/>
                <a:cs typeface="Montserrat"/>
              </a:rPr>
              <a:t>Dữ liệu phân tán, thiếu chuẩn hóa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6123A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6123A"/>
                </a:solidFill>
                <a:latin typeface="Montserrat"/>
                <a:ea typeface="Montserrat"/>
                <a:cs typeface="Montserrat"/>
              </a:rPr>
              <a:t>Thiếu nhân sự chuyên trách công nghệ</a:t>
            </a:r>
          </a:p>
        </p:txBody>
      </p:sp>
      <p:pic>
        <p:nvPicPr>
          <p:cNvPr id="21" name="Picture 20" descr="circle-help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552" y="5577840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27064" y="1737360"/>
            <a:ext cx="251460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0" b="0" i="0">
                <a:solidFill>
                  <a:srgbClr val="2E3B62"/>
                </a:solidFill>
                <a:latin typeface="Montserrat ExtraBold"/>
                <a:ea typeface="Montserrat ExtraBold"/>
                <a:cs typeface="Montserrat ExtraBold"/>
              </a:rPr>
              <a:t>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2834640"/>
            <a:ext cx="2514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9944" y="3017520"/>
            <a:ext cx="907085" cy="292608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CƠ HỘI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493008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1A4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1A48"/>
                </a:solidFill>
                <a:latin typeface="Montserrat"/>
                <a:ea typeface="Montserrat"/>
                <a:cs typeface="Montserrat"/>
              </a:rPr>
              <a:t>Chính sách hỗ trợ của Nhà nước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1A4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1A48"/>
                </a:solidFill>
                <a:latin typeface="Montserrat"/>
                <a:ea typeface="Montserrat"/>
                <a:cs typeface="Montserrat"/>
              </a:rPr>
              <a:t>Phần mềm đám mây ngày càng rẻ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B1A48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B1A48"/>
                </a:solidFill>
                <a:latin typeface="Montserrat"/>
                <a:ea typeface="Montserrat"/>
                <a:cs typeface="Montserrat"/>
              </a:rPr>
              <a:t>Thương mại điện tử tăng trưởng mạnh</a:t>
            </a:r>
          </a:p>
        </p:txBody>
      </p:sp>
      <p:pic>
        <p:nvPicPr>
          <p:cNvPr id="26" name="Picture 25" descr="target_0B1A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5577840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06256" y="1737360"/>
            <a:ext cx="251460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0" b="0" i="0">
                <a:solidFill>
                  <a:srgbClr val="2E3B62"/>
                </a:solidFill>
                <a:latin typeface="Montserrat ExtraBold"/>
                <a:ea typeface="Montserrat ExtraBold"/>
                <a:cs typeface="Montserrat ExtraBold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06256" y="2834640"/>
            <a:ext cx="2514600" cy="3246120"/>
          </a:xfrm>
          <a:prstGeom prst="roundRect">
            <a:avLst>
              <a:gd name="adj" fmla="val 8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89136" y="3017520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THÁCH THỨC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3493008"/>
            <a:ext cx="219456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6123A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6123A"/>
                </a:solidFill>
                <a:latin typeface="Montserrat"/>
                <a:ea typeface="Montserrat"/>
                <a:cs typeface="Montserrat"/>
              </a:rPr>
              <a:t>Rủi ro an ninh mạng, lộ dữ liệu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6123A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6123A"/>
                </a:solidFill>
                <a:latin typeface="Montserrat"/>
                <a:ea typeface="Montserrat"/>
                <a:cs typeface="Montserrat"/>
              </a:rPr>
              <a:t>Cạnh tranh từ doanh nghiệp lớn</a:t>
            </a:r>
          </a:p>
          <a:p>
            <a:pPr algn="l" marL="201168" indent="-201168">
              <a:lnSpc>
                <a:spcPct val="112000"/>
              </a:lnSpc>
              <a:spcAft>
                <a:spcPts val="500"/>
              </a:spcAft>
              <a:buClr>
                <a:srgbClr val="06123A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06123A"/>
                </a:solidFill>
                <a:latin typeface="Montserrat"/>
                <a:ea typeface="Montserrat"/>
                <a:cs typeface="Montserrat"/>
              </a:rPr>
              <a:t>Thay đổi thói quen làm việc cũ</a:t>
            </a:r>
          </a:p>
        </p:txBody>
      </p:sp>
      <p:pic>
        <p:nvPicPr>
          <p:cNvPr id="31" name="Picture 30" descr="shield-check_0612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7936" y="5577840"/>
            <a:ext cx="347472" cy="347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7" grpId="0" animBg="1"/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980" y="-2171700"/>
            <a:ext cx="6172200" cy="6172200"/>
          </a:xfrm>
          <a:prstGeom prst="rect">
            <a:avLst/>
          </a:prstGeom>
        </p:spPr>
      </p:pic>
      <p:pic>
        <p:nvPicPr>
          <p:cNvPr id="3" name="!!blob2" descr="glow_2A55E5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4308" y="4119372"/>
            <a:ext cx="4197096" cy="4197096"/>
          </a:xfrm>
          <a:prstGeom prst="rect">
            <a:avLst/>
          </a:prstGeom>
        </p:spPr>
      </p:pic>
      <p:pic>
        <p:nvPicPr>
          <p:cNvPr id="4" name="!!blob3" descr="glow_7A5CFF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5705856"/>
            <a:ext cx="3950208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B9FAA"/>
                </a:solidFill>
                <a:latin typeface="Montserrat SemiBold"/>
                <a:ea typeface="Montserrat SemiBold"/>
                <a:cs typeface="Montserrat SemiBold"/>
              </a:rPr>
              <a:t>PHẦN 06 / 07</a:t>
            </a:r>
          </a:p>
        </p:txBody>
      </p:sp>
      <p:sp>
        <p:nvSpPr>
          <p:cNvPr id="6" name="!!sec06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DASHBOARD TỔNG HỢP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4B7BF"/>
                </a:solidFill>
                <a:latin typeface="Montserrat Medium"/>
                <a:ea typeface="Montserrat Medium"/>
                <a:cs typeface="Montserrat Medium"/>
              </a:rPr>
              <a:t>Toàn cảnh các chỉ số vận hành trên một màn hình duy nhất.</a:t>
            </a:r>
          </a:p>
        </p:txBody>
      </p:sp>
      <p:sp>
        <p:nvSpPr>
          <p:cNvPr id="10" name="!!num05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05</a:t>
            </a:r>
          </a:p>
        </p:txBody>
      </p:sp>
      <p:sp>
        <p:nvSpPr>
          <p:cNvPr id="11" name="!!num06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12" name="!!num07"/>
          <p:cNvSpPr txBox="1"/>
          <p:nvPr/>
        </p:nvSpPr>
        <p:spPr>
          <a:xfrm>
            <a:off x="6583680" y="521208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!!num06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6" name="!!sec06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DASHBOARD TỔNG HỢP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TỔNG QUAN</a:t>
            </a:r>
          </a:p>
          <a:p>
            <a:pPr algn="l">
              <a:lnSpc>
                <a:spcPct val="95000"/>
              </a:lnSpc>
            </a:pPr>
            <a:r>
              <a:rPr sz="3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Theo dõi đồng thời doanh thu, chi phí và số đơn hàng để ra quyết định nhanh.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548640"/>
            <a:ext cx="7178040" cy="2514600"/>
          </a:xfrm>
          <a:prstGeom prst="roundRect">
            <a:avLst>
              <a:gd name="adj" fmla="val 8727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685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Doanh thu theo kênh (tỷ đồng)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72000" y="960120"/>
          <a:ext cx="6903720" cy="2057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94360" y="2743200"/>
            <a:ext cx="3657600" cy="3566160"/>
          </a:xfrm>
          <a:prstGeom prst="roundRect">
            <a:avLst>
              <a:gd name="adj" fmla="val 6153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07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Chi phí vận hành (triệu)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04088" y="3200400"/>
          <a:ext cx="3474720" cy="301752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434840" y="3246120"/>
            <a:ext cx="3429000" cy="3063240"/>
          </a:xfrm>
          <a:prstGeom prst="roundRect">
            <a:avLst>
              <a:gd name="adj" fmla="val 7164"/>
            </a:avLst>
          </a:prstGeom>
          <a:solidFill>
            <a:srgbClr val="1B3FC4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401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Đơn hàng theo tháng (nghìn)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26280" y="3657600"/>
          <a:ext cx="3246120" cy="26060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046720" y="3246120"/>
            <a:ext cx="3566160" cy="1463040"/>
          </a:xfrm>
          <a:prstGeom prst="roundRect">
            <a:avLst>
              <a:gd name="adj" fmla="val 15000"/>
            </a:avLst>
          </a:prstGeom>
          <a:solidFill>
            <a:srgbClr val="3DE3F0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41071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Tổng doanh thu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57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318,004</a:t>
            </a:r>
            <a:r>
              <a:rPr sz="11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 triệu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27024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6123A"/>
                </a:solidFill>
                <a:latin typeface="Montserrat Medium"/>
                <a:ea typeface="Montserrat Medium"/>
                <a:cs typeface="Montserrat Medium"/>
              </a:rPr>
              <a:t>▲ </a:t>
            </a:r>
            <a:r>
              <a:rPr sz="900" b="0" i="0">
                <a:solidFill>
                  <a:srgbClr val="06123A"/>
                </a:solidFill>
                <a:latin typeface="Montserrat Medium"/>
                <a:ea typeface="Montserrat Medium"/>
                <a:cs typeface="Montserrat Medium"/>
              </a:rPr>
              <a:t>31,8% so với 30 ngày trước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846320"/>
            <a:ext cx="3566160" cy="1463040"/>
          </a:xfrm>
          <a:prstGeom prst="roundRect">
            <a:avLst>
              <a:gd name="adj" fmla="val 15000"/>
            </a:avLst>
          </a:prstGeom>
          <a:solidFill>
            <a:srgbClr val="3DE3F0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501091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Tổng sản phẩm bán 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257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31,804</a:t>
            </a:r>
            <a:r>
              <a:rPr sz="11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 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87044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06123A"/>
                </a:solidFill>
                <a:latin typeface="Montserrat Medium"/>
                <a:ea typeface="Montserrat Medium"/>
                <a:cs typeface="Montserrat Medium"/>
              </a:rPr>
              <a:t>▲ </a:t>
            </a:r>
            <a:r>
              <a:rPr sz="900" b="0" i="0">
                <a:solidFill>
                  <a:srgbClr val="06123A"/>
                </a:solidFill>
                <a:latin typeface="Montserrat Medium"/>
                <a:ea typeface="Montserrat Medium"/>
                <a:cs typeface="Montserrat Medium"/>
              </a:rPr>
              <a:t>12,4% so với 30 ngày trước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 i="1">
                <a:solidFill>
                  <a:srgbClr val="7F8BA6"/>
                </a:solidFill>
                <a:latin typeface="Montserrat"/>
                <a:ea typeface="Montserrat"/>
                <a:cs typeface="Montserrat"/>
              </a:rPr>
              <a:t>Số liệu minh họa — thay bằng dữ liệu của bạn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Graphic spid="12" grpId="0">
        <p:bldAsOne/>
      </p:bldGraphic>
      <p:bldP spid="16" grpId="0" animBg="1"/>
      <p:bldP spid="17" grpId="0" animBg="1"/>
      <p:bldGraphic spid="15" grpId="0">
        <p:bldAsOne/>
      </p:bldGraphic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Graphic spid="18" grpId="0">
        <p:bldAsOne/>
      </p:bldGraphic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55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3291840"/>
            <a:ext cx="4937760" cy="4937760"/>
          </a:xfrm>
          <a:prstGeom prst="rect">
            <a:avLst/>
          </a:prstGeom>
        </p:spPr>
      </p:pic>
      <p:pic>
        <p:nvPicPr>
          <p:cNvPr id="3" name="!!blob2" descr="glow_2A55E5_7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90572" y="4658868"/>
            <a:ext cx="5678424" cy="5678424"/>
          </a:xfrm>
          <a:prstGeom prst="rect">
            <a:avLst/>
          </a:prstGeom>
        </p:spPr>
      </p:pic>
      <p:pic>
        <p:nvPicPr>
          <p:cNvPr id="4" name="!!blob3" descr="glow_7A5CFF_4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4361688"/>
            <a:ext cx="4443984" cy="4443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i="0" spc="200">
                <a:solidFill>
                  <a:srgbClr val="9B9FAA"/>
                </a:solidFill>
                <a:latin typeface="Montserrat SemiBold"/>
                <a:ea typeface="Montserrat SemiBold"/>
                <a:cs typeface="Montserrat SemiBold"/>
              </a:rPr>
              <a:t>PHẦN 07 / 07</a:t>
            </a:r>
          </a:p>
        </p:txBody>
      </p:sp>
      <p:sp>
        <p:nvSpPr>
          <p:cNvPr id="6" name="!!sec07"/>
          <p:cNvSpPr txBox="1"/>
          <p:nvPr/>
        </p:nvSpPr>
        <p:spPr>
          <a:xfrm>
            <a:off x="777240" y="2560320"/>
            <a:ext cx="6675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38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KẾT LUẬN &amp; ĐỀ XUẤT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886200"/>
            <a:ext cx="3886200" cy="0"/>
          </a:xfrm>
          <a:prstGeom prst="line">
            <a:avLst/>
          </a:prstGeom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622292" y="3845052"/>
            <a:ext cx="82296" cy="82296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4B7BF"/>
                </a:solidFill>
                <a:latin typeface="Montserrat Medium"/>
                <a:ea typeface="Montserrat Medium"/>
                <a:cs typeface="Montserrat Medium"/>
              </a:rPr>
              <a:t>Tóm tắt kết quả nghiên cứu và các kiến nghị cho doanh nghiệp.</a:t>
            </a:r>
          </a:p>
        </p:txBody>
      </p:sp>
      <p:sp>
        <p:nvSpPr>
          <p:cNvPr id="10" name="!!num06"/>
          <p:cNvSpPr txBox="1"/>
          <p:nvPr/>
        </p:nvSpPr>
        <p:spPr>
          <a:xfrm>
            <a:off x="6583680" y="-137160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1C243D"/>
                </a:solidFill>
                <a:latin typeface="Montserrat ExtraBold"/>
                <a:ea typeface="Montserrat ExtraBold"/>
                <a:cs typeface="Montserrat ExtraBold"/>
              </a:rPr>
              <a:t>06</a:t>
            </a:r>
          </a:p>
        </p:txBody>
      </p:sp>
      <p:sp>
        <p:nvSpPr>
          <p:cNvPr id="11" name="!!num07"/>
          <p:cNvSpPr txBox="1"/>
          <p:nvPr/>
        </p:nvSpPr>
        <p:spPr>
          <a:xfrm>
            <a:off x="6583680" y="1920240"/>
            <a:ext cx="5212080" cy="3017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30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96" y="-2409444"/>
            <a:ext cx="5184648" cy="5184648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09444" y="4631436"/>
            <a:ext cx="5184648" cy="5184648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4" y="2660904"/>
            <a:ext cx="3456432" cy="3456432"/>
          </a:xfrm>
          <a:prstGeom prst="rect">
            <a:avLst/>
          </a:prstGeom>
        </p:spPr>
      </p:pic>
      <p:sp>
        <p:nvSpPr>
          <p:cNvPr id="5" name="!!num07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6" name="!!sec07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0B1A48"/>
                </a:solidFill>
                <a:latin typeface="Montserrat SemiBold"/>
                <a:ea typeface="Montserrat SemiBold"/>
                <a:cs typeface="Montserrat SemiBold"/>
              </a:rPr>
              <a:t>KẾT LUẬN &amp; ĐỀ XUẤT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7F8BA6"/>
                </a:solidFill>
                <a:latin typeface="Montserrat SemiBold"/>
                <a:ea typeface="Montserrat SemiBold"/>
                <a:cs typeface="Montserrat SemiBol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85800"/>
            <a:ext cx="1100297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34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KẾT LUẬN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371600"/>
            <a:ext cx="889711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Chuyển đổi số là hành trình dài hạn; doanh nghiệp SME nên bắt đầu nhỏ, đo lường rõ ràng và mở rộng từng bước.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2240280"/>
            <a:ext cx="4507992" cy="0"/>
          </a:xfrm>
          <a:prstGeom prst="line">
            <a:avLst/>
          </a:prstGeom>
          <a:ln w="12700">
            <a:solidFill>
              <a:srgbClr val="0B1A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94760" y="2194560"/>
            <a:ext cx="91440" cy="91440"/>
          </a:xfrm>
          <a:prstGeom prst="ellipse">
            <a:avLst/>
          </a:prstGeom>
          <a:solidFill>
            <a:srgbClr val="0B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2194560"/>
            <a:ext cx="91440" cy="91440"/>
          </a:xfrm>
          <a:prstGeom prst="ellipse">
            <a:avLst/>
          </a:prstGeom>
          <a:solidFill>
            <a:srgbClr val="0B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697480"/>
            <a:ext cx="1783080" cy="475488"/>
          </a:xfrm>
          <a:prstGeom prst="roundRect">
            <a:avLst>
              <a:gd name="adj" fmla="val 26923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ctr"/>
            <a:r>
              <a:rPr sz="10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KẾT LUẬN 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71800"/>
            <a:ext cx="3538728" cy="3291840"/>
          </a:xfrm>
          <a:prstGeom prst="roundRect">
            <a:avLst>
              <a:gd name="adj" fmla="val 6666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" y="3310128"/>
            <a:ext cx="603504" cy="60350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arget_061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" y="3461004"/>
            <a:ext cx="3017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40690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7E8ED"/>
                </a:solidFill>
                <a:latin typeface="Montserrat"/>
                <a:ea typeface="Montserrat"/>
                <a:cs typeface="Montserrat"/>
              </a:rPr>
              <a:t>Mức độ ứng dụng công cụ số tăng nhanh nhưng chưa đồng đều giữa các lĩnh vực và quy mô doanh nghiệp.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5257800"/>
            <a:ext cx="2990088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5349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68,5%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3492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CED1DB"/>
                </a:solidFill>
                <a:latin typeface="Montserrat"/>
                <a:ea typeface="Montserrat"/>
                <a:cs typeface="Montserrat"/>
              </a:rPr>
              <a:t>DN đã dùng phần mềm quản trị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2697480"/>
            <a:ext cx="1783080" cy="475488"/>
          </a:xfrm>
          <a:prstGeom prst="roundRect">
            <a:avLst>
              <a:gd name="adj" fmla="val 26923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ctr"/>
            <a:r>
              <a:rPr sz="10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KẾT LUẬN 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2971800"/>
            <a:ext cx="3538728" cy="3291840"/>
          </a:xfrm>
          <a:prstGeom prst="roundRect">
            <a:avLst>
              <a:gd name="adj" fmla="val 6666"/>
            </a:avLst>
          </a:prstGeom>
          <a:solidFill>
            <a:srgbClr val="1B3FC4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90288" y="3310128"/>
            <a:ext cx="603504" cy="60350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ayers_061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164" y="3461004"/>
            <a:ext cx="301752" cy="3017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99432" y="40690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8ECF9"/>
                </a:solidFill>
                <a:latin typeface="Montserrat"/>
                <a:ea typeface="Montserrat"/>
                <a:cs typeface="Montserrat"/>
              </a:rPr>
              <a:t>Hiệu quả rõ rệt nhất đến từ số hóa bán hàng và kế toán, giúp rút ngắn thời gian xử lý và tăng lợi nhuận.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99432" y="5257800"/>
            <a:ext cx="2990088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99432" y="5349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−31,8%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53492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D1D9F3"/>
                </a:solidFill>
                <a:latin typeface="Montserrat"/>
                <a:ea typeface="Montserrat"/>
                <a:cs typeface="Montserrat"/>
              </a:rPr>
              <a:t>Thời gian xử lý đơn hàng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5864" y="2697480"/>
            <a:ext cx="1783080" cy="475488"/>
          </a:xfrm>
          <a:prstGeom prst="roundRect">
            <a:avLst>
              <a:gd name="adj" fmla="val 26923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lIns="109728" rIns="109728" tIns="73152" bIns="73152" wrap="square"/>
          <a:lstStyle/>
          <a:p>
            <a:pPr algn="ctr"/>
            <a:r>
              <a:rPr sz="1000" b="0" i="0">
                <a:solidFill>
                  <a:srgbClr val="06123A"/>
                </a:solidFill>
                <a:latin typeface="Montserrat ExtraBold"/>
                <a:ea typeface="Montserrat ExtraBold"/>
                <a:cs typeface="Montserrat ExtraBold"/>
              </a:rPr>
              <a:t>KẾT LUẬN 03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5864" y="2971800"/>
            <a:ext cx="3538728" cy="3291840"/>
          </a:xfrm>
          <a:prstGeom prst="roundRect">
            <a:avLst>
              <a:gd name="adj" fmla="val 6666"/>
            </a:avLst>
          </a:prstGeom>
          <a:solidFill>
            <a:srgbClr val="0C1B49"/>
          </a:solidFill>
          <a:ln>
            <a:noFill/>
          </a:ln>
          <a:effectLst>
            <a:outerShdw blurRad="320040" dist="109728" dir="5400000" algn="ctr" rotWithShape="0">
              <a:srgbClr val="0B1A48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0" y="3310128"/>
            <a:ext cx="603504" cy="603504"/>
          </a:xfrm>
          <a:prstGeom prst="ellipse">
            <a:avLst/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ocket_0612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1916" y="3461004"/>
            <a:ext cx="301752" cy="3017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330184" y="40690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7E8ED"/>
                </a:solidFill>
                <a:latin typeface="Montserrat"/>
                <a:ea typeface="Montserrat"/>
                <a:cs typeface="Montserrat"/>
              </a:rPr>
              <a:t>Rào cản chính là chi phí và kỹ năng; cần lộ trình theo giai đoạn cùng chương trình đào tạo phù hợp.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30184" y="5257800"/>
            <a:ext cx="2990088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30184" y="5349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57,2%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38944" y="53492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CED1DB"/>
                </a:solidFill>
                <a:latin typeface="Montserrat"/>
                <a:ea typeface="Montserrat"/>
                <a:cs typeface="Montserrat"/>
              </a:rPr>
              <a:t>Xem chi phí là rào cản lớn nhất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4" grpId="0" animBg="1"/>
      <p:bldP spid="15" grpId="0" animBg="1"/>
      <p:bldP spid="17" grpId="0" animBg="1"/>
      <p:bldP spid="19" grpId="0" animBg="1"/>
      <p:bldP spid="20" grpId="0" animBg="1"/>
      <p:bldP spid="11" grpId="0" animBg="1"/>
      <p:bldP spid="21" grpId="0" animBg="1"/>
      <p:bldP spid="22" grpId="0" animBg="1"/>
      <p:bldP spid="23" grpId="0" animBg="1"/>
      <p:bldP spid="25" grpId="0" animBg="1"/>
      <p:bldP spid="27" grpId="0" animBg="1"/>
      <p:bldP spid="28" grpId="0" animBg="1"/>
      <p:bldP spid="12" grpId="0" animBg="1"/>
      <p:bldP spid="29" grpId="0" animBg="1"/>
      <p:bldP spid="30" grpId="0" animBg="1"/>
      <p:bldP spid="31" grpId="0" animBg="1"/>
      <p:bldP spid="33" grpId="0" animBg="1"/>
      <p:bldP spid="35" grpId="0" animBg="1"/>
      <p:bldP spid="36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hero" descr="proposal_bg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0E2A">
                  <a:alpha val="92000"/>
                </a:srgbClr>
              </a:gs>
              <a:gs pos="50000">
                <a:srgbClr val="060E2A">
                  <a:alpha val="70000"/>
                </a:srgbClr>
              </a:gs>
              <a:gs pos="100000">
                <a:srgbClr val="060E2A">
                  <a:alpha val="3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4" name="!!blob1" descr="glow_3DE3F0_33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0" y="-2171700"/>
            <a:ext cx="6172200" cy="6172200"/>
          </a:xfrm>
          <a:prstGeom prst="rect">
            <a:avLst/>
          </a:prstGeom>
        </p:spPr>
      </p:pic>
      <p:pic>
        <p:nvPicPr>
          <p:cNvPr id="5" name="!!blob2" descr="glow_2A55E5_42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64308" y="4119372"/>
            <a:ext cx="4197096" cy="4197096"/>
          </a:xfrm>
          <a:prstGeom prst="rect">
            <a:avLst/>
          </a:prstGeom>
        </p:spPr>
      </p:pic>
      <p:pic>
        <p:nvPicPr>
          <p:cNvPr id="6" name="!!blob3" descr="glow_7A5CFF_27_1.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5705856"/>
            <a:ext cx="3950208" cy="3950208"/>
          </a:xfrm>
          <a:prstGeom prst="rect">
            <a:avLst/>
          </a:prstGeom>
        </p:spPr>
      </p:pic>
      <p:sp>
        <p:nvSpPr>
          <p:cNvPr id="7" name="!!num07"/>
          <p:cNvSpPr txBox="1"/>
          <p:nvPr/>
        </p:nvSpPr>
        <p:spPr>
          <a:xfrm>
            <a:off x="594360" y="3108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07</a:t>
            </a:r>
          </a:p>
        </p:txBody>
      </p:sp>
      <p:sp>
        <p:nvSpPr>
          <p:cNvPr id="8" name="!!sec07"/>
          <p:cNvSpPr txBox="1"/>
          <p:nvPr/>
        </p:nvSpPr>
        <p:spPr>
          <a:xfrm>
            <a:off x="978408" y="310896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 spc="100">
                <a:solidFill>
                  <a:srgbClr val="B4B7BF"/>
                </a:solidFill>
                <a:latin typeface="Montserrat SemiBold"/>
                <a:ea typeface="Montserrat SemiBold"/>
                <a:cs typeface="Montserrat SemiBold"/>
              </a:rPr>
              <a:t>KẾT LUẬN &amp; ĐỀ XUẤT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47395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 i="0">
                <a:solidFill>
                  <a:srgbClr val="8F939F"/>
                </a:solidFill>
                <a:latin typeface="Montserrat SemiBold"/>
                <a:ea typeface="Montserrat SemiBold"/>
                <a:cs typeface="Montserrat SemiBold"/>
              </a:rPr>
              <a:t>32</a:t>
            </a:r>
          </a:p>
        </p:txBody>
      </p:sp>
      <p:pic>
        <p:nvPicPr>
          <p:cNvPr id="10" name="Picture 9" descr="quote_3DE3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234440"/>
            <a:ext cx="6400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2011680"/>
            <a:ext cx="557784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“Không cần số hóa tất cả cùng lúc – hãy số hóa đúng chỗ tạo ra giá trị trước.”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315968"/>
            <a:ext cx="548640" cy="0"/>
          </a:xfrm>
          <a:prstGeom prst="line">
            <a:avLst/>
          </a:prstGeom>
          <a:ln w="25400">
            <a:solidFill>
              <a:srgbClr val="3D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25880" y="417880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 i="0">
                <a:solidFill>
                  <a:srgbClr val="3DE3F0"/>
                </a:solidFill>
                <a:latin typeface="Montserrat Medium"/>
                <a:ea typeface="Montserrat Medium"/>
                <a:cs typeface="Montserrat Medium"/>
              </a:rPr>
              <a:t>Thông điệp chính của nhóm nghiên cứu</a:t>
            </a:r>
          </a:p>
        </p:txBody>
      </p:sp>
      <p:pic>
        <p:nvPicPr>
          <p:cNvPr id="14" name="Picture 13" descr="proposal_blur.jpg"/>
          <p:cNvPicPr>
            <a:picLocks noChangeAspect="1"/>
          </p:cNvPicPr>
          <p:nvPr/>
        </p:nvPicPr>
        <p:blipFill>
          <a:blip r:embed="rId7"/>
          <a:srcRect l="55126" r="5123" t="12667" b="10667"/>
          <a:stretch>
            <a:fillRect/>
          </a:stretch>
        </p:blipFill>
        <p:spPr>
          <a:xfrm>
            <a:off x="6720840" y="868680"/>
            <a:ext cx="4846320" cy="5257800"/>
          </a:xfrm>
          <a:prstGeom prst="roundRect">
            <a:avLst>
              <a:gd name="adj" fmla="val 5660"/>
            </a:avLst>
          </a:prstGeom>
        </p:spPr>
      </p:pic>
      <p:sp>
        <p:nvSpPr>
          <p:cNvPr id="15" name="Rounded Rectangle 14"/>
          <p:cNvSpPr/>
          <p:nvPr/>
        </p:nvSpPr>
        <p:spPr>
          <a:xfrm>
            <a:off x="6720840" y="868680"/>
            <a:ext cx="4846320" cy="5257800"/>
          </a:xfrm>
          <a:prstGeom prst="roundRect">
            <a:avLst>
              <a:gd name="adj" fmla="val 5660"/>
            </a:avLst>
          </a:prstGeom>
          <a:solidFill>
            <a:srgbClr val="060E2A">
              <a:alpha val="30000"/>
            </a:srgbClr>
          </a:solidFill>
          <a:ln w="15875">
            <a:solidFill>
              <a:srgbClr val="FFFFFF">
                <a:alpha val="45000"/>
              </a:srgbClr>
            </a:solidFill>
          </a:ln>
          <a:effectLst>
            <a:outerShdw blurRad="457200" dist="13716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11887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KIẾN NGHỊ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288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84708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Với doanh nghiệp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176272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D2D4D9"/>
                </a:solidFill>
                <a:latin typeface="Montserrat"/>
                <a:ea typeface="Montserrat"/>
                <a:cs typeface="Montserrat"/>
              </a:rPr>
              <a:t>Bắt đầu từ bán hàng và kế toán, đặt KPI đo lường sau mỗi 3 tháng.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2004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21868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Với cơ quan quản lý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547872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D2D4D9"/>
                </a:solidFill>
                <a:latin typeface="Montserrat"/>
                <a:ea typeface="Montserrat"/>
                <a:cs typeface="Montserrat"/>
              </a:rPr>
              <a:t>Mở rộng gói hỗ trợ chi phí phần mềm và tư vấn cho doanh nghiệp nhỏ.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5720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3DE3F0"/>
                </a:solidFill>
                <a:latin typeface="Montserrat ExtraBold"/>
                <a:ea typeface="Montserrat ExtraBold"/>
                <a:cs typeface="Montserrat ExtraBol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590288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</a:rPr>
              <a:t>Với cơ sở đào tạo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919472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D2D4D9"/>
                </a:solidFill>
                <a:latin typeface="Montserrat"/>
                <a:ea typeface="Montserrat"/>
                <a:cs typeface="Montserrat"/>
              </a:rPr>
              <a:t>Tăng thời lượng kỹ năng số và phân tích dữ liệu trong chương trình học.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3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-3877056"/>
            <a:ext cx="5925312" cy="5925312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8156" y="5335524"/>
            <a:ext cx="4690872" cy="4690872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56" y="3145536"/>
            <a:ext cx="3950208" cy="395020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05840" y="1508760"/>
            <a:ext cx="3657600" cy="3657600"/>
          </a:xfrm>
          <a:prstGeom prst="ellipse">
            <a:avLst/>
          </a:prstGeom>
          <a:noFill/>
          <a:ln w="15875">
            <a:solidFill>
              <a:srgbClr val="3DE3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!!hero" descr="proposal_bg.jpg"/>
          <p:cNvPicPr>
            <a:picLocks noChangeAspect="1"/>
          </p:cNvPicPr>
          <p:nvPr/>
        </p:nvPicPr>
        <p:blipFill>
          <a:blip r:embed="rId5"/>
          <a:srcRect l="30391" r="20391"/>
          <a:stretch>
            <a:fillRect/>
          </a:stretch>
        </p:blipFill>
        <p:spPr>
          <a:xfrm>
            <a:off x="594360" y="1188720"/>
            <a:ext cx="4480560" cy="5120640"/>
          </a:xfrm>
          <a:prstGeom prst="roundRect">
            <a:avLst>
              <a:gd name="adj" fmla="val 7346"/>
            </a:avLst>
          </a:prstGeom>
          <a:effectLst>
            <a:outerShdw blurRad="457200" dist="182880" dir="5400000" algn="ctr" rotWithShape="0">
              <a:srgbClr val="0B1A48">
                <a:alpha val="25000"/>
              </a:srgbClr>
            </a:outerShdw>
          </a:effectLst>
        </p:spPr>
      </p:pic>
      <p:sp>
        <p:nvSpPr>
          <p:cNvPr id="7" name="Rounded Rectangle 6"/>
          <p:cNvSpPr/>
          <p:nvPr/>
        </p:nvSpPr>
        <p:spPr>
          <a:xfrm>
            <a:off x="594360" y="1188720"/>
            <a:ext cx="4480560" cy="5120640"/>
          </a:xfrm>
          <a:prstGeom prst="roundRect">
            <a:avLst>
              <a:gd name="adj" fmla="val 7346"/>
            </a:avLst>
          </a:prstGeom>
          <a:gradFill rotWithShape="1">
            <a:gsLst>
              <a:gs pos="0">
                <a:srgbClr val="0B1A48">
                  <a:alpha val="10000"/>
                </a:srgbClr>
              </a:gs>
              <a:gs pos="60000">
                <a:srgbClr val="0B1A48">
                  <a:alpha val="25000"/>
                </a:srgbClr>
              </a:gs>
              <a:gs pos="100000">
                <a:srgbClr val="0B1A48">
                  <a:alpha val="8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8" name="Picture 7" descr="team_pa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41" y="868680"/>
            <a:ext cx="5191798" cy="5440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52160" y="1463040"/>
            <a:ext cx="865022" cy="310896"/>
          </a:xfrm>
          <a:prstGeom prst="roundRect">
            <a:avLst>
              <a:gd name="adj" fmla="val 50000"/>
            </a:avLst>
          </a:prstGeom>
          <a:solidFill>
            <a:srgbClr val="3D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00" b="0" i="0">
                <a:solidFill>
                  <a:srgbClr val="06123A"/>
                </a:solidFill>
                <a:latin typeface="Montserrat SemiBold"/>
                <a:ea typeface="Montserrat SemiBold"/>
                <a:cs typeface="Montserrat SemiBold"/>
              </a:rPr>
              <a:t>Q &amp;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87452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sz="62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CẢM 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83464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3600" b="0" i="0">
                <a:solidFill>
                  <a:srgbClr val="1B3FC4"/>
                </a:solidFill>
                <a:latin typeface="Montserrat ExtraBold"/>
                <a:ea typeface="Montserrat ExtraBold"/>
                <a:cs typeface="Montserrat ExtraBold"/>
              </a:rPr>
              <a:t>ĐÃ LẮNG NGHE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3749040"/>
            <a:ext cx="2926080" cy="0"/>
          </a:xfrm>
          <a:prstGeom prst="line">
            <a:avLst/>
          </a:prstGeom>
          <a:ln w="12700">
            <a:solidFill>
              <a:srgbClr val="0B1A4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737092" y="3707892"/>
            <a:ext cx="82296" cy="82296"/>
          </a:xfrm>
          <a:prstGeom prst="ellipse">
            <a:avLst/>
          </a:prstGeom>
          <a:solidFill>
            <a:srgbClr val="0B1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61304" y="4059936"/>
            <a:ext cx="384048" cy="384048"/>
          </a:xfrm>
          <a:prstGeom prst="ellipse">
            <a:avLst/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il_3DE3F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7316" y="4155948"/>
            <a:ext cx="192024" cy="1920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4069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0B1A48"/>
                </a:solidFill>
                <a:latin typeface="Montserrat Medium"/>
                <a:ea typeface="Montserrat Medium"/>
                <a:cs typeface="Montserrat Medium"/>
              </a:rPr>
              <a:t>nhom05.qt47@email.edu.vn</a:t>
            </a:r>
          </a:p>
        </p:txBody>
      </p:sp>
      <p:sp>
        <p:nvSpPr>
          <p:cNvPr id="17" name="Oval 16"/>
          <p:cNvSpPr/>
          <p:nvPr/>
        </p:nvSpPr>
        <p:spPr>
          <a:xfrm>
            <a:off x="5861304" y="4590288"/>
            <a:ext cx="384048" cy="384048"/>
          </a:xfrm>
          <a:prstGeom prst="ellipse">
            <a:avLst/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hone_3DE3F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7316" y="4686300"/>
            <a:ext cx="192024" cy="1920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0" y="45994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0B1A48"/>
                </a:solidFill>
                <a:latin typeface="Montserrat Medium"/>
                <a:ea typeface="Montserrat Medium"/>
                <a:cs typeface="Montserrat Medium"/>
              </a:rPr>
              <a:t>0900 000 000</a:t>
            </a:r>
          </a:p>
        </p:txBody>
      </p:sp>
      <p:sp>
        <p:nvSpPr>
          <p:cNvPr id="20" name="Oval 19"/>
          <p:cNvSpPr/>
          <p:nvPr/>
        </p:nvSpPr>
        <p:spPr>
          <a:xfrm>
            <a:off x="5861304" y="5120640"/>
            <a:ext cx="384048" cy="384048"/>
          </a:xfrm>
          <a:prstGeom prst="ellipse">
            <a:avLst/>
          </a:prstGeom>
          <a:solidFill>
            <a:srgbClr val="0C1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ap-pin_3DE3F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7316" y="5216652"/>
            <a:ext cx="192024" cy="1920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1297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0" i="0">
                <a:solidFill>
                  <a:srgbClr val="0B1A48"/>
                </a:solidFill>
                <a:latin typeface="Montserrat Medium"/>
                <a:ea typeface="Montserrat Medium"/>
                <a:cs typeface="Montserrat Medium"/>
              </a:rPr>
              <a:t>Khoa Quản trị Kinh doanh – Trường Đại học ABC</a:t>
            </a:r>
          </a:p>
        </p:txBody>
      </p:sp>
      <p:sp>
        <p:nvSpPr>
          <p:cNvPr id="23" name="Oval 22"/>
          <p:cNvSpPr/>
          <p:nvPr/>
        </p:nvSpPr>
        <p:spPr>
          <a:xfrm>
            <a:off x="10698480" y="5440680"/>
            <a:ext cx="731520" cy="731520"/>
          </a:xfrm>
          <a:prstGeom prst="ellipse">
            <a:avLst/>
          </a:prstGeom>
          <a:solidFill>
            <a:srgbClr val="3DE3F0"/>
          </a:solidFill>
          <a:ln>
            <a:noFill/>
          </a:ln>
          <a:effectLst>
            <a:outerShdw blurRad="182880" dist="45720" dir="5400000" algn="ctr" rotWithShape="0">
              <a:srgbClr val="0B1A4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essages-square_06123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8675" y="5630875"/>
            <a:ext cx="351130" cy="351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9" grpId="0" animBg="1"/>
      <p:bldP spid="10" grpId="0" animBg="1"/>
      <p:bldP spid="11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13" grpId="0" animBg="1"/>
      <p:bldP spid="23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blob1" descr="glow_3DE3F0_62_1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980" y="-2171700"/>
            <a:ext cx="6172200" cy="6172200"/>
          </a:xfrm>
          <a:prstGeom prst="rect">
            <a:avLst/>
          </a:prstGeom>
        </p:spPr>
      </p:pic>
      <p:pic>
        <p:nvPicPr>
          <p:cNvPr id="3" name="!!blob2" descr="glow_7A8CFF_40_1.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4308" y="4119372"/>
            <a:ext cx="4197096" cy="4197096"/>
          </a:xfrm>
          <a:prstGeom prst="rect">
            <a:avLst/>
          </a:prstGeom>
        </p:spPr>
      </p:pic>
      <p:pic>
        <p:nvPicPr>
          <p:cNvPr id="4" name="!!blob3" descr="glow_9FE9FF_55_1.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5705856"/>
            <a:ext cx="3950208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548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0" i="0">
                <a:solidFill>
                  <a:srgbClr val="0B1A48"/>
                </a:solidFill>
                <a:latin typeface="Montserrat ExtraBold"/>
                <a:ea typeface="Montserrat ExtraBold"/>
                <a:cs typeface="Montserrat ExtraBold"/>
              </a:rPr>
              <a:t>NGUỒN HÌNH ẢNH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1">
                <a:solidFill>
                  <a:srgbClr val="7F8BA6"/>
                </a:solidFill>
                <a:latin typeface="Montserrat"/>
                <a:ea typeface="Montserrat"/>
                <a:cs typeface="Montserrat"/>
              </a:rPr>
              <a:t>Slide ẩn — không hiển thị khi trình chiếu. Ảnh từ bộ dữ liệu Open Images (Google), giấy phép CC BY 2.0 của tác giả trên Flickr. Icon: Lucide (ISC). Font: Montserrat (SIL OFL).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Calculator, Pen and Calendar — photosteve101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Angus Crawford 141013-008b — Apple and Pear Australia Ltd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Hilbram Dunar dengan setelan jas — Bertho RF1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110912-Tel-Aviv — xiquinhosilva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IMG_3667 — 零時 政府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Training9 — Open Data Lab Jakarta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San Francisco PUC Building, 525 Golden Gate — UC Davis College of Engineering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Red post-it label, calculator and ballpen — photosteve101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Mozilla 타이완 커뮤니티 리더인 Bob 만나고 있습니다 — Channy Yun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Dubai — Samko Pamko (Flickr, CC BY 2.0)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45920"/>
            <a:ext cx="5394960" cy="4754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IMG_0006 — jlahti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xuping — Fantake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1 — Linux Screenshots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Alice, Thomas and Philip entering data — One Planet Living in Sutton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Undergraduate Research Colloquium 2014 — Yeti-legs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Canary Wharf at Night (Colour) — Ed de Quincey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Untitled — Marcin Wichary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warsztaty-14 — Medialab Katowice (Flickr, CC BY 2.0)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3B4866"/>
                </a:solidFill>
                <a:latin typeface="Montserrat"/>
                <a:ea typeface="Montserrat"/>
                <a:cs typeface="Montserrat"/>
              </a:rPr>
              <a:t>• On Target — viZZZual.com (Flickr, CC BY 2.0)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