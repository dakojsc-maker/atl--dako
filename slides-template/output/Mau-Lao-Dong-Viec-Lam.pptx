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Lực lượng lao động</c:v>
                </c:pt>
              </c:strCache>
            </c:strRef>
          </c:tx>
          <c:spPr>
            <a:gradFill rotWithShape="1">
              <a:gsLst>
                <a:gs pos="0">
                  <a:srgbClr val="FF8A2A"/>
                </a:gs>
                <a:gs pos="100000">
                  <a:srgbClr val="D9381E"/>
                </a:gs>
              </a:gsLst>
              <a:lin ang="5400000" scaled="0"/>
            </a:gra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2015</c:v>
                </c:pt>
                <c:pt idx="2">
                  <c:v>2020</c:v>
                </c:pt>
                <c:pt idx="3">
                  <c:v>2021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50.4</c:v>
                </c:pt>
                <c:pt idx="1">
                  <c:v>54.3</c:v>
                </c:pt>
                <c:pt idx="2">
                  <c:v>54.8</c:v>
                </c:pt>
                <c:pt idx="3">
                  <c:v>50.6</c:v>
                </c:pt>
                <c:pt idx="4">
                  <c:v>52.9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50" b="1">
                  <a:solidFill>
                    <a:srgbClr val="3E2A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F4CDB0"/>
            </a:solidFill>
          </a:ln>
        </c:spPr>
        <c:txPr>
          <a:bodyPr/>
          <a:lstStyle/>
          <a:p>
            <a:pPr>
              <a:defRPr sz="1050">
                <a:solidFill>
                  <a:srgbClr val="5A473C"/>
                </a:solidFill>
                <a:latin typeface="Lexen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 val="0"/>
        <c:axPos val="l"/>
        <c:majorGridlines>
          <c:spPr>
            <a:ln w="7620">
              <a:solidFill>
                <a:srgbClr val="F4CDB0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5A473C"/>
                </a:solidFill>
                <a:latin typeface="Lexend"/>
              </a:defRPr>
            </a:pPr>
          </a:p>
        </c:txPr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5A473C"/>
          </a:solidFill>
          <a:latin typeface="Lexen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Tỉ lệ</c:v>
                </c:pt>
              </c:strCache>
            </c:strRef>
          </c:tx>
          <c:dPt>
            <c:idx val="0"/>
            <c:spPr>
              <a:solidFill>
                <a:srgbClr val="F8C43A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F28C28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D9381E"/>
              </a:solidFill>
              <a:ln w="19050">
                <a:solidFill>
                  <a:srgbClr val="FFFFFF"/>
                </a:solidFill>
              </a:ln>
            </c:spPr>
          </c:dPt>
          <c:dLbls>
            <c:dLbl>
              <c:idx val="2"/>
              <c:spPr/>
              <c:txPr>
                <a:bodyPr/>
                <a:lstStyle/>
                <a:p>
                  <a:pPr>
                    <a:defRPr sz="1100">
                      <a:solidFill>
                        <a:srgbClr val="3E2A1F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100">
                    <a:solidFill>
                      <a:srgbClr val="3E2A1F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Kinh tế Nhà nước</c:v>
                </c:pt>
                <c:pt idx="1">
                  <c:v>Kinh tế ngoài Nhà nước</c:v>
                </c:pt>
                <c:pt idx="2">
                  <c:v>Khu vực có vốn đầu tư nước ngoài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10.4</c:v>
                </c:pt>
                <c:pt idx="1">
                  <c:v>86.1</c:v>
                </c:pt>
                <c:pt idx="2">
                  <c:v>3.5</c:v>
                </c:pt>
              </c:numCache>
            </c:numRef>
          </c:val>
        </c:ser>
      </c:pieChart>
    </c:plotArea>
    <c:dispBlanksAs val="gap"/>
  </c:chart>
  <c:spPr>
    <a:noFill/>
    <a:ln>
      <a:noFill/>
    </a:ln>
  </c:spPr>
  <c:txPr>
    <a:bodyPr/>
    <a:lstStyle/>
    <a:p>
      <a:pPr>
        <a:defRPr sz="1100">
          <a:latin typeface="Lexend SemiBol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Tỉ lệ</c:v>
                </c:pt>
              </c:strCache>
            </c:strRef>
          </c:tx>
          <c:dPt>
            <c:idx val="0"/>
            <c:spPr>
              <a:solidFill>
                <a:srgbClr val="F8C43A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F28C28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D9381E"/>
              </a:solidFill>
              <a:ln w="19050">
                <a:solidFill>
                  <a:srgbClr val="FFFFFF"/>
                </a:solidFill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100">
                      <a:solidFill>
                        <a:srgbClr val="3E2A1F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100">
                    <a:solidFill>
                      <a:srgbClr val="3E2A1F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Kinh tế Nhà nước</c:v>
                </c:pt>
                <c:pt idx="1">
                  <c:v>Kinh tế ngoài Nhà nước</c:v>
                </c:pt>
                <c:pt idx="2">
                  <c:v>Khu vực có vốn đầu tư nước ngoài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7.7</c:v>
                </c:pt>
                <c:pt idx="1">
                  <c:v>81.9</c:v>
                </c:pt>
                <c:pt idx="2">
                  <c:v>10.4</c:v>
                </c:pt>
              </c:numCache>
            </c:numRef>
          </c:val>
        </c:ser>
      </c:pieChart>
    </c:plotArea>
    <c:dispBlanksAs val="gap"/>
  </c:chart>
  <c:spPr>
    <a:noFill/>
    <a:ln>
      <a:noFill/>
    </a:ln>
  </c:spPr>
  <c:txPr>
    <a:bodyPr/>
    <a:lstStyle/>
    <a:p>
      <a:pPr>
        <a:defRPr sz="1100">
          <a:latin typeface="Lexend SemiBol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bìa.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5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30.jp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D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d119e878424a5b1c.jpg"/>
          <p:cNvPicPr>
            <a:picLocks noChangeAspect="1"/>
          </p:cNvPicPr>
          <p:nvPr/>
        </p:nvPicPr>
        <p:blipFill>
          <a:blip r:embed="rId2"/>
          <a:srcRect t="7832" b="783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40D0A">
                  <a:alpha val="88000"/>
                </a:srgbClr>
              </a:gs>
              <a:gs pos="45000">
                <a:srgbClr val="140D0A">
                  <a:alpha val="62000"/>
                </a:srgbClr>
              </a:gs>
              <a:gs pos="80000">
                <a:srgbClr val="140D0A">
                  <a:alpha val="18000"/>
                </a:srgbClr>
              </a:gs>
              <a:gs pos="100000">
                <a:srgbClr val="140D0A">
                  <a:alpha val="5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kicker"/>
          <p:cNvSpPr/>
          <p:nvPr/>
        </p:nvSpPr>
        <p:spPr>
          <a:xfrm>
            <a:off x="548640" y="502920"/>
            <a:ext cx="2957314" cy="329184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square"/>
          <a:lstStyle/>
          <a:p>
            <a:pPr algn="ctr"/>
            <a:r>
              <a:rPr sz="1300" b="0" i="0" spc="250">
                <a:solidFill>
                  <a:srgbClr val="FFFFFF"/>
                </a:solidFill>
                <a:latin typeface="Anton"/>
                <a:ea typeface="Anton"/>
                <a:cs typeface="Anton"/>
              </a:rPr>
              <a:t>ĐỊA LÍ 12 · KINH TẾ – XÃ HỘI</a:t>
            </a:r>
          </a:p>
        </p:txBody>
      </p:sp>
      <p:sp>
        <p:nvSpPr>
          <p:cNvPr id="5" name="!!t1"/>
          <p:cNvSpPr txBox="1"/>
          <p:nvPr/>
        </p:nvSpPr>
        <p:spPr>
          <a:xfrm>
            <a:off x="548640" y="1143000"/>
            <a:ext cx="7315200" cy="179832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12000" b="0" i="0">
                <a:solidFill>
                  <a:srgbClr val="FFFFFF"/>
                </a:solidFill>
                <a:effectLst>
                  <a:outerShdw blurRad="128016" dist="54864" dir="5400000" algn="ctr" rotWithShape="0">
                    <a:srgbClr val="000000">
                      <a:alpha val="65000"/>
                    </a:srgbClr>
                  </a:outerShdw>
                </a:effectLst>
                <a:latin typeface="Anton"/>
                <a:ea typeface="Anton"/>
                <a:cs typeface="Anton"/>
              </a:rPr>
              <a:t>LAO ĐỘNG</a:t>
            </a:r>
          </a:p>
        </p:txBody>
      </p:sp>
      <p:sp>
        <p:nvSpPr>
          <p:cNvPr id="6" name="!!amp"/>
          <p:cNvSpPr txBox="1"/>
          <p:nvPr/>
        </p:nvSpPr>
        <p:spPr>
          <a:xfrm>
            <a:off x="594360" y="2797454"/>
            <a:ext cx="640080" cy="899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5000" b="0" i="0">
                <a:solidFill>
                  <a:srgbClr val="FF8A2A"/>
                </a:solidFill>
                <a:latin typeface="Anton"/>
                <a:ea typeface="Anton"/>
                <a:cs typeface="Anton"/>
              </a:rPr>
              <a:t>&amp;</a:t>
            </a:r>
          </a:p>
        </p:txBody>
      </p:sp>
      <p:sp>
        <p:nvSpPr>
          <p:cNvPr id="7" name="!!t2"/>
          <p:cNvSpPr txBox="1"/>
          <p:nvPr/>
        </p:nvSpPr>
        <p:spPr>
          <a:xfrm>
            <a:off x="1097280" y="2851404"/>
            <a:ext cx="7315200" cy="1798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0" b="0" i="0">
                <a:solidFill>
                  <a:srgbClr val="FFFFFF"/>
                </a:solidFill>
                <a:effectLst>
                  <a:outerShdw blurRad="128016" dist="54864" dir="5400000" algn="ctr" rotWithShape="0">
                    <a:srgbClr val="000000">
                      <a:alpha val="65000"/>
                    </a:srgbClr>
                  </a:outerShdw>
                </a:effectLst>
                <a:latin typeface="Anton"/>
                <a:ea typeface="Anton"/>
                <a:cs typeface="Anton"/>
              </a:rPr>
              <a:t>VIỆC LÀM</a:t>
            </a:r>
          </a:p>
        </p:txBody>
      </p:sp>
      <p:sp>
        <p:nvSpPr>
          <p:cNvPr id="8" name="!!pres"/>
          <p:cNvSpPr/>
          <p:nvPr/>
        </p:nvSpPr>
        <p:spPr>
          <a:xfrm>
            <a:off x="548640" y="5669280"/>
            <a:ext cx="3138468" cy="457200"/>
          </a:xfrm>
          <a:prstGeom prst="roundRect">
            <a:avLst>
              <a:gd name="adj" fmla="val 20000"/>
            </a:avLst>
          </a:prstGeom>
          <a:solidFill>
            <a:srgbClr val="000000">
              <a:alpha val="45000"/>
            </a:srgbClr>
          </a:solidFill>
          <a:ln w="9525">
            <a:solidFill>
              <a:srgbClr val="FFFF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9" name="Picture 8" descr="user-roun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779008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5669280"/>
            <a:ext cx="258982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 spc="120">
                <a:solidFill>
                  <a:srgbClr val="FFFFFF"/>
                </a:solidFill>
                <a:latin typeface="Anton"/>
                <a:ea typeface="Anton"/>
                <a:cs typeface="Anton"/>
              </a:rPr>
              <a:t>TRÌNH BÀY: NHÓM 2 – LỚP 12A1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31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D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8732ae26e489596d.jp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40D0A">
                  <a:alpha val="96800"/>
                </a:srgbClr>
              </a:gs>
              <a:gs pos="45000">
                <a:srgbClr val="140D0A">
                  <a:alpha val="68200"/>
                </a:srgbClr>
              </a:gs>
              <a:gs pos="80000">
                <a:srgbClr val="140D0A">
                  <a:alpha val="19800"/>
                </a:srgbClr>
              </a:gs>
              <a:gs pos="100000">
                <a:srgbClr val="140D0A">
                  <a:alpha val="55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ttl"/>
          <p:cNvSpPr txBox="1"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FF8A2A"/>
                </a:solidFill>
                <a:latin typeface="Lexend SemiBold"/>
                <a:ea typeface="Lexend SemiBold"/>
                <a:cs typeface="Lexend SemiBold"/>
              </a:rPr>
              <a:t>NỘI DUNG TRÌNH BÀY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0" i="0" spc="50">
                <a:solidFill>
                  <a:srgbClr val="FFFFFF"/>
                </a:solidFill>
                <a:effectLst>
                  <a:outerShdw blurRad="91440" dist="36576" dir="5400000" algn="ctr" rotWithShape="0">
                    <a:srgbClr val="000000">
                      <a:alpha val="55000"/>
                    </a:srgbClr>
                  </a:outerShdw>
                </a:effectLst>
                <a:latin typeface="Anton"/>
                <a:ea typeface="Anton"/>
                <a:cs typeface="Anton"/>
              </a:rPr>
              <a:t>I. ĐẶC ĐIỂM NGUỒN LAO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947672"/>
            <a:ext cx="6400800" cy="932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2E6DE"/>
                </a:solidFill>
                <a:latin typeface="Lexend"/>
                <a:ea typeface="Lexend"/>
                <a:cs typeface="Lexend"/>
              </a:rPr>
              <a:t>1. Số lượng lao động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2E6DE"/>
                </a:solidFill>
                <a:latin typeface="Lexend"/>
                <a:ea typeface="Lexend"/>
                <a:cs typeface="Lexend"/>
              </a:rPr>
              <a:t>2. Chất lượng lao động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2E6DE"/>
                </a:solidFill>
                <a:latin typeface="Lexend"/>
                <a:ea typeface="Lexend"/>
                <a:cs typeface="Lexend"/>
              </a:rPr>
              <a:t>3. Phân bố lao động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36392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0" i="0" spc="50">
                <a:solidFill>
                  <a:srgbClr val="FFFFFF"/>
                </a:solidFill>
                <a:effectLst>
                  <a:outerShdw blurRad="91440" dist="36576" dir="5400000" algn="ctr" rotWithShape="0">
                    <a:srgbClr val="000000">
                      <a:alpha val="55000"/>
                    </a:srgbClr>
                  </a:outerShdw>
                </a:effectLst>
                <a:latin typeface="Anton"/>
                <a:ea typeface="Anton"/>
                <a:cs typeface="Anton"/>
              </a:rPr>
              <a:t>II. SỬ DỤNG LAO ĐỘNG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666744"/>
            <a:ext cx="640080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2E6DE"/>
                </a:solidFill>
                <a:latin typeface="Lexend"/>
                <a:ea typeface="Lexend"/>
                <a:cs typeface="Lexend"/>
              </a:rPr>
              <a:t>1. Theo ngành kinh tế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2E6DE"/>
                </a:solidFill>
                <a:latin typeface="Lexend"/>
                <a:ea typeface="Lexend"/>
                <a:cs typeface="Lexend"/>
              </a:rPr>
              <a:t>2. Theo thành phần kinh tế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44568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0" i="0" spc="50">
                <a:solidFill>
                  <a:srgbClr val="FFFFFF"/>
                </a:solidFill>
                <a:effectLst>
                  <a:outerShdw blurRad="91440" dist="36576" dir="5400000" algn="ctr" rotWithShape="0">
                    <a:srgbClr val="000000">
                      <a:alpha val="55000"/>
                    </a:srgbClr>
                  </a:outerShdw>
                </a:effectLst>
                <a:latin typeface="Anton"/>
                <a:ea typeface="Anton"/>
                <a:cs typeface="Anton"/>
              </a:rPr>
              <a:t>III. VẤN ĐỀ VIỆC LÀM &amp; HƯỚNG GIẢI QUYẾT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074920"/>
            <a:ext cx="640080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2E6DE"/>
                </a:solidFill>
                <a:latin typeface="Lexend"/>
                <a:ea typeface="Lexend"/>
                <a:cs typeface="Lexend"/>
              </a:rPr>
              <a:t>1. Vấn đề việc làm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2E6DE"/>
                </a:solidFill>
                <a:latin typeface="Lexend"/>
                <a:ea typeface="Lexend"/>
                <a:cs typeface="Lexend"/>
              </a:rPr>
              <a:t>2. Hướng giải quyết việc làm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D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b546453e5a77a149.jpg"/>
          <p:cNvPicPr>
            <a:picLocks noChangeAspect="1"/>
          </p:cNvPicPr>
          <p:nvPr/>
        </p:nvPicPr>
        <p:blipFill>
          <a:blip r:embed="rId2"/>
          <a:srcRect t="7499" b="17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40D0A">
                  <a:alpha val="88000"/>
                </a:srgbClr>
              </a:gs>
              <a:gs pos="45000">
                <a:srgbClr val="140D0A">
                  <a:alpha val="62000"/>
                </a:srgbClr>
              </a:gs>
              <a:gs pos="80000">
                <a:srgbClr val="140D0A">
                  <a:alpha val="18000"/>
                </a:srgbClr>
              </a:gs>
              <a:gs pos="100000">
                <a:srgbClr val="140D0A">
                  <a:alpha val="5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secnum"/>
          <p:cNvSpPr txBox="1"/>
          <p:nvPr/>
        </p:nvSpPr>
        <p:spPr>
          <a:xfrm>
            <a:off x="548640" y="68580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6400" b="0" i="0">
                <a:solidFill>
                  <a:srgbClr val="FFFFFF"/>
                </a:solidFill>
                <a:effectLst>
                  <a:outerShdw blurRad="128016" dist="45720" dir="5400000" algn="ctr" rotWithShape="0">
                    <a:srgbClr val="000000">
                      <a:alpha val="60000"/>
                    </a:srgbClr>
                  </a:outerShdw>
                </a:effectLst>
                <a:latin typeface="Anton"/>
                <a:ea typeface="Anton"/>
                <a:cs typeface="Anton"/>
              </a:rPr>
              <a:t>I.</a:t>
            </a:r>
          </a:p>
        </p:txBody>
      </p:sp>
      <p:sp>
        <p:nvSpPr>
          <p:cNvPr id="5" name="!!sectitle"/>
          <p:cNvSpPr txBox="1"/>
          <p:nvPr/>
        </p:nvSpPr>
        <p:spPr>
          <a:xfrm>
            <a:off x="548640" y="1920240"/>
            <a:ext cx="8778240" cy="2407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7600" b="0" i="0">
                <a:solidFill>
                  <a:srgbClr val="FFFFFF"/>
                </a:solidFill>
                <a:effectLst>
                  <a:outerShdw blurRad="128016" dist="45720" dir="5400000" algn="ctr" rotWithShape="0">
                    <a:srgbClr val="000000">
                      <a:alpha val="60000"/>
                    </a:srgbClr>
                  </a:outerShdw>
                </a:effectLst>
                <a:latin typeface="Anton"/>
                <a:ea typeface="Anton"/>
                <a:cs typeface="Anton"/>
              </a:rPr>
              <a:t>ĐẶC ĐIỂM NGUỒN</a:t>
            </a:r>
          </a:p>
          <a:p>
            <a:pPr algn="l">
              <a:lnSpc>
                <a:spcPct val="98000"/>
              </a:lnSpc>
            </a:pPr>
            <a:r>
              <a:rPr sz="7600" b="0" i="0">
                <a:solidFill>
                  <a:srgbClr val="FFFFFF"/>
                </a:solidFill>
                <a:effectLst>
                  <a:outerShdw blurRad="128016" dist="45720" dir="5400000" algn="ctr" rotWithShape="0">
                    <a:srgbClr val="000000">
                      <a:alpha val="60000"/>
                    </a:srgbClr>
                  </a:outerShdw>
                </a:effectLst>
                <a:latin typeface="Anton"/>
                <a:ea typeface="Anton"/>
                <a:cs typeface="Anton"/>
              </a:rPr>
              <a:t>LAO ĐỘNG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4465320"/>
            <a:ext cx="1280160" cy="7315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69392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2E6DE"/>
                </a:solidFill>
                <a:latin typeface="Lexend"/>
                <a:ea typeface="Lexend"/>
                <a:cs typeface="Lexend"/>
              </a:rPr>
              <a:t>Số lượng, chất lượng và sự phân bố của lực lượng lao động nước ta.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tl"/>
          <p:cNvSpPr txBox="1"/>
          <p:nvPr/>
        </p:nvSpPr>
        <p:spPr>
          <a:xfrm>
            <a:off x="548640" y="292608"/>
            <a:ext cx="859536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3000" b="0" i="0" spc="30">
                <a:solidFill>
                  <a:srgbClr val="7A2A10"/>
                </a:solidFill>
                <a:latin typeface="Anton"/>
                <a:ea typeface="Anton"/>
                <a:cs typeface="Anton"/>
              </a:rPr>
              <a:t>1. SỐ LƯỢNG LAO ĐỘNG</a:t>
            </a:r>
          </a:p>
        </p:txBody>
      </p:sp>
      <p:sp>
        <p:nvSpPr>
          <p:cNvPr id="4" name="!!bar"/>
          <p:cNvSpPr/>
          <p:nvPr/>
        </p:nvSpPr>
        <p:spPr>
          <a:xfrm>
            <a:off x="548640" y="914400"/>
            <a:ext cx="822960" cy="5943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rumb"/>
          <p:cNvSpPr txBox="1"/>
          <p:nvPr/>
        </p:nvSpPr>
        <p:spPr>
          <a:xfrm>
            <a:off x="7436815" y="3840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spc="80">
                <a:solidFill>
                  <a:srgbClr val="A08576"/>
                </a:solidFill>
                <a:latin typeface="Lexend Medium"/>
                <a:ea typeface="Lexend Medium"/>
                <a:cs typeface="Lexend Medium"/>
              </a:rPr>
              <a:t>I. ĐẶC ĐIỂM NGUỒN LAO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08576"/>
                </a:solidFill>
                <a:latin typeface="Anton"/>
                <a:ea typeface="Anton"/>
                <a:cs typeface="Anton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4526280" cy="160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Nước ta có nguồn lao động dồi dào.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Năm 2024, lực lượng lao động (dân số hoạt động kinh tế) của nước ta là </a:t>
            </a:r>
            <a:r>
              <a:rPr sz="13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52,9 triệu người</a:t>
            </a:r>
            <a:r>
              <a:rPr sz="13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, chiếm </a:t>
            </a:r>
            <a:r>
              <a:rPr sz="13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52,2%</a:t>
            </a:r>
            <a:r>
              <a:rPr sz="13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 tổng số dân.</a:t>
            </a:r>
          </a:p>
        </p:txBody>
      </p:sp>
      <p:pic>
        <p:nvPicPr>
          <p:cNvPr id="8" name="Picture 7" descr="7ee98d67d1689b95.jpg"/>
          <p:cNvPicPr>
            <a:picLocks noChangeAspect="1"/>
          </p:cNvPicPr>
          <p:nvPr/>
        </p:nvPicPr>
        <p:blipFill>
          <a:blip r:embed="rId3"/>
          <a:srcRect t="2189" b="2189"/>
          <a:stretch>
            <a:fillRect/>
          </a:stretch>
        </p:blipFill>
        <p:spPr>
          <a:xfrm>
            <a:off x="548640" y="2926080"/>
            <a:ext cx="4526280" cy="3246120"/>
          </a:xfrm>
          <a:prstGeom prst="roundRect">
            <a:avLst>
              <a:gd name="adj" fmla="val 3943"/>
            </a:avLst>
          </a:prstGeom>
          <a:ln w="31750">
            <a:solidFill>
              <a:srgbClr val="FFFFFF"/>
            </a:solidFill>
          </a:ln>
          <a:effectLst>
            <a:outerShdw blurRad="274320" dist="73152" dir="5400000" algn="ctr" rotWithShape="0">
              <a:srgbClr val="6A2A08">
                <a:alpha val="28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5440680" y="111556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A08576"/>
                </a:solidFill>
                <a:latin typeface="Lexend Medium"/>
                <a:ea typeface="Lexend Medium"/>
                <a:cs typeface="Lexend Medium"/>
              </a:rPr>
              <a:t>Lực lượng lao động (triệu người)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349240" y="1417320"/>
          <a:ext cx="6309360" cy="4343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349240" y="5806440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3E2A1F"/>
                </a:solidFill>
                <a:latin typeface="Lexend Medium"/>
                <a:ea typeface="Lexend Medium"/>
                <a:cs typeface="Lexend Medium"/>
              </a:rPr>
              <a:t>Hình 1. Lực lượng lao động từ 15 tuổi trở lên của nước ta giai đoạn 2010 –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6099048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1">
                <a:solidFill>
                  <a:srgbClr val="A08576"/>
                </a:solidFill>
                <a:latin typeface="Lexend"/>
                <a:ea typeface="Lexend"/>
                <a:cs typeface="Lexend"/>
              </a:rPr>
              <a:t>Nguồn: Niên giám thống kê Việt Nam các năm, Tổng cục Thống kê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Graphic spid="10" grpId="0">
        <p:bldAsOne/>
      </p:bldGraphic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tl"/>
          <p:cNvSpPr txBox="1"/>
          <p:nvPr/>
        </p:nvSpPr>
        <p:spPr>
          <a:xfrm>
            <a:off x="548640" y="292608"/>
            <a:ext cx="859536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3000" b="0" i="0" spc="30">
                <a:solidFill>
                  <a:srgbClr val="7A2A10"/>
                </a:solidFill>
                <a:latin typeface="Anton"/>
                <a:ea typeface="Anton"/>
                <a:cs typeface="Anton"/>
              </a:rPr>
              <a:t>2. CHẤT LƯỢNG LAO ĐỘNG</a:t>
            </a:r>
          </a:p>
        </p:txBody>
      </p:sp>
      <p:sp>
        <p:nvSpPr>
          <p:cNvPr id="4" name="!!bar"/>
          <p:cNvSpPr/>
          <p:nvPr/>
        </p:nvSpPr>
        <p:spPr>
          <a:xfrm>
            <a:off x="548640" y="914400"/>
            <a:ext cx="822960" cy="5943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rumb"/>
          <p:cNvSpPr txBox="1"/>
          <p:nvPr/>
        </p:nvSpPr>
        <p:spPr>
          <a:xfrm>
            <a:off x="7436815" y="3840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spc="80">
                <a:solidFill>
                  <a:srgbClr val="A08576"/>
                </a:solidFill>
                <a:latin typeface="Lexend Medium"/>
                <a:ea typeface="Lexend Medium"/>
                <a:cs typeface="Lexend Medium"/>
              </a:rPr>
              <a:t>I. ĐẶC ĐIỂM NGUỒN LAO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08576"/>
                </a:solidFill>
                <a:latin typeface="Anton"/>
                <a:ea typeface="Anton"/>
                <a:cs typeface="Anton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4846320" cy="4937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1000"/>
              </a:spcAft>
              <a:buClr>
                <a:srgbClr val="F26B1F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Lao động nước ta </a:t>
            </a:r>
            <a:r>
              <a:rPr sz="125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cần cù, sáng tạo, có nhiều kinh nghiệm</a:t>
            </a:r>
            <a:r>
              <a:rPr sz="12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 sản xuất trong nông nghiệp, lâm nghiệp, thủy sản, tiểu thủ công nghiệp.</a:t>
            </a:r>
          </a:p>
          <a:p>
            <a:pPr algn="l" marL="201168" indent="-201168">
              <a:lnSpc>
                <a:spcPct val="130000"/>
              </a:lnSpc>
              <a:spcAft>
                <a:spcPts val="1000"/>
              </a:spcAft>
              <a:buClr>
                <a:srgbClr val="F26B1F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Chất lượng lao động </a:t>
            </a:r>
            <a:r>
              <a:rPr sz="125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ngày càng được nâng lên</a:t>
            </a:r>
            <a:r>
              <a:rPr sz="12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 nhờ thành tựu phát triển kinh tế, y tế, văn hóa, giáo dục – đào tạo. </a:t>
            </a:r>
            <a:r>
              <a:rPr sz="125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Năm 2024</a:t>
            </a:r>
            <a:r>
              <a:rPr sz="12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, tỉ lệ lao động qua đào tạo từ sơ cấp trở lên đạt </a:t>
            </a:r>
            <a:r>
              <a:rPr sz="125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28,4%</a:t>
            </a:r>
            <a:r>
              <a:rPr sz="12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.</a:t>
            </a:r>
          </a:p>
          <a:p>
            <a:pPr algn="l" marL="201168" indent="-201168">
              <a:lnSpc>
                <a:spcPct val="130000"/>
              </a:lnSpc>
              <a:spcAft>
                <a:spcPts val="1000"/>
              </a:spcAft>
              <a:buClr>
                <a:srgbClr val="F26B1F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So với yêu cầu công nghiệp hóa, hiện đại hóa, lao động có trình độ chuyên môn kĩ thuật cao </a:t>
            </a:r>
            <a:r>
              <a:rPr sz="125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còn hạn chế</a:t>
            </a:r>
            <a:r>
              <a:rPr sz="12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; lao động </a:t>
            </a:r>
            <a:r>
              <a:rPr sz="125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năng động, dễ tiếp thu</a:t>
            </a:r>
            <a:r>
              <a:rPr sz="12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 khoa học – công nghệ.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188720"/>
            <a:ext cx="5882335" cy="5029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E2A1F"/>
                </a:solidFill>
                <a:latin typeface="Lexend SemiBold"/>
                <a:ea typeface="Lexend SemiBold"/>
                <a:cs typeface="Lexend SemiBold"/>
              </a:rPr>
              <a:t>BẢNG 1. TỈ LỆ LAO ĐỘNG TỪ 15 TUỔI TRỞ LÊN ĐÃ QUA ĐÀO TẠO PHÂN THEO TRÌNH ĐỘ CHUYÊN MÔN KĨ THUẬT, GIAI ĐOẠN 2010 –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719072"/>
            <a:ext cx="588233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1">
                <a:solidFill>
                  <a:srgbClr val="A08576"/>
                </a:solidFill>
                <a:latin typeface="Lexend"/>
                <a:ea typeface="Lexend"/>
                <a:cs typeface="Lexend"/>
              </a:rPr>
              <a:t>(Đơn vị: %)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0" y="1965960"/>
          <a:ext cx="5882336" cy="3931921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87280"/>
                <a:gridCol w="948764"/>
                <a:gridCol w="948764"/>
                <a:gridCol w="948764"/>
                <a:gridCol w="948764"/>
              </a:tblGrid>
              <a:tr h="561703"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FFFFF"/>
                          </a:solidFill>
                          <a:latin typeface="Lexend SemiBold"/>
                          <a:ea typeface="Lexend SemiBold"/>
                          <a:cs typeface="Lexend SemiBold"/>
                        </a:rPr>
                        <a:t>Trình độ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26B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FFFFF"/>
                          </a:solidFill>
                          <a:latin typeface="Lexend SemiBold"/>
                          <a:ea typeface="Lexend SemiBold"/>
                          <a:cs typeface="Lexend SemiBold"/>
                        </a:rPr>
                        <a:t>2010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26B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FFFFF"/>
                          </a:solidFill>
                          <a:latin typeface="Lexend SemiBold"/>
                          <a:ea typeface="Lexend SemiBold"/>
                          <a:cs typeface="Lexend SemiBold"/>
                        </a:rPr>
                        <a:t>2015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26B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FFFFF"/>
                          </a:solidFill>
                          <a:latin typeface="Lexend SemiBold"/>
                          <a:ea typeface="Lexend SemiBold"/>
                          <a:cs typeface="Lexend SemiBold"/>
                        </a:rPr>
                        <a:t>2020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26B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FFFFF"/>
                          </a:solidFill>
                          <a:latin typeface="Lexend SemiBold"/>
                          <a:ea typeface="Lexend SemiBold"/>
                          <a:cs typeface="Lexend SemiBold"/>
                        </a:rPr>
                        <a:t>2024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26B1F"/>
                    </a:solidFill>
                  </a:tcPr>
                </a:tc>
              </a:tr>
              <a:tr h="561703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E2A1F"/>
                          </a:solidFill>
                          <a:latin typeface="Lexend Medium"/>
                          <a:ea typeface="Lexend Medium"/>
                          <a:cs typeface="Lexend Medium"/>
                        </a:rPr>
                        <a:t>Đã qua đào tạo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14,6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20,4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24,1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28,4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E2A1F"/>
                          </a:solidFill>
                          <a:latin typeface="Lexend Medium"/>
                          <a:ea typeface="Lexend Medium"/>
                          <a:cs typeface="Lexend Medium"/>
                        </a:rPr>
                        <a:t>Sơ cấp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3,8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3,3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4,7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6,3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</a:tr>
              <a:tr h="561703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E2A1F"/>
                          </a:solidFill>
                          <a:latin typeface="Lexend Medium"/>
                          <a:ea typeface="Lexend Medium"/>
                          <a:cs typeface="Lexend Medium"/>
                        </a:rPr>
                        <a:t>Trung cấp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3,4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5,4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4,5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4,3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E2A1F"/>
                          </a:solidFill>
                          <a:latin typeface="Lexend Medium"/>
                          <a:ea typeface="Lexend Medium"/>
                          <a:cs typeface="Lexend Medium"/>
                        </a:rPr>
                        <a:t>Cao đẳng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1,7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3,0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3,8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4,2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</a:tr>
              <a:tr h="561703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E2A1F"/>
                          </a:solidFill>
                          <a:latin typeface="Lexend Medium"/>
                          <a:ea typeface="Lexend Medium"/>
                          <a:cs typeface="Lexend Medium"/>
                        </a:rPr>
                        <a:t>Đại học trở lên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5,7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8,7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11,1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13,6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E2A1F"/>
                          </a:solidFill>
                          <a:latin typeface="Lexend Medium"/>
                          <a:ea typeface="Lexend Medium"/>
                          <a:cs typeface="Lexend Medium"/>
                        </a:rPr>
                        <a:t>Chưa qua đào tạo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85,4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79,6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75,9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71,6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60720" y="6016752"/>
            <a:ext cx="588233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1">
                <a:solidFill>
                  <a:srgbClr val="A08576"/>
                </a:solidFill>
                <a:latin typeface="Lexend"/>
                <a:ea typeface="Lexend"/>
                <a:cs typeface="Lexend"/>
              </a:rPr>
              <a:t>Nguồn: Niên giám thống kê Việt Nam các năm, Tổng cục Thống kê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Graphic spid="10" grpId="0">
        <p:bldAsOne/>
      </p:bldGraphic>
      <p:bldP spid="11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tl"/>
          <p:cNvSpPr txBox="1"/>
          <p:nvPr/>
        </p:nvSpPr>
        <p:spPr>
          <a:xfrm>
            <a:off x="548640" y="292608"/>
            <a:ext cx="859536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3000" b="0" i="0" spc="30">
                <a:solidFill>
                  <a:srgbClr val="7A2A10"/>
                </a:solidFill>
                <a:latin typeface="Anton"/>
                <a:ea typeface="Anton"/>
                <a:cs typeface="Anton"/>
              </a:rPr>
              <a:t>3. PHÂN BỐ LAO ĐỘNG</a:t>
            </a:r>
          </a:p>
        </p:txBody>
      </p:sp>
      <p:sp>
        <p:nvSpPr>
          <p:cNvPr id="4" name="!!bar"/>
          <p:cNvSpPr/>
          <p:nvPr/>
        </p:nvSpPr>
        <p:spPr>
          <a:xfrm>
            <a:off x="548640" y="914400"/>
            <a:ext cx="822960" cy="5943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rumb"/>
          <p:cNvSpPr txBox="1"/>
          <p:nvPr/>
        </p:nvSpPr>
        <p:spPr>
          <a:xfrm>
            <a:off x="7436815" y="3840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spc="80">
                <a:solidFill>
                  <a:srgbClr val="A08576"/>
                </a:solidFill>
                <a:latin typeface="Lexend Medium"/>
                <a:ea typeface="Lexend Medium"/>
                <a:cs typeface="Lexend Medium"/>
              </a:rPr>
              <a:t>I. ĐẶC ĐIỂM NGUỒN LAO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08576"/>
                </a:solidFill>
                <a:latin typeface="Anton"/>
                <a:ea typeface="Anton"/>
                <a:cs typeface="Anton"/>
              </a:rPr>
              <a:t>06</a:t>
            </a:r>
          </a:p>
        </p:txBody>
      </p:sp>
      <p:pic>
        <p:nvPicPr>
          <p:cNvPr id="7" name="!!map" descr="map_a53441ae13.png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228600" y="1051560"/>
            <a:ext cx="5400773" cy="5715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7970" y="1565993"/>
            <a:ext cx="67805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09728" dist="27432" dir="5400000" algn="ctr" rotWithShape="0">
              <a:srgbClr val="6A2A0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100" b="0" i="0">
                <a:solidFill>
                  <a:srgbClr val="B4231A"/>
                </a:solidFill>
                <a:latin typeface="Lexend SemiBold"/>
                <a:ea typeface="Lexend SemiBold"/>
                <a:cs typeface="Lexend SemiBold"/>
              </a:rPr>
              <a:t>13,9%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9806" y="1923148"/>
            <a:ext cx="67917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09728" dist="27432" dir="5400000" algn="ctr" rotWithShape="0">
              <a:srgbClr val="6A2A0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100" b="0" i="0">
                <a:solidFill>
                  <a:srgbClr val="B4231A"/>
                </a:solidFill>
                <a:latin typeface="Lexend SemiBold"/>
                <a:ea typeface="Lexend SemiBold"/>
                <a:cs typeface="Lexend SemiBold"/>
              </a:rPr>
              <a:t>23,3%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44850" y="2994613"/>
            <a:ext cx="69788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09728" dist="27432" dir="5400000" algn="ctr" rotWithShape="0">
              <a:srgbClr val="6A2A0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100" b="0" i="0">
                <a:solidFill>
                  <a:srgbClr val="B4231A"/>
                </a:solidFill>
                <a:latin typeface="Lexend SemiBold"/>
                <a:ea typeface="Lexend SemiBold"/>
                <a:cs typeface="Lexend SemiBold"/>
              </a:rPr>
              <a:t>20,4%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45680" y="4548237"/>
            <a:ext cx="5970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09728" dist="27432" dir="5400000" algn="ctr" rotWithShape="0">
              <a:srgbClr val="6A2A0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100" b="0" i="0">
                <a:solidFill>
                  <a:srgbClr val="B4231A"/>
                </a:solidFill>
                <a:latin typeface="Lexend SemiBold"/>
                <a:ea typeface="Lexend SemiBold"/>
                <a:cs typeface="Lexend SemiBold"/>
              </a:rPr>
              <a:t>7,0%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6294" y="5280404"/>
            <a:ext cx="6813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09728" dist="27432" dir="5400000" algn="ctr" rotWithShape="0">
              <a:srgbClr val="6A2A0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100" b="0" i="0">
                <a:solidFill>
                  <a:srgbClr val="B4231A"/>
                </a:solidFill>
                <a:latin typeface="Lexend SemiBold"/>
                <a:ea typeface="Lexend SemiBold"/>
                <a:cs typeface="Lexend SemiBold"/>
              </a:rPr>
              <a:t>18,6%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496" y="5816137"/>
            <a:ext cx="6813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09728" dist="27432" dir="5400000" algn="ctr" rotWithShape="0">
              <a:srgbClr val="6A2A0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/>
          <a:lstStyle/>
          <a:p>
            <a:pPr algn="ctr"/>
            <a:r>
              <a:rPr sz="1100" b="0" i="0">
                <a:solidFill>
                  <a:srgbClr val="B4231A"/>
                </a:solidFill>
                <a:latin typeface="Lexend SemiBold"/>
                <a:ea typeface="Lexend SemiBold"/>
                <a:cs typeface="Lexend SemiBold"/>
              </a:rPr>
              <a:t>16,8%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1188720"/>
            <a:ext cx="6019495" cy="566928"/>
          </a:xfrm>
          <a:prstGeom prst="roundRect">
            <a:avLst>
              <a:gd name="adj" fmla="val 25806"/>
            </a:avLst>
          </a:prstGeom>
          <a:gradFill rotWithShape="1">
            <a:gsLst>
              <a:gs pos="0">
                <a:srgbClr val="F26B1F"/>
              </a:gs>
              <a:gs pos="100000">
                <a:srgbClr val="FF8A2A"/>
              </a:gs>
            </a:gsLst>
            <a:lin ang="0" scaled="0"/>
          </a:gradFill>
          <a:ln>
            <a:noFill/>
          </a:ln>
          <a:effectLst>
            <a:outerShdw blurRad="182880" dist="45720" dir="5400000" algn="ctr" rotWithShape="0">
              <a:srgbClr val="8A3A1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FFFFFF"/>
                </a:solidFill>
                <a:latin typeface="Lexend SemiBold"/>
                <a:ea typeface="Lexend SemiBold"/>
                <a:cs typeface="Lexend SemiBold"/>
              </a:rPr>
              <a:t>Phân bố lao động có sự khác nhau giữa các khu vực, các vùng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1920240"/>
            <a:ext cx="5928055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800"/>
              </a:spcAft>
              <a:buClr>
                <a:srgbClr val="F26B1F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Năm 2024, lao động ở nông thôn nước ta là hơn </a:t>
            </a:r>
            <a:r>
              <a:rPr sz="12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32,5 triệu người</a:t>
            </a:r>
            <a:r>
              <a:rPr sz="12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, ở thành thị là </a:t>
            </a:r>
            <a:r>
              <a:rPr sz="12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20,4 triệu người</a:t>
            </a:r>
            <a:r>
              <a:rPr sz="12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.</a:t>
            </a:r>
          </a:p>
          <a:p>
            <a:pPr algn="l" marL="201168" indent="-201168">
              <a:lnSpc>
                <a:spcPct val="125000"/>
              </a:lnSpc>
              <a:spcAft>
                <a:spcPts val="800"/>
              </a:spcAft>
              <a:buClr>
                <a:srgbClr val="F26B1F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Đồng bằng sông Hồng</a:t>
            </a:r>
            <a:r>
              <a:rPr sz="12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 là vùng có nhiều lao động nhất; </a:t>
            </a:r>
            <a:r>
              <a:rPr sz="12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Tây Nguyên</a:t>
            </a:r>
            <a:r>
              <a:rPr sz="12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 có ít lao động nhất.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36118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3E2A1F"/>
                </a:solidFill>
                <a:latin typeface="Lexend Medium"/>
                <a:ea typeface="Lexend Medium"/>
                <a:cs typeface="Lexend Medium"/>
              </a:rPr>
              <a:t>Tỉ trọng lao động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3657600"/>
            <a:ext cx="2377440" cy="1828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DBA86"/>
              </a:gs>
              <a:gs pos="100000">
                <a:srgbClr val="D9381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0" y="36118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A08576"/>
                </a:solidFill>
                <a:latin typeface="Lexend"/>
                <a:ea typeface="Lexend"/>
                <a:cs typeface="Lexend"/>
              </a:rPr>
              <a:t>cao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61188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>
                <a:solidFill>
                  <a:srgbClr val="A08576"/>
                </a:solidFill>
                <a:latin typeface="Lexend"/>
                <a:ea typeface="Lexend"/>
                <a:cs typeface="Lexend"/>
              </a:rPr>
              <a:t>thấp</a:t>
            </a:r>
          </a:p>
        </p:txBody>
      </p:sp>
      <p:pic>
        <p:nvPicPr>
          <p:cNvPr id="20" name="Picture 19" descr="5d944a35b5ecc2b0.jpg"/>
          <p:cNvPicPr>
            <a:picLocks noChangeAspect="1"/>
          </p:cNvPicPr>
          <p:nvPr/>
        </p:nvPicPr>
        <p:blipFill>
          <a:blip r:embed="rId4"/>
          <a:srcRect l="14855" r="14855"/>
          <a:stretch>
            <a:fillRect/>
          </a:stretch>
        </p:blipFill>
        <p:spPr>
          <a:xfrm>
            <a:off x="5623560" y="4160520"/>
            <a:ext cx="1884578" cy="1783080"/>
          </a:xfrm>
          <a:prstGeom prst="roundRect">
            <a:avLst>
              <a:gd name="adj" fmla="val 5128"/>
            </a:avLst>
          </a:prstGeom>
          <a:ln w="25400">
            <a:solidFill>
              <a:srgbClr val="FFFFFF"/>
            </a:solidFill>
          </a:ln>
          <a:effectLst>
            <a:outerShdw blurRad="274320" dist="73152" dir="5400000" algn="ctr" rotWithShape="0">
              <a:srgbClr val="6A2A08">
                <a:alpha val="28000"/>
              </a:srgbClr>
            </a:outerShdw>
          </a:effectLst>
        </p:spPr>
      </p:pic>
      <p:pic>
        <p:nvPicPr>
          <p:cNvPr id="21" name="Picture 20" descr="2c876896fc126711.jpg"/>
          <p:cNvPicPr>
            <a:picLocks noChangeAspect="1"/>
          </p:cNvPicPr>
          <p:nvPr/>
        </p:nvPicPr>
        <p:blipFill>
          <a:blip r:embed="rId5"/>
          <a:srcRect l="14752" r="14752"/>
          <a:stretch>
            <a:fillRect/>
          </a:stretch>
        </p:blipFill>
        <p:spPr>
          <a:xfrm>
            <a:off x="7691018" y="4160520"/>
            <a:ext cx="1884578" cy="1783080"/>
          </a:xfrm>
          <a:prstGeom prst="roundRect">
            <a:avLst>
              <a:gd name="adj" fmla="val 5128"/>
            </a:avLst>
          </a:prstGeom>
          <a:ln w="25400">
            <a:solidFill>
              <a:srgbClr val="FFFFFF"/>
            </a:solidFill>
          </a:ln>
          <a:effectLst>
            <a:outerShdw blurRad="274320" dist="73152" dir="5400000" algn="ctr" rotWithShape="0">
              <a:srgbClr val="6A2A08">
                <a:alpha val="28000"/>
              </a:srgbClr>
            </a:outerShdw>
          </a:effectLst>
        </p:spPr>
      </p:pic>
      <p:pic>
        <p:nvPicPr>
          <p:cNvPr id="22" name="Picture 21" descr="ae5c888e72a3a9c4.jpg"/>
          <p:cNvPicPr>
            <a:picLocks noChangeAspect="1"/>
          </p:cNvPicPr>
          <p:nvPr/>
        </p:nvPicPr>
        <p:blipFill>
          <a:blip r:embed="rId6"/>
          <a:srcRect l="10365" r="10365"/>
          <a:stretch>
            <a:fillRect/>
          </a:stretch>
        </p:blipFill>
        <p:spPr>
          <a:xfrm>
            <a:off x="9758477" y="4160520"/>
            <a:ext cx="1884578" cy="1783080"/>
          </a:xfrm>
          <a:prstGeom prst="roundRect">
            <a:avLst>
              <a:gd name="adj" fmla="val 5128"/>
            </a:avLst>
          </a:prstGeom>
          <a:ln w="25400">
            <a:solidFill>
              <a:srgbClr val="FFFFFF"/>
            </a:solidFill>
          </a:ln>
          <a:effectLst>
            <a:outerShdw blurRad="274320" dist="73152" dir="5400000" algn="ctr" rotWithShape="0">
              <a:srgbClr val="6A2A08">
                <a:alpha val="28000"/>
              </a:srgbClr>
            </a:outerShdw>
          </a:effectLst>
        </p:spPr>
      </p:pic>
      <p:sp>
        <p:nvSpPr>
          <p:cNvPr id="23" name="TextBox 22"/>
          <p:cNvSpPr txBox="1"/>
          <p:nvPr/>
        </p:nvSpPr>
        <p:spPr>
          <a:xfrm>
            <a:off x="5623560" y="6080760"/>
            <a:ext cx="60194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1">
                <a:solidFill>
                  <a:srgbClr val="A08576"/>
                </a:solidFill>
                <a:latin typeface="Lexend"/>
                <a:ea typeface="Lexend"/>
                <a:cs typeface="Lexend"/>
              </a:rPr>
              <a:t>Tỉ trọng lao động theo vùng (%) — số liệu minh họa, thay bằng số liệu thực tế.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49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14" grpId="0" animBg="1"/>
      <p:bldP spid="8" grpId="0" animBg="1"/>
      <p:bldP spid="9" grpId="0" animBg="1"/>
      <p:bldP spid="15" grpId="0" animBg="1"/>
      <p:bldP spid="10" grpId="0" animBg="1"/>
      <p:bldP spid="11" grpId="0" animBg="1"/>
      <p:bldP spid="16" grpId="0" animBg="1"/>
      <p:bldP spid="19" grpId="0" animBg="1"/>
      <p:bldP spid="17" grpId="0" animBg="1"/>
      <p:bldP spid="18" grpId="0" animBg="1"/>
      <p:bldP spid="12" grpId="0" animBg="1"/>
      <p:bldP spid="13" grpId="0" animBg="1"/>
      <p:bldP spid="23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D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cdccdf75b3b8e98c.jpg"/>
          <p:cNvPicPr>
            <a:picLocks noChangeAspect="1"/>
          </p:cNvPicPr>
          <p:nvPr/>
        </p:nvPicPr>
        <p:blipFill>
          <a:blip r:embed="rId2"/>
          <a:srcRect t="7499" b="17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40D0A">
                  <a:alpha val="88000"/>
                </a:srgbClr>
              </a:gs>
              <a:gs pos="45000">
                <a:srgbClr val="140D0A">
                  <a:alpha val="62000"/>
                </a:srgbClr>
              </a:gs>
              <a:gs pos="80000">
                <a:srgbClr val="140D0A">
                  <a:alpha val="18000"/>
                </a:srgbClr>
              </a:gs>
              <a:gs pos="100000">
                <a:srgbClr val="140D0A">
                  <a:alpha val="5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secnum"/>
          <p:cNvSpPr txBox="1"/>
          <p:nvPr/>
        </p:nvSpPr>
        <p:spPr>
          <a:xfrm>
            <a:off x="548640" y="68580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6400" b="0" i="0">
                <a:solidFill>
                  <a:srgbClr val="FFFFFF"/>
                </a:solidFill>
                <a:effectLst>
                  <a:outerShdw blurRad="128016" dist="45720" dir="5400000" algn="ctr" rotWithShape="0">
                    <a:srgbClr val="000000">
                      <a:alpha val="60000"/>
                    </a:srgbClr>
                  </a:outerShdw>
                </a:effectLst>
                <a:latin typeface="Anton"/>
                <a:ea typeface="Anton"/>
                <a:cs typeface="Anton"/>
              </a:rPr>
              <a:t>II.</a:t>
            </a:r>
          </a:p>
        </p:txBody>
      </p:sp>
      <p:sp>
        <p:nvSpPr>
          <p:cNvPr id="5" name="!!sectitle"/>
          <p:cNvSpPr txBox="1"/>
          <p:nvPr/>
        </p:nvSpPr>
        <p:spPr>
          <a:xfrm>
            <a:off x="548640" y="1920240"/>
            <a:ext cx="8778240" cy="1249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7600" b="0" i="0">
                <a:solidFill>
                  <a:srgbClr val="FFFFFF"/>
                </a:solidFill>
                <a:effectLst>
                  <a:outerShdw blurRad="128016" dist="45720" dir="5400000" algn="ctr" rotWithShape="0">
                    <a:srgbClr val="000000">
                      <a:alpha val="60000"/>
                    </a:srgbClr>
                  </a:outerShdw>
                </a:effectLst>
                <a:latin typeface="Anton"/>
                <a:ea typeface="Anton"/>
                <a:cs typeface="Anton"/>
              </a:rPr>
              <a:t>SỬ DỤNG LAO ĐỘNG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307080"/>
            <a:ext cx="1280160" cy="7315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53568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2E6DE"/>
                </a:solidFill>
                <a:latin typeface="Lexend"/>
                <a:ea typeface="Lexend"/>
                <a:cs typeface="Lexend"/>
              </a:rPr>
              <a:t>Cơ cấu lao động theo ngành và theo thành phần kinh tế.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tl"/>
          <p:cNvSpPr txBox="1"/>
          <p:nvPr/>
        </p:nvSpPr>
        <p:spPr>
          <a:xfrm>
            <a:off x="548640" y="292608"/>
            <a:ext cx="859536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3000" b="0" i="0" spc="30">
                <a:solidFill>
                  <a:srgbClr val="7A2A10"/>
                </a:solidFill>
                <a:latin typeface="Anton"/>
                <a:ea typeface="Anton"/>
                <a:cs typeface="Anton"/>
              </a:rPr>
              <a:t>1. THEO NGÀNH KINH TẾ</a:t>
            </a:r>
          </a:p>
        </p:txBody>
      </p:sp>
      <p:sp>
        <p:nvSpPr>
          <p:cNvPr id="4" name="!!bar"/>
          <p:cNvSpPr/>
          <p:nvPr/>
        </p:nvSpPr>
        <p:spPr>
          <a:xfrm>
            <a:off x="548640" y="914400"/>
            <a:ext cx="822960" cy="5943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rumb"/>
          <p:cNvSpPr txBox="1"/>
          <p:nvPr/>
        </p:nvSpPr>
        <p:spPr>
          <a:xfrm>
            <a:off x="7436815" y="3840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spc="80">
                <a:solidFill>
                  <a:srgbClr val="A08576"/>
                </a:solidFill>
                <a:latin typeface="Lexend Medium"/>
                <a:ea typeface="Lexend Medium"/>
                <a:cs typeface="Lexend Medium"/>
              </a:rPr>
              <a:t>II. SỬ DỤNG LAO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08576"/>
                </a:solidFill>
                <a:latin typeface="Anton"/>
                <a:ea typeface="Anton"/>
                <a:cs typeface="Anton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10545775" cy="813816"/>
          </a:xfrm>
          <a:prstGeom prst="roundRect">
            <a:avLst>
              <a:gd name="adj" fmla="val 15730"/>
            </a:avLst>
          </a:prstGeom>
          <a:solidFill>
            <a:srgbClr val="FFFFFF">
              <a:alpha val="55000"/>
            </a:srgbClr>
          </a:solidFill>
          <a:ln w="15875">
            <a:solidFill>
              <a:srgbClr val="F26B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307592"/>
            <a:ext cx="9905695" cy="6675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Theo ngành kinh tế, </a:t>
            </a:r>
            <a:r>
              <a:rPr sz="13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cơ cấu lao động nước ta có sự chuyển dịch</a:t>
            </a:r>
            <a:r>
              <a:rPr sz="13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 phù hợp với đường lối công nghiệp hóa, hiện đại hóa: giảm tỉ lệ lao động trong nông, lâm nghiệp và thủy sản; tăng tỉ lệ lao động trong công nghiệp, xây dựng và dịch vụ.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76856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0" i="0">
                <a:solidFill>
                  <a:srgbClr val="3E2A1F"/>
                </a:solidFill>
                <a:latin typeface="Lexend SemiBold"/>
                <a:ea typeface="Lexend SemiBold"/>
                <a:cs typeface="Lexend SemiBold"/>
              </a:rPr>
              <a:t>BẢNG 2. CƠ CẤU LAO ĐỘNG CÓ VIỆC LÀM PHÂN THEO NGÀNH KINH TẾ, GIAI ĐOẠN 2010 –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88336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1">
                <a:solidFill>
                  <a:srgbClr val="A08576"/>
                </a:solidFill>
                <a:latin typeface="Lexend"/>
                <a:ea typeface="Lexend"/>
                <a:cs typeface="Lexend"/>
              </a:rPr>
              <a:t>(Đơn vị: %)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2935224"/>
          <a:ext cx="10545775" cy="22677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687011"/>
                <a:gridCol w="1464691"/>
                <a:gridCol w="1464691"/>
                <a:gridCol w="1464691"/>
                <a:gridCol w="1464691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FFFFF"/>
                          </a:solidFill>
                          <a:latin typeface="Lexend SemiBold"/>
                          <a:ea typeface="Lexend SemiBold"/>
                          <a:cs typeface="Lexend SemiBold"/>
                        </a:rPr>
                        <a:t>Ngành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26B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FFFFF"/>
                          </a:solidFill>
                          <a:latin typeface="Lexend SemiBold"/>
                          <a:ea typeface="Lexend SemiBold"/>
                          <a:cs typeface="Lexend SemiBold"/>
                        </a:rPr>
                        <a:t>2010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26B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FFFFF"/>
                          </a:solidFill>
                          <a:latin typeface="Lexend SemiBold"/>
                          <a:ea typeface="Lexend SemiBold"/>
                          <a:cs typeface="Lexend SemiBold"/>
                        </a:rPr>
                        <a:t>2015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26B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FFFFF"/>
                          </a:solidFill>
                          <a:latin typeface="Lexend SemiBold"/>
                          <a:ea typeface="Lexend SemiBold"/>
                          <a:cs typeface="Lexend SemiBold"/>
                        </a:rPr>
                        <a:t>2020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26B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FFFFF"/>
                          </a:solidFill>
                          <a:latin typeface="Lexend SemiBold"/>
                          <a:ea typeface="Lexend SemiBold"/>
                          <a:cs typeface="Lexend SemiBold"/>
                        </a:rPr>
                        <a:t>2024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26B1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E2A1F"/>
                          </a:solidFill>
                          <a:latin typeface="Lexend Medium"/>
                          <a:ea typeface="Lexend Medium"/>
                          <a:cs typeface="Lexend Medium"/>
                        </a:rPr>
                        <a:t>Nông nghiệp, lâm nghiệp và thủy sản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49,5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43,6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33,1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26,4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E2A1F"/>
                          </a:solidFill>
                          <a:latin typeface="Lexend Medium"/>
                          <a:ea typeface="Lexend Medium"/>
                          <a:cs typeface="Lexend Medium"/>
                        </a:rPr>
                        <a:t>Công nghiệp và xây dựng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20,9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23,0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30,8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33,4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E2A1F"/>
                          </a:solidFill>
                          <a:latin typeface="Lexend Medium"/>
                          <a:ea typeface="Lexend Medium"/>
                          <a:cs typeface="Lexend Medium"/>
                        </a:rPr>
                        <a:t>Dịch vụ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29,6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33,4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36,1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40,2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22960" y="5285232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1">
                <a:solidFill>
                  <a:srgbClr val="A08576"/>
                </a:solidFill>
                <a:latin typeface="Lexend"/>
                <a:ea typeface="Lexend"/>
                <a:cs typeface="Lexend"/>
              </a:rPr>
              <a:t>Nguồn: Niên giám thống kê Việt Nam các năm, Tổng cục Thống kê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Graphic spid="11" grpId="0">
        <p:bldAsOne/>
      </p:bldGraphic>
      <p:bldP spid="12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tl"/>
          <p:cNvSpPr txBox="1"/>
          <p:nvPr/>
        </p:nvSpPr>
        <p:spPr>
          <a:xfrm>
            <a:off x="548640" y="292608"/>
            <a:ext cx="859536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3000" b="0" i="0" spc="30">
                <a:solidFill>
                  <a:srgbClr val="7A2A10"/>
                </a:solidFill>
                <a:latin typeface="Anton"/>
                <a:ea typeface="Anton"/>
                <a:cs typeface="Anton"/>
              </a:rPr>
              <a:t>2. THEO THÀNH PHẦN KINH TẾ</a:t>
            </a:r>
          </a:p>
        </p:txBody>
      </p:sp>
      <p:sp>
        <p:nvSpPr>
          <p:cNvPr id="4" name="!!bar"/>
          <p:cNvSpPr/>
          <p:nvPr/>
        </p:nvSpPr>
        <p:spPr>
          <a:xfrm>
            <a:off x="548640" y="914400"/>
            <a:ext cx="822960" cy="5943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rumb"/>
          <p:cNvSpPr txBox="1"/>
          <p:nvPr/>
        </p:nvSpPr>
        <p:spPr>
          <a:xfrm>
            <a:off x="7436815" y="3840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spc="80">
                <a:solidFill>
                  <a:srgbClr val="A08576"/>
                </a:solidFill>
                <a:latin typeface="Lexend Medium"/>
                <a:ea typeface="Lexend Medium"/>
                <a:cs typeface="Lexend Medium"/>
              </a:rPr>
              <a:t>II. SỬ DỤNG LAO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08576"/>
                </a:solidFill>
                <a:latin typeface="Anton"/>
                <a:ea typeface="Anton"/>
                <a:cs typeface="Anton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10545775" cy="813816"/>
          </a:xfrm>
          <a:prstGeom prst="roundRect">
            <a:avLst>
              <a:gd name="adj" fmla="val 15730"/>
            </a:avLst>
          </a:prstGeom>
          <a:solidFill>
            <a:srgbClr val="FFFFFF">
              <a:alpha val="55000"/>
            </a:srgbClr>
          </a:solidFill>
          <a:ln w="15875">
            <a:solidFill>
              <a:srgbClr val="F26B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307592"/>
            <a:ext cx="9905695" cy="6675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Việt Nam phát triển nền kinh tế thị trường định hướng xã hội chủ nghĩa, nhiều thành phần kinh tế. Cơ cấu lao động </a:t>
            </a:r>
            <a:r>
              <a:rPr sz="13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giảm tỉ lệ ở khu vực Nhà nước và ngoài Nhà nước</a:t>
            </a:r>
            <a:r>
              <a:rPr sz="13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, </a:t>
            </a:r>
            <a:r>
              <a:rPr sz="13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tăng tỉ lệ ở khu vực có vốn đầu tư nước ngoài</a:t>
            </a:r>
            <a:r>
              <a:rPr sz="13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2368296"/>
          <a:ext cx="2834640" cy="2834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22122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b="0" i="0">
                <a:solidFill>
                  <a:srgbClr val="7A2A10"/>
                </a:solidFill>
                <a:latin typeface="Anton"/>
                <a:ea typeface="Anton"/>
                <a:cs typeface="Anton"/>
              </a:rPr>
              <a:t>Năm 2010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206240" y="2368296"/>
          <a:ext cx="2834640" cy="28346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206240" y="522122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b="0" i="0">
                <a:solidFill>
                  <a:srgbClr val="7A2A10"/>
                </a:solidFill>
                <a:latin typeface="Anton"/>
                <a:ea typeface="Anton"/>
                <a:cs typeface="Anton"/>
              </a:rPr>
              <a:t>Năm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2958084"/>
            <a:ext cx="3962095" cy="1655064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 w="12700">
            <a:solidFill>
              <a:srgbClr val="F4CDB0"/>
            </a:solidFill>
          </a:ln>
          <a:effectLst>
            <a:outerShdw blurRad="228600" dist="54864" dir="5400000" algn="ctr" rotWithShape="0">
              <a:srgbClr val="8A3A1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99998" y="2802636"/>
            <a:ext cx="1124019" cy="310896"/>
          </a:xfrm>
          <a:prstGeom prst="roundRect">
            <a:avLst>
              <a:gd name="adj" fmla="val 23529"/>
            </a:avLst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200" b="0" i="0" spc="150">
                <a:solidFill>
                  <a:srgbClr val="FFFFFF"/>
                </a:solidFill>
                <a:latin typeface="Anton"/>
                <a:ea typeface="Anton"/>
                <a:cs typeface="Anton"/>
              </a:rPr>
              <a:t>CHÚ THÍCH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378708"/>
            <a:ext cx="201168" cy="201168"/>
          </a:xfrm>
          <a:prstGeom prst="roundRect">
            <a:avLst>
              <a:gd name="adj" fmla="val 18181"/>
            </a:avLst>
          </a:prstGeom>
          <a:solidFill>
            <a:srgbClr val="F8C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305556"/>
            <a:ext cx="3276295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>
                <a:solidFill>
                  <a:srgbClr val="3E2A1F"/>
                </a:solidFill>
                <a:latin typeface="Lexend"/>
                <a:ea typeface="Lexend"/>
                <a:cs typeface="Lexend"/>
              </a:rPr>
              <a:t>Kinh tế Nhà nước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3762756"/>
            <a:ext cx="201168" cy="201168"/>
          </a:xfrm>
          <a:prstGeom prst="roundRect">
            <a:avLst>
              <a:gd name="adj" fmla="val 18181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689604"/>
            <a:ext cx="3276295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>
                <a:solidFill>
                  <a:srgbClr val="3E2A1F"/>
                </a:solidFill>
                <a:latin typeface="Lexend"/>
                <a:ea typeface="Lexend"/>
                <a:cs typeface="Lexend"/>
              </a:rPr>
              <a:t>Kinh tế ngoài Nhà nước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4146804"/>
            <a:ext cx="201168" cy="201168"/>
          </a:xfrm>
          <a:prstGeom prst="roundRect">
            <a:avLst>
              <a:gd name="adj" fmla="val 18181"/>
            </a:avLst>
          </a:prstGeom>
          <a:solidFill>
            <a:srgbClr val="D93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073652"/>
            <a:ext cx="3276295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>
                <a:solidFill>
                  <a:srgbClr val="3E2A1F"/>
                </a:solidFill>
                <a:latin typeface="Lexend"/>
                <a:ea typeface="Lexend"/>
                <a:cs typeface="Lexend"/>
              </a:rPr>
              <a:t>Khu vực có vốn đầu tư nước ngoài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89320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3E2A1F"/>
                </a:solidFill>
                <a:latin typeface="Lexend Medium"/>
                <a:ea typeface="Lexend Medium"/>
                <a:cs typeface="Lexend Medium"/>
              </a:rPr>
              <a:t>Hình 2. Cơ cấu lao động có việc làm theo thành phần kinh tế năm 2010 và 2024 (%)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8192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1">
                <a:solidFill>
                  <a:srgbClr val="A08576"/>
                </a:solidFill>
                <a:latin typeface="Lexend"/>
                <a:ea typeface="Lexend"/>
                <a:cs typeface="Lexend"/>
              </a:rPr>
              <a:t>Nguồn: Niên giám thống kê Việt Nam các năm, Tổng cục Thống kê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Graphic spid="9" grpId="0">
        <p:bldAsOne/>
      </p:bldGraphic>
      <p:bldP spid="10" grpId="0" animBg="1"/>
      <p:bldGraphic spid="11" grpId="0">
        <p:bldAsOne/>
      </p:bldGraphic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D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0dadb05222306ab8.jpg"/>
          <p:cNvPicPr>
            <a:picLocks noChangeAspect="1"/>
          </p:cNvPicPr>
          <p:nvPr/>
        </p:nvPicPr>
        <p:blipFill>
          <a:blip r:embed="rId2"/>
          <a:srcRect t="6821" b="682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40D0A">
                  <a:alpha val="88000"/>
                </a:srgbClr>
              </a:gs>
              <a:gs pos="45000">
                <a:srgbClr val="140D0A">
                  <a:alpha val="62000"/>
                </a:srgbClr>
              </a:gs>
              <a:gs pos="80000">
                <a:srgbClr val="140D0A">
                  <a:alpha val="18000"/>
                </a:srgbClr>
              </a:gs>
              <a:gs pos="100000">
                <a:srgbClr val="140D0A">
                  <a:alpha val="5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secnum"/>
          <p:cNvSpPr txBox="1"/>
          <p:nvPr/>
        </p:nvSpPr>
        <p:spPr>
          <a:xfrm>
            <a:off x="548640" y="68580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6400" b="0" i="0">
                <a:solidFill>
                  <a:srgbClr val="FFFFFF"/>
                </a:solidFill>
                <a:effectLst>
                  <a:outerShdw blurRad="128016" dist="45720" dir="5400000" algn="ctr" rotWithShape="0">
                    <a:srgbClr val="000000">
                      <a:alpha val="60000"/>
                    </a:srgbClr>
                  </a:outerShdw>
                </a:effectLst>
                <a:latin typeface="Anton"/>
                <a:ea typeface="Anton"/>
                <a:cs typeface="Anton"/>
              </a:rPr>
              <a:t>III.</a:t>
            </a:r>
          </a:p>
        </p:txBody>
      </p:sp>
      <p:sp>
        <p:nvSpPr>
          <p:cNvPr id="5" name="!!sectitle"/>
          <p:cNvSpPr txBox="1"/>
          <p:nvPr/>
        </p:nvSpPr>
        <p:spPr>
          <a:xfrm>
            <a:off x="548640" y="1920240"/>
            <a:ext cx="8778240" cy="2407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7600" b="0" i="0">
                <a:solidFill>
                  <a:srgbClr val="FFFFFF"/>
                </a:solidFill>
                <a:effectLst>
                  <a:outerShdw blurRad="128016" dist="45720" dir="5400000" algn="ctr" rotWithShape="0">
                    <a:srgbClr val="000000">
                      <a:alpha val="60000"/>
                    </a:srgbClr>
                  </a:outerShdw>
                </a:effectLst>
                <a:latin typeface="Anton"/>
                <a:ea typeface="Anton"/>
                <a:cs typeface="Anton"/>
              </a:rPr>
              <a:t>VẤN ĐỀ VIỆC LÀM &amp;</a:t>
            </a:r>
          </a:p>
          <a:p>
            <a:pPr algn="l">
              <a:lnSpc>
                <a:spcPct val="98000"/>
              </a:lnSpc>
            </a:pPr>
            <a:r>
              <a:rPr sz="7600" b="0" i="0">
                <a:solidFill>
                  <a:srgbClr val="FFFFFF"/>
                </a:solidFill>
                <a:effectLst>
                  <a:outerShdw blurRad="128016" dist="45720" dir="5400000" algn="ctr" rotWithShape="0">
                    <a:srgbClr val="000000">
                      <a:alpha val="60000"/>
                    </a:srgbClr>
                  </a:outerShdw>
                </a:effectLst>
                <a:latin typeface="Anton"/>
                <a:ea typeface="Anton"/>
                <a:cs typeface="Anton"/>
              </a:rPr>
              <a:t>HƯỚNG GIẢI QUYẾT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4465320"/>
            <a:ext cx="1280160" cy="7315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69392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2E6DE"/>
                </a:solidFill>
                <a:latin typeface="Lexend"/>
                <a:ea typeface="Lexend"/>
                <a:cs typeface="Lexend"/>
              </a:rPr>
              <a:t>Tỉ lệ thất nghiệp, thiếu việc làm và các giải pháp tạo việc làm bền vững.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tl"/>
          <p:cNvSpPr txBox="1"/>
          <p:nvPr/>
        </p:nvSpPr>
        <p:spPr>
          <a:xfrm>
            <a:off x="548640" y="292608"/>
            <a:ext cx="859536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3000" b="0" i="0" spc="30">
                <a:solidFill>
                  <a:srgbClr val="7A2A10"/>
                </a:solidFill>
                <a:latin typeface="Anton"/>
                <a:ea typeface="Anton"/>
                <a:cs typeface="Anton"/>
              </a:rPr>
              <a:t>1. VẤN ĐỀ VIỆC LÀM</a:t>
            </a:r>
          </a:p>
        </p:txBody>
      </p:sp>
      <p:sp>
        <p:nvSpPr>
          <p:cNvPr id="4" name="!!bar"/>
          <p:cNvSpPr/>
          <p:nvPr/>
        </p:nvSpPr>
        <p:spPr>
          <a:xfrm>
            <a:off x="548640" y="914400"/>
            <a:ext cx="822960" cy="5943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rumb"/>
          <p:cNvSpPr txBox="1"/>
          <p:nvPr/>
        </p:nvSpPr>
        <p:spPr>
          <a:xfrm>
            <a:off x="7436815" y="3840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spc="80">
                <a:solidFill>
                  <a:srgbClr val="A08576"/>
                </a:solidFill>
                <a:latin typeface="Lexend Medium"/>
                <a:ea typeface="Lexend Medium"/>
                <a:cs typeface="Lexend Medium"/>
              </a:rPr>
              <a:t>III. VẤN ĐỀ VIỆC LÀM &amp; HƯỚNG GIẢI QUYẾT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08576"/>
                </a:solidFill>
                <a:latin typeface="Anton"/>
                <a:ea typeface="Anton"/>
                <a:cs typeface="Anton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10545775" cy="1060704"/>
          </a:xfrm>
          <a:prstGeom prst="roundRect">
            <a:avLst>
              <a:gd name="adj" fmla="val 12068"/>
            </a:avLst>
          </a:prstGeom>
          <a:solidFill>
            <a:srgbClr val="FFFFFF">
              <a:alpha val="55000"/>
            </a:srgbClr>
          </a:solidFill>
          <a:ln w="15875">
            <a:solidFill>
              <a:srgbClr val="F26B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307592"/>
            <a:ext cx="9905695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Việc làm có vai trò đặc biệt quan trọng đối với mỗi cá nhân, gia đình và toàn xã hội. </a:t>
            </a:r>
            <a:r>
              <a:rPr sz="13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Hầu hết lao động nước ta có việc làm; tỉ lệ thất nghiệp và thiếu việc làm khá thấp.</a:t>
            </a:r>
            <a:r>
              <a:rPr sz="13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 Thành thị có tỉ lệ thất nghiệp cao hơn nông thôn, nhưng thiếu việc làm thì ngược lại.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23744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b="0" i="0">
                <a:solidFill>
                  <a:srgbClr val="3E2A1F"/>
                </a:solidFill>
                <a:latin typeface="Lexend SemiBold"/>
                <a:ea typeface="Lexend SemiBold"/>
                <a:cs typeface="Lexend SemiBold"/>
              </a:rPr>
              <a:t>BẢNG 3. TỈ LỆ THẤT NGHIỆP VÀ THIẾU VIỆC LÀM TRONG ĐỘ TUỔI LAO ĐỘNG PHÂN THEO THÀNH THỊ, NÔNG THÔN, GIAI ĐOẠN 2010 –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35224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1">
                <a:solidFill>
                  <a:srgbClr val="A08576"/>
                </a:solidFill>
                <a:latin typeface="Lexend"/>
                <a:ea typeface="Lexend"/>
                <a:cs typeface="Lexend"/>
              </a:rPr>
              <a:t>(Đơn vị: %)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3182112"/>
          <a:ext cx="10545775" cy="28346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52724"/>
                <a:gridCol w="1942643"/>
                <a:gridCol w="1387602"/>
                <a:gridCol w="1387602"/>
                <a:gridCol w="1387602"/>
                <a:gridCol w="138760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FFFFF"/>
                          </a:solidFill>
                          <a:latin typeface="Lexend SemiBold"/>
                          <a:ea typeface="Lexend SemiBold"/>
                          <a:cs typeface="Lexend SemiBold"/>
                        </a:rPr>
                        <a:t>Chỉ tiêu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26B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FFFFF"/>
                          </a:solidFill>
                          <a:latin typeface="Lexend SemiBold"/>
                          <a:ea typeface="Lexend SemiBold"/>
                          <a:cs typeface="Lexend SemiBold"/>
                        </a:rPr>
                        <a:t>Khu vực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26B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FFFFF"/>
                          </a:solidFill>
                          <a:latin typeface="Lexend SemiBold"/>
                          <a:ea typeface="Lexend SemiBold"/>
                          <a:cs typeface="Lexend SemiBold"/>
                        </a:rPr>
                        <a:t>2010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26B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FFFFF"/>
                          </a:solidFill>
                          <a:latin typeface="Lexend SemiBold"/>
                          <a:ea typeface="Lexend SemiBold"/>
                          <a:cs typeface="Lexend SemiBold"/>
                        </a:rPr>
                        <a:t>2015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26B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FFFFF"/>
                          </a:solidFill>
                          <a:latin typeface="Lexend SemiBold"/>
                          <a:ea typeface="Lexend SemiBold"/>
                          <a:cs typeface="Lexend SemiBold"/>
                        </a:rPr>
                        <a:t>2020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26B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FFFFFF"/>
                          </a:solidFill>
                          <a:latin typeface="Lexend SemiBold"/>
                          <a:ea typeface="Lexend SemiBold"/>
                          <a:cs typeface="Lexend SemiBold"/>
                        </a:rPr>
                        <a:t>2024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26B1F"/>
                    </a:solidFill>
                  </a:tcPr>
                </a:tc>
              </a:tr>
              <a:tr h="566928">
                <a:tc rowSpan="2"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E2A1F"/>
                          </a:solidFill>
                          <a:latin typeface="Lexend Medium"/>
                          <a:ea typeface="Lexend Medium"/>
                          <a:cs typeface="Lexend Medium"/>
                        </a:rPr>
                        <a:t>Tỉ lệ thất nghiệp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Thành thị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4,29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3,37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3,89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2,53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 vMerge="1"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E2A1F"/>
                          </a:solidFill>
                          <a:latin typeface="Lexend Medium"/>
                          <a:ea typeface="Lexend Medium"/>
                          <a:cs typeface="Lexend Medium"/>
                        </a:rPr>
                        <a:t/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Nông thôn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2,35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1,82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1,75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2,04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</a:tr>
              <a:tr h="566928">
                <a:tc rowSpan="2"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E2A1F"/>
                          </a:solidFill>
                          <a:latin typeface="Lexend Medium"/>
                          <a:ea typeface="Lexend Medium"/>
                          <a:cs typeface="Lexend Medium"/>
                        </a:rPr>
                        <a:t>Tỉ lệ thiếu việc làm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Thành thị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1,82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0,84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1,69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1,29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 vMerge="1"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E2A1F"/>
                          </a:solidFill>
                          <a:latin typeface="Lexend Medium"/>
                          <a:ea typeface="Lexend Medium"/>
                          <a:cs typeface="Lexend Medium"/>
                        </a:rPr>
                        <a:t/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Nông thôn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4,26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2,39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2,94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E2A1F"/>
                          </a:solidFill>
                          <a:latin typeface="Lexend"/>
                          <a:ea typeface="Lexend"/>
                          <a:cs typeface="Lexend"/>
                        </a:rPr>
                        <a:t>2,22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F4CDB0"/>
                      </a:solidFill>
                    </a:lnL>
                    <a:lnR w="9525">
                      <a:solidFill>
                        <a:srgbClr val="F4CDB0"/>
                      </a:solidFill>
                    </a:lnR>
                    <a:lnT w="9525">
                      <a:solidFill>
                        <a:srgbClr val="F4CDB0"/>
                      </a:solidFill>
                    </a:lnT>
                    <a:lnB w="9525">
                      <a:solidFill>
                        <a:srgbClr val="F4CDB0"/>
                      </a:solidFill>
                    </a:lnB>
                    <a:solidFill>
                      <a:srgbClr val="FFF1E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22960" y="609904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1">
                <a:solidFill>
                  <a:srgbClr val="A08576"/>
                </a:solidFill>
                <a:latin typeface="Lexend"/>
                <a:ea typeface="Lexend"/>
                <a:cs typeface="Lexend"/>
              </a:rPr>
              <a:t>Nguồn: Niên giám thống kê Việt Nam các năm, Tổng cục Thống kê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Graphic spid="11" grpId="0">
        <p:bldAsOne/>
      </p:bldGraphic>
      <p:bldP spid="12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tl"/>
          <p:cNvSpPr txBox="1"/>
          <p:nvPr/>
        </p:nvSpPr>
        <p:spPr>
          <a:xfrm>
            <a:off x="548640" y="292608"/>
            <a:ext cx="859536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3000" b="0" i="0" spc="30">
                <a:solidFill>
                  <a:srgbClr val="7A2A10"/>
                </a:solidFill>
                <a:latin typeface="Anton"/>
                <a:ea typeface="Anton"/>
                <a:cs typeface="Anton"/>
              </a:rPr>
              <a:t>THÀNH THỊ VÀ NÔNG THÔN NĂM 2024</a:t>
            </a:r>
          </a:p>
        </p:txBody>
      </p:sp>
      <p:sp>
        <p:nvSpPr>
          <p:cNvPr id="4" name="!!bar"/>
          <p:cNvSpPr/>
          <p:nvPr/>
        </p:nvSpPr>
        <p:spPr>
          <a:xfrm>
            <a:off x="548640" y="914400"/>
            <a:ext cx="822960" cy="5943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rumb"/>
          <p:cNvSpPr txBox="1"/>
          <p:nvPr/>
        </p:nvSpPr>
        <p:spPr>
          <a:xfrm>
            <a:off x="7436815" y="3840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spc="80">
                <a:solidFill>
                  <a:srgbClr val="A08576"/>
                </a:solidFill>
                <a:latin typeface="Lexend Medium"/>
                <a:ea typeface="Lexend Medium"/>
                <a:cs typeface="Lexend Medium"/>
              </a:rPr>
              <a:t>III. VẤN ĐỀ VIỆC LÀM &amp; HƯỚNG GIẢI QUYẾT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08576"/>
                </a:solidFill>
                <a:latin typeface="Anton"/>
                <a:ea typeface="Anton"/>
                <a:cs typeface="Anton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341468" cy="4937760"/>
          </a:xfrm>
          <a:prstGeom prst="roundRect">
            <a:avLst>
              <a:gd name="adj" fmla="val 2592"/>
            </a:avLst>
          </a:prstGeom>
          <a:solidFill>
            <a:srgbClr val="FFFFFF"/>
          </a:solidFill>
          <a:ln>
            <a:noFill/>
          </a:ln>
          <a:effectLst>
            <a:outerShdw blurRad="228600" dist="54864" dir="5400000" algn="ctr" rotWithShape="0">
              <a:srgbClr val="8A3A1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8" name="Picture 7" descr="7ee98d67d1689b95.jpg"/>
          <p:cNvPicPr>
            <a:picLocks noChangeAspect="1"/>
          </p:cNvPicPr>
          <p:nvPr/>
        </p:nvPicPr>
        <p:blipFill>
          <a:blip r:embed="rId3"/>
          <a:srcRect t="30028" b="30028"/>
          <a:stretch>
            <a:fillRect/>
          </a:stretch>
        </p:blipFill>
        <p:spPr>
          <a:xfrm>
            <a:off x="548640" y="1234440"/>
            <a:ext cx="5341468" cy="1600200"/>
          </a:xfrm>
          <a:prstGeom prst="round2SameRect">
            <a:avLst>
              <a:gd name="adj1" fmla="val 8000"/>
              <a:gd name="adj2" fmla="val 0"/>
            </a:avLst>
          </a:prstGeom>
        </p:spPr>
      </p:pic>
      <p:sp>
        <p:nvSpPr>
          <p:cNvPr id="9" name="Round Same Side Corner Rectangle 8"/>
          <p:cNvSpPr/>
          <p:nvPr/>
        </p:nvSpPr>
        <p:spPr>
          <a:xfrm>
            <a:off x="548640" y="1234440"/>
            <a:ext cx="5341468" cy="1600200"/>
          </a:xfrm>
          <a:prstGeom prst="round2SameRect">
            <a:avLst>
              <a:gd name="adj1" fmla="val 8000"/>
              <a:gd name="adj2" fmla="val 0"/>
            </a:avLst>
          </a:prstGeom>
          <a:gradFill rotWithShape="1">
            <a:gsLst>
              <a:gs pos="0">
                <a:srgbClr val="140D0A">
                  <a:alpha val="0"/>
                </a:srgbClr>
              </a:gs>
              <a:gs pos="60000">
                <a:srgbClr val="140D0A">
                  <a:alpha val="25000"/>
                </a:srgbClr>
              </a:gs>
              <a:gs pos="100000">
                <a:srgbClr val="140D0A">
                  <a:alpha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792828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effectLst>
                  <a:outerShdw blurRad="36576" dist="27432" dir="2700000" algn="ctr" rotWithShape="0">
                    <a:srgbClr val="000000">
                      <a:alpha val="50000"/>
                    </a:srgbClr>
                  </a:outerShdw>
                </a:effectLst>
                <a:latin typeface="Anton"/>
                <a:ea typeface="Anton"/>
                <a:cs typeface="Anton"/>
              </a:rPr>
              <a:t>THÀNH THỊ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 i="0">
                <a:solidFill>
                  <a:srgbClr val="F26B1F"/>
                </a:solidFill>
                <a:latin typeface="Anton"/>
                <a:ea typeface="Anton"/>
                <a:cs typeface="Anton"/>
              </a:rPr>
              <a:t>20,4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063240"/>
            <a:ext cx="305546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triệu lao động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3685032"/>
            <a:ext cx="4792828" cy="0"/>
          </a:xfrm>
          <a:prstGeom prst="line">
            <a:avLst/>
          </a:prstGeom>
          <a:ln w="9525">
            <a:solidFill>
              <a:srgbClr val="F4CD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379476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 i="0">
                <a:solidFill>
                  <a:srgbClr val="F26B1F"/>
                </a:solidFill>
                <a:latin typeface="Anton"/>
                <a:ea typeface="Anton"/>
                <a:cs typeface="Anton"/>
              </a:rPr>
              <a:t>2,53%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794760"/>
            <a:ext cx="305546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tỉ lệ thất nghiệp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4416552"/>
            <a:ext cx="4792828" cy="0"/>
          </a:xfrm>
          <a:prstGeom prst="line">
            <a:avLst/>
          </a:prstGeom>
          <a:ln w="9525">
            <a:solidFill>
              <a:srgbClr val="F4CD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452628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 i="0">
                <a:solidFill>
                  <a:srgbClr val="F26B1F"/>
                </a:solidFill>
                <a:latin typeface="Anton"/>
                <a:ea typeface="Anton"/>
                <a:cs typeface="Anton"/>
              </a:rPr>
              <a:t>1,29%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526280"/>
            <a:ext cx="305546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tỉ lệ thiếu việc làm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5148072"/>
            <a:ext cx="4792828" cy="0"/>
          </a:xfrm>
          <a:prstGeom prst="line">
            <a:avLst/>
          </a:prstGeom>
          <a:ln w="9525">
            <a:solidFill>
              <a:srgbClr val="F4CD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5303520"/>
            <a:ext cx="479282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Thất nghiệp cao hơn do </a:t>
            </a:r>
            <a:r>
              <a:rPr sz="115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lao động tập trung đông</a:t>
            </a:r>
            <a:r>
              <a:rPr sz="11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, yêu cầu tay nghề cao.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1588" y="1234440"/>
            <a:ext cx="5341468" cy="4937760"/>
          </a:xfrm>
          <a:prstGeom prst="roundRect">
            <a:avLst>
              <a:gd name="adj" fmla="val 2592"/>
            </a:avLst>
          </a:prstGeom>
          <a:solidFill>
            <a:srgbClr val="FFFFFF"/>
          </a:solidFill>
          <a:ln>
            <a:noFill/>
          </a:ln>
          <a:effectLst>
            <a:outerShdw blurRad="228600" dist="54864" dir="5400000" algn="ctr" rotWithShape="0">
              <a:srgbClr val="8A3A1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2" name="Picture 21" descr="5c0882d88c80ab1c.jpg"/>
          <p:cNvPicPr>
            <a:picLocks noChangeAspect="1"/>
          </p:cNvPicPr>
          <p:nvPr/>
        </p:nvPicPr>
        <p:blipFill>
          <a:blip r:embed="rId4"/>
          <a:srcRect t="17377" b="37377"/>
          <a:stretch>
            <a:fillRect/>
          </a:stretch>
        </p:blipFill>
        <p:spPr>
          <a:xfrm>
            <a:off x="6301588" y="1234440"/>
            <a:ext cx="5341468" cy="1600200"/>
          </a:xfrm>
          <a:prstGeom prst="round2SameRect">
            <a:avLst>
              <a:gd name="adj1" fmla="val 8000"/>
              <a:gd name="adj2" fmla="val 0"/>
            </a:avLst>
          </a:prstGeom>
        </p:spPr>
      </p:pic>
      <p:sp>
        <p:nvSpPr>
          <p:cNvPr id="23" name="Round Same Side Corner Rectangle 22"/>
          <p:cNvSpPr/>
          <p:nvPr/>
        </p:nvSpPr>
        <p:spPr>
          <a:xfrm>
            <a:off x="6301588" y="1234440"/>
            <a:ext cx="5341468" cy="1600200"/>
          </a:xfrm>
          <a:prstGeom prst="round2SameRect">
            <a:avLst>
              <a:gd name="adj1" fmla="val 8000"/>
              <a:gd name="adj2" fmla="val 0"/>
            </a:avLst>
          </a:prstGeom>
          <a:gradFill rotWithShape="1">
            <a:gsLst>
              <a:gs pos="0">
                <a:srgbClr val="140D0A">
                  <a:alpha val="0"/>
                </a:srgbClr>
              </a:gs>
              <a:gs pos="60000">
                <a:srgbClr val="140D0A">
                  <a:alpha val="25000"/>
                </a:srgbClr>
              </a:gs>
              <a:gs pos="100000">
                <a:srgbClr val="140D0A">
                  <a:alpha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5908" y="2194560"/>
            <a:ext cx="4792828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effectLst>
                  <a:outerShdw blurRad="36576" dist="27432" dir="2700000" algn="ctr" rotWithShape="0">
                    <a:srgbClr val="000000">
                      <a:alpha val="50000"/>
                    </a:srgbClr>
                  </a:outerShdw>
                </a:effectLst>
                <a:latin typeface="Anton"/>
                <a:ea typeface="Anton"/>
                <a:cs typeface="Anton"/>
              </a:rPr>
              <a:t>NÔNG THÔN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5908" y="30632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 i="0">
                <a:solidFill>
                  <a:srgbClr val="F26B1F"/>
                </a:solidFill>
                <a:latin typeface="Anton"/>
                <a:ea typeface="Anton"/>
                <a:cs typeface="Anton"/>
              </a:rPr>
              <a:t>32,5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8988" y="3063240"/>
            <a:ext cx="305546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triệu lao động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75908" y="3685032"/>
            <a:ext cx="4792827" cy="0"/>
          </a:xfrm>
          <a:prstGeom prst="line">
            <a:avLst/>
          </a:prstGeom>
          <a:ln w="9525">
            <a:solidFill>
              <a:srgbClr val="F4CD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75908" y="379476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 i="0">
                <a:solidFill>
                  <a:srgbClr val="F26B1F"/>
                </a:solidFill>
                <a:latin typeface="Anton"/>
                <a:ea typeface="Anton"/>
                <a:cs typeface="Anton"/>
              </a:rPr>
              <a:t>2,04%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8988" y="3794760"/>
            <a:ext cx="305546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tỉ lệ thất nghiệp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75908" y="4416552"/>
            <a:ext cx="4792827" cy="0"/>
          </a:xfrm>
          <a:prstGeom prst="line">
            <a:avLst/>
          </a:prstGeom>
          <a:ln w="9525">
            <a:solidFill>
              <a:srgbClr val="F4CD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75908" y="452628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 i="0">
                <a:solidFill>
                  <a:srgbClr val="F26B1F"/>
                </a:solidFill>
                <a:latin typeface="Anton"/>
                <a:ea typeface="Anton"/>
                <a:cs typeface="Anton"/>
              </a:rPr>
              <a:t>2,22%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8988" y="4526280"/>
            <a:ext cx="305546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tỉ lệ thiếu việc làm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75908" y="5148072"/>
            <a:ext cx="4792827" cy="0"/>
          </a:xfrm>
          <a:prstGeom prst="line">
            <a:avLst/>
          </a:prstGeom>
          <a:ln w="9525">
            <a:solidFill>
              <a:srgbClr val="F4CD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75908" y="5303520"/>
            <a:ext cx="479282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Thiếu việc làm cao hơn do </a:t>
            </a:r>
            <a:r>
              <a:rPr sz="115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tính mùa vụ</a:t>
            </a:r>
            <a:r>
              <a:rPr sz="11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 của sản xuất nông nghiệp.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291072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1">
                <a:solidFill>
                  <a:srgbClr val="A08576"/>
                </a:solidFill>
                <a:latin typeface="Lexend"/>
                <a:ea typeface="Lexend"/>
                <a:cs typeface="Lexend"/>
              </a:rPr>
              <a:t>Nguồn: Niên giám thống kê Việt Nam các năm, Tổng cục Thống kê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21" grpId="0" animBg="1"/>
      <p:bldP spid="23" grpId="0" animBg="1"/>
      <p:bldP spid="24" grpId="0" animBg="1"/>
      <p:bldP spid="14" grpId="0" animBg="1"/>
      <p:bldP spid="15" grpId="0" animBg="1"/>
      <p:bldP spid="17" grpId="0" animBg="1"/>
      <p:bldP spid="18" grpId="0" animBg="1"/>
      <p:bldP spid="25" grpId="0" animBg="1"/>
      <p:bldP spid="26" grpId="0" animBg="1"/>
      <p:bldP spid="20" grpId="0" animBg="1"/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tl"/>
          <p:cNvSpPr txBox="1"/>
          <p:nvPr/>
        </p:nvSpPr>
        <p:spPr>
          <a:xfrm>
            <a:off x="548640" y="292608"/>
            <a:ext cx="859536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3000" b="0" i="0" spc="30">
                <a:solidFill>
                  <a:srgbClr val="7A2A10"/>
                </a:solidFill>
                <a:latin typeface="Anton"/>
                <a:ea typeface="Anton"/>
                <a:cs typeface="Anton"/>
              </a:rPr>
              <a:t>THỊ TRƯỜNG LAO ĐỘNG NĂM 2024</a:t>
            </a:r>
          </a:p>
        </p:txBody>
      </p:sp>
      <p:sp>
        <p:nvSpPr>
          <p:cNvPr id="4" name="!!bar"/>
          <p:cNvSpPr/>
          <p:nvPr/>
        </p:nvSpPr>
        <p:spPr>
          <a:xfrm>
            <a:off x="548640" y="914400"/>
            <a:ext cx="822960" cy="5943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rumb"/>
          <p:cNvSpPr txBox="1"/>
          <p:nvPr/>
        </p:nvSpPr>
        <p:spPr>
          <a:xfrm>
            <a:off x="7436815" y="3840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spc="80">
                <a:solidFill>
                  <a:srgbClr val="A08576"/>
                </a:solidFill>
                <a:latin typeface="Lexend Medium"/>
                <a:ea typeface="Lexend Medium"/>
                <a:cs typeface="Lexend Medium"/>
              </a:rPr>
              <a:t>III. VẤN ĐỀ VIỆC LÀM &amp; HƯỚNG GIẢI QUYẾT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08576"/>
                </a:solidFill>
                <a:latin typeface="Anton"/>
                <a:ea typeface="Anton"/>
                <a:cs typeface="Anton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Một số chỉ tiêu chính về lao động – việc làm của nước ta (</a:t>
            </a:r>
            <a:r>
              <a:rPr sz="13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năm 2024</a:t>
            </a:r>
            <a:r>
              <a:rPr sz="13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2567864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>
            <a:noFill/>
          </a:ln>
          <a:effectLst>
            <a:outerShdw blurRad="228600" dist="54864" dir="5400000" algn="ctr" rotWithShape="0">
              <a:srgbClr val="8A3A1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2276856"/>
            <a:ext cx="566928" cy="566928"/>
          </a:xfrm>
          <a:prstGeom prst="ellipse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879" y="2412919"/>
            <a:ext cx="294803" cy="2948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2926080"/>
            <a:ext cx="2202104" cy="7315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4000" b="0" i="0">
                <a:solidFill>
                  <a:srgbClr val="F26B1F"/>
                </a:solidFill>
                <a:latin typeface="Anton"/>
                <a:ea typeface="Anton"/>
                <a:cs typeface="Anton"/>
              </a:rPr>
              <a:t>52,9</a:t>
            </a:r>
            <a:r>
              <a:rPr sz="16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 triệu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85032"/>
            <a:ext cx="2110664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Lực lượng lao động từ 15 tuổi trở lên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0824" y="2057400"/>
            <a:ext cx="2567864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>
            <a:noFill/>
          </a:ln>
          <a:effectLst>
            <a:outerShdw blurRad="228600" dist="54864" dir="5400000" algn="ctr" rotWithShape="0">
              <a:srgbClr val="8A3A1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6000" y="2276856"/>
            <a:ext cx="566928" cy="566928"/>
          </a:xfrm>
          <a:prstGeom prst="ellipse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raduation-ca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2063" y="2412919"/>
            <a:ext cx="294803" cy="29480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65144" y="2926080"/>
            <a:ext cx="2202104" cy="7315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4000" b="0" i="0">
                <a:solidFill>
                  <a:srgbClr val="F26B1F"/>
                </a:solidFill>
                <a:latin typeface="Anton"/>
                <a:ea typeface="Anton"/>
                <a:cs typeface="Anton"/>
              </a:rPr>
              <a:t>28,4</a:t>
            </a:r>
            <a:r>
              <a:rPr sz="16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5144" y="3685032"/>
            <a:ext cx="2110664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Lao động đã qua đào tạo từ sơ cấp trở lên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8" y="2057400"/>
            <a:ext cx="2567864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>
            <a:noFill/>
          </a:ln>
          <a:effectLst>
            <a:outerShdw blurRad="228600" dist="54864" dir="5400000" algn="ctr" rotWithShape="0">
              <a:srgbClr val="8A3A1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8184" y="2276856"/>
            <a:ext cx="566928" cy="566928"/>
          </a:xfrm>
          <a:prstGeom prst="ellipse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riefc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4246" y="2412919"/>
            <a:ext cx="294803" cy="29480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07328" y="2926080"/>
            <a:ext cx="2202104" cy="7315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4000" b="0" i="0">
                <a:solidFill>
                  <a:srgbClr val="F26B1F"/>
                </a:solidFill>
                <a:latin typeface="Anton"/>
                <a:ea typeface="Anton"/>
                <a:cs typeface="Anton"/>
              </a:rPr>
              <a:t>40,2</a:t>
            </a:r>
            <a:r>
              <a:rPr sz="16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328" y="3685032"/>
            <a:ext cx="2110664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Lao động làm việc trong khu vực dịch vụ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5191" y="2057400"/>
            <a:ext cx="2567864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>
            <a:noFill/>
          </a:ln>
          <a:effectLst>
            <a:outerShdw blurRad="228600" dist="54864" dir="5400000" algn="ctr" rotWithShape="0">
              <a:srgbClr val="8A3A1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40367" y="2276856"/>
            <a:ext cx="566928" cy="566928"/>
          </a:xfrm>
          <a:prstGeom prst="ellipse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trending-dow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6430" y="2412919"/>
            <a:ext cx="294803" cy="29480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349511" y="2926080"/>
            <a:ext cx="2202104" cy="7315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4000" b="0" i="0">
                <a:solidFill>
                  <a:srgbClr val="F26B1F"/>
                </a:solidFill>
                <a:latin typeface="Anton"/>
                <a:ea typeface="Anton"/>
                <a:cs typeface="Anton"/>
              </a:rPr>
              <a:t>2,53</a:t>
            </a:r>
            <a:r>
              <a:rPr sz="16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9511" y="3685032"/>
            <a:ext cx="2110664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Tỉ lệ thất nghiệp ở khu vực thành thị</a:t>
            </a:r>
          </a:p>
        </p:txBody>
      </p:sp>
      <p:pic>
        <p:nvPicPr>
          <p:cNvPr id="28" name="Picture 27" descr="ca82c23ece62563f.jpg"/>
          <p:cNvPicPr>
            <a:picLocks noChangeAspect="1"/>
          </p:cNvPicPr>
          <p:nvPr/>
        </p:nvPicPr>
        <p:blipFill>
          <a:blip r:embed="rId7"/>
          <a:srcRect t="24714" b="54714"/>
          <a:stretch>
            <a:fillRect/>
          </a:stretch>
        </p:blipFill>
        <p:spPr>
          <a:xfrm>
            <a:off x="548640" y="4480560"/>
            <a:ext cx="11094415" cy="1783080"/>
          </a:xfrm>
          <a:prstGeom prst="roundRect">
            <a:avLst>
              <a:gd name="adj" fmla="val 6153"/>
            </a:avLst>
          </a:prstGeom>
          <a:ln w="31750">
            <a:solidFill>
              <a:srgbClr val="FFFFFF"/>
            </a:solidFill>
          </a:ln>
          <a:effectLst>
            <a:outerShdw blurRad="274320" dist="73152" dir="5400000" algn="ctr" rotWithShape="0">
              <a:srgbClr val="6A2A08">
                <a:alpha val="28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8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tl"/>
          <p:cNvSpPr txBox="1"/>
          <p:nvPr/>
        </p:nvSpPr>
        <p:spPr>
          <a:xfrm>
            <a:off x="548640" y="292608"/>
            <a:ext cx="859536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3000" b="0" i="0" spc="30">
                <a:solidFill>
                  <a:srgbClr val="7A2A10"/>
                </a:solidFill>
                <a:latin typeface="Anton"/>
                <a:ea typeface="Anton"/>
                <a:cs typeface="Anton"/>
              </a:rPr>
              <a:t>2. HƯỚNG GIẢI QUYẾT VIỆC LÀM</a:t>
            </a:r>
          </a:p>
        </p:txBody>
      </p:sp>
      <p:sp>
        <p:nvSpPr>
          <p:cNvPr id="4" name="!!bar"/>
          <p:cNvSpPr/>
          <p:nvPr/>
        </p:nvSpPr>
        <p:spPr>
          <a:xfrm>
            <a:off x="548640" y="914400"/>
            <a:ext cx="822960" cy="5943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rumb"/>
          <p:cNvSpPr txBox="1"/>
          <p:nvPr/>
        </p:nvSpPr>
        <p:spPr>
          <a:xfrm>
            <a:off x="7436815" y="3840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spc="80">
                <a:solidFill>
                  <a:srgbClr val="A08576"/>
                </a:solidFill>
                <a:latin typeface="Lexend Medium"/>
                <a:ea typeface="Lexend Medium"/>
                <a:cs typeface="Lexend Medium"/>
              </a:rPr>
              <a:t>III. VẤN ĐỀ VIỆC LÀM &amp; HƯỚNG GIẢI QUYẾT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08576"/>
                </a:solidFill>
                <a:latin typeface="Anton"/>
                <a:ea typeface="Anton"/>
                <a:cs typeface="Anton"/>
              </a:rPr>
              <a:t>14</a:t>
            </a:r>
          </a:p>
        </p:txBody>
      </p:sp>
      <p:pic>
        <p:nvPicPr>
          <p:cNvPr id="7" name="!!p_worker" descr="cut_wo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272" y="2834640"/>
            <a:ext cx="2819295" cy="4206240"/>
          </a:xfrm>
          <a:prstGeom prst="rect">
            <a:avLst/>
          </a:prstGeom>
        </p:spPr>
      </p:pic>
      <p:pic>
        <p:nvPicPr>
          <p:cNvPr id="8" name="!!p_businessman" descr="cut_businessm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3157" y="1645920"/>
            <a:ext cx="2676406" cy="5394960"/>
          </a:xfrm>
          <a:prstGeom prst="rect">
            <a:avLst/>
          </a:prstGeom>
        </p:spPr>
      </p:pic>
      <p:pic>
        <p:nvPicPr>
          <p:cNvPr id="9" name="!!p_nurse" descr="cut_nur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996" y="3657600"/>
            <a:ext cx="2283768" cy="3429000"/>
          </a:xfrm>
          <a:prstGeom prst="rect">
            <a:avLst/>
          </a:prstGeom>
        </p:spPr>
      </p:pic>
      <p:pic>
        <p:nvPicPr>
          <p:cNvPr id="10" name="!!p_businesswoman" descr="cut_businesswom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8870" y="3840480"/>
            <a:ext cx="2225060" cy="3246120"/>
          </a:xfrm>
          <a:prstGeom prst="rect">
            <a:avLst/>
          </a:prstGeom>
        </p:spPr>
      </p:pic>
      <p:pic>
        <p:nvPicPr>
          <p:cNvPr id="11" name="!!swoosh" descr="swoosh.png"/>
          <p:cNvPicPr>
            <a:picLocks noChangeAspect="1"/>
          </p:cNvPicPr>
          <p:nvPr/>
        </p:nvPicPr>
        <p:blipFill>
          <a:blip r:embed="rId7"/>
          <a:srcRect l="84" r="84"/>
          <a:stretch>
            <a:fillRect/>
          </a:stretch>
        </p:blipFill>
        <p:spPr>
          <a:xfrm>
            <a:off x="6309360" y="4160520"/>
            <a:ext cx="6217920" cy="272491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1188720"/>
            <a:ext cx="6400800" cy="73152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F26B1F"/>
              </a:gs>
              <a:gs pos="100000">
                <a:srgbClr val="FF8A2A"/>
              </a:gs>
            </a:gsLst>
            <a:lin ang="0" scaled="0"/>
          </a:gradFill>
          <a:ln>
            <a:noFill/>
          </a:ln>
          <a:effectLst>
            <a:outerShdw blurRad="182880" dist="45720" dir="5400000" algn="ctr" rotWithShape="0">
              <a:srgbClr val="8A3A1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FFFFFF"/>
                </a:solidFill>
                <a:latin typeface="Lexend SemiBold"/>
                <a:ea typeface="Lexend SemiBold"/>
                <a:cs typeface="Lexend SemiBold"/>
              </a:rPr>
              <a:t>Để đảm bảo đủ việc làm cho người lao động, nước ta cần thực hiện các giải pháp chủ yếu sau:</a:t>
            </a:r>
          </a:p>
        </p:txBody>
      </p:sp>
      <p:pic>
        <p:nvPicPr>
          <p:cNvPr id="13" name="Picture 12" descr="circle-check_F26B1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2167128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2148840"/>
            <a:ext cx="5989320" cy="441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Hoàn thiện chính sách, pháp luật</a:t>
            </a:r>
            <a:r>
              <a:rPr sz="12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 về lao động nhằm khuyến khích, hỗ trợ, huy động mọi nguồn lực đầu tư tạo việc làm.</a:t>
            </a:r>
          </a:p>
        </p:txBody>
      </p:sp>
      <p:pic>
        <p:nvPicPr>
          <p:cNvPr id="15" name="Picture 14" descr="circle-check_F26B1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2791968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2773680"/>
            <a:ext cx="5989320" cy="441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Thúc đẩy tạo việc làm mới</a:t>
            </a:r>
            <a:r>
              <a:rPr sz="12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 thông qua phát triển các ngành kinh tế, kinh tế số, đổi mới sáng tạo.</a:t>
            </a:r>
          </a:p>
        </p:txBody>
      </p:sp>
      <p:pic>
        <p:nvPicPr>
          <p:cNvPr id="17" name="Picture 16" descr="circle-check_F26B1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3416808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3398520"/>
            <a:ext cx="5989320" cy="441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Đẩy mạnh đào tạo, dạy nghề</a:t>
            </a:r>
            <a:r>
              <a:rPr sz="12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 nâng cao trình độ chuyên môn kĩ thuật, kĩ năng làm việc, tác phong công nghiệp.</a:t>
            </a:r>
          </a:p>
        </p:txBody>
      </p:sp>
      <p:pic>
        <p:nvPicPr>
          <p:cNvPr id="19" name="Picture 18" descr="circle-check_F26B1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4041648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023360"/>
            <a:ext cx="5989320" cy="441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Phát triển hệ thống thông tin thị trường lao động</a:t>
            </a:r>
            <a:r>
              <a:rPr sz="12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 để người lao động tìm việc nhanh, minh bạch.</a:t>
            </a:r>
          </a:p>
        </p:txBody>
      </p:sp>
      <p:pic>
        <p:nvPicPr>
          <p:cNvPr id="21" name="Picture 20" descr="circle-check_F26B1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4666488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0120" y="4648200"/>
            <a:ext cx="5989320" cy="441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Thực hiện tốt bảo hiểm xã hội, bảo hiểm thất nghiệp</a:t>
            </a:r>
            <a:r>
              <a:rPr sz="12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 hỗ trợ người mất việc sớm trở lại làm việc.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619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619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tl"/>
          <p:cNvSpPr txBox="1"/>
          <p:nvPr/>
        </p:nvSpPr>
        <p:spPr>
          <a:xfrm>
            <a:off x="548640" y="292608"/>
            <a:ext cx="859536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3000" b="0" i="0" spc="30">
                <a:solidFill>
                  <a:srgbClr val="7A2A10"/>
                </a:solidFill>
                <a:latin typeface="Anton"/>
                <a:ea typeface="Anton"/>
                <a:cs typeface="Anton"/>
              </a:rPr>
              <a:t>TỪ ĐÀO TẠO ĐẾN VIỆC LÀM BỀN VỮNG</a:t>
            </a:r>
          </a:p>
        </p:txBody>
      </p:sp>
      <p:sp>
        <p:nvSpPr>
          <p:cNvPr id="4" name="!!bar"/>
          <p:cNvSpPr/>
          <p:nvPr/>
        </p:nvSpPr>
        <p:spPr>
          <a:xfrm>
            <a:off x="548640" y="914400"/>
            <a:ext cx="822960" cy="5943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rumb"/>
          <p:cNvSpPr txBox="1"/>
          <p:nvPr/>
        </p:nvSpPr>
        <p:spPr>
          <a:xfrm>
            <a:off x="7436815" y="3840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spc="80">
                <a:solidFill>
                  <a:srgbClr val="A08576"/>
                </a:solidFill>
                <a:latin typeface="Lexend Medium"/>
                <a:ea typeface="Lexend Medium"/>
                <a:cs typeface="Lexend Medium"/>
              </a:rPr>
              <a:t>III. VẤN ĐỀ VIỆC LÀM &amp; HƯỚNG GIẢI QUYẾT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08576"/>
                </a:solidFill>
                <a:latin typeface="Anton"/>
                <a:ea typeface="Anton"/>
                <a:cs typeface="Anton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Chuỗi giải pháp gắn </a:t>
            </a:r>
            <a:r>
              <a:rPr sz="13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giáo dục nghề nghiệp</a:t>
            </a:r>
            <a:r>
              <a:rPr sz="13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 với </a:t>
            </a:r>
            <a:r>
              <a:rPr sz="13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nhu cầu của thị trường lao động</a:t>
            </a:r>
            <a:r>
              <a:rPr sz="13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.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011680"/>
            <a:ext cx="2401763" cy="1051560"/>
          </a:xfrm>
          <a:prstGeom prst="homePlate">
            <a:avLst>
              <a:gd name="adj" fmla="val 32000"/>
            </a:avLst>
          </a:prstGeom>
          <a:solidFill>
            <a:srgbClr val="FF9A35"/>
          </a:solidFill>
          <a:ln>
            <a:noFill/>
          </a:ln>
          <a:effectLst>
            <a:outerShdw blurRad="182880" dist="45720" dir="5400000" algn="ctr" rotWithShape="0">
              <a:srgbClr val="8A3A1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9" name="Picture 8" descr="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634" y="2295144"/>
            <a:ext cx="493776" cy="4937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3200400"/>
            <a:ext cx="1853123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600" b="0" i="0">
                <a:solidFill>
                  <a:srgbClr val="F26B1F"/>
                </a:solidFill>
                <a:latin typeface="Anton"/>
                <a:ea typeface="Anton"/>
                <a:cs typeface="Anton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39312"/>
            <a:ext cx="1990283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350" b="0" i="0">
                <a:solidFill>
                  <a:srgbClr val="3E2A1F"/>
                </a:solidFill>
                <a:latin typeface="Lexend SemiBold"/>
                <a:ea typeface="Lexend SemiBold"/>
                <a:cs typeface="Lexend SemiBold"/>
              </a:rPr>
              <a:t>Định hướng nghề nghiệp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990283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Tư vấn chọn nghề phù hợp năng lực và nhu cầu xã hội.</a:t>
            </a:r>
          </a:p>
        </p:txBody>
      </p:sp>
      <p:sp>
        <p:nvSpPr>
          <p:cNvPr id="13" name="Chevron 12"/>
          <p:cNvSpPr/>
          <p:nvPr/>
        </p:nvSpPr>
        <p:spPr>
          <a:xfrm>
            <a:off x="2721803" y="2011680"/>
            <a:ext cx="2401763" cy="1051560"/>
          </a:xfrm>
          <a:prstGeom prst="chevron">
            <a:avLst>
              <a:gd name="adj" fmla="val 32000"/>
            </a:avLst>
          </a:prstGeom>
          <a:solidFill>
            <a:srgbClr val="F98227"/>
          </a:solidFill>
          <a:ln>
            <a:noFill/>
          </a:ln>
          <a:effectLst>
            <a:outerShdw blurRad="182880" dist="45720" dir="5400000" algn="ctr" rotWithShape="0">
              <a:srgbClr val="8A3A1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4" name="Picture 13" descr="graduation-ca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797" y="2295144"/>
            <a:ext cx="493776" cy="4937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96123" y="3200400"/>
            <a:ext cx="1853123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600" b="0" i="0">
                <a:solidFill>
                  <a:srgbClr val="F26B1F"/>
                </a:solidFill>
                <a:latin typeface="Anton"/>
                <a:ea typeface="Anton"/>
                <a:cs typeface="Anton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4683" y="3639312"/>
            <a:ext cx="1990283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350" b="0" i="0">
                <a:solidFill>
                  <a:srgbClr val="3E2A1F"/>
                </a:solidFill>
                <a:latin typeface="Lexend SemiBold"/>
                <a:ea typeface="Lexend SemiBold"/>
                <a:cs typeface="Lexend SemiBold"/>
              </a:rPr>
              <a:t>Đào tạo, dạy nghề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4683" y="4206240"/>
            <a:ext cx="1990283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Gắn nhà trường với doanh nghiệp, đào tạo kĩ năng số.</a:t>
            </a:r>
          </a:p>
        </p:txBody>
      </p:sp>
      <p:sp>
        <p:nvSpPr>
          <p:cNvPr id="18" name="Chevron 17"/>
          <p:cNvSpPr/>
          <p:nvPr/>
        </p:nvSpPr>
        <p:spPr>
          <a:xfrm>
            <a:off x="4894966" y="2011680"/>
            <a:ext cx="2401763" cy="1051560"/>
          </a:xfrm>
          <a:prstGeom prst="chevron">
            <a:avLst>
              <a:gd name="adj" fmla="val 32000"/>
            </a:avLst>
          </a:prstGeom>
          <a:solidFill>
            <a:srgbClr val="F26B1F"/>
          </a:solidFill>
          <a:ln>
            <a:noFill/>
          </a:ln>
          <a:effectLst>
            <a:outerShdw blurRad="182880" dist="45720" dir="5400000" algn="ctr" rotWithShape="0">
              <a:srgbClr val="8A3A1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9" name="Picture 18" descr="handshak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8960" y="2295144"/>
            <a:ext cx="493776" cy="4937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69286" y="3200400"/>
            <a:ext cx="1853123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600" b="0" i="0">
                <a:solidFill>
                  <a:srgbClr val="F26B1F"/>
                </a:solidFill>
                <a:latin typeface="Anton"/>
                <a:ea typeface="Anton"/>
                <a:cs typeface="Anton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7846" y="3639312"/>
            <a:ext cx="1990283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350" b="0" i="0">
                <a:solidFill>
                  <a:srgbClr val="3E2A1F"/>
                </a:solidFill>
                <a:latin typeface="Lexend SemiBold"/>
                <a:ea typeface="Lexend SemiBold"/>
                <a:cs typeface="Lexend SemiBold"/>
              </a:rPr>
              <a:t>Kết nối việc làm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7846" y="4206240"/>
            <a:ext cx="1990283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Sàn giao dịch việc làm, thông tin thị trường lao động.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8129" y="2011680"/>
            <a:ext cx="2401763" cy="1051560"/>
          </a:xfrm>
          <a:prstGeom prst="chevron">
            <a:avLst>
              <a:gd name="adj" fmla="val 32000"/>
            </a:avLst>
          </a:prstGeom>
          <a:solidFill>
            <a:srgbClr val="E3521C"/>
          </a:solidFill>
          <a:ln>
            <a:noFill/>
          </a:ln>
          <a:effectLst>
            <a:outerShdw blurRad="182880" dist="45720" dir="5400000" algn="ctr" rotWithShape="0">
              <a:srgbClr val="8A3A1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4" name="Picture 23" descr="building-2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2123" y="2295144"/>
            <a:ext cx="493776" cy="4937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42449" y="3200400"/>
            <a:ext cx="1853123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600" b="0" i="0">
                <a:solidFill>
                  <a:srgbClr val="F26B1F"/>
                </a:solidFill>
                <a:latin typeface="Anton"/>
                <a:ea typeface="Anton"/>
                <a:cs typeface="Anton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009" y="3639312"/>
            <a:ext cx="1990283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350" b="0" i="0">
                <a:solidFill>
                  <a:srgbClr val="3E2A1F"/>
                </a:solidFill>
                <a:latin typeface="Lexend SemiBold"/>
                <a:ea typeface="Lexend SemiBold"/>
                <a:cs typeface="Lexend SemiBold"/>
              </a:rPr>
              <a:t>Việc làm bền vững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1009" y="4206240"/>
            <a:ext cx="1990283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Phát triển doanh nghiệp, thu hút đầu tư tạo việc làm mới.</a:t>
            </a:r>
          </a:p>
        </p:txBody>
      </p:sp>
      <p:sp>
        <p:nvSpPr>
          <p:cNvPr id="28" name="Chevron 27"/>
          <p:cNvSpPr/>
          <p:nvPr/>
        </p:nvSpPr>
        <p:spPr>
          <a:xfrm>
            <a:off x="9241292" y="2011680"/>
            <a:ext cx="2401763" cy="1051560"/>
          </a:xfrm>
          <a:prstGeom prst="chevron">
            <a:avLst>
              <a:gd name="adj" fmla="val 32000"/>
            </a:avLst>
          </a:prstGeom>
          <a:solidFill>
            <a:srgbClr val="D9381E"/>
          </a:solidFill>
          <a:ln>
            <a:noFill/>
          </a:ln>
          <a:effectLst>
            <a:outerShdw blurRad="182880" dist="45720" dir="5400000" algn="ctr" rotWithShape="0">
              <a:srgbClr val="8A3A1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9" name="Picture 28" descr="shield-chec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5286" y="2295144"/>
            <a:ext cx="493776" cy="4937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515612" y="3200400"/>
            <a:ext cx="1853123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600" b="0" i="0">
                <a:solidFill>
                  <a:srgbClr val="F26B1F"/>
                </a:solidFill>
                <a:latin typeface="Anton"/>
                <a:ea typeface="Anton"/>
                <a:cs typeface="Anton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4172" y="3639312"/>
            <a:ext cx="1990283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350" b="0" i="0">
                <a:solidFill>
                  <a:srgbClr val="3E2A1F"/>
                </a:solidFill>
                <a:latin typeface="Lexend SemiBold"/>
                <a:ea typeface="Lexend SemiBold"/>
                <a:cs typeface="Lexend SemiBold"/>
              </a:rPr>
              <a:t>An sinh xã hội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4172" y="4206240"/>
            <a:ext cx="1990283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Bảo hiểm thất nghiệp, hỗ trợ chuyển đổi nghề.</a:t>
            </a:r>
          </a:p>
        </p:txBody>
      </p:sp>
      <p:pic>
        <p:nvPicPr>
          <p:cNvPr id="33" name="Picture 32" descr="6a6a2288244b0297.jpg"/>
          <p:cNvPicPr>
            <a:picLocks noChangeAspect="1"/>
          </p:cNvPicPr>
          <p:nvPr/>
        </p:nvPicPr>
        <p:blipFill>
          <a:blip r:embed="rId8"/>
          <a:srcRect t="41683" b="41683"/>
          <a:stretch>
            <a:fillRect/>
          </a:stretch>
        </p:blipFill>
        <p:spPr>
          <a:xfrm>
            <a:off x="548640" y="5074920"/>
            <a:ext cx="11094415" cy="1234440"/>
          </a:xfrm>
          <a:prstGeom prst="roundRect">
            <a:avLst>
              <a:gd name="adj" fmla="val 8888"/>
            </a:avLst>
          </a:prstGeom>
          <a:ln w="31750">
            <a:solidFill>
              <a:srgbClr val="FFFFFF"/>
            </a:solidFill>
          </a:ln>
          <a:effectLst>
            <a:outerShdw blurRad="274320" dist="73152" dir="5400000" algn="ctr" rotWithShape="0">
              <a:srgbClr val="6A2A08">
                <a:alpha val="28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8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8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8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8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8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fill="hold" grpId="0" nodeType="withEffect">
                                  <p:stCondLst>
                                    <p:cond delay="1099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fill="hold" grpId="0" nodeType="withEffect">
                                  <p:stCondLst>
                                    <p:cond delay="1099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8" fill="hold" grpId="0" nodeType="withEffect">
                                  <p:stCondLst>
                                    <p:cond delay="1099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8" fill="hold" grpId="0" nodeType="withEffect">
                                  <p:stCondLst>
                                    <p:cond delay="1099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8" fill="hold" grpId="0" nodeType="withEffect">
                                  <p:stCondLst>
                                    <p:cond delay="1099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8" fill="hold" grpId="0" nodeType="withEffect">
                                  <p:stCondLst>
                                    <p:cond delay="1299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8" fill="hold" grpId="0" nodeType="withEffect">
                                  <p:stCondLst>
                                    <p:cond delay="1299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8" fill="hold" grpId="0" nodeType="withEffect">
                                  <p:stCondLst>
                                    <p:cond delay="1299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8" fill="hold" grpId="0" nodeType="withEffect">
                                  <p:stCondLst>
                                    <p:cond delay="1299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8" fill="hold" grpId="0" nodeType="withEffect">
                                  <p:stCondLst>
                                    <p:cond delay="1299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tl"/>
          <p:cNvSpPr txBox="1"/>
          <p:nvPr/>
        </p:nvSpPr>
        <p:spPr>
          <a:xfrm>
            <a:off x="548640" y="292608"/>
            <a:ext cx="859536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3000" b="0" i="0" spc="30">
                <a:solidFill>
                  <a:srgbClr val="7A2A10"/>
                </a:solidFill>
                <a:latin typeface="Anton"/>
                <a:ea typeface="Anton"/>
                <a:cs typeface="Anton"/>
              </a:rPr>
              <a:t>KẾT LUẬN</a:t>
            </a:r>
          </a:p>
        </p:txBody>
      </p:sp>
      <p:sp>
        <p:nvSpPr>
          <p:cNvPr id="4" name="!!bar"/>
          <p:cNvSpPr/>
          <p:nvPr/>
        </p:nvSpPr>
        <p:spPr>
          <a:xfrm>
            <a:off x="548640" y="914400"/>
            <a:ext cx="822960" cy="5943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rumb"/>
          <p:cNvSpPr txBox="1"/>
          <p:nvPr/>
        </p:nvSpPr>
        <p:spPr>
          <a:xfrm>
            <a:off x="7436815" y="3840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spc="80">
                <a:solidFill>
                  <a:srgbClr val="A08576"/>
                </a:solidFill>
                <a:latin typeface="Lexend Medium"/>
                <a:ea typeface="Lexend Medium"/>
                <a:cs typeface="Lexend Medium"/>
              </a:rPr>
              <a:t>III. VẤN ĐỀ VIỆC LÀM &amp; HƯỚNG GIẢI QUYẾT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7395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A08576"/>
                </a:solidFill>
                <a:latin typeface="Anton"/>
                <a:ea typeface="Anton"/>
                <a:cs typeface="Anton"/>
              </a:rPr>
              <a:t>16</a:t>
            </a:r>
          </a:p>
        </p:txBody>
      </p:sp>
      <p:pic>
        <p:nvPicPr>
          <p:cNvPr id="7" name="Picture 6" descr="7b04f5074a2fad76.jpg"/>
          <p:cNvPicPr>
            <a:picLocks noChangeAspect="1"/>
          </p:cNvPicPr>
          <p:nvPr/>
        </p:nvPicPr>
        <p:blipFill>
          <a:blip r:embed="rId3"/>
          <a:srcRect t="2449" b="32449"/>
          <a:stretch>
            <a:fillRect/>
          </a:stretch>
        </p:blipFill>
        <p:spPr>
          <a:xfrm>
            <a:off x="548640" y="1234440"/>
            <a:ext cx="5120640" cy="4983480"/>
          </a:xfrm>
          <a:prstGeom prst="roundRect">
            <a:avLst>
              <a:gd name="adj" fmla="val 3302"/>
            </a:avLst>
          </a:prstGeom>
          <a:ln w="31750">
            <a:solidFill>
              <a:srgbClr val="FFFFFF"/>
            </a:solidFill>
          </a:ln>
          <a:effectLst>
            <a:outerShdw blurRad="274320" dist="73152" dir="5400000" algn="ctr" rotWithShape="0">
              <a:srgbClr val="6A2A08">
                <a:alpha val="28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6126480" y="100584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0" b="0" i="0">
                <a:solidFill>
                  <a:srgbClr val="F26B1F"/>
                </a:solidFill>
                <a:latin typeface="Anton"/>
                <a:ea typeface="Anton"/>
                <a:cs typeface="Anton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783080"/>
            <a:ext cx="5470855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 i="0">
                <a:solidFill>
                  <a:srgbClr val="3E2A1F"/>
                </a:solidFill>
                <a:latin typeface="Lexend Medium"/>
                <a:ea typeface="Lexend Medium"/>
                <a:cs typeface="Lexend Medium"/>
              </a:rPr>
              <a:t>Nguồn lao động </a:t>
            </a:r>
            <a:r>
              <a:rPr sz="170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dồi dào, chất lượng ngày càng nâng lên</a:t>
            </a:r>
            <a:r>
              <a:rPr sz="1700" b="0" i="0">
                <a:solidFill>
                  <a:srgbClr val="3E2A1F"/>
                </a:solidFill>
                <a:latin typeface="Lexend Medium"/>
                <a:ea typeface="Lexend Medium"/>
                <a:cs typeface="Lexend Medium"/>
              </a:rPr>
              <a:t> là lợi thế lớn cho phát triển kinh tế – xã hội của nước ta.</a:t>
            </a:r>
          </a:p>
        </p:txBody>
      </p:sp>
      <p:pic>
        <p:nvPicPr>
          <p:cNvPr id="10" name="Picture 9" descr="circle-check_F26B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685032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0" y="3657600"/>
            <a:ext cx="5059375" cy="4425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Cơ cấu lao động chuyển dịch theo hướng </a:t>
            </a:r>
            <a:r>
              <a:rPr sz="125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công nghiệp hóa, hiện đại hóa</a:t>
            </a:r>
            <a:r>
              <a:rPr sz="12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.</a:t>
            </a:r>
          </a:p>
        </p:txBody>
      </p:sp>
      <p:pic>
        <p:nvPicPr>
          <p:cNvPr id="12" name="Picture 11" descr="circle-check_F26B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328795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0" y="4301363"/>
            <a:ext cx="5059375" cy="2441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Tỉ lệ thất nghiệp và thiếu việc làm </a:t>
            </a:r>
            <a:r>
              <a:rPr sz="125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ở mức thấp</a:t>
            </a:r>
            <a:r>
              <a:rPr sz="12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.</a:t>
            </a:r>
          </a:p>
        </p:txBody>
      </p:sp>
      <p:pic>
        <p:nvPicPr>
          <p:cNvPr id="14" name="Picture 13" descr="circle-check_F26B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774121"/>
            <a:ext cx="274320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0" y="4746688"/>
            <a:ext cx="5059375" cy="2441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Cần </a:t>
            </a:r>
            <a:r>
              <a:rPr sz="1250" b="0" i="0">
                <a:solidFill>
                  <a:srgbClr val="F26B1F"/>
                </a:solidFill>
                <a:latin typeface="Lexend SemiBold"/>
                <a:ea typeface="Lexend SemiBold"/>
                <a:cs typeface="Lexend SemiBold"/>
              </a:rPr>
              <a:t>nâng cao chất lượng</a:t>
            </a:r>
            <a:r>
              <a:rPr sz="125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 lao động để đáp ứng thời kì mới.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3" grpId="0" animBg="1"/>
      <p:bldP spid="15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D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d119e878424a5b1c.jpg"/>
          <p:cNvPicPr>
            <a:picLocks noChangeAspect="1"/>
          </p:cNvPicPr>
          <p:nvPr/>
        </p:nvPicPr>
        <p:blipFill>
          <a:blip r:embed="rId2"/>
          <a:srcRect t="7832" b="783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ha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40D0A">
                  <a:alpha val="88000"/>
                </a:srgbClr>
              </a:gs>
              <a:gs pos="45000">
                <a:srgbClr val="140D0A">
                  <a:alpha val="62000"/>
                </a:srgbClr>
              </a:gs>
              <a:gs pos="80000">
                <a:srgbClr val="140D0A">
                  <a:alpha val="18000"/>
                </a:srgbClr>
              </a:gs>
              <a:gs pos="100000">
                <a:srgbClr val="140D0A">
                  <a:alpha val="5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t1"/>
          <p:cNvSpPr txBox="1"/>
          <p:nvPr/>
        </p:nvSpPr>
        <p:spPr>
          <a:xfrm>
            <a:off x="548640" y="1463040"/>
            <a:ext cx="7772400" cy="149860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/>
            <a:r>
              <a:rPr sz="10000" b="0" i="0">
                <a:solidFill>
                  <a:srgbClr val="FFFFFF"/>
                </a:solidFill>
                <a:effectLst>
                  <a:outerShdw blurRad="128016" dist="54864" dir="5400000" algn="ctr" rotWithShape="0">
                    <a:srgbClr val="000000">
                      <a:alpha val="65000"/>
                    </a:srgbClr>
                  </a:outerShdw>
                </a:effectLst>
                <a:latin typeface="Anton"/>
                <a:ea typeface="Anton"/>
                <a:cs typeface="Anton"/>
              </a:rPr>
              <a:t>XIN CẢM ƠN</a:t>
            </a:r>
          </a:p>
        </p:txBody>
      </p:sp>
      <p:sp>
        <p:nvSpPr>
          <p:cNvPr id="5" name="!!t2"/>
          <p:cNvSpPr txBox="1"/>
          <p:nvPr/>
        </p:nvSpPr>
        <p:spPr>
          <a:xfrm>
            <a:off x="548640" y="2961640"/>
            <a:ext cx="7772400" cy="11239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200" b="0" i="0">
                <a:solidFill>
                  <a:srgbClr val="FF8A2A"/>
                </a:solidFill>
                <a:effectLst>
                  <a:outerShdw blurRad="128016" dist="54864" dir="5400000" algn="ctr" rotWithShape="0">
                    <a:srgbClr val="000000">
                      <a:alpha val="65000"/>
                    </a:srgbClr>
                  </a:outerShdw>
                </a:effectLst>
                <a:latin typeface="Anton"/>
                <a:ea typeface="Anton"/>
                <a:cs typeface="Anton"/>
              </a:rPr>
              <a:t>ĐÃ LẮNG NGHE</a:t>
            </a:r>
          </a:p>
        </p:txBody>
      </p:sp>
      <p:sp>
        <p:nvSpPr>
          <p:cNvPr id="6" name="!!pres"/>
          <p:cNvSpPr/>
          <p:nvPr/>
        </p:nvSpPr>
        <p:spPr>
          <a:xfrm>
            <a:off x="548640" y="5669280"/>
            <a:ext cx="3138468" cy="457200"/>
          </a:xfrm>
          <a:prstGeom prst="roundRect">
            <a:avLst>
              <a:gd name="adj" fmla="val 20000"/>
            </a:avLst>
          </a:prstGeom>
          <a:solidFill>
            <a:srgbClr val="000000">
              <a:alpha val="45000"/>
            </a:srgbClr>
          </a:solidFill>
          <a:ln w="9525">
            <a:solidFill>
              <a:srgbClr val="FFFF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7" name="Picture 6" descr="user-roun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779008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5669280"/>
            <a:ext cx="2589828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 spc="120">
                <a:solidFill>
                  <a:srgbClr val="FFFFFF"/>
                </a:solidFill>
                <a:latin typeface="Anton"/>
                <a:ea typeface="Anton"/>
                <a:cs typeface="Anton"/>
              </a:rPr>
              <a:t>TRÌNH BÀY: NHÓM 2 – LỚP 12A1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pap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7A2A10"/>
                </a:solidFill>
                <a:latin typeface="Anton"/>
                <a:ea typeface="Anton"/>
                <a:cs typeface="Anton"/>
              </a:rPr>
              <a:t>NGUỒN HÌNH 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1">
                <a:solidFill>
                  <a:srgbClr val="A08576"/>
                </a:solidFill>
                <a:latin typeface="Lexend"/>
                <a:ea typeface="Lexend"/>
                <a:cs typeface="Lexend"/>
              </a:rPr>
              <a:t>Slide ẩn — không hiển thị khi trình chiếu. Ảnh: bộ dữ liệu Open Images (Google), giấy phép CC BY 2.0; người được tách nền từ ảnh. Bản đồ: Natural Earth (public domain). Icon: Lucide (ISC). Font: Anton, Lexend (SIL OFL).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94960" cy="4937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• IMG_6588-1 — Adam Lewicki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• IMG_2796 — PWRDF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• SP 10-0055-006 — New Zealand Defence Force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• My Neighbor hard at work for me — Aiko, Thomas &amp;amp; Juliette+Isaac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• Sparkalicious — Derek Gavey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• DSC08088 — Oleg.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• Firefighter talks to media — U.S. Fish and Wildlife Service Northeast Region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• Women in nontraditional jobs (4 of 12) — Sean McGrath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• Lançamento da pedra fundamental — Fotos GOVBA (Flickr, CC BY 2.0)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600200"/>
            <a:ext cx="5394960" cy="4937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• rice harvest — Hoang Giang Hai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• threshing rice — Alana King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• Nurse — Walt Stoneburner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• Ylva Sarby Westman — Kungsleden AB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• Hafiizh + Syuhada // Reception — Azlan DuPree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• Bike Traffice: Vietnam — Greg Walters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• AusAID 2005; Globalisation and Trade; Markets  — Department of Foreign Affairs and Trade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A473C"/>
                </a:solidFill>
                <a:latin typeface="Lexend"/>
                <a:ea typeface="Lexend"/>
                <a:cs typeface="Lexend"/>
              </a:rPr>
              <a:t>• floating mekong market — A of DooM (Flickr, CC BY 2.0)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