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Sản lượng (tấn)</c:v>
                </c:pt>
              </c:strCache>
            </c:strRef>
          </c:tx>
          <c:spPr>
            <a:solidFill>
              <a:srgbClr val="1D4B3A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26</c:v>
                </c:pt>
                <c:pt idx="3">
                  <c:v>35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50" b="1">
                  <a:solidFill>
                    <a:srgbClr val="3B241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E8DCC8"/>
            </a:solidFill>
          </a:ln>
        </c:spPr>
        <c:txPr>
          <a:bodyPr/>
          <a:lstStyle/>
          <a:p>
            <a:pPr>
              <a:defRPr sz="1050">
                <a:solidFill>
                  <a:srgbClr val="9C8A78"/>
                </a:solidFill>
                <a:latin typeface="Mulish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 val="0"/>
        <c:axPos val="l"/>
        <c:majorGridlines>
          <c:spPr>
            <a:ln w="7620">
              <a:solidFill>
                <a:srgbClr val="E8DCC8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9C8A78"/>
                </a:solidFill>
                <a:latin typeface="Mulish"/>
              </a:defRPr>
            </a:pPr>
          </a:p>
        </c:txPr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9C8A78"/>
          </a:solidFill>
          <a:latin typeface="Mulish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Tên sản phẩm, quy cách và số liệu là MINH HỌA — thay bằng danh mục và hồ sơ sản phẩm thật của HTX.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Relationship Id="rId12" Type="http://schemas.openxmlformats.org/officeDocument/2006/relationships/image" Target="../media/image16.png"/><Relationship Id="rId1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11.png"/><Relationship Id="rId9" Type="http://schemas.openxmlformats.org/officeDocument/2006/relationships/image" Target="../media/image10.png"/><Relationship Id="rId10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5.png"/><Relationship Id="rId11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9.png"/><Relationship Id="rId14" Type="http://schemas.openxmlformats.org/officeDocument/2006/relationships/image" Target="../media/image10.png"/><Relationship Id="rId15" Type="http://schemas.openxmlformats.org/officeDocument/2006/relationships/image" Target="../media/image11.png"/><Relationship Id="rId16" Type="http://schemas.openxmlformats.org/officeDocument/2006/relationships/image" Target="../media/image16.png"/><Relationship Id="rId17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26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1.png"/><Relationship Id="rId13" Type="http://schemas.openxmlformats.org/officeDocument/2006/relationships/image" Target="../media/image10.png"/><Relationship Id="rId14" Type="http://schemas.openxmlformats.org/officeDocument/2006/relationships/image" Target="../media/image9.png"/><Relationship Id="rId15" Type="http://schemas.openxmlformats.org/officeDocument/2006/relationships/image" Target="../media/image11.png"/><Relationship Id="rId16" Type="http://schemas.openxmlformats.org/officeDocument/2006/relationships/image" Target="../media/image16.png"/><Relationship Id="rId17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20.png"/><Relationship Id="rId10" Type="http://schemas.openxmlformats.org/officeDocument/2006/relationships/image" Target="../media/image23.png"/><Relationship Id="rId11" Type="http://schemas.openxmlformats.org/officeDocument/2006/relationships/image" Target="../media/image26.png"/><Relationship Id="rId12" Type="http://schemas.openxmlformats.org/officeDocument/2006/relationships/image" Target="../media/image21.png"/><Relationship Id="rId13" Type="http://schemas.openxmlformats.org/officeDocument/2006/relationships/image" Target="../media/image11.png"/><Relationship Id="rId14" Type="http://schemas.openxmlformats.org/officeDocument/2006/relationships/image" Target="../media/image9.png"/><Relationship Id="rId15" Type="http://schemas.openxmlformats.org/officeDocument/2006/relationships/image" Target="../media/image10.png"/><Relationship Id="rId16" Type="http://schemas.openxmlformats.org/officeDocument/2006/relationships/image" Target="../media/image16.png"/><Relationship Id="rId17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22.png"/><Relationship Id="rId10" Type="http://schemas.openxmlformats.org/officeDocument/2006/relationships/image" Target="../media/image21.png"/><Relationship Id="rId11" Type="http://schemas.openxmlformats.org/officeDocument/2006/relationships/image" Target="../media/image26.png"/><Relationship Id="rId12" Type="http://schemas.openxmlformats.org/officeDocument/2006/relationships/image" Target="../media/image20.png"/><Relationship Id="rId13" Type="http://schemas.openxmlformats.org/officeDocument/2006/relationships/image" Target="../media/image16.png"/><Relationship Id="rId14" Type="http://schemas.openxmlformats.org/officeDocument/2006/relationships/image" Target="../media/image9.png"/><Relationship Id="rId15" Type="http://schemas.openxmlformats.org/officeDocument/2006/relationships/image" Target="../media/image10.png"/><Relationship Id="rId16" Type="http://schemas.openxmlformats.org/officeDocument/2006/relationships/image" Target="../media/image11.png"/><Relationship Id="rId17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26.png"/><Relationship Id="rId10" Type="http://schemas.openxmlformats.org/officeDocument/2006/relationships/image" Target="../media/image23.png"/><Relationship Id="rId11" Type="http://schemas.openxmlformats.org/officeDocument/2006/relationships/image" Target="../media/image20.png"/><Relationship Id="rId12" Type="http://schemas.openxmlformats.org/officeDocument/2006/relationships/image" Target="../media/image22.png"/><Relationship Id="rId13" Type="http://schemas.openxmlformats.org/officeDocument/2006/relationships/image" Target="../media/image24.png"/><Relationship Id="rId14" Type="http://schemas.openxmlformats.org/officeDocument/2006/relationships/image" Target="../media/image9.png"/><Relationship Id="rId15" Type="http://schemas.openxmlformats.org/officeDocument/2006/relationships/image" Target="../media/image10.png"/><Relationship Id="rId16" Type="http://schemas.openxmlformats.org/officeDocument/2006/relationships/image" Target="../media/image11.png"/><Relationship Id="rId17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29.png"/><Relationship Id="rId8" Type="http://schemas.openxmlformats.org/officeDocument/2006/relationships/image" Target="../media/image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chart" Target="../charts/chart1.xml"/><Relationship Id="rId8" Type="http://schemas.openxmlformats.org/officeDocument/2006/relationships/image" Target="../media/image3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40.jpg"/><Relationship Id="rId8" Type="http://schemas.openxmlformats.org/officeDocument/2006/relationships/image" Target="../media/image41.jpg"/><Relationship Id="rId9" Type="http://schemas.openxmlformats.org/officeDocument/2006/relationships/image" Target="../media/image4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0.png"/><Relationship Id="rId9" Type="http://schemas.openxmlformats.org/officeDocument/2006/relationships/image" Target="../media/image9.png"/><Relationship Id="rId10" Type="http://schemas.openxmlformats.org/officeDocument/2006/relationships/image" Target="../media/image11.png"/><Relationship Id="rId11" Type="http://schemas.openxmlformats.org/officeDocument/2006/relationships/image" Target="../media/image24.png"/><Relationship Id="rId12" Type="http://schemas.openxmlformats.org/officeDocument/2006/relationships/image" Target="../media/image3.png"/><Relationship Id="rId13" Type="http://schemas.openxmlformats.org/officeDocument/2006/relationships/image" Target="../media/image4.png"/><Relationship Id="rId14" Type="http://schemas.openxmlformats.org/officeDocument/2006/relationships/image" Target="../media/image5.png"/><Relationship Id="rId15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_F6F1E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grass" descr="grass.png"/>
          <p:cNvPicPr>
            <a:picLocks noChangeAspect="1"/>
          </p:cNvPicPr>
          <p:nvPr/>
        </p:nvPicPr>
        <p:blipFill>
          <a:blip r:embed="rId3"/>
          <a:srcRect t="13999" b="13999"/>
          <a:stretch>
            <a:fillRect/>
          </a:stretch>
        </p:blipFill>
        <p:spPr>
          <a:xfrm>
            <a:off x="0" y="4937760"/>
            <a:ext cx="12191695" cy="1920240"/>
          </a:xfrm>
          <a:prstGeom prst="rect">
            <a:avLst/>
          </a:prstGeom>
        </p:spPr>
      </p:pic>
      <p:sp>
        <p:nvSpPr>
          <p:cNvPr id="4" name="!!word"/>
          <p:cNvSpPr txBox="1"/>
          <p:nvPr/>
        </p:nvSpPr>
        <p:spPr>
          <a:xfrm>
            <a:off x="274320" y="1051560"/>
            <a:ext cx="11643055" cy="22402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16800" b="0" i="0">
                <a:solidFill>
                  <a:srgbClr val="1D4B3A"/>
                </a:solidFill>
                <a:effectLst>
                  <a:outerShdw blurRad="73152" dist="36576" dir="5400000" algn="ctr" rotWithShape="0">
                    <a:srgbClr val="5A0A14">
                      <a:alpha val="25000"/>
                    </a:srgbClr>
                  </a:outerShdw>
                </a:effectLst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pic>
        <p:nvPicPr>
          <p:cNvPr id="5" name="!!d0" descr="slice_durian.png"/>
          <p:cNvPicPr>
            <a:picLocks noChangeAspect="1"/>
          </p:cNvPicPr>
          <p:nvPr/>
        </p:nvPicPr>
        <p:blipFill>
          <a:blip r:embed="rId4"/>
          <a:srcRect l="0" r="0"/>
          <a:stretch>
            <a:fillRect/>
          </a:stretch>
        </p:blipFill>
        <p:spPr>
          <a:xfrm rot="748224">
            <a:off x="467562" y="3779239"/>
            <a:ext cx="614452" cy="392567"/>
          </a:xfrm>
          <a:prstGeom prst="rect">
            <a:avLst/>
          </a:prstGeom>
        </p:spPr>
      </p:pic>
      <p:pic>
        <p:nvPicPr>
          <p:cNvPr id="6" name="!!d1" descr="slice_ginger.png"/>
          <p:cNvPicPr>
            <a:picLocks noChangeAspect="1"/>
          </p:cNvPicPr>
          <p:nvPr/>
        </p:nvPicPr>
        <p:blipFill>
          <a:blip r:embed="rId5"/>
          <a:srcRect l="0" r="0"/>
          <a:stretch>
            <a:fillRect/>
          </a:stretch>
        </p:blipFill>
        <p:spPr>
          <a:xfrm rot="2429777">
            <a:off x="10913684" y="427081"/>
            <a:ext cx="418704" cy="243119"/>
          </a:xfrm>
          <a:prstGeom prst="rect">
            <a:avLst/>
          </a:prstGeom>
        </p:spPr>
      </p:pic>
      <p:pic>
        <p:nvPicPr>
          <p:cNvPr id="7" name="!!d2" descr="leaf_blur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21385897">
            <a:off x="340907" y="3522630"/>
            <a:ext cx="957731" cy="544261"/>
          </a:xfrm>
          <a:prstGeom prst="rect">
            <a:avLst/>
          </a:prstGeom>
        </p:spPr>
      </p:pic>
      <p:pic>
        <p:nvPicPr>
          <p:cNvPr id="8" name="!!d3" descr="slice_passion_blur.png"/>
          <p:cNvPicPr>
            <a:picLocks noChangeAspect="1"/>
          </p:cNvPicPr>
          <p:nvPr/>
        </p:nvPicPr>
        <p:blipFill>
          <a:blip r:embed="rId7"/>
          <a:srcRect l="0" r="0"/>
          <a:stretch>
            <a:fillRect/>
          </a:stretch>
        </p:blipFill>
        <p:spPr>
          <a:xfrm rot="19084438">
            <a:off x="11223742" y="3529510"/>
            <a:ext cx="762098" cy="530500"/>
          </a:xfrm>
          <a:prstGeom prst="rect">
            <a:avLst/>
          </a:prstGeom>
        </p:spPr>
      </p:pic>
      <p:pic>
        <p:nvPicPr>
          <p:cNvPr id="9" name="!!d4" descr="leaf_b_blur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1737013">
            <a:off x="1260249" y="5445960"/>
            <a:ext cx="698518" cy="375415"/>
          </a:xfrm>
          <a:prstGeom prst="rect">
            <a:avLst/>
          </a:prstGeom>
        </p:spPr>
      </p:pic>
      <p:pic>
        <p:nvPicPr>
          <p:cNvPr id="10" name="!!d5" descr="slice_durian_blur.png"/>
          <p:cNvPicPr>
            <a:picLocks noChangeAspect="1"/>
          </p:cNvPicPr>
          <p:nvPr/>
        </p:nvPicPr>
        <p:blipFill>
          <a:blip r:embed="rId9"/>
          <a:srcRect t="0" b="0"/>
          <a:stretch>
            <a:fillRect/>
          </a:stretch>
        </p:blipFill>
        <p:spPr>
          <a:xfrm rot="655917">
            <a:off x="10813749" y="266379"/>
            <a:ext cx="827475" cy="564522"/>
          </a:xfrm>
          <a:prstGeom prst="rect">
            <a:avLst/>
          </a:prstGeom>
        </p:spPr>
      </p:pic>
      <p:pic>
        <p:nvPicPr>
          <p:cNvPr id="11" name="!!p_sau_rieng" descr="prod_sau_rieng.png"/>
          <p:cNvPicPr>
            <a:picLocks noChangeAspect="1"/>
          </p:cNvPicPr>
          <p:nvPr/>
        </p:nvPicPr>
        <p:blipFill>
          <a:blip r:embed="rId10"/>
          <a:srcRect l="0" r="0"/>
          <a:stretch>
            <a:fillRect/>
          </a:stretch>
        </p:blipFill>
        <p:spPr>
          <a:xfrm rot="21360000">
            <a:off x="4772206" y="1965960"/>
            <a:ext cx="2647284" cy="4206240"/>
          </a:xfrm>
          <a:prstGeom prst="rect">
            <a:avLst/>
          </a:prstGeom>
        </p:spPr>
      </p:pic>
      <p:pic>
        <p:nvPicPr>
          <p:cNvPr id="12" name="!!p_chanh_day" descr="prod_chanh_day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 rot="21000000">
            <a:off x="2431853" y="3108960"/>
            <a:ext cx="1841589" cy="2926080"/>
          </a:xfrm>
          <a:prstGeom prst="rect">
            <a:avLst/>
          </a:prstGeom>
        </p:spPr>
      </p:pic>
      <p:pic>
        <p:nvPicPr>
          <p:cNvPr id="13" name="!!p_mang_cau" descr="prod_mang_cau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 rot="480000">
            <a:off x="8067243" y="3291840"/>
            <a:ext cx="1726490" cy="2743200"/>
          </a:xfrm>
          <a:prstGeom prst="rect">
            <a:avLst/>
          </a:prstGeom>
        </p:spPr>
      </p:pic>
      <p:sp>
        <p:nvSpPr>
          <p:cNvPr id="14" name="!!word_script"/>
          <p:cNvSpPr txBox="1"/>
          <p:nvPr/>
        </p:nvSpPr>
        <p:spPr>
          <a:xfrm>
            <a:off x="6644488" y="2587752"/>
            <a:ext cx="5272888" cy="1280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0" b="1" i="0">
                <a:solidFill>
                  <a:srgbClr val="1D4B3A"/>
                </a:solidFill>
                <a:effectLst>
                  <a:glow rad="101600">
                    <a:srgbClr val="FFFFFF">
                      <a:alpha val="85000"/>
                    </a:srgbClr>
                  </a:glow>
                </a:effectLst>
                <a:latin typeface="Dancing Script"/>
                <a:ea typeface="Dancing Script"/>
                <a:cs typeface="Dancing Script"/>
              </a:rPr>
              <a:t>Foods</a:t>
            </a:r>
          </a:p>
        </p:txBody>
      </p:sp>
      <p:sp>
        <p:nvSpPr>
          <p:cNvPr id="15" name="!!kicker"/>
          <p:cNvSpPr/>
          <p:nvPr/>
        </p:nvSpPr>
        <p:spPr>
          <a:xfrm>
            <a:off x="548640" y="411480"/>
            <a:ext cx="2474833" cy="329184"/>
          </a:xfrm>
          <a:prstGeom prst="roundRect">
            <a:avLst>
              <a:gd name="adj" fmla="val 50000"/>
            </a:avLst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18288" bIns="18288" wrap="square"/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Mulish SemiBold"/>
                <a:ea typeface="Mulish SemiBold"/>
                <a:cs typeface="Mulish SemiBold"/>
              </a:rPr>
              <a:t>GIỚI THIỆU SẢN PHẨM</a:t>
            </a:r>
          </a:p>
        </p:txBody>
      </p:sp>
      <p:sp>
        <p:nvSpPr>
          <p:cNvPr id="16" name="!!nav_brand"/>
          <p:cNvSpPr txBox="1"/>
          <p:nvPr/>
        </p:nvSpPr>
        <p:spPr>
          <a:xfrm>
            <a:off x="7985455" y="38404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 i="0" spc="15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807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effectLst>
                  <a:outerShdw blurRad="91440" dist="27432" dir="5400000" algn="ctr" rotWithShape="0">
                    <a:srgbClr val="000000">
                      <a:alpha val="75000"/>
                    </a:srgbClr>
                  </a:outerShdw>
                </a:effectLst>
                <a:latin typeface="Mulish SemiBold"/>
                <a:ea typeface="Mulish SemiBold"/>
                <a:cs typeface="Mulish SemiBold"/>
              </a:rPr>
              <a:t>Thấy tận mắt, ăn yên tâm · Trái cây sấy &amp; trà từ Đắk Lắk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_F6F1E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h_title"/>
          <p:cNvSpPr txBox="1"/>
          <p:nvPr/>
        </p:nvSpPr>
        <p:spPr>
          <a:xfrm>
            <a:off x="548640" y="914400"/>
            <a:ext cx="11094415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34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 FOODS</a:t>
            </a:r>
          </a:p>
        </p:txBody>
      </p:sp>
      <p:sp>
        <p:nvSpPr>
          <p:cNvPr id="4" name="!!h_script"/>
          <p:cNvSpPr txBox="1"/>
          <p:nvPr/>
        </p:nvSpPr>
        <p:spPr>
          <a:xfrm>
            <a:off x="548640" y="1298448"/>
            <a:ext cx="1109441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200" b="1" i="0">
                <a:solidFill>
                  <a:srgbClr val="3B2416"/>
                </a:solidFill>
                <a:latin typeface="Dancing Script"/>
                <a:ea typeface="Dancing Script"/>
                <a:cs typeface="Dancing Script"/>
              </a:rPr>
              <a:t>hương vị Tây Nguyên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40280"/>
            <a:ext cx="8534095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5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Hợp tác xã Heragrain</a:t>
            </a:r>
            <a:r>
              <a:rPr sz="135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 (Đắk Lắk) chế biến </a:t>
            </a:r>
            <a:r>
              <a:rPr sz="135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trái cây sấy và trà</a:t>
            </a:r>
            <a:r>
              <a:rPr sz="135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 từ vùng nguyên liệu Tây Nguyên: sầu riêng, chanh dây, mãng cầu, gừng… Sấy lạnh giữ trọn màu sắc, hương vị và dinh dưỡng — </a:t>
            </a:r>
            <a:r>
              <a:rPr sz="135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không phẩm màu, không chất bảo quản</a:t>
            </a:r>
            <a:r>
              <a:rPr sz="135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, truy xuất được nguồn gốc.</a:t>
            </a:r>
          </a:p>
        </p:txBody>
      </p:sp>
      <p:pic>
        <p:nvPicPr>
          <p:cNvPr id="6" name="!!grass" descr="grass.png"/>
          <p:cNvPicPr>
            <a:picLocks noChangeAspect="1"/>
          </p:cNvPicPr>
          <p:nvPr/>
        </p:nvPicPr>
        <p:blipFill>
          <a:blip r:embed="rId3"/>
          <a:srcRect t="13999" b="13999"/>
          <a:stretch>
            <a:fillRect/>
          </a:stretch>
        </p:blipFill>
        <p:spPr>
          <a:xfrm>
            <a:off x="0" y="4937760"/>
            <a:ext cx="12191695" cy="1920240"/>
          </a:xfrm>
          <a:prstGeom prst="rect">
            <a:avLst/>
          </a:prstGeom>
        </p:spPr>
      </p:pic>
      <p:pic>
        <p:nvPicPr>
          <p:cNvPr id="7" name="!!d0" descr="slice_durian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19483907">
            <a:off x="1111726" y="3152145"/>
            <a:ext cx="728644" cy="465523"/>
          </a:xfrm>
          <a:prstGeom prst="rect">
            <a:avLst/>
          </a:prstGeom>
        </p:spPr>
      </p:pic>
      <p:pic>
        <p:nvPicPr>
          <p:cNvPr id="8" name="!!d1" descr="slice_ginger.png"/>
          <p:cNvPicPr>
            <a:picLocks noChangeAspect="1"/>
          </p:cNvPicPr>
          <p:nvPr/>
        </p:nvPicPr>
        <p:blipFill>
          <a:blip r:embed="rId5"/>
          <a:srcRect l="0" r="0"/>
          <a:stretch>
            <a:fillRect/>
          </a:stretch>
        </p:blipFill>
        <p:spPr>
          <a:xfrm rot="19153653">
            <a:off x="11166892" y="5182473"/>
            <a:ext cx="770001" cy="447097"/>
          </a:xfrm>
          <a:prstGeom prst="rect">
            <a:avLst/>
          </a:prstGeom>
        </p:spPr>
      </p:pic>
      <p:pic>
        <p:nvPicPr>
          <p:cNvPr id="9" name="!!d2" descr="leaf_blur.png"/>
          <p:cNvPicPr>
            <a:picLocks noChangeAspect="1"/>
          </p:cNvPicPr>
          <p:nvPr/>
        </p:nvPicPr>
        <p:blipFill>
          <a:blip r:embed="rId6"/>
          <a:srcRect l="0" r="0"/>
          <a:stretch>
            <a:fillRect/>
          </a:stretch>
        </p:blipFill>
        <p:spPr>
          <a:xfrm rot="3260282">
            <a:off x="1095031" y="2711236"/>
            <a:ext cx="548638" cy="311781"/>
          </a:xfrm>
          <a:prstGeom prst="rect">
            <a:avLst/>
          </a:prstGeom>
        </p:spPr>
      </p:pic>
      <p:pic>
        <p:nvPicPr>
          <p:cNvPr id="10" name="!!d3" descr="slice_passion_blur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742972">
            <a:off x="11529070" y="1109409"/>
            <a:ext cx="883399" cy="614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_F6F1E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leaf_1D4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5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6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7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8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9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0" name="!!nav_ind"/>
          <p:cNvSpPr/>
          <p:nvPr/>
        </p:nvSpPr>
        <p:spPr>
          <a:xfrm>
            <a:off x="3931920" y="603504"/>
            <a:ext cx="818892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!!nav_i0" descr="search_3B24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2" name="!!nav_i1" descr="user-round_3B24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3" name="!!nav_i2" descr="shopping-bag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pic>
        <p:nvPicPr>
          <p:cNvPr id="14" name="!!d0" descr="slice_durian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3587635">
            <a:off x="1516634" y="5325586"/>
            <a:ext cx="511657" cy="326892"/>
          </a:xfrm>
          <a:prstGeom prst="rect">
            <a:avLst/>
          </a:prstGeom>
        </p:spPr>
      </p:pic>
      <p:pic>
        <p:nvPicPr>
          <p:cNvPr id="15" name="!!d1" descr="slice_ginger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1855706">
            <a:off x="9905423" y="4490007"/>
            <a:ext cx="461838" cy="268164"/>
          </a:xfrm>
          <a:prstGeom prst="rect">
            <a:avLst/>
          </a:prstGeom>
        </p:spPr>
      </p:pic>
      <p:pic>
        <p:nvPicPr>
          <p:cNvPr id="16" name="!!d2" descr="leaf_blur.png"/>
          <p:cNvPicPr>
            <a:picLocks noChangeAspect="1"/>
          </p:cNvPicPr>
          <p:nvPr/>
        </p:nvPicPr>
        <p:blipFill>
          <a:blip r:embed="rId9"/>
          <a:srcRect t="0" b="0"/>
          <a:stretch>
            <a:fillRect/>
          </a:stretch>
        </p:blipFill>
        <p:spPr>
          <a:xfrm rot="1914788">
            <a:off x="188052" y="4576930"/>
            <a:ext cx="808942" cy="459707"/>
          </a:xfrm>
          <a:prstGeom prst="rect">
            <a:avLst/>
          </a:prstGeom>
        </p:spPr>
      </p:pic>
      <p:pic>
        <p:nvPicPr>
          <p:cNvPr id="17" name="!!d3" descr="slice_passion_blur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 rot="18832275">
            <a:off x="10224886" y="5290166"/>
            <a:ext cx="953486" cy="663726"/>
          </a:xfrm>
          <a:prstGeom prst="rect">
            <a:avLst/>
          </a:prstGeom>
        </p:spPr>
      </p:pic>
      <p:pic>
        <p:nvPicPr>
          <p:cNvPr id="18" name="!!d4" descr="leaf_b_blur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 rot="21198293">
            <a:off x="952908" y="5875569"/>
            <a:ext cx="817007" cy="439096"/>
          </a:xfrm>
          <a:prstGeom prst="rect">
            <a:avLst/>
          </a:prstGeom>
        </p:spPr>
      </p:pic>
      <p:pic>
        <p:nvPicPr>
          <p:cNvPr id="19" name="!!p_sau_rieng" descr="prod_sau_rieng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 rot="21240000">
            <a:off x="6983970" y="1325880"/>
            <a:ext cx="3222780" cy="5120640"/>
          </a:xfrm>
          <a:prstGeom prst="rect">
            <a:avLst/>
          </a:prstGeom>
        </p:spPr>
      </p:pic>
      <p:pic>
        <p:nvPicPr>
          <p:cNvPr id="20" name="!!p_chanh_day" descr="prod_chanh_day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 rot="600000">
            <a:off x="10099324" y="3840480"/>
            <a:ext cx="1381192" cy="2194560"/>
          </a:xfrm>
          <a:prstGeom prst="rect">
            <a:avLst/>
          </a:prstGeom>
        </p:spPr>
      </p:pic>
      <p:sp>
        <p:nvSpPr>
          <p:cNvPr id="21" name="!!h_title"/>
          <p:cNvSpPr txBox="1"/>
          <p:nvPr/>
        </p:nvSpPr>
        <p:spPr>
          <a:xfrm>
            <a:off x="731520" y="1828800"/>
            <a:ext cx="5394960" cy="914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54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CỬA SỔ H</a:t>
            </a:r>
          </a:p>
        </p:txBody>
      </p:sp>
      <p:sp>
        <p:nvSpPr>
          <p:cNvPr id="22" name="!!h_script"/>
          <p:cNvSpPr txBox="1"/>
          <p:nvPr/>
        </p:nvSpPr>
        <p:spPr>
          <a:xfrm>
            <a:off x="1188720" y="2423160"/>
            <a:ext cx="539496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400" b="1" i="0">
                <a:solidFill>
                  <a:srgbClr val="3B2416"/>
                </a:solidFill>
                <a:latin typeface="Dancing Script"/>
                <a:ea typeface="Dancing Script"/>
                <a:cs typeface="Dancing Script"/>
              </a:rPr>
              <a:t>The H 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91840"/>
            <a:ext cx="539496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Chữ </a:t>
            </a:r>
            <a:r>
              <a:rPr sz="130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H</a:t>
            </a:r>
            <a:r>
              <a:rPr sz="13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 trong Heragrain trở thành </a:t>
            </a:r>
            <a:r>
              <a:rPr sz="130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cửa sổ trong suốt</a:t>
            </a:r>
            <a:r>
              <a:rPr sz="13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 trên bao bì, để khách hàng thấy tận mắt miếng trái cây thật bên trong. </a:t>
            </a:r>
            <a:r>
              <a:rPr sz="130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Đơn giản – Tinh tế – Đáng tin cậy</a:t>
            </a:r>
            <a:r>
              <a:rPr sz="13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 – sẵn sàng cho thị trường quốc tế.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_F6F1E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leaf_1D4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5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6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7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8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9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0" name="!!nav_ind"/>
          <p:cNvSpPr/>
          <p:nvPr/>
        </p:nvSpPr>
        <p:spPr>
          <a:xfrm>
            <a:off x="6442591" y="603504"/>
            <a:ext cx="1121856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!!nav_i0" descr="search_3B24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2" name="!!nav_i1" descr="user-round_3B24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3" name="!!nav_i2" descr="shopping-bag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pic>
        <p:nvPicPr>
          <p:cNvPr id="14" name="!!d0" descr="slice_durian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1323823">
            <a:off x="-13361" y="1563980"/>
            <a:ext cx="627006" cy="400587"/>
          </a:xfrm>
          <a:prstGeom prst="rect">
            <a:avLst/>
          </a:prstGeom>
        </p:spPr>
      </p:pic>
      <p:pic>
        <p:nvPicPr>
          <p:cNvPr id="15" name="!!d1" descr="slice_ginger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1854666">
            <a:off x="9740359" y="1608119"/>
            <a:ext cx="538656" cy="312768"/>
          </a:xfrm>
          <a:prstGeom prst="rect">
            <a:avLst/>
          </a:prstGeom>
        </p:spPr>
      </p:pic>
      <p:pic>
        <p:nvPicPr>
          <p:cNvPr id="16" name="!!d2" descr="leaf_blur.png"/>
          <p:cNvPicPr>
            <a:picLocks noChangeAspect="1"/>
          </p:cNvPicPr>
          <p:nvPr/>
        </p:nvPicPr>
        <p:blipFill>
          <a:blip r:embed="rId9"/>
          <a:srcRect l="0" r="0"/>
          <a:stretch>
            <a:fillRect/>
          </a:stretch>
        </p:blipFill>
        <p:spPr>
          <a:xfrm rot="18983365">
            <a:off x="196937" y="4761204"/>
            <a:ext cx="774771" cy="440288"/>
          </a:xfrm>
          <a:prstGeom prst="rect">
            <a:avLst/>
          </a:prstGeom>
        </p:spPr>
      </p:pic>
      <p:pic>
        <p:nvPicPr>
          <p:cNvPr id="17" name="!!d3" descr="slice_passion_blur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 rot="3573675">
            <a:off x="10598247" y="3259492"/>
            <a:ext cx="637832" cy="443998"/>
          </a:xfrm>
          <a:prstGeom prst="rect">
            <a:avLst/>
          </a:prstGeom>
        </p:spPr>
      </p:pic>
      <p:pic>
        <p:nvPicPr>
          <p:cNvPr id="18" name="!!d4" descr="leaf_b_blur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 rot="20901210">
            <a:off x="6598" y="1043879"/>
            <a:ext cx="927093" cy="498261"/>
          </a:xfrm>
          <a:prstGeom prst="rect">
            <a:avLst/>
          </a:prstGeom>
        </p:spPr>
      </p:pic>
      <p:pic>
        <p:nvPicPr>
          <p:cNvPr id="19" name="!!p_gung" descr="prod_gung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 rot="21240000">
            <a:off x="1954770" y="1325880"/>
            <a:ext cx="3222780" cy="5120640"/>
          </a:xfrm>
          <a:prstGeom prst="rect">
            <a:avLst/>
          </a:prstGeom>
        </p:spPr>
      </p:pic>
      <p:pic>
        <p:nvPicPr>
          <p:cNvPr id="20" name="!!p_mang_cau" descr="prod_mang_cau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 rot="600000">
            <a:off x="681004" y="3840480"/>
            <a:ext cx="1381192" cy="2194560"/>
          </a:xfrm>
          <a:prstGeom prst="rect">
            <a:avLst/>
          </a:prstGeom>
        </p:spPr>
      </p:pic>
      <p:sp>
        <p:nvSpPr>
          <p:cNvPr id="21" name="!!h_title"/>
          <p:cNvSpPr txBox="1"/>
          <p:nvPr/>
        </p:nvSpPr>
        <p:spPr>
          <a:xfrm>
            <a:off x="6309360" y="1828800"/>
            <a:ext cx="5394960" cy="914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47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VÙNG NGUYÊN LIỆU</a:t>
            </a:r>
          </a:p>
        </p:txBody>
      </p:sp>
      <p:sp>
        <p:nvSpPr>
          <p:cNvPr id="22" name="!!h_script"/>
          <p:cNvSpPr txBox="1"/>
          <p:nvPr/>
        </p:nvSpPr>
        <p:spPr>
          <a:xfrm>
            <a:off x="6766560" y="2423160"/>
            <a:ext cx="539496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400" b="1" i="0">
                <a:solidFill>
                  <a:srgbClr val="3B2416"/>
                </a:solidFill>
                <a:latin typeface="Dancing Script"/>
                <a:ea typeface="Dancing Script"/>
                <a:cs typeface="Dancing Script"/>
              </a:rPr>
              <a:t>Đắk Lắk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291840"/>
            <a:ext cx="539496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Đất đỏ bazan và khí hậu cao nguyên cho trái cây </a:t>
            </a:r>
            <a:r>
              <a:rPr sz="130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thơm, ngọt đậm</a:t>
            </a:r>
            <a:r>
              <a:rPr sz="13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. Heragrain thu mua trực tiếp từ </a:t>
            </a:r>
            <a:r>
              <a:rPr sz="130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nông hộ thành viên</a:t>
            </a:r>
            <a:r>
              <a:rPr sz="13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, kiểm soát từ vườn đến từng mẻ sấy.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_F6F1E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leaf_1D4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5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6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7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8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9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0" name="!!nav_ind"/>
          <p:cNvSpPr/>
          <p:nvPr/>
        </p:nvSpPr>
        <p:spPr>
          <a:xfrm>
            <a:off x="3931920" y="603504"/>
            <a:ext cx="818892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!!nav_i0" descr="search_3B24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2" name="!!nav_i1" descr="user-round_3B24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3" name="!!nav_i2" descr="shopping-bag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4" name="!!h_title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34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GIÁ TRỊ</a:t>
            </a:r>
          </a:p>
        </p:txBody>
      </p:sp>
      <p:sp>
        <p:nvSpPr>
          <p:cNvPr id="15" name="!!h_script"/>
          <p:cNvSpPr txBox="1"/>
          <p:nvPr/>
        </p:nvSpPr>
        <p:spPr>
          <a:xfrm>
            <a:off x="548640" y="1344168"/>
            <a:ext cx="1109441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200" b="1" i="0">
                <a:solidFill>
                  <a:srgbClr val="3B2416"/>
                </a:solidFill>
                <a:latin typeface="Dancing Script"/>
                <a:ea typeface="Dancing Script"/>
                <a:cs typeface="Dancing Script"/>
              </a:rPr>
              <a:t>thương hiệu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148840"/>
            <a:ext cx="926561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Bốn cam kết trên mỗi gói sản phẩm: </a:t>
            </a:r>
            <a:r>
              <a:rPr sz="130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minh bạch</a:t>
            </a:r>
            <a:r>
              <a:rPr sz="13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, </a:t>
            </a:r>
            <a:r>
              <a:rPr sz="130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tự nhiên</a:t>
            </a:r>
            <a:r>
              <a:rPr sz="13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, </a:t>
            </a:r>
            <a:r>
              <a:rPr sz="130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cao cấp</a:t>
            </a:r>
            <a:r>
              <a:rPr sz="13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 và </a:t>
            </a:r>
            <a:r>
              <a:rPr sz="130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sẵn sàng xuất khẩu</a:t>
            </a:r>
            <a:r>
              <a:rPr sz="13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.</a:t>
            </a:r>
          </a:p>
        </p:txBody>
      </p:sp>
      <p:pic>
        <p:nvPicPr>
          <p:cNvPr id="17" name="!!p_sau_rieng" descr="prod_sau_rieng.png"/>
          <p:cNvPicPr>
            <a:picLocks noChangeAspect="1"/>
          </p:cNvPicPr>
          <p:nvPr/>
        </p:nvPicPr>
        <p:blipFill>
          <a:blip r:embed="rId7"/>
          <a:srcRect t="0" b="0"/>
          <a:stretch>
            <a:fillRect/>
          </a:stretch>
        </p:blipFill>
        <p:spPr>
          <a:xfrm rot="21300000">
            <a:off x="1158522" y="3520440"/>
            <a:ext cx="1553841" cy="2468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6035040"/>
            <a:ext cx="259072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MINH BẠCH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240784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Thấy tận mắt qua cửa sổ H</a:t>
            </a:r>
          </a:p>
        </p:txBody>
      </p:sp>
      <p:pic>
        <p:nvPicPr>
          <p:cNvPr id="20" name="!!p_mang_cau" descr="prod_mang_cau.png"/>
          <p:cNvPicPr>
            <a:picLocks noChangeAspect="1"/>
          </p:cNvPicPr>
          <p:nvPr/>
        </p:nvPicPr>
        <p:blipFill>
          <a:blip r:embed="rId8"/>
          <a:srcRect t="0" b="0"/>
          <a:stretch>
            <a:fillRect/>
          </a:stretch>
        </p:blipFill>
        <p:spPr>
          <a:xfrm rot="240000">
            <a:off x="3932125" y="3520440"/>
            <a:ext cx="1553841" cy="2468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413684" y="6035040"/>
            <a:ext cx="259072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TỰ NHIÊN THẬT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5124" y="6355080"/>
            <a:ext cx="240784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Không phẩm màu, chất bảo quản</a:t>
            </a:r>
          </a:p>
        </p:txBody>
      </p:sp>
      <p:pic>
        <p:nvPicPr>
          <p:cNvPr id="23" name="!!p_chanh_day" descr="prod_chanh_day.png"/>
          <p:cNvPicPr>
            <a:picLocks noChangeAspect="1"/>
          </p:cNvPicPr>
          <p:nvPr/>
        </p:nvPicPr>
        <p:blipFill>
          <a:blip r:embed="rId9"/>
          <a:srcRect t="0" b="0"/>
          <a:stretch>
            <a:fillRect/>
          </a:stretch>
        </p:blipFill>
        <p:spPr>
          <a:xfrm rot="21420000">
            <a:off x="6705729" y="3520440"/>
            <a:ext cx="1553841" cy="2468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87288" y="6035040"/>
            <a:ext cx="259072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HIỆN ĐẠI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8728" y="6355080"/>
            <a:ext cx="240784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Bao bì cao cấp, tinh tế</a:t>
            </a:r>
          </a:p>
        </p:txBody>
      </p:sp>
      <p:pic>
        <p:nvPicPr>
          <p:cNvPr id="26" name="!!p_gung" descr="prod_gung.png"/>
          <p:cNvPicPr>
            <a:picLocks noChangeAspect="1"/>
          </p:cNvPicPr>
          <p:nvPr/>
        </p:nvPicPr>
        <p:blipFill>
          <a:blip r:embed="rId10"/>
          <a:srcRect t="0" b="0"/>
          <a:stretch>
            <a:fillRect/>
          </a:stretch>
        </p:blipFill>
        <p:spPr>
          <a:xfrm rot="360000">
            <a:off x="9479333" y="3520440"/>
            <a:ext cx="1553841" cy="2468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60891" y="6035040"/>
            <a:ext cx="259072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XUẤT KHẨU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331" y="6355080"/>
            <a:ext cx="240784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Sẵn sàng thị trường quốc tế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_F6F1E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leaf_1D4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5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6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7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8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9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0" name="!!nav_ind"/>
          <p:cNvSpPr/>
          <p:nvPr/>
        </p:nvSpPr>
        <p:spPr>
          <a:xfrm>
            <a:off x="5253732" y="603504"/>
            <a:ext cx="685939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!!nav_i0" descr="search_3B24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2" name="!!nav_i1" descr="user-round_3B24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3" name="!!nav_i2" descr="shopping-bag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4" name="!!h_title"/>
          <p:cNvSpPr txBox="1"/>
          <p:nvPr/>
        </p:nvSpPr>
        <p:spPr>
          <a:xfrm>
            <a:off x="548640" y="914400"/>
            <a:ext cx="11094415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34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SẢN PHẨM</a:t>
            </a:r>
          </a:p>
        </p:txBody>
      </p:sp>
      <p:sp>
        <p:nvSpPr>
          <p:cNvPr id="15" name="!!h_script"/>
          <p:cNvSpPr txBox="1"/>
          <p:nvPr/>
        </p:nvSpPr>
        <p:spPr>
          <a:xfrm>
            <a:off x="548640" y="1298448"/>
            <a:ext cx="1109441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200" b="1" i="0">
                <a:solidFill>
                  <a:srgbClr val="3B2416"/>
                </a:solidFill>
                <a:latin typeface="Dancing Script"/>
                <a:ea typeface="Dancing Script"/>
                <a:cs typeface="Dancing Script"/>
              </a:rPr>
              <a:t>Heragrain Foods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51760"/>
            <a:ext cx="3454298" cy="2377440"/>
          </a:xfrm>
          <a:prstGeom prst="roundRect">
            <a:avLst>
              <a:gd name="adj" fmla="val 6153"/>
            </a:avLst>
          </a:prstGeom>
          <a:solidFill>
            <a:srgbClr val="FFFDF8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117" y="3634105"/>
            <a:ext cx="789454" cy="412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90000"/>
              </a:lnSpc>
            </a:pPr>
            <a:r>
              <a:rPr sz="26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SẦU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3374" y="3634105"/>
            <a:ext cx="1109087" cy="412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26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RIÊNG</a:t>
            </a:r>
          </a:p>
        </p:txBody>
      </p:sp>
      <p:pic>
        <p:nvPicPr>
          <p:cNvPr id="19" name="!!p_sau_rieng" descr="prod_sau_rieng.png"/>
          <p:cNvPicPr>
            <a:picLocks noChangeAspect="1"/>
          </p:cNvPicPr>
          <p:nvPr/>
        </p:nvPicPr>
        <p:blipFill>
          <a:blip r:embed="rId7"/>
          <a:srcRect l="0" r="0"/>
          <a:stretch>
            <a:fillRect/>
          </a:stretch>
        </p:blipFill>
        <p:spPr>
          <a:xfrm rot="21360000">
            <a:off x="1526089" y="2903220"/>
            <a:ext cx="1179768" cy="1874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166360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Sầu riêng sấy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2651760"/>
            <a:ext cx="3454298" cy="2377440"/>
          </a:xfrm>
          <a:prstGeom prst="roundRect">
            <a:avLst>
              <a:gd name="adj" fmla="val 6153"/>
            </a:avLst>
          </a:prstGeom>
          <a:solidFill>
            <a:srgbClr val="FFFDF8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079" y="3649980"/>
            <a:ext cx="1164640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90000"/>
              </a:lnSpc>
            </a:pPr>
            <a:r>
              <a:rPr sz="24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CHANH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7522" y="3649980"/>
            <a:ext cx="736094" cy="381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24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DÂY</a:t>
            </a:r>
          </a:p>
        </p:txBody>
      </p:sp>
      <p:pic>
        <p:nvPicPr>
          <p:cNvPr id="24" name="!!p_chanh_day" descr="prod_chanh_day.png"/>
          <p:cNvPicPr>
            <a:picLocks noChangeAspect="1"/>
          </p:cNvPicPr>
          <p:nvPr/>
        </p:nvPicPr>
        <p:blipFill>
          <a:blip r:embed="rId8"/>
          <a:srcRect l="0" r="0"/>
          <a:stretch>
            <a:fillRect/>
          </a:stretch>
        </p:blipFill>
        <p:spPr>
          <a:xfrm rot="21360000">
            <a:off x="5720236" y="2903220"/>
            <a:ext cx="1179768" cy="18745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368698" y="5166360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Chanh dây gừng sấy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8757" y="2651760"/>
            <a:ext cx="3454298" cy="2377440"/>
          </a:xfrm>
          <a:prstGeom prst="roundRect">
            <a:avLst>
              <a:gd name="adj" fmla="val 6153"/>
            </a:avLst>
          </a:prstGeom>
          <a:solidFill>
            <a:srgbClr val="FFFDF8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9561" y="3634105"/>
            <a:ext cx="1098193" cy="412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90000"/>
              </a:lnSpc>
            </a:pPr>
            <a:r>
              <a:rPr sz="26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MÃNG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12557" y="3634105"/>
            <a:ext cx="799693" cy="412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26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CẦU</a:t>
            </a:r>
          </a:p>
        </p:txBody>
      </p:sp>
      <p:pic>
        <p:nvPicPr>
          <p:cNvPr id="29" name="!!p_mang_cau" descr="prod_mang_cau.png"/>
          <p:cNvPicPr>
            <a:picLocks noChangeAspect="1"/>
          </p:cNvPicPr>
          <p:nvPr/>
        </p:nvPicPr>
        <p:blipFill>
          <a:blip r:embed="rId9"/>
          <a:srcRect l="0" r="0"/>
          <a:stretch>
            <a:fillRect/>
          </a:stretch>
        </p:blipFill>
        <p:spPr>
          <a:xfrm rot="21360000">
            <a:off x="9475272" y="2903220"/>
            <a:ext cx="1179768" cy="18745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188757" y="5166360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Mãng cầu sấy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_F6F1E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leaf_1D4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5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6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7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8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9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0" name="!!nav_ind"/>
          <p:cNvSpPr/>
          <p:nvPr/>
        </p:nvSpPr>
        <p:spPr>
          <a:xfrm>
            <a:off x="5253732" y="603504"/>
            <a:ext cx="685939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!!nav_i0" descr="search_3B24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2" name="!!nav_i1" descr="user-round_3B24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3" name="!!nav_i2" descr="shopping-bag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4" name="!!catwa"/>
          <p:cNvSpPr txBox="1"/>
          <p:nvPr/>
        </p:nvSpPr>
        <p:spPr>
          <a:xfrm>
            <a:off x="213534" y="2453005"/>
            <a:ext cx="3589050" cy="2317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90000"/>
              </a:lnSpc>
            </a:pPr>
            <a:r>
              <a:rPr sz="146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SẦU</a:t>
            </a:r>
          </a:p>
        </p:txBody>
      </p:sp>
      <p:sp>
        <p:nvSpPr>
          <p:cNvPr id="15" name="!!catwb"/>
          <p:cNvSpPr txBox="1"/>
          <p:nvPr/>
        </p:nvSpPr>
        <p:spPr>
          <a:xfrm>
            <a:off x="6594254" y="2453005"/>
            <a:ext cx="5383907" cy="2317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146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RIÊNG</a:t>
            </a:r>
          </a:p>
        </p:txBody>
      </p:sp>
      <p:pic>
        <p:nvPicPr>
          <p:cNvPr id="16" name="!!p_sau_rieng" descr="prod_sau_rieng.png"/>
          <p:cNvPicPr>
            <a:picLocks noChangeAspect="1"/>
          </p:cNvPicPr>
          <p:nvPr/>
        </p:nvPicPr>
        <p:blipFill>
          <a:blip r:embed="rId7"/>
          <a:srcRect l="0" r="0"/>
          <a:stretch>
            <a:fillRect/>
          </a:stretch>
        </p:blipFill>
        <p:spPr>
          <a:xfrm rot="21120000">
            <a:off x="3874777" y="1508760"/>
            <a:ext cx="2647284" cy="4206240"/>
          </a:xfrm>
          <a:prstGeom prst="rect">
            <a:avLst/>
          </a:prstGeom>
        </p:spPr>
      </p:pic>
      <p:sp>
        <p:nvSpPr>
          <p:cNvPr id="17" name="!!cat_script"/>
          <p:cNvSpPr txBox="1"/>
          <p:nvPr/>
        </p:nvSpPr>
        <p:spPr>
          <a:xfrm>
            <a:off x="7696048" y="4343400"/>
            <a:ext cx="4206240" cy="10972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0" b="1" i="0">
                <a:solidFill>
                  <a:srgbClr val="3B2416"/>
                </a:solidFill>
                <a:effectLst>
                  <a:outerShdw blurRad="73152" dist="0" dir="5400000" algn="ctr" rotWithShape="0">
                    <a:srgbClr val="FFFFFF">
                      <a:alpha val="80000"/>
                    </a:srgbClr>
                  </a:outerShdw>
                </a:effectLst>
                <a:latin typeface="Dancing Script"/>
                <a:ea typeface="Dancing Script"/>
                <a:cs typeface="Dancing Script"/>
              </a:rPr>
              <a:t>sấy lạnh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Đặc sản Đắk Lắk — giữ trọn vị béo thơm của sầu riêng chín cây</a:t>
            </a:r>
          </a:p>
        </p:txBody>
      </p:sp>
      <p:pic>
        <p:nvPicPr>
          <p:cNvPr id="19" name="!!d0" descr="slice_durian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21483805">
            <a:off x="1927114" y="1209286"/>
            <a:ext cx="809607" cy="517249"/>
          </a:xfrm>
          <a:prstGeom prst="rect">
            <a:avLst/>
          </a:prstGeom>
        </p:spPr>
      </p:pic>
      <p:pic>
        <p:nvPicPr>
          <p:cNvPr id="20" name="!!d1" descr="slice_ginger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 rot="19145864">
            <a:off x="11387513" y="1693475"/>
            <a:ext cx="915813" cy="531763"/>
          </a:xfrm>
          <a:prstGeom prst="rect">
            <a:avLst/>
          </a:prstGeom>
        </p:spPr>
      </p:pic>
      <p:pic>
        <p:nvPicPr>
          <p:cNvPr id="21" name="!!d2" descr="leaf_blur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 rot="20491914">
            <a:off x="2110481" y="5118934"/>
            <a:ext cx="511963" cy="290939"/>
          </a:xfrm>
          <a:prstGeom prst="rect">
            <a:avLst/>
          </a:prstGeom>
        </p:spPr>
      </p:pic>
      <p:pic>
        <p:nvPicPr>
          <p:cNvPr id="22" name="!!d3" descr="slice_passion_blur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 rot="18079943">
            <a:off x="10822687" y="1146665"/>
            <a:ext cx="623905" cy="4343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59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39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1272118b3c317d0a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wash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6F1E6">
                  <a:alpha val="92000"/>
                </a:srgbClr>
              </a:gs>
              <a:gs pos="16000">
                <a:srgbClr val="F6F1E6">
                  <a:alpha val="55000"/>
                </a:srgbClr>
              </a:gs>
              <a:gs pos="40000">
                <a:srgbClr val="F6F1E6">
                  <a:alpha val="0"/>
                </a:srgbClr>
              </a:gs>
              <a:gs pos="100000">
                <a:srgbClr val="F6F1E6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!!mist" descr="mist.png"/>
          <p:cNvPicPr>
            <a:picLocks noChangeAspect="1"/>
          </p:cNvPicPr>
          <p:nvPr/>
        </p:nvPicPr>
        <p:blipFill>
          <a:blip r:embed="rId3"/>
          <a:srcRect t="13935" b="13935"/>
          <a:stretch>
            <a:fillRect/>
          </a:stretch>
        </p:blipFill>
        <p:spPr>
          <a:xfrm>
            <a:off x="-457200" y="4480560"/>
            <a:ext cx="13106095" cy="2560320"/>
          </a:xfrm>
          <a:prstGeom prst="rect">
            <a:avLst/>
          </a:prstGeom>
        </p:spPr>
      </p:pic>
      <p:pic>
        <p:nvPicPr>
          <p:cNvPr id="5" name="!!c_wash" descr="glow_F6F1E6_92_1.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11680" y="2926080"/>
            <a:ext cx="9509760" cy="5120640"/>
          </a:xfrm>
          <a:prstGeom prst="rect">
            <a:avLst/>
          </a:prstGeom>
        </p:spPr>
      </p:pic>
      <p:pic>
        <p:nvPicPr>
          <p:cNvPr id="6" name="!!nav_logo" descr="leaf_1D4B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7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8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9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10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11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12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3" name="!!nav_ind"/>
          <p:cNvSpPr/>
          <p:nvPr/>
        </p:nvSpPr>
        <p:spPr>
          <a:xfrm>
            <a:off x="5253732" y="603504"/>
            <a:ext cx="685939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4" name="!!nav_i0" descr="search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5" name="!!nav_i1" descr="user-round_3B24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6" name="!!nav_i2" descr="shopping-bag_3B24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pic>
        <p:nvPicPr>
          <p:cNvPr id="17" name="!!p_chanh_day" descr="prod_chanh_day_blur.png"/>
          <p:cNvPicPr>
            <a:picLocks noChangeAspect="1"/>
          </p:cNvPicPr>
          <p:nvPr/>
        </p:nvPicPr>
        <p:blipFill>
          <a:blip r:embed="rId9"/>
          <a:srcRect l="0" r="0"/>
          <a:stretch>
            <a:fillRect/>
          </a:stretch>
        </p:blipFill>
        <p:spPr>
          <a:xfrm rot="20760000">
            <a:off x="1694817" y="1417320"/>
            <a:ext cx="908046" cy="1417320"/>
          </a:xfrm>
          <a:prstGeom prst="rect">
            <a:avLst/>
          </a:prstGeom>
        </p:spPr>
      </p:pic>
      <p:pic>
        <p:nvPicPr>
          <p:cNvPr id="18" name="!!p_chuoi" descr="prod_chuoi_blur.png"/>
          <p:cNvPicPr>
            <a:picLocks noChangeAspect="1"/>
          </p:cNvPicPr>
          <p:nvPr/>
        </p:nvPicPr>
        <p:blipFill>
          <a:blip r:embed="rId10"/>
          <a:srcRect l="0" r="0"/>
          <a:stretch>
            <a:fillRect/>
          </a:stretch>
        </p:blipFill>
        <p:spPr>
          <a:xfrm rot="720000">
            <a:off x="9639016" y="2194560"/>
            <a:ext cx="1113088" cy="1737360"/>
          </a:xfrm>
          <a:prstGeom prst="rect">
            <a:avLst/>
          </a:prstGeom>
        </p:spPr>
      </p:pic>
      <p:pic>
        <p:nvPicPr>
          <p:cNvPr id="19" name="!!p_mang_cau" descr="prod_mang_cau_blur.png"/>
          <p:cNvPicPr>
            <a:picLocks noChangeAspect="1"/>
          </p:cNvPicPr>
          <p:nvPr/>
        </p:nvPicPr>
        <p:blipFill>
          <a:blip r:embed="rId11"/>
          <a:srcRect l="0" r="0"/>
          <a:stretch>
            <a:fillRect/>
          </a:stretch>
        </p:blipFill>
        <p:spPr>
          <a:xfrm rot="1080000">
            <a:off x="4019408" y="1234440"/>
            <a:ext cx="556544" cy="868680"/>
          </a:xfrm>
          <a:prstGeom prst="rect">
            <a:avLst/>
          </a:prstGeom>
        </p:spPr>
      </p:pic>
      <p:pic>
        <p:nvPicPr>
          <p:cNvPr id="20" name="!!p_gung" descr="prod_gung_blur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 rot="20400000">
            <a:off x="11045642" y="1280160"/>
            <a:ext cx="585836" cy="914400"/>
          </a:xfrm>
          <a:prstGeom prst="rect">
            <a:avLst/>
          </a:prstGeom>
        </p:spPr>
      </p:pic>
      <p:pic>
        <p:nvPicPr>
          <p:cNvPr id="21" name="!!p_sau_rieng" descr="prod_sau_rieng.png"/>
          <p:cNvPicPr>
            <a:picLocks noChangeAspect="1"/>
          </p:cNvPicPr>
          <p:nvPr/>
        </p:nvPicPr>
        <p:blipFill>
          <a:blip r:embed="rId13"/>
          <a:srcRect l="0" r="0"/>
          <a:stretch>
            <a:fillRect/>
          </a:stretch>
        </p:blipFill>
        <p:spPr>
          <a:xfrm rot="21300000">
            <a:off x="5109191" y="1691640"/>
            <a:ext cx="2704834" cy="4297680"/>
          </a:xfrm>
          <a:prstGeom prst="rect">
            <a:avLst/>
          </a:prstGeom>
        </p:spPr>
      </p:pic>
      <p:sp>
        <p:nvSpPr>
          <p:cNvPr id="22" name="!!c_name"/>
          <p:cNvSpPr txBox="1"/>
          <p:nvPr/>
        </p:nvSpPr>
        <p:spPr>
          <a:xfrm>
            <a:off x="548640" y="434340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4400" b="0" i="0">
                <a:solidFill>
                  <a:srgbClr val="1D4B3A"/>
                </a:solidFill>
                <a:effectLst>
                  <a:outerShdw blurRad="91440" dist="27432" dir="5400000" algn="ctr" rotWithShape="0">
                    <a:srgbClr val="000000">
                      <a:alpha val="30000"/>
                    </a:srgbClr>
                  </a:outerShdw>
                </a:effectLst>
                <a:latin typeface="Baloo 2 ExtraBold"/>
                <a:ea typeface="Baloo 2 ExtraBold"/>
                <a:cs typeface="Baloo 2 ExtraBold"/>
              </a:rPr>
              <a:t>SẦU RIÊNG SẤY</a:t>
            </a:r>
          </a:p>
        </p:txBody>
      </p:sp>
      <p:sp>
        <p:nvSpPr>
          <p:cNvPr id="23" name="!!c_script"/>
          <p:cNvSpPr txBox="1"/>
          <p:nvPr/>
        </p:nvSpPr>
        <p:spPr>
          <a:xfrm>
            <a:off x="1097280" y="484632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600" b="1" i="0">
                <a:solidFill>
                  <a:srgbClr val="3B2416"/>
                </a:solidFill>
                <a:effectLst>
                  <a:outerShdw blurRad="91440" dist="27432" dir="5400000" algn="ctr" rotWithShape="0">
                    <a:srgbClr val="FFFFFF">
                      <a:alpha val="30000"/>
                    </a:srgbClr>
                  </a:outerShdw>
                </a:effectLst>
                <a:latin typeface="Dancing Script"/>
                <a:ea typeface="Dancing Script"/>
                <a:cs typeface="Dancing Script"/>
              </a:rPr>
              <a:t>Dried Durian</a:t>
            </a:r>
          </a:p>
        </p:txBody>
      </p:sp>
      <p:sp>
        <p:nvSpPr>
          <p:cNvPr id="24" name="!!c_text"/>
          <p:cNvSpPr txBox="1"/>
          <p:nvPr/>
        </p:nvSpPr>
        <p:spPr>
          <a:xfrm>
            <a:off x="548640" y="56235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B2416"/>
                </a:solidFill>
                <a:latin typeface="Mulish"/>
                <a:ea typeface="Mulish"/>
                <a:cs typeface="Mulish"/>
              </a:rPr>
              <a:t>Sầu riêng Đắk Lắk chín cây, </a:t>
            </a:r>
            <a:r>
              <a:rPr sz="105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sấy lạnh</a:t>
            </a:r>
            <a:r>
              <a:rPr sz="1050" b="0" i="0">
                <a:solidFill>
                  <a:srgbClr val="3B2416"/>
                </a:solidFill>
                <a:latin typeface="Mulish"/>
                <a:ea typeface="Mulish"/>
                <a:cs typeface="Mulish"/>
              </a:rPr>
              <a:t> giữ vị béo, thơm đặc trưng; túi 100 g.</a:t>
            </a:r>
          </a:p>
        </p:txBody>
      </p:sp>
      <p:pic>
        <p:nvPicPr>
          <p:cNvPr id="25" name="!!t_0" descr="prod_sau_rieng.png"/>
          <p:cNvPicPr>
            <a:picLocks noChangeAspect="1"/>
          </p:cNvPicPr>
          <p:nvPr/>
        </p:nvPicPr>
        <p:blipFill>
          <a:blip r:embed="rId13"/>
          <a:srcRect t="10979" b="10979"/>
          <a:stretch>
            <a:fillRect/>
          </a:stretch>
        </p:blipFill>
        <p:spPr>
          <a:xfrm>
            <a:off x="8918143" y="5788152"/>
            <a:ext cx="457200" cy="566928"/>
          </a:xfrm>
          <a:prstGeom prst="rect">
            <a:avLst/>
          </a:prstGeom>
        </p:spPr>
      </p:pic>
      <p:pic>
        <p:nvPicPr>
          <p:cNvPr id="26" name="!!t_1" descr="prod_chanh_day.png"/>
          <p:cNvPicPr>
            <a:picLocks noChangeAspect="1"/>
          </p:cNvPicPr>
          <p:nvPr/>
        </p:nvPicPr>
        <p:blipFill>
          <a:blip r:embed="rId14"/>
          <a:srcRect t="10979" b="10979"/>
          <a:stretch>
            <a:fillRect/>
          </a:stretch>
        </p:blipFill>
        <p:spPr>
          <a:xfrm>
            <a:off x="9485071" y="5788152"/>
            <a:ext cx="457200" cy="566928"/>
          </a:xfrm>
          <a:prstGeom prst="rect">
            <a:avLst/>
          </a:prstGeom>
        </p:spPr>
      </p:pic>
      <p:pic>
        <p:nvPicPr>
          <p:cNvPr id="27" name="!!t_2" descr="prod_mang_cau.png"/>
          <p:cNvPicPr>
            <a:picLocks noChangeAspect="1"/>
          </p:cNvPicPr>
          <p:nvPr/>
        </p:nvPicPr>
        <p:blipFill>
          <a:blip r:embed="rId15"/>
          <a:srcRect t="10979" b="10979"/>
          <a:stretch>
            <a:fillRect/>
          </a:stretch>
        </p:blipFill>
        <p:spPr>
          <a:xfrm>
            <a:off x="10051999" y="5788152"/>
            <a:ext cx="457200" cy="566928"/>
          </a:xfrm>
          <a:prstGeom prst="rect">
            <a:avLst/>
          </a:prstGeom>
        </p:spPr>
      </p:pic>
      <p:pic>
        <p:nvPicPr>
          <p:cNvPr id="28" name="!!t_3" descr="prod_gung.png"/>
          <p:cNvPicPr>
            <a:picLocks noChangeAspect="1"/>
          </p:cNvPicPr>
          <p:nvPr/>
        </p:nvPicPr>
        <p:blipFill>
          <a:blip r:embed="rId16"/>
          <a:srcRect t="10979" b="10979"/>
          <a:stretch>
            <a:fillRect/>
          </a:stretch>
        </p:blipFill>
        <p:spPr>
          <a:xfrm>
            <a:off x="10618927" y="5788152"/>
            <a:ext cx="457200" cy="566928"/>
          </a:xfrm>
          <a:prstGeom prst="rect">
            <a:avLst/>
          </a:prstGeom>
        </p:spPr>
      </p:pic>
      <p:pic>
        <p:nvPicPr>
          <p:cNvPr id="29" name="!!t_4" descr="prod_chuoi.png"/>
          <p:cNvPicPr>
            <a:picLocks noChangeAspect="1"/>
          </p:cNvPicPr>
          <p:nvPr/>
        </p:nvPicPr>
        <p:blipFill>
          <a:blip r:embed="rId17"/>
          <a:srcRect t="10979" b="10979"/>
          <a:stretch>
            <a:fillRect/>
          </a:stretch>
        </p:blipFill>
        <p:spPr>
          <a:xfrm>
            <a:off x="11185855" y="5788152"/>
            <a:ext cx="457200" cy="566928"/>
          </a:xfrm>
          <a:prstGeom prst="rect">
            <a:avLst/>
          </a:prstGeom>
        </p:spPr>
      </p:pic>
      <p:sp>
        <p:nvSpPr>
          <p:cNvPr id="30" name="!!t_ind"/>
          <p:cNvSpPr/>
          <p:nvPr/>
        </p:nvSpPr>
        <p:spPr>
          <a:xfrm>
            <a:off x="8918143" y="6446520"/>
            <a:ext cx="457200" cy="45720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2" grpId="0" animBg="1"/>
      <p:bldP spid="23" grpId="0" animBg="1"/>
      <p:bldP spid="24" grpId="0" animBg="1"/>
      <p:bldP spid="30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eaee7fecc7286deb.jpg"/>
          <p:cNvPicPr>
            <a:picLocks noChangeAspect="1"/>
          </p:cNvPicPr>
          <p:nvPr/>
        </p:nvPicPr>
        <p:blipFill>
          <a:blip r:embed="rId2"/>
          <a:srcRect t="190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wash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6F1E6">
                  <a:alpha val="92000"/>
                </a:srgbClr>
              </a:gs>
              <a:gs pos="16000">
                <a:srgbClr val="F6F1E6">
                  <a:alpha val="55000"/>
                </a:srgbClr>
              </a:gs>
              <a:gs pos="40000">
                <a:srgbClr val="F6F1E6">
                  <a:alpha val="0"/>
                </a:srgbClr>
              </a:gs>
              <a:gs pos="100000">
                <a:srgbClr val="F6F1E6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!!mist" descr="mist.png"/>
          <p:cNvPicPr>
            <a:picLocks noChangeAspect="1"/>
          </p:cNvPicPr>
          <p:nvPr/>
        </p:nvPicPr>
        <p:blipFill>
          <a:blip r:embed="rId3"/>
          <a:srcRect t="13935" b="13935"/>
          <a:stretch>
            <a:fillRect/>
          </a:stretch>
        </p:blipFill>
        <p:spPr>
          <a:xfrm>
            <a:off x="-457200" y="4480560"/>
            <a:ext cx="13106095" cy="2560320"/>
          </a:xfrm>
          <a:prstGeom prst="rect">
            <a:avLst/>
          </a:prstGeom>
        </p:spPr>
      </p:pic>
      <p:pic>
        <p:nvPicPr>
          <p:cNvPr id="5" name="!!c_wash" descr="glow_F6F1E6_92_1.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11680" y="2926080"/>
            <a:ext cx="9509760" cy="5120640"/>
          </a:xfrm>
          <a:prstGeom prst="rect">
            <a:avLst/>
          </a:prstGeom>
        </p:spPr>
      </p:pic>
      <p:pic>
        <p:nvPicPr>
          <p:cNvPr id="6" name="!!nav_logo" descr="leaf_1D4B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7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8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9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10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11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12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3" name="!!nav_ind"/>
          <p:cNvSpPr/>
          <p:nvPr/>
        </p:nvSpPr>
        <p:spPr>
          <a:xfrm>
            <a:off x="5253732" y="603504"/>
            <a:ext cx="685939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4" name="!!nav_i0" descr="search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5" name="!!nav_i1" descr="user-round_3B24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6" name="!!nav_i2" descr="shopping-bag_3B24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pic>
        <p:nvPicPr>
          <p:cNvPr id="17" name="!!p_sau_rieng" descr="prod_sau_rieng_blur.png"/>
          <p:cNvPicPr>
            <a:picLocks noChangeAspect="1"/>
          </p:cNvPicPr>
          <p:nvPr/>
        </p:nvPicPr>
        <p:blipFill>
          <a:blip r:embed="rId9"/>
          <a:srcRect l="0" r="0"/>
          <a:stretch>
            <a:fillRect/>
          </a:stretch>
        </p:blipFill>
        <p:spPr>
          <a:xfrm rot="20760000">
            <a:off x="1694817" y="1417320"/>
            <a:ext cx="908046" cy="1417320"/>
          </a:xfrm>
          <a:prstGeom prst="rect">
            <a:avLst/>
          </a:prstGeom>
        </p:spPr>
      </p:pic>
      <p:pic>
        <p:nvPicPr>
          <p:cNvPr id="18" name="!!p_mang_cau" descr="prod_mang_cau_blur.png"/>
          <p:cNvPicPr>
            <a:picLocks noChangeAspect="1"/>
          </p:cNvPicPr>
          <p:nvPr/>
        </p:nvPicPr>
        <p:blipFill>
          <a:blip r:embed="rId10"/>
          <a:srcRect l="0" r="0"/>
          <a:stretch>
            <a:fillRect/>
          </a:stretch>
        </p:blipFill>
        <p:spPr>
          <a:xfrm rot="720000">
            <a:off x="9639016" y="2194560"/>
            <a:ext cx="1113088" cy="1737360"/>
          </a:xfrm>
          <a:prstGeom prst="rect">
            <a:avLst/>
          </a:prstGeom>
        </p:spPr>
      </p:pic>
      <p:pic>
        <p:nvPicPr>
          <p:cNvPr id="19" name="!!p_gung" descr="prod_gung_blur.png"/>
          <p:cNvPicPr>
            <a:picLocks noChangeAspect="1"/>
          </p:cNvPicPr>
          <p:nvPr/>
        </p:nvPicPr>
        <p:blipFill>
          <a:blip r:embed="rId11"/>
          <a:srcRect l="0" r="0"/>
          <a:stretch>
            <a:fillRect/>
          </a:stretch>
        </p:blipFill>
        <p:spPr>
          <a:xfrm rot="1080000">
            <a:off x="4019408" y="1234440"/>
            <a:ext cx="556544" cy="868680"/>
          </a:xfrm>
          <a:prstGeom prst="rect">
            <a:avLst/>
          </a:prstGeom>
        </p:spPr>
      </p:pic>
      <p:pic>
        <p:nvPicPr>
          <p:cNvPr id="20" name="!!p_chuoi" descr="prod_chuoi_blur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 rot="20400000">
            <a:off x="11045642" y="1280160"/>
            <a:ext cx="585836" cy="914400"/>
          </a:xfrm>
          <a:prstGeom prst="rect">
            <a:avLst/>
          </a:prstGeom>
        </p:spPr>
      </p:pic>
      <p:pic>
        <p:nvPicPr>
          <p:cNvPr id="21" name="!!p_chanh_day" descr="prod_chanh_day.png"/>
          <p:cNvPicPr>
            <a:picLocks noChangeAspect="1"/>
          </p:cNvPicPr>
          <p:nvPr/>
        </p:nvPicPr>
        <p:blipFill>
          <a:blip r:embed="rId13"/>
          <a:srcRect l="0" r="0"/>
          <a:stretch>
            <a:fillRect/>
          </a:stretch>
        </p:blipFill>
        <p:spPr>
          <a:xfrm rot="21300000">
            <a:off x="5109191" y="1691640"/>
            <a:ext cx="2704834" cy="4297680"/>
          </a:xfrm>
          <a:prstGeom prst="rect">
            <a:avLst/>
          </a:prstGeom>
        </p:spPr>
      </p:pic>
      <p:sp>
        <p:nvSpPr>
          <p:cNvPr id="22" name="!!c_name"/>
          <p:cNvSpPr txBox="1"/>
          <p:nvPr/>
        </p:nvSpPr>
        <p:spPr>
          <a:xfrm>
            <a:off x="548640" y="434340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4400" b="0" i="0">
                <a:solidFill>
                  <a:srgbClr val="1D4B3A"/>
                </a:solidFill>
                <a:effectLst>
                  <a:outerShdw blurRad="91440" dist="27432" dir="5400000" algn="ctr" rotWithShape="0">
                    <a:srgbClr val="000000">
                      <a:alpha val="30000"/>
                    </a:srgbClr>
                  </a:outerShdw>
                </a:effectLst>
                <a:latin typeface="Baloo 2 ExtraBold"/>
                <a:ea typeface="Baloo 2 ExtraBold"/>
                <a:cs typeface="Baloo 2 ExtraBold"/>
              </a:rPr>
              <a:t>CHANH DÂY GỪNG</a:t>
            </a:r>
          </a:p>
        </p:txBody>
      </p:sp>
      <p:sp>
        <p:nvSpPr>
          <p:cNvPr id="23" name="!!c_script"/>
          <p:cNvSpPr txBox="1"/>
          <p:nvPr/>
        </p:nvSpPr>
        <p:spPr>
          <a:xfrm>
            <a:off x="1097280" y="484632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600" b="1" i="0">
                <a:solidFill>
                  <a:srgbClr val="3B2416"/>
                </a:solidFill>
                <a:effectLst>
                  <a:outerShdw blurRad="91440" dist="27432" dir="5400000" algn="ctr" rotWithShape="0">
                    <a:srgbClr val="FFFFFF">
                      <a:alpha val="30000"/>
                    </a:srgbClr>
                  </a:outerShdw>
                </a:effectLst>
                <a:latin typeface="Dancing Script"/>
                <a:ea typeface="Dancing Script"/>
                <a:cs typeface="Dancing Script"/>
              </a:rPr>
              <a:t>Passion &amp; Ginger</a:t>
            </a:r>
          </a:p>
        </p:txBody>
      </p:sp>
      <p:sp>
        <p:nvSpPr>
          <p:cNvPr id="24" name="!!c_text"/>
          <p:cNvSpPr txBox="1"/>
          <p:nvPr/>
        </p:nvSpPr>
        <p:spPr>
          <a:xfrm>
            <a:off x="548640" y="56235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B2416"/>
                </a:solidFill>
                <a:latin typeface="Mulish"/>
                <a:ea typeface="Mulish"/>
                <a:cs typeface="Mulish"/>
              </a:rPr>
              <a:t>Chanh dây kết hợp gừng, </a:t>
            </a:r>
            <a:r>
              <a:rPr sz="105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chua ngọt – ấm nồng</a:t>
            </a:r>
            <a:r>
              <a:rPr sz="1050" b="0" i="0">
                <a:solidFill>
                  <a:srgbClr val="3B2416"/>
                </a:solidFill>
                <a:latin typeface="Mulish"/>
                <a:ea typeface="Mulish"/>
                <a:cs typeface="Mulish"/>
              </a:rPr>
              <a:t>; ăn vặt hoặc pha trà.</a:t>
            </a:r>
          </a:p>
        </p:txBody>
      </p:sp>
      <p:pic>
        <p:nvPicPr>
          <p:cNvPr id="25" name="!!t_0" descr="prod_sau_rieng.png"/>
          <p:cNvPicPr>
            <a:picLocks noChangeAspect="1"/>
          </p:cNvPicPr>
          <p:nvPr/>
        </p:nvPicPr>
        <p:blipFill>
          <a:blip r:embed="rId14"/>
          <a:srcRect t="10979" b="10979"/>
          <a:stretch>
            <a:fillRect/>
          </a:stretch>
        </p:blipFill>
        <p:spPr>
          <a:xfrm>
            <a:off x="8918143" y="5788152"/>
            <a:ext cx="457200" cy="566928"/>
          </a:xfrm>
          <a:prstGeom prst="rect">
            <a:avLst/>
          </a:prstGeom>
        </p:spPr>
      </p:pic>
      <p:pic>
        <p:nvPicPr>
          <p:cNvPr id="26" name="!!t_1" descr="prod_chanh_day.png"/>
          <p:cNvPicPr>
            <a:picLocks noChangeAspect="1"/>
          </p:cNvPicPr>
          <p:nvPr/>
        </p:nvPicPr>
        <p:blipFill>
          <a:blip r:embed="rId13"/>
          <a:srcRect t="10979" b="10979"/>
          <a:stretch>
            <a:fillRect/>
          </a:stretch>
        </p:blipFill>
        <p:spPr>
          <a:xfrm>
            <a:off x="9485071" y="5788152"/>
            <a:ext cx="457200" cy="566928"/>
          </a:xfrm>
          <a:prstGeom prst="rect">
            <a:avLst/>
          </a:prstGeom>
        </p:spPr>
      </p:pic>
      <p:pic>
        <p:nvPicPr>
          <p:cNvPr id="27" name="!!t_2" descr="prod_mang_cau.png"/>
          <p:cNvPicPr>
            <a:picLocks noChangeAspect="1"/>
          </p:cNvPicPr>
          <p:nvPr/>
        </p:nvPicPr>
        <p:blipFill>
          <a:blip r:embed="rId15"/>
          <a:srcRect t="10979" b="10979"/>
          <a:stretch>
            <a:fillRect/>
          </a:stretch>
        </p:blipFill>
        <p:spPr>
          <a:xfrm>
            <a:off x="10051999" y="5788152"/>
            <a:ext cx="457200" cy="566928"/>
          </a:xfrm>
          <a:prstGeom prst="rect">
            <a:avLst/>
          </a:prstGeom>
        </p:spPr>
      </p:pic>
      <p:pic>
        <p:nvPicPr>
          <p:cNvPr id="28" name="!!t_3" descr="prod_gung.png"/>
          <p:cNvPicPr>
            <a:picLocks noChangeAspect="1"/>
          </p:cNvPicPr>
          <p:nvPr/>
        </p:nvPicPr>
        <p:blipFill>
          <a:blip r:embed="rId16"/>
          <a:srcRect t="10979" b="10979"/>
          <a:stretch>
            <a:fillRect/>
          </a:stretch>
        </p:blipFill>
        <p:spPr>
          <a:xfrm>
            <a:off x="10618927" y="5788152"/>
            <a:ext cx="457200" cy="566928"/>
          </a:xfrm>
          <a:prstGeom prst="rect">
            <a:avLst/>
          </a:prstGeom>
        </p:spPr>
      </p:pic>
      <p:pic>
        <p:nvPicPr>
          <p:cNvPr id="29" name="!!t_4" descr="prod_chuoi.png"/>
          <p:cNvPicPr>
            <a:picLocks noChangeAspect="1"/>
          </p:cNvPicPr>
          <p:nvPr/>
        </p:nvPicPr>
        <p:blipFill>
          <a:blip r:embed="rId17"/>
          <a:srcRect t="10979" b="10979"/>
          <a:stretch>
            <a:fillRect/>
          </a:stretch>
        </p:blipFill>
        <p:spPr>
          <a:xfrm>
            <a:off x="11185855" y="5788152"/>
            <a:ext cx="457200" cy="566928"/>
          </a:xfrm>
          <a:prstGeom prst="rect">
            <a:avLst/>
          </a:prstGeom>
        </p:spPr>
      </p:pic>
      <p:sp>
        <p:nvSpPr>
          <p:cNvPr id="30" name="!!t_ind"/>
          <p:cNvSpPr/>
          <p:nvPr/>
        </p:nvSpPr>
        <p:spPr>
          <a:xfrm>
            <a:off x="9485071" y="6446520"/>
            <a:ext cx="457200" cy="45720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9947b3eb395cd5b6.jpg"/>
          <p:cNvPicPr>
            <a:picLocks noChangeAspect="1"/>
          </p:cNvPicPr>
          <p:nvPr/>
        </p:nvPicPr>
        <p:blipFill>
          <a:blip r:embed="rId2"/>
          <a:srcRect t="22499" b="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wash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6F1E6">
                  <a:alpha val="92000"/>
                </a:srgbClr>
              </a:gs>
              <a:gs pos="16000">
                <a:srgbClr val="F6F1E6">
                  <a:alpha val="55000"/>
                </a:srgbClr>
              </a:gs>
              <a:gs pos="40000">
                <a:srgbClr val="F6F1E6">
                  <a:alpha val="0"/>
                </a:srgbClr>
              </a:gs>
              <a:gs pos="100000">
                <a:srgbClr val="F6F1E6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!!mist" descr="mist.png"/>
          <p:cNvPicPr>
            <a:picLocks noChangeAspect="1"/>
          </p:cNvPicPr>
          <p:nvPr/>
        </p:nvPicPr>
        <p:blipFill>
          <a:blip r:embed="rId3"/>
          <a:srcRect t="13935" b="13935"/>
          <a:stretch>
            <a:fillRect/>
          </a:stretch>
        </p:blipFill>
        <p:spPr>
          <a:xfrm>
            <a:off x="-457200" y="4480560"/>
            <a:ext cx="13106095" cy="2560320"/>
          </a:xfrm>
          <a:prstGeom prst="rect">
            <a:avLst/>
          </a:prstGeom>
        </p:spPr>
      </p:pic>
      <p:pic>
        <p:nvPicPr>
          <p:cNvPr id="5" name="!!c_wash" descr="glow_F6F1E6_92_1.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11680" y="2926080"/>
            <a:ext cx="9509760" cy="5120640"/>
          </a:xfrm>
          <a:prstGeom prst="rect">
            <a:avLst/>
          </a:prstGeom>
        </p:spPr>
      </p:pic>
      <p:pic>
        <p:nvPicPr>
          <p:cNvPr id="6" name="!!nav_logo" descr="leaf_1D4B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7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8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9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10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11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12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3" name="!!nav_ind"/>
          <p:cNvSpPr/>
          <p:nvPr/>
        </p:nvSpPr>
        <p:spPr>
          <a:xfrm>
            <a:off x="5253732" y="603504"/>
            <a:ext cx="685939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4" name="!!nav_i0" descr="search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5" name="!!nav_i1" descr="user-round_3B24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6" name="!!nav_i2" descr="shopping-bag_3B24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pic>
        <p:nvPicPr>
          <p:cNvPr id="17" name="!!p_chanh_day" descr="prod_chanh_day_blur.png"/>
          <p:cNvPicPr>
            <a:picLocks noChangeAspect="1"/>
          </p:cNvPicPr>
          <p:nvPr/>
        </p:nvPicPr>
        <p:blipFill>
          <a:blip r:embed="rId9"/>
          <a:srcRect l="0" r="0"/>
          <a:stretch>
            <a:fillRect/>
          </a:stretch>
        </p:blipFill>
        <p:spPr>
          <a:xfrm rot="20760000">
            <a:off x="1694817" y="1417320"/>
            <a:ext cx="908046" cy="1417320"/>
          </a:xfrm>
          <a:prstGeom prst="rect">
            <a:avLst/>
          </a:prstGeom>
        </p:spPr>
      </p:pic>
      <p:pic>
        <p:nvPicPr>
          <p:cNvPr id="18" name="!!p_gung" descr="prod_gung_blur.png"/>
          <p:cNvPicPr>
            <a:picLocks noChangeAspect="1"/>
          </p:cNvPicPr>
          <p:nvPr/>
        </p:nvPicPr>
        <p:blipFill>
          <a:blip r:embed="rId10"/>
          <a:srcRect l="0" r="0"/>
          <a:stretch>
            <a:fillRect/>
          </a:stretch>
        </p:blipFill>
        <p:spPr>
          <a:xfrm rot="720000">
            <a:off x="9639016" y="2194560"/>
            <a:ext cx="1113088" cy="1737360"/>
          </a:xfrm>
          <a:prstGeom prst="rect">
            <a:avLst/>
          </a:prstGeom>
        </p:spPr>
      </p:pic>
      <p:pic>
        <p:nvPicPr>
          <p:cNvPr id="19" name="!!p_sau_rieng" descr="prod_sau_rieng_blur.png"/>
          <p:cNvPicPr>
            <a:picLocks noChangeAspect="1"/>
          </p:cNvPicPr>
          <p:nvPr/>
        </p:nvPicPr>
        <p:blipFill>
          <a:blip r:embed="rId11"/>
          <a:srcRect l="0" r="0"/>
          <a:stretch>
            <a:fillRect/>
          </a:stretch>
        </p:blipFill>
        <p:spPr>
          <a:xfrm rot="1080000">
            <a:off x="4019408" y="1234440"/>
            <a:ext cx="556544" cy="868680"/>
          </a:xfrm>
          <a:prstGeom prst="rect">
            <a:avLst/>
          </a:prstGeom>
        </p:spPr>
      </p:pic>
      <p:pic>
        <p:nvPicPr>
          <p:cNvPr id="20" name="!!p_chuoi" descr="prod_chuoi_blur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 rot="20400000">
            <a:off x="11045642" y="1280160"/>
            <a:ext cx="585836" cy="914400"/>
          </a:xfrm>
          <a:prstGeom prst="rect">
            <a:avLst/>
          </a:prstGeom>
        </p:spPr>
      </p:pic>
      <p:pic>
        <p:nvPicPr>
          <p:cNvPr id="21" name="!!p_mang_cau" descr="prod_mang_cau.png"/>
          <p:cNvPicPr>
            <a:picLocks noChangeAspect="1"/>
          </p:cNvPicPr>
          <p:nvPr/>
        </p:nvPicPr>
        <p:blipFill>
          <a:blip r:embed="rId13"/>
          <a:srcRect l="0" r="0"/>
          <a:stretch>
            <a:fillRect/>
          </a:stretch>
        </p:blipFill>
        <p:spPr>
          <a:xfrm rot="21300000">
            <a:off x="5109191" y="1691640"/>
            <a:ext cx="2704834" cy="4297680"/>
          </a:xfrm>
          <a:prstGeom prst="rect">
            <a:avLst/>
          </a:prstGeom>
        </p:spPr>
      </p:pic>
      <p:sp>
        <p:nvSpPr>
          <p:cNvPr id="22" name="!!c_name"/>
          <p:cNvSpPr txBox="1"/>
          <p:nvPr/>
        </p:nvSpPr>
        <p:spPr>
          <a:xfrm>
            <a:off x="548640" y="434340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4400" b="0" i="0">
                <a:solidFill>
                  <a:srgbClr val="1D4B3A"/>
                </a:solidFill>
                <a:effectLst>
                  <a:outerShdw blurRad="91440" dist="27432" dir="5400000" algn="ctr" rotWithShape="0">
                    <a:srgbClr val="000000">
                      <a:alpha val="30000"/>
                    </a:srgbClr>
                  </a:outerShdw>
                </a:effectLst>
                <a:latin typeface="Baloo 2 ExtraBold"/>
                <a:ea typeface="Baloo 2 ExtraBold"/>
                <a:cs typeface="Baloo 2 ExtraBold"/>
              </a:rPr>
              <a:t>MÃNG CẦU SẤY</a:t>
            </a:r>
          </a:p>
        </p:txBody>
      </p:sp>
      <p:sp>
        <p:nvSpPr>
          <p:cNvPr id="23" name="!!c_script"/>
          <p:cNvSpPr txBox="1"/>
          <p:nvPr/>
        </p:nvSpPr>
        <p:spPr>
          <a:xfrm>
            <a:off x="1097280" y="484632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600" b="1" i="0">
                <a:solidFill>
                  <a:srgbClr val="3B2416"/>
                </a:solidFill>
                <a:effectLst>
                  <a:outerShdw blurRad="91440" dist="27432" dir="5400000" algn="ctr" rotWithShape="0">
                    <a:srgbClr val="FFFFFF">
                      <a:alpha val="30000"/>
                    </a:srgbClr>
                  </a:outerShdw>
                </a:effectLst>
                <a:latin typeface="Dancing Script"/>
                <a:ea typeface="Dancing Script"/>
                <a:cs typeface="Dancing Script"/>
              </a:rPr>
              <a:t>Dried Soursop</a:t>
            </a:r>
          </a:p>
        </p:txBody>
      </p:sp>
      <p:sp>
        <p:nvSpPr>
          <p:cNvPr id="24" name="!!c_text"/>
          <p:cNvSpPr txBox="1"/>
          <p:nvPr/>
        </p:nvSpPr>
        <p:spPr>
          <a:xfrm>
            <a:off x="548640" y="56235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B2416"/>
                </a:solidFill>
                <a:latin typeface="Mulish"/>
                <a:ea typeface="Mulish"/>
                <a:cs typeface="Mulish"/>
              </a:rPr>
              <a:t>Mãng cầu </a:t>
            </a:r>
            <a:r>
              <a:rPr sz="105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sấy dẻo</a:t>
            </a:r>
            <a:r>
              <a:rPr sz="1050" b="0" i="0">
                <a:solidFill>
                  <a:srgbClr val="3B2416"/>
                </a:solidFill>
                <a:latin typeface="Mulish"/>
                <a:ea typeface="Mulish"/>
                <a:cs typeface="Mulish"/>
              </a:rPr>
              <a:t>, vị chua dịu tự nhiên, giàu vitamin C.</a:t>
            </a:r>
          </a:p>
        </p:txBody>
      </p:sp>
      <p:pic>
        <p:nvPicPr>
          <p:cNvPr id="25" name="!!t_0" descr="prod_sau_rieng.png"/>
          <p:cNvPicPr>
            <a:picLocks noChangeAspect="1"/>
          </p:cNvPicPr>
          <p:nvPr/>
        </p:nvPicPr>
        <p:blipFill>
          <a:blip r:embed="rId14"/>
          <a:srcRect t="10979" b="10979"/>
          <a:stretch>
            <a:fillRect/>
          </a:stretch>
        </p:blipFill>
        <p:spPr>
          <a:xfrm>
            <a:off x="8918143" y="5788152"/>
            <a:ext cx="457200" cy="566928"/>
          </a:xfrm>
          <a:prstGeom prst="rect">
            <a:avLst/>
          </a:prstGeom>
        </p:spPr>
      </p:pic>
      <p:pic>
        <p:nvPicPr>
          <p:cNvPr id="26" name="!!t_1" descr="prod_chanh_day.png"/>
          <p:cNvPicPr>
            <a:picLocks noChangeAspect="1"/>
          </p:cNvPicPr>
          <p:nvPr/>
        </p:nvPicPr>
        <p:blipFill>
          <a:blip r:embed="rId15"/>
          <a:srcRect t="10979" b="10979"/>
          <a:stretch>
            <a:fillRect/>
          </a:stretch>
        </p:blipFill>
        <p:spPr>
          <a:xfrm>
            <a:off x="9485071" y="5788152"/>
            <a:ext cx="457200" cy="566928"/>
          </a:xfrm>
          <a:prstGeom prst="rect">
            <a:avLst/>
          </a:prstGeom>
        </p:spPr>
      </p:pic>
      <p:pic>
        <p:nvPicPr>
          <p:cNvPr id="27" name="!!t_2" descr="prod_mang_cau.png"/>
          <p:cNvPicPr>
            <a:picLocks noChangeAspect="1"/>
          </p:cNvPicPr>
          <p:nvPr/>
        </p:nvPicPr>
        <p:blipFill>
          <a:blip r:embed="rId13"/>
          <a:srcRect t="10979" b="10979"/>
          <a:stretch>
            <a:fillRect/>
          </a:stretch>
        </p:blipFill>
        <p:spPr>
          <a:xfrm>
            <a:off x="10051999" y="5788152"/>
            <a:ext cx="457200" cy="566928"/>
          </a:xfrm>
          <a:prstGeom prst="rect">
            <a:avLst/>
          </a:prstGeom>
        </p:spPr>
      </p:pic>
      <p:pic>
        <p:nvPicPr>
          <p:cNvPr id="28" name="!!t_3" descr="prod_gung.png"/>
          <p:cNvPicPr>
            <a:picLocks noChangeAspect="1"/>
          </p:cNvPicPr>
          <p:nvPr/>
        </p:nvPicPr>
        <p:blipFill>
          <a:blip r:embed="rId16"/>
          <a:srcRect t="10979" b="10979"/>
          <a:stretch>
            <a:fillRect/>
          </a:stretch>
        </p:blipFill>
        <p:spPr>
          <a:xfrm>
            <a:off x="10618927" y="5788152"/>
            <a:ext cx="457200" cy="566928"/>
          </a:xfrm>
          <a:prstGeom prst="rect">
            <a:avLst/>
          </a:prstGeom>
        </p:spPr>
      </p:pic>
      <p:pic>
        <p:nvPicPr>
          <p:cNvPr id="29" name="!!t_4" descr="prod_chuoi.png"/>
          <p:cNvPicPr>
            <a:picLocks noChangeAspect="1"/>
          </p:cNvPicPr>
          <p:nvPr/>
        </p:nvPicPr>
        <p:blipFill>
          <a:blip r:embed="rId17"/>
          <a:srcRect t="10979" b="10979"/>
          <a:stretch>
            <a:fillRect/>
          </a:stretch>
        </p:blipFill>
        <p:spPr>
          <a:xfrm>
            <a:off x="11185855" y="5788152"/>
            <a:ext cx="457200" cy="566928"/>
          </a:xfrm>
          <a:prstGeom prst="rect">
            <a:avLst/>
          </a:prstGeom>
        </p:spPr>
      </p:pic>
      <p:sp>
        <p:nvSpPr>
          <p:cNvPr id="30" name="!!t_ind"/>
          <p:cNvSpPr/>
          <p:nvPr/>
        </p:nvSpPr>
        <p:spPr>
          <a:xfrm>
            <a:off x="10051999" y="6446520"/>
            <a:ext cx="457200" cy="45720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1faab6249daa61bd.jpg"/>
          <p:cNvPicPr>
            <a:picLocks noChangeAspect="1"/>
          </p:cNvPicPr>
          <p:nvPr/>
        </p:nvPicPr>
        <p:blipFill>
          <a:blip r:embed="rId2"/>
          <a:srcRect t="1566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wash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6F1E6">
                  <a:alpha val="92000"/>
                </a:srgbClr>
              </a:gs>
              <a:gs pos="16000">
                <a:srgbClr val="F6F1E6">
                  <a:alpha val="55000"/>
                </a:srgbClr>
              </a:gs>
              <a:gs pos="40000">
                <a:srgbClr val="F6F1E6">
                  <a:alpha val="0"/>
                </a:srgbClr>
              </a:gs>
              <a:gs pos="100000">
                <a:srgbClr val="F6F1E6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!!mist" descr="mist.png"/>
          <p:cNvPicPr>
            <a:picLocks noChangeAspect="1"/>
          </p:cNvPicPr>
          <p:nvPr/>
        </p:nvPicPr>
        <p:blipFill>
          <a:blip r:embed="rId3"/>
          <a:srcRect t="13935" b="13935"/>
          <a:stretch>
            <a:fillRect/>
          </a:stretch>
        </p:blipFill>
        <p:spPr>
          <a:xfrm>
            <a:off x="-457200" y="4480560"/>
            <a:ext cx="13106095" cy="2560320"/>
          </a:xfrm>
          <a:prstGeom prst="rect">
            <a:avLst/>
          </a:prstGeom>
        </p:spPr>
      </p:pic>
      <p:pic>
        <p:nvPicPr>
          <p:cNvPr id="5" name="!!c_wash" descr="glow_F6F1E6_92_1.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11680" y="2926080"/>
            <a:ext cx="9509760" cy="5120640"/>
          </a:xfrm>
          <a:prstGeom prst="rect">
            <a:avLst/>
          </a:prstGeom>
        </p:spPr>
      </p:pic>
      <p:pic>
        <p:nvPicPr>
          <p:cNvPr id="6" name="!!nav_logo" descr="leaf_1D4B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7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8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9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10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11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12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3" name="!!nav_ind"/>
          <p:cNvSpPr/>
          <p:nvPr/>
        </p:nvSpPr>
        <p:spPr>
          <a:xfrm>
            <a:off x="5253732" y="603504"/>
            <a:ext cx="685939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4" name="!!nav_i0" descr="search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5" name="!!nav_i1" descr="user-round_3B24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6" name="!!nav_i2" descr="shopping-bag_3B24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pic>
        <p:nvPicPr>
          <p:cNvPr id="17" name="!!p_mang_cau" descr="prod_mang_cau_blur.png"/>
          <p:cNvPicPr>
            <a:picLocks noChangeAspect="1"/>
          </p:cNvPicPr>
          <p:nvPr/>
        </p:nvPicPr>
        <p:blipFill>
          <a:blip r:embed="rId9"/>
          <a:srcRect l="0" r="0"/>
          <a:stretch>
            <a:fillRect/>
          </a:stretch>
        </p:blipFill>
        <p:spPr>
          <a:xfrm rot="20760000">
            <a:off x="1694817" y="1417320"/>
            <a:ext cx="908046" cy="1417320"/>
          </a:xfrm>
          <a:prstGeom prst="rect">
            <a:avLst/>
          </a:prstGeom>
        </p:spPr>
      </p:pic>
      <p:pic>
        <p:nvPicPr>
          <p:cNvPr id="18" name="!!p_chuoi" descr="prod_chuoi_blur.png"/>
          <p:cNvPicPr>
            <a:picLocks noChangeAspect="1"/>
          </p:cNvPicPr>
          <p:nvPr/>
        </p:nvPicPr>
        <p:blipFill>
          <a:blip r:embed="rId10"/>
          <a:srcRect l="0" r="0"/>
          <a:stretch>
            <a:fillRect/>
          </a:stretch>
        </p:blipFill>
        <p:spPr>
          <a:xfrm rot="720000">
            <a:off x="9639016" y="2194560"/>
            <a:ext cx="1113088" cy="1737360"/>
          </a:xfrm>
          <a:prstGeom prst="rect">
            <a:avLst/>
          </a:prstGeom>
        </p:spPr>
      </p:pic>
      <p:pic>
        <p:nvPicPr>
          <p:cNvPr id="19" name="!!p_sau_rieng" descr="prod_sau_rieng_blur.png"/>
          <p:cNvPicPr>
            <a:picLocks noChangeAspect="1"/>
          </p:cNvPicPr>
          <p:nvPr/>
        </p:nvPicPr>
        <p:blipFill>
          <a:blip r:embed="rId11"/>
          <a:srcRect l="0" r="0"/>
          <a:stretch>
            <a:fillRect/>
          </a:stretch>
        </p:blipFill>
        <p:spPr>
          <a:xfrm rot="1080000">
            <a:off x="4019408" y="1234440"/>
            <a:ext cx="556544" cy="868680"/>
          </a:xfrm>
          <a:prstGeom prst="rect">
            <a:avLst/>
          </a:prstGeom>
        </p:spPr>
      </p:pic>
      <p:pic>
        <p:nvPicPr>
          <p:cNvPr id="20" name="!!p_chanh_day" descr="prod_chanh_day_blur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 rot="20400000">
            <a:off x="11045642" y="1280160"/>
            <a:ext cx="585836" cy="914400"/>
          </a:xfrm>
          <a:prstGeom prst="rect">
            <a:avLst/>
          </a:prstGeom>
        </p:spPr>
      </p:pic>
      <p:pic>
        <p:nvPicPr>
          <p:cNvPr id="21" name="!!p_gung" descr="prod_gung.png"/>
          <p:cNvPicPr>
            <a:picLocks noChangeAspect="1"/>
          </p:cNvPicPr>
          <p:nvPr/>
        </p:nvPicPr>
        <p:blipFill>
          <a:blip r:embed="rId13"/>
          <a:srcRect l="0" r="0"/>
          <a:stretch>
            <a:fillRect/>
          </a:stretch>
        </p:blipFill>
        <p:spPr>
          <a:xfrm rot="21300000">
            <a:off x="5109191" y="1691640"/>
            <a:ext cx="2704834" cy="4297680"/>
          </a:xfrm>
          <a:prstGeom prst="rect">
            <a:avLst/>
          </a:prstGeom>
        </p:spPr>
      </p:pic>
      <p:sp>
        <p:nvSpPr>
          <p:cNvPr id="22" name="!!c_name"/>
          <p:cNvSpPr txBox="1"/>
          <p:nvPr/>
        </p:nvSpPr>
        <p:spPr>
          <a:xfrm>
            <a:off x="548640" y="434340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4400" b="0" i="0">
                <a:solidFill>
                  <a:srgbClr val="1D4B3A"/>
                </a:solidFill>
                <a:effectLst>
                  <a:outerShdw blurRad="91440" dist="27432" dir="5400000" algn="ctr" rotWithShape="0">
                    <a:srgbClr val="000000">
                      <a:alpha val="30000"/>
                    </a:srgbClr>
                  </a:outerShdw>
                </a:effectLst>
                <a:latin typeface="Baloo 2 ExtraBold"/>
                <a:ea typeface="Baloo 2 ExtraBold"/>
                <a:cs typeface="Baloo 2 ExtraBold"/>
              </a:rPr>
              <a:t>GỪNG SẤY DẺO</a:t>
            </a:r>
          </a:p>
        </p:txBody>
      </p:sp>
      <p:sp>
        <p:nvSpPr>
          <p:cNvPr id="23" name="!!c_script"/>
          <p:cNvSpPr txBox="1"/>
          <p:nvPr/>
        </p:nvSpPr>
        <p:spPr>
          <a:xfrm>
            <a:off x="1097280" y="484632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600" b="1" i="0">
                <a:solidFill>
                  <a:srgbClr val="3B2416"/>
                </a:solidFill>
                <a:effectLst>
                  <a:outerShdw blurRad="91440" dist="27432" dir="5400000" algn="ctr" rotWithShape="0">
                    <a:srgbClr val="FFFFFF">
                      <a:alpha val="30000"/>
                    </a:srgbClr>
                  </a:outerShdw>
                </a:effectLst>
                <a:latin typeface="Dancing Script"/>
                <a:ea typeface="Dancing Script"/>
                <a:cs typeface="Dancing Script"/>
              </a:rPr>
              <a:t>Dried Ginger</a:t>
            </a:r>
          </a:p>
        </p:txBody>
      </p:sp>
      <p:sp>
        <p:nvSpPr>
          <p:cNvPr id="24" name="!!c_text"/>
          <p:cNvSpPr txBox="1"/>
          <p:nvPr/>
        </p:nvSpPr>
        <p:spPr>
          <a:xfrm>
            <a:off x="548640" y="56235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B2416"/>
                </a:solidFill>
                <a:latin typeface="Mulish"/>
                <a:ea typeface="Mulish"/>
                <a:cs typeface="Mulish"/>
              </a:rPr>
              <a:t>Gừng Tây Nguyên </a:t>
            </a:r>
            <a:r>
              <a:rPr sz="105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sấy dẻo</a:t>
            </a:r>
            <a:r>
              <a:rPr sz="1050" b="0" i="0">
                <a:solidFill>
                  <a:srgbClr val="3B2416"/>
                </a:solidFill>
                <a:latin typeface="Mulish"/>
                <a:ea typeface="Mulish"/>
                <a:cs typeface="Mulish"/>
              </a:rPr>
              <a:t>, ấm bụng, hợp dùng với trà.</a:t>
            </a:r>
          </a:p>
        </p:txBody>
      </p:sp>
      <p:pic>
        <p:nvPicPr>
          <p:cNvPr id="25" name="!!t_0" descr="prod_sau_rieng.png"/>
          <p:cNvPicPr>
            <a:picLocks noChangeAspect="1"/>
          </p:cNvPicPr>
          <p:nvPr/>
        </p:nvPicPr>
        <p:blipFill>
          <a:blip r:embed="rId14"/>
          <a:srcRect t="10979" b="10979"/>
          <a:stretch>
            <a:fillRect/>
          </a:stretch>
        </p:blipFill>
        <p:spPr>
          <a:xfrm>
            <a:off x="8918143" y="5788152"/>
            <a:ext cx="457200" cy="566928"/>
          </a:xfrm>
          <a:prstGeom prst="rect">
            <a:avLst/>
          </a:prstGeom>
        </p:spPr>
      </p:pic>
      <p:pic>
        <p:nvPicPr>
          <p:cNvPr id="26" name="!!t_1" descr="prod_chanh_day.png"/>
          <p:cNvPicPr>
            <a:picLocks noChangeAspect="1"/>
          </p:cNvPicPr>
          <p:nvPr/>
        </p:nvPicPr>
        <p:blipFill>
          <a:blip r:embed="rId15"/>
          <a:srcRect t="10979" b="10979"/>
          <a:stretch>
            <a:fillRect/>
          </a:stretch>
        </p:blipFill>
        <p:spPr>
          <a:xfrm>
            <a:off x="9485071" y="5788152"/>
            <a:ext cx="457200" cy="566928"/>
          </a:xfrm>
          <a:prstGeom prst="rect">
            <a:avLst/>
          </a:prstGeom>
        </p:spPr>
      </p:pic>
      <p:pic>
        <p:nvPicPr>
          <p:cNvPr id="27" name="!!t_2" descr="prod_mang_cau.png"/>
          <p:cNvPicPr>
            <a:picLocks noChangeAspect="1"/>
          </p:cNvPicPr>
          <p:nvPr/>
        </p:nvPicPr>
        <p:blipFill>
          <a:blip r:embed="rId16"/>
          <a:srcRect t="10979" b="10979"/>
          <a:stretch>
            <a:fillRect/>
          </a:stretch>
        </p:blipFill>
        <p:spPr>
          <a:xfrm>
            <a:off x="10051999" y="5788152"/>
            <a:ext cx="457200" cy="566928"/>
          </a:xfrm>
          <a:prstGeom prst="rect">
            <a:avLst/>
          </a:prstGeom>
        </p:spPr>
      </p:pic>
      <p:pic>
        <p:nvPicPr>
          <p:cNvPr id="28" name="!!t_3" descr="prod_gung.png"/>
          <p:cNvPicPr>
            <a:picLocks noChangeAspect="1"/>
          </p:cNvPicPr>
          <p:nvPr/>
        </p:nvPicPr>
        <p:blipFill>
          <a:blip r:embed="rId13"/>
          <a:srcRect t="10979" b="10979"/>
          <a:stretch>
            <a:fillRect/>
          </a:stretch>
        </p:blipFill>
        <p:spPr>
          <a:xfrm>
            <a:off x="10618927" y="5788152"/>
            <a:ext cx="457200" cy="566928"/>
          </a:xfrm>
          <a:prstGeom prst="rect">
            <a:avLst/>
          </a:prstGeom>
        </p:spPr>
      </p:pic>
      <p:pic>
        <p:nvPicPr>
          <p:cNvPr id="29" name="!!t_4" descr="prod_chuoi.png"/>
          <p:cNvPicPr>
            <a:picLocks noChangeAspect="1"/>
          </p:cNvPicPr>
          <p:nvPr/>
        </p:nvPicPr>
        <p:blipFill>
          <a:blip r:embed="rId17"/>
          <a:srcRect t="10979" b="10979"/>
          <a:stretch>
            <a:fillRect/>
          </a:stretch>
        </p:blipFill>
        <p:spPr>
          <a:xfrm>
            <a:off x="11185855" y="5788152"/>
            <a:ext cx="457200" cy="566928"/>
          </a:xfrm>
          <a:prstGeom prst="rect">
            <a:avLst/>
          </a:prstGeom>
        </p:spPr>
      </p:pic>
      <p:sp>
        <p:nvSpPr>
          <p:cNvPr id="30" name="!!t_ind"/>
          <p:cNvSpPr/>
          <p:nvPr/>
        </p:nvSpPr>
        <p:spPr>
          <a:xfrm>
            <a:off x="10618927" y="6446520"/>
            <a:ext cx="457200" cy="45720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1272118b3c317d0a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wash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6F1E6">
                  <a:alpha val="92000"/>
                </a:srgbClr>
              </a:gs>
              <a:gs pos="16000">
                <a:srgbClr val="F6F1E6">
                  <a:alpha val="55000"/>
                </a:srgbClr>
              </a:gs>
              <a:gs pos="40000">
                <a:srgbClr val="F6F1E6">
                  <a:alpha val="0"/>
                </a:srgbClr>
              </a:gs>
              <a:gs pos="100000">
                <a:srgbClr val="F6F1E6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!!mist" descr="mist.png"/>
          <p:cNvPicPr>
            <a:picLocks noChangeAspect="1"/>
          </p:cNvPicPr>
          <p:nvPr/>
        </p:nvPicPr>
        <p:blipFill>
          <a:blip r:embed="rId3"/>
          <a:srcRect t="13935" b="13935"/>
          <a:stretch>
            <a:fillRect/>
          </a:stretch>
        </p:blipFill>
        <p:spPr>
          <a:xfrm>
            <a:off x="-457200" y="4480560"/>
            <a:ext cx="13106095" cy="2560320"/>
          </a:xfrm>
          <a:prstGeom prst="rect">
            <a:avLst/>
          </a:prstGeom>
        </p:spPr>
      </p:pic>
      <p:pic>
        <p:nvPicPr>
          <p:cNvPr id="5" name="!!c_wash" descr="glow_F6F1E6_92_1.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11680" y="2926080"/>
            <a:ext cx="9509760" cy="5120640"/>
          </a:xfrm>
          <a:prstGeom prst="rect">
            <a:avLst/>
          </a:prstGeom>
        </p:spPr>
      </p:pic>
      <p:pic>
        <p:nvPicPr>
          <p:cNvPr id="6" name="!!nav_logo" descr="leaf_1D4B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7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8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9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10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11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12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3" name="!!nav_ind"/>
          <p:cNvSpPr/>
          <p:nvPr/>
        </p:nvSpPr>
        <p:spPr>
          <a:xfrm>
            <a:off x="5253732" y="603504"/>
            <a:ext cx="685939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4" name="!!nav_i0" descr="search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5" name="!!nav_i1" descr="user-round_3B24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6" name="!!nav_i2" descr="shopping-bag_3B24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pic>
        <p:nvPicPr>
          <p:cNvPr id="17" name="!!p_sau_rieng" descr="prod_sau_rieng_blur.png"/>
          <p:cNvPicPr>
            <a:picLocks noChangeAspect="1"/>
          </p:cNvPicPr>
          <p:nvPr/>
        </p:nvPicPr>
        <p:blipFill>
          <a:blip r:embed="rId9"/>
          <a:srcRect l="0" r="0"/>
          <a:stretch>
            <a:fillRect/>
          </a:stretch>
        </p:blipFill>
        <p:spPr>
          <a:xfrm rot="20760000">
            <a:off x="1694817" y="1417320"/>
            <a:ext cx="908046" cy="1417320"/>
          </a:xfrm>
          <a:prstGeom prst="rect">
            <a:avLst/>
          </a:prstGeom>
        </p:spPr>
      </p:pic>
      <p:pic>
        <p:nvPicPr>
          <p:cNvPr id="18" name="!!p_gung" descr="prod_gung_blur.png"/>
          <p:cNvPicPr>
            <a:picLocks noChangeAspect="1"/>
          </p:cNvPicPr>
          <p:nvPr/>
        </p:nvPicPr>
        <p:blipFill>
          <a:blip r:embed="rId10"/>
          <a:srcRect l="0" r="0"/>
          <a:stretch>
            <a:fillRect/>
          </a:stretch>
        </p:blipFill>
        <p:spPr>
          <a:xfrm rot="720000">
            <a:off x="9639016" y="2194560"/>
            <a:ext cx="1113088" cy="1737360"/>
          </a:xfrm>
          <a:prstGeom prst="rect">
            <a:avLst/>
          </a:prstGeom>
        </p:spPr>
      </p:pic>
      <p:pic>
        <p:nvPicPr>
          <p:cNvPr id="19" name="!!p_chanh_day" descr="prod_chanh_day_blur.png"/>
          <p:cNvPicPr>
            <a:picLocks noChangeAspect="1"/>
          </p:cNvPicPr>
          <p:nvPr/>
        </p:nvPicPr>
        <p:blipFill>
          <a:blip r:embed="rId11"/>
          <a:srcRect l="0" r="0"/>
          <a:stretch>
            <a:fillRect/>
          </a:stretch>
        </p:blipFill>
        <p:spPr>
          <a:xfrm rot="1080000">
            <a:off x="4019408" y="1234440"/>
            <a:ext cx="556544" cy="868680"/>
          </a:xfrm>
          <a:prstGeom prst="rect">
            <a:avLst/>
          </a:prstGeom>
        </p:spPr>
      </p:pic>
      <p:pic>
        <p:nvPicPr>
          <p:cNvPr id="20" name="!!p_mang_cau" descr="prod_mang_cau_blur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 rot="20400000">
            <a:off x="11045642" y="1280160"/>
            <a:ext cx="585836" cy="914400"/>
          </a:xfrm>
          <a:prstGeom prst="rect">
            <a:avLst/>
          </a:prstGeom>
        </p:spPr>
      </p:pic>
      <p:pic>
        <p:nvPicPr>
          <p:cNvPr id="21" name="!!p_chuoi" descr="prod_chuoi.png"/>
          <p:cNvPicPr>
            <a:picLocks noChangeAspect="1"/>
          </p:cNvPicPr>
          <p:nvPr/>
        </p:nvPicPr>
        <p:blipFill>
          <a:blip r:embed="rId13"/>
          <a:srcRect l="0" r="0"/>
          <a:stretch>
            <a:fillRect/>
          </a:stretch>
        </p:blipFill>
        <p:spPr>
          <a:xfrm rot="21300000">
            <a:off x="5109191" y="1691640"/>
            <a:ext cx="2704834" cy="4297680"/>
          </a:xfrm>
          <a:prstGeom prst="rect">
            <a:avLst/>
          </a:prstGeom>
        </p:spPr>
      </p:pic>
      <p:sp>
        <p:nvSpPr>
          <p:cNvPr id="22" name="!!c_name"/>
          <p:cNvSpPr txBox="1"/>
          <p:nvPr/>
        </p:nvSpPr>
        <p:spPr>
          <a:xfrm>
            <a:off x="548640" y="434340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4400" b="0" i="0">
                <a:solidFill>
                  <a:srgbClr val="1D4B3A"/>
                </a:solidFill>
                <a:effectLst>
                  <a:outerShdw blurRad="91440" dist="27432" dir="5400000" algn="ctr" rotWithShape="0">
                    <a:srgbClr val="000000">
                      <a:alpha val="30000"/>
                    </a:srgbClr>
                  </a:outerShdw>
                </a:effectLst>
                <a:latin typeface="Baloo 2 ExtraBold"/>
                <a:ea typeface="Baloo 2 ExtraBold"/>
                <a:cs typeface="Baloo 2 ExtraBold"/>
              </a:rPr>
              <a:t>CHUỐI SẤY GIÒN</a:t>
            </a:r>
          </a:p>
        </p:txBody>
      </p:sp>
      <p:sp>
        <p:nvSpPr>
          <p:cNvPr id="23" name="!!c_script"/>
          <p:cNvSpPr txBox="1"/>
          <p:nvPr/>
        </p:nvSpPr>
        <p:spPr>
          <a:xfrm>
            <a:off x="1097280" y="484632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600" b="1" i="0">
                <a:solidFill>
                  <a:srgbClr val="3B2416"/>
                </a:solidFill>
                <a:effectLst>
                  <a:outerShdw blurRad="91440" dist="27432" dir="5400000" algn="ctr" rotWithShape="0">
                    <a:srgbClr val="FFFFFF">
                      <a:alpha val="30000"/>
                    </a:srgbClr>
                  </a:outerShdw>
                </a:effectLst>
                <a:latin typeface="Dancing Script"/>
                <a:ea typeface="Dancing Script"/>
                <a:cs typeface="Dancing Script"/>
              </a:rPr>
              <a:t>Banana Chips</a:t>
            </a:r>
          </a:p>
        </p:txBody>
      </p:sp>
      <p:sp>
        <p:nvSpPr>
          <p:cNvPr id="24" name="!!c_text"/>
          <p:cNvSpPr txBox="1"/>
          <p:nvPr/>
        </p:nvSpPr>
        <p:spPr>
          <a:xfrm>
            <a:off x="548640" y="56235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3B2416"/>
                </a:solidFill>
                <a:latin typeface="Mulish"/>
                <a:ea typeface="Mulish"/>
                <a:cs typeface="Mulish"/>
              </a:rPr>
              <a:t>Chuối chín vàng </a:t>
            </a:r>
            <a:r>
              <a:rPr sz="105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sấy giòn ít dầu</a:t>
            </a:r>
            <a:r>
              <a:rPr sz="1050" b="0" i="0">
                <a:solidFill>
                  <a:srgbClr val="3B2416"/>
                </a:solidFill>
                <a:latin typeface="Mulish"/>
                <a:ea typeface="Mulish"/>
                <a:cs typeface="Mulish"/>
              </a:rPr>
              <a:t>, ăn vặt lành mạnh cho cả nhà.</a:t>
            </a:r>
          </a:p>
        </p:txBody>
      </p:sp>
      <p:pic>
        <p:nvPicPr>
          <p:cNvPr id="25" name="!!t_0" descr="prod_sau_rieng.png"/>
          <p:cNvPicPr>
            <a:picLocks noChangeAspect="1"/>
          </p:cNvPicPr>
          <p:nvPr/>
        </p:nvPicPr>
        <p:blipFill>
          <a:blip r:embed="rId14"/>
          <a:srcRect t="10979" b="10979"/>
          <a:stretch>
            <a:fillRect/>
          </a:stretch>
        </p:blipFill>
        <p:spPr>
          <a:xfrm>
            <a:off x="8918143" y="5788152"/>
            <a:ext cx="457200" cy="566928"/>
          </a:xfrm>
          <a:prstGeom prst="rect">
            <a:avLst/>
          </a:prstGeom>
        </p:spPr>
      </p:pic>
      <p:pic>
        <p:nvPicPr>
          <p:cNvPr id="26" name="!!t_1" descr="prod_chanh_day.png"/>
          <p:cNvPicPr>
            <a:picLocks noChangeAspect="1"/>
          </p:cNvPicPr>
          <p:nvPr/>
        </p:nvPicPr>
        <p:blipFill>
          <a:blip r:embed="rId15"/>
          <a:srcRect t="10979" b="10979"/>
          <a:stretch>
            <a:fillRect/>
          </a:stretch>
        </p:blipFill>
        <p:spPr>
          <a:xfrm>
            <a:off x="9485071" y="5788152"/>
            <a:ext cx="457200" cy="566928"/>
          </a:xfrm>
          <a:prstGeom prst="rect">
            <a:avLst/>
          </a:prstGeom>
        </p:spPr>
      </p:pic>
      <p:pic>
        <p:nvPicPr>
          <p:cNvPr id="27" name="!!t_2" descr="prod_mang_cau.png"/>
          <p:cNvPicPr>
            <a:picLocks noChangeAspect="1"/>
          </p:cNvPicPr>
          <p:nvPr/>
        </p:nvPicPr>
        <p:blipFill>
          <a:blip r:embed="rId16"/>
          <a:srcRect t="10979" b="10979"/>
          <a:stretch>
            <a:fillRect/>
          </a:stretch>
        </p:blipFill>
        <p:spPr>
          <a:xfrm>
            <a:off x="10051999" y="5788152"/>
            <a:ext cx="457200" cy="566928"/>
          </a:xfrm>
          <a:prstGeom prst="rect">
            <a:avLst/>
          </a:prstGeom>
        </p:spPr>
      </p:pic>
      <p:pic>
        <p:nvPicPr>
          <p:cNvPr id="28" name="!!t_3" descr="prod_gung.png"/>
          <p:cNvPicPr>
            <a:picLocks noChangeAspect="1"/>
          </p:cNvPicPr>
          <p:nvPr/>
        </p:nvPicPr>
        <p:blipFill>
          <a:blip r:embed="rId17"/>
          <a:srcRect t="10979" b="10979"/>
          <a:stretch>
            <a:fillRect/>
          </a:stretch>
        </p:blipFill>
        <p:spPr>
          <a:xfrm>
            <a:off x="10618927" y="5788152"/>
            <a:ext cx="457200" cy="566928"/>
          </a:xfrm>
          <a:prstGeom prst="rect">
            <a:avLst/>
          </a:prstGeom>
        </p:spPr>
      </p:pic>
      <p:pic>
        <p:nvPicPr>
          <p:cNvPr id="29" name="!!t_4" descr="prod_chuoi.png"/>
          <p:cNvPicPr>
            <a:picLocks noChangeAspect="1"/>
          </p:cNvPicPr>
          <p:nvPr/>
        </p:nvPicPr>
        <p:blipFill>
          <a:blip r:embed="rId13"/>
          <a:srcRect t="10979" b="10979"/>
          <a:stretch>
            <a:fillRect/>
          </a:stretch>
        </p:blipFill>
        <p:spPr>
          <a:xfrm>
            <a:off x="11185855" y="5788152"/>
            <a:ext cx="457200" cy="566928"/>
          </a:xfrm>
          <a:prstGeom prst="rect">
            <a:avLst/>
          </a:prstGeom>
        </p:spPr>
      </p:pic>
      <p:sp>
        <p:nvSpPr>
          <p:cNvPr id="30" name="!!t_ind"/>
          <p:cNvSpPr/>
          <p:nvPr/>
        </p:nvSpPr>
        <p:spPr>
          <a:xfrm>
            <a:off x="11185855" y="6446520"/>
            <a:ext cx="457200" cy="45720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_F6F1E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leaf_1D4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5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6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7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8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9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0" name="!!nav_ind"/>
          <p:cNvSpPr/>
          <p:nvPr/>
        </p:nvSpPr>
        <p:spPr>
          <a:xfrm>
            <a:off x="5253732" y="603504"/>
            <a:ext cx="685939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!!nav_i0" descr="search_3B24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2" name="!!nav_i1" descr="user-round_3B24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3" name="!!nav_i2" descr="shopping-bag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4" name="!!h_title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32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VÌ SAO CHỌN</a:t>
            </a:r>
          </a:p>
        </p:txBody>
      </p:sp>
      <p:sp>
        <p:nvSpPr>
          <p:cNvPr id="15" name="!!h_script"/>
          <p:cNvSpPr txBox="1"/>
          <p:nvPr/>
        </p:nvSpPr>
        <p:spPr>
          <a:xfrm>
            <a:off x="548640" y="1252728"/>
            <a:ext cx="1109441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000" b="1" i="0">
                <a:solidFill>
                  <a:srgbClr val="3B2416"/>
                </a:solidFill>
                <a:latin typeface="Dancing Script"/>
                <a:ea typeface="Dancing Script"/>
                <a:cs typeface="Dancing Script"/>
              </a:rPr>
              <a:t>Heragrain</a:t>
            </a:r>
          </a:p>
        </p:txBody>
      </p:sp>
      <p:pic>
        <p:nvPicPr>
          <p:cNvPr id="16" name="Picture 15" descr="glow_E4A92A_45_1.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2728" y="2103120"/>
            <a:ext cx="4206240" cy="4206240"/>
          </a:xfrm>
          <a:prstGeom prst="rect">
            <a:avLst/>
          </a:prstGeom>
        </p:spPr>
      </p:pic>
      <p:pic>
        <p:nvPicPr>
          <p:cNvPr id="17" name="!!p_sau_rieng" descr="prod_sau_rieng.png"/>
          <p:cNvPicPr>
            <a:picLocks noChangeAspect="1"/>
          </p:cNvPicPr>
          <p:nvPr/>
        </p:nvPicPr>
        <p:blipFill>
          <a:blip r:embed="rId8"/>
          <a:srcRect l="0" r="0"/>
          <a:stretch>
            <a:fillRect/>
          </a:stretch>
        </p:blipFill>
        <p:spPr>
          <a:xfrm rot="21360000">
            <a:off x="4772206" y="2194560"/>
            <a:ext cx="2647284" cy="420624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566928" y="2167128"/>
            <a:ext cx="658368" cy="658368"/>
          </a:xfrm>
          <a:prstGeom prst="ellipse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y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2331720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71600" y="2167128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 i="0">
                <a:solidFill>
                  <a:srgbClr val="3B2416"/>
                </a:solidFill>
                <a:latin typeface="Mulish ExtraBold"/>
                <a:ea typeface="Mulish ExtraBold"/>
                <a:cs typeface="Mulish ExtraBold"/>
              </a:rPr>
              <a:t>Thấy tận mắt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56032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Cửa sổ H cho thấy miếng trái cây thật bên trong.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60520" y="2496312"/>
            <a:ext cx="746608" cy="365760"/>
          </a:xfrm>
          <a:prstGeom prst="line">
            <a:avLst/>
          </a:prstGeom>
          <a:ln w="12700">
            <a:solidFill>
              <a:srgbClr val="1D4B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852264" y="2807208"/>
            <a:ext cx="109728" cy="109728"/>
          </a:xfrm>
          <a:prstGeom prst="ellipse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6928" y="4361688"/>
            <a:ext cx="658368" cy="658368"/>
          </a:xfrm>
          <a:prstGeom prst="ellipse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eaf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4526280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71600" y="4361688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 i="0">
                <a:solidFill>
                  <a:srgbClr val="3B2416"/>
                </a:solidFill>
                <a:latin typeface="Mulish ExtraBold"/>
                <a:ea typeface="Mulish ExtraBold"/>
                <a:cs typeface="Mulish ExtraBold"/>
              </a:rPr>
              <a:t>Tự nhiên thật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5488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100% trái cây, không phẩm màu, không chất bảo quản.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160520" y="4416552"/>
            <a:ext cx="746608" cy="274320"/>
          </a:xfrm>
          <a:prstGeom prst="line">
            <a:avLst/>
          </a:prstGeom>
          <a:ln w="12700">
            <a:solidFill>
              <a:srgbClr val="1D4B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852264" y="4361688"/>
            <a:ext cx="109728" cy="109728"/>
          </a:xfrm>
          <a:prstGeom prst="ellipse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66399" y="2167128"/>
            <a:ext cx="658368" cy="658368"/>
          </a:xfrm>
          <a:prstGeom prst="ellipse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hield-check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30991" y="2331720"/>
            <a:ext cx="329184" cy="3291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76895" y="2167128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500" b="0" i="0">
                <a:solidFill>
                  <a:srgbClr val="3B2416"/>
                </a:solidFill>
                <a:latin typeface="Mulish ExtraBold"/>
                <a:ea typeface="Mulish ExtraBold"/>
                <a:cs typeface="Mulish ExtraBold"/>
              </a:rPr>
              <a:t>Minh bạch chất lượng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6895" y="256032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Truy xuất nguồn gốc từ vùng trồng Đắk Lắk.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284568" y="2496312"/>
            <a:ext cx="746607" cy="365760"/>
          </a:xfrm>
          <a:prstGeom prst="line">
            <a:avLst/>
          </a:prstGeom>
          <a:ln w="12700">
            <a:solidFill>
              <a:srgbClr val="1D4B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229704" y="2807208"/>
            <a:ext cx="109728" cy="109728"/>
          </a:xfrm>
          <a:prstGeom prst="ellipse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66399" y="4361688"/>
            <a:ext cx="658368" cy="658368"/>
          </a:xfrm>
          <a:prstGeom prst="ellipse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globe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30991" y="4526280"/>
            <a:ext cx="329184" cy="3291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076895" y="4361688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500" b="0" i="0">
                <a:solidFill>
                  <a:srgbClr val="3B2416"/>
                </a:solidFill>
                <a:latin typeface="Mulish ExtraBold"/>
                <a:ea typeface="Mulish ExtraBold"/>
                <a:cs typeface="Mulish ExtraBold"/>
              </a:rPr>
              <a:t>Xuất khẩu sẵn sàng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6895" y="475488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Bao bì song ngữ, quy cách theo chuẩn quốc tế.</a:t>
            </a:r>
          </a:p>
        </p:txBody>
      </p:sp>
      <p:cxnSp>
        <p:nvCxnSpPr>
          <p:cNvPr id="40" name="Connector 39"/>
          <p:cNvCxnSpPr/>
          <p:nvPr/>
        </p:nvCxnSpPr>
        <p:spPr>
          <a:xfrm flipH="1" flipV="1">
            <a:off x="7284568" y="4416552"/>
            <a:ext cx="746607" cy="274320"/>
          </a:xfrm>
          <a:prstGeom prst="line">
            <a:avLst/>
          </a:prstGeom>
          <a:ln w="12700">
            <a:solidFill>
              <a:srgbClr val="1D4B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7229704" y="4361688"/>
            <a:ext cx="109728" cy="109728"/>
          </a:xfrm>
          <a:prstGeom prst="ellipse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1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_F6F1E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leaf_1D4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5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6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7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8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9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0" name="!!nav_ind"/>
          <p:cNvSpPr/>
          <p:nvPr/>
        </p:nvSpPr>
        <p:spPr>
          <a:xfrm>
            <a:off x="5253732" y="603504"/>
            <a:ext cx="685939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!!nav_i0" descr="search_3B24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2" name="!!nav_i1" descr="user-round_3B24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3" name="!!nav_i2" descr="shopping-bag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pic>
        <p:nvPicPr>
          <p:cNvPr id="14" name="!!p_sau_rieng" descr="prod_sau_rieng.png"/>
          <p:cNvPicPr>
            <a:picLocks noChangeAspect="1"/>
          </p:cNvPicPr>
          <p:nvPr/>
        </p:nvPicPr>
        <p:blipFill>
          <a:blip r:embed="rId7"/>
          <a:srcRect t="0" b="0"/>
          <a:stretch>
            <a:fillRect/>
          </a:stretch>
        </p:blipFill>
        <p:spPr>
          <a:xfrm rot="21300000">
            <a:off x="1509399" y="1417320"/>
            <a:ext cx="3107681" cy="4937760"/>
          </a:xfrm>
          <a:prstGeom prst="rect">
            <a:avLst/>
          </a:prstGeom>
        </p:spPr>
      </p:pic>
      <p:sp>
        <p:nvSpPr>
          <p:cNvPr id="15" name="!!h_title"/>
          <p:cNvSpPr txBox="1"/>
          <p:nvPr/>
        </p:nvSpPr>
        <p:spPr>
          <a:xfrm>
            <a:off x="5760720" y="914400"/>
            <a:ext cx="588233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36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THÔNG TIN SẢN PHẨM</a:t>
            </a:r>
          </a:p>
        </p:txBody>
      </p:sp>
      <p:sp>
        <p:nvSpPr>
          <p:cNvPr id="16" name="!!h_script"/>
          <p:cNvSpPr txBox="1"/>
          <p:nvPr/>
        </p:nvSpPr>
        <p:spPr>
          <a:xfrm>
            <a:off x="6126480" y="1371600"/>
            <a:ext cx="5882335" cy="6400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3B2416"/>
                </a:solidFill>
                <a:latin typeface="Dancing Script"/>
                <a:ea typeface="Dancing Script"/>
                <a:cs typeface="Dancing Script"/>
              </a:rPr>
              <a:t>Sầu riêng sấy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760720" y="2194560"/>
          <a:ext cx="5882335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08546"/>
                <a:gridCol w="267378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Thông tin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E8DCC8"/>
                      </a:solidFill>
                    </a:lnL>
                    <a:lnR w="9525">
                      <a:solidFill>
                        <a:srgbClr val="E8DCC8"/>
                      </a:solidFill>
                    </a:lnR>
                    <a:lnT w="9525">
                      <a:solidFill>
                        <a:srgbClr val="E8DCC8"/>
                      </a:solidFill>
                    </a:lnT>
                    <a:lnB w="9525">
                      <a:solidFill>
                        <a:srgbClr val="E8DCC8"/>
                      </a:solidFill>
                    </a:lnB>
                    <a:solidFill>
                      <a:srgbClr val="1D4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Chi tiết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E8DCC8"/>
                      </a:solidFill>
                    </a:lnL>
                    <a:lnR w="9525">
                      <a:solidFill>
                        <a:srgbClr val="E8DCC8"/>
                      </a:solidFill>
                    </a:lnR>
                    <a:lnT w="9525">
                      <a:solidFill>
                        <a:srgbClr val="E8DCC8"/>
                      </a:solidFill>
                    </a:lnT>
                    <a:lnB w="9525">
                      <a:solidFill>
                        <a:srgbClr val="E8DCC8"/>
                      </a:solidFill>
                    </a:lnB>
                    <a:solidFill>
                      <a:srgbClr val="1D4B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B2416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Thành phần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E8DCC8"/>
                      </a:solidFill>
                    </a:lnL>
                    <a:lnR w="9525">
                      <a:solidFill>
                        <a:srgbClr val="E8DCC8"/>
                      </a:solidFill>
                    </a:lnR>
                    <a:lnT w="9525">
                      <a:solidFill>
                        <a:srgbClr val="E8DCC8"/>
                      </a:solidFill>
                    </a:lnT>
                    <a:lnB w="9525">
                      <a:solidFill>
                        <a:srgbClr val="E8DCC8"/>
                      </a:solidFill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3B2416"/>
                          </a:solidFill>
                          <a:latin typeface="Montserrat"/>
                          <a:ea typeface="Montserrat"/>
                          <a:cs typeface="Montserrat"/>
                        </a:rPr>
                        <a:t>100% sầu riêng Đắk Lắk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E8DCC8"/>
                      </a:solidFill>
                    </a:lnL>
                    <a:lnR w="9525">
                      <a:solidFill>
                        <a:srgbClr val="E8DCC8"/>
                      </a:solidFill>
                    </a:lnR>
                    <a:lnT w="9525">
                      <a:solidFill>
                        <a:srgbClr val="E8DCC8"/>
                      </a:solidFill>
                    </a:lnT>
                    <a:lnB w="9525">
                      <a:solidFill>
                        <a:srgbClr val="E8DCC8"/>
                      </a:solidFill>
                    </a:lnB>
                    <a:solidFill>
                      <a:srgbClr val="FFFD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B2416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Khối lượng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E8DCC8"/>
                      </a:solidFill>
                    </a:lnL>
                    <a:lnR w="9525">
                      <a:solidFill>
                        <a:srgbClr val="E8DCC8"/>
                      </a:solidFill>
                    </a:lnR>
                    <a:lnT w="9525">
                      <a:solidFill>
                        <a:srgbClr val="E8DCC8"/>
                      </a:solidFill>
                    </a:lnT>
                    <a:lnB w="9525">
                      <a:solidFill>
                        <a:srgbClr val="E8DCC8"/>
                      </a:solidFill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3B2416"/>
                          </a:solidFill>
                          <a:latin typeface="Montserrat"/>
                          <a:ea typeface="Montserrat"/>
                          <a:cs typeface="Montserrat"/>
                        </a:rPr>
                        <a:t>100 g / túi zip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E8DCC8"/>
                      </a:solidFill>
                    </a:lnL>
                    <a:lnR w="9525">
                      <a:solidFill>
                        <a:srgbClr val="E8DCC8"/>
                      </a:solidFill>
                    </a:lnR>
                    <a:lnT w="9525">
                      <a:solidFill>
                        <a:srgbClr val="E8DCC8"/>
                      </a:solidFill>
                    </a:lnT>
                    <a:lnB w="9525">
                      <a:solidFill>
                        <a:srgbClr val="E8DCC8"/>
                      </a:solidFill>
                    </a:lnB>
                    <a:solidFill>
                      <a:srgbClr val="FBF6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B2416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Hạn sử dụng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E8DCC8"/>
                      </a:solidFill>
                    </a:lnL>
                    <a:lnR w="9525">
                      <a:solidFill>
                        <a:srgbClr val="E8DCC8"/>
                      </a:solidFill>
                    </a:lnR>
                    <a:lnT w="9525">
                      <a:solidFill>
                        <a:srgbClr val="E8DCC8"/>
                      </a:solidFill>
                    </a:lnT>
                    <a:lnB w="9525">
                      <a:solidFill>
                        <a:srgbClr val="E8DCC8"/>
                      </a:solidFill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3B2416"/>
                          </a:solidFill>
                          <a:latin typeface="Montserrat"/>
                          <a:ea typeface="Montserrat"/>
                          <a:cs typeface="Montserrat"/>
                        </a:rPr>
                        <a:t>12 tháng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E8DCC8"/>
                      </a:solidFill>
                    </a:lnL>
                    <a:lnR w="9525">
                      <a:solidFill>
                        <a:srgbClr val="E8DCC8"/>
                      </a:solidFill>
                    </a:lnR>
                    <a:lnT w="9525">
                      <a:solidFill>
                        <a:srgbClr val="E8DCC8"/>
                      </a:solidFill>
                    </a:lnT>
                    <a:lnB w="9525">
                      <a:solidFill>
                        <a:srgbClr val="E8DCC8"/>
                      </a:solidFill>
                    </a:lnB>
                    <a:solidFill>
                      <a:srgbClr val="FFFD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B2416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Bảo quản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E8DCC8"/>
                      </a:solidFill>
                    </a:lnL>
                    <a:lnR w="9525">
                      <a:solidFill>
                        <a:srgbClr val="E8DCC8"/>
                      </a:solidFill>
                    </a:lnR>
                    <a:lnT w="9525">
                      <a:solidFill>
                        <a:srgbClr val="E8DCC8"/>
                      </a:solidFill>
                    </a:lnT>
                    <a:lnB w="9525">
                      <a:solidFill>
                        <a:srgbClr val="E8DCC8"/>
                      </a:solidFill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3B2416"/>
                          </a:solidFill>
                          <a:latin typeface="Montserrat"/>
                          <a:ea typeface="Montserrat"/>
                          <a:cs typeface="Montserrat"/>
                        </a:rPr>
                        <a:t>Nơi khô ráo, thoáng mát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E8DCC8"/>
                      </a:solidFill>
                    </a:lnL>
                    <a:lnR w="9525">
                      <a:solidFill>
                        <a:srgbClr val="E8DCC8"/>
                      </a:solidFill>
                    </a:lnR>
                    <a:lnT w="9525">
                      <a:solidFill>
                        <a:srgbClr val="E8DCC8"/>
                      </a:solidFill>
                    </a:lnT>
                    <a:lnB w="9525">
                      <a:solidFill>
                        <a:srgbClr val="E8DCC8"/>
                      </a:solidFill>
                    </a:lnB>
                    <a:solidFill>
                      <a:srgbClr val="FBF6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B2416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Tiêu chuẩn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E8DCC8"/>
                      </a:solidFill>
                    </a:lnL>
                    <a:lnR w="9525">
                      <a:solidFill>
                        <a:srgbClr val="E8DCC8"/>
                      </a:solidFill>
                    </a:lnR>
                    <a:lnT w="9525">
                      <a:solidFill>
                        <a:srgbClr val="E8DCC8"/>
                      </a:solidFill>
                    </a:lnT>
                    <a:lnB w="9525">
                      <a:solidFill>
                        <a:srgbClr val="E8DCC8"/>
                      </a:solidFill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3B2416"/>
                          </a:solidFill>
                          <a:latin typeface="Montserrat"/>
                          <a:ea typeface="Montserrat"/>
                          <a:cs typeface="Montserrat"/>
                        </a:rPr>
                        <a:t>[TCCS / OCOP …]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E8DCC8"/>
                      </a:solidFill>
                    </a:lnL>
                    <a:lnR w="9525">
                      <a:solidFill>
                        <a:srgbClr val="E8DCC8"/>
                      </a:solidFill>
                    </a:lnR>
                    <a:lnT w="9525">
                      <a:solidFill>
                        <a:srgbClr val="E8DCC8"/>
                      </a:solidFill>
                    </a:lnT>
                    <a:lnB w="9525">
                      <a:solidFill>
                        <a:srgbClr val="E8DCC8"/>
                      </a:solidFill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760720" y="5029200"/>
            <a:ext cx="588233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9C8A78"/>
                </a:solidFill>
                <a:latin typeface="Mulish"/>
                <a:ea typeface="Mulish"/>
                <a:cs typeface="Mulish"/>
              </a:rPr>
              <a:t>Thông tin </a:t>
            </a:r>
            <a:r>
              <a:rPr sz="105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minh họa</a:t>
            </a:r>
            <a:r>
              <a:rPr sz="1050" b="0" i="0">
                <a:solidFill>
                  <a:srgbClr val="9C8A78"/>
                </a:solidFill>
                <a:latin typeface="Mulish"/>
                <a:ea typeface="Mulish"/>
                <a:cs typeface="Mulish"/>
              </a:rPr>
              <a:t> — thay bằng nhãn và hồ sơ công bố sản phẩm của HTX.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  <p:bldGraphic spid="17" grpId="0">
        <p:bldAsOne/>
      </p:bldGraphic>
      <p:bldP spid="18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_F6F1E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leaf_1D4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5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6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7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8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9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0" name="!!nav_ind"/>
          <p:cNvSpPr/>
          <p:nvPr/>
        </p:nvSpPr>
        <p:spPr>
          <a:xfrm>
            <a:off x="6442591" y="603504"/>
            <a:ext cx="1121856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!!nav_i0" descr="search_3B24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2" name="!!nav_i1" descr="user-round_3B24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3" name="!!nav_i2" descr="shopping-bag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4" name="!!h_title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32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QUY TRÌNH</a:t>
            </a:r>
          </a:p>
        </p:txBody>
      </p:sp>
      <p:sp>
        <p:nvSpPr>
          <p:cNvPr id="15" name="!!h_script"/>
          <p:cNvSpPr txBox="1"/>
          <p:nvPr/>
        </p:nvSpPr>
        <p:spPr>
          <a:xfrm>
            <a:off x="548640" y="1252728"/>
            <a:ext cx="1109441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000" b="1" i="0">
                <a:solidFill>
                  <a:srgbClr val="3B2416"/>
                </a:solidFill>
                <a:latin typeface="Dancing Script"/>
                <a:ea typeface="Dancing Script"/>
                <a:cs typeface="Dancing Script"/>
              </a:rPr>
              <a:t>từ vườn đến tay bạn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58082" y="2880360"/>
            <a:ext cx="8875532" cy="0"/>
          </a:xfrm>
          <a:prstGeom prst="line">
            <a:avLst/>
          </a:prstGeom>
          <a:ln w="25400">
            <a:solidFill>
              <a:srgbClr val="1D4B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155162" y="2377440"/>
            <a:ext cx="1005840" cy="1005840"/>
          </a:xfrm>
          <a:prstGeom prst="ellipse">
            <a:avLst/>
          </a:prstGeom>
          <a:solidFill>
            <a:srgbClr val="FFFDF8"/>
          </a:solidFill>
          <a:ln w="25400">
            <a:solidFill>
              <a:srgbClr val="1D4B3A"/>
            </a:solidFill>
          </a:ln>
          <a:effectLst>
            <a:outerShdw blurRad="182880" dist="45720" dir="5400000" algn="ctr" rotWithShape="0">
              <a:srgbClr val="3B2A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pple_1D4B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2050" y="2624328"/>
            <a:ext cx="512064" cy="512064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1859250" y="2286000"/>
            <a:ext cx="347472" cy="347472"/>
          </a:xfrm>
          <a:prstGeom prst="ellipse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Mulish ExtraBold"/>
                <a:ea typeface="Mulish ExtraBold"/>
                <a:cs typeface="Mulish ExtraBol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566160"/>
            <a:ext cx="207257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3B2416"/>
                </a:solidFill>
                <a:latin typeface="Mulish ExtraBold"/>
                <a:ea typeface="Mulish ExtraBold"/>
                <a:cs typeface="Mulish ExtraBold"/>
              </a:rPr>
              <a:t>Tuyển chọn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2036003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Trái chín cây từ nông hộ thành viên.</a:t>
            </a:r>
          </a:p>
        </p:txBody>
      </p:sp>
      <p:sp>
        <p:nvSpPr>
          <p:cNvPr id="22" name="Oval 21"/>
          <p:cNvSpPr/>
          <p:nvPr/>
        </p:nvSpPr>
        <p:spPr>
          <a:xfrm>
            <a:off x="3374045" y="2377440"/>
            <a:ext cx="1005840" cy="1005840"/>
          </a:xfrm>
          <a:prstGeom prst="ellipse">
            <a:avLst/>
          </a:prstGeom>
          <a:solidFill>
            <a:srgbClr val="FFFDF8"/>
          </a:solidFill>
          <a:ln w="25400">
            <a:solidFill>
              <a:srgbClr val="1D4B3A"/>
            </a:solidFill>
          </a:ln>
          <a:effectLst>
            <a:outerShdw blurRad="182880" dist="45720" dir="5400000" algn="ctr" rotWithShape="0">
              <a:srgbClr val="3B2A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roplets_1D4B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0933" y="2624328"/>
            <a:ext cx="512064" cy="512064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4078133" y="2286000"/>
            <a:ext cx="347472" cy="347472"/>
          </a:xfrm>
          <a:prstGeom prst="ellipse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Mulish ExtraBold"/>
                <a:ea typeface="Mulish ExtraBold"/>
                <a:cs typeface="Mulish Extra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40675" y="3566160"/>
            <a:ext cx="207257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3B2416"/>
                </a:solidFill>
                <a:latin typeface="Mulish ExtraBold"/>
                <a:ea typeface="Mulish ExtraBold"/>
                <a:cs typeface="Mulish ExtraBold"/>
              </a:rPr>
              <a:t>Sơ chế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8963" y="4160520"/>
            <a:ext cx="2036003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Rửa sạch, tách múi, cắt lát đều tay.</a:t>
            </a:r>
          </a:p>
        </p:txBody>
      </p:sp>
      <p:sp>
        <p:nvSpPr>
          <p:cNvPr id="27" name="Oval 26"/>
          <p:cNvSpPr/>
          <p:nvPr/>
        </p:nvSpPr>
        <p:spPr>
          <a:xfrm>
            <a:off x="5592928" y="2377440"/>
            <a:ext cx="1005840" cy="1005840"/>
          </a:xfrm>
          <a:prstGeom prst="ellipse">
            <a:avLst/>
          </a:prstGeom>
          <a:solidFill>
            <a:srgbClr val="FFFDF8"/>
          </a:solidFill>
          <a:ln w="25400">
            <a:solidFill>
              <a:srgbClr val="1D4B3A"/>
            </a:solidFill>
          </a:ln>
          <a:effectLst>
            <a:outerShdw blurRad="182880" dist="45720" dir="5400000" algn="ctr" rotWithShape="0">
              <a:srgbClr val="3B2A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un_1D4B3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9816" y="2624328"/>
            <a:ext cx="512064" cy="512064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6297016" y="2286000"/>
            <a:ext cx="347472" cy="347472"/>
          </a:xfrm>
          <a:prstGeom prst="ellipse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Mulish ExtraBold"/>
                <a:ea typeface="Mulish ExtraBold"/>
                <a:cs typeface="Mulish ExtraBold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9558" y="3566160"/>
            <a:ext cx="207257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3B2416"/>
                </a:solidFill>
                <a:latin typeface="Mulish ExtraBold"/>
                <a:ea typeface="Mulish ExtraBold"/>
                <a:cs typeface="Mulish ExtraBold"/>
              </a:rPr>
              <a:t>Sấy lạnh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7846" y="4160520"/>
            <a:ext cx="2036003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Nhiệt độ thấp, giữ màu, mùi và dinh dưỡng.</a:t>
            </a:r>
          </a:p>
        </p:txBody>
      </p:sp>
      <p:sp>
        <p:nvSpPr>
          <p:cNvPr id="32" name="Oval 31"/>
          <p:cNvSpPr/>
          <p:nvPr/>
        </p:nvSpPr>
        <p:spPr>
          <a:xfrm>
            <a:off x="7811811" y="2377440"/>
            <a:ext cx="1005840" cy="1005840"/>
          </a:xfrm>
          <a:prstGeom prst="ellipse">
            <a:avLst/>
          </a:prstGeom>
          <a:solidFill>
            <a:srgbClr val="FFFDF8"/>
          </a:solidFill>
          <a:ln w="25400">
            <a:solidFill>
              <a:srgbClr val="1D4B3A"/>
            </a:solidFill>
          </a:ln>
          <a:effectLst>
            <a:outerShdw blurRad="182880" dist="45720" dir="5400000" algn="ctr" rotWithShape="0">
              <a:srgbClr val="3B2A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ackage-open_1D4B3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8699" y="2624328"/>
            <a:ext cx="512064" cy="512064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8515899" y="2286000"/>
            <a:ext cx="347472" cy="347472"/>
          </a:xfrm>
          <a:prstGeom prst="ellipse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Mulish ExtraBold"/>
                <a:ea typeface="Mulish ExtraBold"/>
                <a:cs typeface="Mulish ExtraBold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8441" y="3566160"/>
            <a:ext cx="207257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3B2416"/>
                </a:solidFill>
                <a:latin typeface="Mulish ExtraBold"/>
                <a:ea typeface="Mulish ExtraBold"/>
                <a:cs typeface="Mulish ExtraBold"/>
              </a:rPr>
              <a:t>Đóng gói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729" y="4160520"/>
            <a:ext cx="2036003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Túi zip cửa sổ H, dán nhãn truy xuất.</a:t>
            </a:r>
          </a:p>
        </p:txBody>
      </p:sp>
      <p:sp>
        <p:nvSpPr>
          <p:cNvPr id="37" name="Oval 36"/>
          <p:cNvSpPr/>
          <p:nvPr/>
        </p:nvSpPr>
        <p:spPr>
          <a:xfrm>
            <a:off x="10030694" y="2377440"/>
            <a:ext cx="1005840" cy="1005840"/>
          </a:xfrm>
          <a:prstGeom prst="ellipse">
            <a:avLst/>
          </a:prstGeom>
          <a:solidFill>
            <a:srgbClr val="FFFDF8"/>
          </a:solidFill>
          <a:ln w="25400">
            <a:solidFill>
              <a:srgbClr val="1D4B3A"/>
            </a:solidFill>
          </a:ln>
          <a:effectLst>
            <a:outerShdw blurRad="182880" dist="45720" dir="5400000" algn="ctr" rotWithShape="0">
              <a:srgbClr val="3B2A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truck_1D4B3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77582" y="2624328"/>
            <a:ext cx="512064" cy="512064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10734782" y="2286000"/>
            <a:ext cx="347472" cy="347472"/>
          </a:xfrm>
          <a:prstGeom prst="ellipse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Mulish ExtraBold"/>
                <a:ea typeface="Mulish ExtraBold"/>
                <a:cs typeface="Mulish ExtraBold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7324" y="3566160"/>
            <a:ext cx="207257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3B2416"/>
                </a:solidFill>
                <a:latin typeface="Mulish ExtraBold"/>
                <a:ea typeface="Mulish ExtraBold"/>
                <a:cs typeface="Mulish ExtraBold"/>
              </a:rPr>
              <a:t>Phân phối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15612" y="4160520"/>
            <a:ext cx="2036003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Cửa hàng, sàn TMĐT và xuất khẩu.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_F6F1E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leaf_1D4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5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6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7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8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9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0" name="!!nav_ind"/>
          <p:cNvSpPr/>
          <p:nvPr/>
        </p:nvSpPr>
        <p:spPr>
          <a:xfrm>
            <a:off x="6442591" y="603504"/>
            <a:ext cx="1121856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!!nav_i0" descr="search_3B24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2" name="!!nav_i1" descr="user-round_3B24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3" name="!!nav_i2" descr="shopping-bag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4" name="!!h_title"/>
          <p:cNvSpPr txBox="1"/>
          <p:nvPr/>
        </p:nvSpPr>
        <p:spPr>
          <a:xfrm>
            <a:off x="548640" y="868680"/>
            <a:ext cx="731520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32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KẾT QUẢ</a:t>
            </a:r>
          </a:p>
        </p:txBody>
      </p:sp>
      <p:sp>
        <p:nvSpPr>
          <p:cNvPr id="15" name="!!h_script"/>
          <p:cNvSpPr txBox="1"/>
          <p:nvPr/>
        </p:nvSpPr>
        <p:spPr>
          <a:xfrm>
            <a:off x="868680" y="1252728"/>
            <a:ext cx="7315200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000" b="1" i="0">
                <a:solidFill>
                  <a:srgbClr val="3B2416"/>
                </a:solidFill>
                <a:latin typeface="Dancing Script"/>
                <a:ea typeface="Dancing Script"/>
                <a:cs typeface="Dancing Script"/>
              </a:rPr>
              <a:t>hợp tác xã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057400"/>
            <a:ext cx="6675120" cy="4206240"/>
          </a:xfrm>
          <a:prstGeom prst="roundRect">
            <a:avLst>
              <a:gd name="adj" fmla="val 3478"/>
            </a:avLst>
          </a:prstGeom>
          <a:solidFill>
            <a:srgbClr val="FFFDF8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77240" y="2240280"/>
          <a:ext cx="6217920" cy="352044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22960" y="580644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1">
                <a:solidFill>
                  <a:srgbClr val="9C8A78"/>
                </a:solidFill>
                <a:latin typeface="Mulish"/>
                <a:ea typeface="Mulish"/>
                <a:cs typeface="Mulish"/>
              </a:rPr>
              <a:t>Số liệu minh họa — thay bằng số liệu thực tế của HTX.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2057400"/>
            <a:ext cx="4099255" cy="896112"/>
          </a:xfrm>
          <a:prstGeom prst="roundRect">
            <a:avLst>
              <a:gd name="adj" fmla="val 16326"/>
            </a:avLst>
          </a:prstGeom>
          <a:solidFill>
            <a:srgbClr val="FFFDF8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103120"/>
            <a:ext cx="2011680" cy="8046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120</a:t>
            </a:r>
            <a:r>
              <a:rPr sz="15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2130552"/>
            <a:ext cx="1950415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Hộ thành viên liên kết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081528"/>
            <a:ext cx="4099255" cy="896112"/>
          </a:xfrm>
          <a:prstGeom prst="roundRect">
            <a:avLst>
              <a:gd name="adj" fmla="val 16326"/>
            </a:avLst>
          </a:prstGeom>
          <a:solidFill>
            <a:srgbClr val="FFFDF8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127248"/>
            <a:ext cx="2011680" cy="8046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5</a:t>
            </a:r>
            <a:r>
              <a:rPr sz="15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154680"/>
            <a:ext cx="1950415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Dòng sản phẩm chủ lực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4105656"/>
            <a:ext cx="4099255" cy="896112"/>
          </a:xfrm>
          <a:prstGeom prst="roundRect">
            <a:avLst>
              <a:gd name="adj" fmla="val 16326"/>
            </a:avLst>
          </a:prstGeom>
          <a:solidFill>
            <a:srgbClr val="FFFDF8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51376"/>
            <a:ext cx="2011680" cy="8046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+30</a:t>
            </a:r>
            <a:r>
              <a:rPr sz="15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4178808"/>
            <a:ext cx="1950415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Thu nhập nông hộ</a:t>
            </a:r>
          </a:p>
        </p:txBody>
      </p:sp>
      <p:pic>
        <p:nvPicPr>
          <p:cNvPr id="28" name="Picture 27" descr="f2b21c6f4795dcb3.jpg"/>
          <p:cNvPicPr>
            <a:picLocks noChangeAspect="1"/>
          </p:cNvPicPr>
          <p:nvPr/>
        </p:nvPicPr>
        <p:blipFill>
          <a:blip r:embed="rId8"/>
          <a:srcRect t="32155" b="32155"/>
          <a:stretch>
            <a:fillRect/>
          </a:stretch>
        </p:blipFill>
        <p:spPr>
          <a:xfrm>
            <a:off x="7543800" y="5166360"/>
            <a:ext cx="4099255" cy="1097280"/>
          </a:xfrm>
          <a:prstGeom prst="roundRect">
            <a:avLst>
              <a:gd name="adj" fmla="val 11666"/>
            </a:avLst>
          </a:prstGeom>
        </p:spPr>
      </p:pic>
      <p:sp>
        <p:nvSpPr>
          <p:cNvPr id="29" name="TextBox 28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  <p:bldGraphic spid="17" grpId="0">
        <p:bldAsOne/>
      </p:bldGraphic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1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_F6F1E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leaf_1D4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5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6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7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8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9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0" name="!!nav_ind"/>
          <p:cNvSpPr/>
          <p:nvPr/>
        </p:nvSpPr>
        <p:spPr>
          <a:xfrm>
            <a:off x="6442591" y="603504"/>
            <a:ext cx="1121856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!!nav_i0" descr="search_3B24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2" name="!!nav_i1" descr="user-round_3B24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3" name="!!nav_i2" descr="shopping-bag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4" name="!!h_title"/>
          <p:cNvSpPr txBox="1"/>
          <p:nvPr/>
        </p:nvSpPr>
        <p:spPr>
          <a:xfrm>
            <a:off x="548640" y="868680"/>
            <a:ext cx="5486400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VÙNG NGUYÊN LIỆU</a:t>
            </a:r>
          </a:p>
        </p:txBody>
      </p:sp>
      <p:sp>
        <p:nvSpPr>
          <p:cNvPr id="15" name="!!h_script"/>
          <p:cNvSpPr txBox="1"/>
          <p:nvPr/>
        </p:nvSpPr>
        <p:spPr>
          <a:xfrm>
            <a:off x="868680" y="1252728"/>
            <a:ext cx="5486400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3B2416"/>
                </a:solidFill>
                <a:latin typeface="Dancing Script"/>
                <a:ea typeface="Dancing Script"/>
                <a:cs typeface="Dancing Script"/>
              </a:rPr>
              <a:t>Tây Nguyên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1874520"/>
            <a:ext cx="5760720" cy="4343400"/>
          </a:xfrm>
          <a:prstGeom prst="roundRect">
            <a:avLst>
              <a:gd name="adj" fmla="val 2526"/>
            </a:avLst>
          </a:prstGeom>
          <a:solidFill>
            <a:srgbClr val="FFFDF8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2971800" y="1874520"/>
            <a:ext cx="5760720" cy="292608"/>
          </a:xfrm>
          <a:prstGeom prst="round2SameRect">
            <a:avLst>
              <a:gd name="adj1" fmla="val 37500"/>
              <a:gd name="adj2" fmla="val 0"/>
            </a:avLst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08960" y="1975104"/>
            <a:ext cx="91440" cy="91440"/>
          </a:xfrm>
          <a:prstGeom prst="ellipse">
            <a:avLst/>
          </a:prstGeom>
          <a:solidFill>
            <a:srgbClr val="E8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64408" y="1975104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19856" y="1975104"/>
            <a:ext cx="91440" cy="91440"/>
          </a:xfrm>
          <a:prstGeom prst="ellipse">
            <a:avLst/>
          </a:prstGeom>
          <a:solidFill>
            <a:srgbClr val="7C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3cc17312453defe.jpg"/>
          <p:cNvPicPr>
            <a:picLocks noChangeAspect="1"/>
          </p:cNvPicPr>
          <p:nvPr/>
        </p:nvPicPr>
        <p:blipFill>
          <a:blip r:embed="rId7"/>
          <a:srcRect t="19472" b="19472"/>
          <a:stretch>
            <a:fillRect/>
          </a:stretch>
        </p:blipFill>
        <p:spPr>
          <a:xfrm>
            <a:off x="3081528" y="2258568"/>
            <a:ext cx="5541264" cy="3383280"/>
          </a:xfrm>
          <a:prstGeom prst="roundRect">
            <a:avLst>
              <a:gd name="adj" fmla="val 2162"/>
            </a:avLst>
          </a:prstGeom>
        </p:spPr>
      </p:pic>
      <p:sp>
        <p:nvSpPr>
          <p:cNvPr id="22" name="TextBox 21"/>
          <p:cNvSpPr txBox="1"/>
          <p:nvPr/>
        </p:nvSpPr>
        <p:spPr>
          <a:xfrm>
            <a:off x="3200400" y="56692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SẦU RIÊNG ĐẮK LẮK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24028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DF8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9098280" y="2240280"/>
            <a:ext cx="2606040" cy="292608"/>
          </a:xfrm>
          <a:prstGeom prst="round2SameRect">
            <a:avLst>
              <a:gd name="adj1" fmla="val 37500"/>
              <a:gd name="adj2" fmla="val 0"/>
            </a:avLst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35440" y="2340864"/>
            <a:ext cx="91440" cy="91440"/>
          </a:xfrm>
          <a:prstGeom prst="ellipse">
            <a:avLst/>
          </a:prstGeom>
          <a:solidFill>
            <a:srgbClr val="E8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90888" y="2340864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46336" y="2340864"/>
            <a:ext cx="91440" cy="91440"/>
          </a:xfrm>
          <a:prstGeom prst="ellipse">
            <a:avLst/>
          </a:prstGeom>
          <a:solidFill>
            <a:srgbClr val="7C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4b3c6afd44adbe59.jpg"/>
          <p:cNvPicPr>
            <a:picLocks noChangeAspect="1"/>
          </p:cNvPicPr>
          <p:nvPr/>
        </p:nvPicPr>
        <p:blipFill>
          <a:blip r:embed="rId8"/>
          <a:srcRect t="21839" b="21839"/>
          <a:stretch>
            <a:fillRect/>
          </a:stretch>
        </p:blipFill>
        <p:spPr>
          <a:xfrm>
            <a:off x="9208008" y="2624328"/>
            <a:ext cx="2386584" cy="1792224"/>
          </a:xfrm>
          <a:prstGeom prst="roundRect">
            <a:avLst>
              <a:gd name="adj" fmla="val 4081"/>
            </a:avLst>
          </a:prstGeom>
        </p:spPr>
      </p:pic>
      <p:sp>
        <p:nvSpPr>
          <p:cNvPr id="29" name="Rounded Rectangle 28"/>
          <p:cNvSpPr/>
          <p:nvPr/>
        </p:nvSpPr>
        <p:spPr>
          <a:xfrm>
            <a:off x="548640" y="3429000"/>
            <a:ext cx="2148840" cy="2148840"/>
          </a:xfrm>
          <a:prstGeom prst="roundRect">
            <a:avLst>
              <a:gd name="adj" fmla="val 5106"/>
            </a:avLst>
          </a:prstGeom>
          <a:solidFill>
            <a:srgbClr val="FFFDF8"/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>
            <a:off x="548640" y="3429000"/>
            <a:ext cx="2148840" cy="292608"/>
          </a:xfrm>
          <a:prstGeom prst="round2SameRect">
            <a:avLst>
              <a:gd name="adj1" fmla="val 37500"/>
              <a:gd name="adj2" fmla="val 0"/>
            </a:avLst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3529584"/>
            <a:ext cx="91440" cy="91440"/>
          </a:xfrm>
          <a:prstGeom prst="ellipse">
            <a:avLst/>
          </a:prstGeom>
          <a:solidFill>
            <a:srgbClr val="E86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" y="3529584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6696" y="3529584"/>
            <a:ext cx="91440" cy="91440"/>
          </a:xfrm>
          <a:prstGeom prst="ellipse">
            <a:avLst/>
          </a:prstGeom>
          <a:solidFill>
            <a:srgbClr val="7C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b614d8545d6b06c.jpg"/>
          <p:cNvPicPr>
            <a:picLocks noChangeAspect="1"/>
          </p:cNvPicPr>
          <p:nvPr/>
        </p:nvPicPr>
        <p:blipFill>
          <a:blip r:embed="rId9"/>
          <a:srcRect l="11009" r="11009"/>
          <a:stretch>
            <a:fillRect/>
          </a:stretch>
        </p:blipFill>
        <p:spPr>
          <a:xfrm>
            <a:off x="658368" y="3813048"/>
            <a:ext cx="1929384" cy="1655064"/>
          </a:xfrm>
          <a:prstGeom prst="roundRect">
            <a:avLst>
              <a:gd name="adj" fmla="val 4419"/>
            </a:avLst>
          </a:prstGeom>
        </p:spPr>
      </p:pic>
      <p:sp>
        <p:nvSpPr>
          <p:cNvPr id="35" name="TextBox 34"/>
          <p:cNvSpPr txBox="1"/>
          <p:nvPr/>
        </p:nvSpPr>
        <p:spPr>
          <a:xfrm>
            <a:off x="9098280" y="4709160"/>
            <a:ext cx="2544775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Hình ảnh </a:t>
            </a:r>
            <a:r>
              <a:rPr sz="115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vùng trồng và nông sản</a:t>
            </a:r>
            <a:r>
              <a:rPr sz="115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 — thay bằng ảnh thật của HTX Heragrain.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_F6F1E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nav_logo" descr="leaf_1D4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10896" cy="310896"/>
          </a:xfrm>
          <a:prstGeom prst="rect">
            <a:avLst/>
          </a:prstGeom>
        </p:spPr>
      </p:pic>
      <p:sp>
        <p:nvSpPr>
          <p:cNvPr id="4" name="!!nav_brand"/>
          <p:cNvSpPr txBox="1"/>
          <p:nvPr/>
        </p:nvSpPr>
        <p:spPr>
          <a:xfrm>
            <a:off x="932688" y="228600"/>
            <a:ext cx="274320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</a:t>
            </a:r>
          </a:p>
        </p:txBody>
      </p:sp>
      <p:sp>
        <p:nvSpPr>
          <p:cNvPr id="5" name="!!nav_sub"/>
          <p:cNvSpPr txBox="1"/>
          <p:nvPr/>
        </p:nvSpPr>
        <p:spPr>
          <a:xfrm>
            <a:off x="2043918" y="301752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 spc="200">
                <a:solidFill>
                  <a:srgbClr val="E4A92A"/>
                </a:solidFill>
                <a:latin typeface="Mulish ExtraBold"/>
                <a:ea typeface="Mulish ExtraBold"/>
                <a:cs typeface="Mulish ExtraBold"/>
              </a:rPr>
              <a:t>FOODS</a:t>
            </a:r>
          </a:p>
        </p:txBody>
      </p:sp>
      <p:sp>
        <p:nvSpPr>
          <p:cNvPr id="6" name="!!nav_m0"/>
          <p:cNvSpPr txBox="1"/>
          <p:nvPr/>
        </p:nvSpPr>
        <p:spPr>
          <a:xfrm>
            <a:off x="3931920" y="246888"/>
            <a:ext cx="910332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Về chúng tôi</a:t>
            </a:r>
          </a:p>
        </p:txBody>
      </p:sp>
      <p:sp>
        <p:nvSpPr>
          <p:cNvPr id="7" name="!!nav_m1"/>
          <p:cNvSpPr txBox="1"/>
          <p:nvPr/>
        </p:nvSpPr>
        <p:spPr>
          <a:xfrm>
            <a:off x="5253732" y="246888"/>
            <a:ext cx="77737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Sản phẩm</a:t>
            </a:r>
          </a:p>
        </p:txBody>
      </p:sp>
      <p:sp>
        <p:nvSpPr>
          <p:cNvPr id="8" name="!!nav_m2"/>
          <p:cNvSpPr txBox="1"/>
          <p:nvPr/>
        </p:nvSpPr>
        <p:spPr>
          <a:xfrm>
            <a:off x="6442591" y="246888"/>
            <a:ext cx="1213296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Vùng nguyên liệu</a:t>
            </a:r>
          </a:p>
        </p:txBody>
      </p:sp>
      <p:sp>
        <p:nvSpPr>
          <p:cNvPr id="9" name="!!nav_m3"/>
          <p:cNvSpPr txBox="1"/>
          <p:nvPr/>
        </p:nvSpPr>
        <p:spPr>
          <a:xfrm>
            <a:off x="8067367" y="246888"/>
            <a:ext cx="583347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Liên hệ</a:t>
            </a:r>
          </a:p>
        </p:txBody>
      </p:sp>
      <p:sp>
        <p:nvSpPr>
          <p:cNvPr id="10" name="!!nav_ind"/>
          <p:cNvSpPr/>
          <p:nvPr/>
        </p:nvSpPr>
        <p:spPr>
          <a:xfrm>
            <a:off x="3931920" y="603504"/>
            <a:ext cx="818892" cy="32004"/>
          </a:xfrm>
          <a:prstGeom prst="rect">
            <a:avLst/>
          </a:prstGeom>
          <a:solidFill>
            <a:srgbClr val="1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!!nav_i0" descr="search_3B24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7023" y="301752"/>
            <a:ext cx="246888" cy="246888"/>
          </a:xfrm>
          <a:prstGeom prst="rect">
            <a:avLst/>
          </a:prstGeom>
        </p:spPr>
      </p:pic>
      <p:pic>
        <p:nvPicPr>
          <p:cNvPr id="12" name="!!nav_i1" descr="user-round_3B24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111" y="301752"/>
            <a:ext cx="246888" cy="246888"/>
          </a:xfrm>
          <a:prstGeom prst="rect">
            <a:avLst/>
          </a:prstGeom>
        </p:spPr>
      </p:pic>
      <p:pic>
        <p:nvPicPr>
          <p:cNvPr id="13" name="!!nav_i2" descr="shopping-bag_3B24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199" y="301752"/>
            <a:ext cx="246888" cy="246888"/>
          </a:xfrm>
          <a:prstGeom prst="rect">
            <a:avLst/>
          </a:prstGeom>
        </p:spPr>
      </p:pic>
      <p:sp>
        <p:nvSpPr>
          <p:cNvPr id="14" name="!!h_title"/>
          <p:cNvSpPr txBox="1"/>
          <p:nvPr/>
        </p:nvSpPr>
        <p:spPr>
          <a:xfrm>
            <a:off x="548640" y="1051560"/>
            <a:ext cx="11094415" cy="7315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34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HERAGRAIN FOODS</a:t>
            </a:r>
          </a:p>
        </p:txBody>
      </p:sp>
      <p:sp>
        <p:nvSpPr>
          <p:cNvPr id="15" name="!!h_script"/>
          <p:cNvSpPr txBox="1"/>
          <p:nvPr/>
        </p:nvSpPr>
        <p:spPr>
          <a:xfrm>
            <a:off x="548640" y="1435608"/>
            <a:ext cx="1109441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200" b="1" i="0">
                <a:solidFill>
                  <a:srgbClr val="3B2416"/>
                </a:solidFill>
                <a:latin typeface="Dancing Script"/>
                <a:ea typeface="Dancing Script"/>
                <a:cs typeface="Dancing Script"/>
              </a:rPr>
              <a:t>Thấy tận mắt, ăn yên tâm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331720"/>
            <a:ext cx="8899855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35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Trái cây sấy &amp; trà từ Đắk Lắk: </a:t>
            </a:r>
            <a:r>
              <a:rPr sz="1350" b="0" i="0">
                <a:solidFill>
                  <a:srgbClr val="1D4B3A"/>
                </a:solidFill>
                <a:latin typeface="Mulish ExtraBold"/>
                <a:ea typeface="Mulish ExtraBold"/>
                <a:cs typeface="Mulish ExtraBold"/>
              </a:rPr>
              <a:t>tự nhiên – minh bạch – cao cấp</a:t>
            </a:r>
            <a:r>
              <a:rPr sz="135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, nâng giá trị nông sản Tây Nguyên và thu nhập cho bà con.</a:t>
            </a:r>
          </a:p>
        </p:txBody>
      </p:sp>
      <p:pic>
        <p:nvPicPr>
          <p:cNvPr id="17" name="!!p_gung" descr="prod_gung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1240000">
            <a:off x="1170237" y="3977640"/>
            <a:ext cx="1438741" cy="2286000"/>
          </a:xfrm>
          <a:prstGeom prst="rect">
            <a:avLst/>
          </a:prstGeom>
        </p:spPr>
      </p:pic>
      <p:pic>
        <p:nvPicPr>
          <p:cNvPr id="18" name="!!p_chanh_day" descr="prod_chanh_day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240000">
            <a:off x="3273357" y="3977640"/>
            <a:ext cx="1438741" cy="2286000"/>
          </a:xfrm>
          <a:prstGeom prst="rect">
            <a:avLst/>
          </a:prstGeom>
        </p:spPr>
      </p:pic>
      <p:pic>
        <p:nvPicPr>
          <p:cNvPr id="19" name="!!p_sau_rieng" descr="prod_sau_rieng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 rot="21420000">
            <a:off x="5376477" y="3977640"/>
            <a:ext cx="1438741" cy="2286000"/>
          </a:xfrm>
          <a:prstGeom prst="rect">
            <a:avLst/>
          </a:prstGeom>
        </p:spPr>
      </p:pic>
      <p:pic>
        <p:nvPicPr>
          <p:cNvPr id="20" name="!!p_mang_cau" descr="prod_mang_cau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 rot="420000">
            <a:off x="7479597" y="3977640"/>
            <a:ext cx="1438741" cy="2286000"/>
          </a:xfrm>
          <a:prstGeom prst="rect">
            <a:avLst/>
          </a:prstGeom>
        </p:spPr>
      </p:pic>
      <p:pic>
        <p:nvPicPr>
          <p:cNvPr id="21" name="!!p_chuoi" descr="prod_chuoi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 rot="21300000">
            <a:off x="9582717" y="3977640"/>
            <a:ext cx="1438741" cy="2286000"/>
          </a:xfrm>
          <a:prstGeom prst="rect">
            <a:avLst/>
          </a:prstGeom>
        </p:spPr>
      </p:pic>
      <p:pic>
        <p:nvPicPr>
          <p:cNvPr id="22" name="!!d0" descr="slice_durian.png"/>
          <p:cNvPicPr>
            <a:picLocks noChangeAspect="1"/>
          </p:cNvPicPr>
          <p:nvPr/>
        </p:nvPicPr>
        <p:blipFill>
          <a:blip r:embed="rId12"/>
          <a:srcRect l="0" r="0"/>
          <a:stretch>
            <a:fillRect/>
          </a:stretch>
        </p:blipFill>
        <p:spPr>
          <a:xfrm rot="2767459">
            <a:off x="1226655" y="5014129"/>
            <a:ext cx="560599" cy="358160"/>
          </a:xfrm>
          <a:prstGeom prst="rect">
            <a:avLst/>
          </a:prstGeom>
        </p:spPr>
      </p:pic>
      <p:pic>
        <p:nvPicPr>
          <p:cNvPr id="23" name="!!d1" descr="slice_ginger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 rot="20371687">
            <a:off x="11344638" y="5859579"/>
            <a:ext cx="757599" cy="439896"/>
          </a:xfrm>
          <a:prstGeom prst="rect">
            <a:avLst/>
          </a:prstGeom>
        </p:spPr>
      </p:pic>
      <p:pic>
        <p:nvPicPr>
          <p:cNvPr id="24" name="!!d2" descr="leaf_blur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 rot="18983553">
            <a:off x="1642738" y="1559156"/>
            <a:ext cx="712392" cy="404840"/>
          </a:xfrm>
          <a:prstGeom prst="rect">
            <a:avLst/>
          </a:prstGeom>
        </p:spPr>
      </p:pic>
      <p:pic>
        <p:nvPicPr>
          <p:cNvPr id="25" name="!!d3" descr="slice_passion_blur.png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 rot="18996576">
            <a:off x="11072782" y="3795117"/>
            <a:ext cx="840360" cy="58497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9C8A78"/>
                </a:solidFill>
                <a:latin typeface="Mulish SemiBold"/>
                <a:ea typeface="Mulish SemiBold"/>
                <a:cs typeface="Mulish SemiBold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_F6F1E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grass" descr="grass.png"/>
          <p:cNvPicPr>
            <a:picLocks noChangeAspect="1"/>
          </p:cNvPicPr>
          <p:nvPr/>
        </p:nvPicPr>
        <p:blipFill>
          <a:blip r:embed="rId3"/>
          <a:srcRect t="13999" b="13999"/>
          <a:stretch>
            <a:fillRect/>
          </a:stretch>
        </p:blipFill>
        <p:spPr>
          <a:xfrm>
            <a:off x="0" y="4937760"/>
            <a:ext cx="12191695" cy="1920240"/>
          </a:xfrm>
          <a:prstGeom prst="rect">
            <a:avLst/>
          </a:prstGeom>
        </p:spPr>
      </p:pic>
      <p:sp>
        <p:nvSpPr>
          <p:cNvPr id="4" name="!!word"/>
          <p:cNvSpPr txBox="1"/>
          <p:nvPr/>
        </p:nvSpPr>
        <p:spPr>
          <a:xfrm>
            <a:off x="457200" y="822960"/>
            <a:ext cx="7498080" cy="20396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146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CẢM ƠN</a:t>
            </a:r>
          </a:p>
        </p:txBody>
      </p:sp>
      <p:sp>
        <p:nvSpPr>
          <p:cNvPr id="5" name="!!word_script"/>
          <p:cNvSpPr txBox="1"/>
          <p:nvPr/>
        </p:nvSpPr>
        <p:spPr>
          <a:xfrm>
            <a:off x="1463040" y="2028190"/>
            <a:ext cx="6400800" cy="8229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800" b="1" i="0">
                <a:solidFill>
                  <a:srgbClr val="1D4B3A"/>
                </a:solidFill>
                <a:latin typeface="Dancing Script"/>
                <a:ea typeface="Dancing Script"/>
                <a:cs typeface="Dancing Script"/>
              </a:rPr>
              <a:t>Heragrain Foods</a:t>
            </a:r>
          </a:p>
        </p:txBody>
      </p:sp>
      <p:pic>
        <p:nvPicPr>
          <p:cNvPr id="6" name="!!p_sau_rieng" descr="prod_sau_rieng.png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 rot="21300000">
            <a:off x="7773039" y="1371600"/>
            <a:ext cx="3107681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337560"/>
            <a:ext cx="6035040" cy="2377440"/>
          </a:xfrm>
          <a:prstGeom prst="roundRect">
            <a:avLst>
              <a:gd name="adj" fmla="val 6153"/>
            </a:avLst>
          </a:prstGeom>
          <a:solidFill>
            <a:srgbClr val="FFFDF8">
              <a:alpha val="90000"/>
            </a:srgbClr>
          </a:solidFill>
          <a:ln>
            <a:noFill/>
          </a:ln>
          <a:effectLst>
            <a:outerShdw blurRad="274320" dist="73152" dir="5400000" algn="ctr" rotWithShape="0">
              <a:srgbClr val="3B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8" name="Picture 7" descr="phone_1D4B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566160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0160" y="3520440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Hotline: 0xxx xxx xxx</a:t>
            </a:r>
          </a:p>
        </p:txBody>
      </p:sp>
      <p:pic>
        <p:nvPicPr>
          <p:cNvPr id="10" name="Picture 9" descr="globe_1D4B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986784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0160" y="3941064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www.heragrain.vn</a:t>
            </a:r>
          </a:p>
        </p:txBody>
      </p:sp>
      <p:pic>
        <p:nvPicPr>
          <p:cNvPr id="12" name="Picture 11" descr="mail_1D4B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407408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80160" y="4361688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lienhe@heragrain.vn</a:t>
            </a:r>
          </a:p>
        </p:txBody>
      </p:sp>
      <p:pic>
        <p:nvPicPr>
          <p:cNvPr id="14" name="Picture 13" descr="map-pin_1D4B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828032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80160" y="4782312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3B2416"/>
                </a:solidFill>
                <a:latin typeface="Mulish SemiBold"/>
                <a:ea typeface="Mulish SemiBold"/>
                <a:cs typeface="Mulish SemiBold"/>
              </a:rPr>
              <a:t>Đắk Lắk, Việt Nam [cập nhật địa chỉ]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_F6F1E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1D4B3A"/>
                </a:solidFill>
                <a:latin typeface="Baloo 2 ExtraBold"/>
                <a:ea typeface="Baloo 2 ExtraBold"/>
                <a:cs typeface="Baloo 2 ExtraBold"/>
              </a:rPr>
              <a:t>NGUỒN HÌNH 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9C8A78"/>
                </a:solidFill>
                <a:latin typeface="Mulish"/>
                <a:ea typeface="Mulish"/>
                <a:cs typeface="Mulish"/>
              </a:rPr>
              <a:t>Slide ẩn — không hiển thị khi trình chiếu. Ảnh: bộ dữ liệu Open Images (Google), giấy phép CC BY 2.0. Bao bì “cửa sổ H”: hình minh họa theo concept, vẽ bằng mã — thay bằng ảnh sản phẩm thật. Icon: Lucide (ISC). Font: Baloo 2, Mulish, Dancing Script (SIL OFL).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94960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• vanishing point makes a rare appearance — emdot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• Untitled — mar jorie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• Rice Fields, Hoi An — Nico Caramella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• Hills with rice terraces in Vietnam — -JvL-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• sqcircleapricots — Janet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• East Meets West Tuna @ Chart House - Annapolis — cdorobek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• Creamy Durian — The World Through Athene&amp;#x27;s Eyes (Flickr, CC BY 2.0)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00200"/>
            <a:ext cx="5394960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• DSC09158 — David Pursehouse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• Madura. Manggis Durian Rambutan.  #LoveLombok — Didit Putra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• Corossol — Damien Boilley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• Buah apa kan ni? Mahawu?? Maharu??? Mahau????  — Maurina Rara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• Untitled — Cindy Funk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6"/>
                </a:solidFill>
                <a:latin typeface="Mulish"/>
                <a:ea typeface="Mulish"/>
                <a:cs typeface="Mulish"/>
              </a:rPr>
              <a:t>• Ginger pile up — Thomas Won (Flickr, CC BY 2.0)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