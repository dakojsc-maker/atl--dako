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Sản lượng (tấn)</c:v>
                </c:pt>
              </c:strCache>
            </c:strRef>
          </c:tx>
          <c:spPr>
            <a:solidFill>
              <a:srgbClr val="B5172F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18</c:v>
                </c:pt>
                <c:pt idx="2">
                  <c:v>26</c:v>
                </c:pt>
                <c:pt idx="3">
                  <c:v>35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50" b="1">
                  <a:solidFill>
                    <a:srgbClr val="3B241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E8DCC8"/>
            </a:solidFill>
          </a:ln>
        </c:spPr>
        <c:txPr>
          <a:bodyPr/>
          <a:lstStyle/>
          <a:p>
            <a:pPr>
              <a:defRPr sz="1050">
                <a:solidFill>
                  <a:srgbClr val="9C8A78"/>
                </a:solidFill>
                <a:latin typeface="Mulish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0.0"/>
          <c:min val="0.0"/>
        </c:scaling>
        <c:delete val="0"/>
        <c:axPos val="l"/>
        <c:majorGridlines>
          <c:spPr>
            <a:ln w="7620">
              <a:solidFill>
                <a:srgbClr val="E8DCC8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50">
                <a:solidFill>
                  <a:srgbClr val="9C8A78"/>
                </a:solidFill>
                <a:latin typeface="Mulish"/>
              </a:defRPr>
            </a:pPr>
          </a:p>
        </c:txPr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solidFill>
            <a:srgbClr val="9C8A78"/>
          </a:solidFill>
          <a:latin typeface="Mulish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Tên sản phẩm, quy cách và số liệu là MINH HỌA — thay bằng danh mục và hồ sơ sản phẩm thật của HTX.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3.png"/><Relationship Id="rId8" Type="http://schemas.openxmlformats.org/officeDocument/2006/relationships/image" Target="../media/image4.png"/><Relationship Id="rId9" Type="http://schemas.openxmlformats.org/officeDocument/2006/relationships/image" Target="../media/image5.png"/><Relationship Id="rId10" Type="http://schemas.openxmlformats.org/officeDocument/2006/relationships/image" Target="../media/image6.png"/><Relationship Id="rId11" Type="http://schemas.openxmlformats.org/officeDocument/2006/relationships/image" Target="../media/image7.png"/><Relationship Id="rId12" Type="http://schemas.openxmlformats.org/officeDocument/2006/relationships/image" Target="../media/image10.png"/><Relationship Id="rId13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3.png"/><Relationship Id="rId8" Type="http://schemas.openxmlformats.org/officeDocument/2006/relationships/image" Target="../media/image4.png"/><Relationship Id="rId9" Type="http://schemas.openxmlformats.org/officeDocument/2006/relationships/image" Target="../media/image5.png"/><Relationship Id="rId10" Type="http://schemas.openxmlformats.org/officeDocument/2006/relationships/image" Target="../media/image6.png"/><Relationship Id="rId11" Type="http://schemas.openxmlformats.org/officeDocument/2006/relationships/image" Target="../media/image7.png"/><Relationship Id="rId12" Type="http://schemas.openxmlformats.org/officeDocument/2006/relationships/image" Target="../media/image9.png"/><Relationship Id="rId13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9.png"/><Relationship Id="rId9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9.png"/><Relationship Id="rId8" Type="http://schemas.openxmlformats.org/officeDocument/2006/relationships/image" Target="../media/image3.png"/><Relationship Id="rId9" Type="http://schemas.openxmlformats.org/officeDocument/2006/relationships/image" Target="../media/image4.png"/><Relationship Id="rId10" Type="http://schemas.openxmlformats.org/officeDocument/2006/relationships/image" Target="../media/image5.png"/><Relationship Id="rId11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21.png"/><Relationship Id="rId10" Type="http://schemas.openxmlformats.org/officeDocument/2006/relationships/image" Target="../media/image9.png"/><Relationship Id="rId11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23.png"/><Relationship Id="rId10" Type="http://schemas.openxmlformats.org/officeDocument/2006/relationships/image" Target="../media/image16.png"/><Relationship Id="rId11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0.png"/><Relationship Id="rId8" Type="http://schemas.openxmlformats.org/officeDocument/2006/relationships/image" Target="../media/image3.png"/><Relationship Id="rId9" Type="http://schemas.openxmlformats.org/officeDocument/2006/relationships/image" Target="../media/image4.png"/><Relationship Id="rId10" Type="http://schemas.openxmlformats.org/officeDocument/2006/relationships/image" Target="../media/image5.png"/><Relationship Id="rId11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25.png"/><Relationship Id="rId10" Type="http://schemas.openxmlformats.org/officeDocument/2006/relationships/image" Target="../media/image26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28.png"/><Relationship Id="rId10" Type="http://schemas.openxmlformats.org/officeDocument/2006/relationships/image" Target="../media/image26.png"/><Relationship Id="rId11" Type="http://schemas.openxmlformats.org/officeDocument/2006/relationships/image" Target="../media/image11.png"/><Relationship Id="rId12" Type="http://schemas.openxmlformats.org/officeDocument/2006/relationships/image" Target="../media/image10.png"/><Relationship Id="rId13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28.png"/><Relationship Id="rId10" Type="http://schemas.openxmlformats.org/officeDocument/2006/relationships/image" Target="../media/image25.png"/><Relationship Id="rId11" Type="http://schemas.openxmlformats.org/officeDocument/2006/relationships/image" Target="../media/image17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29.png"/><Relationship Id="rId8" Type="http://schemas.openxmlformats.org/officeDocument/2006/relationships/image" Target="../media/image9.png"/><Relationship Id="rId9" Type="http://schemas.openxmlformats.org/officeDocument/2006/relationships/image" Target="../media/image30.png"/><Relationship Id="rId10" Type="http://schemas.openxmlformats.org/officeDocument/2006/relationships/image" Target="../media/image31.png"/><Relationship Id="rId11" Type="http://schemas.openxmlformats.org/officeDocument/2006/relationships/image" Target="../media/image32.png"/><Relationship Id="rId12" Type="http://schemas.openxmlformats.org/officeDocument/2006/relationships/image" Target="../media/image3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Relationship Id="rId11" Type="http://schemas.openxmlformats.org/officeDocument/2006/relationships/image" Target="../media/image3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chart" Target="../charts/chart1.xml"/><Relationship Id="rId8" Type="http://schemas.openxmlformats.org/officeDocument/2006/relationships/image" Target="../media/image3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39.jpg"/><Relationship Id="rId8" Type="http://schemas.openxmlformats.org/officeDocument/2006/relationships/image" Target="../media/image40.jpg"/><Relationship Id="rId9" Type="http://schemas.openxmlformats.org/officeDocument/2006/relationships/image" Target="../media/image4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0.png"/><Relationship Id="rId9" Type="http://schemas.openxmlformats.org/officeDocument/2006/relationships/image" Target="../media/image9.png"/><Relationship Id="rId10" Type="http://schemas.openxmlformats.org/officeDocument/2006/relationships/image" Target="../media/image11.png"/><Relationship Id="rId11" Type="http://schemas.openxmlformats.org/officeDocument/2006/relationships/image" Target="../media/image17.png"/><Relationship Id="rId12" Type="http://schemas.openxmlformats.org/officeDocument/2006/relationships/image" Target="../media/image3.png"/><Relationship Id="rId13" Type="http://schemas.openxmlformats.org/officeDocument/2006/relationships/image" Target="../media/image4.png"/><Relationship Id="rId14" Type="http://schemas.openxmlformats.org/officeDocument/2006/relationships/image" Target="../media/image5.png"/><Relationship Id="rId15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E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paper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grass" descr="grass.png"/>
          <p:cNvPicPr>
            <a:picLocks noChangeAspect="1"/>
          </p:cNvPicPr>
          <p:nvPr/>
        </p:nvPicPr>
        <p:blipFill>
          <a:blip r:embed="rId3"/>
          <a:srcRect t="13999" b="13999"/>
          <a:stretch>
            <a:fillRect/>
          </a:stretch>
        </p:blipFill>
        <p:spPr>
          <a:xfrm>
            <a:off x="0" y="4937760"/>
            <a:ext cx="12191695" cy="1920240"/>
          </a:xfrm>
          <a:prstGeom prst="rect">
            <a:avLst/>
          </a:prstGeom>
        </p:spPr>
      </p:pic>
      <p:sp>
        <p:nvSpPr>
          <p:cNvPr id="4" name="!!word"/>
          <p:cNvSpPr txBox="1"/>
          <p:nvPr/>
        </p:nvSpPr>
        <p:spPr>
          <a:xfrm>
            <a:off x="274320" y="1051560"/>
            <a:ext cx="11643055" cy="2240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16800" b="0" i="0">
                <a:solidFill>
                  <a:srgbClr val="B5172F"/>
                </a:solidFill>
                <a:effectLst>
                  <a:outerShdw blurRad="73152" dist="36576" dir="5400000" algn="ctr" rotWithShape="0">
                    <a:srgbClr val="5A0A14">
                      <a:alpha val="25000"/>
                    </a:srgbClr>
                  </a:outerShdw>
                </a:effectLst>
                <a:latin typeface="Baloo 2 ExtraBold"/>
                <a:ea typeface="Baloo 2 ExtraBold"/>
                <a:cs typeface="Baloo 2 ExtraBold"/>
              </a:rPr>
              <a:t>HERAGRAIN</a:t>
            </a:r>
          </a:p>
        </p:txBody>
      </p:sp>
      <p:pic>
        <p:nvPicPr>
          <p:cNvPr id="5" name="!!d0" descr="slice_mango.png"/>
          <p:cNvPicPr>
            <a:picLocks noChangeAspect="1"/>
          </p:cNvPicPr>
          <p:nvPr/>
        </p:nvPicPr>
        <p:blipFill>
          <a:blip r:embed="rId4"/>
          <a:srcRect l="0" r="0"/>
          <a:stretch>
            <a:fillRect/>
          </a:stretch>
        </p:blipFill>
        <p:spPr>
          <a:xfrm rot="748224">
            <a:off x="467562" y="3779239"/>
            <a:ext cx="614452" cy="392567"/>
          </a:xfrm>
          <a:prstGeom prst="rect">
            <a:avLst/>
          </a:prstGeom>
        </p:spPr>
      </p:pic>
      <p:pic>
        <p:nvPicPr>
          <p:cNvPr id="6" name="!!d1" descr="slice_jack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 rot="2429777">
            <a:off x="10913684" y="418715"/>
            <a:ext cx="418704" cy="259849"/>
          </a:xfrm>
          <a:prstGeom prst="rect">
            <a:avLst/>
          </a:prstGeom>
        </p:spPr>
      </p:pic>
      <p:pic>
        <p:nvPicPr>
          <p:cNvPr id="7" name="!!d2" descr="grain_blur.png"/>
          <p:cNvPicPr>
            <a:picLocks noChangeAspect="1"/>
          </p:cNvPicPr>
          <p:nvPr/>
        </p:nvPicPr>
        <p:blipFill>
          <a:blip r:embed="rId6"/>
          <a:srcRect t="0" b="0"/>
          <a:stretch>
            <a:fillRect/>
          </a:stretch>
        </p:blipFill>
        <p:spPr>
          <a:xfrm rot="21385897">
            <a:off x="340907" y="3525683"/>
            <a:ext cx="957731" cy="538153"/>
          </a:xfrm>
          <a:prstGeom prst="rect">
            <a:avLst/>
          </a:prstGeom>
        </p:spPr>
      </p:pic>
      <p:pic>
        <p:nvPicPr>
          <p:cNvPr id="8" name="!!d3" descr="leaf_blur.pn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 rot="19084438">
            <a:off x="11223742" y="3578217"/>
            <a:ext cx="762098" cy="433087"/>
          </a:xfrm>
          <a:prstGeom prst="rect">
            <a:avLst/>
          </a:prstGeom>
        </p:spPr>
      </p:pic>
      <p:pic>
        <p:nvPicPr>
          <p:cNvPr id="9" name="!!d4" descr="chip_blur.png"/>
          <p:cNvPicPr>
            <a:picLocks noChangeAspect="1"/>
          </p:cNvPicPr>
          <p:nvPr/>
        </p:nvPicPr>
        <p:blipFill>
          <a:blip r:embed="rId8"/>
          <a:srcRect l="0" r="0"/>
          <a:stretch>
            <a:fillRect/>
          </a:stretch>
        </p:blipFill>
        <p:spPr>
          <a:xfrm rot="1737013">
            <a:off x="1260249" y="5419576"/>
            <a:ext cx="698518" cy="428183"/>
          </a:xfrm>
          <a:prstGeom prst="rect">
            <a:avLst/>
          </a:prstGeom>
        </p:spPr>
      </p:pic>
      <p:pic>
        <p:nvPicPr>
          <p:cNvPr id="10" name="!!d5" descr="slice_mango_blur.png"/>
          <p:cNvPicPr>
            <a:picLocks noChangeAspect="1"/>
          </p:cNvPicPr>
          <p:nvPr/>
        </p:nvPicPr>
        <p:blipFill>
          <a:blip r:embed="rId9"/>
          <a:srcRect t="0" b="0"/>
          <a:stretch>
            <a:fillRect/>
          </a:stretch>
        </p:blipFill>
        <p:spPr>
          <a:xfrm rot="655917">
            <a:off x="10813749" y="266379"/>
            <a:ext cx="827475" cy="564522"/>
          </a:xfrm>
          <a:prstGeom prst="rect">
            <a:avLst/>
          </a:prstGeom>
        </p:spPr>
      </p:pic>
      <p:pic>
        <p:nvPicPr>
          <p:cNvPr id="11" name="!!p_xoai" descr="prod_xoai.png"/>
          <p:cNvPicPr>
            <a:picLocks noChangeAspect="1"/>
          </p:cNvPicPr>
          <p:nvPr/>
        </p:nvPicPr>
        <p:blipFill>
          <a:blip r:embed="rId10"/>
          <a:srcRect l="0" r="0"/>
          <a:stretch>
            <a:fillRect/>
          </a:stretch>
        </p:blipFill>
        <p:spPr>
          <a:xfrm rot="21360000">
            <a:off x="4772206" y="1965960"/>
            <a:ext cx="2647284" cy="4206240"/>
          </a:xfrm>
          <a:prstGeom prst="rect">
            <a:avLst/>
          </a:prstGeom>
        </p:spPr>
      </p:pic>
      <p:pic>
        <p:nvPicPr>
          <p:cNvPr id="12" name="!!p_chuoi" descr="prod_chuoi.png"/>
          <p:cNvPicPr>
            <a:picLocks noChangeAspect="1"/>
          </p:cNvPicPr>
          <p:nvPr/>
        </p:nvPicPr>
        <p:blipFill>
          <a:blip r:embed="rId11"/>
          <a:srcRect/>
          <a:stretch>
            <a:fillRect/>
          </a:stretch>
        </p:blipFill>
        <p:spPr>
          <a:xfrm rot="21000000">
            <a:off x="2431853" y="3108960"/>
            <a:ext cx="1841589" cy="2926080"/>
          </a:xfrm>
          <a:prstGeom prst="rect">
            <a:avLst/>
          </a:prstGeom>
        </p:spPr>
      </p:pic>
      <p:pic>
        <p:nvPicPr>
          <p:cNvPr id="13" name="!!p_hat" descr="prod_hat.png"/>
          <p:cNvPicPr>
            <a:picLocks noChangeAspect="1"/>
          </p:cNvPicPr>
          <p:nvPr/>
        </p:nvPicPr>
        <p:blipFill>
          <a:blip r:embed="rId12"/>
          <a:srcRect/>
          <a:stretch>
            <a:fillRect/>
          </a:stretch>
        </p:blipFill>
        <p:spPr>
          <a:xfrm rot="480000">
            <a:off x="8067243" y="3291840"/>
            <a:ext cx="1726490" cy="2743200"/>
          </a:xfrm>
          <a:prstGeom prst="rect">
            <a:avLst/>
          </a:prstGeom>
        </p:spPr>
      </p:pic>
      <p:sp>
        <p:nvSpPr>
          <p:cNvPr id="14" name="!!word_script"/>
          <p:cNvSpPr txBox="1"/>
          <p:nvPr/>
        </p:nvSpPr>
        <p:spPr>
          <a:xfrm>
            <a:off x="6644488" y="2587752"/>
            <a:ext cx="5272888" cy="1280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0" b="1" i="0">
                <a:solidFill>
                  <a:srgbClr val="B5172F"/>
                </a:solidFill>
                <a:effectLst>
                  <a:glow rad="101600">
                    <a:srgbClr val="FFFFFF">
                      <a:alpha val="85000"/>
                    </a:srgbClr>
                  </a:glow>
                </a:effectLst>
                <a:latin typeface="Dancing Script"/>
                <a:ea typeface="Dancing Script"/>
                <a:cs typeface="Dancing Script"/>
              </a:rPr>
              <a:t>Nông sản sấy</a:t>
            </a:r>
          </a:p>
        </p:txBody>
      </p:sp>
      <p:sp>
        <p:nvSpPr>
          <p:cNvPr id="15" name="!!kicker"/>
          <p:cNvSpPr/>
          <p:nvPr/>
        </p:nvSpPr>
        <p:spPr>
          <a:xfrm>
            <a:off x="548640" y="411480"/>
            <a:ext cx="2474833" cy="329184"/>
          </a:xfrm>
          <a:prstGeom prst="roundRect">
            <a:avLst>
              <a:gd name="adj" fmla="val 50000"/>
            </a:avLst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tIns="18288" bIns="18288" wrap="square"/>
          <a:lstStyle/>
          <a:p>
            <a:pPr algn="ctr"/>
            <a:r>
              <a:rPr sz="1100" b="0" i="0" spc="200">
                <a:solidFill>
                  <a:srgbClr val="FFFFFF"/>
                </a:solidFill>
                <a:latin typeface="Mulish SemiBold"/>
                <a:ea typeface="Mulish SemiBold"/>
                <a:cs typeface="Mulish SemiBold"/>
              </a:rPr>
              <a:t>GIỚI THIỆU SẢN PHẨM</a:t>
            </a:r>
          </a:p>
        </p:txBody>
      </p:sp>
      <p:sp>
        <p:nvSpPr>
          <p:cNvPr id="16" name="!!nav_brand"/>
          <p:cNvSpPr txBox="1"/>
          <p:nvPr/>
        </p:nvSpPr>
        <p:spPr>
          <a:xfrm>
            <a:off x="7985455" y="384048"/>
            <a:ext cx="36576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400" b="0" i="0" spc="15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HERAGRAIN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08076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effectLst>
                  <a:outerShdw blurRad="91440" dist="27432" dir="5400000" algn="ctr" rotWithShape="0">
                    <a:srgbClr val="000000">
                      <a:alpha val="75000"/>
                    </a:srgbClr>
                  </a:outerShdw>
                </a:effectLst>
                <a:latin typeface="Mulish SemiBold"/>
                <a:ea typeface="Mulish SemiBold"/>
                <a:cs typeface="Mulish SemiBold"/>
              </a:rPr>
              <a:t>Hợp tác xã Heragrain · Nông sản sấy tự nhiên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8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8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8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8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8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8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E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paper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h_title"/>
          <p:cNvSpPr txBox="1"/>
          <p:nvPr/>
        </p:nvSpPr>
        <p:spPr>
          <a:xfrm>
            <a:off x="548640" y="914400"/>
            <a:ext cx="11094415" cy="7315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34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HERAGRAIN</a:t>
            </a:r>
          </a:p>
        </p:txBody>
      </p:sp>
      <p:sp>
        <p:nvSpPr>
          <p:cNvPr id="4" name="!!h_script"/>
          <p:cNvSpPr txBox="1"/>
          <p:nvPr/>
        </p:nvSpPr>
        <p:spPr>
          <a:xfrm>
            <a:off x="548640" y="1298448"/>
            <a:ext cx="11094415" cy="685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3200" b="1" i="0">
                <a:solidFill>
                  <a:srgbClr val="3B2416"/>
                </a:solidFill>
                <a:latin typeface="Dancing Script"/>
                <a:ea typeface="Dancing Script"/>
                <a:cs typeface="Dancing Script"/>
              </a:rPr>
              <a:t>câu chuyện của chúng tôi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240280"/>
            <a:ext cx="8534095" cy="1645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5000"/>
              </a:lnSpc>
              <a:spcAft>
                <a:spcPts val="600"/>
              </a:spcAft>
            </a:pPr>
            <a:r>
              <a:rPr sz="1350" b="0" i="0">
                <a:solidFill>
                  <a:srgbClr val="B5172F"/>
                </a:solidFill>
                <a:latin typeface="Mulish ExtraBold"/>
                <a:ea typeface="Mulish ExtraBold"/>
                <a:cs typeface="Mulish ExtraBold"/>
              </a:rPr>
              <a:t>Hợp tác xã Heragrain</a:t>
            </a:r>
            <a:r>
              <a:rPr sz="135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 liên kết các hộ nông dân, chế biến trái cây và nông sản theo phương pháp </a:t>
            </a:r>
            <a:r>
              <a:rPr sz="1350" b="0" i="0">
                <a:solidFill>
                  <a:srgbClr val="B5172F"/>
                </a:solidFill>
                <a:latin typeface="Mulish ExtraBold"/>
                <a:ea typeface="Mulish ExtraBold"/>
                <a:cs typeface="Mulish ExtraBold"/>
              </a:rPr>
              <a:t>sấy lạnh – sấy dẻo</a:t>
            </a:r>
            <a:r>
              <a:rPr sz="135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, giữ trọn màu sắc, hương vị và dinh dưỡng tự nhiên. Không phẩm màu, không chất bảo quản, truy xuất được nguồn gốc từ vùng trồng.</a:t>
            </a:r>
          </a:p>
        </p:txBody>
      </p:sp>
      <p:pic>
        <p:nvPicPr>
          <p:cNvPr id="6" name="!!grass" descr="grass.png"/>
          <p:cNvPicPr>
            <a:picLocks noChangeAspect="1"/>
          </p:cNvPicPr>
          <p:nvPr/>
        </p:nvPicPr>
        <p:blipFill>
          <a:blip r:embed="rId3"/>
          <a:srcRect t="13999" b="13999"/>
          <a:stretch>
            <a:fillRect/>
          </a:stretch>
        </p:blipFill>
        <p:spPr>
          <a:xfrm>
            <a:off x="0" y="4937760"/>
            <a:ext cx="12191695" cy="1920240"/>
          </a:xfrm>
          <a:prstGeom prst="rect">
            <a:avLst/>
          </a:prstGeom>
        </p:spPr>
      </p:pic>
      <p:pic>
        <p:nvPicPr>
          <p:cNvPr id="7" name="!!d0" descr="slice_mango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 rot="19483907">
            <a:off x="1111726" y="3152145"/>
            <a:ext cx="728644" cy="465523"/>
          </a:xfrm>
          <a:prstGeom prst="rect">
            <a:avLst/>
          </a:prstGeom>
        </p:spPr>
      </p:pic>
      <p:pic>
        <p:nvPicPr>
          <p:cNvPr id="8" name="!!d1" descr="slice_jack.png"/>
          <p:cNvPicPr>
            <a:picLocks noChangeAspect="1"/>
          </p:cNvPicPr>
          <p:nvPr/>
        </p:nvPicPr>
        <p:blipFill>
          <a:blip r:embed="rId5"/>
          <a:srcRect l="0" r="0"/>
          <a:stretch>
            <a:fillRect/>
          </a:stretch>
        </p:blipFill>
        <p:spPr>
          <a:xfrm rot="19153653">
            <a:off x="11166892" y="5167090"/>
            <a:ext cx="770001" cy="477865"/>
          </a:xfrm>
          <a:prstGeom prst="rect">
            <a:avLst/>
          </a:prstGeom>
        </p:spPr>
      </p:pic>
      <p:pic>
        <p:nvPicPr>
          <p:cNvPr id="9" name="!!d2" descr="grain_blur.png"/>
          <p:cNvPicPr>
            <a:picLocks noChangeAspect="1"/>
          </p:cNvPicPr>
          <p:nvPr/>
        </p:nvPicPr>
        <p:blipFill>
          <a:blip r:embed="rId6"/>
          <a:srcRect t="0" b="0"/>
          <a:stretch>
            <a:fillRect/>
          </a:stretch>
        </p:blipFill>
        <p:spPr>
          <a:xfrm rot="3260282">
            <a:off x="1095031" y="2712985"/>
            <a:ext cx="548638" cy="308282"/>
          </a:xfrm>
          <a:prstGeom prst="rect">
            <a:avLst/>
          </a:prstGeom>
        </p:spPr>
      </p:pic>
      <p:pic>
        <p:nvPicPr>
          <p:cNvPr id="10" name="!!d3" descr="leaf_blur.pn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 rot="742972">
            <a:off x="11529070" y="1165867"/>
            <a:ext cx="883399" cy="5020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799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899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E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paper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nav_logo" descr="wheat_B517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4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12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HERAGRAIN</a:t>
            </a:r>
          </a:p>
        </p:txBody>
      </p:sp>
      <p:sp>
        <p:nvSpPr>
          <p:cNvPr id="5" name="!!nav_m0"/>
          <p:cNvSpPr txBox="1"/>
          <p:nvPr/>
        </p:nvSpPr>
        <p:spPr>
          <a:xfrm>
            <a:off x="3931920" y="246888"/>
            <a:ext cx="91033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Về chúng tôi</a:t>
            </a:r>
          </a:p>
        </p:txBody>
      </p:sp>
      <p:sp>
        <p:nvSpPr>
          <p:cNvPr id="6" name="!!nav_m1"/>
          <p:cNvSpPr txBox="1"/>
          <p:nvPr/>
        </p:nvSpPr>
        <p:spPr>
          <a:xfrm>
            <a:off x="5253732" y="246888"/>
            <a:ext cx="777379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Sản phẩm</a:t>
            </a:r>
          </a:p>
        </p:txBody>
      </p:sp>
      <p:sp>
        <p:nvSpPr>
          <p:cNvPr id="7" name="!!nav_m2"/>
          <p:cNvSpPr txBox="1"/>
          <p:nvPr/>
        </p:nvSpPr>
        <p:spPr>
          <a:xfrm>
            <a:off x="6442591" y="246888"/>
            <a:ext cx="71631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Quy trình</a:t>
            </a:r>
          </a:p>
        </p:txBody>
      </p:sp>
      <p:sp>
        <p:nvSpPr>
          <p:cNvPr id="8" name="!!nav_m3"/>
          <p:cNvSpPr txBox="1"/>
          <p:nvPr/>
        </p:nvSpPr>
        <p:spPr>
          <a:xfrm>
            <a:off x="7570381" y="246888"/>
            <a:ext cx="583347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Liên hệ</a:t>
            </a:r>
          </a:p>
        </p:txBody>
      </p:sp>
      <p:sp>
        <p:nvSpPr>
          <p:cNvPr id="9" name="!!nav_ind"/>
          <p:cNvSpPr/>
          <p:nvPr/>
        </p:nvSpPr>
        <p:spPr>
          <a:xfrm>
            <a:off x="3931920" y="603504"/>
            <a:ext cx="818892" cy="32004"/>
          </a:xfrm>
          <a:prstGeom prst="rect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!!nav_i0" descr="search_3B24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1" name="!!nav_i1" descr="user-round_3B24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2" name="!!nav_i2" descr="shopping-bag_3B24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pic>
        <p:nvPicPr>
          <p:cNvPr id="13" name="!!d0" descr="slice_mango.pn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 rot="3587635">
            <a:off x="1516634" y="5325586"/>
            <a:ext cx="511657" cy="326892"/>
          </a:xfrm>
          <a:prstGeom prst="rect">
            <a:avLst/>
          </a:prstGeom>
        </p:spPr>
      </p:pic>
      <p:pic>
        <p:nvPicPr>
          <p:cNvPr id="14" name="!!d1" descr="slice_jack.png"/>
          <p:cNvPicPr>
            <a:picLocks noChangeAspect="1"/>
          </p:cNvPicPr>
          <p:nvPr/>
        </p:nvPicPr>
        <p:blipFill>
          <a:blip r:embed="rId8"/>
          <a:srcRect l="0" r="0"/>
          <a:stretch>
            <a:fillRect/>
          </a:stretch>
        </p:blipFill>
        <p:spPr>
          <a:xfrm rot="1855706">
            <a:off x="9905423" y="4480780"/>
            <a:ext cx="461838" cy="286618"/>
          </a:xfrm>
          <a:prstGeom prst="rect">
            <a:avLst/>
          </a:prstGeom>
        </p:spPr>
      </p:pic>
      <p:pic>
        <p:nvPicPr>
          <p:cNvPr id="15" name="!!d2" descr="grain_blur.png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 rot="1914788">
            <a:off x="188052" y="4579509"/>
            <a:ext cx="808942" cy="454548"/>
          </a:xfrm>
          <a:prstGeom prst="rect">
            <a:avLst/>
          </a:prstGeom>
        </p:spPr>
      </p:pic>
      <p:pic>
        <p:nvPicPr>
          <p:cNvPr id="16" name="!!d3" descr="leaf_blur.png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 rot="18832275">
            <a:off x="10224886" y="5351104"/>
            <a:ext cx="953486" cy="541849"/>
          </a:xfrm>
          <a:prstGeom prst="rect">
            <a:avLst/>
          </a:prstGeom>
        </p:spPr>
      </p:pic>
      <p:pic>
        <p:nvPicPr>
          <p:cNvPr id="17" name="!!d4" descr="chip_blur.png"/>
          <p:cNvPicPr>
            <a:picLocks noChangeAspect="1"/>
          </p:cNvPicPr>
          <p:nvPr/>
        </p:nvPicPr>
        <p:blipFill>
          <a:blip r:embed="rId11"/>
          <a:srcRect l="0" r="0"/>
          <a:stretch>
            <a:fillRect/>
          </a:stretch>
        </p:blipFill>
        <p:spPr>
          <a:xfrm rot="21198293">
            <a:off x="952908" y="5844709"/>
            <a:ext cx="817007" cy="500815"/>
          </a:xfrm>
          <a:prstGeom prst="rect">
            <a:avLst/>
          </a:prstGeom>
        </p:spPr>
      </p:pic>
      <p:pic>
        <p:nvPicPr>
          <p:cNvPr id="18" name="!!p_chuoi" descr="prod_chuoi.png"/>
          <p:cNvPicPr>
            <a:picLocks noChangeAspect="1"/>
          </p:cNvPicPr>
          <p:nvPr/>
        </p:nvPicPr>
        <p:blipFill>
          <a:blip r:embed="rId12"/>
          <a:srcRect/>
          <a:stretch>
            <a:fillRect/>
          </a:stretch>
        </p:blipFill>
        <p:spPr>
          <a:xfrm rot="21240000">
            <a:off x="6983970" y="1325880"/>
            <a:ext cx="3222780" cy="5120640"/>
          </a:xfrm>
          <a:prstGeom prst="rect">
            <a:avLst/>
          </a:prstGeom>
        </p:spPr>
      </p:pic>
      <p:pic>
        <p:nvPicPr>
          <p:cNvPr id="19" name="!!p_xoai" descr="prod_xoai.png"/>
          <p:cNvPicPr>
            <a:picLocks noChangeAspect="1"/>
          </p:cNvPicPr>
          <p:nvPr/>
        </p:nvPicPr>
        <p:blipFill>
          <a:blip r:embed="rId13"/>
          <a:srcRect/>
          <a:stretch>
            <a:fillRect/>
          </a:stretch>
        </p:blipFill>
        <p:spPr>
          <a:xfrm rot="600000">
            <a:off x="10099324" y="3840480"/>
            <a:ext cx="1381192" cy="2194560"/>
          </a:xfrm>
          <a:prstGeom prst="rect">
            <a:avLst/>
          </a:prstGeom>
        </p:spPr>
      </p:pic>
      <p:sp>
        <p:nvSpPr>
          <p:cNvPr id="20" name="!!h_title"/>
          <p:cNvSpPr txBox="1"/>
          <p:nvPr/>
        </p:nvSpPr>
        <p:spPr>
          <a:xfrm>
            <a:off x="731520" y="1828800"/>
            <a:ext cx="5394960" cy="914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90000"/>
              </a:lnSpc>
            </a:pPr>
            <a:r>
              <a:rPr sz="54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LỊCH SỬ</a:t>
            </a:r>
          </a:p>
        </p:txBody>
      </p:sp>
      <p:sp>
        <p:nvSpPr>
          <p:cNvPr id="21" name="!!h_script"/>
          <p:cNvSpPr txBox="1"/>
          <p:nvPr/>
        </p:nvSpPr>
        <p:spPr>
          <a:xfrm>
            <a:off x="1188720" y="2423160"/>
            <a:ext cx="5394960" cy="7315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400" b="1" i="0">
                <a:solidFill>
                  <a:srgbClr val="3B2416"/>
                </a:solidFill>
                <a:latin typeface="Dancing Script"/>
                <a:ea typeface="Dancing Script"/>
                <a:cs typeface="Dancing Script"/>
              </a:rPr>
              <a:t>hình thành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291840"/>
            <a:ext cx="5394960" cy="2377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Khởi đầu từ những nông hộ trồng xoài, chuối, khoai lang, Heragrain tìm cách </a:t>
            </a:r>
            <a:r>
              <a:rPr sz="1300" b="0" i="0">
                <a:solidFill>
                  <a:srgbClr val="B5172F"/>
                </a:solidFill>
                <a:latin typeface="Mulish ExtraBold"/>
                <a:ea typeface="Mulish ExtraBold"/>
                <a:cs typeface="Mulish ExtraBold"/>
              </a:rPr>
              <a:t>giữ giá trị nông sản sau thu hoạch</a:t>
            </a:r>
            <a:r>
              <a:rPr sz="13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, giảm hư hao và nâng giá bán cho bà con.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9C8A78"/>
                </a:solidFill>
                <a:latin typeface="Mulish SemiBold"/>
                <a:ea typeface="Mulish SemiBold"/>
                <a:cs typeface="Mulish SemiBold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2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9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9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20" grpId="0" animBg="1"/>
      <p:bldP spid="21" grpId="0" animBg="1"/>
      <p:bldP spid="22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E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paper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nav_logo" descr="wheat_B517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4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12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HERAGRAIN</a:t>
            </a:r>
          </a:p>
        </p:txBody>
      </p:sp>
      <p:sp>
        <p:nvSpPr>
          <p:cNvPr id="5" name="!!nav_m0"/>
          <p:cNvSpPr txBox="1"/>
          <p:nvPr/>
        </p:nvSpPr>
        <p:spPr>
          <a:xfrm>
            <a:off x="3931920" y="246888"/>
            <a:ext cx="91033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Về chúng tôi</a:t>
            </a:r>
          </a:p>
        </p:txBody>
      </p:sp>
      <p:sp>
        <p:nvSpPr>
          <p:cNvPr id="6" name="!!nav_m1"/>
          <p:cNvSpPr txBox="1"/>
          <p:nvPr/>
        </p:nvSpPr>
        <p:spPr>
          <a:xfrm>
            <a:off x="5253732" y="246888"/>
            <a:ext cx="777379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Sản phẩm</a:t>
            </a:r>
          </a:p>
        </p:txBody>
      </p:sp>
      <p:sp>
        <p:nvSpPr>
          <p:cNvPr id="7" name="!!nav_m2"/>
          <p:cNvSpPr txBox="1"/>
          <p:nvPr/>
        </p:nvSpPr>
        <p:spPr>
          <a:xfrm>
            <a:off x="6442591" y="246888"/>
            <a:ext cx="71631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Quy trình</a:t>
            </a:r>
          </a:p>
        </p:txBody>
      </p:sp>
      <p:sp>
        <p:nvSpPr>
          <p:cNvPr id="8" name="!!nav_m3"/>
          <p:cNvSpPr txBox="1"/>
          <p:nvPr/>
        </p:nvSpPr>
        <p:spPr>
          <a:xfrm>
            <a:off x="7570381" y="246888"/>
            <a:ext cx="583347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Liên hệ</a:t>
            </a:r>
          </a:p>
        </p:txBody>
      </p:sp>
      <p:sp>
        <p:nvSpPr>
          <p:cNvPr id="9" name="!!nav_ind"/>
          <p:cNvSpPr/>
          <p:nvPr/>
        </p:nvSpPr>
        <p:spPr>
          <a:xfrm>
            <a:off x="3931920" y="603504"/>
            <a:ext cx="818892" cy="32004"/>
          </a:xfrm>
          <a:prstGeom prst="rect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!!nav_i0" descr="search_3B24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1" name="!!nav_i1" descr="user-round_3B24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2" name="!!nav_i2" descr="shopping-bag_3B24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pic>
        <p:nvPicPr>
          <p:cNvPr id="13" name="!!d0" descr="slice_mango.pn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 rot="1323823">
            <a:off x="-13361" y="1563980"/>
            <a:ext cx="627006" cy="400587"/>
          </a:xfrm>
          <a:prstGeom prst="rect">
            <a:avLst/>
          </a:prstGeom>
        </p:spPr>
      </p:pic>
      <p:pic>
        <p:nvPicPr>
          <p:cNvPr id="14" name="!!d1" descr="slice_jack.png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 rot="1854666">
            <a:off x="9740359" y="1597357"/>
            <a:ext cx="538656" cy="334292"/>
          </a:xfrm>
          <a:prstGeom prst="rect">
            <a:avLst/>
          </a:prstGeom>
        </p:spPr>
      </p:pic>
      <p:pic>
        <p:nvPicPr>
          <p:cNvPr id="15" name="!!d2" descr="grain_blur.png"/>
          <p:cNvPicPr>
            <a:picLocks noChangeAspect="1"/>
          </p:cNvPicPr>
          <p:nvPr/>
        </p:nvPicPr>
        <p:blipFill>
          <a:blip r:embed="rId9"/>
          <a:srcRect t="0" b="0"/>
          <a:stretch>
            <a:fillRect/>
          </a:stretch>
        </p:blipFill>
        <p:spPr>
          <a:xfrm rot="18983365">
            <a:off x="196937" y="4763675"/>
            <a:ext cx="774771" cy="435348"/>
          </a:xfrm>
          <a:prstGeom prst="rect">
            <a:avLst/>
          </a:prstGeom>
        </p:spPr>
      </p:pic>
      <p:pic>
        <p:nvPicPr>
          <p:cNvPr id="16" name="!!d3" descr="leaf_blur.png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 rot="3573675">
            <a:off x="10598247" y="3300257"/>
            <a:ext cx="637832" cy="362469"/>
          </a:xfrm>
          <a:prstGeom prst="rect">
            <a:avLst/>
          </a:prstGeom>
        </p:spPr>
      </p:pic>
      <p:pic>
        <p:nvPicPr>
          <p:cNvPr id="17" name="!!d4" descr="chip_blur.png"/>
          <p:cNvPicPr>
            <a:picLocks noChangeAspect="1"/>
          </p:cNvPicPr>
          <p:nvPr/>
        </p:nvPicPr>
        <p:blipFill>
          <a:blip r:embed="rId11"/>
          <a:srcRect l="0" r="0"/>
          <a:stretch>
            <a:fillRect/>
          </a:stretch>
        </p:blipFill>
        <p:spPr>
          <a:xfrm rot="20901210">
            <a:off x="6598" y="1008861"/>
            <a:ext cx="927093" cy="568296"/>
          </a:xfrm>
          <a:prstGeom prst="rect">
            <a:avLst/>
          </a:prstGeom>
        </p:spPr>
      </p:pic>
      <p:pic>
        <p:nvPicPr>
          <p:cNvPr id="18" name="!!p_xoai" descr="prod_xoai.png"/>
          <p:cNvPicPr>
            <a:picLocks noChangeAspect="1"/>
          </p:cNvPicPr>
          <p:nvPr/>
        </p:nvPicPr>
        <p:blipFill>
          <a:blip r:embed="rId12"/>
          <a:srcRect/>
          <a:stretch>
            <a:fillRect/>
          </a:stretch>
        </p:blipFill>
        <p:spPr>
          <a:xfrm rot="21240000">
            <a:off x="1954770" y="1325880"/>
            <a:ext cx="3222780" cy="5120640"/>
          </a:xfrm>
          <a:prstGeom prst="rect">
            <a:avLst/>
          </a:prstGeom>
        </p:spPr>
      </p:pic>
      <p:pic>
        <p:nvPicPr>
          <p:cNvPr id="19" name="!!p_hat" descr="prod_hat.png"/>
          <p:cNvPicPr>
            <a:picLocks noChangeAspect="1"/>
          </p:cNvPicPr>
          <p:nvPr/>
        </p:nvPicPr>
        <p:blipFill>
          <a:blip r:embed="rId13"/>
          <a:srcRect/>
          <a:stretch>
            <a:fillRect/>
          </a:stretch>
        </p:blipFill>
        <p:spPr>
          <a:xfrm rot="600000">
            <a:off x="681004" y="3840480"/>
            <a:ext cx="1381192" cy="2194560"/>
          </a:xfrm>
          <a:prstGeom prst="rect">
            <a:avLst/>
          </a:prstGeom>
        </p:spPr>
      </p:pic>
      <p:sp>
        <p:nvSpPr>
          <p:cNvPr id="20" name="!!h_title"/>
          <p:cNvSpPr txBox="1"/>
          <p:nvPr/>
        </p:nvSpPr>
        <p:spPr>
          <a:xfrm>
            <a:off x="6309360" y="1828800"/>
            <a:ext cx="5394960" cy="914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90000"/>
              </a:lnSpc>
            </a:pPr>
            <a:r>
              <a:rPr sz="54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SỨ MỆNH</a:t>
            </a:r>
          </a:p>
        </p:txBody>
      </p:sp>
      <p:sp>
        <p:nvSpPr>
          <p:cNvPr id="21" name="!!h_script"/>
          <p:cNvSpPr txBox="1"/>
          <p:nvPr/>
        </p:nvSpPr>
        <p:spPr>
          <a:xfrm>
            <a:off x="6766560" y="2423160"/>
            <a:ext cx="5394960" cy="7315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400" b="1" i="0">
                <a:solidFill>
                  <a:srgbClr val="3B2416"/>
                </a:solidFill>
                <a:latin typeface="Dancing Script"/>
                <a:ea typeface="Dancing Script"/>
                <a:cs typeface="Dancing Script"/>
              </a:rPr>
              <a:t>nông sản Việt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291840"/>
            <a:ext cx="5394960" cy="2377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Mang </a:t>
            </a:r>
            <a:r>
              <a:rPr sz="1300" b="0" i="0">
                <a:solidFill>
                  <a:srgbClr val="B5172F"/>
                </a:solidFill>
                <a:latin typeface="Mulish ExtraBold"/>
                <a:ea typeface="Mulish ExtraBold"/>
                <a:cs typeface="Mulish ExtraBold"/>
              </a:rPr>
              <a:t>nông sản sạch – an toàn – tiện lợi</a:t>
            </a:r>
            <a:r>
              <a:rPr sz="13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 đến người tiêu dùng; tạo việc làm ổn định và </a:t>
            </a:r>
            <a:r>
              <a:rPr sz="1300" b="0" i="0">
                <a:solidFill>
                  <a:srgbClr val="B5172F"/>
                </a:solidFill>
                <a:latin typeface="Mulish ExtraBold"/>
                <a:ea typeface="Mulish ExtraBold"/>
                <a:cs typeface="Mulish ExtraBold"/>
              </a:rPr>
              <a:t>thu nhập bền vững</a:t>
            </a:r>
            <a:r>
              <a:rPr sz="13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 cho thành viên hợp tác xã.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9C8A78"/>
                </a:solidFill>
                <a:latin typeface="Mulish SemiBold"/>
                <a:ea typeface="Mulish SemiBold"/>
                <a:cs typeface="Mulish SemiBold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9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9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20" grpId="0" animBg="1"/>
      <p:bldP spid="21" grpId="0" animBg="1"/>
      <p:bldP spid="22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E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paper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nav_logo" descr="wheat_B517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4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12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HERAGRAIN</a:t>
            </a:r>
          </a:p>
        </p:txBody>
      </p:sp>
      <p:sp>
        <p:nvSpPr>
          <p:cNvPr id="5" name="!!nav_m0"/>
          <p:cNvSpPr txBox="1"/>
          <p:nvPr/>
        </p:nvSpPr>
        <p:spPr>
          <a:xfrm>
            <a:off x="3931920" y="246888"/>
            <a:ext cx="91033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Về chúng tôi</a:t>
            </a:r>
          </a:p>
        </p:txBody>
      </p:sp>
      <p:sp>
        <p:nvSpPr>
          <p:cNvPr id="6" name="!!nav_m1"/>
          <p:cNvSpPr txBox="1"/>
          <p:nvPr/>
        </p:nvSpPr>
        <p:spPr>
          <a:xfrm>
            <a:off x="5253732" y="246888"/>
            <a:ext cx="777379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Sản phẩm</a:t>
            </a:r>
          </a:p>
        </p:txBody>
      </p:sp>
      <p:sp>
        <p:nvSpPr>
          <p:cNvPr id="7" name="!!nav_m2"/>
          <p:cNvSpPr txBox="1"/>
          <p:nvPr/>
        </p:nvSpPr>
        <p:spPr>
          <a:xfrm>
            <a:off x="6442591" y="246888"/>
            <a:ext cx="71631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Quy trình</a:t>
            </a:r>
          </a:p>
        </p:txBody>
      </p:sp>
      <p:sp>
        <p:nvSpPr>
          <p:cNvPr id="8" name="!!nav_m3"/>
          <p:cNvSpPr txBox="1"/>
          <p:nvPr/>
        </p:nvSpPr>
        <p:spPr>
          <a:xfrm>
            <a:off x="7570381" y="246888"/>
            <a:ext cx="583347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Liên hệ</a:t>
            </a:r>
          </a:p>
        </p:txBody>
      </p:sp>
      <p:sp>
        <p:nvSpPr>
          <p:cNvPr id="9" name="!!nav_ind"/>
          <p:cNvSpPr/>
          <p:nvPr/>
        </p:nvSpPr>
        <p:spPr>
          <a:xfrm>
            <a:off x="3931920" y="603504"/>
            <a:ext cx="818892" cy="32004"/>
          </a:xfrm>
          <a:prstGeom prst="rect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!!nav_i0" descr="search_3B24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1" name="!!nav_i1" descr="user-round_3B24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2" name="!!nav_i2" descr="shopping-bag_3B24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sp>
        <p:nvSpPr>
          <p:cNvPr id="13" name="!!h_title"/>
          <p:cNvSpPr txBox="1"/>
          <p:nvPr/>
        </p:nvSpPr>
        <p:spPr>
          <a:xfrm>
            <a:off x="548640" y="960120"/>
            <a:ext cx="11094415" cy="7315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34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GIÁ TRỊ</a:t>
            </a:r>
          </a:p>
        </p:txBody>
      </p:sp>
      <p:sp>
        <p:nvSpPr>
          <p:cNvPr id="14" name="!!h_script"/>
          <p:cNvSpPr txBox="1"/>
          <p:nvPr/>
        </p:nvSpPr>
        <p:spPr>
          <a:xfrm>
            <a:off x="548640" y="1344168"/>
            <a:ext cx="11094415" cy="685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3200" b="1" i="0">
                <a:solidFill>
                  <a:srgbClr val="3B2416"/>
                </a:solidFill>
                <a:latin typeface="Dancing Script"/>
                <a:ea typeface="Dancing Script"/>
                <a:cs typeface="Dancing Script"/>
              </a:rPr>
              <a:t>cốt lõi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148840"/>
            <a:ext cx="926561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Ba cam kết theo suốt từng mẻ sấy: </a:t>
            </a:r>
            <a:r>
              <a:rPr sz="1300" b="0" i="0">
                <a:solidFill>
                  <a:srgbClr val="B5172F"/>
                </a:solidFill>
                <a:latin typeface="Mulish ExtraBold"/>
                <a:ea typeface="Mulish ExtraBold"/>
                <a:cs typeface="Mulish ExtraBold"/>
              </a:rPr>
              <a:t>nguyên liệu tuyển chọn</a:t>
            </a:r>
            <a:r>
              <a:rPr sz="13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, </a:t>
            </a:r>
            <a:r>
              <a:rPr sz="1300" b="0" i="0">
                <a:solidFill>
                  <a:srgbClr val="B5172F"/>
                </a:solidFill>
                <a:latin typeface="Mulish ExtraBold"/>
                <a:ea typeface="Mulish ExtraBold"/>
                <a:cs typeface="Mulish ExtraBold"/>
              </a:rPr>
              <a:t>quy trình sạch</a:t>
            </a:r>
            <a:r>
              <a:rPr sz="13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 và </a:t>
            </a:r>
            <a:r>
              <a:rPr sz="1300" b="0" i="0">
                <a:solidFill>
                  <a:srgbClr val="B5172F"/>
                </a:solidFill>
                <a:latin typeface="Mulish ExtraBold"/>
                <a:ea typeface="Mulish ExtraBold"/>
                <a:cs typeface="Mulish ExtraBold"/>
              </a:rPr>
              <a:t>hương vị tự nhiên</a:t>
            </a:r>
            <a:r>
              <a:rPr sz="13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.</a:t>
            </a:r>
          </a:p>
        </p:txBody>
      </p:sp>
      <p:pic>
        <p:nvPicPr>
          <p:cNvPr id="16" name="!!p_khoai" descr="prod_khoai.png"/>
          <p:cNvPicPr>
            <a:picLocks noChangeAspect="1"/>
          </p:cNvPicPr>
          <p:nvPr/>
        </p:nvPicPr>
        <p:blipFill>
          <a:blip r:embed="rId7"/>
          <a:srcRect t="0" b="0"/>
          <a:stretch>
            <a:fillRect/>
          </a:stretch>
        </p:blipFill>
        <p:spPr>
          <a:xfrm rot="21300000">
            <a:off x="1620789" y="3520440"/>
            <a:ext cx="1553841" cy="24688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" y="6035040"/>
            <a:ext cx="351525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TỰ NHIÊN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355080"/>
            <a:ext cx="3332378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0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Không phẩm màu, chất bảo quản</a:t>
            </a:r>
          </a:p>
        </p:txBody>
      </p:sp>
      <p:pic>
        <p:nvPicPr>
          <p:cNvPr id="19" name="!!p_xoai" descr="prod_xoai.png"/>
          <p:cNvPicPr>
            <a:picLocks noChangeAspect="1"/>
          </p:cNvPicPr>
          <p:nvPr/>
        </p:nvPicPr>
        <p:blipFill>
          <a:blip r:embed="rId8"/>
          <a:srcRect t="0" b="0"/>
          <a:stretch>
            <a:fillRect/>
          </a:stretch>
        </p:blipFill>
        <p:spPr>
          <a:xfrm rot="240000">
            <a:off x="5318927" y="3520440"/>
            <a:ext cx="1553841" cy="2468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338218" y="6035040"/>
            <a:ext cx="351525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CHẤT LƯỢNG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29658" y="6355080"/>
            <a:ext cx="3332378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0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Tuyển chọn từ vùng trồng</a:t>
            </a:r>
          </a:p>
        </p:txBody>
      </p:sp>
      <p:pic>
        <p:nvPicPr>
          <p:cNvPr id="22" name="!!p_ngucoc" descr="prod_ngucoc.png"/>
          <p:cNvPicPr>
            <a:picLocks noChangeAspect="1"/>
          </p:cNvPicPr>
          <p:nvPr/>
        </p:nvPicPr>
        <p:blipFill>
          <a:blip r:embed="rId9"/>
          <a:srcRect t="0" b="0"/>
          <a:stretch>
            <a:fillRect/>
          </a:stretch>
        </p:blipFill>
        <p:spPr>
          <a:xfrm rot="21420000">
            <a:off x="9017066" y="3520440"/>
            <a:ext cx="1553841" cy="2468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036357" y="6035040"/>
            <a:ext cx="351525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BỀN VỮNG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7797" y="6355080"/>
            <a:ext cx="3332378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0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Đồng hành cùng nông hộ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11535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9C8A78"/>
                </a:solidFill>
                <a:latin typeface="Mulish SemiBold"/>
                <a:ea typeface="Mulish SemiBold"/>
                <a:cs typeface="Mulish SemiBold"/>
              </a:rP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20" grpId="0" animBg="1"/>
      <p:bldP spid="21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E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paper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nav_logo" descr="wheat_B517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4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12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HERAGRAIN</a:t>
            </a:r>
          </a:p>
        </p:txBody>
      </p:sp>
      <p:sp>
        <p:nvSpPr>
          <p:cNvPr id="5" name="!!nav_m0"/>
          <p:cNvSpPr txBox="1"/>
          <p:nvPr/>
        </p:nvSpPr>
        <p:spPr>
          <a:xfrm>
            <a:off x="3931920" y="246888"/>
            <a:ext cx="91033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Về chúng tôi</a:t>
            </a:r>
          </a:p>
        </p:txBody>
      </p:sp>
      <p:sp>
        <p:nvSpPr>
          <p:cNvPr id="6" name="!!nav_m1"/>
          <p:cNvSpPr txBox="1"/>
          <p:nvPr/>
        </p:nvSpPr>
        <p:spPr>
          <a:xfrm>
            <a:off x="5253732" y="246888"/>
            <a:ext cx="777379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Sản phẩm</a:t>
            </a:r>
          </a:p>
        </p:txBody>
      </p:sp>
      <p:sp>
        <p:nvSpPr>
          <p:cNvPr id="7" name="!!nav_m2"/>
          <p:cNvSpPr txBox="1"/>
          <p:nvPr/>
        </p:nvSpPr>
        <p:spPr>
          <a:xfrm>
            <a:off x="6442591" y="246888"/>
            <a:ext cx="71631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Quy trình</a:t>
            </a:r>
          </a:p>
        </p:txBody>
      </p:sp>
      <p:sp>
        <p:nvSpPr>
          <p:cNvPr id="8" name="!!nav_m3"/>
          <p:cNvSpPr txBox="1"/>
          <p:nvPr/>
        </p:nvSpPr>
        <p:spPr>
          <a:xfrm>
            <a:off x="7570381" y="246888"/>
            <a:ext cx="583347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Liên hệ</a:t>
            </a:r>
          </a:p>
        </p:txBody>
      </p:sp>
      <p:sp>
        <p:nvSpPr>
          <p:cNvPr id="9" name="!!nav_ind"/>
          <p:cNvSpPr/>
          <p:nvPr/>
        </p:nvSpPr>
        <p:spPr>
          <a:xfrm>
            <a:off x="5253732" y="603504"/>
            <a:ext cx="685939" cy="32004"/>
          </a:xfrm>
          <a:prstGeom prst="rect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!!nav_i0" descr="search_3B24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1" name="!!nav_i1" descr="user-round_3B24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2" name="!!nav_i2" descr="shopping-bag_3B24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sp>
        <p:nvSpPr>
          <p:cNvPr id="13" name="!!h_title"/>
          <p:cNvSpPr txBox="1"/>
          <p:nvPr/>
        </p:nvSpPr>
        <p:spPr>
          <a:xfrm>
            <a:off x="548640" y="914400"/>
            <a:ext cx="11094415" cy="7315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34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SẢN PHẨM</a:t>
            </a:r>
          </a:p>
        </p:txBody>
      </p:sp>
      <p:sp>
        <p:nvSpPr>
          <p:cNvPr id="14" name="!!h_script"/>
          <p:cNvSpPr txBox="1"/>
          <p:nvPr/>
        </p:nvSpPr>
        <p:spPr>
          <a:xfrm>
            <a:off x="548640" y="1298448"/>
            <a:ext cx="11094415" cy="685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3200" b="1" i="0">
                <a:solidFill>
                  <a:srgbClr val="3B2416"/>
                </a:solidFill>
                <a:latin typeface="Dancing Script"/>
                <a:ea typeface="Dancing Script"/>
                <a:cs typeface="Dancing Script"/>
              </a:rPr>
              <a:t>Heragrain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651760"/>
            <a:ext cx="3454298" cy="2377440"/>
          </a:xfrm>
          <a:prstGeom prst="roundRect">
            <a:avLst>
              <a:gd name="adj" fmla="val 6153"/>
            </a:avLst>
          </a:prstGeom>
          <a:solidFill>
            <a:srgbClr val="FFFDF8"/>
          </a:solidFill>
          <a:ln>
            <a:noFill/>
          </a:ln>
          <a:effectLst>
            <a:outerShdw blurRad="274320" dist="73152" dir="5400000" algn="ctr" rotWithShape="0">
              <a:srgbClr val="3B2A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3515" y="3570605"/>
            <a:ext cx="921693" cy="539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90000"/>
              </a:lnSpc>
            </a:pPr>
            <a:r>
              <a:rPr sz="34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SẤY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011" y="3570605"/>
            <a:ext cx="1008053" cy="539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90000"/>
              </a:lnSpc>
            </a:pPr>
            <a:r>
              <a:rPr sz="34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DẺO</a:t>
            </a:r>
          </a:p>
        </p:txBody>
      </p:sp>
      <p:pic>
        <p:nvPicPr>
          <p:cNvPr id="18" name="!!p_xoai" descr="prod_xoai.png"/>
          <p:cNvPicPr>
            <a:picLocks noChangeAspect="1"/>
          </p:cNvPicPr>
          <p:nvPr/>
        </p:nvPicPr>
        <p:blipFill>
          <a:blip r:embed="rId7"/>
          <a:srcRect l="0" r="0"/>
          <a:stretch>
            <a:fillRect/>
          </a:stretch>
        </p:blipFill>
        <p:spPr>
          <a:xfrm rot="21360000">
            <a:off x="1642725" y="2903220"/>
            <a:ext cx="1179768" cy="18745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48640" y="5166360"/>
            <a:ext cx="345429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0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Trái cây sấy dẻo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68698" y="2651760"/>
            <a:ext cx="3454298" cy="2377440"/>
          </a:xfrm>
          <a:prstGeom prst="roundRect">
            <a:avLst>
              <a:gd name="adj" fmla="val 6153"/>
            </a:avLst>
          </a:prstGeom>
          <a:solidFill>
            <a:srgbClr val="FFFDF8"/>
          </a:solidFill>
          <a:ln>
            <a:noFill/>
          </a:ln>
          <a:effectLst>
            <a:outerShdw blurRad="274320" dist="73152" dir="5400000" algn="ctr" rotWithShape="0">
              <a:srgbClr val="3B2A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91749" y="3602355"/>
            <a:ext cx="834777" cy="476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90000"/>
              </a:lnSpc>
            </a:pPr>
            <a:r>
              <a:rPr sz="30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SẤY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1329" y="3602355"/>
            <a:ext cx="1078617" cy="476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90000"/>
              </a:lnSpc>
            </a:pPr>
            <a:r>
              <a:rPr sz="30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GIÒN</a:t>
            </a:r>
          </a:p>
        </p:txBody>
      </p:sp>
      <p:pic>
        <p:nvPicPr>
          <p:cNvPr id="23" name="!!p_chuoi" descr="prod_chuoi.png"/>
          <p:cNvPicPr>
            <a:picLocks noChangeAspect="1"/>
          </p:cNvPicPr>
          <p:nvPr/>
        </p:nvPicPr>
        <p:blipFill>
          <a:blip r:embed="rId8"/>
          <a:srcRect l="0" r="0"/>
          <a:stretch>
            <a:fillRect/>
          </a:stretch>
        </p:blipFill>
        <p:spPr>
          <a:xfrm rot="21360000">
            <a:off x="5384044" y="2903220"/>
            <a:ext cx="1179768" cy="18745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68698" y="5166360"/>
            <a:ext cx="345429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0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Trái cây, củ sấy giòn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8757" y="2651760"/>
            <a:ext cx="3454298" cy="2377440"/>
          </a:xfrm>
          <a:prstGeom prst="roundRect">
            <a:avLst>
              <a:gd name="adj" fmla="val 6153"/>
            </a:avLst>
          </a:prstGeom>
          <a:solidFill>
            <a:srgbClr val="FFFDF8"/>
          </a:solidFill>
          <a:ln>
            <a:noFill/>
          </a:ln>
          <a:effectLst>
            <a:outerShdw blurRad="274320" dist="73152" dir="5400000" algn="ctr" rotWithShape="0">
              <a:srgbClr val="3B2A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04937" y="3586480"/>
            <a:ext cx="998518" cy="508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90000"/>
              </a:lnSpc>
            </a:pPr>
            <a:r>
              <a:rPr sz="32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NGŨ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98257" y="3586480"/>
            <a:ext cx="928618" cy="508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90000"/>
              </a:lnSpc>
            </a:pPr>
            <a:r>
              <a:rPr sz="32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CỐC</a:t>
            </a:r>
          </a:p>
        </p:txBody>
      </p:sp>
      <p:pic>
        <p:nvPicPr>
          <p:cNvPr id="28" name="!!p_ngucoc" descr="prod_ngucoc.png"/>
          <p:cNvPicPr>
            <a:picLocks noChangeAspect="1"/>
          </p:cNvPicPr>
          <p:nvPr/>
        </p:nvPicPr>
        <p:blipFill>
          <a:blip r:embed="rId9"/>
          <a:srcRect l="0" r="0"/>
          <a:stretch>
            <a:fillRect/>
          </a:stretch>
        </p:blipFill>
        <p:spPr>
          <a:xfrm rot="21360000">
            <a:off x="9360972" y="2903220"/>
            <a:ext cx="1179768" cy="1874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188757" y="5166360"/>
            <a:ext cx="345429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0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Ngũ cốc &amp; hạt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11535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9C8A78"/>
                </a:solidFill>
                <a:latin typeface="Mulish SemiBold"/>
                <a:ea typeface="Mulish SemiBold"/>
                <a:cs typeface="Mulish SemiBold"/>
              </a:rP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7" grpId="0" animBg="1"/>
      <p:bldP spid="29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E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paper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nav_logo" descr="wheat_B517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4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12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HERAGRAIN</a:t>
            </a:r>
          </a:p>
        </p:txBody>
      </p:sp>
      <p:sp>
        <p:nvSpPr>
          <p:cNvPr id="5" name="!!nav_m0"/>
          <p:cNvSpPr txBox="1"/>
          <p:nvPr/>
        </p:nvSpPr>
        <p:spPr>
          <a:xfrm>
            <a:off x="3931920" y="246888"/>
            <a:ext cx="91033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Về chúng tôi</a:t>
            </a:r>
          </a:p>
        </p:txBody>
      </p:sp>
      <p:sp>
        <p:nvSpPr>
          <p:cNvPr id="6" name="!!nav_m1"/>
          <p:cNvSpPr txBox="1"/>
          <p:nvPr/>
        </p:nvSpPr>
        <p:spPr>
          <a:xfrm>
            <a:off x="5253732" y="246888"/>
            <a:ext cx="777379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Sản phẩm</a:t>
            </a:r>
          </a:p>
        </p:txBody>
      </p:sp>
      <p:sp>
        <p:nvSpPr>
          <p:cNvPr id="7" name="!!nav_m2"/>
          <p:cNvSpPr txBox="1"/>
          <p:nvPr/>
        </p:nvSpPr>
        <p:spPr>
          <a:xfrm>
            <a:off x="6442591" y="246888"/>
            <a:ext cx="71631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Quy trình</a:t>
            </a:r>
          </a:p>
        </p:txBody>
      </p:sp>
      <p:sp>
        <p:nvSpPr>
          <p:cNvPr id="8" name="!!nav_m3"/>
          <p:cNvSpPr txBox="1"/>
          <p:nvPr/>
        </p:nvSpPr>
        <p:spPr>
          <a:xfrm>
            <a:off x="7570381" y="246888"/>
            <a:ext cx="583347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Liên hệ</a:t>
            </a:r>
          </a:p>
        </p:txBody>
      </p:sp>
      <p:sp>
        <p:nvSpPr>
          <p:cNvPr id="9" name="!!nav_ind"/>
          <p:cNvSpPr/>
          <p:nvPr/>
        </p:nvSpPr>
        <p:spPr>
          <a:xfrm>
            <a:off x="5253732" y="603504"/>
            <a:ext cx="685939" cy="32004"/>
          </a:xfrm>
          <a:prstGeom prst="rect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!!nav_i0" descr="search_3B24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1" name="!!nav_i1" descr="user-round_3B24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2" name="!!nav_i2" descr="shopping-bag_3B24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sp>
        <p:nvSpPr>
          <p:cNvPr id="13" name="!!catwa"/>
          <p:cNvSpPr txBox="1"/>
          <p:nvPr/>
        </p:nvSpPr>
        <p:spPr>
          <a:xfrm>
            <a:off x="239192" y="2135505"/>
            <a:ext cx="4224595" cy="2952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90000"/>
              </a:lnSpc>
            </a:pPr>
            <a:r>
              <a:rPr sz="186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SẤY</a:t>
            </a:r>
          </a:p>
        </p:txBody>
      </p:sp>
      <p:sp>
        <p:nvSpPr>
          <p:cNvPr id="14" name="!!catwb"/>
          <p:cNvSpPr txBox="1"/>
          <p:nvPr/>
        </p:nvSpPr>
        <p:spPr>
          <a:xfrm>
            <a:off x="7255457" y="2135505"/>
            <a:ext cx="4697045" cy="2952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90000"/>
              </a:lnSpc>
            </a:pPr>
            <a:r>
              <a:rPr sz="186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DẺO</a:t>
            </a:r>
          </a:p>
        </p:txBody>
      </p:sp>
      <p:pic>
        <p:nvPicPr>
          <p:cNvPr id="15" name="!!p_xoai" descr="prod_xoai.png"/>
          <p:cNvPicPr>
            <a:picLocks noChangeAspect="1"/>
          </p:cNvPicPr>
          <p:nvPr/>
        </p:nvPicPr>
        <p:blipFill>
          <a:blip r:embed="rId7"/>
          <a:srcRect l="0" r="0"/>
          <a:stretch>
            <a:fillRect/>
          </a:stretch>
        </p:blipFill>
        <p:spPr>
          <a:xfrm rot="21120000">
            <a:off x="4535981" y="1508760"/>
            <a:ext cx="2647284" cy="4206240"/>
          </a:xfrm>
          <a:prstGeom prst="rect">
            <a:avLst/>
          </a:prstGeom>
        </p:spPr>
      </p:pic>
      <p:sp>
        <p:nvSpPr>
          <p:cNvPr id="16" name="!!cat_script"/>
          <p:cNvSpPr txBox="1"/>
          <p:nvPr/>
        </p:nvSpPr>
        <p:spPr>
          <a:xfrm>
            <a:off x="7696048" y="4343400"/>
            <a:ext cx="4206240" cy="1097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0" b="1" i="0">
                <a:solidFill>
                  <a:srgbClr val="3B2416"/>
                </a:solidFill>
                <a:effectLst>
                  <a:outerShdw blurRad="73152" dist="0" dir="5400000" algn="ctr" rotWithShape="0">
                    <a:srgbClr val="FFFFFF">
                      <a:alpha val="80000"/>
                    </a:srgbClr>
                  </a:outerShdw>
                </a:effectLst>
                <a:latin typeface="Dancing Script"/>
                <a:ea typeface="Dancing Script"/>
                <a:cs typeface="Dancing Script"/>
              </a:rPr>
              <a:t>trái cây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0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Giữ độ dẻo, màu sắc và vị ngọt tự nhiên của trái cây</a:t>
            </a:r>
          </a:p>
        </p:txBody>
      </p:sp>
      <p:pic>
        <p:nvPicPr>
          <p:cNvPr id="18" name="!!d0" descr="slice_mango.png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 rot="21483805">
            <a:off x="1927114" y="1209286"/>
            <a:ext cx="809607" cy="517249"/>
          </a:xfrm>
          <a:prstGeom prst="rect">
            <a:avLst/>
          </a:prstGeom>
        </p:spPr>
      </p:pic>
      <p:pic>
        <p:nvPicPr>
          <p:cNvPr id="19" name="!!d1" descr="slice_jack.png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 rot="19145864">
            <a:off x="11387513" y="1360218"/>
            <a:ext cx="915813" cy="568357"/>
          </a:xfrm>
          <a:prstGeom prst="rect">
            <a:avLst/>
          </a:prstGeom>
        </p:spPr>
      </p:pic>
      <p:pic>
        <p:nvPicPr>
          <p:cNvPr id="20" name="!!d2" descr="grain_blur.png"/>
          <p:cNvPicPr>
            <a:picLocks noChangeAspect="1"/>
          </p:cNvPicPr>
          <p:nvPr/>
        </p:nvPicPr>
        <p:blipFill>
          <a:blip r:embed="rId10"/>
          <a:srcRect t="0" b="0"/>
          <a:stretch>
            <a:fillRect/>
          </a:stretch>
        </p:blipFill>
        <p:spPr>
          <a:xfrm rot="20491914">
            <a:off x="2110481" y="5435527"/>
            <a:ext cx="511963" cy="287674"/>
          </a:xfrm>
          <a:prstGeom prst="rect">
            <a:avLst/>
          </a:prstGeom>
        </p:spPr>
      </p:pic>
      <p:pic>
        <p:nvPicPr>
          <p:cNvPr id="21" name="!!d3" descr="leaf_blur.png"/>
          <p:cNvPicPr>
            <a:picLocks noChangeAspect="1"/>
          </p:cNvPicPr>
          <p:nvPr/>
        </p:nvPicPr>
        <p:blipFill>
          <a:blip r:embed="rId11"/>
          <a:srcRect/>
          <a:stretch>
            <a:fillRect/>
          </a:stretch>
        </p:blipFill>
        <p:spPr>
          <a:xfrm rot="18079943">
            <a:off x="10822687" y="1186539"/>
            <a:ext cx="623905" cy="35455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911535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9C8A78"/>
                </a:solidFill>
                <a:latin typeface="Mulish SemiBold"/>
                <a:ea typeface="Mulish SemiBold"/>
                <a:cs typeface="Mulish SemiBold"/>
              </a:rPr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8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8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8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8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8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8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8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8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8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679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59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39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E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1272118b3c317d0a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wash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6EFE3">
                  <a:alpha val="92000"/>
                </a:srgbClr>
              </a:gs>
              <a:gs pos="16000">
                <a:srgbClr val="F6EFE3">
                  <a:alpha val="55000"/>
                </a:srgbClr>
              </a:gs>
              <a:gs pos="40000">
                <a:srgbClr val="F6EFE3">
                  <a:alpha val="0"/>
                </a:srgbClr>
              </a:gs>
              <a:gs pos="100000">
                <a:srgbClr val="F6EFE3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" name="!!mist" descr="mist.png"/>
          <p:cNvPicPr>
            <a:picLocks noChangeAspect="1"/>
          </p:cNvPicPr>
          <p:nvPr/>
        </p:nvPicPr>
        <p:blipFill>
          <a:blip r:embed="rId3"/>
          <a:srcRect t="13935" b="13935"/>
          <a:stretch>
            <a:fillRect/>
          </a:stretch>
        </p:blipFill>
        <p:spPr>
          <a:xfrm>
            <a:off x="-457200" y="4480560"/>
            <a:ext cx="13106095" cy="2560320"/>
          </a:xfrm>
          <a:prstGeom prst="rect">
            <a:avLst/>
          </a:prstGeom>
        </p:spPr>
      </p:pic>
      <p:pic>
        <p:nvPicPr>
          <p:cNvPr id="5" name="!!c_wash" descr="glow_F6EFE3_92_1.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011680" y="2926080"/>
            <a:ext cx="9509760" cy="5120640"/>
          </a:xfrm>
          <a:prstGeom prst="rect">
            <a:avLst/>
          </a:prstGeom>
        </p:spPr>
      </p:pic>
      <p:pic>
        <p:nvPicPr>
          <p:cNvPr id="6" name="!!nav_logo" descr="wheat_B5172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7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12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HERAGRAIN</a:t>
            </a:r>
          </a:p>
        </p:txBody>
      </p:sp>
      <p:sp>
        <p:nvSpPr>
          <p:cNvPr id="8" name="!!nav_m0"/>
          <p:cNvSpPr txBox="1"/>
          <p:nvPr/>
        </p:nvSpPr>
        <p:spPr>
          <a:xfrm>
            <a:off x="3931920" y="246888"/>
            <a:ext cx="91033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Về chúng tôi</a:t>
            </a:r>
          </a:p>
        </p:txBody>
      </p:sp>
      <p:sp>
        <p:nvSpPr>
          <p:cNvPr id="9" name="!!nav_m1"/>
          <p:cNvSpPr txBox="1"/>
          <p:nvPr/>
        </p:nvSpPr>
        <p:spPr>
          <a:xfrm>
            <a:off x="5253732" y="246888"/>
            <a:ext cx="777379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Sản phẩm</a:t>
            </a:r>
          </a:p>
        </p:txBody>
      </p:sp>
      <p:sp>
        <p:nvSpPr>
          <p:cNvPr id="10" name="!!nav_m2"/>
          <p:cNvSpPr txBox="1"/>
          <p:nvPr/>
        </p:nvSpPr>
        <p:spPr>
          <a:xfrm>
            <a:off x="6442591" y="246888"/>
            <a:ext cx="71631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Quy trình</a:t>
            </a:r>
          </a:p>
        </p:txBody>
      </p:sp>
      <p:sp>
        <p:nvSpPr>
          <p:cNvPr id="11" name="!!nav_m3"/>
          <p:cNvSpPr txBox="1"/>
          <p:nvPr/>
        </p:nvSpPr>
        <p:spPr>
          <a:xfrm>
            <a:off x="7570381" y="246888"/>
            <a:ext cx="583347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Liên hệ</a:t>
            </a:r>
          </a:p>
        </p:txBody>
      </p:sp>
      <p:sp>
        <p:nvSpPr>
          <p:cNvPr id="12" name="!!nav_ind"/>
          <p:cNvSpPr/>
          <p:nvPr/>
        </p:nvSpPr>
        <p:spPr>
          <a:xfrm>
            <a:off x="5253732" y="603504"/>
            <a:ext cx="685939" cy="32004"/>
          </a:xfrm>
          <a:prstGeom prst="rect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3" name="!!nav_i0" descr="search_3B24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4" name="!!nav_i1" descr="user-round_3B241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5" name="!!nav_i2" descr="shopping-bag_3B241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pic>
        <p:nvPicPr>
          <p:cNvPr id="16" name="!!p_khoai" descr="prod_khoai_blur.png"/>
          <p:cNvPicPr>
            <a:picLocks noChangeAspect="1"/>
          </p:cNvPicPr>
          <p:nvPr/>
        </p:nvPicPr>
        <p:blipFill>
          <a:blip r:embed="rId9"/>
          <a:srcRect l="0" r="0"/>
          <a:stretch>
            <a:fillRect/>
          </a:stretch>
        </p:blipFill>
        <p:spPr>
          <a:xfrm rot="20760000">
            <a:off x="1694817" y="1417320"/>
            <a:ext cx="908046" cy="1417320"/>
          </a:xfrm>
          <a:prstGeom prst="rect">
            <a:avLst/>
          </a:prstGeom>
        </p:spPr>
      </p:pic>
      <p:pic>
        <p:nvPicPr>
          <p:cNvPr id="17" name="!!p_xoai" descr="prod_xoai.png"/>
          <p:cNvPicPr>
            <a:picLocks noChangeAspect="1"/>
          </p:cNvPicPr>
          <p:nvPr/>
        </p:nvPicPr>
        <p:blipFill>
          <a:blip r:embed="rId10"/>
          <a:srcRect l="0" r="0"/>
          <a:stretch>
            <a:fillRect/>
          </a:stretch>
        </p:blipFill>
        <p:spPr>
          <a:xfrm rot="21300000">
            <a:off x="5109191" y="1691640"/>
            <a:ext cx="2704834" cy="4297680"/>
          </a:xfrm>
          <a:prstGeom prst="rect">
            <a:avLst/>
          </a:prstGeom>
        </p:spPr>
      </p:pic>
      <p:sp>
        <p:nvSpPr>
          <p:cNvPr id="18" name="!!c_name"/>
          <p:cNvSpPr txBox="1"/>
          <p:nvPr/>
        </p:nvSpPr>
        <p:spPr>
          <a:xfrm>
            <a:off x="548640" y="4343400"/>
            <a:ext cx="5486400" cy="731520"/>
          </a:xfrm>
          <a:prstGeom prst="rect">
            <a:avLst/>
          </a:prstGeom>
          <a:noFill/>
        </p:spPr>
        <p:txBody>
          <a:bodyPr wrap="none" lIns="0" rIns="0" tIns="0" bIns="0" anchor="b">
            <a:noAutofit/>
          </a:bodyPr>
          <a:lstStyle/>
          <a:p>
            <a:pPr algn="l"/>
            <a:r>
              <a:rPr sz="4400" b="0" i="0">
                <a:solidFill>
                  <a:srgbClr val="B5172F"/>
                </a:solidFill>
                <a:effectLst>
                  <a:outerShdw blurRad="91440" dist="27432" dir="5400000" algn="ctr" rotWithShape="0">
                    <a:srgbClr val="000000">
                      <a:alpha val="30000"/>
                    </a:srgbClr>
                  </a:outerShdw>
                </a:effectLst>
                <a:latin typeface="Baloo 2 ExtraBold"/>
                <a:ea typeface="Baloo 2 ExtraBold"/>
                <a:cs typeface="Baloo 2 ExtraBold"/>
              </a:rPr>
              <a:t>XOÀI SẤY DẺO</a:t>
            </a:r>
          </a:p>
        </p:txBody>
      </p:sp>
      <p:sp>
        <p:nvSpPr>
          <p:cNvPr id="19" name="!!c_script"/>
          <p:cNvSpPr txBox="1"/>
          <p:nvPr/>
        </p:nvSpPr>
        <p:spPr>
          <a:xfrm>
            <a:off x="1097280" y="4846320"/>
            <a:ext cx="5486400" cy="7315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600" b="1" i="0">
                <a:solidFill>
                  <a:srgbClr val="3B2416"/>
                </a:solidFill>
                <a:effectLst>
                  <a:outerShdw blurRad="91440" dist="27432" dir="5400000" algn="ctr" rotWithShape="0">
                    <a:srgbClr val="FFFFFF">
                      <a:alpha val="30000"/>
                    </a:srgbClr>
                  </a:outerShdw>
                </a:effectLst>
                <a:latin typeface="Dancing Script"/>
                <a:ea typeface="Dancing Script"/>
                <a:cs typeface="Dancing Script"/>
              </a:rPr>
              <a:t>Dẻo thơm</a:t>
            </a:r>
          </a:p>
        </p:txBody>
      </p:sp>
      <p:sp>
        <p:nvSpPr>
          <p:cNvPr id="20" name="!!c_text"/>
          <p:cNvSpPr txBox="1"/>
          <p:nvPr/>
        </p:nvSpPr>
        <p:spPr>
          <a:xfrm>
            <a:off x="548640" y="562356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 i="0">
                <a:solidFill>
                  <a:srgbClr val="3B2416"/>
                </a:solidFill>
                <a:latin typeface="Mulish"/>
                <a:ea typeface="Mulish"/>
                <a:cs typeface="Mulish"/>
              </a:rPr>
              <a:t>Xoài chín cây, </a:t>
            </a:r>
            <a:r>
              <a:rPr sz="1050" b="0" i="0">
                <a:solidFill>
                  <a:srgbClr val="B5172F"/>
                </a:solidFill>
                <a:latin typeface="Mulish ExtraBold"/>
                <a:ea typeface="Mulish ExtraBold"/>
                <a:cs typeface="Mulish ExtraBold"/>
              </a:rPr>
              <a:t>sấy lạnh</a:t>
            </a:r>
            <a:r>
              <a:rPr sz="1050" b="0" i="0">
                <a:solidFill>
                  <a:srgbClr val="3B2416"/>
                </a:solidFill>
                <a:latin typeface="Mulish"/>
                <a:ea typeface="Mulish"/>
                <a:cs typeface="Mulish"/>
              </a:rPr>
              <a:t> giữ vị chua ngọt hài hòa; túi zip 200 g.</a:t>
            </a:r>
          </a:p>
        </p:txBody>
      </p:sp>
      <p:pic>
        <p:nvPicPr>
          <p:cNvPr id="21" name="!!t_0" descr="prod_xoai.png"/>
          <p:cNvPicPr>
            <a:picLocks noChangeAspect="1"/>
          </p:cNvPicPr>
          <p:nvPr/>
        </p:nvPicPr>
        <p:blipFill>
          <a:blip r:embed="rId10"/>
          <a:srcRect t="10979" b="10979"/>
          <a:stretch>
            <a:fillRect/>
          </a:stretch>
        </p:blipFill>
        <p:spPr>
          <a:xfrm>
            <a:off x="10618927" y="5788152"/>
            <a:ext cx="457200" cy="566928"/>
          </a:xfrm>
          <a:prstGeom prst="rect">
            <a:avLst/>
          </a:prstGeom>
        </p:spPr>
      </p:pic>
      <p:pic>
        <p:nvPicPr>
          <p:cNvPr id="22" name="!!t_1" descr="prod_khoai.png"/>
          <p:cNvPicPr>
            <a:picLocks noChangeAspect="1"/>
          </p:cNvPicPr>
          <p:nvPr/>
        </p:nvPicPr>
        <p:blipFill>
          <a:blip r:embed="rId11"/>
          <a:srcRect t="10979" b="10979"/>
          <a:stretch>
            <a:fillRect/>
          </a:stretch>
        </p:blipFill>
        <p:spPr>
          <a:xfrm>
            <a:off x="11185855" y="5788152"/>
            <a:ext cx="457200" cy="566928"/>
          </a:xfrm>
          <a:prstGeom prst="rect">
            <a:avLst/>
          </a:prstGeom>
        </p:spPr>
      </p:pic>
      <p:sp>
        <p:nvSpPr>
          <p:cNvPr id="23" name="!!t_ind"/>
          <p:cNvSpPr/>
          <p:nvPr/>
        </p:nvSpPr>
        <p:spPr>
          <a:xfrm>
            <a:off x="10618927" y="6446520"/>
            <a:ext cx="457200" cy="45720"/>
          </a:xfrm>
          <a:prstGeom prst="rect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11535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9C8A78"/>
                </a:solidFill>
                <a:latin typeface="Mulish SemiBold"/>
                <a:ea typeface="Mulish SemiBold"/>
                <a:cs typeface="Mulish SemiBold"/>
              </a:rPr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8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8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8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8" grpId="0" animBg="1"/>
      <p:bldP spid="19" grpId="0" animBg="1"/>
      <p:bldP spid="20" grpId="0" animBg="1"/>
      <p:bldP spid="23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E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eaee7fecc7286deb.jpg"/>
          <p:cNvPicPr>
            <a:picLocks noChangeAspect="1"/>
          </p:cNvPicPr>
          <p:nvPr/>
        </p:nvPicPr>
        <p:blipFill>
          <a:blip r:embed="rId2"/>
          <a:srcRect t="190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wash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6EFE3">
                  <a:alpha val="92000"/>
                </a:srgbClr>
              </a:gs>
              <a:gs pos="16000">
                <a:srgbClr val="F6EFE3">
                  <a:alpha val="55000"/>
                </a:srgbClr>
              </a:gs>
              <a:gs pos="40000">
                <a:srgbClr val="F6EFE3">
                  <a:alpha val="0"/>
                </a:srgbClr>
              </a:gs>
              <a:gs pos="100000">
                <a:srgbClr val="F6EFE3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" name="!!mist" descr="mist.png"/>
          <p:cNvPicPr>
            <a:picLocks noChangeAspect="1"/>
          </p:cNvPicPr>
          <p:nvPr/>
        </p:nvPicPr>
        <p:blipFill>
          <a:blip r:embed="rId3"/>
          <a:srcRect t="13935" b="13935"/>
          <a:stretch>
            <a:fillRect/>
          </a:stretch>
        </p:blipFill>
        <p:spPr>
          <a:xfrm>
            <a:off x="-457200" y="4480560"/>
            <a:ext cx="13106095" cy="2560320"/>
          </a:xfrm>
          <a:prstGeom prst="rect">
            <a:avLst/>
          </a:prstGeom>
        </p:spPr>
      </p:pic>
      <p:pic>
        <p:nvPicPr>
          <p:cNvPr id="5" name="!!c_wash" descr="glow_F6EFE3_92_1.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011680" y="2926080"/>
            <a:ext cx="9509760" cy="5120640"/>
          </a:xfrm>
          <a:prstGeom prst="rect">
            <a:avLst/>
          </a:prstGeom>
        </p:spPr>
      </p:pic>
      <p:pic>
        <p:nvPicPr>
          <p:cNvPr id="6" name="!!nav_logo" descr="wheat_B5172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7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12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HERAGRAIN</a:t>
            </a:r>
          </a:p>
        </p:txBody>
      </p:sp>
      <p:sp>
        <p:nvSpPr>
          <p:cNvPr id="8" name="!!nav_m0"/>
          <p:cNvSpPr txBox="1"/>
          <p:nvPr/>
        </p:nvSpPr>
        <p:spPr>
          <a:xfrm>
            <a:off x="3931920" y="246888"/>
            <a:ext cx="91033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Về chúng tôi</a:t>
            </a:r>
          </a:p>
        </p:txBody>
      </p:sp>
      <p:sp>
        <p:nvSpPr>
          <p:cNvPr id="9" name="!!nav_m1"/>
          <p:cNvSpPr txBox="1"/>
          <p:nvPr/>
        </p:nvSpPr>
        <p:spPr>
          <a:xfrm>
            <a:off x="5253732" y="246888"/>
            <a:ext cx="777379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Sản phẩm</a:t>
            </a:r>
          </a:p>
        </p:txBody>
      </p:sp>
      <p:sp>
        <p:nvSpPr>
          <p:cNvPr id="10" name="!!nav_m2"/>
          <p:cNvSpPr txBox="1"/>
          <p:nvPr/>
        </p:nvSpPr>
        <p:spPr>
          <a:xfrm>
            <a:off x="6442591" y="246888"/>
            <a:ext cx="71631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Quy trình</a:t>
            </a:r>
          </a:p>
        </p:txBody>
      </p:sp>
      <p:sp>
        <p:nvSpPr>
          <p:cNvPr id="11" name="!!nav_m3"/>
          <p:cNvSpPr txBox="1"/>
          <p:nvPr/>
        </p:nvSpPr>
        <p:spPr>
          <a:xfrm>
            <a:off x="7570381" y="246888"/>
            <a:ext cx="583347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Liên hệ</a:t>
            </a:r>
          </a:p>
        </p:txBody>
      </p:sp>
      <p:sp>
        <p:nvSpPr>
          <p:cNvPr id="12" name="!!nav_ind"/>
          <p:cNvSpPr/>
          <p:nvPr/>
        </p:nvSpPr>
        <p:spPr>
          <a:xfrm>
            <a:off x="5253732" y="603504"/>
            <a:ext cx="685939" cy="32004"/>
          </a:xfrm>
          <a:prstGeom prst="rect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3" name="!!nav_i0" descr="search_3B24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4" name="!!nav_i1" descr="user-round_3B241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5" name="!!nav_i2" descr="shopping-bag_3B241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pic>
        <p:nvPicPr>
          <p:cNvPr id="16" name="!!p_xoai" descr="prod_xoai_blur.png"/>
          <p:cNvPicPr>
            <a:picLocks noChangeAspect="1"/>
          </p:cNvPicPr>
          <p:nvPr/>
        </p:nvPicPr>
        <p:blipFill>
          <a:blip r:embed="rId9"/>
          <a:srcRect l="0" r="0"/>
          <a:stretch>
            <a:fillRect/>
          </a:stretch>
        </p:blipFill>
        <p:spPr>
          <a:xfrm rot="20760000">
            <a:off x="1694817" y="1417320"/>
            <a:ext cx="908046" cy="1417320"/>
          </a:xfrm>
          <a:prstGeom prst="rect">
            <a:avLst/>
          </a:prstGeom>
        </p:spPr>
      </p:pic>
      <p:pic>
        <p:nvPicPr>
          <p:cNvPr id="17" name="!!p_khoai" descr="prod_khoai.png"/>
          <p:cNvPicPr>
            <a:picLocks noChangeAspect="1"/>
          </p:cNvPicPr>
          <p:nvPr/>
        </p:nvPicPr>
        <p:blipFill>
          <a:blip r:embed="rId10"/>
          <a:srcRect l="0" r="0"/>
          <a:stretch>
            <a:fillRect/>
          </a:stretch>
        </p:blipFill>
        <p:spPr>
          <a:xfrm rot="21300000">
            <a:off x="5109191" y="1691640"/>
            <a:ext cx="2704834" cy="4297680"/>
          </a:xfrm>
          <a:prstGeom prst="rect">
            <a:avLst/>
          </a:prstGeom>
        </p:spPr>
      </p:pic>
      <p:sp>
        <p:nvSpPr>
          <p:cNvPr id="18" name="!!c_name"/>
          <p:cNvSpPr txBox="1"/>
          <p:nvPr/>
        </p:nvSpPr>
        <p:spPr>
          <a:xfrm>
            <a:off x="548640" y="4343400"/>
            <a:ext cx="5486400" cy="731520"/>
          </a:xfrm>
          <a:prstGeom prst="rect">
            <a:avLst/>
          </a:prstGeom>
          <a:noFill/>
        </p:spPr>
        <p:txBody>
          <a:bodyPr wrap="none" lIns="0" rIns="0" tIns="0" bIns="0" anchor="b">
            <a:noAutofit/>
          </a:bodyPr>
          <a:lstStyle/>
          <a:p>
            <a:pPr algn="l"/>
            <a:r>
              <a:rPr sz="4400" b="0" i="0">
                <a:solidFill>
                  <a:srgbClr val="B5172F"/>
                </a:solidFill>
                <a:effectLst>
                  <a:outerShdw blurRad="91440" dist="27432" dir="5400000" algn="ctr" rotWithShape="0">
                    <a:srgbClr val="000000">
                      <a:alpha val="30000"/>
                    </a:srgbClr>
                  </a:outerShdw>
                </a:effectLst>
                <a:latin typeface="Baloo 2 ExtraBold"/>
                <a:ea typeface="Baloo 2 ExtraBold"/>
                <a:cs typeface="Baloo 2 ExtraBold"/>
              </a:rPr>
              <a:t>KHOAI LANG SẤY</a:t>
            </a:r>
          </a:p>
        </p:txBody>
      </p:sp>
      <p:sp>
        <p:nvSpPr>
          <p:cNvPr id="19" name="!!c_script"/>
          <p:cNvSpPr txBox="1"/>
          <p:nvPr/>
        </p:nvSpPr>
        <p:spPr>
          <a:xfrm>
            <a:off x="1097280" y="4846320"/>
            <a:ext cx="5486400" cy="7315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600" b="1" i="0">
                <a:solidFill>
                  <a:srgbClr val="3B2416"/>
                </a:solidFill>
                <a:effectLst>
                  <a:outerShdw blurRad="91440" dist="27432" dir="5400000" algn="ctr" rotWithShape="0">
                    <a:srgbClr val="FFFFFF">
                      <a:alpha val="30000"/>
                    </a:srgbClr>
                  </a:outerShdw>
                </a:effectLst>
                <a:latin typeface="Dancing Script"/>
                <a:ea typeface="Dancing Script"/>
                <a:cs typeface="Dancing Script"/>
              </a:rPr>
              <a:t>Ngọt bùi</a:t>
            </a:r>
          </a:p>
        </p:txBody>
      </p:sp>
      <p:sp>
        <p:nvSpPr>
          <p:cNvPr id="20" name="!!c_text"/>
          <p:cNvSpPr txBox="1"/>
          <p:nvPr/>
        </p:nvSpPr>
        <p:spPr>
          <a:xfrm>
            <a:off x="548640" y="562356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 i="0">
                <a:solidFill>
                  <a:srgbClr val="3B2416"/>
                </a:solidFill>
                <a:latin typeface="Mulish"/>
                <a:ea typeface="Mulish"/>
                <a:cs typeface="Mulish"/>
              </a:rPr>
              <a:t>Khoai lang tím, </a:t>
            </a:r>
            <a:r>
              <a:rPr sz="1050" b="0" i="0">
                <a:solidFill>
                  <a:srgbClr val="B5172F"/>
                </a:solidFill>
                <a:latin typeface="Mulish ExtraBold"/>
                <a:ea typeface="Mulish ExtraBold"/>
                <a:cs typeface="Mulish ExtraBold"/>
              </a:rPr>
              <a:t>sấy dẻo không đường</a:t>
            </a:r>
            <a:r>
              <a:rPr sz="1050" b="0" i="0">
                <a:solidFill>
                  <a:srgbClr val="3B2416"/>
                </a:solidFill>
                <a:latin typeface="Mulish"/>
                <a:ea typeface="Mulish"/>
                <a:cs typeface="Mulish"/>
              </a:rPr>
              <a:t>, ăn vặt lành mạnh cho cả nhà.</a:t>
            </a:r>
          </a:p>
        </p:txBody>
      </p:sp>
      <p:pic>
        <p:nvPicPr>
          <p:cNvPr id="21" name="!!t_0" descr="prod_xoai.png"/>
          <p:cNvPicPr>
            <a:picLocks noChangeAspect="1"/>
          </p:cNvPicPr>
          <p:nvPr/>
        </p:nvPicPr>
        <p:blipFill>
          <a:blip r:embed="rId11"/>
          <a:srcRect t="10979" b="10979"/>
          <a:stretch>
            <a:fillRect/>
          </a:stretch>
        </p:blipFill>
        <p:spPr>
          <a:xfrm>
            <a:off x="10618927" y="5788152"/>
            <a:ext cx="457200" cy="566928"/>
          </a:xfrm>
          <a:prstGeom prst="rect">
            <a:avLst/>
          </a:prstGeom>
        </p:spPr>
      </p:pic>
      <p:pic>
        <p:nvPicPr>
          <p:cNvPr id="22" name="!!t_1" descr="prod_khoai.png"/>
          <p:cNvPicPr>
            <a:picLocks noChangeAspect="1"/>
          </p:cNvPicPr>
          <p:nvPr/>
        </p:nvPicPr>
        <p:blipFill>
          <a:blip r:embed="rId10"/>
          <a:srcRect t="10979" b="10979"/>
          <a:stretch>
            <a:fillRect/>
          </a:stretch>
        </p:blipFill>
        <p:spPr>
          <a:xfrm>
            <a:off x="11185855" y="5788152"/>
            <a:ext cx="457200" cy="566928"/>
          </a:xfrm>
          <a:prstGeom prst="rect">
            <a:avLst/>
          </a:prstGeom>
        </p:spPr>
      </p:pic>
      <p:sp>
        <p:nvSpPr>
          <p:cNvPr id="23" name="!!t_ind"/>
          <p:cNvSpPr/>
          <p:nvPr/>
        </p:nvSpPr>
        <p:spPr>
          <a:xfrm>
            <a:off x="11185855" y="6446520"/>
            <a:ext cx="457200" cy="45720"/>
          </a:xfrm>
          <a:prstGeom prst="rect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11535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9C8A78"/>
                </a:solidFill>
                <a:latin typeface="Mulish SemiBold"/>
                <a:ea typeface="Mulish SemiBold"/>
                <a:cs typeface="Mulish SemiBold"/>
              </a:rPr>
              <a:t>09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E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paper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nav_logo" descr="wheat_B517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4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12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HERAGRAIN</a:t>
            </a:r>
          </a:p>
        </p:txBody>
      </p:sp>
      <p:sp>
        <p:nvSpPr>
          <p:cNvPr id="5" name="!!nav_m0"/>
          <p:cNvSpPr txBox="1"/>
          <p:nvPr/>
        </p:nvSpPr>
        <p:spPr>
          <a:xfrm>
            <a:off x="3931920" y="246888"/>
            <a:ext cx="91033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Về chúng tôi</a:t>
            </a:r>
          </a:p>
        </p:txBody>
      </p:sp>
      <p:sp>
        <p:nvSpPr>
          <p:cNvPr id="6" name="!!nav_m1"/>
          <p:cNvSpPr txBox="1"/>
          <p:nvPr/>
        </p:nvSpPr>
        <p:spPr>
          <a:xfrm>
            <a:off x="5253732" y="246888"/>
            <a:ext cx="777379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Sản phẩm</a:t>
            </a:r>
          </a:p>
        </p:txBody>
      </p:sp>
      <p:sp>
        <p:nvSpPr>
          <p:cNvPr id="7" name="!!nav_m2"/>
          <p:cNvSpPr txBox="1"/>
          <p:nvPr/>
        </p:nvSpPr>
        <p:spPr>
          <a:xfrm>
            <a:off x="6442591" y="246888"/>
            <a:ext cx="71631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Quy trình</a:t>
            </a:r>
          </a:p>
        </p:txBody>
      </p:sp>
      <p:sp>
        <p:nvSpPr>
          <p:cNvPr id="8" name="!!nav_m3"/>
          <p:cNvSpPr txBox="1"/>
          <p:nvPr/>
        </p:nvSpPr>
        <p:spPr>
          <a:xfrm>
            <a:off x="7570381" y="246888"/>
            <a:ext cx="583347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Liên hệ</a:t>
            </a:r>
          </a:p>
        </p:txBody>
      </p:sp>
      <p:sp>
        <p:nvSpPr>
          <p:cNvPr id="9" name="!!nav_ind"/>
          <p:cNvSpPr/>
          <p:nvPr/>
        </p:nvSpPr>
        <p:spPr>
          <a:xfrm>
            <a:off x="5253732" y="603504"/>
            <a:ext cx="685939" cy="32004"/>
          </a:xfrm>
          <a:prstGeom prst="rect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!!nav_i0" descr="search_3B24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1" name="!!nav_i1" descr="user-round_3B24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2" name="!!nav_i2" descr="shopping-bag_3B24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sp>
        <p:nvSpPr>
          <p:cNvPr id="13" name="!!catwa"/>
          <p:cNvSpPr txBox="1"/>
          <p:nvPr/>
        </p:nvSpPr>
        <p:spPr>
          <a:xfrm>
            <a:off x="235382" y="2294255"/>
            <a:ext cx="3790007" cy="263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90000"/>
              </a:lnSpc>
            </a:pPr>
            <a:r>
              <a:rPr sz="166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SẤY</a:t>
            </a:r>
          </a:p>
        </p:txBody>
      </p:sp>
      <p:sp>
        <p:nvSpPr>
          <p:cNvPr id="14" name="!!catwb"/>
          <p:cNvSpPr txBox="1"/>
          <p:nvPr/>
        </p:nvSpPr>
        <p:spPr>
          <a:xfrm>
            <a:off x="6817059" y="2294255"/>
            <a:ext cx="5139253" cy="263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90000"/>
              </a:lnSpc>
            </a:pPr>
            <a:r>
              <a:rPr sz="166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GIÒN</a:t>
            </a:r>
          </a:p>
        </p:txBody>
      </p:sp>
      <p:pic>
        <p:nvPicPr>
          <p:cNvPr id="15" name="!!p_chuoi" descr="prod_chuoi.png"/>
          <p:cNvPicPr>
            <a:picLocks noChangeAspect="1"/>
          </p:cNvPicPr>
          <p:nvPr/>
        </p:nvPicPr>
        <p:blipFill>
          <a:blip r:embed="rId7"/>
          <a:srcRect l="0" r="0"/>
          <a:stretch>
            <a:fillRect/>
          </a:stretch>
        </p:blipFill>
        <p:spPr>
          <a:xfrm rot="21120000">
            <a:off x="4097583" y="1508760"/>
            <a:ext cx="2647284" cy="4206240"/>
          </a:xfrm>
          <a:prstGeom prst="rect">
            <a:avLst/>
          </a:prstGeom>
        </p:spPr>
      </p:pic>
      <p:sp>
        <p:nvSpPr>
          <p:cNvPr id="16" name="!!cat_script"/>
          <p:cNvSpPr txBox="1"/>
          <p:nvPr/>
        </p:nvSpPr>
        <p:spPr>
          <a:xfrm>
            <a:off x="7696048" y="4343400"/>
            <a:ext cx="4206240" cy="1097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0" b="1" i="0">
                <a:solidFill>
                  <a:srgbClr val="3B2416"/>
                </a:solidFill>
                <a:effectLst>
                  <a:outerShdw blurRad="73152" dist="0" dir="5400000" algn="ctr" rotWithShape="0">
                    <a:srgbClr val="FFFFFF">
                      <a:alpha val="80000"/>
                    </a:srgbClr>
                  </a:outerShdw>
                </a:effectLst>
                <a:latin typeface="Dancing Script"/>
                <a:ea typeface="Dancing Script"/>
                <a:cs typeface="Dancing Script"/>
              </a:rPr>
              <a:t>ăn vặt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30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Giòn rụm, ít dầu — món ăn vặt lành mạnh</a:t>
            </a:r>
          </a:p>
        </p:txBody>
      </p:sp>
      <p:pic>
        <p:nvPicPr>
          <p:cNvPr id="18" name="!!d0" descr="slice_mango.png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 rot="21318925">
            <a:off x="502308" y="1571558"/>
            <a:ext cx="720994" cy="460635"/>
          </a:xfrm>
          <a:prstGeom prst="rect">
            <a:avLst/>
          </a:prstGeom>
        </p:spPr>
      </p:pic>
      <p:pic>
        <p:nvPicPr>
          <p:cNvPr id="19" name="!!d1" descr="slice_jack.png"/>
          <p:cNvPicPr>
            <a:picLocks noChangeAspect="1"/>
          </p:cNvPicPr>
          <p:nvPr/>
        </p:nvPicPr>
        <p:blipFill>
          <a:blip r:embed="rId9"/>
          <a:srcRect l="0" r="0"/>
          <a:stretch>
            <a:fillRect/>
          </a:stretch>
        </p:blipFill>
        <p:spPr>
          <a:xfrm rot="19456072">
            <a:off x="10686110" y="1586024"/>
            <a:ext cx="695620" cy="431704"/>
          </a:xfrm>
          <a:prstGeom prst="rect">
            <a:avLst/>
          </a:prstGeom>
        </p:spPr>
      </p:pic>
      <p:pic>
        <p:nvPicPr>
          <p:cNvPr id="20" name="!!d2" descr="grain_blur.png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 rot="18182947">
            <a:off x="86834" y="5186076"/>
            <a:ext cx="839318" cy="471617"/>
          </a:xfrm>
          <a:prstGeom prst="rect">
            <a:avLst/>
          </a:prstGeom>
        </p:spPr>
      </p:pic>
      <p:pic>
        <p:nvPicPr>
          <p:cNvPr id="21" name="!!d3" descr="leaf_blur.png"/>
          <p:cNvPicPr>
            <a:picLocks noChangeAspect="1"/>
          </p:cNvPicPr>
          <p:nvPr/>
        </p:nvPicPr>
        <p:blipFill>
          <a:blip r:embed="rId11"/>
          <a:srcRect/>
          <a:stretch>
            <a:fillRect/>
          </a:stretch>
        </p:blipFill>
        <p:spPr>
          <a:xfrm rot="21121395">
            <a:off x="10140284" y="5218748"/>
            <a:ext cx="714911" cy="40627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911535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9C8A78"/>
                </a:solidFill>
                <a:latin typeface="Mulish SemiBold"/>
                <a:ea typeface="Mulish SemiBold"/>
                <a:cs typeface="Mulish SemiBold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8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8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8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8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8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8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8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8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8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679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59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39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E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1faab6249daa61bd.jpg"/>
          <p:cNvPicPr>
            <a:picLocks noChangeAspect="1"/>
          </p:cNvPicPr>
          <p:nvPr/>
        </p:nvPicPr>
        <p:blipFill>
          <a:blip r:embed="rId2"/>
          <a:srcRect t="1566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wash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6EFE3">
                  <a:alpha val="92000"/>
                </a:srgbClr>
              </a:gs>
              <a:gs pos="16000">
                <a:srgbClr val="F6EFE3">
                  <a:alpha val="55000"/>
                </a:srgbClr>
              </a:gs>
              <a:gs pos="40000">
                <a:srgbClr val="F6EFE3">
                  <a:alpha val="0"/>
                </a:srgbClr>
              </a:gs>
              <a:gs pos="100000">
                <a:srgbClr val="F6EFE3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" name="!!mist" descr="mist.png"/>
          <p:cNvPicPr>
            <a:picLocks noChangeAspect="1"/>
          </p:cNvPicPr>
          <p:nvPr/>
        </p:nvPicPr>
        <p:blipFill>
          <a:blip r:embed="rId3"/>
          <a:srcRect t="13935" b="13935"/>
          <a:stretch>
            <a:fillRect/>
          </a:stretch>
        </p:blipFill>
        <p:spPr>
          <a:xfrm>
            <a:off x="-457200" y="4480560"/>
            <a:ext cx="13106095" cy="2560320"/>
          </a:xfrm>
          <a:prstGeom prst="rect">
            <a:avLst/>
          </a:prstGeom>
        </p:spPr>
      </p:pic>
      <p:pic>
        <p:nvPicPr>
          <p:cNvPr id="5" name="!!c_wash" descr="glow_F6EFE3_92_1.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011680" y="2926080"/>
            <a:ext cx="9509760" cy="5120640"/>
          </a:xfrm>
          <a:prstGeom prst="rect">
            <a:avLst/>
          </a:prstGeom>
        </p:spPr>
      </p:pic>
      <p:pic>
        <p:nvPicPr>
          <p:cNvPr id="6" name="!!nav_logo" descr="wheat_B5172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7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12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HERAGRAIN</a:t>
            </a:r>
          </a:p>
        </p:txBody>
      </p:sp>
      <p:sp>
        <p:nvSpPr>
          <p:cNvPr id="8" name="!!nav_m0"/>
          <p:cNvSpPr txBox="1"/>
          <p:nvPr/>
        </p:nvSpPr>
        <p:spPr>
          <a:xfrm>
            <a:off x="3931920" y="246888"/>
            <a:ext cx="91033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Về chúng tôi</a:t>
            </a:r>
          </a:p>
        </p:txBody>
      </p:sp>
      <p:sp>
        <p:nvSpPr>
          <p:cNvPr id="9" name="!!nav_m1"/>
          <p:cNvSpPr txBox="1"/>
          <p:nvPr/>
        </p:nvSpPr>
        <p:spPr>
          <a:xfrm>
            <a:off x="5253732" y="246888"/>
            <a:ext cx="777379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Sản phẩm</a:t>
            </a:r>
          </a:p>
        </p:txBody>
      </p:sp>
      <p:sp>
        <p:nvSpPr>
          <p:cNvPr id="10" name="!!nav_m2"/>
          <p:cNvSpPr txBox="1"/>
          <p:nvPr/>
        </p:nvSpPr>
        <p:spPr>
          <a:xfrm>
            <a:off x="6442591" y="246888"/>
            <a:ext cx="71631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Quy trình</a:t>
            </a:r>
          </a:p>
        </p:txBody>
      </p:sp>
      <p:sp>
        <p:nvSpPr>
          <p:cNvPr id="11" name="!!nav_m3"/>
          <p:cNvSpPr txBox="1"/>
          <p:nvPr/>
        </p:nvSpPr>
        <p:spPr>
          <a:xfrm>
            <a:off x="7570381" y="246888"/>
            <a:ext cx="583347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Liên hệ</a:t>
            </a:r>
          </a:p>
        </p:txBody>
      </p:sp>
      <p:sp>
        <p:nvSpPr>
          <p:cNvPr id="12" name="!!nav_ind"/>
          <p:cNvSpPr/>
          <p:nvPr/>
        </p:nvSpPr>
        <p:spPr>
          <a:xfrm>
            <a:off x="5253732" y="603504"/>
            <a:ext cx="685939" cy="32004"/>
          </a:xfrm>
          <a:prstGeom prst="rect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3" name="!!nav_i0" descr="search_3B24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4" name="!!nav_i1" descr="user-round_3B241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5" name="!!nav_i2" descr="shopping-bag_3B241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pic>
        <p:nvPicPr>
          <p:cNvPr id="16" name="!!p_hat" descr="prod_hat_blur.png"/>
          <p:cNvPicPr>
            <a:picLocks noChangeAspect="1"/>
          </p:cNvPicPr>
          <p:nvPr/>
        </p:nvPicPr>
        <p:blipFill>
          <a:blip r:embed="rId9"/>
          <a:srcRect l="0" r="0"/>
          <a:stretch>
            <a:fillRect/>
          </a:stretch>
        </p:blipFill>
        <p:spPr>
          <a:xfrm rot="20760000">
            <a:off x="1694817" y="1417320"/>
            <a:ext cx="908046" cy="1417320"/>
          </a:xfrm>
          <a:prstGeom prst="rect">
            <a:avLst/>
          </a:prstGeom>
        </p:spPr>
      </p:pic>
      <p:pic>
        <p:nvPicPr>
          <p:cNvPr id="17" name="!!p_ngucoc" descr="prod_ngucoc_blur.png"/>
          <p:cNvPicPr>
            <a:picLocks noChangeAspect="1"/>
          </p:cNvPicPr>
          <p:nvPr/>
        </p:nvPicPr>
        <p:blipFill>
          <a:blip r:embed="rId10"/>
          <a:srcRect l="0" r="0"/>
          <a:stretch>
            <a:fillRect/>
          </a:stretch>
        </p:blipFill>
        <p:spPr>
          <a:xfrm rot="720000">
            <a:off x="9639016" y="2194560"/>
            <a:ext cx="1113088" cy="1737360"/>
          </a:xfrm>
          <a:prstGeom prst="rect">
            <a:avLst/>
          </a:prstGeom>
        </p:spPr>
      </p:pic>
      <p:pic>
        <p:nvPicPr>
          <p:cNvPr id="18" name="!!p_chuoi" descr="prod_chuoi.png"/>
          <p:cNvPicPr>
            <a:picLocks noChangeAspect="1"/>
          </p:cNvPicPr>
          <p:nvPr/>
        </p:nvPicPr>
        <p:blipFill>
          <a:blip r:embed="rId11"/>
          <a:srcRect l="0" r="0"/>
          <a:stretch>
            <a:fillRect/>
          </a:stretch>
        </p:blipFill>
        <p:spPr>
          <a:xfrm rot="21300000">
            <a:off x="5109191" y="1691640"/>
            <a:ext cx="2704834" cy="4297680"/>
          </a:xfrm>
          <a:prstGeom prst="rect">
            <a:avLst/>
          </a:prstGeom>
        </p:spPr>
      </p:pic>
      <p:sp>
        <p:nvSpPr>
          <p:cNvPr id="19" name="!!c_name"/>
          <p:cNvSpPr txBox="1"/>
          <p:nvPr/>
        </p:nvSpPr>
        <p:spPr>
          <a:xfrm>
            <a:off x="548640" y="4343400"/>
            <a:ext cx="5486400" cy="731520"/>
          </a:xfrm>
          <a:prstGeom prst="rect">
            <a:avLst/>
          </a:prstGeom>
          <a:noFill/>
        </p:spPr>
        <p:txBody>
          <a:bodyPr wrap="none" lIns="0" rIns="0" tIns="0" bIns="0" anchor="b">
            <a:noAutofit/>
          </a:bodyPr>
          <a:lstStyle/>
          <a:p>
            <a:pPr algn="l"/>
            <a:r>
              <a:rPr sz="4400" b="0" i="0">
                <a:solidFill>
                  <a:srgbClr val="B5172F"/>
                </a:solidFill>
                <a:effectLst>
                  <a:outerShdw blurRad="91440" dist="27432" dir="5400000" algn="ctr" rotWithShape="0">
                    <a:srgbClr val="000000">
                      <a:alpha val="30000"/>
                    </a:srgbClr>
                  </a:outerShdw>
                </a:effectLst>
                <a:latin typeface="Baloo 2 ExtraBold"/>
                <a:ea typeface="Baloo 2 ExtraBold"/>
                <a:cs typeface="Baloo 2 ExtraBold"/>
              </a:rPr>
              <a:t>CHUỐI SẤY GIÒN</a:t>
            </a:r>
          </a:p>
        </p:txBody>
      </p:sp>
      <p:sp>
        <p:nvSpPr>
          <p:cNvPr id="20" name="!!c_script"/>
          <p:cNvSpPr txBox="1"/>
          <p:nvPr/>
        </p:nvSpPr>
        <p:spPr>
          <a:xfrm>
            <a:off x="1097280" y="4846320"/>
            <a:ext cx="5486400" cy="7315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600" b="1" i="0">
                <a:solidFill>
                  <a:srgbClr val="3B2416"/>
                </a:solidFill>
                <a:effectLst>
                  <a:outerShdw blurRad="91440" dist="27432" dir="5400000" algn="ctr" rotWithShape="0">
                    <a:srgbClr val="FFFFFF">
                      <a:alpha val="30000"/>
                    </a:srgbClr>
                  </a:outerShdw>
                </a:effectLst>
                <a:latin typeface="Dancing Script"/>
                <a:ea typeface="Dancing Script"/>
                <a:cs typeface="Dancing Script"/>
              </a:rPr>
              <a:t>Giòn tan</a:t>
            </a:r>
          </a:p>
        </p:txBody>
      </p:sp>
      <p:sp>
        <p:nvSpPr>
          <p:cNvPr id="21" name="!!c_text"/>
          <p:cNvSpPr txBox="1"/>
          <p:nvPr/>
        </p:nvSpPr>
        <p:spPr>
          <a:xfrm>
            <a:off x="548640" y="562356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 i="0">
                <a:solidFill>
                  <a:srgbClr val="3B2416"/>
                </a:solidFill>
                <a:latin typeface="Mulish"/>
                <a:ea typeface="Mulish"/>
                <a:cs typeface="Mulish"/>
              </a:rPr>
              <a:t>Chuối chín vàng, </a:t>
            </a:r>
            <a:r>
              <a:rPr sz="1050" b="0" i="0">
                <a:solidFill>
                  <a:srgbClr val="B5172F"/>
                </a:solidFill>
                <a:latin typeface="Mulish ExtraBold"/>
                <a:ea typeface="Mulish ExtraBold"/>
                <a:cs typeface="Mulish ExtraBold"/>
              </a:rPr>
              <a:t>sấy giòn ít dầu</a:t>
            </a:r>
            <a:r>
              <a:rPr sz="1050" b="0" i="0">
                <a:solidFill>
                  <a:srgbClr val="3B2416"/>
                </a:solidFill>
                <a:latin typeface="Mulish"/>
                <a:ea typeface="Mulish"/>
                <a:cs typeface="Mulish"/>
              </a:rPr>
              <a:t>, vị ngọt tự nhiên.</a:t>
            </a:r>
          </a:p>
        </p:txBody>
      </p:sp>
      <p:pic>
        <p:nvPicPr>
          <p:cNvPr id="22" name="!!t_0" descr="prod_chuoi.png"/>
          <p:cNvPicPr>
            <a:picLocks noChangeAspect="1"/>
          </p:cNvPicPr>
          <p:nvPr/>
        </p:nvPicPr>
        <p:blipFill>
          <a:blip r:embed="rId11"/>
          <a:srcRect t="10979" b="10979"/>
          <a:stretch>
            <a:fillRect/>
          </a:stretch>
        </p:blipFill>
        <p:spPr>
          <a:xfrm>
            <a:off x="10051999" y="5788152"/>
            <a:ext cx="457200" cy="566928"/>
          </a:xfrm>
          <a:prstGeom prst="rect">
            <a:avLst/>
          </a:prstGeom>
        </p:spPr>
      </p:pic>
      <p:pic>
        <p:nvPicPr>
          <p:cNvPr id="23" name="!!t_1" descr="prod_hat.png"/>
          <p:cNvPicPr>
            <a:picLocks noChangeAspect="1"/>
          </p:cNvPicPr>
          <p:nvPr/>
        </p:nvPicPr>
        <p:blipFill>
          <a:blip r:embed="rId12"/>
          <a:srcRect t="10979" b="10979"/>
          <a:stretch>
            <a:fillRect/>
          </a:stretch>
        </p:blipFill>
        <p:spPr>
          <a:xfrm>
            <a:off x="10618927" y="5788152"/>
            <a:ext cx="457200" cy="566928"/>
          </a:xfrm>
          <a:prstGeom prst="rect">
            <a:avLst/>
          </a:prstGeom>
        </p:spPr>
      </p:pic>
      <p:pic>
        <p:nvPicPr>
          <p:cNvPr id="24" name="!!t_2" descr="prod_ngucoc.png"/>
          <p:cNvPicPr>
            <a:picLocks noChangeAspect="1"/>
          </p:cNvPicPr>
          <p:nvPr/>
        </p:nvPicPr>
        <p:blipFill>
          <a:blip r:embed="rId13"/>
          <a:srcRect t="10979" b="10979"/>
          <a:stretch>
            <a:fillRect/>
          </a:stretch>
        </p:blipFill>
        <p:spPr>
          <a:xfrm>
            <a:off x="11185855" y="5788152"/>
            <a:ext cx="457200" cy="566928"/>
          </a:xfrm>
          <a:prstGeom prst="rect">
            <a:avLst/>
          </a:prstGeom>
        </p:spPr>
      </p:pic>
      <p:sp>
        <p:nvSpPr>
          <p:cNvPr id="25" name="!!t_ind"/>
          <p:cNvSpPr/>
          <p:nvPr/>
        </p:nvSpPr>
        <p:spPr>
          <a:xfrm>
            <a:off x="10051999" y="6446520"/>
            <a:ext cx="457200" cy="45720"/>
          </a:xfrm>
          <a:prstGeom prst="rect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11535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9C8A78"/>
                </a:solidFill>
                <a:latin typeface="Mulish SemiBold"/>
                <a:ea typeface="Mulish SemiBold"/>
                <a:cs typeface="Mulish SemiBold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8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8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8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9" grpId="0" animBg="1"/>
      <p:bldP spid="20" grpId="0" animBg="1"/>
      <p:bldP spid="21" grpId="0" animBg="1"/>
      <p:bldP spid="25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E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9947b3eb395cd5b6.jpg"/>
          <p:cNvPicPr>
            <a:picLocks noChangeAspect="1"/>
          </p:cNvPicPr>
          <p:nvPr/>
        </p:nvPicPr>
        <p:blipFill>
          <a:blip r:embed="rId2"/>
          <a:srcRect t="22499" b="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wash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6EFE3">
                  <a:alpha val="92000"/>
                </a:srgbClr>
              </a:gs>
              <a:gs pos="16000">
                <a:srgbClr val="F6EFE3">
                  <a:alpha val="55000"/>
                </a:srgbClr>
              </a:gs>
              <a:gs pos="40000">
                <a:srgbClr val="F6EFE3">
                  <a:alpha val="0"/>
                </a:srgbClr>
              </a:gs>
              <a:gs pos="100000">
                <a:srgbClr val="F6EFE3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" name="!!mist" descr="mist.png"/>
          <p:cNvPicPr>
            <a:picLocks noChangeAspect="1"/>
          </p:cNvPicPr>
          <p:nvPr/>
        </p:nvPicPr>
        <p:blipFill>
          <a:blip r:embed="rId3"/>
          <a:srcRect t="13935" b="13935"/>
          <a:stretch>
            <a:fillRect/>
          </a:stretch>
        </p:blipFill>
        <p:spPr>
          <a:xfrm>
            <a:off x="-457200" y="4480560"/>
            <a:ext cx="13106095" cy="2560320"/>
          </a:xfrm>
          <a:prstGeom prst="rect">
            <a:avLst/>
          </a:prstGeom>
        </p:spPr>
      </p:pic>
      <p:pic>
        <p:nvPicPr>
          <p:cNvPr id="5" name="!!c_wash" descr="glow_F6EFE3_92_1.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011680" y="2926080"/>
            <a:ext cx="9509760" cy="5120640"/>
          </a:xfrm>
          <a:prstGeom prst="rect">
            <a:avLst/>
          </a:prstGeom>
        </p:spPr>
      </p:pic>
      <p:pic>
        <p:nvPicPr>
          <p:cNvPr id="6" name="!!nav_logo" descr="wheat_B5172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7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12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HERAGRAIN</a:t>
            </a:r>
          </a:p>
        </p:txBody>
      </p:sp>
      <p:sp>
        <p:nvSpPr>
          <p:cNvPr id="8" name="!!nav_m0"/>
          <p:cNvSpPr txBox="1"/>
          <p:nvPr/>
        </p:nvSpPr>
        <p:spPr>
          <a:xfrm>
            <a:off x="3931920" y="246888"/>
            <a:ext cx="91033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Về chúng tôi</a:t>
            </a:r>
          </a:p>
        </p:txBody>
      </p:sp>
      <p:sp>
        <p:nvSpPr>
          <p:cNvPr id="9" name="!!nav_m1"/>
          <p:cNvSpPr txBox="1"/>
          <p:nvPr/>
        </p:nvSpPr>
        <p:spPr>
          <a:xfrm>
            <a:off x="5253732" y="246888"/>
            <a:ext cx="777379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Sản phẩm</a:t>
            </a:r>
          </a:p>
        </p:txBody>
      </p:sp>
      <p:sp>
        <p:nvSpPr>
          <p:cNvPr id="10" name="!!nav_m2"/>
          <p:cNvSpPr txBox="1"/>
          <p:nvPr/>
        </p:nvSpPr>
        <p:spPr>
          <a:xfrm>
            <a:off x="6442591" y="246888"/>
            <a:ext cx="71631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Quy trình</a:t>
            </a:r>
          </a:p>
        </p:txBody>
      </p:sp>
      <p:sp>
        <p:nvSpPr>
          <p:cNvPr id="11" name="!!nav_m3"/>
          <p:cNvSpPr txBox="1"/>
          <p:nvPr/>
        </p:nvSpPr>
        <p:spPr>
          <a:xfrm>
            <a:off x="7570381" y="246888"/>
            <a:ext cx="583347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Liên hệ</a:t>
            </a:r>
          </a:p>
        </p:txBody>
      </p:sp>
      <p:sp>
        <p:nvSpPr>
          <p:cNvPr id="12" name="!!nav_ind"/>
          <p:cNvSpPr/>
          <p:nvPr/>
        </p:nvSpPr>
        <p:spPr>
          <a:xfrm>
            <a:off x="5253732" y="603504"/>
            <a:ext cx="685939" cy="32004"/>
          </a:xfrm>
          <a:prstGeom prst="rect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3" name="!!nav_i0" descr="search_3B24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4" name="!!nav_i1" descr="user-round_3B241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5" name="!!nav_i2" descr="shopping-bag_3B241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pic>
        <p:nvPicPr>
          <p:cNvPr id="16" name="!!p_chuoi" descr="prod_chuoi_blur.png"/>
          <p:cNvPicPr>
            <a:picLocks noChangeAspect="1"/>
          </p:cNvPicPr>
          <p:nvPr/>
        </p:nvPicPr>
        <p:blipFill>
          <a:blip r:embed="rId9"/>
          <a:srcRect l="0" r="0"/>
          <a:stretch>
            <a:fillRect/>
          </a:stretch>
        </p:blipFill>
        <p:spPr>
          <a:xfrm rot="20760000">
            <a:off x="1694817" y="1417320"/>
            <a:ext cx="908046" cy="1417320"/>
          </a:xfrm>
          <a:prstGeom prst="rect">
            <a:avLst/>
          </a:prstGeom>
        </p:spPr>
      </p:pic>
      <p:pic>
        <p:nvPicPr>
          <p:cNvPr id="17" name="!!p_ngucoc" descr="prod_ngucoc_blur.png"/>
          <p:cNvPicPr>
            <a:picLocks noChangeAspect="1"/>
          </p:cNvPicPr>
          <p:nvPr/>
        </p:nvPicPr>
        <p:blipFill>
          <a:blip r:embed="rId10"/>
          <a:srcRect l="0" r="0"/>
          <a:stretch>
            <a:fillRect/>
          </a:stretch>
        </p:blipFill>
        <p:spPr>
          <a:xfrm rot="720000">
            <a:off x="9639016" y="2194560"/>
            <a:ext cx="1113088" cy="1737360"/>
          </a:xfrm>
          <a:prstGeom prst="rect">
            <a:avLst/>
          </a:prstGeom>
        </p:spPr>
      </p:pic>
      <p:pic>
        <p:nvPicPr>
          <p:cNvPr id="18" name="!!p_hat" descr="prod_hat.png"/>
          <p:cNvPicPr>
            <a:picLocks noChangeAspect="1"/>
          </p:cNvPicPr>
          <p:nvPr/>
        </p:nvPicPr>
        <p:blipFill>
          <a:blip r:embed="rId11"/>
          <a:srcRect l="0" r="0"/>
          <a:stretch>
            <a:fillRect/>
          </a:stretch>
        </p:blipFill>
        <p:spPr>
          <a:xfrm rot="21300000">
            <a:off x="5109191" y="1691640"/>
            <a:ext cx="2704834" cy="4297680"/>
          </a:xfrm>
          <a:prstGeom prst="rect">
            <a:avLst/>
          </a:prstGeom>
        </p:spPr>
      </p:pic>
      <p:sp>
        <p:nvSpPr>
          <p:cNvPr id="19" name="!!c_name"/>
          <p:cNvSpPr txBox="1"/>
          <p:nvPr/>
        </p:nvSpPr>
        <p:spPr>
          <a:xfrm>
            <a:off x="548640" y="4343400"/>
            <a:ext cx="5486400" cy="731520"/>
          </a:xfrm>
          <a:prstGeom prst="rect">
            <a:avLst/>
          </a:prstGeom>
          <a:noFill/>
        </p:spPr>
        <p:txBody>
          <a:bodyPr wrap="none" lIns="0" rIns="0" tIns="0" bIns="0" anchor="b">
            <a:noAutofit/>
          </a:bodyPr>
          <a:lstStyle/>
          <a:p>
            <a:pPr algn="l"/>
            <a:r>
              <a:rPr sz="4400" b="0" i="0">
                <a:solidFill>
                  <a:srgbClr val="B5172F"/>
                </a:solidFill>
                <a:effectLst>
                  <a:outerShdw blurRad="91440" dist="27432" dir="5400000" algn="ctr" rotWithShape="0">
                    <a:srgbClr val="000000">
                      <a:alpha val="30000"/>
                    </a:srgbClr>
                  </a:outerShdw>
                </a:effectLst>
                <a:latin typeface="Baloo 2 ExtraBold"/>
                <a:ea typeface="Baloo 2 ExtraBold"/>
                <a:cs typeface="Baloo 2 ExtraBold"/>
              </a:rPr>
              <a:t>HẠT DINH DƯỠNG</a:t>
            </a:r>
          </a:p>
        </p:txBody>
      </p:sp>
      <p:sp>
        <p:nvSpPr>
          <p:cNvPr id="20" name="!!c_script"/>
          <p:cNvSpPr txBox="1"/>
          <p:nvPr/>
        </p:nvSpPr>
        <p:spPr>
          <a:xfrm>
            <a:off x="1097280" y="4846320"/>
            <a:ext cx="5486400" cy="7315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600" b="1" i="0">
                <a:solidFill>
                  <a:srgbClr val="3B2416"/>
                </a:solidFill>
                <a:effectLst>
                  <a:outerShdw blurRad="91440" dist="27432" dir="5400000" algn="ctr" rotWithShape="0">
                    <a:srgbClr val="FFFFFF">
                      <a:alpha val="30000"/>
                    </a:srgbClr>
                  </a:outerShdw>
                </a:effectLst>
                <a:latin typeface="Dancing Script"/>
                <a:ea typeface="Dancing Script"/>
                <a:cs typeface="Dancing Script"/>
              </a:rPr>
              <a:t>Mix 5 loại</a:t>
            </a:r>
          </a:p>
        </p:txBody>
      </p:sp>
      <p:sp>
        <p:nvSpPr>
          <p:cNvPr id="21" name="!!c_text"/>
          <p:cNvSpPr txBox="1"/>
          <p:nvPr/>
        </p:nvSpPr>
        <p:spPr>
          <a:xfrm>
            <a:off x="548640" y="562356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 i="0">
                <a:solidFill>
                  <a:srgbClr val="3B2416"/>
                </a:solidFill>
                <a:latin typeface="Mulish"/>
                <a:ea typeface="Mulish"/>
                <a:cs typeface="Mulish"/>
              </a:rPr>
              <a:t>Hạt điều, hạnh nhân, óc chó… </a:t>
            </a:r>
            <a:r>
              <a:rPr sz="1050" b="0" i="0">
                <a:solidFill>
                  <a:srgbClr val="B5172F"/>
                </a:solidFill>
                <a:latin typeface="Mulish ExtraBold"/>
                <a:ea typeface="Mulish ExtraBold"/>
                <a:cs typeface="Mulish ExtraBold"/>
              </a:rPr>
              <a:t>rang sấy</a:t>
            </a:r>
            <a:r>
              <a:rPr sz="1050" b="0" i="0">
                <a:solidFill>
                  <a:srgbClr val="3B2416"/>
                </a:solidFill>
                <a:latin typeface="Mulish"/>
                <a:ea typeface="Mulish"/>
                <a:cs typeface="Mulish"/>
              </a:rPr>
              <a:t>, không thêm đường.</a:t>
            </a:r>
          </a:p>
        </p:txBody>
      </p:sp>
      <p:pic>
        <p:nvPicPr>
          <p:cNvPr id="22" name="!!t_0" descr="prod_chuoi.png"/>
          <p:cNvPicPr>
            <a:picLocks noChangeAspect="1"/>
          </p:cNvPicPr>
          <p:nvPr/>
        </p:nvPicPr>
        <p:blipFill>
          <a:blip r:embed="rId12"/>
          <a:srcRect t="10979" b="10979"/>
          <a:stretch>
            <a:fillRect/>
          </a:stretch>
        </p:blipFill>
        <p:spPr>
          <a:xfrm>
            <a:off x="10051999" y="5788152"/>
            <a:ext cx="457200" cy="566928"/>
          </a:xfrm>
          <a:prstGeom prst="rect">
            <a:avLst/>
          </a:prstGeom>
        </p:spPr>
      </p:pic>
      <p:pic>
        <p:nvPicPr>
          <p:cNvPr id="23" name="!!t_1" descr="prod_hat.png"/>
          <p:cNvPicPr>
            <a:picLocks noChangeAspect="1"/>
          </p:cNvPicPr>
          <p:nvPr/>
        </p:nvPicPr>
        <p:blipFill>
          <a:blip r:embed="rId11"/>
          <a:srcRect t="10979" b="10979"/>
          <a:stretch>
            <a:fillRect/>
          </a:stretch>
        </p:blipFill>
        <p:spPr>
          <a:xfrm>
            <a:off x="10618927" y="5788152"/>
            <a:ext cx="457200" cy="566928"/>
          </a:xfrm>
          <a:prstGeom prst="rect">
            <a:avLst/>
          </a:prstGeom>
        </p:spPr>
      </p:pic>
      <p:pic>
        <p:nvPicPr>
          <p:cNvPr id="24" name="!!t_2" descr="prod_ngucoc.png"/>
          <p:cNvPicPr>
            <a:picLocks noChangeAspect="1"/>
          </p:cNvPicPr>
          <p:nvPr/>
        </p:nvPicPr>
        <p:blipFill>
          <a:blip r:embed="rId13"/>
          <a:srcRect t="10979" b="10979"/>
          <a:stretch>
            <a:fillRect/>
          </a:stretch>
        </p:blipFill>
        <p:spPr>
          <a:xfrm>
            <a:off x="11185855" y="5788152"/>
            <a:ext cx="457200" cy="566928"/>
          </a:xfrm>
          <a:prstGeom prst="rect">
            <a:avLst/>
          </a:prstGeom>
        </p:spPr>
      </p:pic>
      <p:sp>
        <p:nvSpPr>
          <p:cNvPr id="25" name="!!t_ind"/>
          <p:cNvSpPr/>
          <p:nvPr/>
        </p:nvSpPr>
        <p:spPr>
          <a:xfrm>
            <a:off x="10618927" y="6446520"/>
            <a:ext cx="457200" cy="45720"/>
          </a:xfrm>
          <a:prstGeom prst="rect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11535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9C8A78"/>
                </a:solidFill>
                <a:latin typeface="Mulish SemiBold"/>
                <a:ea typeface="Mulish SemiBold"/>
                <a:cs typeface="Mulish SemiBold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E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1272118b3c317d0a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wash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6EFE3">
                  <a:alpha val="92000"/>
                </a:srgbClr>
              </a:gs>
              <a:gs pos="16000">
                <a:srgbClr val="F6EFE3">
                  <a:alpha val="55000"/>
                </a:srgbClr>
              </a:gs>
              <a:gs pos="40000">
                <a:srgbClr val="F6EFE3">
                  <a:alpha val="0"/>
                </a:srgbClr>
              </a:gs>
              <a:gs pos="100000">
                <a:srgbClr val="F6EFE3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" name="!!mist" descr="mist.png"/>
          <p:cNvPicPr>
            <a:picLocks noChangeAspect="1"/>
          </p:cNvPicPr>
          <p:nvPr/>
        </p:nvPicPr>
        <p:blipFill>
          <a:blip r:embed="rId3"/>
          <a:srcRect t="13935" b="13935"/>
          <a:stretch>
            <a:fillRect/>
          </a:stretch>
        </p:blipFill>
        <p:spPr>
          <a:xfrm>
            <a:off x="-457200" y="4480560"/>
            <a:ext cx="13106095" cy="2560320"/>
          </a:xfrm>
          <a:prstGeom prst="rect">
            <a:avLst/>
          </a:prstGeom>
        </p:spPr>
      </p:pic>
      <p:pic>
        <p:nvPicPr>
          <p:cNvPr id="5" name="!!c_wash" descr="glow_F6EFE3_92_1.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011680" y="2926080"/>
            <a:ext cx="9509760" cy="5120640"/>
          </a:xfrm>
          <a:prstGeom prst="rect">
            <a:avLst/>
          </a:prstGeom>
        </p:spPr>
      </p:pic>
      <p:pic>
        <p:nvPicPr>
          <p:cNvPr id="6" name="!!nav_logo" descr="wheat_B5172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7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12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HERAGRAIN</a:t>
            </a:r>
          </a:p>
        </p:txBody>
      </p:sp>
      <p:sp>
        <p:nvSpPr>
          <p:cNvPr id="8" name="!!nav_m0"/>
          <p:cNvSpPr txBox="1"/>
          <p:nvPr/>
        </p:nvSpPr>
        <p:spPr>
          <a:xfrm>
            <a:off x="3931920" y="246888"/>
            <a:ext cx="91033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Về chúng tôi</a:t>
            </a:r>
          </a:p>
        </p:txBody>
      </p:sp>
      <p:sp>
        <p:nvSpPr>
          <p:cNvPr id="9" name="!!nav_m1"/>
          <p:cNvSpPr txBox="1"/>
          <p:nvPr/>
        </p:nvSpPr>
        <p:spPr>
          <a:xfrm>
            <a:off x="5253732" y="246888"/>
            <a:ext cx="777379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Sản phẩm</a:t>
            </a:r>
          </a:p>
        </p:txBody>
      </p:sp>
      <p:sp>
        <p:nvSpPr>
          <p:cNvPr id="10" name="!!nav_m2"/>
          <p:cNvSpPr txBox="1"/>
          <p:nvPr/>
        </p:nvSpPr>
        <p:spPr>
          <a:xfrm>
            <a:off x="6442591" y="246888"/>
            <a:ext cx="71631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Quy trình</a:t>
            </a:r>
          </a:p>
        </p:txBody>
      </p:sp>
      <p:sp>
        <p:nvSpPr>
          <p:cNvPr id="11" name="!!nav_m3"/>
          <p:cNvSpPr txBox="1"/>
          <p:nvPr/>
        </p:nvSpPr>
        <p:spPr>
          <a:xfrm>
            <a:off x="7570381" y="246888"/>
            <a:ext cx="583347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Liên hệ</a:t>
            </a:r>
          </a:p>
        </p:txBody>
      </p:sp>
      <p:sp>
        <p:nvSpPr>
          <p:cNvPr id="12" name="!!nav_ind"/>
          <p:cNvSpPr/>
          <p:nvPr/>
        </p:nvSpPr>
        <p:spPr>
          <a:xfrm>
            <a:off x="5253732" y="603504"/>
            <a:ext cx="685939" cy="32004"/>
          </a:xfrm>
          <a:prstGeom prst="rect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3" name="!!nav_i0" descr="search_3B24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4" name="!!nav_i1" descr="user-round_3B241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5" name="!!nav_i2" descr="shopping-bag_3B241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pic>
        <p:nvPicPr>
          <p:cNvPr id="16" name="!!p_chuoi" descr="prod_chuoi_blur.png"/>
          <p:cNvPicPr>
            <a:picLocks noChangeAspect="1"/>
          </p:cNvPicPr>
          <p:nvPr/>
        </p:nvPicPr>
        <p:blipFill>
          <a:blip r:embed="rId9"/>
          <a:srcRect l="0" r="0"/>
          <a:stretch>
            <a:fillRect/>
          </a:stretch>
        </p:blipFill>
        <p:spPr>
          <a:xfrm rot="20760000">
            <a:off x="1694817" y="1417320"/>
            <a:ext cx="908046" cy="1417320"/>
          </a:xfrm>
          <a:prstGeom prst="rect">
            <a:avLst/>
          </a:prstGeom>
        </p:spPr>
      </p:pic>
      <p:pic>
        <p:nvPicPr>
          <p:cNvPr id="17" name="!!p_hat" descr="prod_hat_blur.png"/>
          <p:cNvPicPr>
            <a:picLocks noChangeAspect="1"/>
          </p:cNvPicPr>
          <p:nvPr/>
        </p:nvPicPr>
        <p:blipFill>
          <a:blip r:embed="rId10"/>
          <a:srcRect l="0" r="0"/>
          <a:stretch>
            <a:fillRect/>
          </a:stretch>
        </p:blipFill>
        <p:spPr>
          <a:xfrm rot="720000">
            <a:off x="9639016" y="2194560"/>
            <a:ext cx="1113088" cy="1737360"/>
          </a:xfrm>
          <a:prstGeom prst="rect">
            <a:avLst/>
          </a:prstGeom>
        </p:spPr>
      </p:pic>
      <p:pic>
        <p:nvPicPr>
          <p:cNvPr id="18" name="!!p_ngucoc" descr="prod_ngucoc.png"/>
          <p:cNvPicPr>
            <a:picLocks noChangeAspect="1"/>
          </p:cNvPicPr>
          <p:nvPr/>
        </p:nvPicPr>
        <p:blipFill>
          <a:blip r:embed="rId11"/>
          <a:srcRect l="0" r="0"/>
          <a:stretch>
            <a:fillRect/>
          </a:stretch>
        </p:blipFill>
        <p:spPr>
          <a:xfrm rot="21300000">
            <a:off x="5109191" y="1691640"/>
            <a:ext cx="2704834" cy="4297680"/>
          </a:xfrm>
          <a:prstGeom prst="rect">
            <a:avLst/>
          </a:prstGeom>
        </p:spPr>
      </p:pic>
      <p:sp>
        <p:nvSpPr>
          <p:cNvPr id="19" name="!!c_name"/>
          <p:cNvSpPr txBox="1"/>
          <p:nvPr/>
        </p:nvSpPr>
        <p:spPr>
          <a:xfrm>
            <a:off x="548640" y="4343400"/>
            <a:ext cx="5486400" cy="731520"/>
          </a:xfrm>
          <a:prstGeom prst="rect">
            <a:avLst/>
          </a:prstGeom>
          <a:noFill/>
        </p:spPr>
        <p:txBody>
          <a:bodyPr wrap="none" lIns="0" rIns="0" tIns="0" bIns="0" anchor="b">
            <a:noAutofit/>
          </a:bodyPr>
          <a:lstStyle/>
          <a:p>
            <a:pPr algn="l"/>
            <a:r>
              <a:rPr sz="4400" b="0" i="0">
                <a:solidFill>
                  <a:srgbClr val="B5172F"/>
                </a:solidFill>
                <a:effectLst>
                  <a:outerShdw blurRad="91440" dist="27432" dir="5400000" algn="ctr" rotWithShape="0">
                    <a:srgbClr val="000000">
                      <a:alpha val="30000"/>
                    </a:srgbClr>
                  </a:outerShdw>
                </a:effectLst>
                <a:latin typeface="Baloo 2 ExtraBold"/>
                <a:ea typeface="Baloo 2 ExtraBold"/>
                <a:cs typeface="Baloo 2 ExtraBold"/>
              </a:rPr>
              <a:t>NGŨ CỐC SẤY</a:t>
            </a:r>
          </a:p>
        </p:txBody>
      </p:sp>
      <p:sp>
        <p:nvSpPr>
          <p:cNvPr id="20" name="!!c_script"/>
          <p:cNvSpPr txBox="1"/>
          <p:nvPr/>
        </p:nvSpPr>
        <p:spPr>
          <a:xfrm>
            <a:off x="1097280" y="4846320"/>
            <a:ext cx="5486400" cy="7315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600" b="1" i="0">
                <a:solidFill>
                  <a:srgbClr val="3B2416"/>
                </a:solidFill>
                <a:effectLst>
                  <a:outerShdw blurRad="91440" dist="27432" dir="5400000" algn="ctr" rotWithShape="0">
                    <a:srgbClr val="FFFFFF">
                      <a:alpha val="30000"/>
                    </a:srgbClr>
                  </a:outerShdw>
                </a:effectLst>
                <a:latin typeface="Dancing Script"/>
                <a:ea typeface="Dancing Script"/>
                <a:cs typeface="Dancing Script"/>
              </a:rPr>
              <a:t>Bữa sáng</a:t>
            </a:r>
          </a:p>
        </p:txBody>
      </p:sp>
      <p:sp>
        <p:nvSpPr>
          <p:cNvPr id="21" name="!!c_text"/>
          <p:cNvSpPr txBox="1"/>
          <p:nvPr/>
        </p:nvSpPr>
        <p:spPr>
          <a:xfrm>
            <a:off x="548640" y="562356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 i="0">
                <a:solidFill>
                  <a:srgbClr val="3B2416"/>
                </a:solidFill>
                <a:latin typeface="Mulish"/>
                <a:ea typeface="Mulish"/>
                <a:cs typeface="Mulish"/>
              </a:rPr>
              <a:t>Yến mạch, hạt và trái cây sấy — </a:t>
            </a:r>
            <a:r>
              <a:rPr sz="1050" b="0" i="0">
                <a:solidFill>
                  <a:srgbClr val="B5172F"/>
                </a:solidFill>
                <a:latin typeface="Mulish ExtraBold"/>
                <a:ea typeface="Mulish ExtraBold"/>
                <a:cs typeface="Mulish ExtraBold"/>
              </a:rPr>
              <a:t>bữa sáng nhanh</a:t>
            </a:r>
            <a:r>
              <a:rPr sz="1050" b="0" i="0">
                <a:solidFill>
                  <a:srgbClr val="3B2416"/>
                </a:solidFill>
                <a:latin typeface="Mulish"/>
                <a:ea typeface="Mulish"/>
                <a:cs typeface="Mulish"/>
              </a:rPr>
              <a:t> và đủ chất.</a:t>
            </a:r>
          </a:p>
        </p:txBody>
      </p:sp>
      <p:pic>
        <p:nvPicPr>
          <p:cNvPr id="22" name="!!t_0" descr="prod_chuoi.png"/>
          <p:cNvPicPr>
            <a:picLocks noChangeAspect="1"/>
          </p:cNvPicPr>
          <p:nvPr/>
        </p:nvPicPr>
        <p:blipFill>
          <a:blip r:embed="rId12"/>
          <a:srcRect t="10979" b="10979"/>
          <a:stretch>
            <a:fillRect/>
          </a:stretch>
        </p:blipFill>
        <p:spPr>
          <a:xfrm>
            <a:off x="10051999" y="5788152"/>
            <a:ext cx="457200" cy="566928"/>
          </a:xfrm>
          <a:prstGeom prst="rect">
            <a:avLst/>
          </a:prstGeom>
        </p:spPr>
      </p:pic>
      <p:pic>
        <p:nvPicPr>
          <p:cNvPr id="23" name="!!t_1" descr="prod_hat.png"/>
          <p:cNvPicPr>
            <a:picLocks noChangeAspect="1"/>
          </p:cNvPicPr>
          <p:nvPr/>
        </p:nvPicPr>
        <p:blipFill>
          <a:blip r:embed="rId13"/>
          <a:srcRect t="10979" b="10979"/>
          <a:stretch>
            <a:fillRect/>
          </a:stretch>
        </p:blipFill>
        <p:spPr>
          <a:xfrm>
            <a:off x="10618927" y="5788152"/>
            <a:ext cx="457200" cy="566928"/>
          </a:xfrm>
          <a:prstGeom prst="rect">
            <a:avLst/>
          </a:prstGeom>
        </p:spPr>
      </p:pic>
      <p:pic>
        <p:nvPicPr>
          <p:cNvPr id="24" name="!!t_2" descr="prod_ngucoc.png"/>
          <p:cNvPicPr>
            <a:picLocks noChangeAspect="1"/>
          </p:cNvPicPr>
          <p:nvPr/>
        </p:nvPicPr>
        <p:blipFill>
          <a:blip r:embed="rId11"/>
          <a:srcRect t="10979" b="10979"/>
          <a:stretch>
            <a:fillRect/>
          </a:stretch>
        </p:blipFill>
        <p:spPr>
          <a:xfrm>
            <a:off x="11185855" y="5788152"/>
            <a:ext cx="457200" cy="566928"/>
          </a:xfrm>
          <a:prstGeom prst="rect">
            <a:avLst/>
          </a:prstGeom>
        </p:spPr>
      </p:pic>
      <p:sp>
        <p:nvSpPr>
          <p:cNvPr id="25" name="!!t_ind"/>
          <p:cNvSpPr/>
          <p:nvPr/>
        </p:nvSpPr>
        <p:spPr>
          <a:xfrm>
            <a:off x="11185855" y="6446520"/>
            <a:ext cx="457200" cy="45720"/>
          </a:xfrm>
          <a:prstGeom prst="rect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11535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9C8A78"/>
                </a:solidFill>
                <a:latin typeface="Mulish SemiBold"/>
                <a:ea typeface="Mulish SemiBold"/>
                <a:cs typeface="Mulish SemiBold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1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E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paper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nav_logo" descr="wheat_B517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4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12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HERAGRAIN</a:t>
            </a:r>
          </a:p>
        </p:txBody>
      </p:sp>
      <p:sp>
        <p:nvSpPr>
          <p:cNvPr id="5" name="!!nav_m0"/>
          <p:cNvSpPr txBox="1"/>
          <p:nvPr/>
        </p:nvSpPr>
        <p:spPr>
          <a:xfrm>
            <a:off x="3931920" y="246888"/>
            <a:ext cx="91033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Về chúng tôi</a:t>
            </a:r>
          </a:p>
        </p:txBody>
      </p:sp>
      <p:sp>
        <p:nvSpPr>
          <p:cNvPr id="6" name="!!nav_m1"/>
          <p:cNvSpPr txBox="1"/>
          <p:nvPr/>
        </p:nvSpPr>
        <p:spPr>
          <a:xfrm>
            <a:off x="5253732" y="246888"/>
            <a:ext cx="777379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Sản phẩm</a:t>
            </a:r>
          </a:p>
        </p:txBody>
      </p:sp>
      <p:sp>
        <p:nvSpPr>
          <p:cNvPr id="7" name="!!nav_m2"/>
          <p:cNvSpPr txBox="1"/>
          <p:nvPr/>
        </p:nvSpPr>
        <p:spPr>
          <a:xfrm>
            <a:off x="6442591" y="246888"/>
            <a:ext cx="71631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Quy trình</a:t>
            </a:r>
          </a:p>
        </p:txBody>
      </p:sp>
      <p:sp>
        <p:nvSpPr>
          <p:cNvPr id="8" name="!!nav_m3"/>
          <p:cNvSpPr txBox="1"/>
          <p:nvPr/>
        </p:nvSpPr>
        <p:spPr>
          <a:xfrm>
            <a:off x="7570381" y="246888"/>
            <a:ext cx="583347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Liên hệ</a:t>
            </a:r>
          </a:p>
        </p:txBody>
      </p:sp>
      <p:sp>
        <p:nvSpPr>
          <p:cNvPr id="9" name="!!nav_ind"/>
          <p:cNvSpPr/>
          <p:nvPr/>
        </p:nvSpPr>
        <p:spPr>
          <a:xfrm>
            <a:off x="5253732" y="603504"/>
            <a:ext cx="685939" cy="32004"/>
          </a:xfrm>
          <a:prstGeom prst="rect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!!nav_i0" descr="search_3B24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1" name="!!nav_i1" descr="user-round_3B24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2" name="!!nav_i2" descr="shopping-bag_3B24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sp>
        <p:nvSpPr>
          <p:cNvPr id="13" name="!!h_title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32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VÌ SAO CHỌN</a:t>
            </a:r>
          </a:p>
        </p:txBody>
      </p:sp>
      <p:sp>
        <p:nvSpPr>
          <p:cNvPr id="14" name="!!h_script"/>
          <p:cNvSpPr txBox="1"/>
          <p:nvPr/>
        </p:nvSpPr>
        <p:spPr>
          <a:xfrm>
            <a:off x="548640" y="1252728"/>
            <a:ext cx="11094415" cy="685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3000" b="1" i="0">
                <a:solidFill>
                  <a:srgbClr val="3B2416"/>
                </a:solidFill>
                <a:latin typeface="Dancing Script"/>
                <a:ea typeface="Dancing Script"/>
                <a:cs typeface="Dancing Script"/>
              </a:rPr>
              <a:t>Heragrain</a:t>
            </a:r>
          </a:p>
        </p:txBody>
      </p:sp>
      <p:pic>
        <p:nvPicPr>
          <p:cNvPr id="15" name="Picture 14" descr="glow_E8A93A_45_1.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92728" y="2103120"/>
            <a:ext cx="4206240" cy="4206240"/>
          </a:xfrm>
          <a:prstGeom prst="rect">
            <a:avLst/>
          </a:prstGeom>
        </p:spPr>
      </p:pic>
      <p:pic>
        <p:nvPicPr>
          <p:cNvPr id="16" name="!!p_xoai" descr="prod_xoai.png"/>
          <p:cNvPicPr>
            <a:picLocks noChangeAspect="1"/>
          </p:cNvPicPr>
          <p:nvPr/>
        </p:nvPicPr>
        <p:blipFill>
          <a:blip r:embed="rId8"/>
          <a:srcRect l="0" r="0"/>
          <a:stretch>
            <a:fillRect/>
          </a:stretch>
        </p:blipFill>
        <p:spPr>
          <a:xfrm rot="21360000">
            <a:off x="4772206" y="2194560"/>
            <a:ext cx="2647284" cy="4206240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566928" y="2167128"/>
            <a:ext cx="658368" cy="658368"/>
          </a:xfrm>
          <a:prstGeom prst="ellipse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eaf_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" y="2331720"/>
            <a:ext cx="329184" cy="32918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371600" y="2167128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0" i="0">
                <a:solidFill>
                  <a:srgbClr val="3B2416"/>
                </a:solidFill>
                <a:latin typeface="Mulish ExtraBold"/>
                <a:ea typeface="Mulish ExtraBold"/>
                <a:cs typeface="Mulish ExtraBold"/>
              </a:rPr>
              <a:t>Nguyên liệu sạch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256032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Thu mua trực tiếp từ vùng trồng của thành viên HTX.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160520" y="2496312"/>
            <a:ext cx="746608" cy="365760"/>
          </a:xfrm>
          <a:prstGeom prst="line">
            <a:avLst/>
          </a:prstGeom>
          <a:ln w="12700">
            <a:solidFill>
              <a:srgbClr val="B5172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852264" y="2807208"/>
            <a:ext cx="109728" cy="109728"/>
          </a:xfrm>
          <a:prstGeom prst="ellipse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6928" y="4361688"/>
            <a:ext cx="658368" cy="658368"/>
          </a:xfrm>
          <a:prstGeom prst="ellipse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un_FFFFF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520" y="4526280"/>
            <a:ext cx="329184" cy="32918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71600" y="4361688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0" i="0">
                <a:solidFill>
                  <a:srgbClr val="3B2416"/>
                </a:solidFill>
                <a:latin typeface="Mulish ExtraBold"/>
                <a:ea typeface="Mulish ExtraBold"/>
                <a:cs typeface="Mulish ExtraBold"/>
              </a:rPr>
              <a:t>Sấy lạnh hiện đại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75488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Giữ màu, mùi và vitamin tốt hơn sấy nhiệt thông thường.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4160520" y="4416552"/>
            <a:ext cx="746608" cy="274320"/>
          </a:xfrm>
          <a:prstGeom prst="line">
            <a:avLst/>
          </a:prstGeom>
          <a:ln w="12700">
            <a:solidFill>
              <a:srgbClr val="B5172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4852264" y="4361688"/>
            <a:ext cx="109728" cy="109728"/>
          </a:xfrm>
          <a:prstGeom prst="ellipse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966399" y="2167128"/>
            <a:ext cx="658368" cy="658368"/>
          </a:xfrm>
          <a:prstGeom prst="ellipse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hield-check_FFFFF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30991" y="2331720"/>
            <a:ext cx="329184" cy="32918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076895" y="2167128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500" b="0" i="0">
                <a:solidFill>
                  <a:srgbClr val="3B2416"/>
                </a:solidFill>
                <a:latin typeface="Mulish ExtraBold"/>
                <a:ea typeface="Mulish ExtraBold"/>
                <a:cs typeface="Mulish ExtraBold"/>
              </a:rPr>
              <a:t>An toàn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76895" y="256032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Không phẩm màu, không chất bảo quản.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7284568" y="2496312"/>
            <a:ext cx="746607" cy="365760"/>
          </a:xfrm>
          <a:prstGeom prst="line">
            <a:avLst/>
          </a:prstGeom>
          <a:ln w="12700">
            <a:solidFill>
              <a:srgbClr val="B5172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7229704" y="2807208"/>
            <a:ext cx="109728" cy="109728"/>
          </a:xfrm>
          <a:prstGeom prst="ellipse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966399" y="4361688"/>
            <a:ext cx="658368" cy="658368"/>
          </a:xfrm>
          <a:prstGeom prst="ellipse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package-open_FFFFF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30991" y="4526280"/>
            <a:ext cx="329184" cy="32918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076895" y="4361688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1500" b="0" i="0">
                <a:solidFill>
                  <a:srgbClr val="3B2416"/>
                </a:solidFill>
                <a:latin typeface="Mulish ExtraBold"/>
                <a:ea typeface="Mulish ExtraBold"/>
                <a:cs typeface="Mulish ExtraBold"/>
              </a:rPr>
              <a:t>Tiện lợi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6895" y="475488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Túi zip nhỏ gọn, bảo quản dễ dàng.</a:t>
            </a:r>
          </a:p>
        </p:txBody>
      </p:sp>
      <p:cxnSp>
        <p:nvCxnSpPr>
          <p:cNvPr id="39" name="Connector 38"/>
          <p:cNvCxnSpPr/>
          <p:nvPr/>
        </p:nvCxnSpPr>
        <p:spPr>
          <a:xfrm flipH="1" flipV="1">
            <a:off x="7284568" y="4416552"/>
            <a:ext cx="746607" cy="274320"/>
          </a:xfrm>
          <a:prstGeom prst="line">
            <a:avLst/>
          </a:prstGeom>
          <a:ln w="12700">
            <a:solidFill>
              <a:srgbClr val="B5172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7229704" y="4361688"/>
            <a:ext cx="109728" cy="109728"/>
          </a:xfrm>
          <a:prstGeom prst="ellipse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911535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9C8A78"/>
                </a:solidFill>
                <a:latin typeface="Mulish SemiBold"/>
                <a:ea typeface="Mulish SemiBold"/>
                <a:cs typeface="Mulish SemiBold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8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8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8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8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4" grpId="0" animBg="1"/>
      <p:bldP spid="17" grpId="0" animBg="1"/>
      <p:bldP spid="19" grpId="0" animBg="1"/>
      <p:bldP spid="20" grpId="0" animBg="1"/>
      <p:bldP spid="22" grpId="0" animBg="1"/>
      <p:bldP spid="23" grpId="0" animBg="1"/>
      <p:bldP spid="25" grpId="0" animBg="1"/>
      <p:bldP spid="26" grpId="0" animBg="1"/>
      <p:bldP spid="28" grpId="0" animBg="1"/>
      <p:bldP spid="29" grpId="0" animBg="1"/>
      <p:bldP spid="31" grpId="0" animBg="1"/>
      <p:bldP spid="32" grpId="0" animBg="1"/>
      <p:bldP spid="34" grpId="0" animBg="1"/>
      <p:bldP spid="35" grpId="0" animBg="1"/>
      <p:bldP spid="37" grpId="0" animBg="1"/>
      <p:bldP spid="38" grpId="0" animBg="1"/>
      <p:bldP spid="40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E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paper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nav_logo" descr="wheat_B517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4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12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HERAGRAIN</a:t>
            </a:r>
          </a:p>
        </p:txBody>
      </p:sp>
      <p:sp>
        <p:nvSpPr>
          <p:cNvPr id="5" name="!!nav_m0"/>
          <p:cNvSpPr txBox="1"/>
          <p:nvPr/>
        </p:nvSpPr>
        <p:spPr>
          <a:xfrm>
            <a:off x="3931920" y="246888"/>
            <a:ext cx="91033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Về chúng tôi</a:t>
            </a:r>
          </a:p>
        </p:txBody>
      </p:sp>
      <p:sp>
        <p:nvSpPr>
          <p:cNvPr id="6" name="!!nav_m1"/>
          <p:cNvSpPr txBox="1"/>
          <p:nvPr/>
        </p:nvSpPr>
        <p:spPr>
          <a:xfrm>
            <a:off x="5253732" y="246888"/>
            <a:ext cx="777379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Sản phẩm</a:t>
            </a:r>
          </a:p>
        </p:txBody>
      </p:sp>
      <p:sp>
        <p:nvSpPr>
          <p:cNvPr id="7" name="!!nav_m2"/>
          <p:cNvSpPr txBox="1"/>
          <p:nvPr/>
        </p:nvSpPr>
        <p:spPr>
          <a:xfrm>
            <a:off x="6442591" y="246888"/>
            <a:ext cx="71631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Quy trình</a:t>
            </a:r>
          </a:p>
        </p:txBody>
      </p:sp>
      <p:sp>
        <p:nvSpPr>
          <p:cNvPr id="8" name="!!nav_m3"/>
          <p:cNvSpPr txBox="1"/>
          <p:nvPr/>
        </p:nvSpPr>
        <p:spPr>
          <a:xfrm>
            <a:off x="7570381" y="246888"/>
            <a:ext cx="583347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Liên hệ</a:t>
            </a:r>
          </a:p>
        </p:txBody>
      </p:sp>
      <p:sp>
        <p:nvSpPr>
          <p:cNvPr id="9" name="!!nav_ind"/>
          <p:cNvSpPr/>
          <p:nvPr/>
        </p:nvSpPr>
        <p:spPr>
          <a:xfrm>
            <a:off x="5253732" y="603504"/>
            <a:ext cx="685939" cy="32004"/>
          </a:xfrm>
          <a:prstGeom prst="rect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!!nav_i0" descr="search_3B24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1" name="!!nav_i1" descr="user-round_3B24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2" name="!!nav_i2" descr="shopping-bag_3B24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pic>
        <p:nvPicPr>
          <p:cNvPr id="13" name="!!p_xoai" descr="prod_xoai.png"/>
          <p:cNvPicPr>
            <a:picLocks noChangeAspect="1"/>
          </p:cNvPicPr>
          <p:nvPr/>
        </p:nvPicPr>
        <p:blipFill>
          <a:blip r:embed="rId7"/>
          <a:srcRect t="0" b="0"/>
          <a:stretch>
            <a:fillRect/>
          </a:stretch>
        </p:blipFill>
        <p:spPr>
          <a:xfrm rot="21300000">
            <a:off x="1509399" y="1417320"/>
            <a:ext cx="3107681" cy="4937760"/>
          </a:xfrm>
          <a:prstGeom prst="rect">
            <a:avLst/>
          </a:prstGeom>
        </p:spPr>
      </p:pic>
      <p:sp>
        <p:nvSpPr>
          <p:cNvPr id="14" name="!!h_title"/>
          <p:cNvSpPr txBox="1"/>
          <p:nvPr/>
        </p:nvSpPr>
        <p:spPr>
          <a:xfrm>
            <a:off x="5760720" y="914400"/>
            <a:ext cx="5882335" cy="685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90000"/>
              </a:lnSpc>
            </a:pPr>
            <a:r>
              <a:rPr sz="36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THÔNG TIN SẢN PHẨM</a:t>
            </a:r>
          </a:p>
        </p:txBody>
      </p:sp>
      <p:sp>
        <p:nvSpPr>
          <p:cNvPr id="15" name="!!h_script"/>
          <p:cNvSpPr txBox="1"/>
          <p:nvPr/>
        </p:nvSpPr>
        <p:spPr>
          <a:xfrm>
            <a:off x="6126480" y="1371600"/>
            <a:ext cx="5882335" cy="6400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1" i="0">
                <a:solidFill>
                  <a:srgbClr val="3B2416"/>
                </a:solidFill>
                <a:latin typeface="Dancing Script"/>
                <a:ea typeface="Dancing Script"/>
                <a:cs typeface="Dancing Script"/>
              </a:rPr>
              <a:t>Xoài sấy dẻo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760720" y="2194560"/>
          <a:ext cx="5882335" cy="27432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08546"/>
                <a:gridCol w="2673789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Thông tin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E8DCC8"/>
                      </a:solidFill>
                    </a:lnL>
                    <a:lnR w="9525">
                      <a:solidFill>
                        <a:srgbClr val="E8DCC8"/>
                      </a:solidFill>
                    </a:lnR>
                    <a:lnT w="9525">
                      <a:solidFill>
                        <a:srgbClr val="E8DCC8"/>
                      </a:solidFill>
                    </a:lnT>
                    <a:lnB w="9525">
                      <a:solidFill>
                        <a:srgbClr val="E8DCC8"/>
                      </a:solidFill>
                    </a:lnB>
                    <a:solidFill>
                      <a:srgbClr val="B517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Chi tiết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E8DCC8"/>
                      </a:solidFill>
                    </a:lnL>
                    <a:lnR w="9525">
                      <a:solidFill>
                        <a:srgbClr val="E8DCC8"/>
                      </a:solidFill>
                    </a:lnR>
                    <a:lnT w="9525">
                      <a:solidFill>
                        <a:srgbClr val="E8DCC8"/>
                      </a:solidFill>
                    </a:lnT>
                    <a:lnB w="9525">
                      <a:solidFill>
                        <a:srgbClr val="E8DCC8"/>
                      </a:solidFill>
                    </a:lnB>
                    <a:solidFill>
                      <a:srgbClr val="B5172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B2416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Thành phần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E8DCC8"/>
                      </a:solidFill>
                    </a:lnL>
                    <a:lnR w="9525">
                      <a:solidFill>
                        <a:srgbClr val="E8DCC8"/>
                      </a:solidFill>
                    </a:lnR>
                    <a:lnT w="9525">
                      <a:solidFill>
                        <a:srgbClr val="E8DCC8"/>
                      </a:solidFill>
                    </a:lnT>
                    <a:lnB w="9525">
                      <a:solidFill>
                        <a:srgbClr val="E8DCC8"/>
                      </a:solidFill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3B2416"/>
                          </a:solidFill>
                          <a:latin typeface="Montserrat"/>
                          <a:ea typeface="Montserrat"/>
                          <a:cs typeface="Montserrat"/>
                        </a:rPr>
                        <a:t>100% xoài cát chín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E8DCC8"/>
                      </a:solidFill>
                    </a:lnL>
                    <a:lnR w="9525">
                      <a:solidFill>
                        <a:srgbClr val="E8DCC8"/>
                      </a:solidFill>
                    </a:lnR>
                    <a:lnT w="9525">
                      <a:solidFill>
                        <a:srgbClr val="E8DCC8"/>
                      </a:solidFill>
                    </a:lnT>
                    <a:lnB w="9525">
                      <a:solidFill>
                        <a:srgbClr val="E8DCC8"/>
                      </a:solidFill>
                    </a:lnB>
                    <a:solidFill>
                      <a:srgbClr val="FFF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B2416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Khối lượng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E8DCC8"/>
                      </a:solidFill>
                    </a:lnL>
                    <a:lnR w="9525">
                      <a:solidFill>
                        <a:srgbClr val="E8DCC8"/>
                      </a:solidFill>
                    </a:lnR>
                    <a:lnT w="9525">
                      <a:solidFill>
                        <a:srgbClr val="E8DCC8"/>
                      </a:solidFill>
                    </a:lnT>
                    <a:lnB w="9525">
                      <a:solidFill>
                        <a:srgbClr val="E8DCC8"/>
                      </a:solidFill>
                    </a:lnB>
                    <a:solidFill>
                      <a:srgbClr val="FBF6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3B2416"/>
                          </a:solidFill>
                          <a:latin typeface="Montserrat"/>
                          <a:ea typeface="Montserrat"/>
                          <a:cs typeface="Montserrat"/>
                        </a:rPr>
                        <a:t>200 g / túi zip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E8DCC8"/>
                      </a:solidFill>
                    </a:lnL>
                    <a:lnR w="9525">
                      <a:solidFill>
                        <a:srgbClr val="E8DCC8"/>
                      </a:solidFill>
                    </a:lnR>
                    <a:lnT w="9525">
                      <a:solidFill>
                        <a:srgbClr val="E8DCC8"/>
                      </a:solidFill>
                    </a:lnT>
                    <a:lnB w="9525">
                      <a:solidFill>
                        <a:srgbClr val="E8DCC8"/>
                      </a:solidFill>
                    </a:lnB>
                    <a:solidFill>
                      <a:srgbClr val="FBF6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B2416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Hạn sử dụng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E8DCC8"/>
                      </a:solidFill>
                    </a:lnL>
                    <a:lnR w="9525">
                      <a:solidFill>
                        <a:srgbClr val="E8DCC8"/>
                      </a:solidFill>
                    </a:lnR>
                    <a:lnT w="9525">
                      <a:solidFill>
                        <a:srgbClr val="E8DCC8"/>
                      </a:solidFill>
                    </a:lnT>
                    <a:lnB w="9525">
                      <a:solidFill>
                        <a:srgbClr val="E8DCC8"/>
                      </a:solidFill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3B2416"/>
                          </a:solidFill>
                          <a:latin typeface="Montserrat"/>
                          <a:ea typeface="Montserrat"/>
                          <a:cs typeface="Montserrat"/>
                        </a:rPr>
                        <a:t>12 tháng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E8DCC8"/>
                      </a:solidFill>
                    </a:lnL>
                    <a:lnR w="9525">
                      <a:solidFill>
                        <a:srgbClr val="E8DCC8"/>
                      </a:solidFill>
                    </a:lnR>
                    <a:lnT w="9525">
                      <a:solidFill>
                        <a:srgbClr val="E8DCC8"/>
                      </a:solidFill>
                    </a:lnT>
                    <a:lnB w="9525">
                      <a:solidFill>
                        <a:srgbClr val="E8DCC8"/>
                      </a:solidFill>
                    </a:lnB>
                    <a:solidFill>
                      <a:srgbClr val="FFF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B2416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Bảo quản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E8DCC8"/>
                      </a:solidFill>
                    </a:lnL>
                    <a:lnR w="9525">
                      <a:solidFill>
                        <a:srgbClr val="E8DCC8"/>
                      </a:solidFill>
                    </a:lnR>
                    <a:lnT w="9525">
                      <a:solidFill>
                        <a:srgbClr val="E8DCC8"/>
                      </a:solidFill>
                    </a:lnT>
                    <a:lnB w="9525">
                      <a:solidFill>
                        <a:srgbClr val="E8DCC8"/>
                      </a:solidFill>
                    </a:lnB>
                    <a:solidFill>
                      <a:srgbClr val="FBF6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3B2416"/>
                          </a:solidFill>
                          <a:latin typeface="Montserrat"/>
                          <a:ea typeface="Montserrat"/>
                          <a:cs typeface="Montserrat"/>
                        </a:rPr>
                        <a:t>Nơi khô ráo, thoáng mát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E8DCC8"/>
                      </a:solidFill>
                    </a:lnL>
                    <a:lnR w="9525">
                      <a:solidFill>
                        <a:srgbClr val="E8DCC8"/>
                      </a:solidFill>
                    </a:lnR>
                    <a:lnT w="9525">
                      <a:solidFill>
                        <a:srgbClr val="E8DCC8"/>
                      </a:solidFill>
                    </a:lnT>
                    <a:lnB w="9525">
                      <a:solidFill>
                        <a:srgbClr val="E8DCC8"/>
                      </a:solidFill>
                    </a:lnB>
                    <a:solidFill>
                      <a:srgbClr val="FBF6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3B2416"/>
                          </a:solidFill>
                          <a:latin typeface="Montserrat SemiBold"/>
                          <a:ea typeface="Montserrat SemiBold"/>
                          <a:cs typeface="Montserrat SemiBold"/>
                        </a:rPr>
                        <a:t>Tiêu chuẩn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E8DCC8"/>
                      </a:solidFill>
                    </a:lnL>
                    <a:lnR w="9525">
                      <a:solidFill>
                        <a:srgbClr val="E8DCC8"/>
                      </a:solidFill>
                    </a:lnR>
                    <a:lnT w="9525">
                      <a:solidFill>
                        <a:srgbClr val="E8DCC8"/>
                      </a:solidFill>
                    </a:lnT>
                    <a:lnB w="9525">
                      <a:solidFill>
                        <a:srgbClr val="E8DCC8"/>
                      </a:solidFill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3B2416"/>
                          </a:solidFill>
                          <a:latin typeface="Montserrat"/>
                          <a:ea typeface="Montserrat"/>
                          <a:cs typeface="Montserrat"/>
                        </a:rPr>
                        <a:t>[TCCS / OCOP …]</a:t>
                      </a:r>
                    </a:p>
                  </a:txBody>
                  <a:tcPr marL="91440" marR="91440" marT="27432" marB="27432" anchor="ctr">
                    <a:lnL w="9525">
                      <a:solidFill>
                        <a:srgbClr val="E8DCC8"/>
                      </a:solidFill>
                    </a:lnL>
                    <a:lnR w="9525">
                      <a:solidFill>
                        <a:srgbClr val="E8DCC8"/>
                      </a:solidFill>
                    </a:lnR>
                    <a:lnT w="9525">
                      <a:solidFill>
                        <a:srgbClr val="E8DCC8"/>
                      </a:solidFill>
                    </a:lnT>
                    <a:lnB w="9525">
                      <a:solidFill>
                        <a:srgbClr val="E8DCC8"/>
                      </a:solidFill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760720" y="5029200"/>
            <a:ext cx="5882335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050" b="0" i="0">
                <a:solidFill>
                  <a:srgbClr val="9C8A78"/>
                </a:solidFill>
                <a:latin typeface="Mulish"/>
                <a:ea typeface="Mulish"/>
                <a:cs typeface="Mulish"/>
              </a:rPr>
              <a:t>Thông tin </a:t>
            </a:r>
            <a:r>
              <a:rPr sz="1050" b="0" i="0">
                <a:solidFill>
                  <a:srgbClr val="B5172F"/>
                </a:solidFill>
                <a:latin typeface="Mulish ExtraBold"/>
                <a:ea typeface="Mulish ExtraBold"/>
                <a:cs typeface="Mulish ExtraBold"/>
              </a:rPr>
              <a:t>minh họa</a:t>
            </a:r>
            <a:r>
              <a:rPr sz="1050" b="0" i="0">
                <a:solidFill>
                  <a:srgbClr val="9C8A78"/>
                </a:solidFill>
                <a:latin typeface="Mulish"/>
                <a:ea typeface="Mulish"/>
                <a:cs typeface="Mulish"/>
              </a:rPr>
              <a:t> — thay bằng nhãn và hồ sơ công bố sản phẩm của HTX.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11535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9C8A78"/>
                </a:solidFill>
                <a:latin typeface="Mulish SemiBold"/>
                <a:ea typeface="Mulish SemiBold"/>
                <a:cs typeface="Mulish SemiBold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8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8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1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4" grpId="0" animBg="1"/>
      <p:bldP spid="15" grpId="0" animBg="1"/>
      <p:bldGraphic spid="16" grpId="0">
        <p:bldAsOne/>
      </p:bldGraphic>
      <p:bldP spid="17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E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paper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nav_logo" descr="wheat_B517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4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12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HERAGRAIN</a:t>
            </a:r>
          </a:p>
        </p:txBody>
      </p:sp>
      <p:sp>
        <p:nvSpPr>
          <p:cNvPr id="5" name="!!nav_m0"/>
          <p:cNvSpPr txBox="1"/>
          <p:nvPr/>
        </p:nvSpPr>
        <p:spPr>
          <a:xfrm>
            <a:off x="3931920" y="246888"/>
            <a:ext cx="91033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Về chúng tôi</a:t>
            </a:r>
          </a:p>
        </p:txBody>
      </p:sp>
      <p:sp>
        <p:nvSpPr>
          <p:cNvPr id="6" name="!!nav_m1"/>
          <p:cNvSpPr txBox="1"/>
          <p:nvPr/>
        </p:nvSpPr>
        <p:spPr>
          <a:xfrm>
            <a:off x="5253732" y="246888"/>
            <a:ext cx="777379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Sản phẩm</a:t>
            </a:r>
          </a:p>
        </p:txBody>
      </p:sp>
      <p:sp>
        <p:nvSpPr>
          <p:cNvPr id="7" name="!!nav_m2"/>
          <p:cNvSpPr txBox="1"/>
          <p:nvPr/>
        </p:nvSpPr>
        <p:spPr>
          <a:xfrm>
            <a:off x="6442591" y="246888"/>
            <a:ext cx="71631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Quy trình</a:t>
            </a:r>
          </a:p>
        </p:txBody>
      </p:sp>
      <p:sp>
        <p:nvSpPr>
          <p:cNvPr id="8" name="!!nav_m3"/>
          <p:cNvSpPr txBox="1"/>
          <p:nvPr/>
        </p:nvSpPr>
        <p:spPr>
          <a:xfrm>
            <a:off x="7570381" y="246888"/>
            <a:ext cx="583347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Liên hệ</a:t>
            </a:r>
          </a:p>
        </p:txBody>
      </p:sp>
      <p:sp>
        <p:nvSpPr>
          <p:cNvPr id="9" name="!!nav_ind"/>
          <p:cNvSpPr/>
          <p:nvPr/>
        </p:nvSpPr>
        <p:spPr>
          <a:xfrm>
            <a:off x="6442591" y="603504"/>
            <a:ext cx="624870" cy="32004"/>
          </a:xfrm>
          <a:prstGeom prst="rect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!!nav_i0" descr="search_3B24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1" name="!!nav_i1" descr="user-round_3B24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2" name="!!nav_i2" descr="shopping-bag_3B24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sp>
        <p:nvSpPr>
          <p:cNvPr id="13" name="!!h_title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32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QUY TRÌNH</a:t>
            </a:r>
          </a:p>
        </p:txBody>
      </p:sp>
      <p:sp>
        <p:nvSpPr>
          <p:cNvPr id="14" name="!!h_script"/>
          <p:cNvSpPr txBox="1"/>
          <p:nvPr/>
        </p:nvSpPr>
        <p:spPr>
          <a:xfrm>
            <a:off x="548640" y="1252728"/>
            <a:ext cx="11094415" cy="685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3000" b="1" i="0">
                <a:solidFill>
                  <a:srgbClr val="3B2416"/>
                </a:solidFill>
                <a:latin typeface="Dancing Script"/>
                <a:ea typeface="Dancing Script"/>
                <a:cs typeface="Dancing Script"/>
              </a:rPr>
              <a:t>sản xuất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8082" y="2880360"/>
            <a:ext cx="8875532" cy="0"/>
          </a:xfrm>
          <a:prstGeom prst="line">
            <a:avLst/>
          </a:prstGeom>
          <a:ln w="25400">
            <a:solidFill>
              <a:srgbClr val="B5172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155162" y="2377440"/>
            <a:ext cx="1005840" cy="1005840"/>
          </a:xfrm>
          <a:prstGeom prst="ellipse">
            <a:avLst/>
          </a:prstGeom>
          <a:solidFill>
            <a:srgbClr val="FFFDF8"/>
          </a:solidFill>
          <a:ln w="25400">
            <a:solidFill>
              <a:srgbClr val="B5172F"/>
            </a:solidFill>
          </a:ln>
          <a:effectLst>
            <a:outerShdw blurRad="182880" dist="45720" dir="5400000" algn="ctr" rotWithShape="0">
              <a:srgbClr val="3B2A2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pple_B5172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02050" y="2624328"/>
            <a:ext cx="512064" cy="512064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1859250" y="2286000"/>
            <a:ext cx="347472" cy="347472"/>
          </a:xfrm>
          <a:prstGeom prst="ellipse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0" i="0">
                <a:solidFill>
                  <a:srgbClr val="FFFFFF"/>
                </a:solidFill>
                <a:latin typeface="Mulish ExtraBold"/>
                <a:ea typeface="Mulish ExtraBold"/>
                <a:cs typeface="Mulish ExtraBold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3566160"/>
            <a:ext cx="2072579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3B2416"/>
                </a:solidFill>
                <a:latin typeface="Mulish ExtraBold"/>
                <a:ea typeface="Mulish ExtraBold"/>
                <a:cs typeface="Mulish ExtraBold"/>
              </a:rPr>
              <a:t>Tuyển chọn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60520"/>
            <a:ext cx="2036003" cy="182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Trái chín đều, không dập, đúng độ chín.</a:t>
            </a:r>
          </a:p>
        </p:txBody>
      </p:sp>
      <p:sp>
        <p:nvSpPr>
          <p:cNvPr id="21" name="Oval 20"/>
          <p:cNvSpPr/>
          <p:nvPr/>
        </p:nvSpPr>
        <p:spPr>
          <a:xfrm>
            <a:off x="3374045" y="2377440"/>
            <a:ext cx="1005840" cy="1005840"/>
          </a:xfrm>
          <a:prstGeom prst="ellipse">
            <a:avLst/>
          </a:prstGeom>
          <a:solidFill>
            <a:srgbClr val="FFFDF8"/>
          </a:solidFill>
          <a:ln w="25400">
            <a:solidFill>
              <a:srgbClr val="B5172F"/>
            </a:solidFill>
          </a:ln>
          <a:effectLst>
            <a:outerShdw blurRad="182880" dist="45720" dir="5400000" algn="ctr" rotWithShape="0">
              <a:srgbClr val="3B2A2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roplets_B5172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0933" y="2624328"/>
            <a:ext cx="512064" cy="512064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4078133" y="2286000"/>
            <a:ext cx="347472" cy="347472"/>
          </a:xfrm>
          <a:prstGeom prst="ellipse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0" i="0">
                <a:solidFill>
                  <a:srgbClr val="FFFFFF"/>
                </a:solidFill>
                <a:latin typeface="Mulish ExtraBold"/>
                <a:ea typeface="Mulish ExtraBold"/>
                <a:cs typeface="Mulish ExtraBold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40675" y="3566160"/>
            <a:ext cx="2072579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3B2416"/>
                </a:solidFill>
                <a:latin typeface="Mulish ExtraBold"/>
                <a:ea typeface="Mulish ExtraBold"/>
                <a:cs typeface="Mulish ExtraBold"/>
              </a:rPr>
              <a:t>Sơ chế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58963" y="4160520"/>
            <a:ext cx="2036003" cy="182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Rửa sạch, gọt, cắt lát đều tay.</a:t>
            </a:r>
          </a:p>
        </p:txBody>
      </p:sp>
      <p:sp>
        <p:nvSpPr>
          <p:cNvPr id="26" name="Oval 25"/>
          <p:cNvSpPr/>
          <p:nvPr/>
        </p:nvSpPr>
        <p:spPr>
          <a:xfrm>
            <a:off x="5592928" y="2377440"/>
            <a:ext cx="1005840" cy="1005840"/>
          </a:xfrm>
          <a:prstGeom prst="ellipse">
            <a:avLst/>
          </a:prstGeom>
          <a:solidFill>
            <a:srgbClr val="FFFDF8"/>
          </a:solidFill>
          <a:ln w="25400">
            <a:solidFill>
              <a:srgbClr val="B5172F"/>
            </a:solidFill>
          </a:ln>
          <a:effectLst>
            <a:outerShdw blurRad="182880" dist="45720" dir="5400000" algn="ctr" rotWithShape="0">
              <a:srgbClr val="3B2A2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un_B5172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39816" y="2624328"/>
            <a:ext cx="512064" cy="512064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>
            <a:off x="6297016" y="2286000"/>
            <a:ext cx="347472" cy="347472"/>
          </a:xfrm>
          <a:prstGeom prst="ellipse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0" i="0">
                <a:solidFill>
                  <a:srgbClr val="FFFFFF"/>
                </a:solidFill>
                <a:latin typeface="Mulish ExtraBold"/>
                <a:ea typeface="Mulish ExtraBold"/>
                <a:cs typeface="Mulish ExtraBold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59558" y="3566160"/>
            <a:ext cx="2072579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3B2416"/>
                </a:solidFill>
                <a:latin typeface="Mulish ExtraBold"/>
                <a:ea typeface="Mulish ExtraBold"/>
                <a:cs typeface="Mulish ExtraBold"/>
              </a:rPr>
              <a:t>Sấy lạnh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7846" y="4160520"/>
            <a:ext cx="2036003" cy="182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Sấy ở nhiệt độ thấp, giữ màu và dinh dưỡng.</a:t>
            </a:r>
          </a:p>
        </p:txBody>
      </p:sp>
      <p:sp>
        <p:nvSpPr>
          <p:cNvPr id="31" name="Oval 30"/>
          <p:cNvSpPr/>
          <p:nvPr/>
        </p:nvSpPr>
        <p:spPr>
          <a:xfrm>
            <a:off x="7811811" y="2377440"/>
            <a:ext cx="1005840" cy="1005840"/>
          </a:xfrm>
          <a:prstGeom prst="ellipse">
            <a:avLst/>
          </a:prstGeom>
          <a:solidFill>
            <a:srgbClr val="FFFDF8"/>
          </a:solidFill>
          <a:ln w="25400">
            <a:solidFill>
              <a:srgbClr val="B5172F"/>
            </a:solidFill>
          </a:ln>
          <a:effectLst>
            <a:outerShdw blurRad="182880" dist="45720" dir="5400000" algn="ctr" rotWithShape="0">
              <a:srgbClr val="3B2A2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package-open_B5172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58699" y="2624328"/>
            <a:ext cx="512064" cy="512064"/>
          </a:xfrm>
          <a:prstGeom prst="rect">
            <a:avLst/>
          </a:prstGeom>
        </p:spPr>
      </p:pic>
      <p:sp>
        <p:nvSpPr>
          <p:cNvPr id="33" name="Oval 32"/>
          <p:cNvSpPr/>
          <p:nvPr/>
        </p:nvSpPr>
        <p:spPr>
          <a:xfrm>
            <a:off x="8515899" y="2286000"/>
            <a:ext cx="347472" cy="347472"/>
          </a:xfrm>
          <a:prstGeom prst="ellipse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0" i="0">
                <a:solidFill>
                  <a:srgbClr val="FFFFFF"/>
                </a:solidFill>
                <a:latin typeface="Mulish ExtraBold"/>
                <a:ea typeface="Mulish ExtraBold"/>
                <a:cs typeface="Mulish ExtraBold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78441" y="3566160"/>
            <a:ext cx="2072579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3B2416"/>
                </a:solidFill>
                <a:latin typeface="Mulish ExtraBold"/>
                <a:ea typeface="Mulish ExtraBold"/>
                <a:cs typeface="Mulish ExtraBold"/>
              </a:rPr>
              <a:t>Đóng gói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96729" y="4160520"/>
            <a:ext cx="2036003" cy="182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Đóng túi zip, hút ẩm, dán nhãn truy xuất.</a:t>
            </a:r>
          </a:p>
        </p:txBody>
      </p:sp>
      <p:sp>
        <p:nvSpPr>
          <p:cNvPr id="36" name="Oval 35"/>
          <p:cNvSpPr/>
          <p:nvPr/>
        </p:nvSpPr>
        <p:spPr>
          <a:xfrm>
            <a:off x="10030694" y="2377440"/>
            <a:ext cx="1005840" cy="1005840"/>
          </a:xfrm>
          <a:prstGeom prst="ellipse">
            <a:avLst/>
          </a:prstGeom>
          <a:solidFill>
            <a:srgbClr val="FFFDF8"/>
          </a:solidFill>
          <a:ln w="25400">
            <a:solidFill>
              <a:srgbClr val="B5172F"/>
            </a:solidFill>
          </a:ln>
          <a:effectLst>
            <a:outerShdw blurRad="182880" dist="45720" dir="5400000" algn="ctr" rotWithShape="0">
              <a:srgbClr val="3B2A2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truck_B5172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77582" y="2624328"/>
            <a:ext cx="512064" cy="512064"/>
          </a:xfrm>
          <a:prstGeom prst="rect">
            <a:avLst/>
          </a:prstGeom>
        </p:spPr>
      </p:pic>
      <p:sp>
        <p:nvSpPr>
          <p:cNvPr id="38" name="Oval 37"/>
          <p:cNvSpPr/>
          <p:nvPr/>
        </p:nvSpPr>
        <p:spPr>
          <a:xfrm>
            <a:off x="10734782" y="2286000"/>
            <a:ext cx="347472" cy="347472"/>
          </a:xfrm>
          <a:prstGeom prst="ellipse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0" i="0">
                <a:solidFill>
                  <a:srgbClr val="FFFFFF"/>
                </a:solidFill>
                <a:latin typeface="Mulish ExtraBold"/>
                <a:ea typeface="Mulish ExtraBold"/>
                <a:cs typeface="Mulish ExtraBold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97324" y="3566160"/>
            <a:ext cx="2072579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3B2416"/>
                </a:solidFill>
                <a:latin typeface="Mulish ExtraBold"/>
                <a:ea typeface="Mulish ExtraBold"/>
                <a:cs typeface="Mulish ExtraBold"/>
              </a:rPr>
              <a:t>Phân phối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15612" y="4160520"/>
            <a:ext cx="2036003" cy="182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Cửa hàng, siêu thị và kênh online.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11535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9C8A78"/>
                </a:solidFill>
                <a:latin typeface="Mulish SemiBold"/>
                <a:ea typeface="Mulish SemiBold"/>
                <a:cs typeface="Mulish SemiBold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8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1599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1599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1599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42" presetClass="entr" presetSubtype="0" fill="hold" grpId="0" nodeType="withEffect">
                                  <p:stCondLst>
                                    <p:cond delay="1599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6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7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fill="hold" grpId="0" nodeType="withEffect">
                                  <p:stCondLst>
                                    <p:cond delay="1599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4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29" grpId="0" animBg="1"/>
      <p:bldP spid="30" grpId="0" animBg="1"/>
      <p:bldP spid="31" grpId="0" animBg="1"/>
      <p:bldP spid="33" grpId="0" animBg="1"/>
      <p:bldP spid="34" grpId="0" animBg="1"/>
      <p:bldP spid="35" grpId="0" animBg="1"/>
      <p:bldP spid="36" grpId="0" animBg="1"/>
      <p:bldP spid="38" grpId="0" animBg="1"/>
      <p:bldP spid="39" grpId="0" animBg="1"/>
      <p:bldP spid="40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E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paper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nav_logo" descr="wheat_B517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4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12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HERAGRAIN</a:t>
            </a:r>
          </a:p>
        </p:txBody>
      </p:sp>
      <p:sp>
        <p:nvSpPr>
          <p:cNvPr id="5" name="!!nav_m0"/>
          <p:cNvSpPr txBox="1"/>
          <p:nvPr/>
        </p:nvSpPr>
        <p:spPr>
          <a:xfrm>
            <a:off x="3931920" y="246888"/>
            <a:ext cx="91033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Về chúng tôi</a:t>
            </a:r>
          </a:p>
        </p:txBody>
      </p:sp>
      <p:sp>
        <p:nvSpPr>
          <p:cNvPr id="6" name="!!nav_m1"/>
          <p:cNvSpPr txBox="1"/>
          <p:nvPr/>
        </p:nvSpPr>
        <p:spPr>
          <a:xfrm>
            <a:off x="5253732" y="246888"/>
            <a:ext cx="777379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Sản phẩm</a:t>
            </a:r>
          </a:p>
        </p:txBody>
      </p:sp>
      <p:sp>
        <p:nvSpPr>
          <p:cNvPr id="7" name="!!nav_m2"/>
          <p:cNvSpPr txBox="1"/>
          <p:nvPr/>
        </p:nvSpPr>
        <p:spPr>
          <a:xfrm>
            <a:off x="6442591" y="246888"/>
            <a:ext cx="71631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Quy trình</a:t>
            </a:r>
          </a:p>
        </p:txBody>
      </p:sp>
      <p:sp>
        <p:nvSpPr>
          <p:cNvPr id="8" name="!!nav_m3"/>
          <p:cNvSpPr txBox="1"/>
          <p:nvPr/>
        </p:nvSpPr>
        <p:spPr>
          <a:xfrm>
            <a:off x="7570381" y="246888"/>
            <a:ext cx="583347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Liên hệ</a:t>
            </a:r>
          </a:p>
        </p:txBody>
      </p:sp>
      <p:sp>
        <p:nvSpPr>
          <p:cNvPr id="9" name="!!nav_ind"/>
          <p:cNvSpPr/>
          <p:nvPr/>
        </p:nvSpPr>
        <p:spPr>
          <a:xfrm>
            <a:off x="6442591" y="603504"/>
            <a:ext cx="624870" cy="32004"/>
          </a:xfrm>
          <a:prstGeom prst="rect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!!nav_i0" descr="search_3B24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1" name="!!nav_i1" descr="user-round_3B24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2" name="!!nav_i2" descr="shopping-bag_3B24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sp>
        <p:nvSpPr>
          <p:cNvPr id="13" name="!!h_title"/>
          <p:cNvSpPr txBox="1"/>
          <p:nvPr/>
        </p:nvSpPr>
        <p:spPr>
          <a:xfrm>
            <a:off x="548640" y="868680"/>
            <a:ext cx="7315200" cy="7315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90000"/>
              </a:lnSpc>
            </a:pPr>
            <a:r>
              <a:rPr sz="32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KẾT QUẢ</a:t>
            </a:r>
          </a:p>
        </p:txBody>
      </p:sp>
      <p:sp>
        <p:nvSpPr>
          <p:cNvPr id="14" name="!!h_script"/>
          <p:cNvSpPr txBox="1"/>
          <p:nvPr/>
        </p:nvSpPr>
        <p:spPr>
          <a:xfrm>
            <a:off x="868680" y="1252728"/>
            <a:ext cx="7315200" cy="685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1" i="0">
                <a:solidFill>
                  <a:srgbClr val="3B2416"/>
                </a:solidFill>
                <a:latin typeface="Dancing Script"/>
                <a:ea typeface="Dancing Script"/>
                <a:cs typeface="Dancing Script"/>
              </a:rPr>
              <a:t>hợp tác xã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057400"/>
            <a:ext cx="6675120" cy="4206240"/>
          </a:xfrm>
          <a:prstGeom prst="roundRect">
            <a:avLst>
              <a:gd name="adj" fmla="val 3478"/>
            </a:avLst>
          </a:prstGeom>
          <a:solidFill>
            <a:srgbClr val="FFFDF8"/>
          </a:solidFill>
          <a:ln>
            <a:noFill/>
          </a:ln>
          <a:effectLst>
            <a:outerShdw blurRad="274320" dist="73152" dir="5400000" algn="ctr" rotWithShape="0">
              <a:srgbClr val="3B2A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777240" y="2240280"/>
          <a:ext cx="6217920" cy="352044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22960" y="580644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950" b="0" i="1">
                <a:solidFill>
                  <a:srgbClr val="9C8A78"/>
                </a:solidFill>
                <a:latin typeface="Mulish"/>
                <a:ea typeface="Mulish"/>
                <a:cs typeface="Mulish"/>
              </a:rPr>
              <a:t>Số liệu minh họa — thay bằng số liệu thực tế của HTX.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2057400"/>
            <a:ext cx="4099255" cy="896112"/>
          </a:xfrm>
          <a:prstGeom prst="roundRect">
            <a:avLst>
              <a:gd name="adj" fmla="val 16326"/>
            </a:avLst>
          </a:prstGeom>
          <a:solidFill>
            <a:srgbClr val="FFFDF8"/>
          </a:solidFill>
          <a:ln>
            <a:noFill/>
          </a:ln>
          <a:effectLst>
            <a:outerShdw blurRad="274320" dist="73152" dir="5400000" algn="ctr" rotWithShape="0">
              <a:srgbClr val="3B2A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2103120"/>
            <a:ext cx="2011680" cy="8046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2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120</a:t>
            </a:r>
            <a:r>
              <a:rPr sz="15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130552"/>
            <a:ext cx="1950415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Hộ thành viên liên kết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43800" y="3081528"/>
            <a:ext cx="4099255" cy="896112"/>
          </a:xfrm>
          <a:prstGeom prst="roundRect">
            <a:avLst>
              <a:gd name="adj" fmla="val 16326"/>
            </a:avLst>
          </a:prstGeom>
          <a:solidFill>
            <a:srgbClr val="FFFDF8"/>
          </a:solidFill>
          <a:ln>
            <a:noFill/>
          </a:ln>
          <a:effectLst>
            <a:outerShdw blurRad="274320" dist="73152" dir="5400000" algn="ctr" rotWithShape="0">
              <a:srgbClr val="3B2A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3127248"/>
            <a:ext cx="2011680" cy="8046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2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5</a:t>
            </a:r>
            <a:r>
              <a:rPr sz="15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154680"/>
            <a:ext cx="1950415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Dòng sản phẩm chủ lực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4105656"/>
            <a:ext cx="4099255" cy="896112"/>
          </a:xfrm>
          <a:prstGeom prst="roundRect">
            <a:avLst>
              <a:gd name="adj" fmla="val 16326"/>
            </a:avLst>
          </a:prstGeom>
          <a:solidFill>
            <a:srgbClr val="FFFDF8"/>
          </a:solidFill>
          <a:ln>
            <a:noFill/>
          </a:ln>
          <a:effectLst>
            <a:outerShdw blurRad="274320" dist="73152" dir="5400000" algn="ctr" rotWithShape="0">
              <a:srgbClr val="3B2A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0" y="4151376"/>
            <a:ext cx="2011680" cy="8046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32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+30</a:t>
            </a:r>
            <a:r>
              <a:rPr sz="15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4178808"/>
            <a:ext cx="1950415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Thu nhập nông hộ</a:t>
            </a:r>
          </a:p>
        </p:txBody>
      </p:sp>
      <p:pic>
        <p:nvPicPr>
          <p:cNvPr id="27" name="Picture 26" descr="7abbdbeec845e36b.jpg"/>
          <p:cNvPicPr>
            <a:picLocks noChangeAspect="1"/>
          </p:cNvPicPr>
          <p:nvPr/>
        </p:nvPicPr>
        <p:blipFill>
          <a:blip r:embed="rId8"/>
          <a:srcRect t="31616" b="41616"/>
          <a:stretch>
            <a:fillRect/>
          </a:stretch>
        </p:blipFill>
        <p:spPr>
          <a:xfrm>
            <a:off x="7543800" y="5166360"/>
            <a:ext cx="4099255" cy="1097280"/>
          </a:xfrm>
          <a:prstGeom prst="roundRect">
            <a:avLst>
              <a:gd name="adj" fmla="val 11666"/>
            </a:avLst>
          </a:prstGeom>
        </p:spPr>
      </p:pic>
      <p:sp>
        <p:nvSpPr>
          <p:cNvPr id="28" name="TextBox 27"/>
          <p:cNvSpPr txBox="1"/>
          <p:nvPr/>
        </p:nvSpPr>
        <p:spPr>
          <a:xfrm>
            <a:off x="10911535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9C8A78"/>
                </a:solidFill>
                <a:latin typeface="Mulish SemiBold"/>
                <a:ea typeface="Mulish SemiBold"/>
                <a:cs typeface="Mulish SemiBold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2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2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2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2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2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2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4" grpId="0" animBg="1"/>
      <p:bldP spid="15" grpId="0" animBg="1"/>
      <p:bldGraphic spid="16" grpId="0">
        <p:bldAsOne/>
      </p:bldGraphic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17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E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paper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nav_logo" descr="wheat_B517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4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12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HERAGRAIN</a:t>
            </a:r>
          </a:p>
        </p:txBody>
      </p:sp>
      <p:sp>
        <p:nvSpPr>
          <p:cNvPr id="5" name="!!nav_m0"/>
          <p:cNvSpPr txBox="1"/>
          <p:nvPr/>
        </p:nvSpPr>
        <p:spPr>
          <a:xfrm>
            <a:off x="3931920" y="246888"/>
            <a:ext cx="91033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Về chúng tôi</a:t>
            </a:r>
          </a:p>
        </p:txBody>
      </p:sp>
      <p:sp>
        <p:nvSpPr>
          <p:cNvPr id="6" name="!!nav_m1"/>
          <p:cNvSpPr txBox="1"/>
          <p:nvPr/>
        </p:nvSpPr>
        <p:spPr>
          <a:xfrm>
            <a:off x="5253732" y="246888"/>
            <a:ext cx="777379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Sản phẩm</a:t>
            </a:r>
          </a:p>
        </p:txBody>
      </p:sp>
      <p:sp>
        <p:nvSpPr>
          <p:cNvPr id="7" name="!!nav_m2"/>
          <p:cNvSpPr txBox="1"/>
          <p:nvPr/>
        </p:nvSpPr>
        <p:spPr>
          <a:xfrm>
            <a:off x="6442591" y="246888"/>
            <a:ext cx="71631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Quy trình</a:t>
            </a:r>
          </a:p>
        </p:txBody>
      </p:sp>
      <p:sp>
        <p:nvSpPr>
          <p:cNvPr id="8" name="!!nav_m3"/>
          <p:cNvSpPr txBox="1"/>
          <p:nvPr/>
        </p:nvSpPr>
        <p:spPr>
          <a:xfrm>
            <a:off x="7570381" y="246888"/>
            <a:ext cx="583347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Liên hệ</a:t>
            </a:r>
          </a:p>
        </p:txBody>
      </p:sp>
      <p:sp>
        <p:nvSpPr>
          <p:cNvPr id="9" name="!!nav_ind"/>
          <p:cNvSpPr/>
          <p:nvPr/>
        </p:nvSpPr>
        <p:spPr>
          <a:xfrm>
            <a:off x="6442591" y="603504"/>
            <a:ext cx="624870" cy="32004"/>
          </a:xfrm>
          <a:prstGeom prst="rect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!!nav_i0" descr="search_3B24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1" name="!!nav_i1" descr="user-round_3B24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2" name="!!nav_i2" descr="shopping-bag_3B24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sp>
        <p:nvSpPr>
          <p:cNvPr id="13" name="!!h_title"/>
          <p:cNvSpPr txBox="1"/>
          <p:nvPr/>
        </p:nvSpPr>
        <p:spPr>
          <a:xfrm>
            <a:off x="548640" y="868680"/>
            <a:ext cx="5486400" cy="7315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90000"/>
              </a:lnSpc>
            </a:pPr>
            <a:r>
              <a:rPr sz="30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VÙNG NGUYÊN LIỆU</a:t>
            </a:r>
          </a:p>
        </p:txBody>
      </p:sp>
      <p:sp>
        <p:nvSpPr>
          <p:cNvPr id="14" name="!!h_script"/>
          <p:cNvSpPr txBox="1"/>
          <p:nvPr/>
        </p:nvSpPr>
        <p:spPr>
          <a:xfrm>
            <a:off x="868680" y="1252728"/>
            <a:ext cx="5486400" cy="685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800" b="1" i="0">
                <a:solidFill>
                  <a:srgbClr val="3B2416"/>
                </a:solidFill>
                <a:latin typeface="Dancing Script"/>
                <a:ea typeface="Dancing Script"/>
                <a:cs typeface="Dancing Script"/>
              </a:rPr>
              <a:t>từ nông trại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71800" y="1874520"/>
            <a:ext cx="5760720" cy="4343400"/>
          </a:xfrm>
          <a:prstGeom prst="roundRect">
            <a:avLst>
              <a:gd name="adj" fmla="val 2526"/>
            </a:avLst>
          </a:prstGeom>
          <a:solidFill>
            <a:srgbClr val="FFFDF8"/>
          </a:solidFill>
          <a:ln>
            <a:noFill/>
          </a:ln>
          <a:effectLst>
            <a:outerShdw blurRad="274320" dist="73152" dir="5400000" algn="ctr" rotWithShape="0">
              <a:srgbClr val="3B2A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2971800" y="1874520"/>
            <a:ext cx="5760720" cy="292608"/>
          </a:xfrm>
          <a:prstGeom prst="round2SameRect">
            <a:avLst>
              <a:gd name="adj1" fmla="val 37500"/>
              <a:gd name="adj2" fmla="val 0"/>
            </a:avLst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108960" y="1975104"/>
            <a:ext cx="91440" cy="91440"/>
          </a:xfrm>
          <a:prstGeom prst="ellipse">
            <a:avLst/>
          </a:prstGeom>
          <a:solidFill>
            <a:srgbClr val="E86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264408" y="1975104"/>
            <a:ext cx="91440" cy="91440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419856" y="1975104"/>
            <a:ext cx="91440" cy="91440"/>
          </a:xfrm>
          <a:prstGeom prst="ellipse">
            <a:avLst/>
          </a:prstGeom>
          <a:solidFill>
            <a:srgbClr val="7C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7abbdbeec845e36b.jpg"/>
          <p:cNvPicPr>
            <a:picLocks noChangeAspect="1"/>
          </p:cNvPicPr>
          <p:nvPr/>
        </p:nvPicPr>
        <p:blipFill>
          <a:blip r:embed="rId7"/>
          <a:srcRect t="24472" b="14472"/>
          <a:stretch>
            <a:fillRect/>
          </a:stretch>
        </p:blipFill>
        <p:spPr>
          <a:xfrm>
            <a:off x="3081528" y="2258568"/>
            <a:ext cx="5541264" cy="3383280"/>
          </a:xfrm>
          <a:prstGeom prst="roundRect">
            <a:avLst>
              <a:gd name="adj" fmla="val 2162"/>
            </a:avLst>
          </a:prstGeom>
        </p:spPr>
      </p:pic>
      <p:sp>
        <p:nvSpPr>
          <p:cNvPr id="21" name="TextBox 20"/>
          <p:cNvSpPr txBox="1"/>
          <p:nvPr/>
        </p:nvSpPr>
        <p:spPr>
          <a:xfrm>
            <a:off x="3200400" y="566928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8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XOÀI CHÍN CÂY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98280" y="2240280"/>
            <a:ext cx="2606040" cy="2286000"/>
          </a:xfrm>
          <a:prstGeom prst="roundRect">
            <a:avLst>
              <a:gd name="adj" fmla="val 4800"/>
            </a:avLst>
          </a:prstGeom>
          <a:solidFill>
            <a:srgbClr val="FFFDF8"/>
          </a:solidFill>
          <a:ln>
            <a:noFill/>
          </a:ln>
          <a:effectLst>
            <a:outerShdw blurRad="274320" dist="73152" dir="5400000" algn="ctr" rotWithShape="0">
              <a:srgbClr val="3B2A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9098280" y="2240280"/>
            <a:ext cx="2606040" cy="292608"/>
          </a:xfrm>
          <a:prstGeom prst="round2SameRect">
            <a:avLst>
              <a:gd name="adj1" fmla="val 37500"/>
              <a:gd name="adj2" fmla="val 0"/>
            </a:avLst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0" y="2340864"/>
            <a:ext cx="91440" cy="91440"/>
          </a:xfrm>
          <a:prstGeom prst="ellipse">
            <a:avLst/>
          </a:prstGeom>
          <a:solidFill>
            <a:srgbClr val="E86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90888" y="2340864"/>
            <a:ext cx="91440" cy="91440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546336" y="2340864"/>
            <a:ext cx="91440" cy="91440"/>
          </a:xfrm>
          <a:prstGeom prst="ellipse">
            <a:avLst/>
          </a:prstGeom>
          <a:solidFill>
            <a:srgbClr val="7C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700bb625238b9941.jpg"/>
          <p:cNvPicPr>
            <a:picLocks noChangeAspect="1"/>
          </p:cNvPicPr>
          <p:nvPr/>
        </p:nvPicPr>
        <p:blipFill>
          <a:blip r:embed="rId8"/>
          <a:srcRect t="12452" b="12452"/>
          <a:stretch>
            <a:fillRect/>
          </a:stretch>
        </p:blipFill>
        <p:spPr>
          <a:xfrm>
            <a:off x="9208008" y="2624328"/>
            <a:ext cx="2386584" cy="1792224"/>
          </a:xfrm>
          <a:prstGeom prst="roundRect">
            <a:avLst>
              <a:gd name="adj" fmla="val 4081"/>
            </a:avLst>
          </a:prstGeom>
        </p:spPr>
      </p:pic>
      <p:sp>
        <p:nvSpPr>
          <p:cNvPr id="28" name="Rounded Rectangle 27"/>
          <p:cNvSpPr/>
          <p:nvPr/>
        </p:nvSpPr>
        <p:spPr>
          <a:xfrm>
            <a:off x="548640" y="342900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FFFDF8"/>
          </a:solidFill>
          <a:ln>
            <a:noFill/>
          </a:ln>
          <a:effectLst>
            <a:outerShdw blurRad="274320" dist="73152" dir="5400000" algn="ctr" rotWithShape="0">
              <a:srgbClr val="3B2A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ound Same Side Corner Rectangle 28"/>
          <p:cNvSpPr/>
          <p:nvPr/>
        </p:nvSpPr>
        <p:spPr>
          <a:xfrm>
            <a:off x="548640" y="3429000"/>
            <a:ext cx="2148840" cy="292608"/>
          </a:xfrm>
          <a:prstGeom prst="round2SameRect">
            <a:avLst>
              <a:gd name="adj1" fmla="val 37500"/>
              <a:gd name="adj2" fmla="val 0"/>
            </a:avLst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85800" y="3529584"/>
            <a:ext cx="91440" cy="91440"/>
          </a:xfrm>
          <a:prstGeom prst="ellipse">
            <a:avLst/>
          </a:prstGeom>
          <a:solidFill>
            <a:srgbClr val="E86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41248" y="3529584"/>
            <a:ext cx="91440" cy="91440"/>
          </a:xfrm>
          <a:prstGeom prst="ellipse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96696" y="3529584"/>
            <a:ext cx="91440" cy="91440"/>
          </a:xfrm>
          <a:prstGeom prst="ellipse">
            <a:avLst/>
          </a:prstGeom>
          <a:solidFill>
            <a:srgbClr val="7C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760bc123b45835ec.jpg"/>
          <p:cNvPicPr>
            <a:picLocks noChangeAspect="1"/>
          </p:cNvPicPr>
          <p:nvPr/>
        </p:nvPicPr>
        <p:blipFill>
          <a:blip r:embed="rId9"/>
          <a:srcRect t="27832" b="7832"/>
          <a:stretch>
            <a:fillRect/>
          </a:stretch>
        </p:blipFill>
        <p:spPr>
          <a:xfrm>
            <a:off x="658368" y="3813048"/>
            <a:ext cx="1929384" cy="1655064"/>
          </a:xfrm>
          <a:prstGeom prst="roundRect">
            <a:avLst>
              <a:gd name="adj" fmla="val 4419"/>
            </a:avLst>
          </a:prstGeom>
        </p:spPr>
      </p:pic>
      <p:sp>
        <p:nvSpPr>
          <p:cNvPr id="34" name="TextBox 33"/>
          <p:cNvSpPr txBox="1"/>
          <p:nvPr/>
        </p:nvSpPr>
        <p:spPr>
          <a:xfrm>
            <a:off x="9098280" y="4709160"/>
            <a:ext cx="2544775" cy="155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Hình ảnh </a:t>
            </a:r>
            <a:r>
              <a:rPr sz="1150" b="0" i="0">
                <a:solidFill>
                  <a:srgbClr val="B5172F"/>
                </a:solidFill>
                <a:latin typeface="Mulish ExtraBold"/>
                <a:ea typeface="Mulish ExtraBold"/>
                <a:cs typeface="Mulish ExtraBold"/>
              </a:rPr>
              <a:t>vùng trồng và nông sản</a:t>
            </a:r>
            <a:r>
              <a:rPr sz="115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 — thay bằng ảnh thật của HTX Heragrain.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11535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9C8A78"/>
                </a:solidFill>
                <a:latin typeface="Mulish SemiBold"/>
                <a:ea typeface="Mulish SemiBold"/>
                <a:cs typeface="Mulish SemiBold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53" presetClass="entr" presetSubtype="16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53" presetClass="entr" presetSubtype="16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53" presetClass="entr" presetSubtype="16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53" presetClass="entr" presetSubtype="16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5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5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5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6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5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0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5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5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5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8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9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0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5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3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4" dur="6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5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4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E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paper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nav_logo" descr="wheat_B517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10896" cy="310896"/>
          </a:xfrm>
          <a:prstGeom prst="rect">
            <a:avLst/>
          </a:prstGeom>
        </p:spPr>
      </p:pic>
      <p:sp>
        <p:nvSpPr>
          <p:cNvPr id="4" name="!!nav_brand"/>
          <p:cNvSpPr txBox="1"/>
          <p:nvPr/>
        </p:nvSpPr>
        <p:spPr>
          <a:xfrm>
            <a:off x="932688" y="228600"/>
            <a:ext cx="2743200" cy="40233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12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HERAGRAIN</a:t>
            </a:r>
          </a:p>
        </p:txBody>
      </p:sp>
      <p:sp>
        <p:nvSpPr>
          <p:cNvPr id="5" name="!!nav_m0"/>
          <p:cNvSpPr txBox="1"/>
          <p:nvPr/>
        </p:nvSpPr>
        <p:spPr>
          <a:xfrm>
            <a:off x="3931920" y="246888"/>
            <a:ext cx="910332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Về chúng tôi</a:t>
            </a:r>
          </a:p>
        </p:txBody>
      </p:sp>
      <p:sp>
        <p:nvSpPr>
          <p:cNvPr id="6" name="!!nav_m1"/>
          <p:cNvSpPr txBox="1"/>
          <p:nvPr/>
        </p:nvSpPr>
        <p:spPr>
          <a:xfrm>
            <a:off x="5253732" y="246888"/>
            <a:ext cx="777379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Sản phẩm</a:t>
            </a:r>
          </a:p>
        </p:txBody>
      </p:sp>
      <p:sp>
        <p:nvSpPr>
          <p:cNvPr id="7" name="!!nav_m2"/>
          <p:cNvSpPr txBox="1"/>
          <p:nvPr/>
        </p:nvSpPr>
        <p:spPr>
          <a:xfrm>
            <a:off x="6442591" y="246888"/>
            <a:ext cx="71631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Quy trình</a:t>
            </a:r>
          </a:p>
        </p:txBody>
      </p:sp>
      <p:sp>
        <p:nvSpPr>
          <p:cNvPr id="8" name="!!nav_m3"/>
          <p:cNvSpPr txBox="1"/>
          <p:nvPr/>
        </p:nvSpPr>
        <p:spPr>
          <a:xfrm>
            <a:off x="7570381" y="246888"/>
            <a:ext cx="583347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Liên hệ</a:t>
            </a:r>
          </a:p>
        </p:txBody>
      </p:sp>
      <p:sp>
        <p:nvSpPr>
          <p:cNvPr id="9" name="!!nav_ind"/>
          <p:cNvSpPr/>
          <p:nvPr/>
        </p:nvSpPr>
        <p:spPr>
          <a:xfrm>
            <a:off x="3931920" y="603504"/>
            <a:ext cx="818892" cy="32004"/>
          </a:xfrm>
          <a:prstGeom prst="rect">
            <a:avLst/>
          </a:prstGeom>
          <a:solidFill>
            <a:srgbClr val="B51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!!nav_i0" descr="search_3B24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7023" y="301752"/>
            <a:ext cx="246888" cy="246888"/>
          </a:xfrm>
          <a:prstGeom prst="rect">
            <a:avLst/>
          </a:prstGeom>
        </p:spPr>
      </p:pic>
      <p:pic>
        <p:nvPicPr>
          <p:cNvPr id="11" name="!!nav_i1" descr="user-round_3B24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8111" y="301752"/>
            <a:ext cx="246888" cy="246888"/>
          </a:xfrm>
          <a:prstGeom prst="rect">
            <a:avLst/>
          </a:prstGeom>
        </p:spPr>
      </p:pic>
      <p:pic>
        <p:nvPicPr>
          <p:cNvPr id="12" name="!!nav_i2" descr="shopping-bag_3B24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9199" y="301752"/>
            <a:ext cx="246888" cy="246888"/>
          </a:xfrm>
          <a:prstGeom prst="rect">
            <a:avLst/>
          </a:prstGeom>
        </p:spPr>
      </p:pic>
      <p:sp>
        <p:nvSpPr>
          <p:cNvPr id="13" name="!!h_title"/>
          <p:cNvSpPr txBox="1"/>
          <p:nvPr/>
        </p:nvSpPr>
        <p:spPr>
          <a:xfrm>
            <a:off x="548640" y="1051560"/>
            <a:ext cx="11094415" cy="7315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34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HERAGRAIN</a:t>
            </a:r>
          </a:p>
        </p:txBody>
      </p:sp>
      <p:sp>
        <p:nvSpPr>
          <p:cNvPr id="14" name="!!h_script"/>
          <p:cNvSpPr txBox="1"/>
          <p:nvPr/>
        </p:nvSpPr>
        <p:spPr>
          <a:xfrm>
            <a:off x="548640" y="1435608"/>
            <a:ext cx="11094415" cy="685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3200" b="1" i="0">
                <a:solidFill>
                  <a:srgbClr val="3B2416"/>
                </a:solidFill>
                <a:latin typeface="Dancing Script"/>
                <a:ea typeface="Dancing Script"/>
                <a:cs typeface="Dancing Script"/>
              </a:rPr>
              <a:t>trọn vị nông sản Việt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331720"/>
            <a:ext cx="8899855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35000"/>
              </a:lnSpc>
              <a:spcAft>
                <a:spcPts val="600"/>
              </a:spcAft>
            </a:pPr>
            <a:r>
              <a:rPr sz="135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Nông sản sấy Heragrain: </a:t>
            </a:r>
            <a:r>
              <a:rPr sz="1350" b="0" i="0">
                <a:solidFill>
                  <a:srgbClr val="B5172F"/>
                </a:solidFill>
                <a:latin typeface="Mulish ExtraBold"/>
                <a:ea typeface="Mulish ExtraBold"/>
                <a:cs typeface="Mulish ExtraBold"/>
              </a:rPr>
              <a:t>tự nhiên – an toàn – tiện lợi</a:t>
            </a:r>
            <a:r>
              <a:rPr sz="135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, góp phần nâng giá trị nông sản và thu nhập cho bà con nông dân.</a:t>
            </a:r>
          </a:p>
        </p:txBody>
      </p:sp>
      <p:pic>
        <p:nvPicPr>
          <p:cNvPr id="16" name="!!p_khoai" descr="prod_khoai.pn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 rot="21240000">
            <a:off x="1170237" y="3977640"/>
            <a:ext cx="1438741" cy="2286000"/>
          </a:xfrm>
          <a:prstGeom prst="rect">
            <a:avLst/>
          </a:prstGeom>
        </p:spPr>
      </p:pic>
      <p:pic>
        <p:nvPicPr>
          <p:cNvPr id="17" name="!!p_chuoi" descr="prod_chuoi.png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 rot="240000">
            <a:off x="3273357" y="3977640"/>
            <a:ext cx="1438741" cy="2286000"/>
          </a:xfrm>
          <a:prstGeom prst="rect">
            <a:avLst/>
          </a:prstGeom>
        </p:spPr>
      </p:pic>
      <p:pic>
        <p:nvPicPr>
          <p:cNvPr id="18" name="!!p_xoai" descr="prod_xoai.png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 rot="21420000">
            <a:off x="5376477" y="3977640"/>
            <a:ext cx="1438741" cy="2286000"/>
          </a:xfrm>
          <a:prstGeom prst="rect">
            <a:avLst/>
          </a:prstGeom>
        </p:spPr>
      </p:pic>
      <p:pic>
        <p:nvPicPr>
          <p:cNvPr id="19" name="!!p_hat" descr="prod_hat.png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 rot="420000">
            <a:off x="7479597" y="3977640"/>
            <a:ext cx="1438741" cy="2286000"/>
          </a:xfrm>
          <a:prstGeom prst="rect">
            <a:avLst/>
          </a:prstGeom>
        </p:spPr>
      </p:pic>
      <p:pic>
        <p:nvPicPr>
          <p:cNvPr id="20" name="!!p_ngucoc" descr="prod_ngucoc.png"/>
          <p:cNvPicPr>
            <a:picLocks noChangeAspect="1"/>
          </p:cNvPicPr>
          <p:nvPr/>
        </p:nvPicPr>
        <p:blipFill>
          <a:blip r:embed="rId11"/>
          <a:srcRect/>
          <a:stretch>
            <a:fillRect/>
          </a:stretch>
        </p:blipFill>
        <p:spPr>
          <a:xfrm rot="21300000">
            <a:off x="9582717" y="3977640"/>
            <a:ext cx="1438741" cy="2286000"/>
          </a:xfrm>
          <a:prstGeom prst="rect">
            <a:avLst/>
          </a:prstGeom>
        </p:spPr>
      </p:pic>
      <p:pic>
        <p:nvPicPr>
          <p:cNvPr id="21" name="!!d0" descr="slice_mango.png"/>
          <p:cNvPicPr>
            <a:picLocks noChangeAspect="1"/>
          </p:cNvPicPr>
          <p:nvPr/>
        </p:nvPicPr>
        <p:blipFill>
          <a:blip r:embed="rId12"/>
          <a:srcRect/>
          <a:stretch>
            <a:fillRect/>
          </a:stretch>
        </p:blipFill>
        <p:spPr>
          <a:xfrm rot="1903019">
            <a:off x="1160557" y="3685537"/>
            <a:ext cx="649127" cy="414720"/>
          </a:xfrm>
          <a:prstGeom prst="rect">
            <a:avLst/>
          </a:prstGeom>
        </p:spPr>
      </p:pic>
      <p:pic>
        <p:nvPicPr>
          <p:cNvPr id="22" name="!!d1" descr="slice_jack.png"/>
          <p:cNvPicPr>
            <a:picLocks noChangeAspect="1"/>
          </p:cNvPicPr>
          <p:nvPr/>
        </p:nvPicPr>
        <p:blipFill>
          <a:blip r:embed="rId13"/>
          <a:srcRect l="0" r="0"/>
          <a:stretch>
            <a:fillRect/>
          </a:stretch>
        </p:blipFill>
        <p:spPr>
          <a:xfrm rot="18336142">
            <a:off x="10278301" y="1668751"/>
            <a:ext cx="761220" cy="472416"/>
          </a:xfrm>
          <a:prstGeom prst="rect">
            <a:avLst/>
          </a:prstGeom>
        </p:spPr>
      </p:pic>
      <p:pic>
        <p:nvPicPr>
          <p:cNvPr id="23" name="!!d2" descr="grain_blur.png"/>
          <p:cNvPicPr>
            <a:picLocks noChangeAspect="1"/>
          </p:cNvPicPr>
          <p:nvPr/>
        </p:nvPicPr>
        <p:blipFill>
          <a:blip r:embed="rId14"/>
          <a:srcRect/>
          <a:stretch>
            <a:fillRect/>
          </a:stretch>
        </p:blipFill>
        <p:spPr>
          <a:xfrm rot="19402889">
            <a:off x="2147117" y="4675975"/>
            <a:ext cx="440189" cy="247344"/>
          </a:xfrm>
          <a:prstGeom prst="rect">
            <a:avLst/>
          </a:prstGeom>
        </p:spPr>
      </p:pic>
      <p:pic>
        <p:nvPicPr>
          <p:cNvPr id="24" name="!!d3" descr="leaf_blur.png"/>
          <p:cNvPicPr>
            <a:picLocks noChangeAspect="1"/>
          </p:cNvPicPr>
          <p:nvPr/>
        </p:nvPicPr>
        <p:blipFill>
          <a:blip r:embed="rId15"/>
          <a:srcRect/>
          <a:stretch>
            <a:fillRect/>
          </a:stretch>
        </p:blipFill>
        <p:spPr>
          <a:xfrm rot="20922254">
            <a:off x="11528676" y="5002273"/>
            <a:ext cx="751595" cy="42711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911535" y="6492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i="0">
                <a:solidFill>
                  <a:srgbClr val="9C8A78"/>
                </a:solidFill>
                <a:latin typeface="Mulish SemiBold"/>
                <a:ea typeface="Mulish SemiBold"/>
                <a:cs typeface="Mulish SemiBold"/>
              </a:rP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799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99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2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4" grpId="0" animBg="1"/>
      <p:bldP spid="15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FE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paper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grass" descr="grass.png"/>
          <p:cNvPicPr>
            <a:picLocks noChangeAspect="1"/>
          </p:cNvPicPr>
          <p:nvPr/>
        </p:nvPicPr>
        <p:blipFill>
          <a:blip r:embed="rId3"/>
          <a:srcRect t="13999" b="13999"/>
          <a:stretch>
            <a:fillRect/>
          </a:stretch>
        </p:blipFill>
        <p:spPr>
          <a:xfrm>
            <a:off x="0" y="4937760"/>
            <a:ext cx="12191695" cy="1920240"/>
          </a:xfrm>
          <a:prstGeom prst="rect">
            <a:avLst/>
          </a:prstGeom>
        </p:spPr>
      </p:pic>
      <p:sp>
        <p:nvSpPr>
          <p:cNvPr id="4" name="!!word"/>
          <p:cNvSpPr txBox="1"/>
          <p:nvPr/>
        </p:nvSpPr>
        <p:spPr>
          <a:xfrm>
            <a:off x="457200" y="822960"/>
            <a:ext cx="7498080" cy="20396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90000"/>
              </a:lnSpc>
            </a:pPr>
            <a:r>
              <a:rPr sz="146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CẢM ƠN</a:t>
            </a:r>
          </a:p>
        </p:txBody>
      </p:sp>
      <p:sp>
        <p:nvSpPr>
          <p:cNvPr id="5" name="!!word_script"/>
          <p:cNvSpPr txBox="1"/>
          <p:nvPr/>
        </p:nvSpPr>
        <p:spPr>
          <a:xfrm>
            <a:off x="1463040" y="2028190"/>
            <a:ext cx="6400800" cy="8229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4800" b="1" i="0">
                <a:solidFill>
                  <a:srgbClr val="B5172F"/>
                </a:solidFill>
                <a:latin typeface="Dancing Script"/>
                <a:ea typeface="Dancing Script"/>
                <a:cs typeface="Dancing Script"/>
              </a:rPr>
              <a:t>Heragrain</a:t>
            </a:r>
          </a:p>
        </p:txBody>
      </p:sp>
      <p:pic>
        <p:nvPicPr>
          <p:cNvPr id="6" name="!!p_xoai" descr="prod_xoai.png"/>
          <p:cNvPicPr>
            <a:picLocks noChangeAspect="1"/>
          </p:cNvPicPr>
          <p:nvPr/>
        </p:nvPicPr>
        <p:blipFill>
          <a:blip r:embed="rId4"/>
          <a:srcRect t="0" b="0"/>
          <a:stretch>
            <a:fillRect/>
          </a:stretch>
        </p:blipFill>
        <p:spPr>
          <a:xfrm rot="21300000">
            <a:off x="7773039" y="1371600"/>
            <a:ext cx="3107681" cy="4937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3337560"/>
            <a:ext cx="6035040" cy="2377440"/>
          </a:xfrm>
          <a:prstGeom prst="roundRect">
            <a:avLst>
              <a:gd name="adj" fmla="val 6153"/>
            </a:avLst>
          </a:prstGeom>
          <a:solidFill>
            <a:srgbClr val="FFFDF8">
              <a:alpha val="90000"/>
            </a:srgbClr>
          </a:solidFill>
          <a:ln>
            <a:noFill/>
          </a:ln>
          <a:effectLst>
            <a:outerShdw blurRad="274320" dist="73152" dir="5400000" algn="ctr" rotWithShape="0">
              <a:srgbClr val="3B2A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phone_B5172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566160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80160" y="3520440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Hotline: 0xxx xxx xxx</a:t>
            </a:r>
          </a:p>
        </p:txBody>
      </p:sp>
      <p:pic>
        <p:nvPicPr>
          <p:cNvPr id="10" name="Picture 9" descr="globe_B5172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39867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80160" y="3941064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www.heragrain.vn</a:t>
            </a:r>
          </a:p>
        </p:txBody>
      </p:sp>
      <p:pic>
        <p:nvPicPr>
          <p:cNvPr id="12" name="Picture 11" descr="mail_B5172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4407408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80160" y="4361688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lienhe@heragrain.vn</a:t>
            </a:r>
          </a:p>
        </p:txBody>
      </p:sp>
      <p:pic>
        <p:nvPicPr>
          <p:cNvPr id="14" name="Picture 13" descr="map-pin_B5172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" y="4828032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280160" y="4782312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3B2416"/>
                </a:solidFill>
                <a:latin typeface="Mulish SemiBold"/>
                <a:ea typeface="Mulish SemiBold"/>
                <a:cs typeface="Mulish SemiBold"/>
              </a:rPr>
              <a:t>Địa chỉ: [cập nhật địa chỉ HTX]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9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9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9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9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9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12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12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  <p:bldP spid="13" grpId="0" animBg="1"/>
      <p:bldP spid="15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6EFE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bg" descr="paper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3657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600" b="0" i="0">
                <a:solidFill>
                  <a:srgbClr val="B5172F"/>
                </a:solidFill>
                <a:latin typeface="Baloo 2 ExtraBold"/>
                <a:ea typeface="Baloo 2 ExtraBold"/>
                <a:cs typeface="Baloo 2 ExtraBold"/>
              </a:rPr>
              <a:t>NGUỒN HÌNH ẢNH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00" b="0" i="0">
                <a:solidFill>
                  <a:srgbClr val="9C8A78"/>
                </a:solidFill>
                <a:latin typeface="Mulish"/>
                <a:ea typeface="Mulish"/>
                <a:cs typeface="Mulish"/>
              </a:rPr>
              <a:t>Slide ẩn — không hiển thị khi trình chiếu. Ảnh: bộ dữ liệu Open Images (Google), giấy phép CC BY 2.0. Bao bì sản phẩm: hình minh họa vẽ bằng mã — thay bằng ảnh thật của sản phẩm. Icon: Lucide (ISC). Font: Baloo 2, Mulish, Dancing Script (SIL OFL).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5394960" cy="4937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• vanishing point makes a rare appearance — emdot (Flickr, CC BY 2.0)</a:t>
            </a:r>
          </a:p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• Untitled — mar jorie (Flickr, CC BY 2.0)</a:t>
            </a:r>
          </a:p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• Rice Fields, Hoi An — Nico Caramella (Flickr, CC BY 2.0)</a:t>
            </a:r>
          </a:p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• Hills with rice terraces in Vietnam — -JvL- (Flickr, CC BY 2.0)</a:t>
            </a:r>
          </a:p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• Untitled — nevena  kukoljac (Flickr, CC BY 2.0)</a:t>
            </a:r>
          </a:p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• Mango's anyone.  Lovely and fresh. Better than — UpSticksNGo Crew (Flickr, CC BY 2.0)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600200"/>
            <a:ext cx="5394960" cy="4937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• mekong Rice drying on road — RachTHeH (Flickr, CC BY 2.0)</a:t>
            </a:r>
          </a:p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• Vietnam | jackfruit / jaka — Tauno Tõhk / 陶诺 (Flickr, CC BY 2.0)</a:t>
            </a:r>
          </a:p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• sqcircleapricots — Janet (Flickr, CC BY 2.0)</a:t>
            </a:r>
          </a:p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• Comidinhas #projetopsique — Vagner Carvalheiro (Flickr, CC BY 2.0)</a:t>
            </a:r>
          </a:p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• Sweet Flour House-Made Granola — Sweet Flour Bake Shop (Flickr, CC BY 2.0)</a:t>
            </a:r>
          </a:p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5C4636"/>
                </a:solidFill>
                <a:latin typeface="Mulish"/>
                <a:ea typeface="Mulish"/>
                <a:cs typeface="Mulish"/>
              </a:rPr>
              <a:t>• East Meets West Tuna @ Chart House - Annapolis — cdorobek (Flickr, CC BY 2.0)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