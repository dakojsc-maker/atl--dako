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Trước học phần</c:v>
                </c:pt>
              </c:strCache>
            </c:strRef>
          </c:tx>
          <c:spPr>
            <a:gradFill rotWithShape="1">
              <a:gsLst>
                <a:gs pos="0">
                  <a:srgbClr val="FFE6A1"/>
                </a:gs>
                <a:gs pos="100000">
                  <a:srgbClr val="E3AE4A"/>
                </a:gs>
              </a:gsLst>
              <a:lin ang="5400000" scaled="0"/>
            </a:gradFill>
            <a:ln>
              <a:noFill/>
            </a:ln>
          </c:spPr>
          <c:invertIfNegative val="0"/>
          <c:cat>
            <c:strRef>
              <c:f>Sheet1!$A$2:$A$5</c:f>
              <c:strCache>
                <c:ptCount val="4"/>
                <c:pt idx="0">
                  <c:v>Vấn đề cơ bản</c:v>
                </c:pt>
                <c:pt idx="1">
                  <c:v>Duy vật – duy tâm</c:v>
                </c:pt>
                <c:pt idx="2">
                  <c:v>Khả tri – bất khả tri</c:v>
                </c:pt>
                <c:pt idx="3">
                  <c:v>Vai trò thực tiễn</c:v>
                </c:pt>
              </c:strCache>
            </c:strRef>
          </c:cat>
          <c:val>
            <c:numRef>
              <c:f>Sheet1!$B$2:$B$5</c:f>
              <c:numCache>
                <c:formatCode>General</c:formatCode>
                <c:ptCount val="4"/>
                <c:pt idx="0">
                  <c:v>42</c:v>
                </c:pt>
                <c:pt idx="1">
                  <c:v>55</c:v>
                </c:pt>
                <c:pt idx="2">
                  <c:v>38</c:v>
                </c:pt>
                <c:pt idx="3">
                  <c:v>47</c:v>
                </c:pt>
              </c:numCache>
            </c:numRef>
          </c:val>
        </c:ser>
        <c:ser>
          <c:idx val="1"/>
          <c:order val="1"/>
          <c:tx>
            <c:strRef>
              <c:f>Sheet1!$C$1</c:f>
              <c:strCache>
                <c:ptCount val="1"/>
                <c:pt idx="0">
                  <c:v>Sau học phần</c:v>
                </c:pt>
              </c:strCache>
            </c:strRef>
          </c:tx>
          <c:spPr>
            <a:gradFill rotWithShape="1">
              <a:gsLst>
                <a:gs pos="0">
                  <a:srgbClr val="FFF6E0"/>
                </a:gs>
                <a:gs pos="100000">
                  <a:srgbClr val="F2D9A0"/>
                </a:gs>
              </a:gsLst>
              <a:lin ang="5400000" scaled="0"/>
            </a:gradFill>
            <a:ln>
              <a:noFill/>
            </a:ln>
          </c:spPr>
          <c:invertIfNegative val="0"/>
          <c:cat>
            <c:strRef>
              <c:f>Sheet1!$A$2:$A$5</c:f>
              <c:strCache>
                <c:ptCount val="4"/>
                <c:pt idx="0">
                  <c:v>Vấn đề cơ bản</c:v>
                </c:pt>
                <c:pt idx="1">
                  <c:v>Duy vật – duy tâm</c:v>
                </c:pt>
                <c:pt idx="2">
                  <c:v>Khả tri – bất khả tri</c:v>
                </c:pt>
                <c:pt idx="3">
                  <c:v>Vai trò thực tiễn</c:v>
                </c:pt>
              </c:strCache>
            </c:strRef>
          </c:cat>
          <c:val>
            <c:numRef>
              <c:f>Sheet1!$C$2:$C$5</c:f>
              <c:numCache>
                <c:formatCode>General</c:formatCode>
                <c:ptCount val="4"/>
                <c:pt idx="0">
                  <c:v>86</c:v>
                </c:pt>
                <c:pt idx="1">
                  <c:v>91</c:v>
                </c:pt>
                <c:pt idx="2">
                  <c:v>79</c:v>
                </c:pt>
                <c:pt idx="3">
                  <c:v>88</c:v>
                </c:pt>
              </c:numCache>
            </c:numRef>
          </c:val>
        </c:ser>
        <c:dLbls>
          <c:numFmt formatCode="0&quot;%&quot;" sourceLinked="0"/>
          <c:txPr>
            <a:bodyPr/>
            <a:lstStyle/>
            <a:p>
              <a:pPr>
                <a:defRPr sz="1100" b="1">
                  <a:solidFill>
                    <a:srgbClr val="FFE6A1"/>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w="9525">
            <a:solidFill>
              <a:srgbClr val="E3AE4A"/>
            </a:solidFill>
          </a:ln>
        </c:spPr>
        <c:txPr>
          <a:bodyPr/>
          <a:lstStyle/>
          <a:p>
            <a:pPr>
              <a:defRPr sz="1100">
                <a:solidFill>
                  <a:srgbClr val="FFF4E2"/>
                </a:solidFill>
                <a:latin typeface="Be Vietnam Pro"/>
              </a:defRPr>
            </a:pPr>
          </a:p>
        </c:txPr>
        <c:crossAx val="-2113994440"/>
        <c:crosses val="autoZero"/>
        <c:auto val="1"/>
        <c:lblAlgn val="ctr"/>
        <c:lblOffset val="100"/>
        <c:noMultiLvlLbl val="0"/>
      </c:catAx>
      <c:valAx>
        <c:axId val="-2113994440"/>
        <c:scaling>
          <c:max val="100.0"/>
          <c:min val="0.0"/>
        </c:scaling>
        <c:delete val="0"/>
        <c:axPos val="l"/>
        <c:majorGridlines>
          <c:spPr>
            <a:ln w="7620">
              <a:solidFill>
                <a:srgbClr val="8E2A2A"/>
              </a:solidFill>
            </a:ln>
          </c:spPr>
        </c:majorGridlines>
        <c:numFmt formatCode="0&quot;%&quot;" sourceLinked="0"/>
        <c:majorTickMark val="out"/>
        <c:minorTickMark val="none"/>
        <c:tickLblPos val="nextTo"/>
        <c:spPr>
          <a:ln>
            <a:noFill/>
          </a:ln>
        </c:spPr>
        <c:txPr>
          <a:bodyPr/>
          <a:lstStyle/>
          <a:p>
            <a:pPr>
              <a:defRPr sz="1100">
                <a:solidFill>
                  <a:srgbClr val="FFF4E2"/>
                </a:solidFill>
                <a:latin typeface="Be Vietnam Pro"/>
              </a:defRPr>
            </a:pPr>
          </a:p>
        </c:txPr>
        <c:crossAx val="-2068027336"/>
        <c:crosses val="autoZero"/>
      </c:valAx>
    </c:plotArea>
    <c:legend>
      <c:legendPos val="b"/>
      <c:overlay val="0"/>
      <c:txPr>
        <a:bodyPr/>
        <a:lstStyle/>
        <a:p>
          <a:pPr>
            <a:defRPr sz="1100">
              <a:solidFill>
                <a:srgbClr val="FFF4E2"/>
              </a:solidFill>
              <a:latin typeface="Be Vietnam Pro"/>
            </a:defRPr>
          </a:pPr>
        </a:p>
      </c:txPr>
    </c:legend>
    <c:dispBlanksAs val="gap"/>
  </c:chart>
  <c:spPr>
    <a:noFill/>
    <a:ln>
      <a:noFill/>
    </a:ln>
  </c:spPr>
  <c:txPr>
    <a:bodyPr/>
    <a:lstStyle/>
    <a:p>
      <a:pPr>
        <a:defRPr sz="1100">
          <a:solidFill>
            <a:srgbClr val="FFF4E2"/>
          </a:solidFill>
          <a:latin typeface="Be Vietnam Pr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bìa: tên đề tài, nhóm trình bày.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2.png"/><Relationship Id="rId7"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9.png"/><Relationship Id="rId4" Type="http://schemas.openxmlformats.org/officeDocument/2006/relationships/image" Target="../media/image21.jpg"/><Relationship Id="rId5" Type="http://schemas.openxmlformats.org/officeDocument/2006/relationships/image" Target="../media/image2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32.png"/><Relationship Id="rId4" Type="http://schemas.openxmlformats.org/officeDocument/2006/relationships/image" Target="../media/image33.jpg"/><Relationship Id="rId5" Type="http://schemas.openxmlformats.org/officeDocument/2006/relationships/image" Target="../media/image34.png"/><Relationship Id="rId6" Type="http://schemas.openxmlformats.org/officeDocument/2006/relationships/image" Target="../media/image35.jpg"/><Relationship Id="rId7" Type="http://schemas.openxmlformats.org/officeDocument/2006/relationships/image" Target="../media/image36.png"/><Relationship Id="rId8" Type="http://schemas.openxmlformats.org/officeDocument/2006/relationships/image" Target="../media/image3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38.png"/><Relationship Id="rId6" Type="http://schemas.openxmlformats.org/officeDocument/2006/relationships/image" Target="../media/image6.png"/><Relationship Id="rId7"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9.png"/><Relationship Id="rId4" Type="http://schemas.openxmlformats.org/officeDocument/2006/relationships/image" Target="../media/image14.jpg"/><Relationship Id="rId5" Type="http://schemas.openxmlformats.org/officeDocument/2006/relationships/image" Target="../media/image3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40.png"/><Relationship Id="rId8"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4.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9.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0.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44.png"/><Relationship Id="rId7"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_cover.jpg"/>
          <p:cNvPicPr>
            <a:picLocks noChangeAspect="1"/>
          </p:cNvPicPr>
          <p:nvPr/>
        </p:nvPicPr>
        <p:blipFill>
          <a:blip r:embed="rId2"/>
          <a:srcRect l="1" r="1"/>
          <a:stretch>
            <a:fillRect/>
          </a:stretch>
        </p:blipFill>
        <p:spPr>
          <a:xfrm>
            <a:off x="0" y="0"/>
            <a:ext cx="12191695" cy="6858000"/>
          </a:xfrm>
          <a:prstGeom prst="rect">
            <a:avLst/>
          </a:prstGeom>
        </p:spPr>
      </p:pic>
      <p:pic>
        <p:nvPicPr>
          <p:cNvPr id="3" name="!!emblem" descr="hammer_sickle.png"/>
          <p:cNvPicPr>
            <a:picLocks noChangeAspect="1"/>
          </p:cNvPicPr>
          <p:nvPr/>
        </p:nvPicPr>
        <p:blipFill>
          <a:blip r:embed="rId3"/>
          <a:srcRect t="0" b="0"/>
          <a:stretch>
            <a:fillRect/>
          </a:stretch>
        </p:blipFill>
        <p:spPr>
          <a:xfrm>
            <a:off x="7635240" y="182880"/>
            <a:ext cx="2639335" cy="3017520"/>
          </a:xfrm>
          <a:prstGeom prst="rect">
            <a:avLst/>
          </a:prstGeom>
        </p:spPr>
      </p:pic>
      <p:pic>
        <p:nvPicPr>
          <p:cNvPr id="4" name="!!ribbon" descr="ribbon_tr.png"/>
          <p:cNvPicPr>
            <a:picLocks noChangeAspect="1"/>
          </p:cNvPicPr>
          <p:nvPr/>
        </p:nvPicPr>
        <p:blipFill>
          <a:blip r:embed="rId4"/>
          <a:srcRect l="48" r="48"/>
          <a:stretch>
            <a:fillRect/>
          </a:stretch>
        </p:blipFill>
        <p:spPr>
          <a:xfrm>
            <a:off x="8351215" y="-320040"/>
            <a:ext cx="4206240" cy="2706624"/>
          </a:xfrm>
          <a:prstGeom prst="rect">
            <a:avLst/>
          </a:prstGeom>
        </p:spPr>
      </p:pic>
      <p:pic>
        <p:nvPicPr>
          <p:cNvPr id="5" name="Picture 4" descr="glow_FFB347_38_1.4.png"/>
          <p:cNvPicPr>
            <a:picLocks noChangeAspect="1"/>
          </p:cNvPicPr>
          <p:nvPr/>
        </p:nvPicPr>
        <p:blipFill>
          <a:blip r:embed="rId5"/>
          <a:stretch>
            <a:fillRect/>
          </a:stretch>
        </p:blipFill>
        <p:spPr>
          <a:xfrm>
            <a:off x="6673977" y="153391"/>
            <a:ext cx="6037326" cy="6037326"/>
          </a:xfrm>
          <a:prstGeom prst="rect">
            <a:avLst/>
          </a:prstGeom>
        </p:spPr>
      </p:pic>
      <p:pic>
        <p:nvPicPr>
          <p:cNvPr id="6" name="!!hero" descr="cut_lenin_bes.png"/>
          <p:cNvPicPr>
            <a:picLocks noChangeAspect="1"/>
          </p:cNvPicPr>
          <p:nvPr/>
        </p:nvPicPr>
        <p:blipFill>
          <a:blip r:embed="rId6"/>
          <a:stretch>
            <a:fillRect/>
          </a:stretch>
        </p:blipFill>
        <p:spPr>
          <a:xfrm>
            <a:off x="8218376" y="502920"/>
            <a:ext cx="2948528" cy="6355080"/>
          </a:xfrm>
          <a:prstGeom prst="rect">
            <a:avLst/>
          </a:prstGeom>
        </p:spPr>
      </p:pic>
      <p:pic>
        <p:nvPicPr>
          <p:cNvPr id="7" name="!!drape" descr="drape_br.png"/>
          <p:cNvPicPr>
            <a:picLocks noChangeAspect="1"/>
          </p:cNvPicPr>
          <p:nvPr/>
        </p:nvPicPr>
        <p:blipFill>
          <a:blip r:embed="rId7"/>
          <a:srcRect/>
          <a:stretch>
            <a:fillRect/>
          </a:stretch>
        </p:blipFill>
        <p:spPr>
          <a:xfrm>
            <a:off x="6156655" y="3840480"/>
            <a:ext cx="6400800" cy="3200400"/>
          </a:xfrm>
          <a:prstGeom prst="rect">
            <a:avLst/>
          </a:prstGeom>
        </p:spPr>
      </p:pic>
      <p:sp>
        <p:nvSpPr>
          <p:cNvPr id="8" name="!!kicker"/>
          <p:cNvSpPr/>
          <p:nvPr/>
        </p:nvSpPr>
        <p:spPr>
          <a:xfrm>
            <a:off x="548640" y="914400"/>
            <a:ext cx="2449985" cy="420624"/>
          </a:xfrm>
          <a:prstGeom prst="snip2DiagRect">
            <a:avLst>
              <a:gd name="adj1" fmla="val 0"/>
              <a:gd name="adj2" fmla="val 26086"/>
            </a:avLst>
          </a:prstGeom>
          <a:no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82880" rIns="182880" tIns="18288" bIns="18288" wrap="square"/>
          <a:lstStyle/>
          <a:p>
            <a:pPr algn="ctr">
              <a:lnSpc>
                <a:spcPct val="105000"/>
              </a:lnSpc>
            </a:pPr>
            <a:r>
              <a:rPr sz="1400" b="0" i="0" spc="150">
                <a:solidFill>
                  <a:srgbClr val="FFE6A1"/>
                </a:solidFill>
                <a:latin typeface="Big Shoulders Display Black"/>
                <a:ea typeface="Big Shoulders Display Black"/>
                <a:cs typeface="Big Shoulders Display Black"/>
              </a:rPr>
              <a:t>TRIẾT HỌC MÁC – LÊNIN</a:t>
            </a:r>
          </a:p>
        </p:txBody>
      </p:sp>
      <p:sp>
        <p:nvSpPr>
          <p:cNvPr id="9" name="!!title"/>
          <p:cNvSpPr txBox="1"/>
          <p:nvPr/>
        </p:nvSpPr>
        <p:spPr>
          <a:xfrm>
            <a:off x="548640" y="1554480"/>
            <a:ext cx="6766560" cy="1322832"/>
          </a:xfrm>
          <a:prstGeom prst="rect">
            <a:avLst/>
          </a:prstGeom>
          <a:noFill/>
        </p:spPr>
        <p:txBody>
          <a:bodyPr wrap="square" lIns="0" rIns="0" tIns="0" bIns="0" anchor="t">
            <a:noAutofit/>
          </a:bodyPr>
          <a:lstStyle/>
          <a:p>
            <a:pPr algn="l">
              <a:lnSpc>
                <a:spcPct val="92000"/>
              </a:lnSpc>
            </a:pPr>
            <a:r>
              <a:rPr sz="4400" b="0" i="0" spc="50">
                <a:gradFill rotWithShape="1">
                  <a:gsLst>
                    <a:gs pos="0">
                      <a:srgbClr val="FFF3C4"/>
                    </a:gs>
                    <a:gs pos="55000">
                      <a:srgbClr val="FFE6A1"/>
                    </a:gs>
                    <a:gs pos="100000">
                      <a:srgbClr val="E3AE4A"/>
                    </a:gs>
                  </a:gsLst>
                  <a:lin ang="5400000" scaled="0"/>
                </a:gradFill>
                <a:effectLst>
                  <a:outerShdw blurRad="128016" dist="54864" dir="5400000" algn="ctr" rotWithShape="0">
                    <a:srgbClr val="3A0006">
                      <a:alpha val="60000"/>
                    </a:srgbClr>
                  </a:outerShdw>
                </a:effectLst>
                <a:latin typeface="Big Shoulders Display Black"/>
                <a:ea typeface="Big Shoulders Display Black"/>
                <a:cs typeface="Big Shoulders Display Black"/>
              </a:rPr>
              <a:t>VẤN ĐỀ CƠ BẢN CỦA TRIẾT HỌC</a:t>
            </a:r>
          </a:p>
          <a:p>
            <a:pPr algn="l">
              <a:lnSpc>
                <a:spcPct val="92000"/>
              </a:lnSpc>
            </a:pPr>
            <a:r>
              <a:rPr sz="4400" b="0" i="0" spc="50">
                <a:gradFill rotWithShape="1">
                  <a:gsLst>
                    <a:gs pos="0">
                      <a:srgbClr val="FFF3C4"/>
                    </a:gs>
                    <a:gs pos="55000">
                      <a:srgbClr val="FFE6A1"/>
                    </a:gs>
                    <a:gs pos="100000">
                      <a:srgbClr val="E3AE4A"/>
                    </a:gs>
                  </a:gsLst>
                  <a:lin ang="5400000" scaled="0"/>
                </a:gradFill>
                <a:effectLst>
                  <a:outerShdw blurRad="128016" dist="54864" dir="5400000" algn="ctr" rotWithShape="0">
                    <a:srgbClr val="3A0006">
                      <a:alpha val="60000"/>
                    </a:srgbClr>
                  </a:outerShdw>
                </a:effectLst>
                <a:latin typeface="Big Shoulders Display Black"/>
                <a:ea typeface="Big Shoulders Display Black"/>
                <a:cs typeface="Big Shoulders Display Black"/>
              </a:rPr>
              <a:t>VÀ CÁC TRƯỜNG PHÁI TRIẾT HỌC</a:t>
            </a:r>
          </a:p>
        </p:txBody>
      </p:sp>
      <p:sp>
        <p:nvSpPr>
          <p:cNvPr id="10" name="Snip Diagonal Corner Rectangle 9"/>
          <p:cNvSpPr/>
          <p:nvPr/>
        </p:nvSpPr>
        <p:spPr>
          <a:xfrm>
            <a:off x="548640" y="3151632"/>
            <a:ext cx="1622266" cy="420624"/>
          </a:xfrm>
          <a:prstGeom prst="snip2DiagRect">
            <a:avLst>
              <a:gd name="adj1" fmla="val 0"/>
              <a:gd name="adj2" fmla="val 26086"/>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250" b="0" i="0">
                <a:solidFill>
                  <a:srgbClr val="FFF4E2"/>
                </a:solidFill>
                <a:latin typeface="Be Vietnam Pro Medium"/>
                <a:ea typeface="Be Vietnam Pro Medium"/>
                <a:cs typeface="Be Vietnam Pro Medium"/>
              </a:rPr>
              <a:t>Vấn đề cơ bản</a:t>
            </a:r>
          </a:p>
        </p:txBody>
      </p:sp>
      <p:sp>
        <p:nvSpPr>
          <p:cNvPr id="11" name="Snip Diagonal Corner Rectangle 10"/>
          <p:cNvSpPr/>
          <p:nvPr/>
        </p:nvSpPr>
        <p:spPr>
          <a:xfrm>
            <a:off x="2308066" y="3151632"/>
            <a:ext cx="1928495" cy="420624"/>
          </a:xfrm>
          <a:prstGeom prst="snip2DiagRect">
            <a:avLst>
              <a:gd name="adj1" fmla="val 0"/>
              <a:gd name="adj2" fmla="val 26086"/>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250" b="0" i="0">
                <a:solidFill>
                  <a:srgbClr val="FFF4E2"/>
                </a:solidFill>
                <a:latin typeface="Be Vietnam Pro Medium"/>
                <a:ea typeface="Be Vietnam Pro Medium"/>
                <a:cs typeface="Be Vietnam Pro Medium"/>
              </a:rPr>
              <a:t>Duy vật &amp; duy tâm</a:t>
            </a:r>
          </a:p>
        </p:txBody>
      </p:sp>
      <p:sp>
        <p:nvSpPr>
          <p:cNvPr id="12" name="Snip Diagonal Corner Rectangle 11"/>
          <p:cNvSpPr/>
          <p:nvPr/>
        </p:nvSpPr>
        <p:spPr>
          <a:xfrm>
            <a:off x="4373721" y="3151632"/>
            <a:ext cx="2031365" cy="420624"/>
          </a:xfrm>
          <a:prstGeom prst="snip2DiagRect">
            <a:avLst>
              <a:gd name="adj1" fmla="val 0"/>
              <a:gd name="adj2" fmla="val 26086"/>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250" b="0" i="0">
                <a:solidFill>
                  <a:srgbClr val="FFF4E2"/>
                </a:solidFill>
                <a:latin typeface="Be Vietnam Pro Medium"/>
                <a:ea typeface="Be Vietnam Pro Medium"/>
                <a:cs typeface="Be Vietnam Pro Medium"/>
              </a:rPr>
              <a:t>Khả tri &amp; bất khả tri</a:t>
            </a:r>
          </a:p>
        </p:txBody>
      </p:sp>
      <p:sp>
        <p:nvSpPr>
          <p:cNvPr id="13" name="TextBox 12"/>
          <p:cNvSpPr txBox="1"/>
          <p:nvPr/>
        </p:nvSpPr>
        <p:spPr>
          <a:xfrm>
            <a:off x="548640" y="5806440"/>
            <a:ext cx="6400800" cy="685800"/>
          </a:xfrm>
          <a:prstGeom prst="rect">
            <a:avLst/>
          </a:prstGeom>
          <a:noFill/>
        </p:spPr>
        <p:txBody>
          <a:bodyPr wrap="square" lIns="0" rIns="0" tIns="0" bIns="0" anchor="t">
            <a:noAutofit/>
          </a:bodyPr>
          <a:lstStyle/>
          <a:p>
            <a:pPr algn="l">
              <a:lnSpc>
                <a:spcPct val="115000"/>
              </a:lnSpc>
            </a:pPr>
            <a:r>
              <a:rPr sz="1600" b="0" i="0" spc="120">
                <a:solidFill>
                  <a:srgbClr val="FFE6A1"/>
                </a:solidFill>
                <a:latin typeface="Big Shoulders Display Black"/>
                <a:ea typeface="Big Shoulders Display Black"/>
                <a:cs typeface="Big Shoulders Display Black"/>
              </a:rPr>
              <a:t>TRÌNH BÀY: NHÓM 3 – LỚP TRIẾT HỌC K50</a:t>
            </a:r>
          </a:p>
          <a:p>
            <a:pPr algn="l">
              <a:lnSpc>
                <a:spcPct val="115000"/>
              </a:lnSpc>
            </a:pPr>
            <a:r>
              <a:rPr sz="1150" b="0" i="0">
                <a:solidFill>
                  <a:srgbClr val="FFF4E2"/>
                </a:solidFill>
                <a:latin typeface="Be Vietnam Pro"/>
                <a:ea typeface="Be Vietnam Pro"/>
                <a:cs typeface="Be Vietnam Pro"/>
              </a:rPr>
              <a:t>GVHD: TS. Nguyễn Văn A   |   Học kỳ I, năm học 2026 – 2027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ppt_w</p:attrName>
                                        </p:attrNameLst>
                                      </p:cBhvr>
                                      <p:tavLst>
                                        <p:tav tm="0">
                                          <p:val>
                                            <p:strVal val="0"/>
                                          </p:val>
                                        </p:tav>
                                        <p:tav tm="100000">
                                          <p:val>
                                            <p:strVal val="#ppt_w"/>
                                          </p:val>
                                        </p:tav>
                                      </p:tavLst>
                                    </p:anim>
                                    <p:anim calcmode="lin" valueType="num">
                                      <p:cBhvr additive="base">
                                        <p:cTn id="8" dur="1000" fill="hold"/>
                                        <p:tgtEl>
                                          <p:spTgt spid="3"/>
                                        </p:tgtEl>
                                        <p:attrNameLst>
                                          <p:attrName>ppt_h</p:attrName>
                                        </p:attrNameLst>
                                      </p:cBhvr>
                                      <p:tavLst>
                                        <p:tav tm="0">
                                          <p:val>
                                            <p:str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par>
                                <p:cTn id="11" presetID="2" presetClass="entr" presetSubtype="2"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1000" fill="hold"/>
                                        <p:tgtEl>
                                          <p:spTgt spid="5"/>
                                        </p:tgtEl>
                                        <p:attrNameLst>
                                          <p:attrName>ppt_x</p:attrName>
                                        </p:attrNameLst>
                                      </p:cBhvr>
                                      <p:tavLst>
                                        <p:tav tm="0">
                                          <p:val>
                                            <p:strVal val="1+#ppt_w/2"/>
                                          </p:val>
                                        </p:tav>
                                        <p:tav tm="100000">
                                          <p:val>
                                            <p:strVal val="#ppt_x"/>
                                          </p:val>
                                        </p:tav>
                                      </p:tavLst>
                                    </p:anim>
                                    <p:anim calcmode="lin" valueType="num">
                                      <p:cBhvr additive="base">
                                        <p:cTn id="14" dur="1000" fill="hold"/>
                                        <p:tgtEl>
                                          <p:spTgt spid="5"/>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1000" fill="hold"/>
                                        <p:tgtEl>
                                          <p:spTgt spid="6"/>
                                        </p:tgtEl>
                                        <p:attrNameLst>
                                          <p:attrName>ppt_x</p:attrName>
                                        </p:attrNameLst>
                                      </p:cBhvr>
                                      <p:tavLst>
                                        <p:tav tm="0">
                                          <p:val>
                                            <p:strVal val="1+#ppt_w/2"/>
                                          </p:val>
                                        </p:tav>
                                        <p:tav tm="100000">
                                          <p:val>
                                            <p:strVal val="#ppt_x"/>
                                          </p:val>
                                        </p:tav>
                                      </p:tavLst>
                                    </p:anim>
                                    <p:anim calcmode="lin" valueType="num">
                                      <p:cBhvr additive="base">
                                        <p:cTn id="18" dur="1000" fill="hold"/>
                                        <p:tgtEl>
                                          <p:spTgt spid="6"/>
                                        </p:tgtEl>
                                        <p:attrNameLst>
                                          <p:attrName>ppt_y</p:attrName>
                                        </p:attrNameLst>
                                      </p:cBhvr>
                                      <p:tavLst>
                                        <p:tav tm="0">
                                          <p:val>
                                            <p:strVal val="#ppt_y"/>
                                          </p:val>
                                        </p:tav>
                                        <p:tav tm="100000">
                                          <p:val>
                                            <p:strVal val="#ppt_y"/>
                                          </p:val>
                                        </p:tav>
                                      </p:tavLst>
                                    </p:anim>
                                  </p:childTnLst>
                                </p:cTn>
                              </p:par>
                              <p:par>
                                <p:cTn id="19" presetID="22" presetClass="entr" presetSubtype="8" fill="hold" grpId="0" nodeType="withEffect">
                                  <p:stCondLst>
                                    <p:cond delay="50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par>
                                <p:cTn id="22" presetID="22" presetClass="entr" presetSubtype="8" fill="hold" grpId="0" nodeType="withEffect">
                                  <p:stCondLst>
                                    <p:cond delay="60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800"/>
                                        <p:tgtEl>
                                          <p:spTgt spid="7"/>
                                        </p:tgtEl>
                                      </p:cBhvr>
                                    </p:animEffect>
                                  </p:childTnLst>
                                </p:cTn>
                              </p:par>
                              <p:par>
                                <p:cTn id="25" presetID="53" presetClass="entr" presetSubtype="16" fill="hold" grpId="0" nodeType="withEffect">
                                  <p:stCondLst>
                                    <p:cond delay="75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900" fill="hold"/>
                                        <p:tgtEl>
                                          <p:spTgt spid="9"/>
                                        </p:tgtEl>
                                        <p:attrNameLst>
                                          <p:attrName>ppt_w</p:attrName>
                                        </p:attrNameLst>
                                      </p:cBhvr>
                                      <p:tavLst>
                                        <p:tav tm="0">
                                          <p:val>
                                            <p:strVal val="#ppt_w*0.7"/>
                                          </p:val>
                                        </p:tav>
                                        <p:tav tm="100000">
                                          <p:val>
                                            <p:strVal val="#ppt_w"/>
                                          </p:val>
                                        </p:tav>
                                      </p:tavLst>
                                    </p:anim>
                                    <p:anim calcmode="lin" valueType="num">
                                      <p:cBhvr additive="base">
                                        <p:cTn id="28" dur="900" fill="hold"/>
                                        <p:tgtEl>
                                          <p:spTgt spid="9"/>
                                        </p:tgtEl>
                                        <p:attrNameLst>
                                          <p:attrName>ppt_h</p:attrName>
                                        </p:attrNameLst>
                                      </p:cBhvr>
                                      <p:tavLst>
                                        <p:tav tm="0">
                                          <p:val>
                                            <p:strVal val="#ppt_h*0.7"/>
                                          </p:val>
                                        </p:tav>
                                        <p:tav tm="100000">
                                          <p:val>
                                            <p:strVal val="#ppt_h"/>
                                          </p:val>
                                        </p:tav>
                                      </p:tavLst>
                                    </p:anim>
                                    <p:animEffect transition="in" filter="fade">
                                      <p:cBhvr>
                                        <p:cTn id="29" dur="900"/>
                                        <p:tgtEl>
                                          <p:spTgt spid="9"/>
                                        </p:tgtEl>
                                      </p:cBhvr>
                                    </p:animEffect>
                                  </p:childTnLst>
                                </p:cTn>
                              </p:par>
                              <p:par>
                                <p:cTn id="30" presetID="22" presetClass="entr" presetSubtype="8" fill="hold" grpId="0" nodeType="withEffect">
                                  <p:stCondLst>
                                    <p:cond delay="80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800"/>
                                        <p:tgtEl>
                                          <p:spTgt spid="4"/>
                                        </p:tgtEl>
                                      </p:cBhvr>
                                    </p:animEffect>
                                  </p:childTnLst>
                                </p:cTn>
                              </p:par>
                              <p:par>
                                <p:cTn id="33" presetID="42" presetClass="entr" presetSubtype="0" fill="hold" grpId="0" nodeType="withEffect">
                                  <p:stCondLst>
                                    <p:cond delay="130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50"/>
                                        <p:tgtEl>
                                          <p:spTgt spid="10"/>
                                        </p:tgtEl>
                                      </p:cBhvr>
                                    </p:animEffect>
                                    <p:anim calcmode="lin" valueType="num">
                                      <p:cBhvr additive="base">
                                        <p:cTn id="36" dur="450" fill="hold"/>
                                        <p:tgtEl>
                                          <p:spTgt spid="10"/>
                                        </p:tgtEl>
                                        <p:attrNameLst>
                                          <p:attrName>ppt_x</p:attrName>
                                        </p:attrNameLst>
                                      </p:cBhvr>
                                      <p:tavLst>
                                        <p:tav tm="0">
                                          <p:val>
                                            <p:strVal val="#ppt_x"/>
                                          </p:val>
                                        </p:tav>
                                        <p:tav tm="100000">
                                          <p:val>
                                            <p:strVal val="#ppt_x"/>
                                          </p:val>
                                        </p:tav>
                                      </p:tavLst>
                                    </p:anim>
                                    <p:anim calcmode="lin" valueType="num">
                                      <p:cBhvr additive="base">
                                        <p:cTn id="37" dur="450" fill="hold"/>
                                        <p:tgtEl>
                                          <p:spTgt spid="10"/>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42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50"/>
                                        <p:tgtEl>
                                          <p:spTgt spid="11"/>
                                        </p:tgtEl>
                                      </p:cBhvr>
                                    </p:animEffect>
                                    <p:anim calcmode="lin" valueType="num">
                                      <p:cBhvr additive="base">
                                        <p:cTn id="41" dur="450" fill="hold"/>
                                        <p:tgtEl>
                                          <p:spTgt spid="11"/>
                                        </p:tgtEl>
                                        <p:attrNameLst>
                                          <p:attrName>ppt_x</p:attrName>
                                        </p:attrNameLst>
                                      </p:cBhvr>
                                      <p:tavLst>
                                        <p:tav tm="0">
                                          <p:val>
                                            <p:strVal val="#ppt_x"/>
                                          </p:val>
                                        </p:tav>
                                        <p:tav tm="100000">
                                          <p:val>
                                            <p:strVal val="#ppt_x"/>
                                          </p:val>
                                        </p:tav>
                                      </p:tavLst>
                                    </p:anim>
                                    <p:anim calcmode="lin" valueType="num">
                                      <p:cBhvr additive="base">
                                        <p:cTn id="42" dur="450" fill="hold"/>
                                        <p:tgtEl>
                                          <p:spTgt spid="11"/>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54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450"/>
                                        <p:tgtEl>
                                          <p:spTgt spid="12"/>
                                        </p:tgtEl>
                                      </p:cBhvr>
                                    </p:animEffect>
                                    <p:anim calcmode="lin" valueType="num">
                                      <p:cBhvr additive="base">
                                        <p:cTn id="46" dur="450" fill="hold"/>
                                        <p:tgtEl>
                                          <p:spTgt spid="12"/>
                                        </p:tgtEl>
                                        <p:attrNameLst>
                                          <p:attrName>ppt_x</p:attrName>
                                        </p:attrNameLst>
                                      </p:cBhvr>
                                      <p:tavLst>
                                        <p:tav tm="0">
                                          <p:val>
                                            <p:strVal val="#ppt_x"/>
                                          </p:val>
                                        </p:tav>
                                        <p:tav tm="100000">
                                          <p:val>
                                            <p:strVal val="#ppt_x"/>
                                          </p:val>
                                        </p:tav>
                                      </p:tavLst>
                                    </p:anim>
                                    <p:anim calcmode="lin" valueType="num">
                                      <p:cBhvr additive="base">
                                        <p:cTn id="47" dur="450" fill="hold"/>
                                        <p:tgtEl>
                                          <p:spTgt spid="12"/>
                                        </p:tgtEl>
                                        <p:attrNameLst>
                                          <p:attrName>ppt_y</p:attrName>
                                        </p:attrNameLst>
                                      </p:cBhvr>
                                      <p:tavLst>
                                        <p:tav tm="0">
                                          <p:val>
                                            <p:strVal val="#ppt_y+.06"/>
                                          </p:val>
                                        </p:tav>
                                        <p:tav tm="100000">
                                          <p:val>
                                            <p:strVal val="#ppt_y"/>
                                          </p:val>
                                        </p:tav>
                                      </p:tavLst>
                                    </p:anim>
                                  </p:childTnLst>
                                </p:cTn>
                              </p:par>
                              <p:par>
                                <p:cTn id="48" presetID="10" presetClass="entr" presetSubtype="0" fill="hold" grpId="0" nodeType="withEffect">
                                  <p:stCondLst>
                                    <p:cond delay="17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tab"/>
          <p:cNvSpPr/>
          <p:nvPr/>
        </p:nvSpPr>
        <p:spPr>
          <a:xfrm>
            <a:off x="548640" y="566928"/>
            <a:ext cx="5763861"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CÂU HỎI MỞ ĐẦU VÀ BỐ CỤC NỘI DUNG</a:t>
            </a:r>
          </a:p>
        </p:txBody>
      </p:sp>
      <p:sp>
        <p:nvSpPr>
          <p:cNvPr id="4" name="!!rule"/>
          <p:cNvSpPr/>
          <p:nvPr/>
        </p:nvSpPr>
        <p:spPr>
          <a:xfrm>
            <a:off x="6422229" y="1133856"/>
            <a:ext cx="5403706"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5" name="TextBox 4"/>
          <p:cNvSpPr txBox="1"/>
          <p:nvPr/>
        </p:nvSpPr>
        <p:spPr>
          <a:xfrm>
            <a:off x="685800" y="1481328"/>
            <a:ext cx="9692640" cy="566928"/>
          </a:xfrm>
          <a:prstGeom prst="rect">
            <a:avLst/>
          </a:prstGeom>
          <a:noFill/>
        </p:spPr>
        <p:txBody>
          <a:bodyPr wrap="square" lIns="0" rIns="0" tIns="0" bIns="0" anchor="ctr">
            <a:noAutofit/>
          </a:bodyPr>
          <a:lstStyle/>
          <a:p>
            <a:pPr algn="l"/>
            <a:r>
              <a:rPr sz="2100" b="0" i="1">
                <a:solidFill>
                  <a:srgbClr val="FFE6A1"/>
                </a:solidFill>
                <a:effectLst>
                  <a:outerShdw blurRad="91440" dist="36576" dir="5400000" algn="ctr" rotWithShape="0">
                    <a:srgbClr val="3A0006">
                      <a:alpha val="45000"/>
                    </a:srgbClr>
                  </a:outerShdw>
                </a:effectLst>
                <a:latin typeface="Be Vietnam Pro"/>
                <a:ea typeface="Be Vietnam Pro"/>
                <a:cs typeface="Be Vietnam Pro"/>
              </a:rPr>
              <a:t>Thế giới vật chất có trước, hay ý thức quyết định thế giới?</a:t>
            </a:r>
          </a:p>
        </p:txBody>
      </p:sp>
      <p:pic>
        <p:nvPicPr>
          <p:cNvPr id="6" name="Picture 5" descr="quote_close.png"/>
          <p:cNvPicPr>
            <a:picLocks noChangeAspect="1"/>
          </p:cNvPicPr>
          <p:nvPr/>
        </p:nvPicPr>
        <p:blipFill>
          <a:blip r:embed="rId3"/>
          <a:stretch>
            <a:fillRect/>
          </a:stretch>
        </p:blipFill>
        <p:spPr>
          <a:xfrm>
            <a:off x="10637215" y="1533144"/>
            <a:ext cx="777240" cy="569976"/>
          </a:xfrm>
          <a:prstGeom prst="rect">
            <a:avLst/>
          </a:prstGeom>
        </p:spPr>
      </p:pic>
      <p:sp>
        <p:nvSpPr>
          <p:cNvPr id="7" name="Snip Diagonal Corner Rectangle 6"/>
          <p:cNvSpPr/>
          <p:nvPr/>
        </p:nvSpPr>
        <p:spPr>
          <a:xfrm>
            <a:off x="548640" y="2514600"/>
            <a:ext cx="3515258" cy="1691640"/>
          </a:xfrm>
          <a:prstGeom prst="snip2DiagRect">
            <a:avLst>
              <a:gd name="adj1" fmla="val 0"/>
              <a:gd name="adj2" fmla="val 11891"/>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8" name="Picture 7" descr="star_red.png"/>
          <p:cNvPicPr>
            <a:picLocks noChangeAspect="1"/>
          </p:cNvPicPr>
          <p:nvPr/>
        </p:nvPicPr>
        <p:blipFill>
          <a:blip r:embed="rId4"/>
          <a:stretch>
            <a:fillRect/>
          </a:stretch>
        </p:blipFill>
        <p:spPr>
          <a:xfrm>
            <a:off x="2054809" y="2272963"/>
            <a:ext cx="502920" cy="493097"/>
          </a:xfrm>
          <a:prstGeom prst="rect">
            <a:avLst/>
          </a:prstGeom>
        </p:spPr>
      </p:pic>
      <p:sp>
        <p:nvSpPr>
          <p:cNvPr id="9" name="TextBox 8"/>
          <p:cNvSpPr txBox="1"/>
          <p:nvPr/>
        </p:nvSpPr>
        <p:spPr>
          <a:xfrm>
            <a:off x="548640" y="2825496"/>
            <a:ext cx="3515258" cy="411480"/>
          </a:xfrm>
          <a:prstGeom prst="rect">
            <a:avLst/>
          </a:prstGeom>
          <a:noFill/>
        </p:spPr>
        <p:txBody>
          <a:bodyPr wrap="square" lIns="0" rIns="0" tIns="0" bIns="0" anchor="t">
            <a:noAutofit/>
          </a:bodyPr>
          <a:lstStyle/>
          <a:p>
            <a:pPr algn="ctr"/>
            <a:r>
              <a:rPr sz="2200" b="0" i="0" spc="15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PHẦN 1</a:t>
            </a:r>
          </a:p>
        </p:txBody>
      </p:sp>
      <p:sp>
        <p:nvSpPr>
          <p:cNvPr id="10" name="TextBox 9"/>
          <p:cNvSpPr txBox="1"/>
          <p:nvPr/>
        </p:nvSpPr>
        <p:spPr>
          <a:xfrm>
            <a:off x="777240" y="3291840"/>
            <a:ext cx="3058058" cy="822960"/>
          </a:xfrm>
          <a:prstGeom prst="rect">
            <a:avLst/>
          </a:prstGeom>
          <a:noFill/>
        </p:spPr>
        <p:txBody>
          <a:bodyPr wrap="square" lIns="0" rIns="0" tIns="0" bIns="0" anchor="t">
            <a:noAutofit/>
          </a:bodyPr>
          <a:lstStyle/>
          <a:p>
            <a:pPr algn="ctr">
              <a:lnSpc>
                <a:spcPct val="112000"/>
              </a:lnSpc>
            </a:pPr>
            <a:r>
              <a:rPr sz="1300" b="0" i="0">
                <a:solidFill>
                  <a:srgbClr val="FFF4E2"/>
                </a:solidFill>
                <a:latin typeface="Be Vietnam Pro Medium"/>
                <a:ea typeface="Be Vietnam Pro Medium"/>
                <a:cs typeface="Be Vietnam Pro Medium"/>
              </a:rPr>
              <a:t>Nội dung vấn đề cơ bản của triết học</a:t>
            </a:r>
          </a:p>
        </p:txBody>
      </p:sp>
      <p:sp>
        <p:nvSpPr>
          <p:cNvPr id="11" name="Snip Diagonal Corner Rectangle 10"/>
          <p:cNvSpPr/>
          <p:nvPr/>
        </p:nvSpPr>
        <p:spPr>
          <a:xfrm>
            <a:off x="4338218" y="2514600"/>
            <a:ext cx="3515258" cy="1691640"/>
          </a:xfrm>
          <a:prstGeom prst="snip2DiagRect">
            <a:avLst>
              <a:gd name="adj1" fmla="val 0"/>
              <a:gd name="adj2" fmla="val 11891"/>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2" name="Picture 11" descr="star_red.png"/>
          <p:cNvPicPr>
            <a:picLocks noChangeAspect="1"/>
          </p:cNvPicPr>
          <p:nvPr/>
        </p:nvPicPr>
        <p:blipFill>
          <a:blip r:embed="rId4"/>
          <a:stretch>
            <a:fillRect/>
          </a:stretch>
        </p:blipFill>
        <p:spPr>
          <a:xfrm>
            <a:off x="5844388" y="2272963"/>
            <a:ext cx="502920" cy="493097"/>
          </a:xfrm>
          <a:prstGeom prst="rect">
            <a:avLst/>
          </a:prstGeom>
        </p:spPr>
      </p:pic>
      <p:sp>
        <p:nvSpPr>
          <p:cNvPr id="13" name="TextBox 12"/>
          <p:cNvSpPr txBox="1"/>
          <p:nvPr/>
        </p:nvSpPr>
        <p:spPr>
          <a:xfrm>
            <a:off x="4338218" y="2825496"/>
            <a:ext cx="3515258" cy="411480"/>
          </a:xfrm>
          <a:prstGeom prst="rect">
            <a:avLst/>
          </a:prstGeom>
          <a:noFill/>
        </p:spPr>
        <p:txBody>
          <a:bodyPr wrap="square" lIns="0" rIns="0" tIns="0" bIns="0" anchor="t">
            <a:noAutofit/>
          </a:bodyPr>
          <a:lstStyle/>
          <a:p>
            <a:pPr algn="ctr"/>
            <a:r>
              <a:rPr sz="2200" b="0" i="0" spc="15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PHẦN 2</a:t>
            </a:r>
          </a:p>
        </p:txBody>
      </p:sp>
      <p:sp>
        <p:nvSpPr>
          <p:cNvPr id="14" name="TextBox 13"/>
          <p:cNvSpPr txBox="1"/>
          <p:nvPr/>
        </p:nvSpPr>
        <p:spPr>
          <a:xfrm>
            <a:off x="4566818" y="3291840"/>
            <a:ext cx="3058058" cy="822960"/>
          </a:xfrm>
          <a:prstGeom prst="rect">
            <a:avLst/>
          </a:prstGeom>
          <a:noFill/>
        </p:spPr>
        <p:txBody>
          <a:bodyPr wrap="square" lIns="0" rIns="0" tIns="0" bIns="0" anchor="t">
            <a:noAutofit/>
          </a:bodyPr>
          <a:lstStyle/>
          <a:p>
            <a:pPr algn="ctr">
              <a:lnSpc>
                <a:spcPct val="112000"/>
              </a:lnSpc>
            </a:pPr>
            <a:r>
              <a:rPr sz="1300" b="0" i="0">
                <a:solidFill>
                  <a:srgbClr val="FFF4E2"/>
                </a:solidFill>
                <a:latin typeface="Be Vietnam Pro Medium"/>
                <a:ea typeface="Be Vietnam Pro Medium"/>
                <a:cs typeface="Be Vietnam Pro Medium"/>
              </a:rPr>
              <a:t>Chủ nghĩa duy vật và chủ nghĩa duy tâm</a:t>
            </a:r>
          </a:p>
        </p:txBody>
      </p:sp>
      <p:sp>
        <p:nvSpPr>
          <p:cNvPr id="15" name="Snip Diagonal Corner Rectangle 14"/>
          <p:cNvSpPr/>
          <p:nvPr/>
        </p:nvSpPr>
        <p:spPr>
          <a:xfrm>
            <a:off x="8127797" y="2514600"/>
            <a:ext cx="3515258" cy="1691640"/>
          </a:xfrm>
          <a:prstGeom prst="snip2DiagRect">
            <a:avLst>
              <a:gd name="adj1" fmla="val 0"/>
              <a:gd name="adj2" fmla="val 11891"/>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6" name="Picture 15" descr="star_red.png"/>
          <p:cNvPicPr>
            <a:picLocks noChangeAspect="1"/>
          </p:cNvPicPr>
          <p:nvPr/>
        </p:nvPicPr>
        <p:blipFill>
          <a:blip r:embed="rId4"/>
          <a:stretch>
            <a:fillRect/>
          </a:stretch>
        </p:blipFill>
        <p:spPr>
          <a:xfrm>
            <a:off x="9633966" y="2272963"/>
            <a:ext cx="502920" cy="493097"/>
          </a:xfrm>
          <a:prstGeom prst="rect">
            <a:avLst/>
          </a:prstGeom>
        </p:spPr>
      </p:pic>
      <p:sp>
        <p:nvSpPr>
          <p:cNvPr id="17" name="TextBox 16"/>
          <p:cNvSpPr txBox="1"/>
          <p:nvPr/>
        </p:nvSpPr>
        <p:spPr>
          <a:xfrm>
            <a:off x="8127797" y="2825496"/>
            <a:ext cx="3515258" cy="411480"/>
          </a:xfrm>
          <a:prstGeom prst="rect">
            <a:avLst/>
          </a:prstGeom>
          <a:noFill/>
        </p:spPr>
        <p:txBody>
          <a:bodyPr wrap="square" lIns="0" rIns="0" tIns="0" bIns="0" anchor="t">
            <a:noAutofit/>
          </a:bodyPr>
          <a:lstStyle/>
          <a:p>
            <a:pPr algn="ctr"/>
            <a:r>
              <a:rPr sz="2200" b="0" i="0" spc="15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PHẦN 3</a:t>
            </a:r>
          </a:p>
        </p:txBody>
      </p:sp>
      <p:sp>
        <p:nvSpPr>
          <p:cNvPr id="18" name="TextBox 17"/>
          <p:cNvSpPr txBox="1"/>
          <p:nvPr/>
        </p:nvSpPr>
        <p:spPr>
          <a:xfrm>
            <a:off x="8356397" y="3291840"/>
            <a:ext cx="3058058" cy="822960"/>
          </a:xfrm>
          <a:prstGeom prst="rect">
            <a:avLst/>
          </a:prstGeom>
          <a:noFill/>
        </p:spPr>
        <p:txBody>
          <a:bodyPr wrap="square" lIns="0" rIns="0" tIns="0" bIns="0" anchor="t">
            <a:noAutofit/>
          </a:bodyPr>
          <a:lstStyle/>
          <a:p>
            <a:pPr algn="ctr">
              <a:lnSpc>
                <a:spcPct val="112000"/>
              </a:lnSpc>
            </a:pPr>
            <a:r>
              <a:rPr sz="1300" b="0" i="0">
                <a:solidFill>
                  <a:srgbClr val="FFF4E2"/>
                </a:solidFill>
                <a:latin typeface="Be Vietnam Pro Medium"/>
                <a:ea typeface="Be Vietnam Pro Medium"/>
                <a:cs typeface="Be Vietnam Pro Medium"/>
              </a:rPr>
              <a:t>Thuyết khả tri và thuyết bất khả tri</a:t>
            </a:r>
          </a:p>
        </p:txBody>
      </p:sp>
      <p:pic>
        <p:nvPicPr>
          <p:cNvPr id="19" name="Picture 18" descr="glow_FFC560_30_1.5.png"/>
          <p:cNvPicPr>
            <a:picLocks noChangeAspect="1"/>
          </p:cNvPicPr>
          <p:nvPr/>
        </p:nvPicPr>
        <p:blipFill>
          <a:blip r:embed="rId5"/>
          <a:stretch>
            <a:fillRect/>
          </a:stretch>
        </p:blipFill>
        <p:spPr>
          <a:xfrm>
            <a:off x="4478156" y="3909060"/>
            <a:ext cx="3154680" cy="3154680"/>
          </a:xfrm>
          <a:prstGeom prst="rect">
            <a:avLst/>
          </a:prstGeom>
        </p:spPr>
      </p:pic>
      <p:pic>
        <p:nvPicPr>
          <p:cNvPr id="20" name="!!emblem" descr="hammer_sickle.png"/>
          <p:cNvPicPr>
            <a:picLocks noChangeAspect="1"/>
          </p:cNvPicPr>
          <p:nvPr/>
        </p:nvPicPr>
        <p:blipFill>
          <a:blip r:embed="rId6"/>
          <a:srcRect/>
          <a:stretch>
            <a:fillRect/>
          </a:stretch>
        </p:blipFill>
        <p:spPr>
          <a:xfrm>
            <a:off x="5135728" y="4434840"/>
            <a:ext cx="1839536" cy="2103120"/>
          </a:xfrm>
          <a:prstGeom prst="rect">
            <a:avLst/>
          </a:prstGeom>
        </p:spPr>
      </p:pic>
      <p:pic>
        <p:nvPicPr>
          <p:cNvPr id="21" name="!!drape" descr="drape_wide.png"/>
          <p:cNvPicPr>
            <a:picLocks noChangeAspect="1"/>
          </p:cNvPicPr>
          <p:nvPr/>
        </p:nvPicPr>
        <p:blipFill>
          <a:blip r:embed="rId7"/>
          <a:srcRect t="893" b="893"/>
          <a:stretch>
            <a:fillRect/>
          </a:stretch>
        </p:blipFill>
        <p:spPr>
          <a:xfrm>
            <a:off x="-274320" y="5257800"/>
            <a:ext cx="12740335" cy="1828800"/>
          </a:xfrm>
          <a:prstGeom prst="rect">
            <a:avLst/>
          </a:prstGeom>
        </p:spPr>
      </p:pic>
      <p:sp>
        <p:nvSpPr>
          <p:cNvPr id="22" name="TextBox 21"/>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02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21"/>
                                        </p:tgtEl>
                                        <p:attrNameLst>
                                          <p:attrName>style.visibility</p:attrName>
                                        </p:attrNameLst>
                                      </p:cBhvr>
                                      <p:to>
                                        <p:strVal val="visible"/>
                                      </p:to>
                                    </p:set>
                                    <p:animEffect transition="in" filter="wipe(left)">
                                      <p:cBhvr>
                                        <p:cTn id="13" dur="900"/>
                                        <p:tgtEl>
                                          <p:spTgt spid="21"/>
                                        </p:tgtEl>
                                      </p:cBhvr>
                                    </p:animEffect>
                                  </p:childTnLst>
                                </p:cTn>
                              </p:par>
                              <p:par>
                                <p:cTn id="14" presetID="10" presetClass="entr" presetSubtype="0" fill="hold" grpId="0" nodeType="withEffect">
                                  <p:stCondLst>
                                    <p:cond delay="3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childTnLst>
                                </p:cTn>
                              </p:par>
                              <p:par>
                                <p:cTn id="20" presetID="42" presetClass="entr" presetSubtype="0" fill="hold" grpId="0" nodeType="withEffect">
                                  <p:stCondLst>
                                    <p:cond delay="6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6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6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60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anim calcmode="lin" valueType="num">
                                      <p:cBhvr additive="base">
                                        <p:cTn id="38" dur="500" fill="hold"/>
                                        <p:tgtEl>
                                          <p:spTgt spid="8"/>
                                        </p:tgtEl>
                                        <p:attrNameLst>
                                          <p:attrName>ppt_x</p:attrName>
                                        </p:attrNameLst>
                                      </p:cBhvr>
                                      <p:tavLst>
                                        <p:tav tm="0">
                                          <p:val>
                                            <p:strVal val="#ppt_x"/>
                                          </p:val>
                                        </p:tav>
                                        <p:tav tm="100000">
                                          <p:val>
                                            <p:strVal val="#ppt_x"/>
                                          </p:val>
                                        </p:tav>
                                      </p:tavLst>
                                    </p:anim>
                                    <p:anim calcmode="lin" valueType="num">
                                      <p:cBhvr additive="base">
                                        <p:cTn id="39" dur="500" fill="hold"/>
                                        <p:tgtEl>
                                          <p:spTgt spid="8"/>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78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78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78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78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anim calcmode="lin" valueType="num">
                                      <p:cBhvr additive="base">
                                        <p:cTn id="58" dur="500" fill="hold"/>
                                        <p:tgtEl>
                                          <p:spTgt spid="12"/>
                                        </p:tgtEl>
                                        <p:attrNameLst>
                                          <p:attrName>ppt_x</p:attrName>
                                        </p:attrNameLst>
                                      </p:cBhvr>
                                      <p:tavLst>
                                        <p:tav tm="0">
                                          <p:val>
                                            <p:strVal val="#ppt_x"/>
                                          </p:val>
                                        </p:tav>
                                        <p:tav tm="100000">
                                          <p:val>
                                            <p:strVal val="#ppt_x"/>
                                          </p:val>
                                        </p:tav>
                                      </p:tavLst>
                                    </p:anim>
                                    <p:anim calcmode="lin" valueType="num">
                                      <p:cBhvr additive="base">
                                        <p:cTn id="59" dur="500" fill="hold"/>
                                        <p:tgtEl>
                                          <p:spTgt spid="12"/>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96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96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96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96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00"/>
                                        <p:tgtEl>
                                          <p:spTgt spid="16"/>
                                        </p:tgtEl>
                                      </p:cBhvr>
                                    </p:animEffect>
                                    <p:anim calcmode="lin" valueType="num">
                                      <p:cBhvr additive="base">
                                        <p:cTn id="78" dur="500" fill="hold"/>
                                        <p:tgtEl>
                                          <p:spTgt spid="16"/>
                                        </p:tgtEl>
                                        <p:attrNameLst>
                                          <p:attrName>ppt_x</p:attrName>
                                        </p:attrNameLst>
                                      </p:cBhvr>
                                      <p:tavLst>
                                        <p:tav tm="0">
                                          <p:val>
                                            <p:strVal val="#ppt_x"/>
                                          </p:val>
                                        </p:tav>
                                        <p:tav tm="100000">
                                          <p:val>
                                            <p:strVal val="#ppt_x"/>
                                          </p:val>
                                        </p:tav>
                                      </p:tavLst>
                                    </p:anim>
                                    <p:anim calcmode="lin" valueType="num">
                                      <p:cBhvr additive="base">
                                        <p:cTn id="79" dur="500" fill="hold"/>
                                        <p:tgtEl>
                                          <p:spTgt spid="16"/>
                                        </p:tgtEl>
                                        <p:attrNameLst>
                                          <p:attrName>ppt_y</p:attrName>
                                        </p:attrNameLst>
                                      </p:cBhvr>
                                      <p:tavLst>
                                        <p:tav tm="0">
                                          <p:val>
                                            <p:strVal val="#ppt_y+.06"/>
                                          </p:val>
                                        </p:tav>
                                        <p:tav tm="100000">
                                          <p:val>
                                            <p:strVal val="#ppt_y"/>
                                          </p:val>
                                        </p:tav>
                                      </p:tavLst>
                                    </p:anim>
                                  </p:childTnLst>
                                </p:cTn>
                              </p:par>
                              <p:par>
                                <p:cTn id="80" presetID="31" presetClass="entr" presetSubtype="0" fill="hold" grpId="0" nodeType="withEffect">
                                  <p:stCondLst>
                                    <p:cond delay="1300"/>
                                  </p:stCondLst>
                                  <p:childTnLst>
                                    <p:set>
                                      <p:cBhvr>
                                        <p:cTn id="81" dur="1" fill="hold">
                                          <p:stCondLst>
                                            <p:cond delay="0"/>
                                          </p:stCondLst>
                                        </p:cTn>
                                        <p:tgtEl>
                                          <p:spTgt spid="20"/>
                                        </p:tgtEl>
                                        <p:attrNameLst>
                                          <p:attrName>style.visibility</p:attrName>
                                        </p:attrNameLst>
                                      </p:cBhvr>
                                      <p:to>
                                        <p:strVal val="visible"/>
                                      </p:to>
                                    </p:set>
                                    <p:anim calcmode="lin" valueType="num">
                                      <p:cBhvr additive="base">
                                        <p:cTn id="82" dur="900" fill="hold"/>
                                        <p:tgtEl>
                                          <p:spTgt spid="20"/>
                                        </p:tgtEl>
                                        <p:attrNameLst>
                                          <p:attrName>ppt_w</p:attrName>
                                        </p:attrNameLst>
                                      </p:cBhvr>
                                      <p:tavLst>
                                        <p:tav tm="0">
                                          <p:val>
                                            <p:strVal val="0"/>
                                          </p:val>
                                        </p:tav>
                                        <p:tav tm="100000">
                                          <p:val>
                                            <p:strVal val="#ppt_w"/>
                                          </p:val>
                                        </p:tav>
                                      </p:tavLst>
                                    </p:anim>
                                    <p:anim calcmode="lin" valueType="num">
                                      <p:cBhvr additive="base">
                                        <p:cTn id="83" dur="900" fill="hold"/>
                                        <p:tgtEl>
                                          <p:spTgt spid="20"/>
                                        </p:tgtEl>
                                        <p:attrNameLst>
                                          <p:attrName>ppt_h</p:attrName>
                                        </p:attrNameLst>
                                      </p:cBhvr>
                                      <p:tavLst>
                                        <p:tav tm="0">
                                          <p:val>
                                            <p:strVal val="0"/>
                                          </p:val>
                                        </p:tav>
                                        <p:tav tm="100000">
                                          <p:val>
                                            <p:strVal val="#ppt_h"/>
                                          </p:val>
                                        </p:tav>
                                      </p:tavLst>
                                    </p:anim>
                                    <p:anim calcmode="lin" valueType="num">
                                      <p:cBhvr>
                                        <p:cTn id="84" dur="900" fill="hold"/>
                                        <p:tgtEl>
                                          <p:spTgt spid="20"/>
                                        </p:tgtEl>
                                        <p:attrNameLst>
                                          <p:attrName>style.rotation</p:attrName>
                                        </p:attrNameLst>
                                      </p:cBhvr>
                                      <p:tavLst>
                                        <p:tav tm="0">
                                          <p:val>
                                            <p:fltVal val="90"/>
                                          </p:val>
                                        </p:tav>
                                        <p:tav tm="100000">
                                          <p:val>
                                            <p:fltVal val="0"/>
                                          </p:val>
                                        </p:tav>
                                      </p:tavLst>
                                    </p:anim>
                                    <p:animEffect transition="in" filter="fade">
                                      <p:cBhvr>
                                        <p:cTn id="85" dur="900"/>
                                        <p:tgtEl>
                                          <p:spTgt spid="20"/>
                                        </p:tgtEl>
                                      </p:cBhvr>
                                    </p:animEffect>
                                  </p:childTnLst>
                                </p:cTn>
                              </p:par>
                              <p:par>
                                <p:cTn id="86" presetID="10" presetClass="entr" presetSubtype="0" fill="hold" grpId="0" nodeType="withEffect">
                                  <p:stCondLst>
                                    <p:cond delay="13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9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9" grpId="0" animBg="1"/>
      <p:bldP spid="10" grpId="0" animBg="1"/>
      <p:bldP spid="11" grpId="0" animBg="1"/>
      <p:bldP spid="13" grpId="0" animBg="1"/>
      <p:bldP spid="14" grpId="0" animBg="1"/>
      <p:bldP spid="15" grpId="0" animBg="1"/>
      <p:bldP spid="17"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pic>
        <p:nvPicPr>
          <p:cNvPr id="3" name="!!ribbon" descr="ribbon_tr.png"/>
          <p:cNvPicPr>
            <a:picLocks noChangeAspect="1"/>
          </p:cNvPicPr>
          <p:nvPr/>
        </p:nvPicPr>
        <p:blipFill>
          <a:blip r:embed="rId3"/>
          <a:srcRect l="48" r="48"/>
          <a:stretch>
            <a:fillRect/>
          </a:stretch>
        </p:blipFill>
        <p:spPr>
          <a:xfrm>
            <a:off x="8351215" y="-320040"/>
            <a:ext cx="4206240" cy="2706624"/>
          </a:xfrm>
          <a:prstGeom prst="rect">
            <a:avLst/>
          </a:prstGeom>
        </p:spPr>
      </p:pic>
      <p:pic>
        <p:nvPicPr>
          <p:cNvPr id="4" name="Picture 3" descr="glow_FFB347_38_1.4.png"/>
          <p:cNvPicPr>
            <a:picLocks noChangeAspect="1"/>
          </p:cNvPicPr>
          <p:nvPr/>
        </p:nvPicPr>
        <p:blipFill>
          <a:blip r:embed="rId4"/>
          <a:stretch>
            <a:fillRect/>
          </a:stretch>
        </p:blipFill>
        <p:spPr>
          <a:xfrm>
            <a:off x="7103745" y="346329"/>
            <a:ext cx="5863590" cy="5863590"/>
          </a:xfrm>
          <a:prstGeom prst="rect">
            <a:avLst/>
          </a:prstGeom>
        </p:spPr>
      </p:pic>
      <p:pic>
        <p:nvPicPr>
          <p:cNvPr id="5" name="!!hero" descr="cut_marx_engels.png"/>
          <p:cNvPicPr>
            <a:picLocks noChangeAspect="1"/>
          </p:cNvPicPr>
          <p:nvPr/>
        </p:nvPicPr>
        <p:blipFill>
          <a:blip r:embed="rId5"/>
          <a:stretch>
            <a:fillRect/>
          </a:stretch>
        </p:blipFill>
        <p:spPr>
          <a:xfrm>
            <a:off x="7818120" y="1658822"/>
            <a:ext cx="4434840" cy="5199178"/>
          </a:xfrm>
          <a:prstGeom prst="rect">
            <a:avLst/>
          </a:prstGeom>
        </p:spPr>
      </p:pic>
      <p:pic>
        <p:nvPicPr>
          <p:cNvPr id="6" name="!!drape" descr="drape_br.png"/>
          <p:cNvPicPr>
            <a:picLocks noChangeAspect="1"/>
          </p:cNvPicPr>
          <p:nvPr/>
        </p:nvPicPr>
        <p:blipFill>
          <a:blip r:embed="rId6"/>
          <a:srcRect/>
          <a:stretch>
            <a:fillRect/>
          </a:stretch>
        </p:blipFill>
        <p:spPr>
          <a:xfrm>
            <a:off x="6156655" y="3840480"/>
            <a:ext cx="6400800" cy="3200400"/>
          </a:xfrm>
          <a:prstGeom prst="rect">
            <a:avLst/>
          </a:prstGeom>
        </p:spPr>
      </p:pic>
      <p:sp>
        <p:nvSpPr>
          <p:cNvPr id="7"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1</a:t>
            </a:r>
          </a:p>
        </p:txBody>
      </p:sp>
      <p:sp>
        <p:nvSpPr>
          <p:cNvPr id="8" name="!!tab"/>
          <p:cNvSpPr/>
          <p:nvPr/>
        </p:nvSpPr>
        <p:spPr>
          <a:xfrm>
            <a:off x="548640" y="566928"/>
            <a:ext cx="4884962"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VÌ SAO ĐÂY LÀ VẤN ĐỀ CƠ BẢN?</a:t>
            </a:r>
          </a:p>
        </p:txBody>
      </p:sp>
      <p:sp>
        <p:nvSpPr>
          <p:cNvPr id="9" name="!!rule"/>
          <p:cNvSpPr/>
          <p:nvPr/>
        </p:nvSpPr>
        <p:spPr>
          <a:xfrm>
            <a:off x="5543330" y="1133856"/>
            <a:ext cx="6282605"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0" name="Snip Diagonal Corner Rectangle 9"/>
          <p:cNvSpPr/>
          <p:nvPr/>
        </p:nvSpPr>
        <p:spPr>
          <a:xfrm>
            <a:off x="548640" y="1600200"/>
            <a:ext cx="3794760" cy="914400"/>
          </a:xfrm>
          <a:prstGeom prst="snip2DiagRect">
            <a:avLst>
              <a:gd name="adj1" fmla="val 0"/>
              <a:gd name="adj2" fmla="val 18000"/>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228600" tIns="54864" bIns="54864" wrap="square"/>
          <a:lstStyle/>
          <a:p>
            <a:pPr algn="l">
              <a:lnSpc>
                <a:spcPct val="115000"/>
              </a:lnSpc>
            </a:pPr>
            <a:r>
              <a:rPr sz="1250" b="0" i="0">
                <a:solidFill>
                  <a:srgbClr val="FFF4E2"/>
                </a:solidFill>
                <a:latin typeface="Be Vietnam Pro"/>
                <a:ea typeface="Be Vietnam Pro"/>
                <a:cs typeface="Be Vietnam Pro"/>
              </a:rPr>
              <a:t>Xoay quanh quan hệ giữa vật chất và ý thức, giữa tồn tại và tư duy</a:t>
            </a:r>
          </a:p>
        </p:txBody>
      </p:sp>
      <p:sp>
        <p:nvSpPr>
          <p:cNvPr id="11" name="Snip Diagonal Corner Rectangle 10"/>
          <p:cNvSpPr/>
          <p:nvPr/>
        </p:nvSpPr>
        <p:spPr>
          <a:xfrm>
            <a:off x="548640" y="2715768"/>
            <a:ext cx="3794760" cy="914400"/>
          </a:xfrm>
          <a:prstGeom prst="snip2DiagRect">
            <a:avLst>
              <a:gd name="adj1" fmla="val 0"/>
              <a:gd name="adj2" fmla="val 18000"/>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228600" tIns="54864" bIns="54864" wrap="square"/>
          <a:lstStyle/>
          <a:p>
            <a:pPr algn="l">
              <a:lnSpc>
                <a:spcPct val="115000"/>
              </a:lnSpc>
            </a:pPr>
            <a:r>
              <a:rPr sz="1250" b="0" i="0">
                <a:solidFill>
                  <a:srgbClr val="FFF4E2"/>
                </a:solidFill>
                <a:latin typeface="Be Vietnam Pro"/>
                <a:ea typeface="Be Vietnam Pro"/>
                <a:cs typeface="Be Vietnam Pro"/>
              </a:rPr>
              <a:t>Là nền tảng, điểm xuất phát để giải quyết các vấn đề khác của triết học</a:t>
            </a:r>
          </a:p>
        </p:txBody>
      </p:sp>
      <p:sp>
        <p:nvSpPr>
          <p:cNvPr id="12" name="Snip Diagonal Corner Rectangle 11"/>
          <p:cNvSpPr/>
          <p:nvPr/>
        </p:nvSpPr>
        <p:spPr>
          <a:xfrm>
            <a:off x="548640" y="3831336"/>
            <a:ext cx="3794760" cy="914400"/>
          </a:xfrm>
          <a:prstGeom prst="snip2DiagRect">
            <a:avLst>
              <a:gd name="adj1" fmla="val 0"/>
              <a:gd name="adj2" fmla="val 18000"/>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228600" tIns="54864" bIns="54864" wrap="square"/>
          <a:lstStyle/>
          <a:p>
            <a:pPr algn="l">
              <a:lnSpc>
                <a:spcPct val="115000"/>
              </a:lnSpc>
            </a:pPr>
            <a:r>
              <a:rPr sz="1250" b="0" i="0">
                <a:solidFill>
                  <a:srgbClr val="FFF4E2"/>
                </a:solidFill>
                <a:latin typeface="Be Vietnam Pro"/>
                <a:ea typeface="Be Vietnam Pro"/>
                <a:cs typeface="Be Vietnam Pro"/>
              </a:rPr>
              <a:t>Quy định lập trường, thế giới quan của các nhà triết học và trường phái</a:t>
            </a:r>
          </a:p>
        </p:txBody>
      </p:sp>
      <p:sp>
        <p:nvSpPr>
          <p:cNvPr id="13" name="Snip Diagonal Corner Rectangle 12"/>
          <p:cNvSpPr/>
          <p:nvPr/>
        </p:nvSpPr>
        <p:spPr>
          <a:xfrm>
            <a:off x="4617720" y="2057400"/>
            <a:ext cx="3520440" cy="2057400"/>
          </a:xfrm>
          <a:prstGeom prst="snip2DiagRect">
            <a:avLst>
              <a:gd name="adj1" fmla="val 0"/>
              <a:gd name="adj2" fmla="val 11555"/>
            </a:avLst>
          </a:prstGeom>
          <a:gradFill rotWithShape="1">
            <a:gsLst>
              <a:gs pos="0">
                <a:srgbClr val="4E040A">
                  <a:alpha val="72000"/>
                </a:srgbClr>
              </a:gs>
              <a:gs pos="100000">
                <a:srgbClr val="7A0912">
                  <a:alpha val="45000"/>
                </a:srgbClr>
              </a:gs>
            </a:gsLst>
            <a:lin ang="2100000" scaled="0"/>
          </a:gradFill>
          <a:ln w="1905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TextBox 13"/>
          <p:cNvSpPr txBox="1"/>
          <p:nvPr/>
        </p:nvSpPr>
        <p:spPr>
          <a:xfrm>
            <a:off x="4846320" y="2212848"/>
            <a:ext cx="3108960" cy="1417320"/>
          </a:xfrm>
          <a:prstGeom prst="rect">
            <a:avLst/>
          </a:prstGeom>
          <a:noFill/>
        </p:spPr>
        <p:txBody>
          <a:bodyPr wrap="square" lIns="0" rIns="0" tIns="0" bIns="0" anchor="ctr">
            <a:noAutofit/>
          </a:bodyPr>
          <a:lstStyle/>
          <a:p>
            <a:pPr algn="l">
              <a:lnSpc>
                <a:spcPct val="118000"/>
              </a:lnSpc>
            </a:pPr>
            <a:r>
              <a:rPr sz="1400" b="0" i="1">
                <a:solidFill>
                  <a:srgbClr val="FFF4E2"/>
                </a:solidFill>
                <a:latin typeface="Be Vietnam Pro"/>
                <a:ea typeface="Be Vietnam Pro"/>
                <a:cs typeface="Be Vietnam Pro"/>
              </a:rPr>
              <a:t>“Vấn đề cơ bản lớn của mọi triết học, đặc biệt là của triết học hiện đại, là vấn đề quan hệ giữa tư duy với tồn tại.”</a:t>
            </a:r>
          </a:p>
        </p:txBody>
      </p:sp>
      <p:pic>
        <p:nvPicPr>
          <p:cNvPr id="15" name="Picture 14" descr="quote_open.png"/>
          <p:cNvPicPr>
            <a:picLocks noChangeAspect="1"/>
          </p:cNvPicPr>
          <p:nvPr/>
        </p:nvPicPr>
        <p:blipFill>
          <a:blip r:embed="rId7"/>
          <a:stretch>
            <a:fillRect/>
          </a:stretch>
        </p:blipFill>
        <p:spPr>
          <a:xfrm>
            <a:off x="4800600" y="3758184"/>
            <a:ext cx="548640" cy="402336"/>
          </a:xfrm>
          <a:prstGeom prst="rect">
            <a:avLst/>
          </a:prstGeom>
        </p:spPr>
      </p:pic>
      <p:sp>
        <p:nvSpPr>
          <p:cNvPr id="16" name="!!name"/>
          <p:cNvSpPr/>
          <p:nvPr/>
        </p:nvSpPr>
        <p:spPr>
          <a:xfrm>
            <a:off x="8001000" y="5715000"/>
            <a:ext cx="1874387" cy="438912"/>
          </a:xfrm>
          <a:prstGeom prst="snip2DiagRect">
            <a:avLst>
              <a:gd name="adj1" fmla="val 0"/>
              <a:gd name="adj2" fmla="val 29166"/>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82880" rIns="182880" tIns="18288" bIns="18288" wrap="square"/>
          <a:lstStyle/>
          <a:p>
            <a:pPr algn="l">
              <a:lnSpc>
                <a:spcPct val="105000"/>
              </a:lnSpc>
            </a:pPr>
            <a:r>
              <a:rPr sz="1500" b="0" i="0" spc="50">
                <a:solidFill>
                  <a:srgbClr val="FFF4E2"/>
                </a:solidFill>
                <a:latin typeface="Big Shoulders Display Black"/>
                <a:ea typeface="Big Shoulders Display Black"/>
                <a:cs typeface="Big Shoulders Display Black"/>
              </a:rPr>
              <a:t>Ph. Ăngghen</a:t>
            </a:r>
          </a:p>
        </p:txBody>
      </p:sp>
      <p:pic>
        <p:nvPicPr>
          <p:cNvPr id="17" name="Picture 16" descr="star_red.png"/>
          <p:cNvPicPr>
            <a:picLocks noChangeAspect="1"/>
          </p:cNvPicPr>
          <p:nvPr/>
        </p:nvPicPr>
        <p:blipFill>
          <a:blip r:embed="rId8"/>
          <a:stretch>
            <a:fillRect/>
          </a:stretch>
        </p:blipFill>
        <p:spPr>
          <a:xfrm>
            <a:off x="9546203" y="5662065"/>
            <a:ext cx="566928" cy="555855"/>
          </a:xfrm>
          <a:prstGeom prst="rect">
            <a:avLst/>
          </a:prstGeom>
        </p:spPr>
      </p:pic>
      <p:sp>
        <p:nvSpPr>
          <p:cNvPr id="18" name="TextBox 17"/>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03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900" fill="hold"/>
                                        <p:tgtEl>
                                          <p:spTgt spid="4"/>
                                        </p:tgtEl>
                                        <p:attrNameLst>
                                          <p:attrName>ppt_x</p:attrName>
                                        </p:attrNameLst>
                                      </p:cBhvr>
                                      <p:tavLst>
                                        <p:tav tm="0">
                                          <p:val>
                                            <p:strVal val="1+#ppt_w/2"/>
                                          </p:val>
                                        </p:tav>
                                        <p:tav tm="100000">
                                          <p:val>
                                            <p:strVal val="#ppt_x"/>
                                          </p:val>
                                        </p:tav>
                                      </p:tavLst>
                                    </p:anim>
                                    <p:anim calcmode="lin" valueType="num">
                                      <p:cBhvr additive="base">
                                        <p:cTn id="8" dur="9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900" fill="hold"/>
                                        <p:tgtEl>
                                          <p:spTgt spid="5"/>
                                        </p:tgtEl>
                                        <p:attrNameLst>
                                          <p:attrName>ppt_x</p:attrName>
                                        </p:attrNameLst>
                                      </p:cBhvr>
                                      <p:tavLst>
                                        <p:tav tm="0">
                                          <p:val>
                                            <p:strVal val="1+#ppt_w/2"/>
                                          </p:val>
                                        </p:tav>
                                        <p:tav tm="100000">
                                          <p:val>
                                            <p:strVal val="#ppt_x"/>
                                          </p:val>
                                        </p:tav>
                                      </p:tavLst>
                                    </p:anim>
                                    <p:anim calcmode="lin" valueType="num">
                                      <p:cBhvr additive="base">
                                        <p:cTn id="12" dur="900" fill="hold"/>
                                        <p:tgtEl>
                                          <p:spTgt spid="5"/>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600"/>
                                        <p:tgtEl>
                                          <p:spTgt spid="7"/>
                                        </p:tgtEl>
                                      </p:cBhvr>
                                    </p:animEffect>
                                  </p:childTnLst>
                                </p:cTn>
                              </p:par>
                              <p:par>
                                <p:cTn id="16" presetID="22" presetClass="entr" presetSubtype="8" fill="hold" grpId="0" nodeType="withEffect">
                                  <p:stCondLst>
                                    <p:cond delay="30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800"/>
                                        <p:tgtEl>
                                          <p:spTgt spid="3"/>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800"/>
                                        <p:tgtEl>
                                          <p:spTgt spid="6"/>
                                        </p:tgtEl>
                                      </p:cBhvr>
                                    </p:animEffect>
                                  </p:childTnLst>
                                </p:cTn>
                              </p:par>
                              <p:par>
                                <p:cTn id="22" presetID="22" presetClass="entr" presetSubtype="8" fill="hold" grpId="0" nodeType="withEffect">
                                  <p:stCondLst>
                                    <p:cond delay="32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600"/>
                                        <p:tgtEl>
                                          <p:spTgt spid="8"/>
                                        </p:tgtEl>
                                      </p:cBhvr>
                                    </p:animEffect>
                                  </p:childTnLst>
                                </p:cTn>
                              </p:par>
                              <p:par>
                                <p:cTn id="25" presetID="22" presetClass="entr" presetSubtype="8" fill="hold" grpId="0" nodeType="withEffect">
                                  <p:stCondLst>
                                    <p:cond delay="44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600"/>
                                        <p:tgtEl>
                                          <p:spTgt spid="9"/>
                                        </p:tgtEl>
                                      </p:cBhvr>
                                    </p:animEffect>
                                  </p:childTnLst>
                                </p:cTn>
                              </p:par>
                              <p:par>
                                <p:cTn id="28" presetID="42" presetClass="entr" presetSubtype="0" fill="hold" grpId="0" nodeType="withEffect">
                                  <p:stCondLst>
                                    <p:cond delay="6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78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96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ppt_y+.06"/>
                                          </p:val>
                                        </p:tav>
                                        <p:tav tm="100000">
                                          <p:val>
                                            <p:strVal val="#ppt_y"/>
                                          </p:val>
                                        </p:tav>
                                      </p:tavLst>
                                    </p:anim>
                                  </p:childTnLst>
                                </p:cTn>
                              </p:par>
                              <p:par>
                                <p:cTn id="43" presetID="53" presetClass="entr" presetSubtype="16" fill="hold" grpId="0" nodeType="withEffect">
                                  <p:stCondLst>
                                    <p:cond delay="120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600" fill="hold"/>
                                        <p:tgtEl>
                                          <p:spTgt spid="13"/>
                                        </p:tgtEl>
                                        <p:attrNameLst>
                                          <p:attrName>ppt_w</p:attrName>
                                        </p:attrNameLst>
                                      </p:cBhvr>
                                      <p:tavLst>
                                        <p:tav tm="0">
                                          <p:val>
                                            <p:strVal val="#ppt_w*0.7"/>
                                          </p:val>
                                        </p:tav>
                                        <p:tav tm="100000">
                                          <p:val>
                                            <p:strVal val="#ppt_w"/>
                                          </p:val>
                                        </p:tav>
                                      </p:tavLst>
                                    </p:anim>
                                    <p:anim calcmode="lin" valueType="num">
                                      <p:cBhvr additive="base">
                                        <p:cTn id="46" dur="600" fill="hold"/>
                                        <p:tgtEl>
                                          <p:spTgt spid="13"/>
                                        </p:tgtEl>
                                        <p:attrNameLst>
                                          <p:attrName>ppt_h</p:attrName>
                                        </p:attrNameLst>
                                      </p:cBhvr>
                                      <p:tavLst>
                                        <p:tav tm="0">
                                          <p:val>
                                            <p:strVal val="#ppt_h*0.7"/>
                                          </p:val>
                                        </p:tav>
                                        <p:tav tm="100000">
                                          <p:val>
                                            <p:strVal val="#ppt_h"/>
                                          </p:val>
                                        </p:tav>
                                      </p:tavLst>
                                    </p:anim>
                                    <p:animEffect transition="in" filter="fade">
                                      <p:cBhvr>
                                        <p:cTn id="47" dur="600"/>
                                        <p:tgtEl>
                                          <p:spTgt spid="13"/>
                                        </p:tgtEl>
                                      </p:cBhvr>
                                    </p:animEffect>
                                  </p:childTnLst>
                                </p:cTn>
                              </p:par>
                              <p:par>
                                <p:cTn id="48" presetID="53" presetClass="entr" presetSubtype="16" fill="hold" grpId="0" nodeType="withEffect">
                                  <p:stCondLst>
                                    <p:cond delay="128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600" fill="hold"/>
                                        <p:tgtEl>
                                          <p:spTgt spid="14"/>
                                        </p:tgtEl>
                                        <p:attrNameLst>
                                          <p:attrName>ppt_w</p:attrName>
                                        </p:attrNameLst>
                                      </p:cBhvr>
                                      <p:tavLst>
                                        <p:tav tm="0">
                                          <p:val>
                                            <p:strVal val="#ppt_w*0.7"/>
                                          </p:val>
                                        </p:tav>
                                        <p:tav tm="100000">
                                          <p:val>
                                            <p:strVal val="#ppt_w"/>
                                          </p:val>
                                        </p:tav>
                                      </p:tavLst>
                                    </p:anim>
                                    <p:anim calcmode="lin" valueType="num">
                                      <p:cBhvr additive="base">
                                        <p:cTn id="51" dur="600" fill="hold"/>
                                        <p:tgtEl>
                                          <p:spTgt spid="14"/>
                                        </p:tgtEl>
                                        <p:attrNameLst>
                                          <p:attrName>ppt_h</p:attrName>
                                        </p:attrNameLst>
                                      </p:cBhvr>
                                      <p:tavLst>
                                        <p:tav tm="0">
                                          <p:val>
                                            <p:strVal val="#ppt_h*0.7"/>
                                          </p:val>
                                        </p:tav>
                                        <p:tav tm="100000">
                                          <p:val>
                                            <p:strVal val="#ppt_h"/>
                                          </p:val>
                                        </p:tav>
                                      </p:tavLst>
                                    </p:anim>
                                    <p:animEffect transition="in" filter="fade">
                                      <p:cBhvr>
                                        <p:cTn id="52" dur="600"/>
                                        <p:tgtEl>
                                          <p:spTgt spid="14"/>
                                        </p:tgtEl>
                                      </p:cBhvr>
                                    </p:animEffect>
                                  </p:childTnLst>
                                </p:cTn>
                              </p:par>
                              <p:par>
                                <p:cTn id="53" presetID="53" presetClass="entr" presetSubtype="16" fill="hold" grpId="0" nodeType="withEffect">
                                  <p:stCondLst>
                                    <p:cond delay="136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600" fill="hold"/>
                                        <p:tgtEl>
                                          <p:spTgt spid="15"/>
                                        </p:tgtEl>
                                        <p:attrNameLst>
                                          <p:attrName>ppt_w</p:attrName>
                                        </p:attrNameLst>
                                      </p:cBhvr>
                                      <p:tavLst>
                                        <p:tav tm="0">
                                          <p:val>
                                            <p:strVal val="#ppt_w*0.7"/>
                                          </p:val>
                                        </p:tav>
                                        <p:tav tm="100000">
                                          <p:val>
                                            <p:strVal val="#ppt_w"/>
                                          </p:val>
                                        </p:tav>
                                      </p:tavLst>
                                    </p:anim>
                                    <p:anim calcmode="lin" valueType="num">
                                      <p:cBhvr additive="base">
                                        <p:cTn id="56" dur="600" fill="hold"/>
                                        <p:tgtEl>
                                          <p:spTgt spid="15"/>
                                        </p:tgtEl>
                                        <p:attrNameLst>
                                          <p:attrName>ppt_h</p:attrName>
                                        </p:attrNameLst>
                                      </p:cBhvr>
                                      <p:tavLst>
                                        <p:tav tm="0">
                                          <p:val>
                                            <p:strVal val="#ppt_h*0.7"/>
                                          </p:val>
                                        </p:tav>
                                        <p:tav tm="100000">
                                          <p:val>
                                            <p:strVal val="#ppt_h"/>
                                          </p:val>
                                        </p:tav>
                                      </p:tavLst>
                                    </p:anim>
                                    <p:animEffect transition="in" filter="fade">
                                      <p:cBhvr>
                                        <p:cTn id="57" dur="600"/>
                                        <p:tgtEl>
                                          <p:spTgt spid="15"/>
                                        </p:tgtEl>
                                      </p:cBhvr>
                                    </p:animEffect>
                                  </p:childTnLst>
                                </p:cTn>
                              </p:par>
                              <p:par>
                                <p:cTn id="58" presetID="22" presetClass="entr" presetSubtype="8" fill="hold" grpId="0" nodeType="withEffect">
                                  <p:stCondLst>
                                    <p:cond delay="160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par>
                                <p:cTn id="61" presetID="22" presetClass="entr" presetSubtype="8" fill="hold" grpId="0" nodeType="withEffect">
                                  <p:stCondLst>
                                    <p:cond delay="1700"/>
                                  </p:stCondLst>
                                  <p:childTnLst>
                                    <p:set>
                                      <p:cBhvr>
                                        <p:cTn id="62" dur="1" fill="hold">
                                          <p:stCondLst>
                                            <p:cond delay="0"/>
                                          </p:stCondLst>
                                        </p:cTn>
                                        <p:tgtEl>
                                          <p:spTgt spid="17"/>
                                        </p:tgtEl>
                                        <p:attrNameLst>
                                          <p:attrName>style.visibility</p:attrName>
                                        </p:attrNameLst>
                                      </p:cBhvr>
                                      <p:to>
                                        <p:strVal val="visible"/>
                                      </p:to>
                                    </p:set>
                                    <p:animEffect transition="in" filter="wipe(left)">
                                      <p:cBhvr>
                                        <p:cTn id="6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6"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1</a:t>
            </a:r>
          </a:p>
        </p:txBody>
      </p:sp>
      <p:sp>
        <p:nvSpPr>
          <p:cNvPr id="4" name="!!tab"/>
          <p:cNvSpPr/>
          <p:nvPr/>
        </p:nvSpPr>
        <p:spPr>
          <a:xfrm>
            <a:off x="548640" y="566928"/>
            <a:ext cx="5647378"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HAI PHẠM VI: VẬT CHẤT VÀ TINH THẦN</a:t>
            </a:r>
          </a:p>
        </p:txBody>
      </p:sp>
      <p:sp>
        <p:nvSpPr>
          <p:cNvPr id="5" name="!!rule"/>
          <p:cNvSpPr/>
          <p:nvPr/>
        </p:nvSpPr>
        <p:spPr>
          <a:xfrm>
            <a:off x="6305746" y="1133856"/>
            <a:ext cx="5520189"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Snip Diagonal Corner Rectangle 5"/>
          <p:cNvSpPr/>
          <p:nvPr/>
        </p:nvSpPr>
        <p:spPr>
          <a:xfrm>
            <a:off x="548640" y="1783080"/>
            <a:ext cx="5364328" cy="3840480"/>
          </a:xfrm>
          <a:prstGeom prst="snip2DiagRect">
            <a:avLst>
              <a:gd name="adj1" fmla="val 0"/>
              <a:gd name="adj2" fmla="val 5952"/>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7" name="Snip Diagonal Corner Rectangle 6"/>
          <p:cNvSpPr/>
          <p:nvPr/>
        </p:nvSpPr>
        <p:spPr>
          <a:xfrm>
            <a:off x="1899047" y="1536192"/>
            <a:ext cx="2663513" cy="493776"/>
          </a:xfrm>
          <a:prstGeom prst="snip2DiagRect">
            <a:avLst>
              <a:gd name="adj1" fmla="val 0"/>
              <a:gd name="adj2" fmla="val 29629"/>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900" b="0" i="0" spc="100">
                <a:solidFill>
                  <a:srgbClr val="FFE6A1"/>
                </a:solidFill>
                <a:latin typeface="Big Shoulders Display Black"/>
                <a:ea typeface="Big Shoulders Display Black"/>
                <a:cs typeface="Big Shoulders Display Black"/>
              </a:rPr>
              <a:t>THẾ GIỚI VẬT CHẤT</a:t>
            </a:r>
          </a:p>
        </p:txBody>
      </p:sp>
      <p:sp>
        <p:nvSpPr>
          <p:cNvPr id="8" name="TextBox 7"/>
          <p:cNvSpPr txBox="1"/>
          <p:nvPr/>
        </p:nvSpPr>
        <p:spPr>
          <a:xfrm>
            <a:off x="868680" y="2167128"/>
            <a:ext cx="4724248" cy="1234440"/>
          </a:xfrm>
          <a:prstGeom prst="rect">
            <a:avLst/>
          </a:prstGeom>
          <a:noFill/>
        </p:spPr>
        <p:txBody>
          <a:bodyPr wrap="square" lIns="0" rIns="0" tIns="0" bIns="0" anchor="ctr">
            <a:noAutofit/>
          </a:bodyPr>
          <a:lstStyle/>
          <a:p>
            <a:pPr algn="ctr">
              <a:lnSpc>
                <a:spcPct val="112000"/>
              </a:lnSpc>
              <a:spcAft>
                <a:spcPts val="400"/>
              </a:spcAft>
            </a:pPr>
            <a:r>
              <a:rPr sz="1200" b="0" i="0">
                <a:solidFill>
                  <a:srgbClr val="FFF4E2"/>
                </a:solidFill>
                <a:latin typeface="Be Vietnam Pro"/>
                <a:ea typeface="Be Vietnam Pro"/>
                <a:cs typeface="Be Vietnam Pro"/>
              </a:rPr>
              <a:t>Tồn tại khách quan, bên ngoài ý thức con người.</a:t>
            </a:r>
          </a:p>
          <a:p>
            <a:pPr algn="ctr">
              <a:lnSpc>
                <a:spcPct val="112000"/>
              </a:lnSpc>
              <a:spcAft>
                <a:spcPts val="400"/>
              </a:spcAft>
            </a:pPr>
            <a:r>
              <a:rPr sz="1200" b="0" i="0">
                <a:solidFill>
                  <a:srgbClr val="FFF4E2"/>
                </a:solidFill>
                <a:latin typeface="Be Vietnam Pro"/>
                <a:ea typeface="Be Vietnam Pro"/>
                <a:cs typeface="Be Vietnam Pro"/>
              </a:rPr>
              <a:t>Không phụ thuộc vào việc con người có nhận thức được hay không.</a:t>
            </a:r>
          </a:p>
          <a:p>
            <a:pPr algn="ctr">
              <a:lnSpc>
                <a:spcPct val="112000"/>
              </a:lnSpc>
              <a:spcAft>
                <a:spcPts val="400"/>
              </a:spcAft>
            </a:pPr>
            <a:r>
              <a:rPr sz="1200" b="0" i="0">
                <a:solidFill>
                  <a:srgbClr val="FFF4E2"/>
                </a:solidFill>
                <a:latin typeface="Be Vietnam Pro"/>
                <a:ea typeface="Be Vietnam Pro"/>
                <a:cs typeface="Be Vietnam Pro"/>
              </a:rPr>
              <a:t>Ví dụ: giới tự nhiên, cơ thể con người, các quá trình vật chất.</a:t>
            </a:r>
          </a:p>
        </p:txBody>
      </p:sp>
      <p:pic>
        <p:nvPicPr>
          <p:cNvPr id="9" name="Picture 8" descr="aa3c4db34c3083b8.jpg"/>
          <p:cNvPicPr>
            <a:picLocks noChangeAspect="1"/>
          </p:cNvPicPr>
          <p:nvPr/>
        </p:nvPicPr>
        <p:blipFill>
          <a:blip r:embed="rId3"/>
          <a:srcRect t="25119" b="25119"/>
          <a:stretch>
            <a:fillRect/>
          </a:stretch>
        </p:blipFill>
        <p:spPr>
          <a:xfrm>
            <a:off x="822960" y="3520440"/>
            <a:ext cx="4815688" cy="1874520"/>
          </a:xfrm>
          <a:prstGeom prst="snip2DiagRect">
            <a:avLst>
              <a:gd name="adj1" fmla="val 0"/>
              <a:gd name="adj2" fmla="val 10731"/>
            </a:avLst>
          </a:prstGeom>
          <a:ln w="1905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sp>
        <p:nvSpPr>
          <p:cNvPr id="10" name="Snip Diagonal Corner Rectangle 9"/>
          <p:cNvSpPr/>
          <p:nvPr/>
        </p:nvSpPr>
        <p:spPr>
          <a:xfrm>
            <a:off x="6278728" y="1783080"/>
            <a:ext cx="5364328" cy="3840480"/>
          </a:xfrm>
          <a:prstGeom prst="snip2DiagRect">
            <a:avLst>
              <a:gd name="adj1" fmla="val 0"/>
              <a:gd name="adj2" fmla="val 5952"/>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1" name="Snip Diagonal Corner Rectangle 10"/>
          <p:cNvSpPr/>
          <p:nvPr/>
        </p:nvSpPr>
        <p:spPr>
          <a:xfrm>
            <a:off x="7562703" y="1536192"/>
            <a:ext cx="2796377" cy="493776"/>
          </a:xfrm>
          <a:prstGeom prst="snip2DiagRect">
            <a:avLst>
              <a:gd name="adj1" fmla="val 0"/>
              <a:gd name="adj2" fmla="val 29629"/>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900" b="0" i="0" spc="100">
                <a:solidFill>
                  <a:srgbClr val="FFE6A1"/>
                </a:solidFill>
                <a:latin typeface="Big Shoulders Display Black"/>
                <a:ea typeface="Big Shoulders Display Black"/>
                <a:cs typeface="Big Shoulders Display Black"/>
              </a:rPr>
              <a:t>THẾ GIỚI TINH THẦN</a:t>
            </a:r>
          </a:p>
        </p:txBody>
      </p:sp>
      <p:sp>
        <p:nvSpPr>
          <p:cNvPr id="12" name="TextBox 11"/>
          <p:cNvSpPr txBox="1"/>
          <p:nvPr/>
        </p:nvSpPr>
        <p:spPr>
          <a:xfrm>
            <a:off x="6598768" y="2167128"/>
            <a:ext cx="4724248" cy="1234440"/>
          </a:xfrm>
          <a:prstGeom prst="rect">
            <a:avLst/>
          </a:prstGeom>
          <a:noFill/>
        </p:spPr>
        <p:txBody>
          <a:bodyPr wrap="square" lIns="0" rIns="0" tIns="0" bIns="0" anchor="ctr">
            <a:noAutofit/>
          </a:bodyPr>
          <a:lstStyle/>
          <a:p>
            <a:pPr algn="ctr">
              <a:lnSpc>
                <a:spcPct val="112000"/>
              </a:lnSpc>
              <a:spcAft>
                <a:spcPts val="400"/>
              </a:spcAft>
            </a:pPr>
            <a:r>
              <a:rPr sz="1200" b="0" i="0">
                <a:solidFill>
                  <a:srgbClr val="FFF4E2"/>
                </a:solidFill>
                <a:latin typeface="Be Vietnam Pro"/>
                <a:ea typeface="Be Vietnam Pro"/>
                <a:cs typeface="Be Vietnam Pro"/>
              </a:rPr>
              <a:t>Gắn với ý thức và đời sống tinh thần của con người.</a:t>
            </a:r>
          </a:p>
          <a:p>
            <a:pPr algn="ctr">
              <a:lnSpc>
                <a:spcPct val="112000"/>
              </a:lnSpc>
              <a:spcAft>
                <a:spcPts val="400"/>
              </a:spcAft>
            </a:pPr>
            <a:r>
              <a:rPr sz="1200" b="0" i="0">
                <a:solidFill>
                  <a:srgbClr val="FFF4E2"/>
                </a:solidFill>
                <a:latin typeface="Be Vietnam Pro"/>
                <a:ea typeface="Be Vietnam Pro"/>
                <a:cs typeface="Be Vietnam Pro"/>
              </a:rPr>
              <a:t>Bao gồm tư duy, cảm xúc, tri thức, niềm tin…</a:t>
            </a:r>
          </a:p>
          <a:p>
            <a:pPr algn="ctr">
              <a:lnSpc>
                <a:spcPct val="112000"/>
              </a:lnSpc>
              <a:spcAft>
                <a:spcPts val="400"/>
              </a:spcAft>
            </a:pPr>
            <a:r>
              <a:rPr sz="1200" b="0" i="0">
                <a:solidFill>
                  <a:srgbClr val="FFF4E2"/>
                </a:solidFill>
                <a:latin typeface="Be Vietnam Pro"/>
                <a:ea typeface="Be Vietnam Pro"/>
                <a:cs typeface="Be Vietnam Pro"/>
              </a:rPr>
              <a:t>Có khả năng phản ánh và tác động trở lại thế giới vật chất.</a:t>
            </a:r>
          </a:p>
        </p:txBody>
      </p:sp>
      <p:pic>
        <p:nvPicPr>
          <p:cNvPr id="13" name="Picture 12" descr="5e1d44f4103f98d8.jpg"/>
          <p:cNvPicPr>
            <a:picLocks noChangeAspect="1"/>
          </p:cNvPicPr>
          <p:nvPr/>
        </p:nvPicPr>
        <p:blipFill>
          <a:blip r:embed="rId4"/>
          <a:srcRect t="47878" b="23878"/>
          <a:stretch>
            <a:fillRect/>
          </a:stretch>
        </p:blipFill>
        <p:spPr>
          <a:xfrm>
            <a:off x="6553048" y="3520440"/>
            <a:ext cx="4815688" cy="1874520"/>
          </a:xfrm>
          <a:prstGeom prst="snip2DiagRect">
            <a:avLst>
              <a:gd name="adj1" fmla="val 0"/>
              <a:gd name="adj2" fmla="val 10731"/>
            </a:avLst>
          </a:prstGeom>
          <a:ln w="1905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pic>
        <p:nvPicPr>
          <p:cNvPr id="14" name="!!medal" descr="medal.png"/>
          <p:cNvPicPr>
            <a:picLocks noChangeAspect="1"/>
          </p:cNvPicPr>
          <p:nvPr/>
        </p:nvPicPr>
        <p:blipFill>
          <a:blip r:embed="rId5"/>
          <a:srcRect/>
          <a:stretch>
            <a:fillRect/>
          </a:stretch>
        </p:blipFill>
        <p:spPr>
          <a:xfrm>
            <a:off x="5592928" y="5166360"/>
            <a:ext cx="1052074" cy="1005840"/>
          </a:xfrm>
          <a:prstGeom prst="rect">
            <a:avLst/>
          </a:prstGeom>
        </p:spPr>
      </p:pic>
      <p:sp>
        <p:nvSpPr>
          <p:cNvPr id="15" name="Snip Diagonal Corner Rectangle 14"/>
          <p:cNvSpPr/>
          <p:nvPr/>
        </p:nvSpPr>
        <p:spPr>
          <a:xfrm>
            <a:off x="1645920" y="5943600"/>
            <a:ext cx="8899855" cy="566928"/>
          </a:xfrm>
          <a:prstGeom prst="snip2DiagRect">
            <a:avLst>
              <a:gd name="adj1" fmla="val 0"/>
              <a:gd name="adj2" fmla="val 29032"/>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350" b="0" i="1">
                <a:solidFill>
                  <a:srgbClr val="FFF4E2"/>
                </a:solidFill>
                <a:latin typeface="Be Vietnam Pro"/>
                <a:ea typeface="Be Vietnam Pro"/>
                <a:cs typeface="Be Vietnam Pro"/>
              </a:rPr>
              <a:t>Mọi trường phái triết học đều phải giải quyết quan hệ giữa hai phạm vi này</a:t>
            </a:r>
          </a:p>
        </p:txBody>
      </p:sp>
      <p:sp>
        <p:nvSpPr>
          <p:cNvPr id="16" name="TextBox 15"/>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04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42" presetClass="entr" presetSubtype="0" fill="hold" grpId="0" nodeType="with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anim calcmode="lin" valueType="num">
                                      <p:cBhvr additive="base">
                                        <p:cTn id="17" dur="600" fill="hold"/>
                                        <p:tgtEl>
                                          <p:spTgt spid="6"/>
                                        </p:tgtEl>
                                        <p:attrNameLst>
                                          <p:attrName>ppt_x</p:attrName>
                                        </p:attrNameLst>
                                      </p:cBhvr>
                                      <p:tavLst>
                                        <p:tav tm="0">
                                          <p:val>
                                            <p:strVal val="#ppt_x"/>
                                          </p:val>
                                        </p:tav>
                                        <p:tav tm="100000">
                                          <p:val>
                                            <p:strVal val="#ppt_x"/>
                                          </p:val>
                                        </p:tav>
                                      </p:tavLst>
                                    </p:anim>
                                    <p:anim calcmode="lin" valueType="num">
                                      <p:cBhvr additive="base">
                                        <p:cTn id="18" dur="600" fill="hold"/>
                                        <p:tgtEl>
                                          <p:spTgt spid="6"/>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600"/>
                                        <p:tgtEl>
                                          <p:spTgt spid="7"/>
                                        </p:tgtEl>
                                      </p:cBhvr>
                                    </p:animEffect>
                                    <p:anim calcmode="lin" valueType="num">
                                      <p:cBhvr additive="base">
                                        <p:cTn id="22" dur="600" fill="hold"/>
                                        <p:tgtEl>
                                          <p:spTgt spid="7"/>
                                        </p:tgtEl>
                                        <p:attrNameLst>
                                          <p:attrName>ppt_x</p:attrName>
                                        </p:attrNameLst>
                                      </p:cBhvr>
                                      <p:tavLst>
                                        <p:tav tm="0">
                                          <p:val>
                                            <p:strVal val="#ppt_x"/>
                                          </p:val>
                                        </p:tav>
                                        <p:tav tm="100000">
                                          <p:val>
                                            <p:strVal val="#ppt_x"/>
                                          </p:val>
                                        </p:tav>
                                      </p:tavLst>
                                    </p:anim>
                                    <p:anim calcmode="lin" valueType="num">
                                      <p:cBhvr additive="base">
                                        <p:cTn id="23" dur="600" fill="hold"/>
                                        <p:tgtEl>
                                          <p:spTgt spid="7"/>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4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anim calcmode="lin" valueType="num">
                                      <p:cBhvr additive="base">
                                        <p:cTn id="27" dur="600" fill="hold"/>
                                        <p:tgtEl>
                                          <p:spTgt spid="8"/>
                                        </p:tgtEl>
                                        <p:attrNameLst>
                                          <p:attrName>ppt_x</p:attrName>
                                        </p:attrNameLst>
                                      </p:cBhvr>
                                      <p:tavLst>
                                        <p:tav tm="0">
                                          <p:val>
                                            <p:strVal val="#ppt_x"/>
                                          </p:val>
                                        </p:tav>
                                        <p:tav tm="100000">
                                          <p:val>
                                            <p:strVal val="#ppt_x"/>
                                          </p:val>
                                        </p:tav>
                                      </p:tavLst>
                                    </p:anim>
                                    <p:anim calcmode="lin" valueType="num">
                                      <p:cBhvr additive="base">
                                        <p:cTn id="28" dur="600" fill="hold"/>
                                        <p:tgtEl>
                                          <p:spTgt spid="8"/>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4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additive="base">
                                        <p:cTn id="32" dur="600" fill="hold"/>
                                        <p:tgtEl>
                                          <p:spTgt spid="9"/>
                                        </p:tgtEl>
                                        <p:attrNameLst>
                                          <p:attrName>ppt_x</p:attrName>
                                        </p:attrNameLst>
                                      </p:cBhvr>
                                      <p:tavLst>
                                        <p:tav tm="0">
                                          <p:val>
                                            <p:strVal val="#ppt_x"/>
                                          </p:val>
                                        </p:tav>
                                        <p:tav tm="100000">
                                          <p:val>
                                            <p:strVal val="#ppt_x"/>
                                          </p:val>
                                        </p:tav>
                                      </p:tavLst>
                                    </p:anim>
                                    <p:anim calcmode="lin" valueType="num">
                                      <p:cBhvr additive="base">
                                        <p:cTn id="33" dur="60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65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600"/>
                                        <p:tgtEl>
                                          <p:spTgt spid="10"/>
                                        </p:tgtEl>
                                      </p:cBhvr>
                                    </p:animEffect>
                                    <p:anim calcmode="lin" valueType="num">
                                      <p:cBhvr additive="base">
                                        <p:cTn id="37" dur="600" fill="hold"/>
                                        <p:tgtEl>
                                          <p:spTgt spid="10"/>
                                        </p:tgtEl>
                                        <p:attrNameLst>
                                          <p:attrName>ppt_x</p:attrName>
                                        </p:attrNameLst>
                                      </p:cBhvr>
                                      <p:tavLst>
                                        <p:tav tm="0">
                                          <p:val>
                                            <p:strVal val="#ppt_x"/>
                                          </p:val>
                                        </p:tav>
                                        <p:tav tm="100000">
                                          <p:val>
                                            <p:strVal val="#ppt_x"/>
                                          </p:val>
                                        </p:tav>
                                      </p:tavLst>
                                    </p:anim>
                                    <p:anim calcmode="lin" valueType="num">
                                      <p:cBhvr additive="base">
                                        <p:cTn id="38" dur="6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65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additive="base">
                                        <p:cTn id="42" dur="600" fill="hold"/>
                                        <p:tgtEl>
                                          <p:spTgt spid="11"/>
                                        </p:tgtEl>
                                        <p:attrNameLst>
                                          <p:attrName>ppt_x</p:attrName>
                                        </p:attrNameLst>
                                      </p:cBhvr>
                                      <p:tavLst>
                                        <p:tav tm="0">
                                          <p:val>
                                            <p:strVal val="#ppt_x"/>
                                          </p:val>
                                        </p:tav>
                                        <p:tav tm="100000">
                                          <p:val>
                                            <p:strVal val="#ppt_x"/>
                                          </p:val>
                                        </p:tav>
                                      </p:tavLst>
                                    </p:anim>
                                    <p:anim calcmode="lin" valueType="num">
                                      <p:cBhvr additive="base">
                                        <p:cTn id="43" dur="60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65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600"/>
                                        <p:tgtEl>
                                          <p:spTgt spid="12"/>
                                        </p:tgtEl>
                                      </p:cBhvr>
                                    </p:animEffect>
                                    <p:anim calcmode="lin" valueType="num">
                                      <p:cBhvr additive="base">
                                        <p:cTn id="47" dur="600" fill="hold"/>
                                        <p:tgtEl>
                                          <p:spTgt spid="12"/>
                                        </p:tgtEl>
                                        <p:attrNameLst>
                                          <p:attrName>ppt_x</p:attrName>
                                        </p:attrNameLst>
                                      </p:cBhvr>
                                      <p:tavLst>
                                        <p:tav tm="0">
                                          <p:val>
                                            <p:strVal val="#ppt_x"/>
                                          </p:val>
                                        </p:tav>
                                        <p:tav tm="100000">
                                          <p:val>
                                            <p:strVal val="#ppt_x"/>
                                          </p:val>
                                        </p:tav>
                                      </p:tavLst>
                                    </p:anim>
                                    <p:anim calcmode="lin" valueType="num">
                                      <p:cBhvr additive="base">
                                        <p:cTn id="48" dur="60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65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600"/>
                                        <p:tgtEl>
                                          <p:spTgt spid="13"/>
                                        </p:tgtEl>
                                      </p:cBhvr>
                                    </p:animEffect>
                                    <p:anim calcmode="lin" valueType="num">
                                      <p:cBhvr additive="base">
                                        <p:cTn id="52" dur="600" fill="hold"/>
                                        <p:tgtEl>
                                          <p:spTgt spid="13"/>
                                        </p:tgtEl>
                                        <p:attrNameLst>
                                          <p:attrName>ppt_x</p:attrName>
                                        </p:attrNameLst>
                                      </p:cBhvr>
                                      <p:tavLst>
                                        <p:tav tm="0">
                                          <p:val>
                                            <p:strVal val="#ppt_x"/>
                                          </p:val>
                                        </p:tav>
                                        <p:tav tm="100000">
                                          <p:val>
                                            <p:strVal val="#ppt_x"/>
                                          </p:val>
                                        </p:tav>
                                      </p:tavLst>
                                    </p:anim>
                                    <p:anim calcmode="lin" valueType="num">
                                      <p:cBhvr additive="base">
                                        <p:cTn id="53" dur="600" fill="hold"/>
                                        <p:tgtEl>
                                          <p:spTgt spid="13"/>
                                        </p:tgtEl>
                                        <p:attrNameLst>
                                          <p:attrName>ppt_y</p:attrName>
                                        </p:attrNameLst>
                                      </p:cBhvr>
                                      <p:tavLst>
                                        <p:tav tm="0">
                                          <p:val>
                                            <p:strVal val="#ppt_y+.06"/>
                                          </p:val>
                                        </p:tav>
                                        <p:tav tm="100000">
                                          <p:val>
                                            <p:strVal val="#ppt_y"/>
                                          </p:val>
                                        </p:tav>
                                      </p:tavLst>
                                    </p:anim>
                                  </p:childTnLst>
                                </p:cTn>
                              </p:par>
                              <p:par>
                                <p:cTn id="54" presetID="31" presetClass="entr" presetSubtype="0" fill="hold" grpId="0" nodeType="withEffect">
                                  <p:stCondLst>
                                    <p:cond delay="110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800" fill="hold"/>
                                        <p:tgtEl>
                                          <p:spTgt spid="14"/>
                                        </p:tgtEl>
                                        <p:attrNameLst>
                                          <p:attrName>ppt_w</p:attrName>
                                        </p:attrNameLst>
                                      </p:cBhvr>
                                      <p:tavLst>
                                        <p:tav tm="0">
                                          <p:val>
                                            <p:strVal val="0"/>
                                          </p:val>
                                        </p:tav>
                                        <p:tav tm="100000">
                                          <p:val>
                                            <p:strVal val="#ppt_w"/>
                                          </p:val>
                                        </p:tav>
                                      </p:tavLst>
                                    </p:anim>
                                    <p:anim calcmode="lin" valueType="num">
                                      <p:cBhvr additive="base">
                                        <p:cTn id="57" dur="800" fill="hold"/>
                                        <p:tgtEl>
                                          <p:spTgt spid="14"/>
                                        </p:tgtEl>
                                        <p:attrNameLst>
                                          <p:attrName>ppt_h</p:attrName>
                                        </p:attrNameLst>
                                      </p:cBhvr>
                                      <p:tavLst>
                                        <p:tav tm="0">
                                          <p:val>
                                            <p:strVal val="0"/>
                                          </p:val>
                                        </p:tav>
                                        <p:tav tm="100000">
                                          <p:val>
                                            <p:strVal val="#ppt_h"/>
                                          </p:val>
                                        </p:tav>
                                      </p:tavLst>
                                    </p:anim>
                                    <p:anim calcmode="lin" valueType="num">
                                      <p:cBhvr>
                                        <p:cTn id="58" dur="800" fill="hold"/>
                                        <p:tgtEl>
                                          <p:spTgt spid="14"/>
                                        </p:tgtEl>
                                        <p:attrNameLst>
                                          <p:attrName>style.rotation</p:attrName>
                                        </p:attrNameLst>
                                      </p:cBhvr>
                                      <p:tavLst>
                                        <p:tav tm="0">
                                          <p:val>
                                            <p:fltVal val="90"/>
                                          </p:val>
                                        </p:tav>
                                        <p:tav tm="100000">
                                          <p:val>
                                            <p:fltVal val="0"/>
                                          </p:val>
                                        </p:tav>
                                      </p:tavLst>
                                    </p:anim>
                                    <p:animEffect transition="in" filter="fade">
                                      <p:cBhvr>
                                        <p:cTn id="59" dur="800"/>
                                        <p:tgtEl>
                                          <p:spTgt spid="14"/>
                                        </p:tgtEl>
                                      </p:cBhvr>
                                    </p:animEffect>
                                  </p:childTnLst>
                                </p:cTn>
                              </p:par>
                              <p:par>
                                <p:cTn id="60" presetID="22" presetClass="entr" presetSubtype="8" fill="hold" grpId="0" nodeType="withEffect">
                                  <p:stCondLst>
                                    <p:cond delay="140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animBg="1"/>
      <p:bldP spid="12" grpId="0" animBg="1"/>
      <p:bldP spid="1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pic>
        <p:nvPicPr>
          <p:cNvPr id="3" name="Picture 2" descr="glow_FFC560_30_1.5.png"/>
          <p:cNvPicPr>
            <a:picLocks noChangeAspect="1"/>
          </p:cNvPicPr>
          <p:nvPr/>
        </p:nvPicPr>
        <p:blipFill>
          <a:blip r:embed="rId3"/>
          <a:stretch>
            <a:fillRect/>
          </a:stretch>
        </p:blipFill>
        <p:spPr>
          <a:xfrm>
            <a:off x="-1080874" y="480060"/>
            <a:ext cx="6720840" cy="6720840"/>
          </a:xfrm>
          <a:prstGeom prst="rect">
            <a:avLst/>
          </a:prstGeom>
        </p:spPr>
      </p:pic>
      <p:pic>
        <p:nvPicPr>
          <p:cNvPr id="4" name="!!emblem" descr="hammer_sickle.png"/>
          <p:cNvPicPr>
            <a:picLocks noChangeAspect="1"/>
          </p:cNvPicPr>
          <p:nvPr/>
        </p:nvPicPr>
        <p:blipFill>
          <a:blip r:embed="rId4"/>
          <a:srcRect t="0" b="0"/>
          <a:stretch>
            <a:fillRect/>
          </a:stretch>
        </p:blipFill>
        <p:spPr>
          <a:xfrm>
            <a:off x="320040" y="1600200"/>
            <a:ext cx="3919012" cy="4480560"/>
          </a:xfrm>
          <a:prstGeom prst="rect">
            <a:avLst/>
          </a:prstGeom>
        </p:spPr>
      </p:pic>
      <p:sp>
        <p:nvSpPr>
          <p:cNvPr id="5"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1</a:t>
            </a:r>
          </a:p>
        </p:txBody>
      </p:sp>
      <p:sp>
        <p:nvSpPr>
          <p:cNvPr id="6" name="!!tab"/>
          <p:cNvSpPr/>
          <p:nvPr/>
        </p:nvSpPr>
        <p:spPr>
          <a:xfrm>
            <a:off x="548640" y="566928"/>
            <a:ext cx="4546646"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HAI MẶT CỦA VẤN ĐỀ CƠ BẢN</a:t>
            </a:r>
          </a:p>
        </p:txBody>
      </p:sp>
      <p:sp>
        <p:nvSpPr>
          <p:cNvPr id="7" name="!!rule"/>
          <p:cNvSpPr/>
          <p:nvPr/>
        </p:nvSpPr>
        <p:spPr>
          <a:xfrm>
            <a:off x="5205014" y="1133856"/>
            <a:ext cx="6620922"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8" name="Snip Diagonal Corner Rectangle 7"/>
          <p:cNvSpPr/>
          <p:nvPr/>
        </p:nvSpPr>
        <p:spPr>
          <a:xfrm>
            <a:off x="7224899" y="1371600"/>
            <a:ext cx="2268176" cy="457200"/>
          </a:xfrm>
          <a:prstGeom prst="snip2DiagRect">
            <a:avLst>
              <a:gd name="adj1" fmla="val 0"/>
              <a:gd name="adj2" fmla="val 28000"/>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800" b="0" i="0" spc="120">
                <a:solidFill>
                  <a:srgbClr val="FFE6A1"/>
                </a:solidFill>
                <a:latin typeface="Big Shoulders Display Black"/>
                <a:ea typeface="Big Shoulders Display Black"/>
                <a:cs typeface="Big Shoulders Display Black"/>
              </a:rPr>
              <a:t>MẶT THỨ NHẤT</a:t>
            </a:r>
          </a:p>
        </p:txBody>
      </p:sp>
      <p:sp>
        <p:nvSpPr>
          <p:cNvPr id="9" name="Snip Diagonal Corner Rectangle 8"/>
          <p:cNvSpPr/>
          <p:nvPr/>
        </p:nvSpPr>
        <p:spPr>
          <a:xfrm>
            <a:off x="5074920" y="1993392"/>
            <a:ext cx="6568135" cy="841248"/>
          </a:xfrm>
          <a:prstGeom prst="snip2DiagRect">
            <a:avLst>
              <a:gd name="adj1" fmla="val 0"/>
              <a:gd name="adj2" fmla="val 21739"/>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wrap="square"/>
          <a:lstStyle/>
          <a:p>
            <a:pPr algn="ctr">
              <a:lnSpc>
                <a:spcPct val="112000"/>
              </a:lnSpc>
            </a:pPr>
            <a:r>
              <a:rPr sz="1350" b="0" i="0">
                <a:solidFill>
                  <a:srgbClr val="FFF4E2"/>
                </a:solidFill>
                <a:latin typeface="Be Vietnam Pro SemiBold"/>
                <a:ea typeface="Be Vietnam Pro SemiBold"/>
                <a:cs typeface="Be Vietnam Pro SemiBold"/>
              </a:rPr>
              <a:t>Giữa vật chất và ý thức, cái nào có trước, cái nào có sau, cái nào quyết định cái nào?</a:t>
            </a:r>
          </a:p>
        </p:txBody>
      </p:sp>
      <p:pic>
        <p:nvPicPr>
          <p:cNvPr id="10" name="Picture 9" descr="star_gold.png"/>
          <p:cNvPicPr>
            <a:picLocks noChangeAspect="1"/>
          </p:cNvPicPr>
          <p:nvPr/>
        </p:nvPicPr>
        <p:blipFill>
          <a:blip r:embed="rId5"/>
          <a:stretch>
            <a:fillRect/>
          </a:stretch>
        </p:blipFill>
        <p:spPr>
          <a:xfrm>
            <a:off x="8212684" y="2866012"/>
            <a:ext cx="292608" cy="279524"/>
          </a:xfrm>
          <a:prstGeom prst="rect">
            <a:avLst/>
          </a:prstGeom>
        </p:spPr>
      </p:pic>
      <p:sp>
        <p:nvSpPr>
          <p:cNvPr id="11" name="Snip Diagonal Corner Rectangle 10"/>
          <p:cNvSpPr/>
          <p:nvPr/>
        </p:nvSpPr>
        <p:spPr>
          <a:xfrm>
            <a:off x="5623560" y="3172968"/>
            <a:ext cx="5470855" cy="457200"/>
          </a:xfrm>
          <a:prstGeom prst="snip2DiagRect">
            <a:avLst>
              <a:gd name="adj1" fmla="val 0"/>
              <a:gd name="adj2" fmla="val 24000"/>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200" b="0" i="0">
                <a:solidFill>
                  <a:srgbClr val="5A0A10"/>
                </a:solidFill>
                <a:latin typeface="Be Vietnam Pro Medium"/>
                <a:ea typeface="Be Vietnam Pro Medium"/>
                <a:cs typeface="Be Vietnam Pro Medium"/>
              </a:rPr>
              <a:t>Cách trả lời chia triết học thành duy vật và duy tâm</a:t>
            </a:r>
          </a:p>
        </p:txBody>
      </p:sp>
      <p:sp>
        <p:nvSpPr>
          <p:cNvPr id="12" name="Snip Diagonal Corner Rectangle 11"/>
          <p:cNvSpPr/>
          <p:nvPr/>
        </p:nvSpPr>
        <p:spPr>
          <a:xfrm>
            <a:off x="7310704" y="3858768"/>
            <a:ext cx="2096568" cy="457200"/>
          </a:xfrm>
          <a:prstGeom prst="snip2DiagRect">
            <a:avLst>
              <a:gd name="adj1" fmla="val 0"/>
              <a:gd name="adj2" fmla="val 28000"/>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800" b="0" i="0" spc="120">
                <a:solidFill>
                  <a:srgbClr val="FFE6A1"/>
                </a:solidFill>
                <a:latin typeface="Big Shoulders Display Black"/>
                <a:ea typeface="Big Shoulders Display Black"/>
                <a:cs typeface="Big Shoulders Display Black"/>
              </a:rPr>
              <a:t>MẶT THỨ HAI</a:t>
            </a:r>
          </a:p>
        </p:txBody>
      </p:sp>
      <p:sp>
        <p:nvSpPr>
          <p:cNvPr id="13" name="Snip Diagonal Corner Rectangle 12"/>
          <p:cNvSpPr/>
          <p:nvPr/>
        </p:nvSpPr>
        <p:spPr>
          <a:xfrm>
            <a:off x="5074920" y="4480560"/>
            <a:ext cx="6568135" cy="841248"/>
          </a:xfrm>
          <a:prstGeom prst="snip2DiagRect">
            <a:avLst>
              <a:gd name="adj1" fmla="val 0"/>
              <a:gd name="adj2" fmla="val 21739"/>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wrap="square"/>
          <a:lstStyle/>
          <a:p>
            <a:pPr algn="ctr">
              <a:lnSpc>
                <a:spcPct val="112000"/>
              </a:lnSpc>
            </a:pPr>
            <a:r>
              <a:rPr sz="1350" b="0" i="0">
                <a:solidFill>
                  <a:srgbClr val="FFF4E2"/>
                </a:solidFill>
                <a:latin typeface="Be Vietnam Pro SemiBold"/>
                <a:ea typeface="Be Vietnam Pro SemiBold"/>
                <a:cs typeface="Be Vietnam Pro SemiBold"/>
              </a:rPr>
              <a:t>Con người có khả năng nhận thức được thế giới hay không?</a:t>
            </a:r>
          </a:p>
        </p:txBody>
      </p:sp>
      <p:pic>
        <p:nvPicPr>
          <p:cNvPr id="14" name="Picture 13" descr="star_gold.png"/>
          <p:cNvPicPr>
            <a:picLocks noChangeAspect="1"/>
          </p:cNvPicPr>
          <p:nvPr/>
        </p:nvPicPr>
        <p:blipFill>
          <a:blip r:embed="rId5"/>
          <a:stretch>
            <a:fillRect/>
          </a:stretch>
        </p:blipFill>
        <p:spPr>
          <a:xfrm>
            <a:off x="8212684" y="5353180"/>
            <a:ext cx="292608" cy="279524"/>
          </a:xfrm>
          <a:prstGeom prst="rect">
            <a:avLst/>
          </a:prstGeom>
        </p:spPr>
      </p:pic>
      <p:sp>
        <p:nvSpPr>
          <p:cNvPr id="15" name="Snip Diagonal Corner Rectangle 14"/>
          <p:cNvSpPr/>
          <p:nvPr/>
        </p:nvSpPr>
        <p:spPr>
          <a:xfrm>
            <a:off x="5623560" y="5660136"/>
            <a:ext cx="5470855" cy="457200"/>
          </a:xfrm>
          <a:prstGeom prst="snip2DiagRect">
            <a:avLst>
              <a:gd name="adj1" fmla="val 0"/>
              <a:gd name="adj2" fmla="val 24000"/>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200" b="0" i="0">
                <a:solidFill>
                  <a:srgbClr val="5A0A10"/>
                </a:solidFill>
                <a:latin typeface="Be Vietnam Pro Medium"/>
                <a:ea typeface="Be Vietnam Pro Medium"/>
                <a:cs typeface="Be Vietnam Pro Medium"/>
              </a:rPr>
              <a:t>Cách trả lời chia thành thuyết khả tri và bất khả tri</a:t>
            </a:r>
          </a:p>
        </p:txBody>
      </p:sp>
      <p:sp>
        <p:nvSpPr>
          <p:cNvPr id="16" name="TextBox 15"/>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05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ppt_w</p:attrName>
                                        </p:attrNameLst>
                                      </p:cBhvr>
                                      <p:tavLst>
                                        <p:tav tm="0">
                                          <p:val>
                                            <p:strVal val="0"/>
                                          </p:val>
                                        </p:tav>
                                        <p:tav tm="100000">
                                          <p:val>
                                            <p:strVal val="#ppt_w"/>
                                          </p:val>
                                        </p:tav>
                                      </p:tavLst>
                                    </p:anim>
                                    <p:anim calcmode="lin" valueType="num">
                                      <p:cBhvr additive="base">
                                        <p:cTn id="8" dur="1000" fill="hold"/>
                                        <p:tgtEl>
                                          <p:spTgt spid="4"/>
                                        </p:tgtEl>
                                        <p:attrNameLst>
                                          <p:attrName>ppt_h</p:attrName>
                                        </p:attrNameLst>
                                      </p:cBhvr>
                                      <p:tavLst>
                                        <p:tav tm="0">
                                          <p:val>
                                            <p:str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par>
                                <p:cTn id="14" presetID="22" presetClass="entr" presetSubtype="8" fill="hold" grpId="0" nodeType="withEffect">
                                  <p:stCondLst>
                                    <p:cond delay="10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600"/>
                                        <p:tgtEl>
                                          <p:spTgt spid="5"/>
                                        </p:tgtEl>
                                      </p:cBhvr>
                                    </p:animEffect>
                                  </p:childTnLst>
                                </p:cTn>
                              </p:par>
                              <p:par>
                                <p:cTn id="17" presetID="22" presetClass="entr" presetSubtype="8" fill="hold" grpId="0" nodeType="withEffect">
                                  <p:stCondLst>
                                    <p:cond delay="22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600"/>
                                        <p:tgtEl>
                                          <p:spTgt spid="6"/>
                                        </p:tgtEl>
                                      </p:cBhvr>
                                    </p:animEffect>
                                  </p:childTnLst>
                                </p:cTn>
                              </p:par>
                              <p:par>
                                <p:cTn id="20" presetID="22" presetClass="entr" presetSubtype="8" fill="hold" grpId="0" nodeType="withEffect">
                                  <p:stCondLst>
                                    <p:cond delay="339"/>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600"/>
                                        <p:tgtEl>
                                          <p:spTgt spid="7"/>
                                        </p:tgtEl>
                                      </p:cBhvr>
                                    </p:animEffect>
                                  </p:childTnLst>
                                </p:cTn>
                              </p:par>
                              <p:par>
                                <p:cTn id="23" presetID="42" presetClass="entr" presetSubtype="0" fill="hold" grpId="0" nodeType="withEffect">
                                  <p:stCondLst>
                                    <p:cond delay="6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anim calcmode="lin" valueType="num">
                                      <p:cBhvr additive="base">
                                        <p:cTn id="26" dur="450" fill="hold"/>
                                        <p:tgtEl>
                                          <p:spTgt spid="8"/>
                                        </p:tgtEl>
                                        <p:attrNameLst>
                                          <p:attrName>ppt_x</p:attrName>
                                        </p:attrNameLst>
                                      </p:cBhvr>
                                      <p:tavLst>
                                        <p:tav tm="0">
                                          <p:val>
                                            <p:strVal val="#ppt_x"/>
                                          </p:val>
                                        </p:tav>
                                        <p:tav tm="100000">
                                          <p:val>
                                            <p:strVal val="#ppt_x"/>
                                          </p:val>
                                        </p:tav>
                                      </p:tavLst>
                                    </p:anim>
                                    <p:anim calcmode="lin" valueType="num">
                                      <p:cBhvr additive="base">
                                        <p:cTn id="27" dur="45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75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50"/>
                                        <p:tgtEl>
                                          <p:spTgt spid="9"/>
                                        </p:tgtEl>
                                      </p:cBhvr>
                                    </p:animEffect>
                                    <p:anim calcmode="lin" valueType="num">
                                      <p:cBhvr additive="base">
                                        <p:cTn id="31" dur="450" fill="hold"/>
                                        <p:tgtEl>
                                          <p:spTgt spid="9"/>
                                        </p:tgtEl>
                                        <p:attrNameLst>
                                          <p:attrName>ppt_x</p:attrName>
                                        </p:attrNameLst>
                                      </p:cBhvr>
                                      <p:tavLst>
                                        <p:tav tm="0">
                                          <p:val>
                                            <p:strVal val="#ppt_x"/>
                                          </p:val>
                                        </p:tav>
                                        <p:tav tm="100000">
                                          <p:val>
                                            <p:strVal val="#ppt_x"/>
                                          </p:val>
                                        </p:tav>
                                      </p:tavLst>
                                    </p:anim>
                                    <p:anim calcmode="lin" valueType="num">
                                      <p:cBhvr additive="base">
                                        <p:cTn id="32" dur="450" fill="hold"/>
                                        <p:tgtEl>
                                          <p:spTgt spid="9"/>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90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50"/>
                                        <p:tgtEl>
                                          <p:spTgt spid="10"/>
                                        </p:tgtEl>
                                      </p:cBhvr>
                                    </p:animEffect>
                                    <p:anim calcmode="lin" valueType="num">
                                      <p:cBhvr additive="base">
                                        <p:cTn id="36" dur="450" fill="hold"/>
                                        <p:tgtEl>
                                          <p:spTgt spid="10"/>
                                        </p:tgtEl>
                                        <p:attrNameLst>
                                          <p:attrName>ppt_x</p:attrName>
                                        </p:attrNameLst>
                                      </p:cBhvr>
                                      <p:tavLst>
                                        <p:tav tm="0">
                                          <p:val>
                                            <p:strVal val="#ppt_x"/>
                                          </p:val>
                                        </p:tav>
                                        <p:tav tm="100000">
                                          <p:val>
                                            <p:strVal val="#ppt_x"/>
                                          </p:val>
                                        </p:tav>
                                      </p:tavLst>
                                    </p:anim>
                                    <p:anim calcmode="lin" valueType="num">
                                      <p:cBhvr additive="base">
                                        <p:cTn id="37" dur="450" fill="hold"/>
                                        <p:tgtEl>
                                          <p:spTgt spid="10"/>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0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50"/>
                                        <p:tgtEl>
                                          <p:spTgt spid="11"/>
                                        </p:tgtEl>
                                      </p:cBhvr>
                                    </p:animEffect>
                                    <p:anim calcmode="lin" valueType="num">
                                      <p:cBhvr additive="base">
                                        <p:cTn id="41" dur="450" fill="hold"/>
                                        <p:tgtEl>
                                          <p:spTgt spid="11"/>
                                        </p:tgtEl>
                                        <p:attrNameLst>
                                          <p:attrName>ppt_x</p:attrName>
                                        </p:attrNameLst>
                                      </p:cBhvr>
                                      <p:tavLst>
                                        <p:tav tm="0">
                                          <p:val>
                                            <p:strVal val="#ppt_x"/>
                                          </p:val>
                                        </p:tav>
                                        <p:tav tm="100000">
                                          <p:val>
                                            <p:strVal val="#ppt_x"/>
                                          </p:val>
                                        </p:tav>
                                      </p:tavLst>
                                    </p:anim>
                                    <p:anim calcmode="lin" valueType="num">
                                      <p:cBhvr additive="base">
                                        <p:cTn id="42" dur="450" fill="hold"/>
                                        <p:tgtEl>
                                          <p:spTgt spid="11"/>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30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450"/>
                                        <p:tgtEl>
                                          <p:spTgt spid="12"/>
                                        </p:tgtEl>
                                      </p:cBhvr>
                                    </p:animEffect>
                                    <p:anim calcmode="lin" valueType="num">
                                      <p:cBhvr additive="base">
                                        <p:cTn id="46" dur="450" fill="hold"/>
                                        <p:tgtEl>
                                          <p:spTgt spid="12"/>
                                        </p:tgtEl>
                                        <p:attrNameLst>
                                          <p:attrName>ppt_x</p:attrName>
                                        </p:attrNameLst>
                                      </p:cBhvr>
                                      <p:tavLst>
                                        <p:tav tm="0">
                                          <p:val>
                                            <p:strVal val="#ppt_x"/>
                                          </p:val>
                                        </p:tav>
                                        <p:tav tm="100000">
                                          <p:val>
                                            <p:strVal val="#ppt_x"/>
                                          </p:val>
                                        </p:tav>
                                      </p:tavLst>
                                    </p:anim>
                                    <p:anim calcmode="lin" valueType="num">
                                      <p:cBhvr additive="base">
                                        <p:cTn id="47" dur="450" fill="hold"/>
                                        <p:tgtEl>
                                          <p:spTgt spid="12"/>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145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450"/>
                                        <p:tgtEl>
                                          <p:spTgt spid="13"/>
                                        </p:tgtEl>
                                      </p:cBhvr>
                                    </p:animEffect>
                                    <p:anim calcmode="lin" valueType="num">
                                      <p:cBhvr additive="base">
                                        <p:cTn id="51" dur="450" fill="hold"/>
                                        <p:tgtEl>
                                          <p:spTgt spid="13"/>
                                        </p:tgtEl>
                                        <p:attrNameLst>
                                          <p:attrName>ppt_x</p:attrName>
                                        </p:attrNameLst>
                                      </p:cBhvr>
                                      <p:tavLst>
                                        <p:tav tm="0">
                                          <p:val>
                                            <p:strVal val="#ppt_x"/>
                                          </p:val>
                                        </p:tav>
                                        <p:tav tm="100000">
                                          <p:val>
                                            <p:strVal val="#ppt_x"/>
                                          </p:val>
                                        </p:tav>
                                      </p:tavLst>
                                    </p:anim>
                                    <p:anim calcmode="lin" valueType="num">
                                      <p:cBhvr additive="base">
                                        <p:cTn id="52" dur="450" fill="hold"/>
                                        <p:tgtEl>
                                          <p:spTgt spid="13"/>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1599"/>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50"/>
                                        <p:tgtEl>
                                          <p:spTgt spid="14"/>
                                        </p:tgtEl>
                                      </p:cBhvr>
                                    </p:animEffect>
                                    <p:anim calcmode="lin" valueType="num">
                                      <p:cBhvr additive="base">
                                        <p:cTn id="56" dur="450" fill="hold"/>
                                        <p:tgtEl>
                                          <p:spTgt spid="14"/>
                                        </p:tgtEl>
                                        <p:attrNameLst>
                                          <p:attrName>ppt_x</p:attrName>
                                        </p:attrNameLst>
                                      </p:cBhvr>
                                      <p:tavLst>
                                        <p:tav tm="0">
                                          <p:val>
                                            <p:strVal val="#ppt_x"/>
                                          </p:val>
                                        </p:tav>
                                        <p:tav tm="100000">
                                          <p:val>
                                            <p:strVal val="#ppt_x"/>
                                          </p:val>
                                        </p:tav>
                                      </p:tavLst>
                                    </p:anim>
                                    <p:anim calcmode="lin" valueType="num">
                                      <p:cBhvr additive="base">
                                        <p:cTn id="57" dur="450" fill="hold"/>
                                        <p:tgtEl>
                                          <p:spTgt spid="14"/>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1749"/>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450"/>
                                        <p:tgtEl>
                                          <p:spTgt spid="15"/>
                                        </p:tgtEl>
                                      </p:cBhvr>
                                    </p:animEffect>
                                    <p:anim calcmode="lin" valueType="num">
                                      <p:cBhvr additive="base">
                                        <p:cTn id="61" dur="450" fill="hold"/>
                                        <p:tgtEl>
                                          <p:spTgt spid="15"/>
                                        </p:tgtEl>
                                        <p:attrNameLst>
                                          <p:attrName>ppt_x</p:attrName>
                                        </p:attrNameLst>
                                      </p:cBhvr>
                                      <p:tavLst>
                                        <p:tav tm="0">
                                          <p:val>
                                            <p:strVal val="#ppt_x"/>
                                          </p:val>
                                        </p:tav>
                                        <p:tav tm="100000">
                                          <p:val>
                                            <p:strVal val="#ppt_x"/>
                                          </p:val>
                                        </p:tav>
                                      </p:tavLst>
                                    </p:anim>
                                    <p:anim calcmode="lin" valueType="num">
                                      <p:cBhvr additive="base">
                                        <p:cTn id="62" dur="450" fill="hold"/>
                                        <p:tgtEl>
                                          <p:spTgt spid="1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5"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pic>
        <p:nvPicPr>
          <p:cNvPr id="3" name="!!ribbon" descr="ribbon_tr.png"/>
          <p:cNvPicPr>
            <a:picLocks noChangeAspect="1"/>
          </p:cNvPicPr>
          <p:nvPr/>
        </p:nvPicPr>
        <p:blipFill>
          <a:blip r:embed="rId3"/>
          <a:srcRect l="48" r="48"/>
          <a:stretch>
            <a:fillRect/>
          </a:stretch>
        </p:blipFill>
        <p:spPr>
          <a:xfrm>
            <a:off x="8351215" y="-320040"/>
            <a:ext cx="4206240" cy="2706624"/>
          </a:xfrm>
          <a:prstGeom prst="rect">
            <a:avLst/>
          </a:prstGeom>
        </p:spPr>
      </p:pic>
      <p:pic>
        <p:nvPicPr>
          <p:cNvPr id="4" name="Picture 3" descr="glow_FFB347_38_1.4.png"/>
          <p:cNvPicPr>
            <a:picLocks noChangeAspect="1"/>
          </p:cNvPicPr>
          <p:nvPr/>
        </p:nvPicPr>
        <p:blipFill>
          <a:blip r:embed="rId4"/>
          <a:stretch>
            <a:fillRect/>
          </a:stretch>
        </p:blipFill>
        <p:spPr>
          <a:xfrm>
            <a:off x="6621399" y="442798"/>
            <a:ext cx="5776722" cy="5776722"/>
          </a:xfrm>
          <a:prstGeom prst="rect">
            <a:avLst/>
          </a:prstGeom>
        </p:spPr>
      </p:pic>
      <p:pic>
        <p:nvPicPr>
          <p:cNvPr id="5" name="!!hero" descr="cut_lenin_point.png"/>
          <p:cNvPicPr>
            <a:picLocks noChangeAspect="1"/>
          </p:cNvPicPr>
          <p:nvPr/>
        </p:nvPicPr>
        <p:blipFill>
          <a:blip r:embed="rId5"/>
          <a:stretch>
            <a:fillRect/>
          </a:stretch>
        </p:blipFill>
        <p:spPr>
          <a:xfrm>
            <a:off x="6876360" y="777240"/>
            <a:ext cx="5266800" cy="6080760"/>
          </a:xfrm>
          <a:prstGeom prst="rect">
            <a:avLst/>
          </a:prstGeom>
        </p:spPr>
      </p:pic>
      <p:sp>
        <p:nvSpPr>
          <p:cNvPr id="6"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1</a:t>
            </a:r>
          </a:p>
        </p:txBody>
      </p:sp>
      <p:sp>
        <p:nvSpPr>
          <p:cNvPr id="7" name="!!tab"/>
          <p:cNvSpPr/>
          <p:nvPr/>
        </p:nvSpPr>
        <p:spPr>
          <a:xfrm>
            <a:off x="548640" y="566928"/>
            <a:ext cx="5778685"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TỪ HAI CÂU HỎI ĐẾN CÁC TRƯỜNG PHÁI</a:t>
            </a:r>
          </a:p>
        </p:txBody>
      </p:sp>
      <p:sp>
        <p:nvSpPr>
          <p:cNvPr id="8" name="!!rule"/>
          <p:cNvSpPr/>
          <p:nvPr/>
        </p:nvSpPr>
        <p:spPr>
          <a:xfrm>
            <a:off x="6437053" y="1133856"/>
            <a:ext cx="5388883"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9" name="Snip Diagonal Corner Rectangle 8"/>
          <p:cNvSpPr/>
          <p:nvPr/>
        </p:nvSpPr>
        <p:spPr>
          <a:xfrm>
            <a:off x="2011680" y="1508760"/>
            <a:ext cx="2834640" cy="475488"/>
          </a:xfrm>
          <a:prstGeom prst="snip2DiagRect">
            <a:avLst>
              <a:gd name="adj1" fmla="val 0"/>
              <a:gd name="adj2" fmla="val 26923"/>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600" b="0" i="0" spc="100">
                <a:solidFill>
                  <a:srgbClr val="FFE6A1"/>
                </a:solidFill>
                <a:latin typeface="Big Shoulders Display Black"/>
                <a:ea typeface="Big Shoulders Display Black"/>
                <a:cs typeface="Big Shoulders Display Black"/>
              </a:rPr>
              <a:t>MẶT THỨ NHẤT</a:t>
            </a:r>
          </a:p>
        </p:txBody>
      </p:sp>
      <p:cxnSp>
        <p:nvCxnSpPr>
          <p:cNvPr id="10" name="Connector 9"/>
          <p:cNvCxnSpPr/>
          <p:nvPr/>
        </p:nvCxnSpPr>
        <p:spPr>
          <a:xfrm>
            <a:off x="3429000" y="1984248"/>
            <a:ext cx="0" cy="237744"/>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a:off x="2103120" y="2221992"/>
            <a:ext cx="2651760" cy="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2103120" y="2221992"/>
            <a:ext cx="0" cy="18288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13" name="Snip Diagonal Corner Rectangle 12"/>
          <p:cNvSpPr/>
          <p:nvPr/>
        </p:nvSpPr>
        <p:spPr>
          <a:xfrm>
            <a:off x="845820" y="2404872"/>
            <a:ext cx="2514600" cy="713232"/>
          </a:xfrm>
          <a:prstGeom prst="snip2DiagRect">
            <a:avLst>
              <a:gd name="adj1" fmla="val 0"/>
              <a:gd name="adj2" fmla="val 205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0000"/>
              </a:lnSpc>
            </a:pPr>
            <a:r>
              <a:rPr sz="1300" b="0" i="0">
                <a:solidFill>
                  <a:srgbClr val="FFF4E2"/>
                </a:solidFill>
                <a:latin typeface="Be Vietnam Pro SemiBold"/>
                <a:ea typeface="Be Vietnam Pro SemiBold"/>
                <a:cs typeface="Be Vietnam Pro SemiBold"/>
              </a:rPr>
              <a:t>Chủ nghĩa duy vật</a:t>
            </a:r>
          </a:p>
        </p:txBody>
      </p:sp>
      <p:cxnSp>
        <p:nvCxnSpPr>
          <p:cNvPr id="14" name="Connector 13"/>
          <p:cNvCxnSpPr/>
          <p:nvPr/>
        </p:nvCxnSpPr>
        <p:spPr>
          <a:xfrm>
            <a:off x="4754880" y="2221992"/>
            <a:ext cx="0" cy="18288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15" name="Snip Diagonal Corner Rectangle 14"/>
          <p:cNvSpPr/>
          <p:nvPr/>
        </p:nvSpPr>
        <p:spPr>
          <a:xfrm>
            <a:off x="3497580" y="2404872"/>
            <a:ext cx="2514600" cy="713232"/>
          </a:xfrm>
          <a:prstGeom prst="snip2DiagRect">
            <a:avLst>
              <a:gd name="adj1" fmla="val 0"/>
              <a:gd name="adj2" fmla="val 205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0000"/>
              </a:lnSpc>
            </a:pPr>
            <a:r>
              <a:rPr sz="1300" b="0" i="0">
                <a:solidFill>
                  <a:srgbClr val="FFF4E2"/>
                </a:solidFill>
                <a:latin typeface="Be Vietnam Pro SemiBold"/>
                <a:ea typeface="Be Vietnam Pro SemiBold"/>
                <a:cs typeface="Be Vietnam Pro SemiBold"/>
              </a:rPr>
              <a:t>Chủ nghĩa duy tâm</a:t>
            </a:r>
          </a:p>
        </p:txBody>
      </p:sp>
      <p:sp>
        <p:nvSpPr>
          <p:cNvPr id="16" name="Snip Diagonal Corner Rectangle 15"/>
          <p:cNvSpPr/>
          <p:nvPr/>
        </p:nvSpPr>
        <p:spPr>
          <a:xfrm>
            <a:off x="2011680" y="3474720"/>
            <a:ext cx="2834640" cy="475488"/>
          </a:xfrm>
          <a:prstGeom prst="snip2DiagRect">
            <a:avLst>
              <a:gd name="adj1" fmla="val 0"/>
              <a:gd name="adj2" fmla="val 26923"/>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600" b="0" i="0" spc="100">
                <a:solidFill>
                  <a:srgbClr val="FFE6A1"/>
                </a:solidFill>
                <a:latin typeface="Big Shoulders Display Black"/>
                <a:ea typeface="Big Shoulders Display Black"/>
                <a:cs typeface="Big Shoulders Display Black"/>
              </a:rPr>
              <a:t>MẶT THỨ HAI</a:t>
            </a:r>
          </a:p>
        </p:txBody>
      </p:sp>
      <p:cxnSp>
        <p:nvCxnSpPr>
          <p:cNvPr id="17" name="Connector 16"/>
          <p:cNvCxnSpPr/>
          <p:nvPr/>
        </p:nvCxnSpPr>
        <p:spPr>
          <a:xfrm>
            <a:off x="3429000" y="3950208"/>
            <a:ext cx="0" cy="237744"/>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2103120" y="4187952"/>
            <a:ext cx="2651760" cy="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2103120" y="4187952"/>
            <a:ext cx="0" cy="18288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20" name="Snip Diagonal Corner Rectangle 19"/>
          <p:cNvSpPr/>
          <p:nvPr/>
        </p:nvSpPr>
        <p:spPr>
          <a:xfrm>
            <a:off x="845820" y="4370832"/>
            <a:ext cx="2514600" cy="713232"/>
          </a:xfrm>
          <a:prstGeom prst="snip2DiagRect">
            <a:avLst>
              <a:gd name="adj1" fmla="val 0"/>
              <a:gd name="adj2" fmla="val 205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0000"/>
              </a:lnSpc>
            </a:pPr>
            <a:r>
              <a:rPr sz="1300" b="0" i="0">
                <a:solidFill>
                  <a:srgbClr val="FFF4E2"/>
                </a:solidFill>
                <a:latin typeface="Be Vietnam Pro SemiBold"/>
                <a:ea typeface="Be Vietnam Pro SemiBold"/>
                <a:cs typeface="Be Vietnam Pro SemiBold"/>
              </a:rPr>
              <a:t>Thuyết khả tri</a:t>
            </a:r>
          </a:p>
        </p:txBody>
      </p:sp>
      <p:cxnSp>
        <p:nvCxnSpPr>
          <p:cNvPr id="21" name="Connector 20"/>
          <p:cNvCxnSpPr/>
          <p:nvPr/>
        </p:nvCxnSpPr>
        <p:spPr>
          <a:xfrm>
            <a:off x="4754880" y="4187952"/>
            <a:ext cx="0" cy="18288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22" name="Snip Diagonal Corner Rectangle 21"/>
          <p:cNvSpPr/>
          <p:nvPr/>
        </p:nvSpPr>
        <p:spPr>
          <a:xfrm>
            <a:off x="3497580" y="4370832"/>
            <a:ext cx="2514600" cy="713232"/>
          </a:xfrm>
          <a:prstGeom prst="snip2DiagRect">
            <a:avLst>
              <a:gd name="adj1" fmla="val 0"/>
              <a:gd name="adj2" fmla="val 205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0000"/>
              </a:lnSpc>
            </a:pPr>
            <a:r>
              <a:rPr sz="1300" b="0" i="0">
                <a:solidFill>
                  <a:srgbClr val="FFF4E2"/>
                </a:solidFill>
                <a:latin typeface="Be Vietnam Pro SemiBold"/>
                <a:ea typeface="Be Vietnam Pro SemiBold"/>
                <a:cs typeface="Be Vietnam Pro SemiBold"/>
              </a:rPr>
              <a:t>Thuyết bất khả tri</a:t>
            </a:r>
          </a:p>
        </p:txBody>
      </p:sp>
      <p:sp>
        <p:nvSpPr>
          <p:cNvPr id="23" name="Snip Diagonal Corner Rectangle 22"/>
          <p:cNvSpPr/>
          <p:nvPr/>
        </p:nvSpPr>
        <p:spPr>
          <a:xfrm>
            <a:off x="548640" y="5870448"/>
            <a:ext cx="10728655" cy="566928"/>
          </a:xfrm>
          <a:prstGeom prst="snip2DiagRect">
            <a:avLst>
              <a:gd name="adj1" fmla="val 0"/>
              <a:gd name="adj2" fmla="val 29032"/>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300" b="0" i="1">
                <a:solidFill>
                  <a:srgbClr val="FFF4E2"/>
                </a:solidFill>
                <a:latin typeface="Be Vietnam Pro"/>
                <a:ea typeface="Be Vietnam Pro"/>
                <a:cs typeface="Be Vietnam Pro"/>
              </a:rPr>
              <a:t>Không đồng nhất duy vật với khả tri, hay duy tâm với bất khả tri</a:t>
            </a:r>
          </a:p>
        </p:txBody>
      </p:sp>
      <p:sp>
        <p:nvSpPr>
          <p:cNvPr id="24" name="TextBox 23"/>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06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900" fill="hold"/>
                                        <p:tgtEl>
                                          <p:spTgt spid="4"/>
                                        </p:tgtEl>
                                        <p:attrNameLst>
                                          <p:attrName>ppt_x</p:attrName>
                                        </p:attrNameLst>
                                      </p:cBhvr>
                                      <p:tavLst>
                                        <p:tav tm="0">
                                          <p:val>
                                            <p:strVal val="1+#ppt_w/2"/>
                                          </p:val>
                                        </p:tav>
                                        <p:tav tm="100000">
                                          <p:val>
                                            <p:strVal val="#ppt_x"/>
                                          </p:val>
                                        </p:tav>
                                      </p:tavLst>
                                    </p:anim>
                                    <p:anim calcmode="lin" valueType="num">
                                      <p:cBhvr additive="base">
                                        <p:cTn id="8" dur="9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900" fill="hold"/>
                                        <p:tgtEl>
                                          <p:spTgt spid="5"/>
                                        </p:tgtEl>
                                        <p:attrNameLst>
                                          <p:attrName>ppt_x</p:attrName>
                                        </p:attrNameLst>
                                      </p:cBhvr>
                                      <p:tavLst>
                                        <p:tav tm="0">
                                          <p:val>
                                            <p:strVal val="1+#ppt_w/2"/>
                                          </p:val>
                                        </p:tav>
                                        <p:tav tm="100000">
                                          <p:val>
                                            <p:strVal val="#ppt_x"/>
                                          </p:val>
                                        </p:tav>
                                      </p:tavLst>
                                    </p:anim>
                                    <p:anim calcmode="lin" valueType="num">
                                      <p:cBhvr additive="base">
                                        <p:cTn id="12" dur="900" fill="hold"/>
                                        <p:tgtEl>
                                          <p:spTgt spid="5"/>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p:stCondLst>
                                    <p:cond delay="1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600"/>
                                        <p:tgtEl>
                                          <p:spTgt spid="6"/>
                                        </p:tgtEl>
                                      </p:cBhvr>
                                    </p:animEffect>
                                  </p:childTnLst>
                                </p:cTn>
                              </p:par>
                              <p:par>
                                <p:cTn id="16" presetID="22" presetClass="entr" presetSubtype="8" fill="hold" grpId="0" nodeType="withEffect">
                                  <p:stCondLst>
                                    <p:cond delay="22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600"/>
                                        <p:tgtEl>
                                          <p:spTgt spid="7"/>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800"/>
                                        <p:tgtEl>
                                          <p:spTgt spid="3"/>
                                        </p:tgtEl>
                                      </p:cBhvr>
                                    </p:animEffect>
                                  </p:childTnLst>
                                </p:cTn>
                              </p:par>
                              <p:par>
                                <p:cTn id="22" presetID="22" presetClass="entr" presetSubtype="8" fill="hold" grpId="0" nodeType="withEffect">
                                  <p:stCondLst>
                                    <p:cond delay="339"/>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600"/>
                                        <p:tgtEl>
                                          <p:spTgt spid="8"/>
                                        </p:tgtEl>
                                      </p:cBhvr>
                                    </p:animEffect>
                                  </p:childTnLst>
                                </p:cTn>
                              </p:par>
                              <p:par>
                                <p:cTn id="25" presetID="53" presetClass="entr" presetSubtype="16" fill="hold" grpId="0" nodeType="withEffect">
                                  <p:stCondLst>
                                    <p:cond delay="5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450" fill="hold"/>
                                        <p:tgtEl>
                                          <p:spTgt spid="9"/>
                                        </p:tgtEl>
                                        <p:attrNameLst>
                                          <p:attrName>ppt_w</p:attrName>
                                        </p:attrNameLst>
                                      </p:cBhvr>
                                      <p:tavLst>
                                        <p:tav tm="0">
                                          <p:val>
                                            <p:strVal val="#ppt_w*0.7"/>
                                          </p:val>
                                        </p:tav>
                                        <p:tav tm="100000">
                                          <p:val>
                                            <p:strVal val="#ppt_w"/>
                                          </p:val>
                                        </p:tav>
                                      </p:tavLst>
                                    </p:anim>
                                    <p:anim calcmode="lin" valueType="num">
                                      <p:cBhvr additive="base">
                                        <p:cTn id="28" dur="450" fill="hold"/>
                                        <p:tgtEl>
                                          <p:spTgt spid="9"/>
                                        </p:tgtEl>
                                        <p:attrNameLst>
                                          <p:attrName>ppt_h</p:attrName>
                                        </p:attrNameLst>
                                      </p:cBhvr>
                                      <p:tavLst>
                                        <p:tav tm="0">
                                          <p:val>
                                            <p:strVal val="#ppt_h*0.7"/>
                                          </p:val>
                                        </p:tav>
                                        <p:tav tm="100000">
                                          <p:val>
                                            <p:strVal val="#ppt_h"/>
                                          </p:val>
                                        </p:tav>
                                      </p:tavLst>
                                    </p:anim>
                                    <p:animEffect transition="in" filter="fade">
                                      <p:cBhvr>
                                        <p:cTn id="29" dur="450"/>
                                        <p:tgtEl>
                                          <p:spTgt spid="9"/>
                                        </p:tgtEl>
                                      </p:cBhvr>
                                    </p:animEffect>
                                  </p:childTnLst>
                                </p:cTn>
                              </p:par>
                              <p:par>
                                <p:cTn id="30" presetID="22" presetClass="entr" presetSubtype="1" fill="hold" grpId="0" nodeType="withEffect">
                                  <p:stCondLst>
                                    <p:cond delay="80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350"/>
                                        <p:tgtEl>
                                          <p:spTgt spid="10"/>
                                        </p:tgtEl>
                                      </p:cBhvr>
                                    </p:animEffect>
                                  </p:childTnLst>
                                </p:cTn>
                              </p:par>
                              <p:par>
                                <p:cTn id="33" presetID="22" presetClass="entr" presetSubtype="1" fill="hold" grpId="0" nodeType="withEffect">
                                  <p:stCondLst>
                                    <p:cond delay="850"/>
                                  </p:stCondLst>
                                  <p:childTnLst>
                                    <p:set>
                                      <p:cBhvr>
                                        <p:cTn id="34" dur="1" fill="hold">
                                          <p:stCondLst>
                                            <p:cond delay="0"/>
                                          </p:stCondLst>
                                        </p:cTn>
                                        <p:tgtEl>
                                          <p:spTgt spid="11"/>
                                        </p:tgtEl>
                                        <p:attrNameLst>
                                          <p:attrName>style.visibility</p:attrName>
                                        </p:attrNameLst>
                                      </p:cBhvr>
                                      <p:to>
                                        <p:strVal val="visible"/>
                                      </p:to>
                                    </p:set>
                                    <p:animEffect transition="in" filter="wipe(up)">
                                      <p:cBhvr>
                                        <p:cTn id="35" dur="350"/>
                                        <p:tgtEl>
                                          <p:spTgt spid="11"/>
                                        </p:tgtEl>
                                      </p:cBhvr>
                                    </p:animEffect>
                                  </p:childTnLst>
                                </p:cTn>
                              </p:par>
                              <p:par>
                                <p:cTn id="36" presetID="22" presetClass="entr" presetSubtype="1" fill="hold" grpId="0" nodeType="withEffect">
                                  <p:stCondLst>
                                    <p:cond delay="900"/>
                                  </p:stCondLst>
                                  <p:childTnLst>
                                    <p:set>
                                      <p:cBhvr>
                                        <p:cTn id="37" dur="1" fill="hold">
                                          <p:stCondLst>
                                            <p:cond delay="0"/>
                                          </p:stCondLst>
                                        </p:cTn>
                                        <p:tgtEl>
                                          <p:spTgt spid="12"/>
                                        </p:tgtEl>
                                        <p:attrNameLst>
                                          <p:attrName>style.visibility</p:attrName>
                                        </p:attrNameLst>
                                      </p:cBhvr>
                                      <p:to>
                                        <p:strVal val="visible"/>
                                      </p:to>
                                    </p:set>
                                    <p:animEffect transition="in" filter="wipe(up)">
                                      <p:cBhvr>
                                        <p:cTn id="38" dur="350"/>
                                        <p:tgtEl>
                                          <p:spTgt spid="12"/>
                                        </p:tgtEl>
                                      </p:cBhvr>
                                    </p:animEffect>
                                  </p:childTnLst>
                                </p:cTn>
                              </p:par>
                              <p:par>
                                <p:cTn id="39" presetID="22" presetClass="entr" presetSubtype="1" fill="hold" grpId="0" nodeType="withEffect">
                                  <p:stCondLst>
                                    <p:cond delay="950"/>
                                  </p:stCondLst>
                                  <p:childTnLst>
                                    <p:set>
                                      <p:cBhvr>
                                        <p:cTn id="40" dur="1" fill="hold">
                                          <p:stCondLst>
                                            <p:cond delay="0"/>
                                          </p:stCondLst>
                                        </p:cTn>
                                        <p:tgtEl>
                                          <p:spTgt spid="14"/>
                                        </p:tgtEl>
                                        <p:attrNameLst>
                                          <p:attrName>style.visibility</p:attrName>
                                        </p:attrNameLst>
                                      </p:cBhvr>
                                      <p:to>
                                        <p:strVal val="visible"/>
                                      </p:to>
                                    </p:set>
                                    <p:animEffect transition="in" filter="wipe(up)">
                                      <p:cBhvr>
                                        <p:cTn id="41" dur="350"/>
                                        <p:tgtEl>
                                          <p:spTgt spid="14"/>
                                        </p:tgtEl>
                                      </p:cBhvr>
                                    </p:animEffect>
                                  </p:childTnLst>
                                </p:cTn>
                              </p:par>
                              <p:par>
                                <p:cTn id="42" presetID="42" presetClass="entr" presetSubtype="0" fill="hold" grpId="0" nodeType="withEffect">
                                  <p:stCondLst>
                                    <p:cond delay="100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50"/>
                                        <p:tgtEl>
                                          <p:spTgt spid="13"/>
                                        </p:tgtEl>
                                      </p:cBhvr>
                                    </p:animEffect>
                                    <p:anim calcmode="lin" valueType="num">
                                      <p:cBhvr additive="base">
                                        <p:cTn id="45" dur="450" fill="hold"/>
                                        <p:tgtEl>
                                          <p:spTgt spid="13"/>
                                        </p:tgtEl>
                                        <p:attrNameLst>
                                          <p:attrName>ppt_x</p:attrName>
                                        </p:attrNameLst>
                                      </p:cBhvr>
                                      <p:tavLst>
                                        <p:tav tm="0">
                                          <p:val>
                                            <p:strVal val="#ppt_x"/>
                                          </p:val>
                                        </p:tav>
                                        <p:tav tm="100000">
                                          <p:val>
                                            <p:strVal val="#ppt_x"/>
                                          </p:val>
                                        </p:tav>
                                      </p:tavLst>
                                    </p:anim>
                                    <p:anim calcmode="lin" valueType="num">
                                      <p:cBhvr additive="base">
                                        <p:cTn id="46" dur="450" fill="hold"/>
                                        <p:tgtEl>
                                          <p:spTgt spid="13"/>
                                        </p:tgtEl>
                                        <p:attrNameLst>
                                          <p:attrName>ppt_y</p:attrName>
                                        </p:attrNameLst>
                                      </p:cBhvr>
                                      <p:tavLst>
                                        <p:tav tm="0">
                                          <p:val>
                                            <p:strVal val="#ppt_y+.06"/>
                                          </p:val>
                                        </p:tav>
                                        <p:tav tm="100000">
                                          <p:val>
                                            <p:strVal val="#ppt_y"/>
                                          </p:val>
                                        </p:tav>
                                      </p:tavLst>
                                    </p:anim>
                                  </p:childTnLst>
                                </p:cTn>
                              </p:par>
                              <p:par>
                                <p:cTn id="47" presetID="42" presetClass="entr" presetSubtype="0" fill="hold" grpId="0" nodeType="withEffect">
                                  <p:stCondLst>
                                    <p:cond delay="112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additive="base">
                                        <p:cTn id="50" dur="450" fill="hold"/>
                                        <p:tgtEl>
                                          <p:spTgt spid="15"/>
                                        </p:tgtEl>
                                        <p:attrNameLst>
                                          <p:attrName>ppt_x</p:attrName>
                                        </p:attrNameLst>
                                      </p:cBhvr>
                                      <p:tavLst>
                                        <p:tav tm="0">
                                          <p:val>
                                            <p:strVal val="#ppt_x"/>
                                          </p:val>
                                        </p:tav>
                                        <p:tav tm="100000">
                                          <p:val>
                                            <p:strVal val="#ppt_x"/>
                                          </p:val>
                                        </p:tav>
                                      </p:tavLst>
                                    </p:anim>
                                    <p:anim calcmode="lin" valueType="num">
                                      <p:cBhvr additive="base">
                                        <p:cTn id="51" dur="450" fill="hold"/>
                                        <p:tgtEl>
                                          <p:spTgt spid="15"/>
                                        </p:tgtEl>
                                        <p:attrNameLst>
                                          <p:attrName>ppt_y</p:attrName>
                                        </p:attrNameLst>
                                      </p:cBhvr>
                                      <p:tavLst>
                                        <p:tav tm="0">
                                          <p:val>
                                            <p:strVal val="#ppt_y+.06"/>
                                          </p:val>
                                        </p:tav>
                                        <p:tav tm="100000">
                                          <p:val>
                                            <p:strVal val="#ppt_y"/>
                                          </p:val>
                                        </p:tav>
                                      </p:tavLst>
                                    </p:anim>
                                  </p:childTnLst>
                                </p:cTn>
                              </p:par>
                              <p:par>
                                <p:cTn id="52" presetID="53" presetClass="entr" presetSubtype="16" fill="hold" grpId="0" nodeType="withEffect">
                                  <p:stCondLst>
                                    <p:cond delay="140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450" fill="hold"/>
                                        <p:tgtEl>
                                          <p:spTgt spid="16"/>
                                        </p:tgtEl>
                                        <p:attrNameLst>
                                          <p:attrName>ppt_w</p:attrName>
                                        </p:attrNameLst>
                                      </p:cBhvr>
                                      <p:tavLst>
                                        <p:tav tm="0">
                                          <p:val>
                                            <p:strVal val="#ppt_w*0.7"/>
                                          </p:val>
                                        </p:tav>
                                        <p:tav tm="100000">
                                          <p:val>
                                            <p:strVal val="#ppt_w"/>
                                          </p:val>
                                        </p:tav>
                                      </p:tavLst>
                                    </p:anim>
                                    <p:anim calcmode="lin" valueType="num">
                                      <p:cBhvr additive="base">
                                        <p:cTn id="55" dur="450" fill="hold"/>
                                        <p:tgtEl>
                                          <p:spTgt spid="16"/>
                                        </p:tgtEl>
                                        <p:attrNameLst>
                                          <p:attrName>ppt_h</p:attrName>
                                        </p:attrNameLst>
                                      </p:cBhvr>
                                      <p:tavLst>
                                        <p:tav tm="0">
                                          <p:val>
                                            <p:strVal val="#ppt_h*0.7"/>
                                          </p:val>
                                        </p:tav>
                                        <p:tav tm="100000">
                                          <p:val>
                                            <p:strVal val="#ppt_h"/>
                                          </p:val>
                                        </p:tav>
                                      </p:tavLst>
                                    </p:anim>
                                    <p:animEffect transition="in" filter="fade">
                                      <p:cBhvr>
                                        <p:cTn id="56" dur="450"/>
                                        <p:tgtEl>
                                          <p:spTgt spid="16"/>
                                        </p:tgtEl>
                                      </p:cBhvr>
                                    </p:animEffect>
                                  </p:childTnLst>
                                </p:cTn>
                              </p:par>
                              <p:par>
                                <p:cTn id="57" presetID="22" presetClass="entr" presetSubtype="1" fill="hold" grpId="0" nodeType="withEffect">
                                  <p:stCondLst>
                                    <p:cond delay="1700"/>
                                  </p:stCondLst>
                                  <p:childTnLst>
                                    <p:set>
                                      <p:cBhvr>
                                        <p:cTn id="58" dur="1" fill="hold">
                                          <p:stCondLst>
                                            <p:cond delay="0"/>
                                          </p:stCondLst>
                                        </p:cTn>
                                        <p:tgtEl>
                                          <p:spTgt spid="17"/>
                                        </p:tgtEl>
                                        <p:attrNameLst>
                                          <p:attrName>style.visibility</p:attrName>
                                        </p:attrNameLst>
                                      </p:cBhvr>
                                      <p:to>
                                        <p:strVal val="visible"/>
                                      </p:to>
                                    </p:set>
                                    <p:animEffect transition="in" filter="wipe(up)">
                                      <p:cBhvr>
                                        <p:cTn id="59" dur="350"/>
                                        <p:tgtEl>
                                          <p:spTgt spid="17"/>
                                        </p:tgtEl>
                                      </p:cBhvr>
                                    </p:animEffect>
                                  </p:childTnLst>
                                </p:cTn>
                              </p:par>
                              <p:par>
                                <p:cTn id="60" presetID="22" presetClass="entr" presetSubtype="1" fill="hold" grpId="0" nodeType="withEffect">
                                  <p:stCondLst>
                                    <p:cond delay="1750"/>
                                  </p:stCondLst>
                                  <p:childTnLst>
                                    <p:set>
                                      <p:cBhvr>
                                        <p:cTn id="61" dur="1" fill="hold">
                                          <p:stCondLst>
                                            <p:cond delay="0"/>
                                          </p:stCondLst>
                                        </p:cTn>
                                        <p:tgtEl>
                                          <p:spTgt spid="18"/>
                                        </p:tgtEl>
                                        <p:attrNameLst>
                                          <p:attrName>style.visibility</p:attrName>
                                        </p:attrNameLst>
                                      </p:cBhvr>
                                      <p:to>
                                        <p:strVal val="visible"/>
                                      </p:to>
                                    </p:set>
                                    <p:animEffect transition="in" filter="wipe(up)">
                                      <p:cBhvr>
                                        <p:cTn id="62" dur="350"/>
                                        <p:tgtEl>
                                          <p:spTgt spid="18"/>
                                        </p:tgtEl>
                                      </p:cBhvr>
                                    </p:animEffect>
                                  </p:childTnLst>
                                </p:cTn>
                              </p:par>
                              <p:par>
                                <p:cTn id="63" presetID="22" presetClass="entr" presetSubtype="1" fill="hold" grpId="0" nodeType="withEffect">
                                  <p:stCondLst>
                                    <p:cond delay="1800"/>
                                  </p:stCondLst>
                                  <p:childTnLst>
                                    <p:set>
                                      <p:cBhvr>
                                        <p:cTn id="64" dur="1" fill="hold">
                                          <p:stCondLst>
                                            <p:cond delay="0"/>
                                          </p:stCondLst>
                                        </p:cTn>
                                        <p:tgtEl>
                                          <p:spTgt spid="19"/>
                                        </p:tgtEl>
                                        <p:attrNameLst>
                                          <p:attrName>style.visibility</p:attrName>
                                        </p:attrNameLst>
                                      </p:cBhvr>
                                      <p:to>
                                        <p:strVal val="visible"/>
                                      </p:to>
                                    </p:set>
                                    <p:animEffect transition="in" filter="wipe(up)">
                                      <p:cBhvr>
                                        <p:cTn id="65" dur="350"/>
                                        <p:tgtEl>
                                          <p:spTgt spid="19"/>
                                        </p:tgtEl>
                                      </p:cBhvr>
                                    </p:animEffect>
                                  </p:childTnLst>
                                </p:cTn>
                              </p:par>
                              <p:par>
                                <p:cTn id="66" presetID="22" presetClass="entr" presetSubtype="1" fill="hold" grpId="0" nodeType="withEffect">
                                  <p:stCondLst>
                                    <p:cond delay="1850"/>
                                  </p:stCondLst>
                                  <p:childTnLst>
                                    <p:set>
                                      <p:cBhvr>
                                        <p:cTn id="67" dur="1" fill="hold">
                                          <p:stCondLst>
                                            <p:cond delay="0"/>
                                          </p:stCondLst>
                                        </p:cTn>
                                        <p:tgtEl>
                                          <p:spTgt spid="21"/>
                                        </p:tgtEl>
                                        <p:attrNameLst>
                                          <p:attrName>style.visibility</p:attrName>
                                        </p:attrNameLst>
                                      </p:cBhvr>
                                      <p:to>
                                        <p:strVal val="visible"/>
                                      </p:to>
                                    </p:set>
                                    <p:animEffect transition="in" filter="wipe(up)">
                                      <p:cBhvr>
                                        <p:cTn id="68" dur="350"/>
                                        <p:tgtEl>
                                          <p:spTgt spid="21"/>
                                        </p:tgtEl>
                                      </p:cBhvr>
                                    </p:animEffect>
                                  </p:childTnLst>
                                </p:cTn>
                              </p:par>
                              <p:par>
                                <p:cTn id="69" presetID="42" presetClass="entr" presetSubtype="0" fill="hold" grpId="0" nodeType="withEffect">
                                  <p:stCondLst>
                                    <p:cond delay="190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450"/>
                                        <p:tgtEl>
                                          <p:spTgt spid="20"/>
                                        </p:tgtEl>
                                      </p:cBhvr>
                                    </p:animEffect>
                                    <p:anim calcmode="lin" valueType="num">
                                      <p:cBhvr additive="base">
                                        <p:cTn id="72" dur="450" fill="hold"/>
                                        <p:tgtEl>
                                          <p:spTgt spid="20"/>
                                        </p:tgtEl>
                                        <p:attrNameLst>
                                          <p:attrName>ppt_x</p:attrName>
                                        </p:attrNameLst>
                                      </p:cBhvr>
                                      <p:tavLst>
                                        <p:tav tm="0">
                                          <p:val>
                                            <p:strVal val="#ppt_x"/>
                                          </p:val>
                                        </p:tav>
                                        <p:tav tm="100000">
                                          <p:val>
                                            <p:strVal val="#ppt_x"/>
                                          </p:val>
                                        </p:tav>
                                      </p:tavLst>
                                    </p:anim>
                                    <p:anim calcmode="lin" valueType="num">
                                      <p:cBhvr additive="base">
                                        <p:cTn id="73" dur="450" fill="hold"/>
                                        <p:tgtEl>
                                          <p:spTgt spid="20"/>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202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450"/>
                                        <p:tgtEl>
                                          <p:spTgt spid="22"/>
                                        </p:tgtEl>
                                      </p:cBhvr>
                                    </p:animEffect>
                                    <p:anim calcmode="lin" valueType="num">
                                      <p:cBhvr additive="base">
                                        <p:cTn id="77" dur="450" fill="hold"/>
                                        <p:tgtEl>
                                          <p:spTgt spid="22"/>
                                        </p:tgtEl>
                                        <p:attrNameLst>
                                          <p:attrName>ppt_x</p:attrName>
                                        </p:attrNameLst>
                                      </p:cBhvr>
                                      <p:tavLst>
                                        <p:tav tm="0">
                                          <p:val>
                                            <p:strVal val="#ppt_x"/>
                                          </p:val>
                                        </p:tav>
                                        <p:tav tm="100000">
                                          <p:val>
                                            <p:strVal val="#ppt_x"/>
                                          </p:val>
                                        </p:tav>
                                      </p:tavLst>
                                    </p:anim>
                                    <p:anim calcmode="lin" valueType="num">
                                      <p:cBhvr additive="base">
                                        <p:cTn id="78" dur="450" fill="hold"/>
                                        <p:tgtEl>
                                          <p:spTgt spid="22"/>
                                        </p:tgtEl>
                                        <p:attrNameLst>
                                          <p:attrName>ppt_y</p:attrName>
                                        </p:attrNameLst>
                                      </p:cBhvr>
                                      <p:tavLst>
                                        <p:tav tm="0">
                                          <p:val>
                                            <p:strVal val="#ppt_y+.06"/>
                                          </p:val>
                                        </p:tav>
                                        <p:tav tm="100000">
                                          <p:val>
                                            <p:strVal val="#ppt_y"/>
                                          </p:val>
                                        </p:tav>
                                      </p:tavLst>
                                    </p:anim>
                                  </p:childTnLst>
                                </p:cTn>
                              </p:par>
                              <p:par>
                                <p:cTn id="79" presetID="22" presetClass="entr" presetSubtype="8" fill="hold" grpId="0" nodeType="withEffect">
                                  <p:stCondLst>
                                    <p:cond delay="2300"/>
                                  </p:stCondLst>
                                  <p:childTnLst>
                                    <p:set>
                                      <p:cBhvr>
                                        <p:cTn id="80" dur="1" fill="hold">
                                          <p:stCondLst>
                                            <p:cond delay="0"/>
                                          </p:stCondLst>
                                        </p:cTn>
                                        <p:tgtEl>
                                          <p:spTgt spid="23"/>
                                        </p:tgtEl>
                                        <p:attrNameLst>
                                          <p:attrName>style.visibility</p:attrName>
                                        </p:attrNameLst>
                                      </p:cBhvr>
                                      <p:to>
                                        <p:strVal val="visible"/>
                                      </p:to>
                                    </p:set>
                                    <p:animEffect transition="in" filter="wipe(left)">
                                      <p:cBhvr>
                                        <p:cTn id="81"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3" grpId="0" animBg="1"/>
      <p:bldP spid="15" grpId="0" animBg="1"/>
      <p:bldP spid="16" grpId="0" animBg="1"/>
      <p:bldP spid="20" grpId="0" animBg="1"/>
      <p:bldP spid="22" grpId="0" animBg="1"/>
      <p:bldP spid="23"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_dark.jpg"/>
          <p:cNvPicPr>
            <a:picLocks noChangeAspect="1"/>
          </p:cNvPicPr>
          <p:nvPr/>
        </p:nvPicPr>
        <p:blipFill>
          <a:blip r:embed="rId2"/>
          <a:srcRect l="1" r="1"/>
          <a:stretch>
            <a:fillRect/>
          </a:stretch>
        </p:blipFill>
        <p:spPr>
          <a:xfrm>
            <a:off x="0" y="0"/>
            <a:ext cx="12191695" cy="6858000"/>
          </a:xfrm>
          <a:prstGeom prst="rect">
            <a:avLst/>
          </a:prstGeom>
        </p:spPr>
      </p:pic>
      <p:sp>
        <p:nvSpPr>
          <p:cNvPr id="3" name="!!bignum"/>
          <p:cNvSpPr txBox="1"/>
          <p:nvPr/>
        </p:nvSpPr>
        <p:spPr>
          <a:xfrm>
            <a:off x="5120640" y="182880"/>
            <a:ext cx="7132320" cy="3840480"/>
          </a:xfrm>
          <a:prstGeom prst="rect">
            <a:avLst/>
          </a:prstGeom>
          <a:noFill/>
        </p:spPr>
        <p:txBody>
          <a:bodyPr wrap="square" lIns="0" rIns="0" tIns="0" bIns="0" anchor="t">
            <a:noAutofit/>
          </a:bodyPr>
          <a:lstStyle/>
          <a:p>
            <a:pPr algn="r"/>
            <a:r>
              <a:rPr sz="27000" b="0" i="0">
                <a:ln w="15875">
                  <a:solidFill>
                    <a:srgbClr val="E3AE4A">
                      <a:alpha val="35000"/>
                    </a:srgbClr>
                  </a:solidFill>
                </a:ln>
                <a:noFill/>
                <a:latin typeface="Big Shoulders Display Black"/>
                <a:ea typeface="Big Shoulders Display Black"/>
                <a:cs typeface="Big Shoulders Display Black"/>
              </a:rPr>
              <a:t>02</a:t>
            </a:r>
          </a:p>
        </p:txBody>
      </p:sp>
      <p:pic>
        <p:nvPicPr>
          <p:cNvPr id="4" name="Picture 3" descr="glow_FFC560_30_1.5.png"/>
          <p:cNvPicPr>
            <a:picLocks noChangeAspect="1"/>
          </p:cNvPicPr>
          <p:nvPr/>
        </p:nvPicPr>
        <p:blipFill>
          <a:blip r:embed="rId3"/>
          <a:stretch>
            <a:fillRect/>
          </a:stretch>
        </p:blipFill>
        <p:spPr>
          <a:xfrm>
            <a:off x="-476674" y="-411480"/>
            <a:ext cx="7680960" cy="7680960"/>
          </a:xfrm>
          <a:prstGeom prst="rect">
            <a:avLst/>
          </a:prstGeom>
        </p:spPr>
      </p:pic>
      <p:pic>
        <p:nvPicPr>
          <p:cNvPr id="5" name="!!medal" descr="medal.png"/>
          <p:cNvPicPr>
            <a:picLocks noChangeAspect="1"/>
          </p:cNvPicPr>
          <p:nvPr/>
        </p:nvPicPr>
        <p:blipFill>
          <a:blip r:embed="rId4"/>
          <a:srcRect/>
          <a:stretch>
            <a:fillRect/>
          </a:stretch>
        </p:blipFill>
        <p:spPr>
          <a:xfrm>
            <a:off x="685800" y="868680"/>
            <a:ext cx="5356012" cy="5120640"/>
          </a:xfrm>
          <a:prstGeom prst="rect">
            <a:avLst/>
          </a:prstGeom>
        </p:spPr>
      </p:pic>
      <p:sp>
        <p:nvSpPr>
          <p:cNvPr id="6" name="TextBox 5"/>
          <p:cNvSpPr txBox="1"/>
          <p:nvPr/>
        </p:nvSpPr>
        <p:spPr>
          <a:xfrm>
            <a:off x="5852160" y="1828800"/>
            <a:ext cx="5852160" cy="457200"/>
          </a:xfrm>
          <a:prstGeom prst="rect">
            <a:avLst/>
          </a:prstGeom>
          <a:noFill/>
        </p:spPr>
        <p:txBody>
          <a:bodyPr wrap="square" lIns="0" rIns="0" tIns="0" bIns="0" anchor="t">
            <a:noAutofit/>
          </a:bodyPr>
          <a:lstStyle/>
          <a:p>
            <a:pPr algn="l"/>
            <a:r>
              <a:rPr sz="2400" b="0" i="0" spc="400">
                <a:solidFill>
                  <a:srgbClr val="E3AE4A"/>
                </a:solidFill>
                <a:latin typeface="Big Shoulders Display Black"/>
                <a:ea typeface="Big Shoulders Display Black"/>
                <a:cs typeface="Big Shoulders Display Black"/>
              </a:rPr>
              <a:t>PHẦN 2</a:t>
            </a:r>
          </a:p>
        </p:txBody>
      </p:sp>
      <p:sp>
        <p:nvSpPr>
          <p:cNvPr id="7" name="!!title"/>
          <p:cNvSpPr txBox="1"/>
          <p:nvPr/>
        </p:nvSpPr>
        <p:spPr>
          <a:xfrm>
            <a:off x="5852160" y="2331720"/>
            <a:ext cx="5943600" cy="1559560"/>
          </a:xfrm>
          <a:prstGeom prst="rect">
            <a:avLst/>
          </a:prstGeom>
          <a:noFill/>
        </p:spPr>
        <p:txBody>
          <a:bodyPr wrap="square" lIns="0" rIns="0" tIns="0" bIns="0" anchor="t">
            <a:noAutofit/>
          </a:bodyPr>
          <a:lstStyle/>
          <a:p>
            <a:pPr algn="l">
              <a:lnSpc>
                <a:spcPct val="92000"/>
              </a:lnSpc>
            </a:pPr>
            <a:r>
              <a:rPr sz="5600" b="0" i="0">
                <a:gradFill rotWithShape="1">
                  <a:gsLst>
                    <a:gs pos="0">
                      <a:srgbClr val="FFF3C4"/>
                    </a:gs>
                    <a:gs pos="55000">
                      <a:srgbClr val="FFE6A1"/>
                    </a:gs>
                    <a:gs pos="100000">
                      <a:srgbClr val="E3AE4A"/>
                    </a:gs>
                  </a:gsLst>
                  <a:lin ang="5400000" scaled="0"/>
                </a:gradFill>
                <a:effectLst>
                  <a:outerShdw blurRad="91440" dist="36576" dir="5400000" algn="ctr" rotWithShape="0">
                    <a:srgbClr val="3A0006">
                      <a:alpha val="60000"/>
                    </a:srgbClr>
                  </a:outerShdw>
                </a:effectLst>
                <a:latin typeface="Big Shoulders Display Black"/>
                <a:ea typeface="Big Shoulders Display Black"/>
                <a:cs typeface="Big Shoulders Display Black"/>
              </a:rPr>
              <a:t>CHỦ NGHĨA DUY VẬT VÀ CHỦ NGHĨA DUY TÂM</a:t>
            </a:r>
          </a:p>
        </p:txBody>
      </p:sp>
      <p:sp>
        <p:nvSpPr>
          <p:cNvPr id="8" name="Rectangle 7"/>
          <p:cNvSpPr/>
          <p:nvPr/>
        </p:nvSpPr>
        <p:spPr>
          <a:xfrm>
            <a:off x="5897880" y="4028440"/>
            <a:ext cx="2194560" cy="36576"/>
          </a:xfrm>
          <a:prstGeom prst="rect">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9" name="TextBox 8"/>
          <p:cNvSpPr txBox="1"/>
          <p:nvPr/>
        </p:nvSpPr>
        <p:spPr>
          <a:xfrm>
            <a:off x="5852160" y="4211320"/>
            <a:ext cx="5760720" cy="1097280"/>
          </a:xfrm>
          <a:prstGeom prst="rect">
            <a:avLst/>
          </a:prstGeom>
          <a:noFill/>
        </p:spPr>
        <p:txBody>
          <a:bodyPr wrap="square" lIns="0" rIns="0" tIns="0" bIns="0" anchor="t">
            <a:noAutofit/>
          </a:bodyPr>
          <a:lstStyle/>
          <a:p>
            <a:pPr algn="l">
              <a:lnSpc>
                <a:spcPct val="120000"/>
              </a:lnSpc>
            </a:pPr>
            <a:r>
              <a:rPr sz="1400" b="0" i="0">
                <a:solidFill>
                  <a:srgbClr val="FFF4E2"/>
                </a:solidFill>
                <a:latin typeface="Be Vietnam Pro"/>
                <a:ea typeface="Be Vietnam Pro"/>
                <a:cs typeface="Be Vietnam Pro"/>
              </a:rPr>
              <a:t>Hai trường phái lớn hình thành từ cách giải quyết mặt thứ nhất của vấn đề cơ bản của triết học.</a:t>
            </a:r>
          </a:p>
        </p:txBody>
      </p:sp>
      <p:pic>
        <p:nvPicPr>
          <p:cNvPr id="10" name="!!drape" descr="drape_br.png"/>
          <p:cNvPicPr>
            <a:picLocks noChangeAspect="1"/>
          </p:cNvPicPr>
          <p:nvPr/>
        </p:nvPicPr>
        <p:blipFill>
          <a:blip r:embed="rId5"/>
          <a:srcRect/>
          <a:stretch>
            <a:fillRect/>
          </a:stretch>
        </p:blipFill>
        <p:spPr>
          <a:xfrm>
            <a:off x="6156655" y="3840480"/>
            <a:ext cx="6400800" cy="32004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100" fill="hold"/>
                                        <p:tgtEl>
                                          <p:spTgt spid="5"/>
                                        </p:tgtEl>
                                        <p:attrNameLst>
                                          <p:attrName>ppt_w</p:attrName>
                                        </p:attrNameLst>
                                      </p:cBhvr>
                                      <p:tavLst>
                                        <p:tav tm="0">
                                          <p:val>
                                            <p:strVal val="0"/>
                                          </p:val>
                                        </p:tav>
                                        <p:tav tm="100000">
                                          <p:val>
                                            <p:strVal val="#ppt_w"/>
                                          </p:val>
                                        </p:tav>
                                      </p:tavLst>
                                    </p:anim>
                                    <p:anim calcmode="lin" valueType="num">
                                      <p:cBhvr additive="base">
                                        <p:cTn id="8" dur="1100" fill="hold"/>
                                        <p:tgtEl>
                                          <p:spTgt spid="5"/>
                                        </p:tgtEl>
                                        <p:attrNameLst>
                                          <p:attrName>ppt_h</p:attrName>
                                        </p:attrNameLst>
                                      </p:cBhvr>
                                      <p:tavLst>
                                        <p:tav tm="0">
                                          <p:val>
                                            <p:strVal val="0"/>
                                          </p:val>
                                        </p:tav>
                                        <p:tav tm="100000">
                                          <p:val>
                                            <p:strVal val="#ppt_h"/>
                                          </p:val>
                                        </p:tav>
                                      </p:tavLst>
                                    </p:anim>
                                    <p:anim calcmode="lin" valueType="num">
                                      <p:cBhvr>
                                        <p:cTn id="9" dur="1100" fill="hold"/>
                                        <p:tgtEl>
                                          <p:spTgt spid="5"/>
                                        </p:tgtEl>
                                        <p:attrNameLst>
                                          <p:attrName>style.rotation</p:attrName>
                                        </p:attrNameLst>
                                      </p:cBhvr>
                                      <p:tavLst>
                                        <p:tav tm="0">
                                          <p:val>
                                            <p:fltVal val="90"/>
                                          </p:val>
                                        </p:tav>
                                        <p:tav tm="100000">
                                          <p:val>
                                            <p:fltVal val="0"/>
                                          </p:val>
                                        </p:tav>
                                      </p:tavLst>
                                    </p:anim>
                                    <p:animEffect transition="in" filter="fade">
                                      <p:cBhvr>
                                        <p:cTn id="10" dur="11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par>
                                <p:cTn id="14" presetID="22" presetClass="entr" presetSubtype="8" fill="hold" grpId="0" nodeType="withEffect">
                                  <p:stCondLst>
                                    <p:cond delay="20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900"/>
                                        <p:tgtEl>
                                          <p:spTgt spid="10"/>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900"/>
                                        <p:tgtEl>
                                          <p:spTgt spid="3"/>
                                        </p:tgtEl>
                                      </p:cBhvr>
                                    </p:animEffect>
                                  </p:childTnLst>
                                </p:cTn>
                              </p:par>
                              <p:par>
                                <p:cTn id="20" presetID="22" presetClass="entr" presetSubtype="8" fill="hold" grpId="0" nodeType="withEffect">
                                  <p:stCondLst>
                                    <p:cond delay="50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par>
                                <p:cTn id="23" presetID="53" presetClass="entr" presetSubtype="16" fill="hold" grpId="0" nodeType="withEffect">
                                  <p:stCondLst>
                                    <p:cond delay="7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800" fill="hold"/>
                                        <p:tgtEl>
                                          <p:spTgt spid="7"/>
                                        </p:tgtEl>
                                        <p:attrNameLst>
                                          <p:attrName>ppt_w</p:attrName>
                                        </p:attrNameLst>
                                      </p:cBhvr>
                                      <p:tavLst>
                                        <p:tav tm="0">
                                          <p:val>
                                            <p:strVal val="#ppt_w*0.7"/>
                                          </p:val>
                                        </p:tav>
                                        <p:tav tm="100000">
                                          <p:val>
                                            <p:strVal val="#ppt_w"/>
                                          </p:val>
                                        </p:tav>
                                      </p:tavLst>
                                    </p:anim>
                                    <p:anim calcmode="lin" valueType="num">
                                      <p:cBhvr additive="base">
                                        <p:cTn id="26" dur="800" fill="hold"/>
                                        <p:tgtEl>
                                          <p:spTgt spid="7"/>
                                        </p:tgtEl>
                                        <p:attrNameLst>
                                          <p:attrName>ppt_h</p:attrName>
                                        </p:attrNameLst>
                                      </p:cBhvr>
                                      <p:tavLst>
                                        <p:tav tm="0">
                                          <p:val>
                                            <p:strVal val="#ppt_h*0.7"/>
                                          </p:val>
                                        </p:tav>
                                        <p:tav tm="100000">
                                          <p:val>
                                            <p:strVal val="#ppt_h"/>
                                          </p:val>
                                        </p:tav>
                                      </p:tavLst>
                                    </p:anim>
                                    <p:animEffect transition="in" filter="fade">
                                      <p:cBhvr>
                                        <p:cTn id="27" dur="800"/>
                                        <p:tgtEl>
                                          <p:spTgt spid="7"/>
                                        </p:tgtEl>
                                      </p:cBhvr>
                                    </p:animEffect>
                                  </p:childTnLst>
                                </p:cTn>
                              </p:par>
                              <p:par>
                                <p:cTn id="28" presetID="22" presetClass="entr" presetSubtype="8" fill="hold" grpId="0" nodeType="withEffect">
                                  <p:stCondLst>
                                    <p:cond delay="110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400"/>
                                        <p:tgtEl>
                                          <p:spTgt spid="8"/>
                                        </p:tgtEl>
                                      </p:cBhvr>
                                    </p:animEffect>
                                  </p:childTnLst>
                                </p:cTn>
                              </p:par>
                              <p:par>
                                <p:cTn id="31" presetID="10" presetClass="entr" presetSubtype="0" fill="hold" grpId="0" nodeType="withEffect">
                                  <p:stCondLst>
                                    <p:cond delay="13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2</a:t>
            </a:r>
          </a:p>
        </p:txBody>
      </p:sp>
      <p:sp>
        <p:nvSpPr>
          <p:cNvPr id="4" name="!!tab"/>
          <p:cNvSpPr/>
          <p:nvPr/>
        </p:nvSpPr>
        <p:spPr>
          <a:xfrm>
            <a:off x="548640" y="566928"/>
            <a:ext cx="3339550"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CHỦ NGHĨA DUY VẬT</a:t>
            </a:r>
          </a:p>
        </p:txBody>
      </p:sp>
      <p:sp>
        <p:nvSpPr>
          <p:cNvPr id="5" name="!!rule"/>
          <p:cNvSpPr/>
          <p:nvPr/>
        </p:nvSpPr>
        <p:spPr>
          <a:xfrm>
            <a:off x="3997918" y="1133856"/>
            <a:ext cx="7828017"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Snip Diagonal Corner Rectangle 5"/>
          <p:cNvSpPr/>
          <p:nvPr/>
        </p:nvSpPr>
        <p:spPr>
          <a:xfrm>
            <a:off x="4765455" y="1417320"/>
            <a:ext cx="2660785" cy="457200"/>
          </a:xfrm>
          <a:prstGeom prst="snip2DiagRect">
            <a:avLst>
              <a:gd name="adj1" fmla="val 0"/>
              <a:gd name="adj2" fmla="val 28000"/>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900" b="0" i="0" spc="200">
                <a:solidFill>
                  <a:srgbClr val="FFE6A1"/>
                </a:solidFill>
                <a:latin typeface="Big Shoulders Display Black"/>
                <a:ea typeface="Big Shoulders Display Black"/>
                <a:cs typeface="Big Shoulders Display Black"/>
              </a:rPr>
              <a:t>BA HÌNH THỨC</a:t>
            </a:r>
          </a:p>
        </p:txBody>
      </p:sp>
      <p:sp>
        <p:nvSpPr>
          <p:cNvPr id="7" name="Snip Diagonal Corner Rectangle 6"/>
          <p:cNvSpPr/>
          <p:nvPr/>
        </p:nvSpPr>
        <p:spPr>
          <a:xfrm>
            <a:off x="1569568" y="2423160"/>
            <a:ext cx="2743200" cy="566928"/>
          </a:xfrm>
          <a:prstGeom prst="snip2DiagRect">
            <a:avLst>
              <a:gd name="adj1" fmla="val 0"/>
              <a:gd name="adj2" fmla="val 22580"/>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500" b="0" i="0">
                <a:solidFill>
                  <a:srgbClr val="5A0A10"/>
                </a:solidFill>
                <a:latin typeface="Be Vietnam Pro SemiBold"/>
                <a:ea typeface="Be Vietnam Pro SemiBold"/>
                <a:cs typeface="Be Vietnam Pro SemiBold"/>
              </a:rPr>
              <a:t>Chất phác</a:t>
            </a:r>
          </a:p>
        </p:txBody>
      </p:sp>
      <p:sp>
        <p:nvSpPr>
          <p:cNvPr id="8" name="Diamond 7"/>
          <p:cNvSpPr/>
          <p:nvPr/>
        </p:nvSpPr>
        <p:spPr>
          <a:xfrm>
            <a:off x="2712568" y="2075688"/>
            <a:ext cx="457200" cy="457200"/>
          </a:xfrm>
          <a:prstGeom prst="diamond">
            <a:avLst/>
          </a:prstGeom>
          <a:gradFill rotWithShape="1">
            <a:gsLst>
              <a:gs pos="0">
                <a:srgbClr val="E5373B"/>
              </a:gs>
              <a:gs pos="100000">
                <a:srgbClr val="7A0912"/>
              </a:gs>
            </a:gsLst>
            <a:lin ang="5400000" scaled="0"/>
          </a:gradFill>
          <a:ln w="19050">
            <a:gradFill rotWithShape="1">
              <a:gsLst>
                <a:gs pos="0">
                  <a:srgbClr val="FFE6A1"/>
                </a:gs>
                <a:gs pos="45000">
                  <a:srgbClr val="E3AE4A"/>
                </a:gs>
                <a:gs pos="100000">
                  <a:srgbClr val="A8721C"/>
                </a:gs>
              </a:gsLst>
              <a:lin ang="2700000" scaled="0"/>
            </a:gradFill>
          </a:ln>
          <a:effectLst/>
        </p:spPr>
        <p:style>
          <a:lnRef idx="1">
            <a:schemeClr val="accent1"/>
          </a:lnRef>
          <a:fillRef idx="3">
            <a:schemeClr val="accent1"/>
          </a:fillRef>
          <a:effectRef idx="0">
            <a:schemeClr val="accent1"/>
          </a:effectRef>
          <a:fontRef idx="minor">
            <a:schemeClr val="lt1"/>
          </a:fontRef>
        </p:style>
        <p:txBody>
          <a:bodyPr rtlCol="0" anchor="ctr" lIns="0" rIns="0" tIns="0" bIns="0" wrap="square"/>
          <a:lstStyle/>
          <a:p>
            <a:pPr algn="ctr">
              <a:lnSpc>
                <a:spcPct val="105000"/>
              </a:lnSpc>
            </a:pPr>
            <a:r>
              <a:rPr sz="1500" b="0" i="0">
                <a:solidFill>
                  <a:srgbClr val="FFE6A1"/>
                </a:solidFill>
                <a:latin typeface="Big Shoulders Display Black"/>
                <a:ea typeface="Big Shoulders Display Black"/>
                <a:cs typeface="Big Shoulders Display Black"/>
              </a:rPr>
              <a:t>1</a:t>
            </a:r>
          </a:p>
        </p:txBody>
      </p:sp>
      <p:sp>
        <p:nvSpPr>
          <p:cNvPr id="9" name="Snip Diagonal Corner Rectangle 8"/>
          <p:cNvSpPr/>
          <p:nvPr/>
        </p:nvSpPr>
        <p:spPr>
          <a:xfrm>
            <a:off x="4724248" y="2423160"/>
            <a:ext cx="2743200" cy="566928"/>
          </a:xfrm>
          <a:prstGeom prst="snip2DiagRect">
            <a:avLst>
              <a:gd name="adj1" fmla="val 0"/>
              <a:gd name="adj2" fmla="val 22580"/>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500" b="0" i="0">
                <a:solidFill>
                  <a:srgbClr val="5A0A10"/>
                </a:solidFill>
                <a:latin typeface="Be Vietnam Pro SemiBold"/>
                <a:ea typeface="Be Vietnam Pro SemiBold"/>
                <a:cs typeface="Be Vietnam Pro SemiBold"/>
              </a:rPr>
              <a:t>Siêu hình</a:t>
            </a:r>
          </a:p>
        </p:txBody>
      </p:sp>
      <p:sp>
        <p:nvSpPr>
          <p:cNvPr id="10" name="Diamond 9"/>
          <p:cNvSpPr/>
          <p:nvPr/>
        </p:nvSpPr>
        <p:spPr>
          <a:xfrm>
            <a:off x="5867248" y="2075688"/>
            <a:ext cx="457200" cy="457200"/>
          </a:xfrm>
          <a:prstGeom prst="diamond">
            <a:avLst/>
          </a:prstGeom>
          <a:gradFill rotWithShape="1">
            <a:gsLst>
              <a:gs pos="0">
                <a:srgbClr val="E5373B"/>
              </a:gs>
              <a:gs pos="100000">
                <a:srgbClr val="7A0912"/>
              </a:gs>
            </a:gsLst>
            <a:lin ang="5400000" scaled="0"/>
          </a:gradFill>
          <a:ln w="19050">
            <a:gradFill rotWithShape="1">
              <a:gsLst>
                <a:gs pos="0">
                  <a:srgbClr val="FFE6A1"/>
                </a:gs>
                <a:gs pos="45000">
                  <a:srgbClr val="E3AE4A"/>
                </a:gs>
                <a:gs pos="100000">
                  <a:srgbClr val="A8721C"/>
                </a:gs>
              </a:gsLst>
              <a:lin ang="2700000" scaled="0"/>
            </a:gradFill>
          </a:ln>
          <a:effectLst/>
        </p:spPr>
        <p:style>
          <a:lnRef idx="1">
            <a:schemeClr val="accent1"/>
          </a:lnRef>
          <a:fillRef idx="3">
            <a:schemeClr val="accent1"/>
          </a:fillRef>
          <a:effectRef idx="0">
            <a:schemeClr val="accent1"/>
          </a:effectRef>
          <a:fontRef idx="minor">
            <a:schemeClr val="lt1"/>
          </a:fontRef>
        </p:style>
        <p:txBody>
          <a:bodyPr rtlCol="0" anchor="ctr" lIns="0" rIns="0" tIns="0" bIns="0" wrap="square"/>
          <a:lstStyle/>
          <a:p>
            <a:pPr algn="ctr">
              <a:lnSpc>
                <a:spcPct val="105000"/>
              </a:lnSpc>
            </a:pPr>
            <a:r>
              <a:rPr sz="1500" b="0" i="0">
                <a:solidFill>
                  <a:srgbClr val="FFE6A1"/>
                </a:solidFill>
                <a:latin typeface="Big Shoulders Display Black"/>
                <a:ea typeface="Big Shoulders Display Black"/>
                <a:cs typeface="Big Shoulders Display Black"/>
              </a:rPr>
              <a:t>2</a:t>
            </a:r>
          </a:p>
        </p:txBody>
      </p:sp>
      <p:sp>
        <p:nvSpPr>
          <p:cNvPr id="11" name="Snip Diagonal Corner Rectangle 10"/>
          <p:cNvSpPr/>
          <p:nvPr/>
        </p:nvSpPr>
        <p:spPr>
          <a:xfrm>
            <a:off x="7878928" y="2423160"/>
            <a:ext cx="2743200" cy="566928"/>
          </a:xfrm>
          <a:prstGeom prst="snip2DiagRect">
            <a:avLst>
              <a:gd name="adj1" fmla="val 0"/>
              <a:gd name="adj2" fmla="val 22580"/>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500" b="0" i="0">
                <a:solidFill>
                  <a:srgbClr val="5A0A10"/>
                </a:solidFill>
                <a:latin typeface="Be Vietnam Pro SemiBold"/>
                <a:ea typeface="Be Vietnam Pro SemiBold"/>
                <a:cs typeface="Be Vietnam Pro SemiBold"/>
              </a:rPr>
              <a:t>Biện chứng</a:t>
            </a:r>
          </a:p>
        </p:txBody>
      </p:sp>
      <p:sp>
        <p:nvSpPr>
          <p:cNvPr id="12" name="Diamond 11"/>
          <p:cNvSpPr/>
          <p:nvPr/>
        </p:nvSpPr>
        <p:spPr>
          <a:xfrm>
            <a:off x="9021928" y="2075688"/>
            <a:ext cx="457200" cy="457200"/>
          </a:xfrm>
          <a:prstGeom prst="diamond">
            <a:avLst/>
          </a:prstGeom>
          <a:gradFill rotWithShape="1">
            <a:gsLst>
              <a:gs pos="0">
                <a:srgbClr val="E5373B"/>
              </a:gs>
              <a:gs pos="100000">
                <a:srgbClr val="7A0912"/>
              </a:gs>
            </a:gsLst>
            <a:lin ang="5400000" scaled="0"/>
          </a:gradFill>
          <a:ln w="19050">
            <a:gradFill rotWithShape="1">
              <a:gsLst>
                <a:gs pos="0">
                  <a:srgbClr val="FFE6A1"/>
                </a:gs>
                <a:gs pos="45000">
                  <a:srgbClr val="E3AE4A"/>
                </a:gs>
                <a:gs pos="100000">
                  <a:srgbClr val="A8721C"/>
                </a:gs>
              </a:gsLst>
              <a:lin ang="2700000" scaled="0"/>
            </a:gradFill>
          </a:ln>
          <a:effectLst/>
        </p:spPr>
        <p:style>
          <a:lnRef idx="1">
            <a:schemeClr val="accent1"/>
          </a:lnRef>
          <a:fillRef idx="3">
            <a:schemeClr val="accent1"/>
          </a:fillRef>
          <a:effectRef idx="0">
            <a:schemeClr val="accent1"/>
          </a:effectRef>
          <a:fontRef idx="minor">
            <a:schemeClr val="lt1"/>
          </a:fontRef>
        </p:style>
        <p:txBody>
          <a:bodyPr rtlCol="0" anchor="ctr" lIns="0" rIns="0" tIns="0" bIns="0" wrap="square"/>
          <a:lstStyle/>
          <a:p>
            <a:pPr algn="ctr">
              <a:lnSpc>
                <a:spcPct val="105000"/>
              </a:lnSpc>
            </a:pPr>
            <a:r>
              <a:rPr sz="1500" b="0" i="0">
                <a:solidFill>
                  <a:srgbClr val="FFE6A1"/>
                </a:solidFill>
                <a:latin typeface="Big Shoulders Display Black"/>
                <a:ea typeface="Big Shoulders Display Black"/>
                <a:cs typeface="Big Shoulders Display Black"/>
              </a:rPr>
              <a:t>3</a:t>
            </a:r>
          </a:p>
        </p:txBody>
      </p:sp>
      <p:pic>
        <p:nvPicPr>
          <p:cNvPr id="13" name="Picture 12" descr="d1eb885b5b422194.jpg"/>
          <p:cNvPicPr>
            <a:picLocks noChangeAspect="1"/>
          </p:cNvPicPr>
          <p:nvPr/>
        </p:nvPicPr>
        <p:blipFill>
          <a:blip r:embed="rId3"/>
          <a:srcRect t="3308" b="3308"/>
          <a:stretch>
            <a:fillRect/>
          </a:stretch>
        </p:blipFill>
        <p:spPr>
          <a:xfrm>
            <a:off x="4221328" y="3337560"/>
            <a:ext cx="3749040" cy="2331720"/>
          </a:xfrm>
          <a:prstGeom prst="snip2DiagRect">
            <a:avLst>
              <a:gd name="adj1" fmla="val 0"/>
              <a:gd name="adj2" fmla="val 8627"/>
            </a:avLst>
          </a:prstGeom>
          <a:ln w="2540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sp>
        <p:nvSpPr>
          <p:cNvPr id="14" name="Snip Diagonal Corner Rectangle 13"/>
          <p:cNvSpPr/>
          <p:nvPr/>
        </p:nvSpPr>
        <p:spPr>
          <a:xfrm>
            <a:off x="548640" y="3657600"/>
            <a:ext cx="3429000" cy="1097280"/>
          </a:xfrm>
          <a:prstGeom prst="snip2DiagRect">
            <a:avLst>
              <a:gd name="adj1" fmla="val 0"/>
              <a:gd name="adj2" fmla="val 16666"/>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2000"/>
              </a:lnSpc>
            </a:pPr>
            <a:r>
              <a:rPr sz="1350" b="0" i="0">
                <a:solidFill>
                  <a:srgbClr val="FFF4E2"/>
                </a:solidFill>
                <a:latin typeface="Be Vietnam Pro Medium"/>
                <a:ea typeface="Be Vietnam Pro Medium"/>
                <a:cs typeface="Be Vietnam Pro Medium"/>
              </a:rPr>
              <a:t>Vật chất và giới tự nhiên là cái có trước</a:t>
            </a:r>
          </a:p>
        </p:txBody>
      </p:sp>
      <p:sp>
        <p:nvSpPr>
          <p:cNvPr id="15" name="Snip Diagonal Corner Rectangle 14"/>
          <p:cNvSpPr/>
          <p:nvPr/>
        </p:nvSpPr>
        <p:spPr>
          <a:xfrm>
            <a:off x="8214055" y="3657600"/>
            <a:ext cx="3429000" cy="1097280"/>
          </a:xfrm>
          <a:prstGeom prst="snip2DiagRect">
            <a:avLst>
              <a:gd name="adj1" fmla="val 0"/>
              <a:gd name="adj2" fmla="val 16666"/>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2000"/>
              </a:lnSpc>
            </a:pPr>
            <a:r>
              <a:rPr sz="1350" b="0" i="0">
                <a:solidFill>
                  <a:srgbClr val="FFF4E2"/>
                </a:solidFill>
                <a:latin typeface="Be Vietnam Pro Medium"/>
                <a:ea typeface="Be Vietnam Pro Medium"/>
                <a:cs typeface="Be Vietnam Pro Medium"/>
              </a:rPr>
              <a:t>Vật chất quyết định ý thức</a:t>
            </a:r>
          </a:p>
        </p:txBody>
      </p:sp>
      <p:sp>
        <p:nvSpPr>
          <p:cNvPr id="16" name="Snip Diagonal Corner Rectangle 15"/>
          <p:cNvSpPr/>
          <p:nvPr/>
        </p:nvSpPr>
        <p:spPr>
          <a:xfrm>
            <a:off x="2804008" y="5897880"/>
            <a:ext cx="6583680" cy="530352"/>
          </a:xfrm>
          <a:prstGeom prst="snip2DiagRect">
            <a:avLst>
              <a:gd name="adj1" fmla="val 0"/>
              <a:gd name="adj2" fmla="val 31034"/>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300" b="0" i="1">
                <a:solidFill>
                  <a:srgbClr val="FFF4E2"/>
                </a:solidFill>
                <a:latin typeface="Be Vietnam Pro"/>
                <a:ea typeface="Be Vietnam Pro"/>
                <a:cs typeface="Be Vietnam Pro"/>
              </a:rPr>
              <a:t>Giải thích thế giới bằng chính những nguyên nhân vật chất của nó</a:t>
            </a:r>
          </a:p>
        </p:txBody>
      </p:sp>
      <p:sp>
        <p:nvSpPr>
          <p:cNvPr id="17" name="TextBox 16"/>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08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53" presetClass="entr" presetSubtype="16"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ppt_w</p:attrName>
                                        </p:attrNameLst>
                                      </p:cBhvr>
                                      <p:tavLst>
                                        <p:tav tm="0">
                                          <p:val>
                                            <p:strVal val="#ppt_w*0.7"/>
                                          </p:val>
                                        </p:tav>
                                        <p:tav tm="100000">
                                          <p:val>
                                            <p:strVal val="#ppt_w"/>
                                          </p:val>
                                        </p:tav>
                                      </p:tavLst>
                                    </p:anim>
                                    <p:anim calcmode="lin" valueType="num">
                                      <p:cBhvr additive="base">
                                        <p:cTn id="17" dur="500" fill="hold"/>
                                        <p:tgtEl>
                                          <p:spTgt spid="6"/>
                                        </p:tgtEl>
                                        <p:attrNameLst>
                                          <p:attrName>ppt_h</p:attrName>
                                        </p:attrNameLst>
                                      </p:cBhvr>
                                      <p:tavLst>
                                        <p:tav tm="0">
                                          <p:val>
                                            <p:strVal val="#ppt_h*0.7"/>
                                          </p:val>
                                        </p:tav>
                                        <p:tav tm="100000">
                                          <p:val>
                                            <p:strVal val="#ppt_h"/>
                                          </p:val>
                                        </p:tav>
                                      </p:tavLst>
                                    </p:anim>
                                    <p:animEffect transition="in" filter="fade">
                                      <p:cBhvr>
                                        <p:cTn id="18" dur="500"/>
                                        <p:tgtEl>
                                          <p:spTgt spid="6"/>
                                        </p:tgtEl>
                                      </p:cBhvr>
                                    </p:animEffect>
                                  </p:childTnLst>
                                </p:cTn>
                              </p:par>
                              <p:par>
                                <p:cTn id="19" presetID="42" presetClass="entr" presetSubtype="0" fill="hold" grpId="0" nodeType="withEffect">
                                  <p:stCondLst>
                                    <p:cond delay="5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anim calcmode="lin" valueType="num">
                                      <p:cBhvr additive="base">
                                        <p:cTn id="22" dur="450" fill="hold"/>
                                        <p:tgtEl>
                                          <p:spTgt spid="7"/>
                                        </p:tgtEl>
                                        <p:attrNameLst>
                                          <p:attrName>ppt_x</p:attrName>
                                        </p:attrNameLst>
                                      </p:cBhvr>
                                      <p:tavLst>
                                        <p:tav tm="0">
                                          <p:val>
                                            <p:strVal val="#ppt_x"/>
                                          </p:val>
                                        </p:tav>
                                        <p:tav tm="100000">
                                          <p:val>
                                            <p:strVal val="#ppt_x"/>
                                          </p:val>
                                        </p:tav>
                                      </p:tavLst>
                                    </p:anim>
                                    <p:anim calcmode="lin" valueType="num">
                                      <p:cBhvr additive="base">
                                        <p:cTn id="23" dur="450" fill="hold"/>
                                        <p:tgtEl>
                                          <p:spTgt spid="7"/>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5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50"/>
                                        <p:tgtEl>
                                          <p:spTgt spid="8"/>
                                        </p:tgtEl>
                                      </p:cBhvr>
                                    </p:animEffect>
                                    <p:anim calcmode="lin" valueType="num">
                                      <p:cBhvr additive="base">
                                        <p:cTn id="27" dur="450" fill="hold"/>
                                        <p:tgtEl>
                                          <p:spTgt spid="8"/>
                                        </p:tgtEl>
                                        <p:attrNameLst>
                                          <p:attrName>ppt_x</p:attrName>
                                        </p:attrNameLst>
                                      </p:cBhvr>
                                      <p:tavLst>
                                        <p:tav tm="0">
                                          <p:val>
                                            <p:strVal val="#ppt_x"/>
                                          </p:val>
                                        </p:tav>
                                        <p:tav tm="100000">
                                          <p:val>
                                            <p:strVal val="#ppt_x"/>
                                          </p:val>
                                        </p:tav>
                                      </p:tavLst>
                                    </p:anim>
                                    <p:anim calcmode="lin" valueType="num">
                                      <p:cBhvr additive="base">
                                        <p:cTn id="28" dur="450" fill="hold"/>
                                        <p:tgtEl>
                                          <p:spTgt spid="8"/>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73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50"/>
                                        <p:tgtEl>
                                          <p:spTgt spid="9"/>
                                        </p:tgtEl>
                                      </p:cBhvr>
                                    </p:animEffect>
                                    <p:anim calcmode="lin" valueType="num">
                                      <p:cBhvr additive="base">
                                        <p:cTn id="32" dur="450" fill="hold"/>
                                        <p:tgtEl>
                                          <p:spTgt spid="9"/>
                                        </p:tgtEl>
                                        <p:attrNameLst>
                                          <p:attrName>ppt_x</p:attrName>
                                        </p:attrNameLst>
                                      </p:cBhvr>
                                      <p:tavLst>
                                        <p:tav tm="0">
                                          <p:val>
                                            <p:strVal val="#ppt_x"/>
                                          </p:val>
                                        </p:tav>
                                        <p:tav tm="100000">
                                          <p:val>
                                            <p:strVal val="#ppt_x"/>
                                          </p:val>
                                        </p:tav>
                                      </p:tavLst>
                                    </p:anim>
                                    <p:anim calcmode="lin" valueType="num">
                                      <p:cBhvr additive="base">
                                        <p:cTn id="33" dur="45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73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50"/>
                                        <p:tgtEl>
                                          <p:spTgt spid="10"/>
                                        </p:tgtEl>
                                      </p:cBhvr>
                                    </p:animEffect>
                                    <p:anim calcmode="lin" valueType="num">
                                      <p:cBhvr additive="base">
                                        <p:cTn id="37" dur="450" fill="hold"/>
                                        <p:tgtEl>
                                          <p:spTgt spid="10"/>
                                        </p:tgtEl>
                                        <p:attrNameLst>
                                          <p:attrName>ppt_x</p:attrName>
                                        </p:attrNameLst>
                                      </p:cBhvr>
                                      <p:tavLst>
                                        <p:tav tm="0">
                                          <p:val>
                                            <p:strVal val="#ppt_x"/>
                                          </p:val>
                                        </p:tav>
                                        <p:tav tm="100000">
                                          <p:val>
                                            <p:strVal val="#ppt_x"/>
                                          </p:val>
                                        </p:tav>
                                      </p:tavLst>
                                    </p:anim>
                                    <p:anim calcmode="lin" valueType="num">
                                      <p:cBhvr additive="base">
                                        <p:cTn id="38" dur="45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909"/>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50"/>
                                        <p:tgtEl>
                                          <p:spTgt spid="11"/>
                                        </p:tgtEl>
                                      </p:cBhvr>
                                    </p:animEffect>
                                    <p:anim calcmode="lin" valueType="num">
                                      <p:cBhvr additive="base">
                                        <p:cTn id="42" dur="450" fill="hold"/>
                                        <p:tgtEl>
                                          <p:spTgt spid="11"/>
                                        </p:tgtEl>
                                        <p:attrNameLst>
                                          <p:attrName>ppt_x</p:attrName>
                                        </p:attrNameLst>
                                      </p:cBhvr>
                                      <p:tavLst>
                                        <p:tav tm="0">
                                          <p:val>
                                            <p:strVal val="#ppt_x"/>
                                          </p:val>
                                        </p:tav>
                                        <p:tav tm="100000">
                                          <p:val>
                                            <p:strVal val="#ppt_x"/>
                                          </p:val>
                                        </p:tav>
                                      </p:tavLst>
                                    </p:anim>
                                    <p:anim calcmode="lin" valueType="num">
                                      <p:cBhvr additive="base">
                                        <p:cTn id="43" dur="45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909"/>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50"/>
                                        <p:tgtEl>
                                          <p:spTgt spid="12"/>
                                        </p:tgtEl>
                                      </p:cBhvr>
                                    </p:animEffect>
                                    <p:anim calcmode="lin" valueType="num">
                                      <p:cBhvr additive="base">
                                        <p:cTn id="47" dur="450" fill="hold"/>
                                        <p:tgtEl>
                                          <p:spTgt spid="12"/>
                                        </p:tgtEl>
                                        <p:attrNameLst>
                                          <p:attrName>ppt_x</p:attrName>
                                        </p:attrNameLst>
                                      </p:cBhvr>
                                      <p:tavLst>
                                        <p:tav tm="0">
                                          <p:val>
                                            <p:strVal val="#ppt_x"/>
                                          </p:val>
                                        </p:tav>
                                        <p:tav tm="100000">
                                          <p:val>
                                            <p:strVal val="#ppt_x"/>
                                          </p:val>
                                        </p:tav>
                                      </p:tavLst>
                                    </p:anim>
                                    <p:anim calcmode="lin" valueType="num">
                                      <p:cBhvr additive="base">
                                        <p:cTn id="48" dur="450" fill="hold"/>
                                        <p:tgtEl>
                                          <p:spTgt spid="12"/>
                                        </p:tgtEl>
                                        <p:attrNameLst>
                                          <p:attrName>ppt_y</p:attrName>
                                        </p:attrNameLst>
                                      </p:cBhvr>
                                      <p:tavLst>
                                        <p:tav tm="0">
                                          <p:val>
                                            <p:strVal val="#ppt_y+.06"/>
                                          </p:val>
                                        </p:tav>
                                        <p:tav tm="100000">
                                          <p:val>
                                            <p:strVal val="#ppt_y"/>
                                          </p:val>
                                        </p:tav>
                                      </p:tavLst>
                                    </p:anim>
                                  </p:childTnLst>
                                </p:cTn>
                              </p:par>
                              <p:par>
                                <p:cTn id="49" presetID="53" presetClass="entr" presetSubtype="16" fill="hold" grpId="0" nodeType="withEffect">
                                  <p:stCondLst>
                                    <p:cond delay="110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700" fill="hold"/>
                                        <p:tgtEl>
                                          <p:spTgt spid="13"/>
                                        </p:tgtEl>
                                        <p:attrNameLst>
                                          <p:attrName>ppt_w</p:attrName>
                                        </p:attrNameLst>
                                      </p:cBhvr>
                                      <p:tavLst>
                                        <p:tav tm="0">
                                          <p:val>
                                            <p:strVal val="#ppt_w*0.7"/>
                                          </p:val>
                                        </p:tav>
                                        <p:tav tm="100000">
                                          <p:val>
                                            <p:strVal val="#ppt_w"/>
                                          </p:val>
                                        </p:tav>
                                      </p:tavLst>
                                    </p:anim>
                                    <p:anim calcmode="lin" valueType="num">
                                      <p:cBhvr additive="base">
                                        <p:cTn id="52" dur="700" fill="hold"/>
                                        <p:tgtEl>
                                          <p:spTgt spid="13"/>
                                        </p:tgtEl>
                                        <p:attrNameLst>
                                          <p:attrName>ppt_h</p:attrName>
                                        </p:attrNameLst>
                                      </p:cBhvr>
                                      <p:tavLst>
                                        <p:tav tm="0">
                                          <p:val>
                                            <p:strVal val="#ppt_h*0.7"/>
                                          </p:val>
                                        </p:tav>
                                        <p:tav tm="100000">
                                          <p:val>
                                            <p:strVal val="#ppt_h"/>
                                          </p:val>
                                        </p:tav>
                                      </p:tavLst>
                                    </p:anim>
                                    <p:animEffect transition="in" filter="fade">
                                      <p:cBhvr>
                                        <p:cTn id="53" dur="700"/>
                                        <p:tgtEl>
                                          <p:spTgt spid="13"/>
                                        </p:tgtEl>
                                      </p:cBhvr>
                                    </p:animEffect>
                                  </p:childTnLst>
                                </p:cTn>
                              </p:par>
                              <p:par>
                                <p:cTn id="54" presetID="10" presetClass="entr" presetSubtype="0" fill="hold" grpId="0" nodeType="withEffect">
                                  <p:stCondLst>
                                    <p:cond delay="140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par>
                                <p:cTn id="57" presetID="10" presetClass="entr" presetSubtype="0" fill="hold" grpId="0" nodeType="withEffect">
                                  <p:stCondLst>
                                    <p:cond delay="1599"/>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par>
                                <p:cTn id="60" presetID="22" presetClass="entr" presetSubtype="8" fill="hold" grpId="0" nodeType="withEffect">
                                  <p:stCondLst>
                                    <p:cond delay="180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2</a:t>
            </a:r>
          </a:p>
        </p:txBody>
      </p:sp>
      <p:sp>
        <p:nvSpPr>
          <p:cNvPr id="4" name="!!tab"/>
          <p:cNvSpPr/>
          <p:nvPr/>
        </p:nvSpPr>
        <p:spPr>
          <a:xfrm>
            <a:off x="548640" y="566928"/>
            <a:ext cx="4841345"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CHỦ NGHĨA DUY VẬT CHẤT PHÁC</a:t>
            </a:r>
          </a:p>
        </p:txBody>
      </p:sp>
      <p:sp>
        <p:nvSpPr>
          <p:cNvPr id="5" name="!!rule"/>
          <p:cNvSpPr/>
          <p:nvPr/>
        </p:nvSpPr>
        <p:spPr>
          <a:xfrm>
            <a:off x="5499713" y="1133856"/>
            <a:ext cx="6326222"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Snip Diagonal Corner Rectangle 5"/>
          <p:cNvSpPr/>
          <p:nvPr/>
        </p:nvSpPr>
        <p:spPr>
          <a:xfrm>
            <a:off x="548640" y="1600200"/>
            <a:ext cx="6080760" cy="603504"/>
          </a:xfrm>
          <a:prstGeom prst="snip2DiagRect">
            <a:avLst>
              <a:gd name="adj1" fmla="val 0"/>
              <a:gd name="adj2" fmla="val 212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685800" tIns="36576" bIns="36576" wrap="square"/>
          <a:lstStyle/>
          <a:p>
            <a:pPr algn="l">
              <a:lnSpc>
                <a:spcPct val="108000"/>
              </a:lnSpc>
            </a:pPr>
            <a:r>
              <a:rPr sz="1250" b="0" i="0">
                <a:solidFill>
                  <a:srgbClr val="FFF4E2"/>
                </a:solidFill>
                <a:latin typeface="Be Vietnam Pro"/>
                <a:ea typeface="Be Vietnam Pro"/>
                <a:cs typeface="Be Vietnam Pro"/>
              </a:rPr>
              <a:t>Hình thành trong triết học cổ đại: Hy Lạp, Trung Hoa, Ấn Độ</a:t>
            </a:r>
          </a:p>
        </p:txBody>
      </p:sp>
      <p:pic>
        <p:nvPicPr>
          <p:cNvPr id="7" name="Picture 6" descr="star_red.png"/>
          <p:cNvPicPr>
            <a:picLocks noChangeAspect="1"/>
          </p:cNvPicPr>
          <p:nvPr/>
        </p:nvPicPr>
        <p:blipFill>
          <a:blip r:embed="rId3"/>
          <a:stretch>
            <a:fillRect/>
          </a:stretch>
        </p:blipFill>
        <p:spPr>
          <a:xfrm>
            <a:off x="6117336" y="1726216"/>
            <a:ext cx="365760" cy="358616"/>
          </a:xfrm>
          <a:prstGeom prst="rect">
            <a:avLst/>
          </a:prstGeom>
        </p:spPr>
      </p:pic>
      <p:sp>
        <p:nvSpPr>
          <p:cNvPr id="8" name="Snip Diagonal Corner Rectangle 7"/>
          <p:cNvSpPr/>
          <p:nvPr/>
        </p:nvSpPr>
        <p:spPr>
          <a:xfrm>
            <a:off x="548640" y="2386584"/>
            <a:ext cx="6080760" cy="603504"/>
          </a:xfrm>
          <a:prstGeom prst="snip2DiagRect">
            <a:avLst>
              <a:gd name="adj1" fmla="val 0"/>
              <a:gd name="adj2" fmla="val 212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685800" tIns="36576" bIns="36576" wrap="square"/>
          <a:lstStyle/>
          <a:p>
            <a:pPr algn="l">
              <a:lnSpc>
                <a:spcPct val="108000"/>
              </a:lnSpc>
            </a:pPr>
            <a:r>
              <a:rPr sz="1250" b="0" i="0">
                <a:solidFill>
                  <a:srgbClr val="FFF4E2"/>
                </a:solidFill>
                <a:latin typeface="Be Vietnam Pro"/>
                <a:ea typeface="Be Vietnam Pro"/>
                <a:cs typeface="Be Vietnam Pro"/>
              </a:rPr>
              <a:t>Thừa nhận tính thứ nhất của vật chất</a:t>
            </a:r>
          </a:p>
        </p:txBody>
      </p:sp>
      <p:pic>
        <p:nvPicPr>
          <p:cNvPr id="9" name="Picture 8" descr="star_red.png"/>
          <p:cNvPicPr>
            <a:picLocks noChangeAspect="1"/>
          </p:cNvPicPr>
          <p:nvPr/>
        </p:nvPicPr>
        <p:blipFill>
          <a:blip r:embed="rId3"/>
          <a:stretch>
            <a:fillRect/>
          </a:stretch>
        </p:blipFill>
        <p:spPr>
          <a:xfrm>
            <a:off x="6117336" y="2512600"/>
            <a:ext cx="365760" cy="358616"/>
          </a:xfrm>
          <a:prstGeom prst="rect">
            <a:avLst/>
          </a:prstGeom>
        </p:spPr>
      </p:pic>
      <p:sp>
        <p:nvSpPr>
          <p:cNvPr id="10" name="Snip Diagonal Corner Rectangle 9"/>
          <p:cNvSpPr/>
          <p:nvPr/>
        </p:nvSpPr>
        <p:spPr>
          <a:xfrm>
            <a:off x="548640" y="3172968"/>
            <a:ext cx="6080760" cy="603504"/>
          </a:xfrm>
          <a:prstGeom prst="snip2DiagRect">
            <a:avLst>
              <a:gd name="adj1" fmla="val 0"/>
              <a:gd name="adj2" fmla="val 212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685800" tIns="36576" bIns="36576" wrap="square"/>
          <a:lstStyle/>
          <a:p>
            <a:pPr algn="l">
              <a:lnSpc>
                <a:spcPct val="108000"/>
              </a:lnSpc>
            </a:pPr>
            <a:r>
              <a:rPr sz="1250" b="0" i="0">
                <a:solidFill>
                  <a:srgbClr val="FFF4E2"/>
                </a:solidFill>
                <a:latin typeface="Be Vietnam Pro"/>
                <a:ea typeface="Be Vietnam Pro"/>
                <a:cs typeface="Be Vietnam Pro"/>
              </a:rPr>
              <a:t>Đồng nhất vật chất với một hay vài chất cụ thể: nước, lửa, không khí…</a:t>
            </a:r>
          </a:p>
        </p:txBody>
      </p:sp>
      <p:pic>
        <p:nvPicPr>
          <p:cNvPr id="11" name="Picture 10" descr="star_red.png"/>
          <p:cNvPicPr>
            <a:picLocks noChangeAspect="1"/>
          </p:cNvPicPr>
          <p:nvPr/>
        </p:nvPicPr>
        <p:blipFill>
          <a:blip r:embed="rId3"/>
          <a:stretch>
            <a:fillRect/>
          </a:stretch>
        </p:blipFill>
        <p:spPr>
          <a:xfrm>
            <a:off x="6117336" y="3298984"/>
            <a:ext cx="365760" cy="358616"/>
          </a:xfrm>
          <a:prstGeom prst="rect">
            <a:avLst/>
          </a:prstGeom>
        </p:spPr>
      </p:pic>
      <p:sp>
        <p:nvSpPr>
          <p:cNvPr id="12" name="Snip Diagonal Corner Rectangle 11"/>
          <p:cNvSpPr/>
          <p:nvPr/>
        </p:nvSpPr>
        <p:spPr>
          <a:xfrm>
            <a:off x="548640" y="3959352"/>
            <a:ext cx="6080760" cy="603504"/>
          </a:xfrm>
          <a:prstGeom prst="snip2DiagRect">
            <a:avLst>
              <a:gd name="adj1" fmla="val 0"/>
              <a:gd name="adj2" fmla="val 212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685800" tIns="36576" bIns="36576" wrap="square"/>
          <a:lstStyle/>
          <a:p>
            <a:pPr algn="l">
              <a:lnSpc>
                <a:spcPct val="108000"/>
              </a:lnSpc>
            </a:pPr>
            <a:r>
              <a:rPr sz="1250" b="0" i="0">
                <a:solidFill>
                  <a:srgbClr val="FFF4E2"/>
                </a:solidFill>
                <a:latin typeface="Be Vietnam Pro"/>
                <a:ea typeface="Be Vietnam Pro"/>
                <a:cs typeface="Be Vietnam Pro"/>
              </a:rPr>
              <a:t>Kết luận mang tính trực quan, ngây thơ, chất phác</a:t>
            </a:r>
          </a:p>
        </p:txBody>
      </p:sp>
      <p:pic>
        <p:nvPicPr>
          <p:cNvPr id="13" name="Picture 12" descr="star_red.png"/>
          <p:cNvPicPr>
            <a:picLocks noChangeAspect="1"/>
          </p:cNvPicPr>
          <p:nvPr/>
        </p:nvPicPr>
        <p:blipFill>
          <a:blip r:embed="rId3"/>
          <a:stretch>
            <a:fillRect/>
          </a:stretch>
        </p:blipFill>
        <p:spPr>
          <a:xfrm>
            <a:off x="6117336" y="4085368"/>
            <a:ext cx="365760" cy="358616"/>
          </a:xfrm>
          <a:prstGeom prst="rect">
            <a:avLst/>
          </a:prstGeom>
        </p:spPr>
      </p:pic>
      <p:sp>
        <p:nvSpPr>
          <p:cNvPr id="14" name="Snip Diagonal Corner Rectangle 13"/>
          <p:cNvSpPr/>
          <p:nvPr/>
        </p:nvSpPr>
        <p:spPr>
          <a:xfrm>
            <a:off x="548640" y="4745736"/>
            <a:ext cx="6080760" cy="603504"/>
          </a:xfrm>
          <a:prstGeom prst="snip2DiagRect">
            <a:avLst>
              <a:gd name="adj1" fmla="val 0"/>
              <a:gd name="adj2" fmla="val 212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685800" tIns="36576" bIns="36576" wrap="square"/>
          <a:lstStyle/>
          <a:p>
            <a:pPr algn="l">
              <a:lnSpc>
                <a:spcPct val="108000"/>
              </a:lnSpc>
            </a:pPr>
            <a:r>
              <a:rPr sz="1250" b="0" i="0">
                <a:solidFill>
                  <a:srgbClr val="FFF4E2"/>
                </a:solidFill>
                <a:latin typeface="Be Vietnam Pro"/>
                <a:ea typeface="Be Vietnam Pro"/>
                <a:cs typeface="Be Vietnam Pro"/>
              </a:rPr>
              <a:t>Lấy giới tự nhiên để giải thích giới tự nhiên, không viện đến thần linh</a:t>
            </a:r>
          </a:p>
        </p:txBody>
      </p:sp>
      <p:pic>
        <p:nvPicPr>
          <p:cNvPr id="15" name="Picture 14" descr="star_red.png"/>
          <p:cNvPicPr>
            <a:picLocks noChangeAspect="1"/>
          </p:cNvPicPr>
          <p:nvPr/>
        </p:nvPicPr>
        <p:blipFill>
          <a:blip r:embed="rId3"/>
          <a:stretch>
            <a:fillRect/>
          </a:stretch>
        </p:blipFill>
        <p:spPr>
          <a:xfrm>
            <a:off x="6117336" y="4871752"/>
            <a:ext cx="365760" cy="358616"/>
          </a:xfrm>
          <a:prstGeom prst="rect">
            <a:avLst/>
          </a:prstGeom>
        </p:spPr>
      </p:pic>
      <p:pic>
        <p:nvPicPr>
          <p:cNvPr id="16" name="!!ph1" descr="0d5f48a7920119ab.jpg"/>
          <p:cNvPicPr>
            <a:picLocks noChangeAspect="1"/>
          </p:cNvPicPr>
          <p:nvPr/>
        </p:nvPicPr>
        <p:blipFill>
          <a:blip r:embed="rId4"/>
          <a:srcRect t="10269" b="10269"/>
          <a:stretch>
            <a:fillRect/>
          </a:stretch>
        </p:blipFill>
        <p:spPr>
          <a:xfrm>
            <a:off x="7086600" y="1417320"/>
            <a:ext cx="4572000" cy="2423160"/>
          </a:xfrm>
          <a:prstGeom prst="snip2DiagRect">
            <a:avLst>
              <a:gd name="adj1" fmla="val 0"/>
              <a:gd name="adj2" fmla="val 8301"/>
            </a:avLst>
          </a:prstGeom>
          <a:ln w="2540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pic>
        <p:nvPicPr>
          <p:cNvPr id="17" name="!!ph2" descr="7c7e0b4147b30904.jpg"/>
          <p:cNvPicPr>
            <a:picLocks noChangeAspect="1"/>
          </p:cNvPicPr>
          <p:nvPr/>
        </p:nvPicPr>
        <p:blipFill>
          <a:blip r:embed="rId5"/>
          <a:srcRect t="9119" b="49119"/>
          <a:stretch>
            <a:fillRect/>
          </a:stretch>
        </p:blipFill>
        <p:spPr>
          <a:xfrm>
            <a:off x="7635240" y="4069080"/>
            <a:ext cx="4023360" cy="2240280"/>
          </a:xfrm>
          <a:prstGeom prst="snip2DiagRect">
            <a:avLst>
              <a:gd name="adj1" fmla="val 0"/>
              <a:gd name="adj2" fmla="val 8979"/>
            </a:avLst>
          </a:prstGeom>
          <a:ln w="2540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sp>
        <p:nvSpPr>
          <p:cNvPr id="18" name="TextBox 17"/>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09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22" presetClass="entr" presetSubtype="8" fill="hold" grpId="0" nodeType="with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40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 presetClass="entr" presetSubtype="2" fill="hold" grpId="0" nodeType="withEffect">
                                  <p:stCondLst>
                                    <p:cond delay="50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700" fill="hold"/>
                                        <p:tgtEl>
                                          <p:spTgt spid="16"/>
                                        </p:tgtEl>
                                        <p:attrNameLst>
                                          <p:attrName>ppt_x</p:attrName>
                                        </p:attrNameLst>
                                      </p:cBhvr>
                                      <p:tavLst>
                                        <p:tav tm="0">
                                          <p:val>
                                            <p:strVal val="1+#ppt_w/2"/>
                                          </p:val>
                                        </p:tav>
                                        <p:tav tm="100000">
                                          <p:val>
                                            <p:strVal val="#ppt_x"/>
                                          </p:val>
                                        </p:tav>
                                      </p:tavLst>
                                    </p:anim>
                                    <p:anim calcmode="lin" valueType="num">
                                      <p:cBhvr additive="base">
                                        <p:cTn id="23" dur="700" fill="hold"/>
                                        <p:tgtEl>
                                          <p:spTgt spid="16"/>
                                        </p:tgtEl>
                                        <p:attrNameLst>
                                          <p:attrName>ppt_y</p:attrName>
                                        </p:attrNameLst>
                                      </p:cBhvr>
                                      <p:tavLst>
                                        <p:tav tm="0">
                                          <p:val>
                                            <p:strVal val="#ppt_y"/>
                                          </p:val>
                                        </p:tav>
                                        <p:tav tm="100000">
                                          <p:val>
                                            <p:strVal val="#ppt_y"/>
                                          </p:val>
                                        </p:tav>
                                      </p:tavLst>
                                    </p:anim>
                                  </p:childTnLst>
                                </p:cTn>
                              </p:par>
                              <p:par>
                                <p:cTn id="24" presetID="22" presetClass="entr" presetSubtype="8" fill="hold" grpId="0" nodeType="withEffect">
                                  <p:stCondLst>
                                    <p:cond delay="55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par>
                                <p:cTn id="27" presetID="22" presetClass="entr" presetSubtype="8" fill="hold" grpId="0" nodeType="withEffect">
                                  <p:stCondLst>
                                    <p:cond delay="55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2" presetClass="entr" presetSubtype="8" fill="hold" grpId="0" nodeType="withEffect">
                                  <p:stCondLst>
                                    <p:cond delay="70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par>
                                <p:cTn id="33" presetID="22" presetClass="entr" presetSubtype="8" fill="hold" grpId="0" nodeType="withEffect">
                                  <p:stCondLst>
                                    <p:cond delay="70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par>
                                <p:cTn id="36" presetID="2" presetClass="entr" presetSubtype="2" fill="hold" grpId="0" nodeType="withEffect">
                                  <p:stCondLst>
                                    <p:cond delay="75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700" fill="hold"/>
                                        <p:tgtEl>
                                          <p:spTgt spid="17"/>
                                        </p:tgtEl>
                                        <p:attrNameLst>
                                          <p:attrName>ppt_x</p:attrName>
                                        </p:attrNameLst>
                                      </p:cBhvr>
                                      <p:tavLst>
                                        <p:tav tm="0">
                                          <p:val>
                                            <p:strVal val="1+#ppt_w/2"/>
                                          </p:val>
                                        </p:tav>
                                        <p:tav tm="100000">
                                          <p:val>
                                            <p:strVal val="#ppt_x"/>
                                          </p:val>
                                        </p:tav>
                                      </p:tavLst>
                                    </p:anim>
                                    <p:anim calcmode="lin" valueType="num">
                                      <p:cBhvr additive="base">
                                        <p:cTn id="39" dur="700" fill="hold"/>
                                        <p:tgtEl>
                                          <p:spTgt spid="17"/>
                                        </p:tgtEl>
                                        <p:attrNameLst>
                                          <p:attrName>ppt_y</p:attrName>
                                        </p:attrNameLst>
                                      </p:cBhvr>
                                      <p:tavLst>
                                        <p:tav tm="0">
                                          <p:val>
                                            <p:strVal val="#ppt_y"/>
                                          </p:val>
                                        </p:tav>
                                        <p:tav tm="100000">
                                          <p:val>
                                            <p:strVal val="#ppt_y"/>
                                          </p:val>
                                        </p:tav>
                                      </p:tavLst>
                                    </p:anim>
                                  </p:childTnLst>
                                </p:cTn>
                              </p:par>
                              <p:par>
                                <p:cTn id="40" presetID="22" presetClass="entr" presetSubtype="8" fill="hold" grpId="0" nodeType="withEffect">
                                  <p:stCondLst>
                                    <p:cond delay="85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par>
                                <p:cTn id="43" presetID="22" presetClass="entr" presetSubtype="8" fill="hold" grpId="0" nodeType="withEffect">
                                  <p:stCondLst>
                                    <p:cond delay="85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par>
                                <p:cTn id="46" presetID="22" presetClass="entr" presetSubtype="8" fill="hold" grpId="0" nodeType="withEffect">
                                  <p:stCondLst>
                                    <p:cond delay="100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par>
                                <p:cTn id="49" presetID="22" presetClass="entr" presetSubtype="8" fill="hold" grpId="0" nodeType="withEffect">
                                  <p:stCondLst>
                                    <p:cond delay="100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10" grpId="0" animBg="1"/>
      <p:bldP spid="12"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2</a:t>
            </a:r>
          </a:p>
        </p:txBody>
      </p:sp>
      <p:sp>
        <p:nvSpPr>
          <p:cNvPr id="4" name="!!tab"/>
          <p:cNvSpPr/>
          <p:nvPr/>
        </p:nvSpPr>
        <p:spPr>
          <a:xfrm>
            <a:off x="548640" y="566928"/>
            <a:ext cx="4709166"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CHỦ NGHĨA DUY VẬT SIÊU HÌNH</a:t>
            </a:r>
          </a:p>
        </p:txBody>
      </p:sp>
      <p:sp>
        <p:nvSpPr>
          <p:cNvPr id="5" name="!!rule"/>
          <p:cNvSpPr/>
          <p:nvPr/>
        </p:nvSpPr>
        <p:spPr>
          <a:xfrm>
            <a:off x="5367534" y="1133856"/>
            <a:ext cx="6458401"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6" name="Picture 5" descr="4c3fc234ad6c8758.jpg"/>
          <p:cNvPicPr>
            <a:picLocks noChangeAspect="1"/>
          </p:cNvPicPr>
          <p:nvPr/>
        </p:nvPicPr>
        <p:blipFill>
          <a:blip r:embed="rId3"/>
          <a:srcRect l="6731" r="6731"/>
          <a:stretch>
            <a:fillRect/>
          </a:stretch>
        </p:blipFill>
        <p:spPr>
          <a:xfrm>
            <a:off x="502920" y="1463040"/>
            <a:ext cx="2743200" cy="2377440"/>
          </a:xfrm>
          <a:prstGeom prst="hexagon">
            <a:avLst/>
          </a:prstGeom>
          <a:ln w="28575">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pic>
        <p:nvPicPr>
          <p:cNvPr id="7" name="Picture 6" descr="414f3f1ceb2f299d.jpg"/>
          <p:cNvPicPr>
            <a:picLocks noChangeAspect="1"/>
          </p:cNvPicPr>
          <p:nvPr/>
        </p:nvPicPr>
        <p:blipFill>
          <a:blip r:embed="rId4"/>
          <a:srcRect l="17717" r="17717"/>
          <a:stretch>
            <a:fillRect/>
          </a:stretch>
        </p:blipFill>
        <p:spPr>
          <a:xfrm>
            <a:off x="2697480" y="2743200"/>
            <a:ext cx="2743200" cy="2377440"/>
          </a:xfrm>
          <a:prstGeom prst="hexagon">
            <a:avLst/>
          </a:prstGeom>
          <a:ln w="28575">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pic>
        <p:nvPicPr>
          <p:cNvPr id="8" name="Picture 7" descr="bebde77e4727282f.jpg"/>
          <p:cNvPicPr>
            <a:picLocks noChangeAspect="1"/>
          </p:cNvPicPr>
          <p:nvPr/>
        </p:nvPicPr>
        <p:blipFill>
          <a:blip r:embed="rId5"/>
          <a:srcRect l="11689" r="11689"/>
          <a:stretch>
            <a:fillRect/>
          </a:stretch>
        </p:blipFill>
        <p:spPr>
          <a:xfrm>
            <a:off x="502920" y="4023360"/>
            <a:ext cx="2743200" cy="2377440"/>
          </a:xfrm>
          <a:prstGeom prst="hexagon">
            <a:avLst/>
          </a:prstGeom>
          <a:ln w="28575">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sp>
        <p:nvSpPr>
          <p:cNvPr id="9" name="Snip Diagonal Corner Rectangle 8"/>
          <p:cNvSpPr/>
          <p:nvPr/>
        </p:nvSpPr>
        <p:spPr>
          <a:xfrm>
            <a:off x="5715000" y="1554480"/>
            <a:ext cx="5928055" cy="658368"/>
          </a:xfrm>
          <a:prstGeom prst="snip2DiagRect">
            <a:avLst>
              <a:gd name="adj1" fmla="val 0"/>
              <a:gd name="adj2" fmla="val 2222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731520" tIns="36576" bIns="36576" wrap="square"/>
          <a:lstStyle/>
          <a:p>
            <a:pPr algn="l">
              <a:lnSpc>
                <a:spcPct val="108000"/>
              </a:lnSpc>
            </a:pPr>
            <a:r>
              <a:rPr sz="1300" b="0" i="0">
                <a:solidFill>
                  <a:srgbClr val="FFF4E2"/>
                </a:solidFill>
                <a:latin typeface="Be Vietnam Pro"/>
                <a:ea typeface="Be Vietnam Pro"/>
                <a:cs typeface="Be Vietnam Pro"/>
              </a:rPr>
              <a:t>Thể hiện rõ từ thế kỷ XV đến thế kỷ XVIII</a:t>
            </a:r>
          </a:p>
        </p:txBody>
      </p:sp>
      <p:sp>
        <p:nvSpPr>
          <p:cNvPr id="10" name="Chevron 9"/>
          <p:cNvSpPr/>
          <p:nvPr/>
        </p:nvSpPr>
        <p:spPr>
          <a:xfrm rot="5400000">
            <a:off x="11076127" y="1728216"/>
            <a:ext cx="310896" cy="248717"/>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1" name="Snip Diagonal Corner Rectangle 10"/>
          <p:cNvSpPr/>
          <p:nvPr/>
        </p:nvSpPr>
        <p:spPr>
          <a:xfrm>
            <a:off x="5715000" y="2432304"/>
            <a:ext cx="5928055" cy="658368"/>
          </a:xfrm>
          <a:prstGeom prst="snip2DiagRect">
            <a:avLst>
              <a:gd name="adj1" fmla="val 0"/>
              <a:gd name="adj2" fmla="val 2222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731520" tIns="36576" bIns="36576" wrap="square"/>
          <a:lstStyle/>
          <a:p>
            <a:pPr algn="l">
              <a:lnSpc>
                <a:spcPct val="108000"/>
              </a:lnSpc>
            </a:pPr>
            <a:r>
              <a:rPr sz="1300" b="0" i="0">
                <a:solidFill>
                  <a:srgbClr val="FFF4E2"/>
                </a:solidFill>
                <a:latin typeface="Be Vietnam Pro"/>
                <a:ea typeface="Be Vietnam Pro"/>
                <a:cs typeface="Be Vietnam Pro"/>
              </a:rPr>
              <a:t>Chịu ảnh hưởng mạnh của phương pháp tư duy siêu hình, máy móc</a:t>
            </a:r>
          </a:p>
        </p:txBody>
      </p:sp>
      <p:sp>
        <p:nvSpPr>
          <p:cNvPr id="12" name="Chevron 11"/>
          <p:cNvSpPr/>
          <p:nvPr/>
        </p:nvSpPr>
        <p:spPr>
          <a:xfrm rot="5400000">
            <a:off x="11076127" y="2606040"/>
            <a:ext cx="310896" cy="248717"/>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Snip Diagonal Corner Rectangle 12"/>
          <p:cNvSpPr/>
          <p:nvPr/>
        </p:nvSpPr>
        <p:spPr>
          <a:xfrm>
            <a:off x="5715000" y="3310128"/>
            <a:ext cx="5928055" cy="658368"/>
          </a:xfrm>
          <a:prstGeom prst="snip2DiagRect">
            <a:avLst>
              <a:gd name="adj1" fmla="val 0"/>
              <a:gd name="adj2" fmla="val 2222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731520" tIns="36576" bIns="36576" wrap="square"/>
          <a:lstStyle/>
          <a:p>
            <a:pPr algn="l">
              <a:lnSpc>
                <a:spcPct val="108000"/>
              </a:lnSpc>
            </a:pPr>
            <a:r>
              <a:rPr sz="1300" b="0" i="0">
                <a:solidFill>
                  <a:srgbClr val="FFF4E2"/>
                </a:solidFill>
                <a:latin typeface="Be Vietnam Pro"/>
                <a:ea typeface="Be Vietnam Pro"/>
                <a:cs typeface="Be Vietnam Pro"/>
              </a:rPr>
              <a:t>Nhìn thế giới như một cỗ máy khổng lồ</a:t>
            </a:r>
          </a:p>
        </p:txBody>
      </p:sp>
      <p:sp>
        <p:nvSpPr>
          <p:cNvPr id="14" name="Chevron 13"/>
          <p:cNvSpPr/>
          <p:nvPr/>
        </p:nvSpPr>
        <p:spPr>
          <a:xfrm rot="5400000">
            <a:off x="11076127" y="3483864"/>
            <a:ext cx="310896" cy="248717"/>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Snip Diagonal Corner Rectangle 14"/>
          <p:cNvSpPr/>
          <p:nvPr/>
        </p:nvSpPr>
        <p:spPr>
          <a:xfrm>
            <a:off x="5715000" y="4187952"/>
            <a:ext cx="5928055" cy="658368"/>
          </a:xfrm>
          <a:prstGeom prst="snip2DiagRect">
            <a:avLst>
              <a:gd name="adj1" fmla="val 0"/>
              <a:gd name="adj2" fmla="val 2222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731520" tIns="36576" bIns="36576" wrap="square"/>
          <a:lstStyle/>
          <a:p>
            <a:pPr algn="l">
              <a:lnSpc>
                <a:spcPct val="108000"/>
              </a:lnSpc>
            </a:pPr>
            <a:r>
              <a:rPr sz="1300" b="0" i="0">
                <a:solidFill>
                  <a:srgbClr val="FFF4E2"/>
                </a:solidFill>
                <a:latin typeface="Be Vietnam Pro"/>
                <a:ea typeface="Be Vietnam Pro"/>
                <a:cs typeface="Be Vietnam Pro"/>
              </a:rPr>
              <a:t>Xem các bộ phận tồn tại biệt lập, tĩnh tại</a:t>
            </a:r>
          </a:p>
        </p:txBody>
      </p:sp>
      <p:sp>
        <p:nvSpPr>
          <p:cNvPr id="16" name="Chevron 15"/>
          <p:cNvSpPr/>
          <p:nvPr/>
        </p:nvSpPr>
        <p:spPr>
          <a:xfrm rot="5400000">
            <a:off x="11076127" y="4361688"/>
            <a:ext cx="310896" cy="248717"/>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7" name="Snip Diagonal Corner Rectangle 16"/>
          <p:cNvSpPr/>
          <p:nvPr/>
        </p:nvSpPr>
        <p:spPr>
          <a:xfrm>
            <a:off x="5715000" y="5065776"/>
            <a:ext cx="5928055" cy="658368"/>
          </a:xfrm>
          <a:prstGeom prst="snip2DiagRect">
            <a:avLst>
              <a:gd name="adj1" fmla="val 0"/>
              <a:gd name="adj2" fmla="val 2222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731520" tIns="36576" bIns="36576" wrap="square"/>
          <a:lstStyle/>
          <a:p>
            <a:pPr algn="l">
              <a:lnSpc>
                <a:spcPct val="108000"/>
              </a:lnSpc>
            </a:pPr>
            <a:r>
              <a:rPr sz="1300" b="0" i="0">
                <a:solidFill>
                  <a:srgbClr val="FFF4E2"/>
                </a:solidFill>
                <a:latin typeface="Be Vietnam Pro"/>
                <a:ea typeface="Be Vietnam Pro"/>
                <a:cs typeface="Be Vietnam Pro"/>
              </a:rPr>
              <a:t>Góp phần đẩy lùi thế giới quan duy tâm và tôn giáo</a:t>
            </a:r>
          </a:p>
        </p:txBody>
      </p:sp>
      <p:sp>
        <p:nvSpPr>
          <p:cNvPr id="18" name="Chevron 17"/>
          <p:cNvSpPr/>
          <p:nvPr/>
        </p:nvSpPr>
        <p:spPr>
          <a:xfrm rot="5400000">
            <a:off x="11076127" y="5239512"/>
            <a:ext cx="310896" cy="248717"/>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TextBox 18"/>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10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53" presetClass="entr" presetSubtype="16"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600" fill="hold"/>
                                        <p:tgtEl>
                                          <p:spTgt spid="6"/>
                                        </p:tgtEl>
                                        <p:attrNameLst>
                                          <p:attrName>ppt_w</p:attrName>
                                        </p:attrNameLst>
                                      </p:cBhvr>
                                      <p:tavLst>
                                        <p:tav tm="0">
                                          <p:val>
                                            <p:strVal val="#ppt_w*0.7"/>
                                          </p:val>
                                        </p:tav>
                                        <p:tav tm="100000">
                                          <p:val>
                                            <p:strVal val="#ppt_w"/>
                                          </p:val>
                                        </p:tav>
                                      </p:tavLst>
                                    </p:anim>
                                    <p:anim calcmode="lin" valueType="num">
                                      <p:cBhvr additive="base">
                                        <p:cTn id="17" dur="600" fill="hold"/>
                                        <p:tgtEl>
                                          <p:spTgt spid="6"/>
                                        </p:tgtEl>
                                        <p:attrNameLst>
                                          <p:attrName>ppt_h</p:attrName>
                                        </p:attrNameLst>
                                      </p:cBhvr>
                                      <p:tavLst>
                                        <p:tav tm="0">
                                          <p:val>
                                            <p:strVal val="#ppt_h*0.7"/>
                                          </p:val>
                                        </p:tav>
                                        <p:tav tm="100000">
                                          <p:val>
                                            <p:strVal val="#ppt_h"/>
                                          </p:val>
                                        </p:tav>
                                      </p:tavLst>
                                    </p:anim>
                                    <p:animEffect transition="in" filter="fade">
                                      <p:cBhvr>
                                        <p:cTn id="18" dur="600"/>
                                        <p:tgtEl>
                                          <p:spTgt spid="6"/>
                                        </p:tgtEl>
                                      </p:cBhvr>
                                    </p:animEffect>
                                  </p:childTnLst>
                                </p:cTn>
                              </p:par>
                              <p:par>
                                <p:cTn id="19" presetID="53" presetClass="entr" presetSubtype="16" fill="hold" grpId="0" nodeType="withEffect">
                                  <p:stCondLst>
                                    <p:cond delay="5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p:tgtEl>
                                          <p:spTgt spid="7"/>
                                        </p:tgtEl>
                                        <p:attrNameLst>
                                          <p:attrName>ppt_w</p:attrName>
                                        </p:attrNameLst>
                                      </p:cBhvr>
                                      <p:tavLst>
                                        <p:tav tm="0">
                                          <p:val>
                                            <p:strVal val="#ppt_w*0.7"/>
                                          </p:val>
                                        </p:tav>
                                        <p:tav tm="100000">
                                          <p:val>
                                            <p:strVal val="#ppt_w"/>
                                          </p:val>
                                        </p:tav>
                                      </p:tavLst>
                                    </p:anim>
                                    <p:anim calcmode="lin" valueType="num">
                                      <p:cBhvr additive="base">
                                        <p:cTn id="22" dur="600" fill="hold"/>
                                        <p:tgtEl>
                                          <p:spTgt spid="7"/>
                                        </p:tgtEl>
                                        <p:attrNameLst>
                                          <p:attrName>ppt_h</p:attrName>
                                        </p:attrNameLst>
                                      </p:cBhvr>
                                      <p:tavLst>
                                        <p:tav tm="0">
                                          <p:val>
                                            <p:strVal val="#ppt_h*0.7"/>
                                          </p:val>
                                        </p:tav>
                                        <p:tav tm="100000">
                                          <p:val>
                                            <p:strVal val="#ppt_h"/>
                                          </p:val>
                                        </p:tav>
                                      </p:tavLst>
                                    </p:anim>
                                    <p:animEffect transition="in" filter="fade">
                                      <p:cBhvr>
                                        <p:cTn id="23" dur="600"/>
                                        <p:tgtEl>
                                          <p:spTgt spid="7"/>
                                        </p:tgtEl>
                                      </p:cBhvr>
                                    </p:animEffect>
                                  </p:childTnLst>
                                </p:cTn>
                              </p:par>
                              <p:par>
                                <p:cTn id="24" presetID="22" presetClass="entr" presetSubtype="8" fill="hold" grpId="0" nodeType="withEffect">
                                  <p:stCondLst>
                                    <p:cond delay="60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60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53" presetClass="entr" presetSubtype="16" fill="hold" grpId="0" nodeType="withEffect">
                                  <p:stCondLst>
                                    <p:cond delay="70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600" fill="hold"/>
                                        <p:tgtEl>
                                          <p:spTgt spid="8"/>
                                        </p:tgtEl>
                                        <p:attrNameLst>
                                          <p:attrName>ppt_w</p:attrName>
                                        </p:attrNameLst>
                                      </p:cBhvr>
                                      <p:tavLst>
                                        <p:tav tm="0">
                                          <p:val>
                                            <p:strVal val="#ppt_w*0.7"/>
                                          </p:val>
                                        </p:tav>
                                        <p:tav tm="100000">
                                          <p:val>
                                            <p:strVal val="#ppt_w"/>
                                          </p:val>
                                        </p:tav>
                                      </p:tavLst>
                                    </p:anim>
                                    <p:anim calcmode="lin" valueType="num">
                                      <p:cBhvr additive="base">
                                        <p:cTn id="33" dur="600" fill="hold"/>
                                        <p:tgtEl>
                                          <p:spTgt spid="8"/>
                                        </p:tgtEl>
                                        <p:attrNameLst>
                                          <p:attrName>ppt_h</p:attrName>
                                        </p:attrNameLst>
                                      </p:cBhvr>
                                      <p:tavLst>
                                        <p:tav tm="0">
                                          <p:val>
                                            <p:strVal val="#ppt_h*0.7"/>
                                          </p:val>
                                        </p:tav>
                                        <p:tav tm="100000">
                                          <p:val>
                                            <p:strVal val="#ppt_h"/>
                                          </p:val>
                                        </p:tav>
                                      </p:tavLst>
                                    </p:anim>
                                    <p:animEffect transition="in" filter="fade">
                                      <p:cBhvr>
                                        <p:cTn id="34" dur="600"/>
                                        <p:tgtEl>
                                          <p:spTgt spid="8"/>
                                        </p:tgtEl>
                                      </p:cBhvr>
                                    </p:animEffect>
                                  </p:childTnLst>
                                </p:cTn>
                              </p:par>
                              <p:par>
                                <p:cTn id="35" presetID="22" presetClass="entr" presetSubtype="8" fill="hold" grpId="0" nodeType="withEffect">
                                  <p:stCondLst>
                                    <p:cond delay="75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par>
                                <p:cTn id="38" presetID="22" presetClass="entr" presetSubtype="8" fill="hold" grpId="0" nodeType="withEffect">
                                  <p:stCondLst>
                                    <p:cond delay="75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par>
                                <p:cTn id="41" presetID="22" presetClass="entr" presetSubtype="8" fill="hold" grpId="0" nodeType="withEffect">
                                  <p:stCondLst>
                                    <p:cond delay="90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par>
                                <p:cTn id="44" presetID="22" presetClass="entr" presetSubtype="8" fill="hold" grpId="0" nodeType="withEffect">
                                  <p:stCondLst>
                                    <p:cond delay="90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par>
                                <p:cTn id="47" presetID="22" presetClass="entr" presetSubtype="8" fill="hold" grpId="0" nodeType="withEffect">
                                  <p:stCondLst>
                                    <p:cond delay="105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par>
                                <p:cTn id="50" presetID="22" presetClass="entr" presetSubtype="8" fill="hold" grpId="0" nodeType="withEffect">
                                  <p:stCondLst>
                                    <p:cond delay="105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par>
                                <p:cTn id="53" presetID="22" presetClass="entr" presetSubtype="8" fill="hold" grpId="0" nodeType="withEffect">
                                  <p:stCondLst>
                                    <p:cond delay="120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par>
                                <p:cTn id="56" presetID="22" presetClass="entr" presetSubtype="8" fill="hold" grpId="0" nodeType="withEffect">
                                  <p:stCondLst>
                                    <p:cond delay="120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2</a:t>
            </a:r>
          </a:p>
        </p:txBody>
      </p:sp>
      <p:sp>
        <p:nvSpPr>
          <p:cNvPr id="4" name="!!tab"/>
          <p:cNvSpPr/>
          <p:nvPr/>
        </p:nvSpPr>
        <p:spPr>
          <a:xfrm>
            <a:off x="548640" y="566928"/>
            <a:ext cx="4994360"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CHỦ NGHĨA DUY VẬT BIỆN CHỨNG</a:t>
            </a:r>
          </a:p>
        </p:txBody>
      </p:sp>
      <p:sp>
        <p:nvSpPr>
          <p:cNvPr id="5" name="!!rule"/>
          <p:cNvSpPr/>
          <p:nvPr/>
        </p:nvSpPr>
        <p:spPr>
          <a:xfrm>
            <a:off x="5652728" y="1133856"/>
            <a:ext cx="6173207"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6" name="Picture 5" descr="8d6c1e77885f4286.jpg"/>
          <p:cNvPicPr>
            <a:picLocks noChangeAspect="1"/>
          </p:cNvPicPr>
          <p:nvPr/>
        </p:nvPicPr>
        <p:blipFill>
          <a:blip r:embed="rId3"/>
          <a:srcRect t="1992" b="1992"/>
          <a:stretch>
            <a:fillRect/>
          </a:stretch>
        </p:blipFill>
        <p:spPr>
          <a:xfrm>
            <a:off x="548640" y="1463040"/>
            <a:ext cx="3624986" cy="2331720"/>
          </a:xfrm>
          <a:prstGeom prst="snip2DiagRect">
            <a:avLst>
              <a:gd name="adj1" fmla="val 0"/>
              <a:gd name="adj2" fmla="val 8627"/>
            </a:avLst>
          </a:prstGeom>
          <a:ln w="1905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pic>
        <p:nvPicPr>
          <p:cNvPr id="7" name="Picture 6" descr="d640089d4b060a53.jpg"/>
          <p:cNvPicPr>
            <a:picLocks noChangeAspect="1"/>
          </p:cNvPicPr>
          <p:nvPr/>
        </p:nvPicPr>
        <p:blipFill>
          <a:blip r:embed="rId4"/>
          <a:srcRect t="7118" b="7118"/>
          <a:stretch>
            <a:fillRect/>
          </a:stretch>
        </p:blipFill>
        <p:spPr>
          <a:xfrm>
            <a:off x="4283354" y="1463040"/>
            <a:ext cx="3624986" cy="2331720"/>
          </a:xfrm>
          <a:prstGeom prst="snip2DiagRect">
            <a:avLst>
              <a:gd name="adj1" fmla="val 0"/>
              <a:gd name="adj2" fmla="val 8627"/>
            </a:avLst>
          </a:prstGeom>
          <a:ln w="1905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pic>
        <p:nvPicPr>
          <p:cNvPr id="8" name="Picture 7" descr="87f33af46ed2ce70.jpg"/>
          <p:cNvPicPr>
            <a:picLocks noChangeAspect="1"/>
          </p:cNvPicPr>
          <p:nvPr/>
        </p:nvPicPr>
        <p:blipFill>
          <a:blip r:embed="rId5"/>
          <a:srcRect t="1781" b="1781"/>
          <a:stretch>
            <a:fillRect/>
          </a:stretch>
        </p:blipFill>
        <p:spPr>
          <a:xfrm>
            <a:off x="8018069" y="1463040"/>
            <a:ext cx="3624986" cy="2331720"/>
          </a:xfrm>
          <a:prstGeom prst="snip2DiagRect">
            <a:avLst>
              <a:gd name="adj1" fmla="val 0"/>
              <a:gd name="adj2" fmla="val 8627"/>
            </a:avLst>
          </a:prstGeom>
          <a:ln w="1905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sp>
        <p:nvSpPr>
          <p:cNvPr id="9" name="Snip Diagonal Corner Rectangle 8"/>
          <p:cNvSpPr/>
          <p:nvPr/>
        </p:nvSpPr>
        <p:spPr>
          <a:xfrm>
            <a:off x="548640" y="4160520"/>
            <a:ext cx="3515258" cy="804672"/>
          </a:xfrm>
          <a:prstGeom prst="snip2DiagRect">
            <a:avLst>
              <a:gd name="adj1" fmla="val 0"/>
              <a:gd name="adj2" fmla="val 18181"/>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0000"/>
              </a:lnSpc>
            </a:pPr>
            <a:r>
              <a:rPr sz="1250" b="0" i="0">
                <a:solidFill>
                  <a:srgbClr val="FFF4E2"/>
                </a:solidFill>
                <a:latin typeface="Be Vietnam Pro Medium"/>
                <a:ea typeface="Be Vietnam Pro Medium"/>
                <a:cs typeface="Be Vietnam Pro Medium"/>
              </a:rPr>
              <a:t>Do C. Mác và Ph. Ăngghen xây dựng, V.I. Lênin phát triển</a:t>
            </a:r>
          </a:p>
        </p:txBody>
      </p:sp>
      <p:sp>
        <p:nvSpPr>
          <p:cNvPr id="10" name="Snip Diagonal Corner Rectangle 9"/>
          <p:cNvSpPr/>
          <p:nvPr/>
        </p:nvSpPr>
        <p:spPr>
          <a:xfrm>
            <a:off x="4338218" y="4160520"/>
            <a:ext cx="3515258" cy="804672"/>
          </a:xfrm>
          <a:prstGeom prst="snip2DiagRect">
            <a:avLst>
              <a:gd name="adj1" fmla="val 0"/>
              <a:gd name="adj2" fmla="val 18181"/>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0000"/>
              </a:lnSpc>
            </a:pPr>
            <a:r>
              <a:rPr sz="1250" b="0" i="0">
                <a:solidFill>
                  <a:srgbClr val="FFF4E2"/>
                </a:solidFill>
                <a:latin typeface="Be Vietnam Pro Medium"/>
                <a:ea typeface="Be Vietnam Pro Medium"/>
                <a:cs typeface="Be Vietnam Pro Medium"/>
              </a:rPr>
              <a:t>Khắc phục hạn chế của hai hình thức duy vật trước đó</a:t>
            </a:r>
          </a:p>
        </p:txBody>
      </p:sp>
      <p:sp>
        <p:nvSpPr>
          <p:cNvPr id="11" name="Snip Diagonal Corner Rectangle 10"/>
          <p:cNvSpPr/>
          <p:nvPr/>
        </p:nvSpPr>
        <p:spPr>
          <a:xfrm>
            <a:off x="8127797" y="4160520"/>
            <a:ext cx="3515258" cy="804672"/>
          </a:xfrm>
          <a:prstGeom prst="snip2DiagRect">
            <a:avLst>
              <a:gd name="adj1" fmla="val 0"/>
              <a:gd name="adj2" fmla="val 18181"/>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0000"/>
              </a:lnSpc>
            </a:pPr>
            <a:r>
              <a:rPr sz="1250" b="0" i="0">
                <a:solidFill>
                  <a:srgbClr val="FFF4E2"/>
                </a:solidFill>
                <a:latin typeface="Be Vietnam Pro Medium"/>
                <a:ea typeface="Be Vietnam Pro Medium"/>
                <a:cs typeface="Be Vietnam Pro Medium"/>
              </a:rPr>
              <a:t>Kế thừa tinh hoa học thuyết trước và thành tựu khoa học đương thời</a:t>
            </a:r>
          </a:p>
        </p:txBody>
      </p:sp>
      <p:sp>
        <p:nvSpPr>
          <p:cNvPr id="12" name="Snip Diagonal Corner Rectangle 11"/>
          <p:cNvSpPr/>
          <p:nvPr/>
        </p:nvSpPr>
        <p:spPr>
          <a:xfrm>
            <a:off x="2443429" y="5166360"/>
            <a:ext cx="3515258" cy="804672"/>
          </a:xfrm>
          <a:prstGeom prst="snip2DiagRect">
            <a:avLst>
              <a:gd name="adj1" fmla="val 0"/>
              <a:gd name="adj2" fmla="val 18181"/>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0000"/>
              </a:lnSpc>
            </a:pPr>
            <a:r>
              <a:rPr sz="1250" b="0" i="0">
                <a:solidFill>
                  <a:srgbClr val="FFF4E2"/>
                </a:solidFill>
                <a:latin typeface="Be Vietnam Pro Medium"/>
                <a:ea typeface="Be Vietnam Pro Medium"/>
                <a:cs typeface="Be Vietnam Pro Medium"/>
              </a:rPr>
              <a:t>Đỉnh cao trong sự phát triển của chủ nghĩa duy vật</a:t>
            </a:r>
          </a:p>
        </p:txBody>
      </p:sp>
      <p:sp>
        <p:nvSpPr>
          <p:cNvPr id="13" name="Snip Diagonal Corner Rectangle 12"/>
          <p:cNvSpPr/>
          <p:nvPr/>
        </p:nvSpPr>
        <p:spPr>
          <a:xfrm>
            <a:off x="6233008" y="5166360"/>
            <a:ext cx="3515258" cy="804672"/>
          </a:xfrm>
          <a:prstGeom prst="snip2DiagRect">
            <a:avLst>
              <a:gd name="adj1" fmla="val 0"/>
              <a:gd name="adj2" fmla="val 18181"/>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10000"/>
              </a:lnSpc>
            </a:pPr>
            <a:r>
              <a:rPr sz="1250" b="0" i="0">
                <a:solidFill>
                  <a:srgbClr val="FFF4E2"/>
                </a:solidFill>
                <a:latin typeface="Be Vietnam Pro Medium"/>
                <a:ea typeface="Be Vietnam Pro Medium"/>
                <a:cs typeface="Be Vietnam Pro Medium"/>
              </a:rPr>
              <a:t>Vừa phản ánh đúng hiện thực, vừa định hướng cải tạo hiện thực</a:t>
            </a:r>
          </a:p>
        </p:txBody>
      </p:sp>
      <p:sp>
        <p:nvSpPr>
          <p:cNvPr id="14" name="TextBox 13"/>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11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22" presetClass="entr" presetSubtype="8" fill="hold" grpId="0" nodeType="withEffect">
                                  <p:stCondLst>
                                    <p:cond delay="35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600"/>
                                        <p:tgtEl>
                                          <p:spTgt spid="6"/>
                                        </p:tgtEl>
                                      </p:cBhvr>
                                    </p:animEffect>
                                  </p:childTnLst>
                                </p:cTn>
                              </p:par>
                              <p:par>
                                <p:cTn id="17" presetID="22" presetClass="entr" presetSubtype="8" fill="hold" grpId="0" nodeType="withEffect">
                                  <p:stCondLst>
                                    <p:cond delay="55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600"/>
                                        <p:tgtEl>
                                          <p:spTgt spid="7"/>
                                        </p:tgtEl>
                                      </p:cBhvr>
                                    </p:animEffect>
                                  </p:childTnLst>
                                </p:cTn>
                              </p:par>
                              <p:par>
                                <p:cTn id="20" presetID="22" presetClass="entr" presetSubtype="8" fill="hold" grpId="0" nodeType="withEffect">
                                  <p:stCondLst>
                                    <p:cond delay="75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600"/>
                                        <p:tgtEl>
                                          <p:spTgt spid="8"/>
                                        </p:tgtEl>
                                      </p:cBhvr>
                                    </p:animEffect>
                                  </p:childTnLst>
                                </p:cTn>
                              </p:par>
                              <p:par>
                                <p:cTn id="23" presetID="42" presetClass="entr" presetSubtype="0" fill="hold" grpId="0" nodeType="withEffect">
                                  <p:stCondLst>
                                    <p:cond delay="10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anim calcmode="lin" valueType="num">
                                      <p:cBhvr additive="base">
                                        <p:cTn id="26" dur="450" fill="hold"/>
                                        <p:tgtEl>
                                          <p:spTgt spid="9"/>
                                        </p:tgtEl>
                                        <p:attrNameLst>
                                          <p:attrName>ppt_x</p:attrName>
                                        </p:attrNameLst>
                                      </p:cBhvr>
                                      <p:tavLst>
                                        <p:tav tm="0">
                                          <p:val>
                                            <p:strVal val="#ppt_x"/>
                                          </p:val>
                                        </p:tav>
                                        <p:tav tm="100000">
                                          <p:val>
                                            <p:strVal val="#ppt_x"/>
                                          </p:val>
                                        </p:tav>
                                      </p:tavLst>
                                    </p:anim>
                                    <p:anim calcmode="lin" valueType="num">
                                      <p:cBhvr additive="base">
                                        <p:cTn id="27" dur="45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113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anim calcmode="lin" valueType="num">
                                      <p:cBhvr additive="base">
                                        <p:cTn id="31" dur="450" fill="hold"/>
                                        <p:tgtEl>
                                          <p:spTgt spid="10"/>
                                        </p:tgtEl>
                                        <p:attrNameLst>
                                          <p:attrName>ppt_x</p:attrName>
                                        </p:attrNameLst>
                                      </p:cBhvr>
                                      <p:tavLst>
                                        <p:tav tm="0">
                                          <p:val>
                                            <p:strVal val="#ppt_x"/>
                                          </p:val>
                                        </p:tav>
                                        <p:tav tm="100000">
                                          <p:val>
                                            <p:strVal val="#ppt_x"/>
                                          </p:val>
                                        </p:tav>
                                      </p:tavLst>
                                    </p:anim>
                                    <p:anim calcmode="lin" valueType="num">
                                      <p:cBhvr additive="base">
                                        <p:cTn id="32" dur="45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1259"/>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anim calcmode="lin" valueType="num">
                                      <p:cBhvr additive="base">
                                        <p:cTn id="36" dur="450" fill="hold"/>
                                        <p:tgtEl>
                                          <p:spTgt spid="11"/>
                                        </p:tgtEl>
                                        <p:attrNameLst>
                                          <p:attrName>ppt_x</p:attrName>
                                        </p:attrNameLst>
                                      </p:cBhvr>
                                      <p:tavLst>
                                        <p:tav tm="0">
                                          <p:val>
                                            <p:strVal val="#ppt_x"/>
                                          </p:val>
                                        </p:tav>
                                        <p:tav tm="100000">
                                          <p:val>
                                            <p:strVal val="#ppt_x"/>
                                          </p:val>
                                        </p:tav>
                                      </p:tavLst>
                                    </p:anim>
                                    <p:anim calcmode="lin" valueType="num">
                                      <p:cBhvr additive="base">
                                        <p:cTn id="37" dur="45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389"/>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50"/>
                                        <p:tgtEl>
                                          <p:spTgt spid="12"/>
                                        </p:tgtEl>
                                      </p:cBhvr>
                                    </p:animEffect>
                                    <p:anim calcmode="lin" valueType="num">
                                      <p:cBhvr additive="base">
                                        <p:cTn id="41" dur="450" fill="hold"/>
                                        <p:tgtEl>
                                          <p:spTgt spid="12"/>
                                        </p:tgtEl>
                                        <p:attrNameLst>
                                          <p:attrName>ppt_x</p:attrName>
                                        </p:attrNameLst>
                                      </p:cBhvr>
                                      <p:tavLst>
                                        <p:tav tm="0">
                                          <p:val>
                                            <p:strVal val="#ppt_x"/>
                                          </p:val>
                                        </p:tav>
                                        <p:tav tm="100000">
                                          <p:val>
                                            <p:strVal val="#ppt_x"/>
                                          </p:val>
                                        </p:tav>
                                      </p:tavLst>
                                    </p:anim>
                                    <p:anim calcmode="lin" valueType="num">
                                      <p:cBhvr additive="base">
                                        <p:cTn id="42" dur="45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519"/>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450"/>
                                        <p:tgtEl>
                                          <p:spTgt spid="13"/>
                                        </p:tgtEl>
                                      </p:cBhvr>
                                    </p:animEffect>
                                    <p:anim calcmode="lin" valueType="num">
                                      <p:cBhvr additive="base">
                                        <p:cTn id="46" dur="450" fill="hold"/>
                                        <p:tgtEl>
                                          <p:spTgt spid="13"/>
                                        </p:tgtEl>
                                        <p:attrNameLst>
                                          <p:attrName>ppt_x</p:attrName>
                                        </p:attrNameLst>
                                      </p:cBhvr>
                                      <p:tavLst>
                                        <p:tav tm="0">
                                          <p:val>
                                            <p:strVal val="#ppt_x"/>
                                          </p:val>
                                        </p:tav>
                                        <p:tav tm="100000">
                                          <p:val>
                                            <p:strVal val="#ppt_x"/>
                                          </p:val>
                                        </p:tav>
                                      </p:tavLst>
                                    </p:anim>
                                    <p:anim calcmode="lin" valueType="num">
                                      <p:cBhvr additive="base">
                                        <p:cTn id="47" dur="450" fill="hold"/>
                                        <p:tgtEl>
                                          <p:spTgt spid="1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pic>
        <p:nvPicPr>
          <p:cNvPr id="3" name="Picture 2" descr="glow_FFC560_30_1.5.png"/>
          <p:cNvPicPr>
            <a:picLocks noChangeAspect="1"/>
          </p:cNvPicPr>
          <p:nvPr/>
        </p:nvPicPr>
        <p:blipFill>
          <a:blip r:embed="rId3"/>
          <a:stretch>
            <a:fillRect/>
          </a:stretch>
        </p:blipFill>
        <p:spPr>
          <a:xfrm>
            <a:off x="5375486" y="-228600"/>
            <a:ext cx="7680960" cy="7680960"/>
          </a:xfrm>
          <a:prstGeom prst="rect">
            <a:avLst/>
          </a:prstGeom>
        </p:spPr>
      </p:pic>
      <p:pic>
        <p:nvPicPr>
          <p:cNvPr id="4" name="!!medal" descr="medal.png"/>
          <p:cNvPicPr>
            <a:picLocks noChangeAspect="1"/>
          </p:cNvPicPr>
          <p:nvPr/>
        </p:nvPicPr>
        <p:blipFill>
          <a:blip r:embed="rId4"/>
          <a:srcRect/>
          <a:stretch>
            <a:fillRect/>
          </a:stretch>
        </p:blipFill>
        <p:spPr>
          <a:xfrm>
            <a:off x="6537960" y="1051560"/>
            <a:ext cx="5356012" cy="5120640"/>
          </a:xfrm>
          <a:prstGeom prst="rect">
            <a:avLst/>
          </a:prstGeom>
        </p:spPr>
      </p:pic>
      <p:sp>
        <p:nvSpPr>
          <p:cNvPr id="5"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2</a:t>
            </a:r>
          </a:p>
        </p:txBody>
      </p:sp>
      <p:sp>
        <p:nvSpPr>
          <p:cNvPr id="6" name="!!tab"/>
          <p:cNvSpPr/>
          <p:nvPr/>
        </p:nvSpPr>
        <p:spPr>
          <a:xfrm>
            <a:off x="548640" y="566928"/>
            <a:ext cx="3447213"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CHỦ NGHĨA DUY TÂM</a:t>
            </a:r>
          </a:p>
        </p:txBody>
      </p:sp>
      <p:sp>
        <p:nvSpPr>
          <p:cNvPr id="7" name="!!rule"/>
          <p:cNvSpPr/>
          <p:nvPr/>
        </p:nvSpPr>
        <p:spPr>
          <a:xfrm>
            <a:off x="4105581" y="1133856"/>
            <a:ext cx="7720355"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8" name="Snip Diagonal Corner Rectangle 7"/>
          <p:cNvSpPr/>
          <p:nvPr/>
        </p:nvSpPr>
        <p:spPr>
          <a:xfrm>
            <a:off x="548640" y="1600200"/>
            <a:ext cx="5120640" cy="777240"/>
          </a:xfrm>
          <a:prstGeom prst="snip2DiagRect">
            <a:avLst>
              <a:gd name="adj1" fmla="val 0"/>
              <a:gd name="adj2" fmla="val 18823"/>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228600" tIns="36576" bIns="36576" wrap="square"/>
          <a:lstStyle/>
          <a:p>
            <a:pPr algn="l">
              <a:lnSpc>
                <a:spcPct val="110000"/>
              </a:lnSpc>
            </a:pPr>
            <a:r>
              <a:rPr sz="1250" b="0" i="0">
                <a:solidFill>
                  <a:srgbClr val="FFF4E2"/>
                </a:solidFill>
                <a:latin typeface="Be Vietnam Pro"/>
                <a:ea typeface="Be Vietnam Pro"/>
                <a:cs typeface="Be Vietnam Pro"/>
              </a:rPr>
              <a:t>Ý thức, tinh thần, ý niệm, cảm giác là cái có trước giới tự nhiên</a:t>
            </a:r>
          </a:p>
        </p:txBody>
      </p:sp>
      <p:sp>
        <p:nvSpPr>
          <p:cNvPr id="9" name="Oval 8"/>
          <p:cNvSpPr/>
          <p:nvPr/>
        </p:nvSpPr>
        <p:spPr>
          <a:xfrm>
            <a:off x="5843016" y="1709928"/>
            <a:ext cx="566928" cy="566928"/>
          </a:xfrm>
          <a:prstGeom prst="ellipse">
            <a:avLst/>
          </a:prstGeom>
          <a:solidFill>
            <a:srgbClr val="7A0912"/>
          </a:solidFill>
          <a:ln w="19050">
            <a:gradFill rotWithShape="1">
              <a:gsLst>
                <a:gs pos="0">
                  <a:srgbClr val="FFE6A1"/>
                </a:gs>
                <a:gs pos="45000">
                  <a:srgbClr val="E3AE4A"/>
                </a:gs>
                <a:gs pos="100000">
                  <a:srgbClr val="A8721C"/>
                </a:gs>
              </a:gsLst>
              <a:lin ang="2700000" scaled="0"/>
            </a:gra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lightbulb_FFE6A1.png"/>
          <p:cNvPicPr>
            <a:picLocks noChangeAspect="1"/>
          </p:cNvPicPr>
          <p:nvPr/>
        </p:nvPicPr>
        <p:blipFill>
          <a:blip r:embed="rId5"/>
          <a:stretch>
            <a:fillRect/>
          </a:stretch>
        </p:blipFill>
        <p:spPr>
          <a:xfrm>
            <a:off x="5970575" y="1837487"/>
            <a:ext cx="311810" cy="311810"/>
          </a:xfrm>
          <a:prstGeom prst="rect">
            <a:avLst/>
          </a:prstGeom>
        </p:spPr>
      </p:pic>
      <p:sp>
        <p:nvSpPr>
          <p:cNvPr id="11" name="Snip Diagonal Corner Rectangle 10"/>
          <p:cNvSpPr/>
          <p:nvPr/>
        </p:nvSpPr>
        <p:spPr>
          <a:xfrm>
            <a:off x="548640" y="2560320"/>
            <a:ext cx="5120640" cy="777240"/>
          </a:xfrm>
          <a:prstGeom prst="snip2DiagRect">
            <a:avLst>
              <a:gd name="adj1" fmla="val 0"/>
              <a:gd name="adj2" fmla="val 18823"/>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228600" tIns="36576" bIns="36576" wrap="square"/>
          <a:lstStyle/>
          <a:p>
            <a:pPr algn="l">
              <a:lnSpc>
                <a:spcPct val="110000"/>
              </a:lnSpc>
            </a:pPr>
            <a:r>
              <a:rPr sz="1250" b="0" i="0">
                <a:solidFill>
                  <a:srgbClr val="FFF4E2"/>
                </a:solidFill>
                <a:latin typeface="Be Vietnam Pro"/>
                <a:ea typeface="Be Vietnam Pro"/>
                <a:cs typeface="Be Vietnam Pro"/>
              </a:rPr>
              <a:t>Giải thích thế giới bằng những nguyên nhân tinh thần, tư tưởng</a:t>
            </a:r>
          </a:p>
        </p:txBody>
      </p:sp>
      <p:sp>
        <p:nvSpPr>
          <p:cNvPr id="12" name="Oval 11"/>
          <p:cNvSpPr/>
          <p:nvPr/>
        </p:nvSpPr>
        <p:spPr>
          <a:xfrm>
            <a:off x="5843016" y="2670048"/>
            <a:ext cx="566928" cy="566928"/>
          </a:xfrm>
          <a:prstGeom prst="ellipse">
            <a:avLst/>
          </a:prstGeom>
          <a:solidFill>
            <a:srgbClr val="7A0912"/>
          </a:solidFill>
          <a:ln w="19050">
            <a:gradFill rotWithShape="1">
              <a:gsLst>
                <a:gs pos="0">
                  <a:srgbClr val="FFE6A1"/>
                </a:gs>
                <a:gs pos="45000">
                  <a:srgbClr val="E3AE4A"/>
                </a:gs>
                <a:gs pos="100000">
                  <a:srgbClr val="A8721C"/>
                </a:gs>
              </a:gsLst>
              <a:lin ang="2700000" scaled="0"/>
            </a:gra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book-open_FFE6A1.png"/>
          <p:cNvPicPr>
            <a:picLocks noChangeAspect="1"/>
          </p:cNvPicPr>
          <p:nvPr/>
        </p:nvPicPr>
        <p:blipFill>
          <a:blip r:embed="rId6"/>
          <a:stretch>
            <a:fillRect/>
          </a:stretch>
        </p:blipFill>
        <p:spPr>
          <a:xfrm>
            <a:off x="5970575" y="2797607"/>
            <a:ext cx="311810" cy="311810"/>
          </a:xfrm>
          <a:prstGeom prst="rect">
            <a:avLst/>
          </a:prstGeom>
        </p:spPr>
      </p:pic>
      <p:sp>
        <p:nvSpPr>
          <p:cNvPr id="14" name="Snip Diagonal Corner Rectangle 13"/>
          <p:cNvSpPr/>
          <p:nvPr/>
        </p:nvSpPr>
        <p:spPr>
          <a:xfrm>
            <a:off x="548640" y="3520440"/>
            <a:ext cx="5120640" cy="777240"/>
          </a:xfrm>
          <a:prstGeom prst="snip2DiagRect">
            <a:avLst>
              <a:gd name="adj1" fmla="val 0"/>
              <a:gd name="adj2" fmla="val 18823"/>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228600" tIns="36576" bIns="36576" wrap="square"/>
          <a:lstStyle/>
          <a:p>
            <a:pPr algn="l">
              <a:lnSpc>
                <a:spcPct val="110000"/>
              </a:lnSpc>
            </a:pPr>
            <a:r>
              <a:rPr sz="1250" b="0" i="0">
                <a:solidFill>
                  <a:srgbClr val="FFF4E2"/>
                </a:solidFill>
                <a:latin typeface="Be Vietnam Pro"/>
                <a:ea typeface="Be Vietnam Pro"/>
                <a:cs typeface="Be Vietnam Pro"/>
              </a:rPr>
              <a:t>Thường là cơ sở lý luận, bảo vệ cho tôn giáo</a:t>
            </a:r>
          </a:p>
        </p:txBody>
      </p:sp>
      <p:sp>
        <p:nvSpPr>
          <p:cNvPr id="15" name="Oval 14"/>
          <p:cNvSpPr/>
          <p:nvPr/>
        </p:nvSpPr>
        <p:spPr>
          <a:xfrm>
            <a:off x="5843016" y="3630168"/>
            <a:ext cx="566928" cy="566928"/>
          </a:xfrm>
          <a:prstGeom prst="ellipse">
            <a:avLst/>
          </a:prstGeom>
          <a:solidFill>
            <a:srgbClr val="7A0912"/>
          </a:solidFill>
          <a:ln w="19050">
            <a:gradFill rotWithShape="1">
              <a:gsLst>
                <a:gs pos="0">
                  <a:srgbClr val="FFE6A1"/>
                </a:gs>
                <a:gs pos="45000">
                  <a:srgbClr val="E3AE4A"/>
                </a:gs>
                <a:gs pos="100000">
                  <a:srgbClr val="A8721C"/>
                </a:gs>
              </a:gsLst>
              <a:lin ang="2700000" scaled="0"/>
            </a:gra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scale_FFE6A1.png"/>
          <p:cNvPicPr>
            <a:picLocks noChangeAspect="1"/>
          </p:cNvPicPr>
          <p:nvPr/>
        </p:nvPicPr>
        <p:blipFill>
          <a:blip r:embed="rId7"/>
          <a:stretch>
            <a:fillRect/>
          </a:stretch>
        </p:blipFill>
        <p:spPr>
          <a:xfrm>
            <a:off x="5970575" y="3757727"/>
            <a:ext cx="311810" cy="311810"/>
          </a:xfrm>
          <a:prstGeom prst="rect">
            <a:avLst/>
          </a:prstGeom>
        </p:spPr>
      </p:pic>
      <p:sp>
        <p:nvSpPr>
          <p:cNvPr id="17" name="TextBox 16"/>
          <p:cNvSpPr txBox="1"/>
          <p:nvPr/>
        </p:nvSpPr>
        <p:spPr>
          <a:xfrm>
            <a:off x="548640" y="4709160"/>
            <a:ext cx="5120640" cy="365760"/>
          </a:xfrm>
          <a:prstGeom prst="rect">
            <a:avLst/>
          </a:prstGeom>
          <a:noFill/>
        </p:spPr>
        <p:txBody>
          <a:bodyPr wrap="square" lIns="0" rIns="0" tIns="0" bIns="0" anchor="t">
            <a:noAutofit/>
          </a:bodyPr>
          <a:lstStyle/>
          <a:p>
            <a:pPr algn="ctr"/>
            <a:r>
              <a:rPr sz="1500" b="0" i="0" spc="150">
                <a:solidFill>
                  <a:srgbClr val="FFE6A1"/>
                </a:solidFill>
                <a:latin typeface="Big Shoulders Display Black"/>
                <a:ea typeface="Big Shoulders Display Black"/>
                <a:cs typeface="Big Shoulders Display Black"/>
              </a:rPr>
              <a:t>HAI NHÁNH CỦA CHỦ NGHĨA DUY TÂM</a:t>
            </a:r>
          </a:p>
        </p:txBody>
      </p:sp>
      <p:sp>
        <p:nvSpPr>
          <p:cNvPr id="18" name="Rectangle 17"/>
          <p:cNvSpPr/>
          <p:nvPr/>
        </p:nvSpPr>
        <p:spPr>
          <a:xfrm>
            <a:off x="1097280" y="5120640"/>
            <a:ext cx="4023360" cy="22860"/>
          </a:xfrm>
          <a:prstGeom prst="rect">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cxnSp>
        <p:nvCxnSpPr>
          <p:cNvPr id="19" name="Connector 18"/>
          <p:cNvCxnSpPr/>
          <p:nvPr/>
        </p:nvCxnSpPr>
        <p:spPr>
          <a:xfrm>
            <a:off x="1874520" y="5138928"/>
            <a:ext cx="0" cy="301752"/>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20" name="Snip Diagonal Corner Rectangle 19"/>
          <p:cNvSpPr/>
          <p:nvPr/>
        </p:nvSpPr>
        <p:spPr>
          <a:xfrm>
            <a:off x="731520" y="5440680"/>
            <a:ext cx="2286000" cy="566928"/>
          </a:xfrm>
          <a:prstGeom prst="snip2DiagRect">
            <a:avLst>
              <a:gd name="adj1" fmla="val 0"/>
              <a:gd name="adj2" fmla="val 22580"/>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300" b="0" i="0">
                <a:solidFill>
                  <a:srgbClr val="5A0A10"/>
                </a:solidFill>
                <a:latin typeface="Be Vietnam Pro SemiBold"/>
                <a:ea typeface="Be Vietnam Pro SemiBold"/>
                <a:cs typeface="Be Vietnam Pro SemiBold"/>
              </a:rPr>
              <a:t>Duy tâm chủ quan</a:t>
            </a:r>
          </a:p>
        </p:txBody>
      </p:sp>
      <p:cxnSp>
        <p:nvCxnSpPr>
          <p:cNvPr id="21" name="Connector 20"/>
          <p:cNvCxnSpPr/>
          <p:nvPr/>
        </p:nvCxnSpPr>
        <p:spPr>
          <a:xfrm>
            <a:off x="4526280" y="5138928"/>
            <a:ext cx="0" cy="301752"/>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22" name="Snip Diagonal Corner Rectangle 21"/>
          <p:cNvSpPr/>
          <p:nvPr/>
        </p:nvSpPr>
        <p:spPr>
          <a:xfrm>
            <a:off x="3383280" y="5440680"/>
            <a:ext cx="2286000" cy="566928"/>
          </a:xfrm>
          <a:prstGeom prst="snip2DiagRect">
            <a:avLst>
              <a:gd name="adj1" fmla="val 0"/>
              <a:gd name="adj2" fmla="val 22580"/>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300" b="0" i="0">
                <a:solidFill>
                  <a:srgbClr val="5A0A10"/>
                </a:solidFill>
                <a:latin typeface="Be Vietnam Pro SemiBold"/>
                <a:ea typeface="Be Vietnam Pro SemiBold"/>
                <a:cs typeface="Be Vietnam Pro SemiBold"/>
              </a:rPr>
              <a:t>Duy tâm khách quan</a:t>
            </a:r>
          </a:p>
        </p:txBody>
      </p:sp>
      <p:sp>
        <p:nvSpPr>
          <p:cNvPr id="23" name="TextBox 22"/>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12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ppt_w</p:attrName>
                                        </p:attrNameLst>
                                      </p:cBhvr>
                                      <p:tavLst>
                                        <p:tav tm="0">
                                          <p:val>
                                            <p:strVal val="0"/>
                                          </p:val>
                                        </p:tav>
                                        <p:tav tm="100000">
                                          <p:val>
                                            <p:strVal val="#ppt_w"/>
                                          </p:val>
                                        </p:tav>
                                      </p:tavLst>
                                    </p:anim>
                                    <p:anim calcmode="lin" valueType="num">
                                      <p:cBhvr additive="base">
                                        <p:cTn id="8" dur="1000" fill="hold"/>
                                        <p:tgtEl>
                                          <p:spTgt spid="4"/>
                                        </p:tgtEl>
                                        <p:attrNameLst>
                                          <p:attrName>ppt_h</p:attrName>
                                        </p:attrNameLst>
                                      </p:cBhvr>
                                      <p:tavLst>
                                        <p:tav tm="0">
                                          <p:val>
                                            <p:str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par>
                                <p:cTn id="14" presetID="22" presetClass="entr" presetSubtype="8" fill="hold" grpId="0" nodeType="withEffect">
                                  <p:stCondLst>
                                    <p:cond delay="10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600"/>
                                        <p:tgtEl>
                                          <p:spTgt spid="5"/>
                                        </p:tgtEl>
                                      </p:cBhvr>
                                    </p:animEffect>
                                  </p:childTnLst>
                                </p:cTn>
                              </p:par>
                              <p:par>
                                <p:cTn id="17" presetID="22" presetClass="entr" presetSubtype="8" fill="hold" grpId="0" nodeType="withEffect">
                                  <p:stCondLst>
                                    <p:cond delay="22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600"/>
                                        <p:tgtEl>
                                          <p:spTgt spid="6"/>
                                        </p:tgtEl>
                                      </p:cBhvr>
                                    </p:animEffect>
                                  </p:childTnLst>
                                </p:cTn>
                              </p:par>
                              <p:par>
                                <p:cTn id="20" presetID="22" presetClass="entr" presetSubtype="8" fill="hold" grpId="0" nodeType="withEffect">
                                  <p:stCondLst>
                                    <p:cond delay="339"/>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600"/>
                                        <p:tgtEl>
                                          <p:spTgt spid="7"/>
                                        </p:tgtEl>
                                      </p:cBhvr>
                                    </p:animEffect>
                                  </p:childTnLst>
                                </p:cTn>
                              </p:par>
                              <p:par>
                                <p:cTn id="23" presetID="22" presetClass="entr" presetSubtype="8" fill="hold" grpId="0" nodeType="withEffect">
                                  <p:stCondLst>
                                    <p:cond delay="50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par>
                                <p:cTn id="26" presetID="22" presetClass="entr" presetSubtype="8" fill="hold" grpId="0" nodeType="withEffect">
                                  <p:stCondLst>
                                    <p:cond delay="50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22" presetClass="entr" presetSubtype="8" fill="hold" grpId="0" nodeType="withEffect">
                                  <p:stCondLst>
                                    <p:cond delay="50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par>
                                <p:cTn id="32" presetID="22" presetClass="entr" presetSubtype="8" fill="hold" grpId="0" nodeType="withEffect">
                                  <p:stCondLst>
                                    <p:cond delay="70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par>
                                <p:cTn id="35" presetID="22" presetClass="entr" presetSubtype="8" fill="hold" grpId="0" nodeType="withEffect">
                                  <p:stCondLst>
                                    <p:cond delay="70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par>
                                <p:cTn id="38" presetID="22" presetClass="entr" presetSubtype="8" fill="hold" grpId="0" nodeType="withEffect">
                                  <p:stCondLst>
                                    <p:cond delay="70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par>
                                <p:cTn id="41" presetID="22" presetClass="entr" presetSubtype="8" fill="hold" grpId="0" nodeType="withEffect">
                                  <p:stCondLst>
                                    <p:cond delay="899"/>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par>
                                <p:cTn id="44" presetID="22" presetClass="entr" presetSubtype="8" fill="hold" grpId="0" nodeType="withEffect">
                                  <p:stCondLst>
                                    <p:cond delay="899"/>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par>
                                <p:cTn id="47" presetID="22" presetClass="entr" presetSubtype="8" fill="hold" grpId="0" nodeType="withEffect">
                                  <p:stCondLst>
                                    <p:cond delay="899"/>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500"/>
                                        <p:tgtEl>
                                          <p:spTgt spid="16"/>
                                        </p:tgtEl>
                                      </p:cBhvr>
                                    </p:animEffect>
                                  </p:childTnLst>
                                </p:cTn>
                              </p:par>
                              <p:par>
                                <p:cTn id="50" presetID="10" presetClass="entr" presetSubtype="0" fill="hold" grpId="0" nodeType="withEffect">
                                  <p:stCondLst>
                                    <p:cond delay="100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42" presetClass="entr" presetSubtype="0" fill="hold" grpId="0" nodeType="withEffect">
                                  <p:stCondLst>
                                    <p:cond delay="130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50"/>
                                        <p:tgtEl>
                                          <p:spTgt spid="19"/>
                                        </p:tgtEl>
                                      </p:cBhvr>
                                    </p:animEffect>
                                    <p:anim calcmode="lin" valueType="num">
                                      <p:cBhvr additive="base">
                                        <p:cTn id="59" dur="450" fill="hold"/>
                                        <p:tgtEl>
                                          <p:spTgt spid="19"/>
                                        </p:tgtEl>
                                        <p:attrNameLst>
                                          <p:attrName>ppt_x</p:attrName>
                                        </p:attrNameLst>
                                      </p:cBhvr>
                                      <p:tavLst>
                                        <p:tav tm="0">
                                          <p:val>
                                            <p:strVal val="#ppt_x"/>
                                          </p:val>
                                        </p:tav>
                                        <p:tav tm="100000">
                                          <p:val>
                                            <p:strVal val="#ppt_x"/>
                                          </p:val>
                                        </p:tav>
                                      </p:tavLst>
                                    </p:anim>
                                    <p:anim calcmode="lin" valueType="num">
                                      <p:cBhvr additive="base">
                                        <p:cTn id="60" dur="450" fill="hold"/>
                                        <p:tgtEl>
                                          <p:spTgt spid="19"/>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130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450"/>
                                        <p:tgtEl>
                                          <p:spTgt spid="20"/>
                                        </p:tgtEl>
                                      </p:cBhvr>
                                    </p:animEffect>
                                    <p:anim calcmode="lin" valueType="num">
                                      <p:cBhvr additive="base">
                                        <p:cTn id="64" dur="450" fill="hold"/>
                                        <p:tgtEl>
                                          <p:spTgt spid="20"/>
                                        </p:tgtEl>
                                        <p:attrNameLst>
                                          <p:attrName>ppt_x</p:attrName>
                                        </p:attrNameLst>
                                      </p:cBhvr>
                                      <p:tavLst>
                                        <p:tav tm="0">
                                          <p:val>
                                            <p:strVal val="#ppt_x"/>
                                          </p:val>
                                        </p:tav>
                                        <p:tav tm="100000">
                                          <p:val>
                                            <p:strVal val="#ppt_x"/>
                                          </p:val>
                                        </p:tav>
                                      </p:tavLst>
                                    </p:anim>
                                    <p:anim calcmode="lin" valueType="num">
                                      <p:cBhvr additive="base">
                                        <p:cTn id="65" dur="450" fill="hold"/>
                                        <p:tgtEl>
                                          <p:spTgt spid="20"/>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145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450"/>
                                        <p:tgtEl>
                                          <p:spTgt spid="21"/>
                                        </p:tgtEl>
                                      </p:cBhvr>
                                    </p:animEffect>
                                    <p:anim calcmode="lin" valueType="num">
                                      <p:cBhvr additive="base">
                                        <p:cTn id="69" dur="450" fill="hold"/>
                                        <p:tgtEl>
                                          <p:spTgt spid="21"/>
                                        </p:tgtEl>
                                        <p:attrNameLst>
                                          <p:attrName>ppt_x</p:attrName>
                                        </p:attrNameLst>
                                      </p:cBhvr>
                                      <p:tavLst>
                                        <p:tav tm="0">
                                          <p:val>
                                            <p:strVal val="#ppt_x"/>
                                          </p:val>
                                        </p:tav>
                                        <p:tav tm="100000">
                                          <p:val>
                                            <p:strVal val="#ppt_x"/>
                                          </p:val>
                                        </p:tav>
                                      </p:tavLst>
                                    </p:anim>
                                    <p:anim calcmode="lin" valueType="num">
                                      <p:cBhvr additive="base">
                                        <p:cTn id="70" dur="450" fill="hold"/>
                                        <p:tgtEl>
                                          <p:spTgt spid="21"/>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145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50"/>
                                        <p:tgtEl>
                                          <p:spTgt spid="22"/>
                                        </p:tgtEl>
                                      </p:cBhvr>
                                    </p:animEffect>
                                    <p:anim calcmode="lin" valueType="num">
                                      <p:cBhvr additive="base">
                                        <p:cTn id="74" dur="450" fill="hold"/>
                                        <p:tgtEl>
                                          <p:spTgt spid="22"/>
                                        </p:tgtEl>
                                        <p:attrNameLst>
                                          <p:attrName>ppt_x</p:attrName>
                                        </p:attrNameLst>
                                      </p:cBhvr>
                                      <p:tavLst>
                                        <p:tav tm="0">
                                          <p:val>
                                            <p:strVal val="#ppt_x"/>
                                          </p:val>
                                        </p:tav>
                                        <p:tav tm="100000">
                                          <p:val>
                                            <p:strVal val="#ppt_x"/>
                                          </p:val>
                                        </p:tav>
                                      </p:tavLst>
                                    </p:anim>
                                    <p:anim calcmode="lin" valueType="num">
                                      <p:cBhvr additive="base">
                                        <p:cTn id="75" dur="450" fill="hold"/>
                                        <p:tgtEl>
                                          <p:spTgt spid="2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4" grpId="0" animBg="1"/>
      <p:bldP spid="15" grpId="0" animBg="1"/>
      <p:bldP spid="17" grpId="0" animBg="1"/>
      <p:bldP spid="18" grpId="0" animBg="1"/>
      <p:bldP spid="20" grpId="0" animBg="1"/>
      <p:bldP spid="2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2</a:t>
            </a:r>
          </a:p>
        </p:txBody>
      </p:sp>
      <p:sp>
        <p:nvSpPr>
          <p:cNvPr id="4" name="!!tab"/>
          <p:cNvSpPr/>
          <p:nvPr/>
        </p:nvSpPr>
        <p:spPr>
          <a:xfrm>
            <a:off x="548640" y="566928"/>
            <a:ext cx="6773739"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DUY TÂM CHỦ QUAN VÀ DUY TÂM KHÁCH QUAN</a:t>
            </a:r>
          </a:p>
        </p:txBody>
      </p:sp>
      <p:sp>
        <p:nvSpPr>
          <p:cNvPr id="5" name="!!rule"/>
          <p:cNvSpPr/>
          <p:nvPr/>
        </p:nvSpPr>
        <p:spPr>
          <a:xfrm>
            <a:off x="7432107" y="1133856"/>
            <a:ext cx="4393828"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6" name="Picture 5" descr="star_gold.png"/>
          <p:cNvPicPr>
            <a:picLocks noChangeAspect="1"/>
          </p:cNvPicPr>
          <p:nvPr/>
        </p:nvPicPr>
        <p:blipFill>
          <a:blip r:embed="rId3"/>
          <a:stretch>
            <a:fillRect/>
          </a:stretch>
        </p:blipFill>
        <p:spPr>
          <a:xfrm>
            <a:off x="2994660" y="1554108"/>
            <a:ext cx="502920" cy="480432"/>
          </a:xfrm>
          <a:prstGeom prst="rect">
            <a:avLst/>
          </a:prstGeom>
        </p:spPr>
      </p:pic>
      <p:sp>
        <p:nvSpPr>
          <p:cNvPr id="7" name="Snip Diagonal Corner Rectangle 6"/>
          <p:cNvSpPr/>
          <p:nvPr/>
        </p:nvSpPr>
        <p:spPr>
          <a:xfrm>
            <a:off x="1097280" y="2103120"/>
            <a:ext cx="4297680" cy="713232"/>
          </a:xfrm>
          <a:prstGeom prst="snip2DiagRect">
            <a:avLst>
              <a:gd name="adj1" fmla="val 0"/>
              <a:gd name="adj2" fmla="val 23076"/>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700" b="0" i="0">
                <a:solidFill>
                  <a:srgbClr val="FFE6A1"/>
                </a:solidFill>
                <a:latin typeface="Be Vietnam Pro SemiBold"/>
                <a:ea typeface="Be Vietnam Pro SemiBold"/>
                <a:cs typeface="Be Vietnam Pro SemiBold"/>
              </a:rPr>
              <a:t>Duy tâm chủ quan</a:t>
            </a:r>
          </a:p>
        </p:txBody>
      </p:sp>
      <p:cxnSp>
        <p:nvCxnSpPr>
          <p:cNvPr id="8" name="Connector 7"/>
          <p:cNvCxnSpPr/>
          <p:nvPr/>
        </p:nvCxnSpPr>
        <p:spPr>
          <a:xfrm>
            <a:off x="3246120" y="2816352"/>
            <a:ext cx="0" cy="22860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cxnSp>
        <p:nvCxnSpPr>
          <p:cNvPr id="9" name="Connector 8"/>
          <p:cNvCxnSpPr/>
          <p:nvPr/>
        </p:nvCxnSpPr>
        <p:spPr>
          <a:xfrm>
            <a:off x="2148840" y="3044952"/>
            <a:ext cx="2194560" cy="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a:off x="2148840" y="3044952"/>
            <a:ext cx="0" cy="201168"/>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11" name="Snip Diagonal Corner Rectangle 10"/>
          <p:cNvSpPr/>
          <p:nvPr/>
        </p:nvSpPr>
        <p:spPr>
          <a:xfrm>
            <a:off x="1143000" y="3246120"/>
            <a:ext cx="2011680" cy="1417320"/>
          </a:xfrm>
          <a:prstGeom prst="snip2DiagRect">
            <a:avLst>
              <a:gd name="adj1" fmla="val 0"/>
              <a:gd name="adj2" fmla="val 10322"/>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54864" bIns="54864" wrap="square"/>
          <a:lstStyle/>
          <a:p>
            <a:pPr algn="ctr">
              <a:lnSpc>
                <a:spcPct val="110000"/>
              </a:lnSpc>
            </a:pPr>
            <a:r>
              <a:rPr sz="1200" b="0" i="0">
                <a:solidFill>
                  <a:srgbClr val="5A0A10"/>
                </a:solidFill>
                <a:latin typeface="Be Vietnam Pro Medium"/>
                <a:ea typeface="Be Vietnam Pro Medium"/>
                <a:cs typeface="Be Vietnam Pro Medium"/>
              </a:rPr>
              <a:t>Thừa nhận tính thứ nhất của ý thức con người</a:t>
            </a:r>
          </a:p>
        </p:txBody>
      </p:sp>
      <p:cxnSp>
        <p:nvCxnSpPr>
          <p:cNvPr id="12" name="Connector 11"/>
          <p:cNvCxnSpPr/>
          <p:nvPr/>
        </p:nvCxnSpPr>
        <p:spPr>
          <a:xfrm>
            <a:off x="4343400" y="3044952"/>
            <a:ext cx="0" cy="201168"/>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13" name="Snip Diagonal Corner Rectangle 12"/>
          <p:cNvSpPr/>
          <p:nvPr/>
        </p:nvSpPr>
        <p:spPr>
          <a:xfrm>
            <a:off x="3337560" y="3246120"/>
            <a:ext cx="2011680" cy="1417320"/>
          </a:xfrm>
          <a:prstGeom prst="snip2DiagRect">
            <a:avLst>
              <a:gd name="adj1" fmla="val 0"/>
              <a:gd name="adj2" fmla="val 10322"/>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54864" bIns="54864" wrap="square"/>
          <a:lstStyle/>
          <a:p>
            <a:pPr algn="ctr">
              <a:lnSpc>
                <a:spcPct val="110000"/>
              </a:lnSpc>
            </a:pPr>
            <a:r>
              <a:rPr sz="1200" b="0" i="0">
                <a:solidFill>
                  <a:srgbClr val="5A0A10"/>
                </a:solidFill>
                <a:latin typeface="Be Vietnam Pro Medium"/>
                <a:ea typeface="Be Vietnam Pro Medium"/>
                <a:cs typeface="Be Vietnam Pro Medium"/>
              </a:rPr>
              <a:t>Sự vật chỉ là “phức hợp những cảm giác” (G. Beccơli)</a:t>
            </a:r>
          </a:p>
        </p:txBody>
      </p:sp>
      <p:pic>
        <p:nvPicPr>
          <p:cNvPr id="14" name="Picture 13" descr="star_gold.png"/>
          <p:cNvPicPr>
            <a:picLocks noChangeAspect="1"/>
          </p:cNvPicPr>
          <p:nvPr/>
        </p:nvPicPr>
        <p:blipFill>
          <a:blip r:embed="rId3"/>
          <a:stretch>
            <a:fillRect/>
          </a:stretch>
        </p:blipFill>
        <p:spPr>
          <a:xfrm>
            <a:off x="8694115" y="1554108"/>
            <a:ext cx="502920" cy="480432"/>
          </a:xfrm>
          <a:prstGeom prst="rect">
            <a:avLst/>
          </a:prstGeom>
        </p:spPr>
      </p:pic>
      <p:sp>
        <p:nvSpPr>
          <p:cNvPr id="15" name="Snip Diagonal Corner Rectangle 14"/>
          <p:cNvSpPr/>
          <p:nvPr/>
        </p:nvSpPr>
        <p:spPr>
          <a:xfrm>
            <a:off x="6796735" y="2103120"/>
            <a:ext cx="4297680" cy="713232"/>
          </a:xfrm>
          <a:prstGeom prst="snip2DiagRect">
            <a:avLst>
              <a:gd name="adj1" fmla="val 0"/>
              <a:gd name="adj2" fmla="val 23076"/>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700" b="0" i="0">
                <a:solidFill>
                  <a:srgbClr val="FFE6A1"/>
                </a:solidFill>
                <a:latin typeface="Be Vietnam Pro SemiBold"/>
                <a:ea typeface="Be Vietnam Pro SemiBold"/>
                <a:cs typeface="Be Vietnam Pro SemiBold"/>
              </a:rPr>
              <a:t>Duy tâm khách quan</a:t>
            </a:r>
          </a:p>
        </p:txBody>
      </p:sp>
      <p:cxnSp>
        <p:nvCxnSpPr>
          <p:cNvPr id="16" name="Connector 15"/>
          <p:cNvCxnSpPr/>
          <p:nvPr/>
        </p:nvCxnSpPr>
        <p:spPr>
          <a:xfrm>
            <a:off x="8945575" y="2816352"/>
            <a:ext cx="0" cy="22860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7848295" y="3044952"/>
            <a:ext cx="2194560" cy="0"/>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7848295" y="3044952"/>
            <a:ext cx="0" cy="201168"/>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19" name="Snip Diagonal Corner Rectangle 18"/>
          <p:cNvSpPr/>
          <p:nvPr/>
        </p:nvSpPr>
        <p:spPr>
          <a:xfrm>
            <a:off x="6842455" y="3246120"/>
            <a:ext cx="2011680" cy="1417320"/>
          </a:xfrm>
          <a:prstGeom prst="snip2DiagRect">
            <a:avLst>
              <a:gd name="adj1" fmla="val 0"/>
              <a:gd name="adj2" fmla="val 10322"/>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54864" bIns="54864" wrap="square"/>
          <a:lstStyle/>
          <a:p>
            <a:pPr algn="ctr">
              <a:lnSpc>
                <a:spcPct val="110000"/>
              </a:lnSpc>
            </a:pPr>
            <a:r>
              <a:rPr sz="1200" b="0" i="0">
                <a:solidFill>
                  <a:srgbClr val="5A0A10"/>
                </a:solidFill>
                <a:latin typeface="Be Vietnam Pro Medium"/>
                <a:ea typeface="Be Vietnam Pro Medium"/>
                <a:cs typeface="Be Vietnam Pro Medium"/>
              </a:rPr>
              <a:t>Tinh thần khách quan có trước, tồn tại độc lập với con người</a:t>
            </a:r>
          </a:p>
        </p:txBody>
      </p:sp>
      <p:cxnSp>
        <p:nvCxnSpPr>
          <p:cNvPr id="20" name="Connector 19"/>
          <p:cNvCxnSpPr/>
          <p:nvPr/>
        </p:nvCxnSpPr>
        <p:spPr>
          <a:xfrm>
            <a:off x="10042855" y="3044952"/>
            <a:ext cx="0" cy="201168"/>
          </a:xfrm>
          <a:prstGeom prst="line">
            <a:avLst/>
          </a:prstGeom>
          <a:ln w="15875">
            <a:solidFill>
              <a:srgbClr val="E3AE4A"/>
            </a:solidFill>
          </a:ln>
          <a:effectLst/>
        </p:spPr>
        <p:style>
          <a:lnRef idx="2">
            <a:schemeClr val="accent1"/>
          </a:lnRef>
          <a:fillRef idx="0">
            <a:schemeClr val="accent1"/>
          </a:fillRef>
          <a:effectRef idx="0">
            <a:schemeClr val="accent1"/>
          </a:effectRef>
          <a:fontRef idx="minor">
            <a:schemeClr val="tx1"/>
          </a:fontRef>
        </p:style>
      </p:cxnSp>
      <p:sp>
        <p:nvSpPr>
          <p:cNvPr id="21" name="Snip Diagonal Corner Rectangle 20"/>
          <p:cNvSpPr/>
          <p:nvPr/>
        </p:nvSpPr>
        <p:spPr>
          <a:xfrm>
            <a:off x="9037015" y="3246120"/>
            <a:ext cx="2011680" cy="1417320"/>
          </a:xfrm>
          <a:prstGeom prst="snip2DiagRect">
            <a:avLst>
              <a:gd name="adj1" fmla="val 0"/>
              <a:gd name="adj2" fmla="val 10322"/>
            </a:avLst>
          </a:prstGeom>
          <a:gradFill rotWithShape="1">
            <a:gsLst>
              <a:gs pos="0">
                <a:srgbClr val="FFFFFF"/>
              </a:gs>
              <a:gs pos="100000">
                <a:srgbClr val="F6DCCB"/>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54864" bIns="54864" wrap="square"/>
          <a:lstStyle/>
          <a:p>
            <a:pPr algn="ctr">
              <a:lnSpc>
                <a:spcPct val="110000"/>
              </a:lnSpc>
            </a:pPr>
            <a:r>
              <a:rPr sz="1200" b="0" i="0">
                <a:solidFill>
                  <a:srgbClr val="5A0A10"/>
                </a:solidFill>
                <a:latin typeface="Be Vietnam Pro Medium"/>
                <a:ea typeface="Be Vietnam Pro Medium"/>
                <a:cs typeface="Be Vietnam Pro Medium"/>
              </a:rPr>
              <a:t>“Ý niệm” (Platôn), “ý niệm tuyệt đối” (Hêghen)</a:t>
            </a:r>
          </a:p>
        </p:txBody>
      </p:sp>
      <p:pic>
        <p:nvPicPr>
          <p:cNvPr id="22" name="Picture 21" descr="glow_FFC560_30_1.5.png"/>
          <p:cNvPicPr>
            <a:picLocks noChangeAspect="1"/>
          </p:cNvPicPr>
          <p:nvPr/>
        </p:nvPicPr>
        <p:blipFill>
          <a:blip r:embed="rId4"/>
          <a:stretch>
            <a:fillRect/>
          </a:stretch>
        </p:blipFill>
        <p:spPr>
          <a:xfrm>
            <a:off x="4761101" y="4354830"/>
            <a:ext cx="2674620" cy="2674620"/>
          </a:xfrm>
          <a:prstGeom prst="rect">
            <a:avLst/>
          </a:prstGeom>
        </p:spPr>
      </p:pic>
      <p:pic>
        <p:nvPicPr>
          <p:cNvPr id="23" name="!!emblem" descr="hammer_sickle.png"/>
          <p:cNvPicPr>
            <a:picLocks noChangeAspect="1"/>
          </p:cNvPicPr>
          <p:nvPr/>
        </p:nvPicPr>
        <p:blipFill>
          <a:blip r:embed="rId5"/>
          <a:srcRect/>
          <a:stretch>
            <a:fillRect/>
          </a:stretch>
        </p:blipFill>
        <p:spPr>
          <a:xfrm>
            <a:off x="5318608" y="4800600"/>
            <a:ext cx="1559607" cy="1783080"/>
          </a:xfrm>
          <a:prstGeom prst="rect">
            <a:avLst/>
          </a:prstGeom>
        </p:spPr>
      </p:pic>
      <p:sp>
        <p:nvSpPr>
          <p:cNvPr id="24" name="TextBox 23"/>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53" presetClass="entr" presetSubtype="16" fill="hold" grpId="0" nodeType="withEffect">
                                  <p:stCondLst>
                                    <p:cond delay="4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ppt_w</p:attrName>
                                        </p:attrNameLst>
                                      </p:cBhvr>
                                      <p:tavLst>
                                        <p:tav tm="0">
                                          <p:val>
                                            <p:strVal val="#ppt_w*0.7"/>
                                          </p:val>
                                        </p:tav>
                                        <p:tav tm="100000">
                                          <p:val>
                                            <p:strVal val="#ppt_w"/>
                                          </p:val>
                                        </p:tav>
                                      </p:tavLst>
                                    </p:anim>
                                    <p:anim calcmode="lin" valueType="num">
                                      <p:cBhvr additive="base">
                                        <p:cTn id="17" dur="500" fill="hold"/>
                                        <p:tgtEl>
                                          <p:spTgt spid="6"/>
                                        </p:tgtEl>
                                        <p:attrNameLst>
                                          <p:attrName>ppt_h</p:attrName>
                                        </p:attrNameLst>
                                      </p:cBhvr>
                                      <p:tavLst>
                                        <p:tav tm="0">
                                          <p:val>
                                            <p:strVal val="#ppt_h*0.7"/>
                                          </p:val>
                                        </p:tav>
                                        <p:tav tm="100000">
                                          <p:val>
                                            <p:strVal val="#ppt_h"/>
                                          </p:val>
                                        </p:tav>
                                      </p:tavLst>
                                    </p:anim>
                                    <p:animEffect transition="in" filter="fade">
                                      <p:cBhvr>
                                        <p:cTn id="18" dur="500"/>
                                        <p:tgtEl>
                                          <p:spTgt spid="6"/>
                                        </p:tgtEl>
                                      </p:cBhvr>
                                    </p:animEffect>
                                  </p:childTnLst>
                                </p:cTn>
                              </p:par>
                              <p:par>
                                <p:cTn id="19" presetID="53" presetClass="entr" presetSubtype="16" fill="hold" grpId="0" nodeType="withEffect">
                                  <p:stCondLst>
                                    <p:cond delay="5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ppt_w</p:attrName>
                                        </p:attrNameLst>
                                      </p:cBhvr>
                                      <p:tavLst>
                                        <p:tav tm="0">
                                          <p:val>
                                            <p:strVal val="#ppt_w*0.7"/>
                                          </p:val>
                                        </p:tav>
                                        <p:tav tm="100000">
                                          <p:val>
                                            <p:strVal val="#ppt_w"/>
                                          </p:val>
                                        </p:tav>
                                      </p:tavLst>
                                    </p:anim>
                                    <p:anim calcmode="lin" valueType="num">
                                      <p:cBhvr additive="base">
                                        <p:cTn id="22" dur="500" fill="hold"/>
                                        <p:tgtEl>
                                          <p:spTgt spid="7"/>
                                        </p:tgtEl>
                                        <p:attrNameLst>
                                          <p:attrName>ppt_h</p:attrName>
                                        </p:attrNameLst>
                                      </p:cBhvr>
                                      <p:tavLst>
                                        <p:tav tm="0">
                                          <p:val>
                                            <p:strVal val="#ppt_h*0.7"/>
                                          </p:val>
                                        </p:tav>
                                        <p:tav tm="100000">
                                          <p:val>
                                            <p:strVal val="#ppt_h"/>
                                          </p:val>
                                        </p:tav>
                                      </p:tavLst>
                                    </p:anim>
                                    <p:animEffect transition="in" filter="fade">
                                      <p:cBhvr>
                                        <p:cTn id="23" dur="500"/>
                                        <p:tgtEl>
                                          <p:spTgt spid="7"/>
                                        </p:tgtEl>
                                      </p:cBhvr>
                                    </p:animEffect>
                                  </p:childTnLst>
                                </p:cTn>
                              </p:par>
                              <p:par>
                                <p:cTn id="24" presetID="22" presetClass="entr" presetSubtype="1" fill="hold" grpId="0" nodeType="withEffect">
                                  <p:stCondLst>
                                    <p:cond delay="75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300"/>
                                        <p:tgtEl>
                                          <p:spTgt spid="8"/>
                                        </p:tgtEl>
                                      </p:cBhvr>
                                    </p:animEffect>
                                  </p:childTnLst>
                                </p:cTn>
                              </p:par>
                              <p:par>
                                <p:cTn id="27" presetID="22" presetClass="entr" presetSubtype="1" fill="hold" grpId="0" nodeType="withEffect">
                                  <p:stCondLst>
                                    <p:cond delay="800"/>
                                  </p:stCondLst>
                                  <p:childTnLst>
                                    <p:set>
                                      <p:cBhvr>
                                        <p:cTn id="28" dur="1" fill="hold">
                                          <p:stCondLst>
                                            <p:cond delay="0"/>
                                          </p:stCondLst>
                                        </p:cTn>
                                        <p:tgtEl>
                                          <p:spTgt spid="9"/>
                                        </p:tgtEl>
                                        <p:attrNameLst>
                                          <p:attrName>style.visibility</p:attrName>
                                        </p:attrNameLst>
                                      </p:cBhvr>
                                      <p:to>
                                        <p:strVal val="visible"/>
                                      </p:to>
                                    </p:set>
                                    <p:animEffect transition="in" filter="wipe(up)">
                                      <p:cBhvr>
                                        <p:cTn id="29" dur="300"/>
                                        <p:tgtEl>
                                          <p:spTgt spid="9"/>
                                        </p:tgtEl>
                                      </p:cBhvr>
                                    </p:animEffect>
                                  </p:childTnLst>
                                </p:cTn>
                              </p:par>
                              <p:par>
                                <p:cTn id="30" presetID="22" presetClass="entr" presetSubtype="1" fill="hold" grpId="0" nodeType="withEffect">
                                  <p:stCondLst>
                                    <p:cond delay="85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300"/>
                                        <p:tgtEl>
                                          <p:spTgt spid="10"/>
                                        </p:tgtEl>
                                      </p:cBhvr>
                                    </p:animEffect>
                                  </p:childTnLst>
                                </p:cTn>
                              </p:par>
                              <p:par>
                                <p:cTn id="33" presetID="22" presetClass="entr" presetSubtype="1" fill="hold" grpId="0" nodeType="withEffect">
                                  <p:stCondLst>
                                    <p:cond delay="90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300"/>
                                        <p:tgtEl>
                                          <p:spTgt spid="12"/>
                                        </p:tgtEl>
                                      </p:cBhvr>
                                    </p:animEffect>
                                  </p:childTnLst>
                                </p:cTn>
                              </p:par>
                              <p:par>
                                <p:cTn id="36" presetID="42" presetClass="entr" presetSubtype="0" fill="hold" grpId="0" nodeType="withEffect">
                                  <p:stCondLst>
                                    <p:cond delay="95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450"/>
                                        <p:tgtEl>
                                          <p:spTgt spid="11"/>
                                        </p:tgtEl>
                                      </p:cBhvr>
                                    </p:animEffect>
                                    <p:anim calcmode="lin" valueType="num">
                                      <p:cBhvr additive="base">
                                        <p:cTn id="39" dur="450" fill="hold"/>
                                        <p:tgtEl>
                                          <p:spTgt spid="11"/>
                                        </p:tgtEl>
                                        <p:attrNameLst>
                                          <p:attrName>ppt_x</p:attrName>
                                        </p:attrNameLst>
                                      </p:cBhvr>
                                      <p:tavLst>
                                        <p:tav tm="0">
                                          <p:val>
                                            <p:strVal val="#ppt_x"/>
                                          </p:val>
                                        </p:tav>
                                        <p:tav tm="100000">
                                          <p:val>
                                            <p:strVal val="#ppt_x"/>
                                          </p:val>
                                        </p:tav>
                                      </p:tavLst>
                                    </p:anim>
                                    <p:anim calcmode="lin" valueType="num">
                                      <p:cBhvr additive="base">
                                        <p:cTn id="40" dur="450" fill="hold"/>
                                        <p:tgtEl>
                                          <p:spTgt spid="11"/>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107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anim calcmode="lin" valueType="num">
                                      <p:cBhvr additive="base">
                                        <p:cTn id="44" dur="450" fill="hold"/>
                                        <p:tgtEl>
                                          <p:spTgt spid="13"/>
                                        </p:tgtEl>
                                        <p:attrNameLst>
                                          <p:attrName>ppt_x</p:attrName>
                                        </p:attrNameLst>
                                      </p:cBhvr>
                                      <p:tavLst>
                                        <p:tav tm="0">
                                          <p:val>
                                            <p:strVal val="#ppt_x"/>
                                          </p:val>
                                        </p:tav>
                                        <p:tav tm="100000">
                                          <p:val>
                                            <p:strVal val="#ppt_x"/>
                                          </p:val>
                                        </p:tav>
                                      </p:tavLst>
                                    </p:anim>
                                    <p:anim calcmode="lin" valueType="num">
                                      <p:cBhvr additive="base">
                                        <p:cTn id="45" dur="450" fill="hold"/>
                                        <p:tgtEl>
                                          <p:spTgt spid="13"/>
                                        </p:tgtEl>
                                        <p:attrNameLst>
                                          <p:attrName>ppt_y</p:attrName>
                                        </p:attrNameLst>
                                      </p:cBhvr>
                                      <p:tavLst>
                                        <p:tav tm="0">
                                          <p:val>
                                            <p:strVal val="#ppt_y+.06"/>
                                          </p:val>
                                        </p:tav>
                                        <p:tav tm="100000">
                                          <p:val>
                                            <p:strVal val="#ppt_y"/>
                                          </p:val>
                                        </p:tav>
                                      </p:tavLst>
                                    </p:anim>
                                  </p:childTnLst>
                                </p:cTn>
                              </p:par>
                              <p:par>
                                <p:cTn id="46" presetID="53" presetClass="entr" presetSubtype="16" fill="hold" grpId="0" nodeType="withEffect">
                                  <p:stCondLst>
                                    <p:cond delay="120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fill="hold"/>
                                        <p:tgtEl>
                                          <p:spTgt spid="14"/>
                                        </p:tgtEl>
                                        <p:attrNameLst>
                                          <p:attrName>ppt_w</p:attrName>
                                        </p:attrNameLst>
                                      </p:cBhvr>
                                      <p:tavLst>
                                        <p:tav tm="0">
                                          <p:val>
                                            <p:strVal val="#ppt_w*0.7"/>
                                          </p:val>
                                        </p:tav>
                                        <p:tav tm="100000">
                                          <p:val>
                                            <p:strVal val="#ppt_w"/>
                                          </p:val>
                                        </p:tav>
                                      </p:tavLst>
                                    </p:anim>
                                    <p:anim calcmode="lin" valueType="num">
                                      <p:cBhvr additive="base">
                                        <p:cTn id="49" dur="500" fill="hold"/>
                                        <p:tgtEl>
                                          <p:spTgt spid="14"/>
                                        </p:tgtEl>
                                        <p:attrNameLst>
                                          <p:attrName>ppt_h</p:attrName>
                                        </p:attrNameLst>
                                      </p:cBhvr>
                                      <p:tavLst>
                                        <p:tav tm="0">
                                          <p:val>
                                            <p:strVal val="#ppt_h*0.7"/>
                                          </p:val>
                                        </p:tav>
                                        <p:tav tm="100000">
                                          <p:val>
                                            <p:strVal val="#ppt_h"/>
                                          </p:val>
                                        </p:tav>
                                      </p:tavLst>
                                    </p:anim>
                                    <p:animEffect transition="in" filter="fade">
                                      <p:cBhvr>
                                        <p:cTn id="50" dur="500"/>
                                        <p:tgtEl>
                                          <p:spTgt spid="14"/>
                                        </p:tgtEl>
                                      </p:cBhvr>
                                    </p:animEffect>
                                  </p:childTnLst>
                                </p:cTn>
                              </p:par>
                              <p:par>
                                <p:cTn id="51" presetID="53" presetClass="entr" presetSubtype="16" fill="hold" grpId="0" nodeType="withEffect">
                                  <p:stCondLst>
                                    <p:cond delay="130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ppt_w</p:attrName>
                                        </p:attrNameLst>
                                      </p:cBhvr>
                                      <p:tavLst>
                                        <p:tav tm="0">
                                          <p:val>
                                            <p:strVal val="#ppt_w*0.7"/>
                                          </p:val>
                                        </p:tav>
                                        <p:tav tm="100000">
                                          <p:val>
                                            <p:strVal val="#ppt_w"/>
                                          </p:val>
                                        </p:tav>
                                      </p:tavLst>
                                    </p:anim>
                                    <p:anim calcmode="lin" valueType="num">
                                      <p:cBhvr additive="base">
                                        <p:cTn id="54" dur="500" fill="hold"/>
                                        <p:tgtEl>
                                          <p:spTgt spid="15"/>
                                        </p:tgtEl>
                                        <p:attrNameLst>
                                          <p:attrName>ppt_h</p:attrName>
                                        </p:attrNameLst>
                                      </p:cBhvr>
                                      <p:tavLst>
                                        <p:tav tm="0">
                                          <p:val>
                                            <p:strVal val="#ppt_h*0.7"/>
                                          </p:val>
                                        </p:tav>
                                        <p:tav tm="100000">
                                          <p:val>
                                            <p:strVal val="#ppt_h"/>
                                          </p:val>
                                        </p:tav>
                                      </p:tavLst>
                                    </p:anim>
                                    <p:animEffect transition="in" filter="fade">
                                      <p:cBhvr>
                                        <p:cTn id="55" dur="500"/>
                                        <p:tgtEl>
                                          <p:spTgt spid="15"/>
                                        </p:tgtEl>
                                      </p:cBhvr>
                                    </p:animEffect>
                                  </p:childTnLst>
                                </p:cTn>
                              </p:par>
                              <p:par>
                                <p:cTn id="56" presetID="22" presetClass="entr" presetSubtype="1" fill="hold" grpId="0" nodeType="withEffect">
                                  <p:stCondLst>
                                    <p:cond delay="1550"/>
                                  </p:stCondLst>
                                  <p:childTnLst>
                                    <p:set>
                                      <p:cBhvr>
                                        <p:cTn id="57" dur="1" fill="hold">
                                          <p:stCondLst>
                                            <p:cond delay="0"/>
                                          </p:stCondLst>
                                        </p:cTn>
                                        <p:tgtEl>
                                          <p:spTgt spid="16"/>
                                        </p:tgtEl>
                                        <p:attrNameLst>
                                          <p:attrName>style.visibility</p:attrName>
                                        </p:attrNameLst>
                                      </p:cBhvr>
                                      <p:to>
                                        <p:strVal val="visible"/>
                                      </p:to>
                                    </p:set>
                                    <p:animEffect transition="in" filter="wipe(up)">
                                      <p:cBhvr>
                                        <p:cTn id="58" dur="300"/>
                                        <p:tgtEl>
                                          <p:spTgt spid="16"/>
                                        </p:tgtEl>
                                      </p:cBhvr>
                                    </p:animEffect>
                                  </p:childTnLst>
                                </p:cTn>
                              </p:par>
                              <p:par>
                                <p:cTn id="59" presetID="22" presetClass="entr" presetSubtype="1" fill="hold" grpId="0" nodeType="withEffect">
                                  <p:stCondLst>
                                    <p:cond delay="1600"/>
                                  </p:stCondLst>
                                  <p:childTnLst>
                                    <p:set>
                                      <p:cBhvr>
                                        <p:cTn id="60" dur="1" fill="hold">
                                          <p:stCondLst>
                                            <p:cond delay="0"/>
                                          </p:stCondLst>
                                        </p:cTn>
                                        <p:tgtEl>
                                          <p:spTgt spid="17"/>
                                        </p:tgtEl>
                                        <p:attrNameLst>
                                          <p:attrName>style.visibility</p:attrName>
                                        </p:attrNameLst>
                                      </p:cBhvr>
                                      <p:to>
                                        <p:strVal val="visible"/>
                                      </p:to>
                                    </p:set>
                                    <p:animEffect transition="in" filter="wipe(up)">
                                      <p:cBhvr>
                                        <p:cTn id="61" dur="300"/>
                                        <p:tgtEl>
                                          <p:spTgt spid="17"/>
                                        </p:tgtEl>
                                      </p:cBhvr>
                                    </p:animEffect>
                                  </p:childTnLst>
                                </p:cTn>
                              </p:par>
                              <p:par>
                                <p:cTn id="62" presetID="22" presetClass="entr" presetSubtype="1" fill="hold" grpId="0" nodeType="withEffect">
                                  <p:stCondLst>
                                    <p:cond delay="1650"/>
                                  </p:stCondLst>
                                  <p:childTnLst>
                                    <p:set>
                                      <p:cBhvr>
                                        <p:cTn id="63" dur="1" fill="hold">
                                          <p:stCondLst>
                                            <p:cond delay="0"/>
                                          </p:stCondLst>
                                        </p:cTn>
                                        <p:tgtEl>
                                          <p:spTgt spid="18"/>
                                        </p:tgtEl>
                                        <p:attrNameLst>
                                          <p:attrName>style.visibility</p:attrName>
                                        </p:attrNameLst>
                                      </p:cBhvr>
                                      <p:to>
                                        <p:strVal val="visible"/>
                                      </p:to>
                                    </p:set>
                                    <p:animEffect transition="in" filter="wipe(up)">
                                      <p:cBhvr>
                                        <p:cTn id="64" dur="300"/>
                                        <p:tgtEl>
                                          <p:spTgt spid="18"/>
                                        </p:tgtEl>
                                      </p:cBhvr>
                                    </p:animEffect>
                                  </p:childTnLst>
                                </p:cTn>
                              </p:par>
                              <p:par>
                                <p:cTn id="65" presetID="22" presetClass="entr" presetSubtype="1" fill="hold" grpId="0" nodeType="withEffect">
                                  <p:stCondLst>
                                    <p:cond delay="1700"/>
                                  </p:stCondLst>
                                  <p:childTnLst>
                                    <p:set>
                                      <p:cBhvr>
                                        <p:cTn id="66" dur="1" fill="hold">
                                          <p:stCondLst>
                                            <p:cond delay="0"/>
                                          </p:stCondLst>
                                        </p:cTn>
                                        <p:tgtEl>
                                          <p:spTgt spid="20"/>
                                        </p:tgtEl>
                                        <p:attrNameLst>
                                          <p:attrName>style.visibility</p:attrName>
                                        </p:attrNameLst>
                                      </p:cBhvr>
                                      <p:to>
                                        <p:strVal val="visible"/>
                                      </p:to>
                                    </p:set>
                                    <p:animEffect transition="in" filter="wipe(up)">
                                      <p:cBhvr>
                                        <p:cTn id="67" dur="300"/>
                                        <p:tgtEl>
                                          <p:spTgt spid="20"/>
                                        </p:tgtEl>
                                      </p:cBhvr>
                                    </p:animEffect>
                                  </p:childTnLst>
                                </p:cTn>
                              </p:par>
                              <p:par>
                                <p:cTn id="68" presetID="42" presetClass="entr" presetSubtype="0" fill="hold" grpId="0" nodeType="withEffect">
                                  <p:stCondLst>
                                    <p:cond delay="175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450"/>
                                        <p:tgtEl>
                                          <p:spTgt spid="19"/>
                                        </p:tgtEl>
                                      </p:cBhvr>
                                    </p:animEffect>
                                    <p:anim calcmode="lin" valueType="num">
                                      <p:cBhvr additive="base">
                                        <p:cTn id="71" dur="450" fill="hold"/>
                                        <p:tgtEl>
                                          <p:spTgt spid="19"/>
                                        </p:tgtEl>
                                        <p:attrNameLst>
                                          <p:attrName>ppt_x</p:attrName>
                                        </p:attrNameLst>
                                      </p:cBhvr>
                                      <p:tavLst>
                                        <p:tav tm="0">
                                          <p:val>
                                            <p:strVal val="#ppt_x"/>
                                          </p:val>
                                        </p:tav>
                                        <p:tav tm="100000">
                                          <p:val>
                                            <p:strVal val="#ppt_x"/>
                                          </p:val>
                                        </p:tav>
                                      </p:tavLst>
                                    </p:anim>
                                    <p:anim calcmode="lin" valueType="num">
                                      <p:cBhvr additive="base">
                                        <p:cTn id="72" dur="450" fill="hold"/>
                                        <p:tgtEl>
                                          <p:spTgt spid="19"/>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187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450"/>
                                        <p:tgtEl>
                                          <p:spTgt spid="21"/>
                                        </p:tgtEl>
                                      </p:cBhvr>
                                    </p:animEffect>
                                    <p:anim calcmode="lin" valueType="num">
                                      <p:cBhvr additive="base">
                                        <p:cTn id="76" dur="450" fill="hold"/>
                                        <p:tgtEl>
                                          <p:spTgt spid="21"/>
                                        </p:tgtEl>
                                        <p:attrNameLst>
                                          <p:attrName>ppt_x</p:attrName>
                                        </p:attrNameLst>
                                      </p:cBhvr>
                                      <p:tavLst>
                                        <p:tav tm="0">
                                          <p:val>
                                            <p:strVal val="#ppt_x"/>
                                          </p:val>
                                        </p:tav>
                                        <p:tav tm="100000">
                                          <p:val>
                                            <p:strVal val="#ppt_x"/>
                                          </p:val>
                                        </p:tav>
                                      </p:tavLst>
                                    </p:anim>
                                    <p:anim calcmode="lin" valueType="num">
                                      <p:cBhvr additive="base">
                                        <p:cTn id="77" dur="450" fill="hold"/>
                                        <p:tgtEl>
                                          <p:spTgt spid="21"/>
                                        </p:tgtEl>
                                        <p:attrNameLst>
                                          <p:attrName>ppt_y</p:attrName>
                                        </p:attrNameLst>
                                      </p:cBhvr>
                                      <p:tavLst>
                                        <p:tav tm="0">
                                          <p:val>
                                            <p:strVal val="#ppt_y+.06"/>
                                          </p:val>
                                        </p:tav>
                                        <p:tav tm="100000">
                                          <p:val>
                                            <p:strVal val="#ppt_y"/>
                                          </p:val>
                                        </p:tav>
                                      </p:tavLst>
                                    </p:anim>
                                  </p:childTnLst>
                                </p:cTn>
                              </p:par>
                              <p:par>
                                <p:cTn id="78" presetID="31" presetClass="entr" presetSubtype="0" fill="hold" grpId="0" nodeType="withEffect">
                                  <p:stCondLst>
                                    <p:cond delay="2000"/>
                                  </p:stCondLst>
                                  <p:childTnLst>
                                    <p:set>
                                      <p:cBhvr>
                                        <p:cTn id="79" dur="1" fill="hold">
                                          <p:stCondLst>
                                            <p:cond delay="0"/>
                                          </p:stCondLst>
                                        </p:cTn>
                                        <p:tgtEl>
                                          <p:spTgt spid="23"/>
                                        </p:tgtEl>
                                        <p:attrNameLst>
                                          <p:attrName>style.visibility</p:attrName>
                                        </p:attrNameLst>
                                      </p:cBhvr>
                                      <p:to>
                                        <p:strVal val="visible"/>
                                      </p:to>
                                    </p:set>
                                    <p:anim calcmode="lin" valueType="num">
                                      <p:cBhvr additive="base">
                                        <p:cTn id="80" dur="900" fill="hold"/>
                                        <p:tgtEl>
                                          <p:spTgt spid="23"/>
                                        </p:tgtEl>
                                        <p:attrNameLst>
                                          <p:attrName>ppt_w</p:attrName>
                                        </p:attrNameLst>
                                      </p:cBhvr>
                                      <p:tavLst>
                                        <p:tav tm="0">
                                          <p:val>
                                            <p:strVal val="0"/>
                                          </p:val>
                                        </p:tav>
                                        <p:tav tm="100000">
                                          <p:val>
                                            <p:strVal val="#ppt_w"/>
                                          </p:val>
                                        </p:tav>
                                      </p:tavLst>
                                    </p:anim>
                                    <p:anim calcmode="lin" valueType="num">
                                      <p:cBhvr additive="base">
                                        <p:cTn id="81" dur="900" fill="hold"/>
                                        <p:tgtEl>
                                          <p:spTgt spid="23"/>
                                        </p:tgtEl>
                                        <p:attrNameLst>
                                          <p:attrName>ppt_h</p:attrName>
                                        </p:attrNameLst>
                                      </p:cBhvr>
                                      <p:tavLst>
                                        <p:tav tm="0">
                                          <p:val>
                                            <p:strVal val="0"/>
                                          </p:val>
                                        </p:tav>
                                        <p:tav tm="100000">
                                          <p:val>
                                            <p:strVal val="#ppt_h"/>
                                          </p:val>
                                        </p:tav>
                                      </p:tavLst>
                                    </p:anim>
                                    <p:anim calcmode="lin" valueType="num">
                                      <p:cBhvr>
                                        <p:cTn id="82" dur="900" fill="hold"/>
                                        <p:tgtEl>
                                          <p:spTgt spid="23"/>
                                        </p:tgtEl>
                                        <p:attrNameLst>
                                          <p:attrName>style.rotation</p:attrName>
                                        </p:attrNameLst>
                                      </p:cBhvr>
                                      <p:tavLst>
                                        <p:tav tm="0">
                                          <p:val>
                                            <p:fltVal val="90"/>
                                          </p:val>
                                        </p:tav>
                                        <p:tav tm="100000">
                                          <p:val>
                                            <p:fltVal val="0"/>
                                          </p:val>
                                        </p:tav>
                                      </p:tavLst>
                                    </p:anim>
                                    <p:animEffect transition="in" filter="fade">
                                      <p:cBhvr>
                                        <p:cTn id="83" dur="900"/>
                                        <p:tgtEl>
                                          <p:spTgt spid="23"/>
                                        </p:tgtEl>
                                      </p:cBhvr>
                                    </p:animEffect>
                                  </p:childTnLst>
                                </p:cTn>
                              </p:par>
                              <p:par>
                                <p:cTn id="84" presetID="10" presetClass="entr" presetSubtype="0" fill="hold" grpId="0" nodeType="withEffect">
                                  <p:stCondLst>
                                    <p:cond delay="200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9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11" grpId="0" animBg="1"/>
      <p:bldP spid="13" grpId="0" animBg="1"/>
      <p:bldP spid="15" grpId="0" animBg="1"/>
      <p:bldP spid="19" grpId="0" animBg="1"/>
      <p:bldP spid="2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2</a:t>
            </a:r>
          </a:p>
        </p:txBody>
      </p:sp>
      <p:sp>
        <p:nvSpPr>
          <p:cNvPr id="4" name="!!tab"/>
          <p:cNvSpPr/>
          <p:nvPr/>
        </p:nvSpPr>
        <p:spPr>
          <a:xfrm>
            <a:off x="548640" y="566928"/>
            <a:ext cx="5665119"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NGUỒN GỐC CỦA CHỦ NGHĨA DUY TÂM</a:t>
            </a:r>
          </a:p>
        </p:txBody>
      </p:sp>
      <p:sp>
        <p:nvSpPr>
          <p:cNvPr id="5" name="!!rule"/>
          <p:cNvSpPr/>
          <p:nvPr/>
        </p:nvSpPr>
        <p:spPr>
          <a:xfrm>
            <a:off x="6323487" y="1133856"/>
            <a:ext cx="5502448"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Snip Diagonal Corner Rectangle 5"/>
          <p:cNvSpPr/>
          <p:nvPr/>
        </p:nvSpPr>
        <p:spPr>
          <a:xfrm>
            <a:off x="548640" y="1783080"/>
            <a:ext cx="3515258" cy="4617720"/>
          </a:xfrm>
          <a:prstGeom prst="snip2DiagRect">
            <a:avLst>
              <a:gd name="adj1" fmla="val 0"/>
              <a:gd name="adj2" fmla="val 65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7" name="Oval 6"/>
          <p:cNvSpPr/>
          <p:nvPr/>
        </p:nvSpPr>
        <p:spPr>
          <a:xfrm>
            <a:off x="1977085" y="1453896"/>
            <a:ext cx="658368" cy="658368"/>
          </a:xfrm>
          <a:prstGeom prst="ellipse">
            <a:avLst/>
          </a:prstGeom>
          <a:solidFill>
            <a:srgbClr val="7A0912"/>
          </a:solidFill>
          <a:ln w="22225">
            <a:gradFill rotWithShape="1">
              <a:gsLst>
                <a:gs pos="0">
                  <a:srgbClr val="FFE6A1"/>
                </a:gs>
                <a:gs pos="45000">
                  <a:srgbClr val="E3AE4A"/>
                </a:gs>
                <a:gs pos="100000">
                  <a:srgbClr val="A8721C"/>
                </a:gs>
              </a:gsLst>
              <a:lin ang="2700000" scaled="0"/>
            </a:gra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landmark_FFE6A1.png"/>
          <p:cNvPicPr>
            <a:picLocks noChangeAspect="1"/>
          </p:cNvPicPr>
          <p:nvPr/>
        </p:nvPicPr>
        <p:blipFill>
          <a:blip r:embed="rId3"/>
          <a:stretch>
            <a:fillRect/>
          </a:stretch>
        </p:blipFill>
        <p:spPr>
          <a:xfrm>
            <a:off x="2125218" y="1602029"/>
            <a:ext cx="362102" cy="362102"/>
          </a:xfrm>
          <a:prstGeom prst="rect">
            <a:avLst/>
          </a:prstGeom>
        </p:spPr>
      </p:pic>
      <p:sp>
        <p:nvSpPr>
          <p:cNvPr id="9" name="TextBox 8"/>
          <p:cNvSpPr txBox="1"/>
          <p:nvPr/>
        </p:nvSpPr>
        <p:spPr>
          <a:xfrm>
            <a:off x="731520" y="2221992"/>
            <a:ext cx="3149498" cy="365760"/>
          </a:xfrm>
          <a:prstGeom prst="rect">
            <a:avLst/>
          </a:prstGeom>
          <a:noFill/>
        </p:spPr>
        <p:txBody>
          <a:bodyPr wrap="square" lIns="0" rIns="0" tIns="0" bIns="0" anchor="t">
            <a:noAutofit/>
          </a:bodyPr>
          <a:lstStyle/>
          <a:p>
            <a:pPr algn="ctr"/>
            <a:r>
              <a:rPr sz="1500" b="0" i="0">
                <a:solidFill>
                  <a:srgbClr val="FFE6A1"/>
                </a:solidFill>
                <a:latin typeface="Be Vietnam Pro SemiBold"/>
                <a:ea typeface="Be Vietnam Pro SemiBold"/>
                <a:cs typeface="Be Vietnam Pro SemiBold"/>
              </a:rPr>
              <a:t>Gắn với tôn giáo</a:t>
            </a:r>
          </a:p>
        </p:txBody>
      </p:sp>
      <p:sp>
        <p:nvSpPr>
          <p:cNvPr id="10" name="TextBox 9"/>
          <p:cNvSpPr txBox="1"/>
          <p:nvPr/>
        </p:nvSpPr>
        <p:spPr>
          <a:xfrm>
            <a:off x="822960" y="2624328"/>
            <a:ext cx="2966618" cy="1143000"/>
          </a:xfrm>
          <a:prstGeom prst="rect">
            <a:avLst/>
          </a:prstGeom>
          <a:noFill/>
        </p:spPr>
        <p:txBody>
          <a:bodyPr wrap="square" lIns="0" rIns="0" tIns="0" bIns="0" anchor="t">
            <a:noAutofit/>
          </a:bodyPr>
          <a:lstStyle/>
          <a:p>
            <a:pPr algn="ctr">
              <a:lnSpc>
                <a:spcPct val="115000"/>
              </a:lnSpc>
            </a:pPr>
            <a:r>
              <a:rPr sz="1150" b="0" i="0">
                <a:solidFill>
                  <a:srgbClr val="FFF4E2"/>
                </a:solidFill>
                <a:latin typeface="Be Vietnam Pro"/>
                <a:ea typeface="Be Vietnam Pro"/>
                <a:cs typeface="Be Vietnam Pro"/>
              </a:rPr>
              <a:t>Thường là cơ sở lý luận của tôn giáo, dù không đồng nhất hoàn toàn với tôn giáo.</a:t>
            </a:r>
          </a:p>
        </p:txBody>
      </p:sp>
      <p:pic>
        <p:nvPicPr>
          <p:cNvPr id="11" name="Picture 10" descr="c2dbd34f38c4d727.jpg"/>
          <p:cNvPicPr>
            <a:picLocks noChangeAspect="1"/>
          </p:cNvPicPr>
          <p:nvPr/>
        </p:nvPicPr>
        <p:blipFill>
          <a:blip r:embed="rId4"/>
          <a:srcRect l="5387" r="5387"/>
          <a:stretch>
            <a:fillRect/>
          </a:stretch>
        </p:blipFill>
        <p:spPr>
          <a:xfrm>
            <a:off x="777240" y="3886200"/>
            <a:ext cx="3058058" cy="2286000"/>
          </a:xfrm>
          <a:prstGeom prst="snip2DiagRect">
            <a:avLst>
              <a:gd name="adj1" fmla="val 0"/>
              <a:gd name="adj2" fmla="val 8800"/>
            </a:avLst>
          </a:prstGeom>
          <a:ln w="1905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sp>
        <p:nvSpPr>
          <p:cNvPr id="12" name="Snip Diagonal Corner Rectangle 11"/>
          <p:cNvSpPr/>
          <p:nvPr/>
        </p:nvSpPr>
        <p:spPr>
          <a:xfrm>
            <a:off x="4338218" y="1783080"/>
            <a:ext cx="3515258" cy="4617720"/>
          </a:xfrm>
          <a:prstGeom prst="snip2DiagRect">
            <a:avLst>
              <a:gd name="adj1" fmla="val 0"/>
              <a:gd name="adj2" fmla="val 65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Oval 12"/>
          <p:cNvSpPr/>
          <p:nvPr/>
        </p:nvSpPr>
        <p:spPr>
          <a:xfrm>
            <a:off x="5766664" y="1453896"/>
            <a:ext cx="658368" cy="658368"/>
          </a:xfrm>
          <a:prstGeom prst="ellipse">
            <a:avLst/>
          </a:prstGeom>
          <a:solidFill>
            <a:srgbClr val="7A0912"/>
          </a:solidFill>
          <a:ln w="22225">
            <a:gradFill rotWithShape="1">
              <a:gsLst>
                <a:gs pos="0">
                  <a:srgbClr val="FFE6A1"/>
                </a:gs>
                <a:gs pos="45000">
                  <a:srgbClr val="E3AE4A"/>
                </a:gs>
                <a:gs pos="100000">
                  <a:srgbClr val="A8721C"/>
                </a:gs>
              </a:gsLst>
              <a:lin ang="2700000" scaled="0"/>
            </a:gra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brain_FFE6A1.png"/>
          <p:cNvPicPr>
            <a:picLocks noChangeAspect="1"/>
          </p:cNvPicPr>
          <p:nvPr/>
        </p:nvPicPr>
        <p:blipFill>
          <a:blip r:embed="rId5"/>
          <a:stretch>
            <a:fillRect/>
          </a:stretch>
        </p:blipFill>
        <p:spPr>
          <a:xfrm>
            <a:off x="5914796" y="1602029"/>
            <a:ext cx="362102" cy="362102"/>
          </a:xfrm>
          <a:prstGeom prst="rect">
            <a:avLst/>
          </a:prstGeom>
        </p:spPr>
      </p:pic>
      <p:sp>
        <p:nvSpPr>
          <p:cNvPr id="15" name="TextBox 14"/>
          <p:cNvSpPr txBox="1"/>
          <p:nvPr/>
        </p:nvSpPr>
        <p:spPr>
          <a:xfrm>
            <a:off x="4521098" y="2221992"/>
            <a:ext cx="3149498" cy="365760"/>
          </a:xfrm>
          <a:prstGeom prst="rect">
            <a:avLst/>
          </a:prstGeom>
          <a:noFill/>
        </p:spPr>
        <p:txBody>
          <a:bodyPr wrap="square" lIns="0" rIns="0" tIns="0" bIns="0" anchor="t">
            <a:noAutofit/>
          </a:bodyPr>
          <a:lstStyle/>
          <a:p>
            <a:pPr algn="ctr"/>
            <a:r>
              <a:rPr sz="1500" b="0" i="0">
                <a:solidFill>
                  <a:srgbClr val="FFE6A1"/>
                </a:solidFill>
                <a:latin typeface="Be Vietnam Pro SemiBold"/>
                <a:ea typeface="Be Vietnam Pro SemiBold"/>
                <a:cs typeface="Be Vietnam Pro SemiBold"/>
              </a:rPr>
              <a:t>Nguồn gốc nhận thức</a:t>
            </a:r>
          </a:p>
        </p:txBody>
      </p:sp>
      <p:sp>
        <p:nvSpPr>
          <p:cNvPr id="16" name="TextBox 15"/>
          <p:cNvSpPr txBox="1"/>
          <p:nvPr/>
        </p:nvSpPr>
        <p:spPr>
          <a:xfrm>
            <a:off x="4612538" y="2624328"/>
            <a:ext cx="2966618" cy="1143000"/>
          </a:xfrm>
          <a:prstGeom prst="rect">
            <a:avLst/>
          </a:prstGeom>
          <a:noFill/>
        </p:spPr>
        <p:txBody>
          <a:bodyPr wrap="square" lIns="0" rIns="0" tIns="0" bIns="0" anchor="t">
            <a:noAutofit/>
          </a:bodyPr>
          <a:lstStyle/>
          <a:p>
            <a:pPr algn="ctr">
              <a:lnSpc>
                <a:spcPct val="115000"/>
              </a:lnSpc>
            </a:pPr>
            <a:r>
              <a:rPr sz="1150" b="0" i="0">
                <a:solidFill>
                  <a:srgbClr val="FFF4E2"/>
                </a:solidFill>
                <a:latin typeface="Be Vietnam Pro"/>
                <a:ea typeface="Be Vietnam Pro"/>
                <a:cs typeface="Be Vietnam Pro"/>
              </a:rPr>
              <a:t>Xem xét phiến diện, tuyệt đối hóa một mặt của quá trình nhận thức.</a:t>
            </a:r>
          </a:p>
        </p:txBody>
      </p:sp>
      <p:pic>
        <p:nvPicPr>
          <p:cNvPr id="17" name="Picture 16" descr="30429f04ebe7372a.jpg"/>
          <p:cNvPicPr>
            <a:picLocks noChangeAspect="1"/>
          </p:cNvPicPr>
          <p:nvPr/>
        </p:nvPicPr>
        <p:blipFill>
          <a:blip r:embed="rId6"/>
          <a:srcRect t="1552" b="1552"/>
          <a:stretch>
            <a:fillRect/>
          </a:stretch>
        </p:blipFill>
        <p:spPr>
          <a:xfrm>
            <a:off x="4566818" y="3886200"/>
            <a:ext cx="3058058" cy="2286000"/>
          </a:xfrm>
          <a:prstGeom prst="snip2DiagRect">
            <a:avLst>
              <a:gd name="adj1" fmla="val 0"/>
              <a:gd name="adj2" fmla="val 8800"/>
            </a:avLst>
          </a:prstGeom>
          <a:ln w="1905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sp>
        <p:nvSpPr>
          <p:cNvPr id="18" name="Snip Diagonal Corner Rectangle 17"/>
          <p:cNvSpPr/>
          <p:nvPr/>
        </p:nvSpPr>
        <p:spPr>
          <a:xfrm>
            <a:off x="8127797" y="1783080"/>
            <a:ext cx="3515258" cy="4617720"/>
          </a:xfrm>
          <a:prstGeom prst="snip2DiagRect">
            <a:avLst>
              <a:gd name="adj1" fmla="val 0"/>
              <a:gd name="adj2" fmla="val 65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Oval 18"/>
          <p:cNvSpPr/>
          <p:nvPr/>
        </p:nvSpPr>
        <p:spPr>
          <a:xfrm>
            <a:off x="9556242" y="1453896"/>
            <a:ext cx="658368" cy="658368"/>
          </a:xfrm>
          <a:prstGeom prst="ellipse">
            <a:avLst/>
          </a:prstGeom>
          <a:solidFill>
            <a:srgbClr val="7A0912"/>
          </a:solidFill>
          <a:ln w="22225">
            <a:gradFill rotWithShape="1">
              <a:gsLst>
                <a:gs pos="0">
                  <a:srgbClr val="FFE6A1"/>
                </a:gs>
                <a:gs pos="45000">
                  <a:srgbClr val="E3AE4A"/>
                </a:gs>
                <a:gs pos="100000">
                  <a:srgbClr val="A8721C"/>
                </a:gs>
              </a:gsLst>
              <a:lin ang="2700000" scaled="0"/>
            </a:gra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users_FFE6A1.png"/>
          <p:cNvPicPr>
            <a:picLocks noChangeAspect="1"/>
          </p:cNvPicPr>
          <p:nvPr/>
        </p:nvPicPr>
        <p:blipFill>
          <a:blip r:embed="rId7"/>
          <a:stretch>
            <a:fillRect/>
          </a:stretch>
        </p:blipFill>
        <p:spPr>
          <a:xfrm>
            <a:off x="9704375" y="1602029"/>
            <a:ext cx="362102" cy="362102"/>
          </a:xfrm>
          <a:prstGeom prst="rect">
            <a:avLst/>
          </a:prstGeom>
        </p:spPr>
      </p:pic>
      <p:sp>
        <p:nvSpPr>
          <p:cNvPr id="21" name="TextBox 20"/>
          <p:cNvSpPr txBox="1"/>
          <p:nvPr/>
        </p:nvSpPr>
        <p:spPr>
          <a:xfrm>
            <a:off x="8310677" y="2221992"/>
            <a:ext cx="3149498" cy="365760"/>
          </a:xfrm>
          <a:prstGeom prst="rect">
            <a:avLst/>
          </a:prstGeom>
          <a:noFill/>
        </p:spPr>
        <p:txBody>
          <a:bodyPr wrap="square" lIns="0" rIns="0" tIns="0" bIns="0" anchor="t">
            <a:noAutofit/>
          </a:bodyPr>
          <a:lstStyle/>
          <a:p>
            <a:pPr algn="ctr"/>
            <a:r>
              <a:rPr sz="1500" b="0" i="0">
                <a:solidFill>
                  <a:srgbClr val="FFE6A1"/>
                </a:solidFill>
                <a:latin typeface="Be Vietnam Pro SemiBold"/>
                <a:ea typeface="Be Vietnam Pro SemiBold"/>
                <a:cs typeface="Be Vietnam Pro SemiBold"/>
              </a:rPr>
              <a:t>Nguồn gốc xã hội</a:t>
            </a:r>
          </a:p>
        </p:txBody>
      </p:sp>
      <p:sp>
        <p:nvSpPr>
          <p:cNvPr id="22" name="TextBox 21"/>
          <p:cNvSpPr txBox="1"/>
          <p:nvPr/>
        </p:nvSpPr>
        <p:spPr>
          <a:xfrm>
            <a:off x="8402117" y="2624328"/>
            <a:ext cx="2966618" cy="1143000"/>
          </a:xfrm>
          <a:prstGeom prst="rect">
            <a:avLst/>
          </a:prstGeom>
          <a:noFill/>
        </p:spPr>
        <p:txBody>
          <a:bodyPr wrap="square" lIns="0" rIns="0" tIns="0" bIns="0" anchor="t">
            <a:noAutofit/>
          </a:bodyPr>
          <a:lstStyle/>
          <a:p>
            <a:pPr algn="ctr">
              <a:lnSpc>
                <a:spcPct val="115000"/>
              </a:lnSpc>
            </a:pPr>
            <a:r>
              <a:rPr sz="1150" b="0" i="0">
                <a:solidFill>
                  <a:srgbClr val="FFF4E2"/>
                </a:solidFill>
                <a:latin typeface="Be Vietnam Pro"/>
                <a:ea typeface="Be Vietnam Pro"/>
                <a:cs typeface="Be Vietnam Pro"/>
              </a:rPr>
              <a:t>Lao động trí óc tách rời lao động chân tay; lợi ích của giai cấp thống trị.</a:t>
            </a:r>
          </a:p>
        </p:txBody>
      </p:sp>
      <p:pic>
        <p:nvPicPr>
          <p:cNvPr id="23" name="Picture 22" descr="2fd3eb1cc3d5d7d7.jpg"/>
          <p:cNvPicPr>
            <a:picLocks noChangeAspect="1"/>
          </p:cNvPicPr>
          <p:nvPr/>
        </p:nvPicPr>
        <p:blipFill>
          <a:blip r:embed="rId8"/>
          <a:srcRect l="5387" r="5387"/>
          <a:stretch>
            <a:fillRect/>
          </a:stretch>
        </p:blipFill>
        <p:spPr>
          <a:xfrm>
            <a:off x="8356397" y="3886200"/>
            <a:ext cx="3058058" cy="2286000"/>
          </a:xfrm>
          <a:prstGeom prst="snip2DiagRect">
            <a:avLst>
              <a:gd name="adj1" fmla="val 0"/>
              <a:gd name="adj2" fmla="val 8800"/>
            </a:avLst>
          </a:prstGeom>
          <a:ln w="1905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sp>
        <p:nvSpPr>
          <p:cNvPr id="24" name="TextBox 23"/>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42" presetClass="entr" presetSubtype="0" fill="hold" grpId="0" nodeType="with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anim calcmode="lin" valueType="num">
                                      <p:cBhvr additive="base">
                                        <p:cTn id="17" dur="600" fill="hold"/>
                                        <p:tgtEl>
                                          <p:spTgt spid="6"/>
                                        </p:tgtEl>
                                        <p:attrNameLst>
                                          <p:attrName>ppt_x</p:attrName>
                                        </p:attrNameLst>
                                      </p:cBhvr>
                                      <p:tavLst>
                                        <p:tav tm="0">
                                          <p:val>
                                            <p:strVal val="#ppt_x"/>
                                          </p:val>
                                        </p:tav>
                                        <p:tav tm="100000">
                                          <p:val>
                                            <p:strVal val="#ppt_x"/>
                                          </p:val>
                                        </p:tav>
                                      </p:tavLst>
                                    </p:anim>
                                    <p:anim calcmode="lin" valueType="num">
                                      <p:cBhvr additive="base">
                                        <p:cTn id="18" dur="600" fill="hold"/>
                                        <p:tgtEl>
                                          <p:spTgt spid="6"/>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600"/>
                                        <p:tgtEl>
                                          <p:spTgt spid="7"/>
                                        </p:tgtEl>
                                      </p:cBhvr>
                                    </p:animEffect>
                                    <p:anim calcmode="lin" valueType="num">
                                      <p:cBhvr additive="base">
                                        <p:cTn id="22" dur="600" fill="hold"/>
                                        <p:tgtEl>
                                          <p:spTgt spid="7"/>
                                        </p:tgtEl>
                                        <p:attrNameLst>
                                          <p:attrName>ppt_x</p:attrName>
                                        </p:attrNameLst>
                                      </p:cBhvr>
                                      <p:tavLst>
                                        <p:tav tm="0">
                                          <p:val>
                                            <p:strVal val="#ppt_x"/>
                                          </p:val>
                                        </p:tav>
                                        <p:tav tm="100000">
                                          <p:val>
                                            <p:strVal val="#ppt_x"/>
                                          </p:val>
                                        </p:tav>
                                      </p:tavLst>
                                    </p:anim>
                                    <p:anim calcmode="lin" valueType="num">
                                      <p:cBhvr additive="base">
                                        <p:cTn id="23" dur="600" fill="hold"/>
                                        <p:tgtEl>
                                          <p:spTgt spid="7"/>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4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anim calcmode="lin" valueType="num">
                                      <p:cBhvr additive="base">
                                        <p:cTn id="27" dur="600" fill="hold"/>
                                        <p:tgtEl>
                                          <p:spTgt spid="8"/>
                                        </p:tgtEl>
                                        <p:attrNameLst>
                                          <p:attrName>ppt_x</p:attrName>
                                        </p:attrNameLst>
                                      </p:cBhvr>
                                      <p:tavLst>
                                        <p:tav tm="0">
                                          <p:val>
                                            <p:strVal val="#ppt_x"/>
                                          </p:val>
                                        </p:tav>
                                        <p:tav tm="100000">
                                          <p:val>
                                            <p:strVal val="#ppt_x"/>
                                          </p:val>
                                        </p:tav>
                                      </p:tavLst>
                                    </p:anim>
                                    <p:anim calcmode="lin" valueType="num">
                                      <p:cBhvr additive="base">
                                        <p:cTn id="28" dur="600" fill="hold"/>
                                        <p:tgtEl>
                                          <p:spTgt spid="8"/>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4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additive="base">
                                        <p:cTn id="32" dur="600" fill="hold"/>
                                        <p:tgtEl>
                                          <p:spTgt spid="9"/>
                                        </p:tgtEl>
                                        <p:attrNameLst>
                                          <p:attrName>ppt_x</p:attrName>
                                        </p:attrNameLst>
                                      </p:cBhvr>
                                      <p:tavLst>
                                        <p:tav tm="0">
                                          <p:val>
                                            <p:strVal val="#ppt_x"/>
                                          </p:val>
                                        </p:tav>
                                        <p:tav tm="100000">
                                          <p:val>
                                            <p:strVal val="#ppt_x"/>
                                          </p:val>
                                        </p:tav>
                                      </p:tavLst>
                                    </p:anim>
                                    <p:anim calcmode="lin" valueType="num">
                                      <p:cBhvr additive="base">
                                        <p:cTn id="33" dur="60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40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600"/>
                                        <p:tgtEl>
                                          <p:spTgt spid="10"/>
                                        </p:tgtEl>
                                      </p:cBhvr>
                                    </p:animEffect>
                                    <p:anim calcmode="lin" valueType="num">
                                      <p:cBhvr additive="base">
                                        <p:cTn id="37" dur="600" fill="hold"/>
                                        <p:tgtEl>
                                          <p:spTgt spid="10"/>
                                        </p:tgtEl>
                                        <p:attrNameLst>
                                          <p:attrName>ppt_x</p:attrName>
                                        </p:attrNameLst>
                                      </p:cBhvr>
                                      <p:tavLst>
                                        <p:tav tm="0">
                                          <p:val>
                                            <p:strVal val="#ppt_x"/>
                                          </p:val>
                                        </p:tav>
                                        <p:tav tm="100000">
                                          <p:val>
                                            <p:strVal val="#ppt_x"/>
                                          </p:val>
                                        </p:tav>
                                      </p:tavLst>
                                    </p:anim>
                                    <p:anim calcmode="lin" valueType="num">
                                      <p:cBhvr additive="base">
                                        <p:cTn id="38" dur="6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40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additive="base">
                                        <p:cTn id="42" dur="600" fill="hold"/>
                                        <p:tgtEl>
                                          <p:spTgt spid="11"/>
                                        </p:tgtEl>
                                        <p:attrNameLst>
                                          <p:attrName>ppt_x</p:attrName>
                                        </p:attrNameLst>
                                      </p:cBhvr>
                                      <p:tavLst>
                                        <p:tav tm="0">
                                          <p:val>
                                            <p:strVal val="#ppt_x"/>
                                          </p:val>
                                        </p:tav>
                                        <p:tav tm="100000">
                                          <p:val>
                                            <p:strVal val="#ppt_x"/>
                                          </p:val>
                                        </p:tav>
                                      </p:tavLst>
                                    </p:anim>
                                    <p:anim calcmode="lin" valueType="num">
                                      <p:cBhvr additive="base">
                                        <p:cTn id="43" dur="60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65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600"/>
                                        <p:tgtEl>
                                          <p:spTgt spid="12"/>
                                        </p:tgtEl>
                                      </p:cBhvr>
                                    </p:animEffect>
                                    <p:anim calcmode="lin" valueType="num">
                                      <p:cBhvr additive="base">
                                        <p:cTn id="47" dur="600" fill="hold"/>
                                        <p:tgtEl>
                                          <p:spTgt spid="12"/>
                                        </p:tgtEl>
                                        <p:attrNameLst>
                                          <p:attrName>ppt_x</p:attrName>
                                        </p:attrNameLst>
                                      </p:cBhvr>
                                      <p:tavLst>
                                        <p:tav tm="0">
                                          <p:val>
                                            <p:strVal val="#ppt_x"/>
                                          </p:val>
                                        </p:tav>
                                        <p:tav tm="100000">
                                          <p:val>
                                            <p:strVal val="#ppt_x"/>
                                          </p:val>
                                        </p:tav>
                                      </p:tavLst>
                                    </p:anim>
                                    <p:anim calcmode="lin" valueType="num">
                                      <p:cBhvr additive="base">
                                        <p:cTn id="48" dur="60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65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600"/>
                                        <p:tgtEl>
                                          <p:spTgt spid="13"/>
                                        </p:tgtEl>
                                      </p:cBhvr>
                                    </p:animEffect>
                                    <p:anim calcmode="lin" valueType="num">
                                      <p:cBhvr additive="base">
                                        <p:cTn id="52" dur="600" fill="hold"/>
                                        <p:tgtEl>
                                          <p:spTgt spid="13"/>
                                        </p:tgtEl>
                                        <p:attrNameLst>
                                          <p:attrName>ppt_x</p:attrName>
                                        </p:attrNameLst>
                                      </p:cBhvr>
                                      <p:tavLst>
                                        <p:tav tm="0">
                                          <p:val>
                                            <p:strVal val="#ppt_x"/>
                                          </p:val>
                                        </p:tav>
                                        <p:tav tm="100000">
                                          <p:val>
                                            <p:strVal val="#ppt_x"/>
                                          </p:val>
                                        </p:tav>
                                      </p:tavLst>
                                    </p:anim>
                                    <p:anim calcmode="lin" valueType="num">
                                      <p:cBhvr additive="base">
                                        <p:cTn id="53" dur="600" fill="hold"/>
                                        <p:tgtEl>
                                          <p:spTgt spid="13"/>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65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600"/>
                                        <p:tgtEl>
                                          <p:spTgt spid="14"/>
                                        </p:tgtEl>
                                      </p:cBhvr>
                                    </p:animEffect>
                                    <p:anim calcmode="lin" valueType="num">
                                      <p:cBhvr additive="base">
                                        <p:cTn id="57" dur="600" fill="hold"/>
                                        <p:tgtEl>
                                          <p:spTgt spid="14"/>
                                        </p:tgtEl>
                                        <p:attrNameLst>
                                          <p:attrName>ppt_x</p:attrName>
                                        </p:attrNameLst>
                                      </p:cBhvr>
                                      <p:tavLst>
                                        <p:tav tm="0">
                                          <p:val>
                                            <p:strVal val="#ppt_x"/>
                                          </p:val>
                                        </p:tav>
                                        <p:tav tm="100000">
                                          <p:val>
                                            <p:strVal val="#ppt_x"/>
                                          </p:val>
                                        </p:tav>
                                      </p:tavLst>
                                    </p:anim>
                                    <p:anim calcmode="lin" valueType="num">
                                      <p:cBhvr additive="base">
                                        <p:cTn id="58" dur="60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65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600"/>
                                        <p:tgtEl>
                                          <p:spTgt spid="15"/>
                                        </p:tgtEl>
                                      </p:cBhvr>
                                    </p:animEffect>
                                    <p:anim calcmode="lin" valueType="num">
                                      <p:cBhvr additive="base">
                                        <p:cTn id="62" dur="600" fill="hold"/>
                                        <p:tgtEl>
                                          <p:spTgt spid="15"/>
                                        </p:tgtEl>
                                        <p:attrNameLst>
                                          <p:attrName>ppt_x</p:attrName>
                                        </p:attrNameLst>
                                      </p:cBhvr>
                                      <p:tavLst>
                                        <p:tav tm="0">
                                          <p:val>
                                            <p:strVal val="#ppt_x"/>
                                          </p:val>
                                        </p:tav>
                                        <p:tav tm="100000">
                                          <p:val>
                                            <p:strVal val="#ppt_x"/>
                                          </p:val>
                                        </p:tav>
                                      </p:tavLst>
                                    </p:anim>
                                    <p:anim calcmode="lin" valueType="num">
                                      <p:cBhvr additive="base">
                                        <p:cTn id="63" dur="600" fill="hold"/>
                                        <p:tgtEl>
                                          <p:spTgt spid="15"/>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65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600"/>
                                        <p:tgtEl>
                                          <p:spTgt spid="16"/>
                                        </p:tgtEl>
                                      </p:cBhvr>
                                    </p:animEffect>
                                    <p:anim calcmode="lin" valueType="num">
                                      <p:cBhvr additive="base">
                                        <p:cTn id="67" dur="600" fill="hold"/>
                                        <p:tgtEl>
                                          <p:spTgt spid="16"/>
                                        </p:tgtEl>
                                        <p:attrNameLst>
                                          <p:attrName>ppt_x</p:attrName>
                                        </p:attrNameLst>
                                      </p:cBhvr>
                                      <p:tavLst>
                                        <p:tav tm="0">
                                          <p:val>
                                            <p:strVal val="#ppt_x"/>
                                          </p:val>
                                        </p:tav>
                                        <p:tav tm="100000">
                                          <p:val>
                                            <p:strVal val="#ppt_x"/>
                                          </p:val>
                                        </p:tav>
                                      </p:tavLst>
                                    </p:anim>
                                    <p:anim calcmode="lin" valueType="num">
                                      <p:cBhvr additive="base">
                                        <p:cTn id="68" dur="600" fill="hold"/>
                                        <p:tgtEl>
                                          <p:spTgt spid="16"/>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65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600"/>
                                        <p:tgtEl>
                                          <p:spTgt spid="17"/>
                                        </p:tgtEl>
                                      </p:cBhvr>
                                    </p:animEffect>
                                    <p:anim calcmode="lin" valueType="num">
                                      <p:cBhvr additive="base">
                                        <p:cTn id="72" dur="600" fill="hold"/>
                                        <p:tgtEl>
                                          <p:spTgt spid="17"/>
                                        </p:tgtEl>
                                        <p:attrNameLst>
                                          <p:attrName>ppt_x</p:attrName>
                                        </p:attrNameLst>
                                      </p:cBhvr>
                                      <p:tavLst>
                                        <p:tav tm="0">
                                          <p:val>
                                            <p:strVal val="#ppt_x"/>
                                          </p:val>
                                        </p:tav>
                                        <p:tav tm="100000">
                                          <p:val>
                                            <p:strVal val="#ppt_x"/>
                                          </p:val>
                                        </p:tav>
                                      </p:tavLst>
                                    </p:anim>
                                    <p:anim calcmode="lin" valueType="num">
                                      <p:cBhvr additive="base">
                                        <p:cTn id="73" dur="600" fill="hold"/>
                                        <p:tgtEl>
                                          <p:spTgt spid="17"/>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90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600"/>
                                        <p:tgtEl>
                                          <p:spTgt spid="18"/>
                                        </p:tgtEl>
                                      </p:cBhvr>
                                    </p:animEffect>
                                    <p:anim calcmode="lin" valueType="num">
                                      <p:cBhvr additive="base">
                                        <p:cTn id="77" dur="600" fill="hold"/>
                                        <p:tgtEl>
                                          <p:spTgt spid="18"/>
                                        </p:tgtEl>
                                        <p:attrNameLst>
                                          <p:attrName>ppt_x</p:attrName>
                                        </p:attrNameLst>
                                      </p:cBhvr>
                                      <p:tavLst>
                                        <p:tav tm="0">
                                          <p:val>
                                            <p:strVal val="#ppt_x"/>
                                          </p:val>
                                        </p:tav>
                                        <p:tav tm="100000">
                                          <p:val>
                                            <p:strVal val="#ppt_x"/>
                                          </p:val>
                                        </p:tav>
                                      </p:tavLst>
                                    </p:anim>
                                    <p:anim calcmode="lin" valueType="num">
                                      <p:cBhvr additive="base">
                                        <p:cTn id="78" dur="600" fill="hold"/>
                                        <p:tgtEl>
                                          <p:spTgt spid="18"/>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90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600"/>
                                        <p:tgtEl>
                                          <p:spTgt spid="19"/>
                                        </p:tgtEl>
                                      </p:cBhvr>
                                    </p:animEffect>
                                    <p:anim calcmode="lin" valueType="num">
                                      <p:cBhvr additive="base">
                                        <p:cTn id="82" dur="600" fill="hold"/>
                                        <p:tgtEl>
                                          <p:spTgt spid="19"/>
                                        </p:tgtEl>
                                        <p:attrNameLst>
                                          <p:attrName>ppt_x</p:attrName>
                                        </p:attrNameLst>
                                      </p:cBhvr>
                                      <p:tavLst>
                                        <p:tav tm="0">
                                          <p:val>
                                            <p:strVal val="#ppt_x"/>
                                          </p:val>
                                        </p:tav>
                                        <p:tav tm="100000">
                                          <p:val>
                                            <p:strVal val="#ppt_x"/>
                                          </p:val>
                                        </p:tav>
                                      </p:tavLst>
                                    </p:anim>
                                    <p:anim calcmode="lin" valueType="num">
                                      <p:cBhvr additive="base">
                                        <p:cTn id="83" dur="600" fill="hold"/>
                                        <p:tgtEl>
                                          <p:spTgt spid="19"/>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90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600"/>
                                        <p:tgtEl>
                                          <p:spTgt spid="20"/>
                                        </p:tgtEl>
                                      </p:cBhvr>
                                    </p:animEffect>
                                    <p:anim calcmode="lin" valueType="num">
                                      <p:cBhvr additive="base">
                                        <p:cTn id="87" dur="600" fill="hold"/>
                                        <p:tgtEl>
                                          <p:spTgt spid="20"/>
                                        </p:tgtEl>
                                        <p:attrNameLst>
                                          <p:attrName>ppt_x</p:attrName>
                                        </p:attrNameLst>
                                      </p:cBhvr>
                                      <p:tavLst>
                                        <p:tav tm="0">
                                          <p:val>
                                            <p:strVal val="#ppt_x"/>
                                          </p:val>
                                        </p:tav>
                                        <p:tav tm="100000">
                                          <p:val>
                                            <p:strVal val="#ppt_x"/>
                                          </p:val>
                                        </p:tav>
                                      </p:tavLst>
                                    </p:anim>
                                    <p:anim calcmode="lin" valueType="num">
                                      <p:cBhvr additive="base">
                                        <p:cTn id="88" dur="600" fill="hold"/>
                                        <p:tgtEl>
                                          <p:spTgt spid="20"/>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90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600"/>
                                        <p:tgtEl>
                                          <p:spTgt spid="21"/>
                                        </p:tgtEl>
                                      </p:cBhvr>
                                    </p:animEffect>
                                    <p:anim calcmode="lin" valueType="num">
                                      <p:cBhvr additive="base">
                                        <p:cTn id="92" dur="600" fill="hold"/>
                                        <p:tgtEl>
                                          <p:spTgt spid="21"/>
                                        </p:tgtEl>
                                        <p:attrNameLst>
                                          <p:attrName>ppt_x</p:attrName>
                                        </p:attrNameLst>
                                      </p:cBhvr>
                                      <p:tavLst>
                                        <p:tav tm="0">
                                          <p:val>
                                            <p:strVal val="#ppt_x"/>
                                          </p:val>
                                        </p:tav>
                                        <p:tav tm="100000">
                                          <p:val>
                                            <p:strVal val="#ppt_x"/>
                                          </p:val>
                                        </p:tav>
                                      </p:tavLst>
                                    </p:anim>
                                    <p:anim calcmode="lin" valueType="num">
                                      <p:cBhvr additive="base">
                                        <p:cTn id="93" dur="600" fill="hold"/>
                                        <p:tgtEl>
                                          <p:spTgt spid="21"/>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90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600"/>
                                        <p:tgtEl>
                                          <p:spTgt spid="22"/>
                                        </p:tgtEl>
                                      </p:cBhvr>
                                    </p:animEffect>
                                    <p:anim calcmode="lin" valueType="num">
                                      <p:cBhvr additive="base">
                                        <p:cTn id="97" dur="600" fill="hold"/>
                                        <p:tgtEl>
                                          <p:spTgt spid="22"/>
                                        </p:tgtEl>
                                        <p:attrNameLst>
                                          <p:attrName>ppt_x</p:attrName>
                                        </p:attrNameLst>
                                      </p:cBhvr>
                                      <p:tavLst>
                                        <p:tav tm="0">
                                          <p:val>
                                            <p:strVal val="#ppt_x"/>
                                          </p:val>
                                        </p:tav>
                                        <p:tav tm="100000">
                                          <p:val>
                                            <p:strVal val="#ppt_x"/>
                                          </p:val>
                                        </p:tav>
                                      </p:tavLst>
                                    </p:anim>
                                    <p:anim calcmode="lin" valueType="num">
                                      <p:cBhvr additive="base">
                                        <p:cTn id="98" dur="600" fill="hold"/>
                                        <p:tgtEl>
                                          <p:spTgt spid="22"/>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90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600"/>
                                        <p:tgtEl>
                                          <p:spTgt spid="23"/>
                                        </p:tgtEl>
                                      </p:cBhvr>
                                    </p:animEffect>
                                    <p:anim calcmode="lin" valueType="num">
                                      <p:cBhvr additive="base">
                                        <p:cTn id="102" dur="600" fill="hold"/>
                                        <p:tgtEl>
                                          <p:spTgt spid="23"/>
                                        </p:tgtEl>
                                        <p:attrNameLst>
                                          <p:attrName>ppt_x</p:attrName>
                                        </p:attrNameLst>
                                      </p:cBhvr>
                                      <p:tavLst>
                                        <p:tav tm="0">
                                          <p:val>
                                            <p:strVal val="#ppt_x"/>
                                          </p:val>
                                        </p:tav>
                                        <p:tav tm="100000">
                                          <p:val>
                                            <p:strVal val="#ppt_x"/>
                                          </p:val>
                                        </p:tav>
                                      </p:tavLst>
                                    </p:anim>
                                    <p:anim calcmode="lin" valueType="num">
                                      <p:cBhvr additive="base">
                                        <p:cTn id="103" dur="600" fill="hold"/>
                                        <p:tgtEl>
                                          <p:spTgt spid="2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2</a:t>
            </a:r>
          </a:p>
        </p:txBody>
      </p:sp>
      <p:sp>
        <p:nvSpPr>
          <p:cNvPr id="4" name="!!tab"/>
          <p:cNvSpPr/>
          <p:nvPr/>
        </p:nvSpPr>
        <p:spPr>
          <a:xfrm>
            <a:off x="548640" y="566928"/>
            <a:ext cx="6210981"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NHẤT NGUYÊN LUẬN VÀ NHỊ NGUYÊN LUẬN</a:t>
            </a:r>
          </a:p>
        </p:txBody>
      </p:sp>
      <p:sp>
        <p:nvSpPr>
          <p:cNvPr id="5" name="!!rule"/>
          <p:cNvSpPr/>
          <p:nvPr/>
        </p:nvSpPr>
        <p:spPr>
          <a:xfrm>
            <a:off x="6869349" y="1133856"/>
            <a:ext cx="4956587"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Snip Diagonal Corner Rectangle 5"/>
          <p:cNvSpPr/>
          <p:nvPr/>
        </p:nvSpPr>
        <p:spPr>
          <a:xfrm>
            <a:off x="548640" y="1691640"/>
            <a:ext cx="5387188" cy="2194560"/>
          </a:xfrm>
          <a:prstGeom prst="snip2DiagRect">
            <a:avLst>
              <a:gd name="adj1" fmla="val 0"/>
              <a:gd name="adj2" fmla="val 9166"/>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7" name="Snip Diagonal Corner Rectangle 6"/>
          <p:cNvSpPr/>
          <p:nvPr/>
        </p:nvSpPr>
        <p:spPr>
          <a:xfrm>
            <a:off x="777240" y="1490472"/>
            <a:ext cx="2493393" cy="438912"/>
          </a:xfrm>
          <a:prstGeom prst="snip2DiagRect">
            <a:avLst>
              <a:gd name="adj1" fmla="val 0"/>
              <a:gd name="adj2" fmla="val 25000"/>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82880" rIns="182880" tIns="18288" bIns="18288" wrap="square"/>
          <a:lstStyle/>
          <a:p>
            <a:pPr algn="l">
              <a:lnSpc>
                <a:spcPct val="105000"/>
              </a:lnSpc>
            </a:pPr>
            <a:r>
              <a:rPr sz="1400" b="0" i="0">
                <a:solidFill>
                  <a:srgbClr val="FFE6A1"/>
                </a:solidFill>
                <a:latin typeface="Be Vietnam Pro SemiBold"/>
                <a:ea typeface="Be Vietnam Pro SemiBold"/>
                <a:cs typeface="Be Vietnam Pro SemiBold"/>
              </a:rPr>
              <a:t>Nhất nguyên luận</a:t>
            </a:r>
          </a:p>
        </p:txBody>
      </p:sp>
      <p:pic>
        <p:nvPicPr>
          <p:cNvPr id="8" name="Picture 7" descr="star_gold.png"/>
          <p:cNvPicPr>
            <a:picLocks noChangeAspect="1"/>
          </p:cNvPicPr>
          <p:nvPr/>
        </p:nvPicPr>
        <p:blipFill>
          <a:blip r:embed="rId3"/>
          <a:stretch>
            <a:fillRect/>
          </a:stretch>
        </p:blipFill>
        <p:spPr>
          <a:xfrm>
            <a:off x="2868297" y="1576708"/>
            <a:ext cx="292608" cy="279524"/>
          </a:xfrm>
          <a:prstGeom prst="rect">
            <a:avLst/>
          </a:prstGeom>
        </p:spPr>
      </p:pic>
      <p:sp>
        <p:nvSpPr>
          <p:cNvPr id="9" name="TextBox 8"/>
          <p:cNvSpPr txBox="1"/>
          <p:nvPr/>
        </p:nvSpPr>
        <p:spPr>
          <a:xfrm>
            <a:off x="822960" y="2148840"/>
            <a:ext cx="4838548" cy="1051560"/>
          </a:xfrm>
          <a:prstGeom prst="rect">
            <a:avLst/>
          </a:prstGeom>
          <a:noFill/>
        </p:spPr>
        <p:txBody>
          <a:bodyPr wrap="square" lIns="0" rIns="0" tIns="0" bIns="0" anchor="t">
            <a:noAutofit/>
          </a:bodyPr>
          <a:lstStyle/>
          <a:p>
            <a:pPr algn="l">
              <a:lnSpc>
                <a:spcPct val="115000"/>
              </a:lnSpc>
            </a:pPr>
            <a:r>
              <a:rPr sz="1300" b="0" i="0">
                <a:solidFill>
                  <a:srgbClr val="FFF4E2"/>
                </a:solidFill>
                <a:latin typeface="Be Vietnam Pro"/>
                <a:ea typeface="Be Vietnam Pro"/>
                <a:cs typeface="Be Vietnam Pro"/>
              </a:rPr>
              <a:t>Chỉ thừa nhận một trong hai thực thể (vật chất hoặc tinh thần) là bản nguyên của thế giới.</a:t>
            </a:r>
          </a:p>
        </p:txBody>
      </p:sp>
      <p:sp>
        <p:nvSpPr>
          <p:cNvPr id="10" name="Snip Diagonal Corner Rectangle 9"/>
          <p:cNvSpPr/>
          <p:nvPr/>
        </p:nvSpPr>
        <p:spPr>
          <a:xfrm>
            <a:off x="822960" y="3172968"/>
            <a:ext cx="1929686" cy="420624"/>
          </a:xfrm>
          <a:prstGeom prst="snip2DiagRect">
            <a:avLst>
              <a:gd name="adj1" fmla="val 0"/>
              <a:gd name="adj2" fmla="val 21739"/>
            </a:avLst>
          </a:prstGeom>
          <a:gradFill rotWithShape="1">
            <a:gsLst>
              <a:gs pos="0">
                <a:srgbClr val="7A0912"/>
              </a:gs>
              <a:gs pos="100000">
                <a:srgbClr val="A30F1A"/>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150" b="0" i="0">
                <a:solidFill>
                  <a:srgbClr val="FFF4E2"/>
                </a:solidFill>
                <a:latin typeface="Be Vietnam Pro Medium"/>
                <a:ea typeface="Be Vietnam Pro Medium"/>
                <a:cs typeface="Be Vietnam Pro Medium"/>
              </a:rPr>
              <a:t>Nhất nguyên duy vật</a:t>
            </a:r>
          </a:p>
        </p:txBody>
      </p:sp>
      <p:sp>
        <p:nvSpPr>
          <p:cNvPr id="11" name="Snip Diagonal Corner Rectangle 10"/>
          <p:cNvSpPr/>
          <p:nvPr/>
        </p:nvSpPr>
        <p:spPr>
          <a:xfrm>
            <a:off x="2935526" y="3172968"/>
            <a:ext cx="1978620" cy="420624"/>
          </a:xfrm>
          <a:prstGeom prst="snip2DiagRect">
            <a:avLst>
              <a:gd name="adj1" fmla="val 0"/>
              <a:gd name="adj2" fmla="val 21739"/>
            </a:avLst>
          </a:prstGeom>
          <a:gradFill rotWithShape="1">
            <a:gsLst>
              <a:gs pos="0">
                <a:srgbClr val="7A0912"/>
              </a:gs>
              <a:gs pos="100000">
                <a:srgbClr val="A30F1A"/>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150" b="0" i="0">
                <a:solidFill>
                  <a:srgbClr val="FFF4E2"/>
                </a:solidFill>
                <a:latin typeface="Be Vietnam Pro Medium"/>
                <a:ea typeface="Be Vietnam Pro Medium"/>
                <a:cs typeface="Be Vietnam Pro Medium"/>
              </a:rPr>
              <a:t>Nhất nguyên duy tâm</a:t>
            </a:r>
          </a:p>
        </p:txBody>
      </p:sp>
      <p:sp>
        <p:nvSpPr>
          <p:cNvPr id="12" name="Snip Diagonal Corner Rectangle 11"/>
          <p:cNvSpPr/>
          <p:nvPr/>
        </p:nvSpPr>
        <p:spPr>
          <a:xfrm>
            <a:off x="6255868" y="1691640"/>
            <a:ext cx="5387188" cy="2194560"/>
          </a:xfrm>
          <a:prstGeom prst="snip2DiagRect">
            <a:avLst>
              <a:gd name="adj1" fmla="val 0"/>
              <a:gd name="adj2" fmla="val 9166"/>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Snip Diagonal Corner Rectangle 12"/>
          <p:cNvSpPr/>
          <p:nvPr/>
        </p:nvSpPr>
        <p:spPr>
          <a:xfrm>
            <a:off x="6484468" y="1490472"/>
            <a:ext cx="2354001" cy="438912"/>
          </a:xfrm>
          <a:prstGeom prst="snip2DiagRect">
            <a:avLst>
              <a:gd name="adj1" fmla="val 0"/>
              <a:gd name="adj2" fmla="val 25000"/>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82880" rIns="182880" tIns="18288" bIns="18288" wrap="square"/>
          <a:lstStyle/>
          <a:p>
            <a:pPr algn="l">
              <a:lnSpc>
                <a:spcPct val="105000"/>
              </a:lnSpc>
            </a:pPr>
            <a:r>
              <a:rPr sz="1400" b="0" i="0">
                <a:solidFill>
                  <a:srgbClr val="FFE6A1"/>
                </a:solidFill>
                <a:latin typeface="Be Vietnam Pro SemiBold"/>
                <a:ea typeface="Be Vietnam Pro SemiBold"/>
                <a:cs typeface="Be Vietnam Pro SemiBold"/>
              </a:rPr>
              <a:t>Nhị nguyên luận</a:t>
            </a:r>
          </a:p>
        </p:txBody>
      </p:sp>
      <p:pic>
        <p:nvPicPr>
          <p:cNvPr id="14" name="Picture 13" descr="star_gold.png"/>
          <p:cNvPicPr>
            <a:picLocks noChangeAspect="1"/>
          </p:cNvPicPr>
          <p:nvPr/>
        </p:nvPicPr>
        <p:blipFill>
          <a:blip r:embed="rId3"/>
          <a:stretch>
            <a:fillRect/>
          </a:stretch>
        </p:blipFill>
        <p:spPr>
          <a:xfrm>
            <a:off x="8436132" y="1576708"/>
            <a:ext cx="292608" cy="279524"/>
          </a:xfrm>
          <a:prstGeom prst="rect">
            <a:avLst/>
          </a:prstGeom>
        </p:spPr>
      </p:pic>
      <p:sp>
        <p:nvSpPr>
          <p:cNvPr id="15" name="TextBox 14"/>
          <p:cNvSpPr txBox="1"/>
          <p:nvPr/>
        </p:nvSpPr>
        <p:spPr>
          <a:xfrm>
            <a:off x="6530188" y="2148840"/>
            <a:ext cx="4838548" cy="1051560"/>
          </a:xfrm>
          <a:prstGeom prst="rect">
            <a:avLst/>
          </a:prstGeom>
          <a:noFill/>
        </p:spPr>
        <p:txBody>
          <a:bodyPr wrap="square" lIns="0" rIns="0" tIns="0" bIns="0" anchor="t">
            <a:noAutofit/>
          </a:bodyPr>
          <a:lstStyle/>
          <a:p>
            <a:pPr algn="l">
              <a:lnSpc>
                <a:spcPct val="115000"/>
              </a:lnSpc>
            </a:pPr>
            <a:r>
              <a:rPr sz="1300" b="0" i="0">
                <a:solidFill>
                  <a:srgbClr val="FFF4E2"/>
                </a:solidFill>
                <a:latin typeface="Be Vietnam Pro"/>
                <a:ea typeface="Be Vietnam Pro"/>
                <a:cs typeface="Be Vietnam Pro"/>
              </a:rPr>
              <a:t>Vật chất và tinh thần là hai bản nguyên tồn tại song song, độc lập với nhau.</a:t>
            </a:r>
          </a:p>
        </p:txBody>
      </p:sp>
      <p:sp>
        <p:nvSpPr>
          <p:cNvPr id="16" name="Snip Diagonal Corner Rectangle 15"/>
          <p:cNvSpPr/>
          <p:nvPr/>
        </p:nvSpPr>
        <p:spPr>
          <a:xfrm>
            <a:off x="6530188" y="3172968"/>
            <a:ext cx="2000677" cy="420624"/>
          </a:xfrm>
          <a:prstGeom prst="snip2DiagRect">
            <a:avLst>
              <a:gd name="adj1" fmla="val 0"/>
              <a:gd name="adj2" fmla="val 21739"/>
            </a:avLst>
          </a:prstGeom>
          <a:gradFill rotWithShape="1">
            <a:gsLst>
              <a:gs pos="0">
                <a:srgbClr val="7A0912"/>
              </a:gs>
              <a:gs pos="100000">
                <a:srgbClr val="A30F1A"/>
              </a:gs>
            </a:gsLst>
            <a:lin ang="54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150" b="0" i="0">
                <a:solidFill>
                  <a:srgbClr val="FFF4E2"/>
                </a:solidFill>
                <a:latin typeface="Be Vietnam Pro Medium"/>
                <a:ea typeface="Be Vietnam Pro Medium"/>
                <a:cs typeface="Be Vietnam Pro Medium"/>
              </a:rPr>
              <a:t>Tiêu biểu: R. Đềcáctơ</a:t>
            </a:r>
          </a:p>
        </p:txBody>
      </p:sp>
      <p:sp>
        <p:nvSpPr>
          <p:cNvPr id="17" name="Snip Diagonal Corner Rectangle 16"/>
          <p:cNvSpPr/>
          <p:nvPr/>
        </p:nvSpPr>
        <p:spPr>
          <a:xfrm>
            <a:off x="1097280" y="4526280"/>
            <a:ext cx="8899855" cy="1051560"/>
          </a:xfrm>
          <a:prstGeom prst="snip2DiagRect">
            <a:avLst>
              <a:gd name="adj1" fmla="val 0"/>
              <a:gd name="adj2" fmla="val 21739"/>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914400" rIns="914400" wrap="square"/>
          <a:lstStyle/>
          <a:p>
            <a:pPr algn="ctr">
              <a:lnSpc>
                <a:spcPct val="105000"/>
              </a:lnSpc>
            </a:pPr>
            <a:r>
              <a:rPr sz="1700" b="0" i="1">
                <a:solidFill>
                  <a:srgbClr val="FFF4E2"/>
                </a:solidFill>
                <a:latin typeface="Be Vietnam Pro"/>
                <a:ea typeface="Be Vietnam Pro"/>
                <a:cs typeface="Be Vietnam Pro"/>
              </a:rPr>
              <a:t>Xét đến cùng, nhị nguyên luận thuộc về chủ nghĩa duy tâm</a:t>
            </a:r>
          </a:p>
        </p:txBody>
      </p:sp>
      <p:pic>
        <p:nvPicPr>
          <p:cNvPr id="18" name="Picture 17" descr="quote_open.png"/>
          <p:cNvPicPr>
            <a:picLocks noChangeAspect="1"/>
          </p:cNvPicPr>
          <p:nvPr/>
        </p:nvPicPr>
        <p:blipFill>
          <a:blip r:embed="rId4"/>
          <a:stretch>
            <a:fillRect/>
          </a:stretch>
        </p:blipFill>
        <p:spPr>
          <a:xfrm>
            <a:off x="1325880" y="4526280"/>
            <a:ext cx="685800" cy="502920"/>
          </a:xfrm>
          <a:prstGeom prst="rect">
            <a:avLst/>
          </a:prstGeom>
        </p:spPr>
      </p:pic>
      <p:pic>
        <p:nvPicPr>
          <p:cNvPr id="19" name="Picture 18" descr="quote_close.png"/>
          <p:cNvPicPr>
            <a:picLocks noChangeAspect="1"/>
          </p:cNvPicPr>
          <p:nvPr/>
        </p:nvPicPr>
        <p:blipFill>
          <a:blip r:embed="rId5"/>
          <a:stretch>
            <a:fillRect/>
          </a:stretch>
        </p:blipFill>
        <p:spPr>
          <a:xfrm>
            <a:off x="9265615" y="5303520"/>
            <a:ext cx="685800" cy="502920"/>
          </a:xfrm>
          <a:prstGeom prst="rect">
            <a:avLst/>
          </a:prstGeom>
        </p:spPr>
      </p:pic>
      <p:pic>
        <p:nvPicPr>
          <p:cNvPr id="20" name="Picture 19" descr="glow_FFC560_30_1.5.png"/>
          <p:cNvPicPr>
            <a:picLocks noChangeAspect="1"/>
          </p:cNvPicPr>
          <p:nvPr/>
        </p:nvPicPr>
        <p:blipFill>
          <a:blip r:embed="rId6"/>
          <a:stretch>
            <a:fillRect/>
          </a:stretch>
        </p:blipFill>
        <p:spPr>
          <a:xfrm>
            <a:off x="9874029" y="4126230"/>
            <a:ext cx="2125980" cy="2125980"/>
          </a:xfrm>
          <a:prstGeom prst="rect">
            <a:avLst/>
          </a:prstGeom>
        </p:spPr>
      </p:pic>
      <p:pic>
        <p:nvPicPr>
          <p:cNvPr id="21" name="!!emblem" descr="hammer_sickle.png"/>
          <p:cNvPicPr>
            <a:picLocks noChangeAspect="1"/>
          </p:cNvPicPr>
          <p:nvPr/>
        </p:nvPicPr>
        <p:blipFill>
          <a:blip r:embed="rId7"/>
          <a:srcRect t="0" b="0"/>
          <a:stretch>
            <a:fillRect/>
          </a:stretch>
        </p:blipFill>
        <p:spPr>
          <a:xfrm>
            <a:off x="10317175" y="4480560"/>
            <a:ext cx="1239688" cy="1417320"/>
          </a:xfrm>
          <a:prstGeom prst="rect">
            <a:avLst/>
          </a:prstGeom>
        </p:spPr>
      </p:pic>
      <p:sp>
        <p:nvSpPr>
          <p:cNvPr id="22" name="TextBox 21"/>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15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42" presetClass="entr" presetSubtype="0" fill="hold" grpId="0" nodeType="with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50"/>
                                        <p:tgtEl>
                                          <p:spTgt spid="6"/>
                                        </p:tgtEl>
                                      </p:cBhvr>
                                    </p:animEffect>
                                    <p:anim calcmode="lin" valueType="num">
                                      <p:cBhvr additive="base">
                                        <p:cTn id="17" dur="550" fill="hold"/>
                                        <p:tgtEl>
                                          <p:spTgt spid="6"/>
                                        </p:tgtEl>
                                        <p:attrNameLst>
                                          <p:attrName>ppt_x</p:attrName>
                                        </p:attrNameLst>
                                      </p:cBhvr>
                                      <p:tavLst>
                                        <p:tav tm="0">
                                          <p:val>
                                            <p:strVal val="#ppt_x"/>
                                          </p:val>
                                        </p:tav>
                                        <p:tav tm="100000">
                                          <p:val>
                                            <p:strVal val="#ppt_x"/>
                                          </p:val>
                                        </p:tav>
                                      </p:tavLst>
                                    </p:anim>
                                    <p:anim calcmode="lin" valueType="num">
                                      <p:cBhvr additive="base">
                                        <p:cTn id="18" dur="550" fill="hold"/>
                                        <p:tgtEl>
                                          <p:spTgt spid="6"/>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4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50"/>
                                        <p:tgtEl>
                                          <p:spTgt spid="7"/>
                                        </p:tgtEl>
                                      </p:cBhvr>
                                    </p:animEffect>
                                    <p:anim calcmode="lin" valueType="num">
                                      <p:cBhvr additive="base">
                                        <p:cTn id="22" dur="550" fill="hold"/>
                                        <p:tgtEl>
                                          <p:spTgt spid="7"/>
                                        </p:tgtEl>
                                        <p:attrNameLst>
                                          <p:attrName>ppt_x</p:attrName>
                                        </p:attrNameLst>
                                      </p:cBhvr>
                                      <p:tavLst>
                                        <p:tav tm="0">
                                          <p:val>
                                            <p:strVal val="#ppt_x"/>
                                          </p:val>
                                        </p:tav>
                                        <p:tav tm="100000">
                                          <p:val>
                                            <p:strVal val="#ppt_x"/>
                                          </p:val>
                                        </p:tav>
                                      </p:tavLst>
                                    </p:anim>
                                    <p:anim calcmode="lin" valueType="num">
                                      <p:cBhvr additive="base">
                                        <p:cTn id="23" dur="550" fill="hold"/>
                                        <p:tgtEl>
                                          <p:spTgt spid="7"/>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4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anim calcmode="lin" valueType="num">
                                      <p:cBhvr additive="base">
                                        <p:cTn id="27" dur="550" fill="hold"/>
                                        <p:tgtEl>
                                          <p:spTgt spid="8"/>
                                        </p:tgtEl>
                                        <p:attrNameLst>
                                          <p:attrName>ppt_x</p:attrName>
                                        </p:attrNameLst>
                                      </p:cBhvr>
                                      <p:tavLst>
                                        <p:tav tm="0">
                                          <p:val>
                                            <p:strVal val="#ppt_x"/>
                                          </p:val>
                                        </p:tav>
                                        <p:tav tm="100000">
                                          <p:val>
                                            <p:strVal val="#ppt_x"/>
                                          </p:val>
                                        </p:tav>
                                      </p:tavLst>
                                    </p:anim>
                                    <p:anim calcmode="lin" valueType="num">
                                      <p:cBhvr additive="base">
                                        <p:cTn id="28" dur="550" fill="hold"/>
                                        <p:tgtEl>
                                          <p:spTgt spid="8"/>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4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50"/>
                                        <p:tgtEl>
                                          <p:spTgt spid="9"/>
                                        </p:tgtEl>
                                      </p:cBhvr>
                                    </p:animEffect>
                                    <p:anim calcmode="lin" valueType="num">
                                      <p:cBhvr additive="base">
                                        <p:cTn id="32" dur="550" fill="hold"/>
                                        <p:tgtEl>
                                          <p:spTgt spid="9"/>
                                        </p:tgtEl>
                                        <p:attrNameLst>
                                          <p:attrName>ppt_x</p:attrName>
                                        </p:attrNameLst>
                                      </p:cBhvr>
                                      <p:tavLst>
                                        <p:tav tm="0">
                                          <p:val>
                                            <p:strVal val="#ppt_x"/>
                                          </p:val>
                                        </p:tav>
                                        <p:tav tm="100000">
                                          <p:val>
                                            <p:strVal val="#ppt_x"/>
                                          </p:val>
                                        </p:tav>
                                      </p:tavLst>
                                    </p:anim>
                                    <p:anim calcmode="lin" valueType="num">
                                      <p:cBhvr additive="base">
                                        <p:cTn id="33" dur="55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40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50"/>
                                        <p:tgtEl>
                                          <p:spTgt spid="10"/>
                                        </p:tgtEl>
                                      </p:cBhvr>
                                    </p:animEffect>
                                    <p:anim calcmode="lin" valueType="num">
                                      <p:cBhvr additive="base">
                                        <p:cTn id="37" dur="550" fill="hold"/>
                                        <p:tgtEl>
                                          <p:spTgt spid="10"/>
                                        </p:tgtEl>
                                        <p:attrNameLst>
                                          <p:attrName>ppt_x</p:attrName>
                                        </p:attrNameLst>
                                      </p:cBhvr>
                                      <p:tavLst>
                                        <p:tav tm="0">
                                          <p:val>
                                            <p:strVal val="#ppt_x"/>
                                          </p:val>
                                        </p:tav>
                                        <p:tav tm="100000">
                                          <p:val>
                                            <p:strVal val="#ppt_x"/>
                                          </p:val>
                                        </p:tav>
                                      </p:tavLst>
                                    </p:anim>
                                    <p:anim calcmode="lin" valueType="num">
                                      <p:cBhvr additive="base">
                                        <p:cTn id="38" dur="55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40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50"/>
                                        <p:tgtEl>
                                          <p:spTgt spid="11"/>
                                        </p:tgtEl>
                                      </p:cBhvr>
                                    </p:animEffect>
                                    <p:anim calcmode="lin" valueType="num">
                                      <p:cBhvr additive="base">
                                        <p:cTn id="42" dur="550" fill="hold"/>
                                        <p:tgtEl>
                                          <p:spTgt spid="11"/>
                                        </p:tgtEl>
                                        <p:attrNameLst>
                                          <p:attrName>ppt_x</p:attrName>
                                        </p:attrNameLst>
                                      </p:cBhvr>
                                      <p:tavLst>
                                        <p:tav tm="0">
                                          <p:val>
                                            <p:strVal val="#ppt_x"/>
                                          </p:val>
                                        </p:tav>
                                        <p:tav tm="100000">
                                          <p:val>
                                            <p:strVal val="#ppt_x"/>
                                          </p:val>
                                        </p:tav>
                                      </p:tavLst>
                                    </p:anim>
                                    <p:anim calcmode="lin" valueType="num">
                                      <p:cBhvr additive="base">
                                        <p:cTn id="43" dur="55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65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50"/>
                                        <p:tgtEl>
                                          <p:spTgt spid="12"/>
                                        </p:tgtEl>
                                      </p:cBhvr>
                                    </p:animEffect>
                                    <p:anim calcmode="lin" valueType="num">
                                      <p:cBhvr additive="base">
                                        <p:cTn id="47" dur="550" fill="hold"/>
                                        <p:tgtEl>
                                          <p:spTgt spid="12"/>
                                        </p:tgtEl>
                                        <p:attrNameLst>
                                          <p:attrName>ppt_x</p:attrName>
                                        </p:attrNameLst>
                                      </p:cBhvr>
                                      <p:tavLst>
                                        <p:tav tm="0">
                                          <p:val>
                                            <p:strVal val="#ppt_x"/>
                                          </p:val>
                                        </p:tav>
                                        <p:tav tm="100000">
                                          <p:val>
                                            <p:strVal val="#ppt_x"/>
                                          </p:val>
                                        </p:tav>
                                      </p:tavLst>
                                    </p:anim>
                                    <p:anim calcmode="lin" valueType="num">
                                      <p:cBhvr additive="base">
                                        <p:cTn id="48" dur="55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65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50"/>
                                        <p:tgtEl>
                                          <p:spTgt spid="13"/>
                                        </p:tgtEl>
                                      </p:cBhvr>
                                    </p:animEffect>
                                    <p:anim calcmode="lin" valueType="num">
                                      <p:cBhvr additive="base">
                                        <p:cTn id="52" dur="550" fill="hold"/>
                                        <p:tgtEl>
                                          <p:spTgt spid="13"/>
                                        </p:tgtEl>
                                        <p:attrNameLst>
                                          <p:attrName>ppt_x</p:attrName>
                                        </p:attrNameLst>
                                      </p:cBhvr>
                                      <p:tavLst>
                                        <p:tav tm="0">
                                          <p:val>
                                            <p:strVal val="#ppt_x"/>
                                          </p:val>
                                        </p:tav>
                                        <p:tav tm="100000">
                                          <p:val>
                                            <p:strVal val="#ppt_x"/>
                                          </p:val>
                                        </p:tav>
                                      </p:tavLst>
                                    </p:anim>
                                    <p:anim calcmode="lin" valueType="num">
                                      <p:cBhvr additive="base">
                                        <p:cTn id="53" dur="550" fill="hold"/>
                                        <p:tgtEl>
                                          <p:spTgt spid="13"/>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65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50"/>
                                        <p:tgtEl>
                                          <p:spTgt spid="14"/>
                                        </p:tgtEl>
                                      </p:cBhvr>
                                    </p:animEffect>
                                    <p:anim calcmode="lin" valueType="num">
                                      <p:cBhvr additive="base">
                                        <p:cTn id="57" dur="550" fill="hold"/>
                                        <p:tgtEl>
                                          <p:spTgt spid="14"/>
                                        </p:tgtEl>
                                        <p:attrNameLst>
                                          <p:attrName>ppt_x</p:attrName>
                                        </p:attrNameLst>
                                      </p:cBhvr>
                                      <p:tavLst>
                                        <p:tav tm="0">
                                          <p:val>
                                            <p:strVal val="#ppt_x"/>
                                          </p:val>
                                        </p:tav>
                                        <p:tav tm="100000">
                                          <p:val>
                                            <p:strVal val="#ppt_x"/>
                                          </p:val>
                                        </p:tav>
                                      </p:tavLst>
                                    </p:anim>
                                    <p:anim calcmode="lin" valueType="num">
                                      <p:cBhvr additive="base">
                                        <p:cTn id="58" dur="55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65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50"/>
                                        <p:tgtEl>
                                          <p:spTgt spid="15"/>
                                        </p:tgtEl>
                                      </p:cBhvr>
                                    </p:animEffect>
                                    <p:anim calcmode="lin" valueType="num">
                                      <p:cBhvr additive="base">
                                        <p:cTn id="62" dur="550" fill="hold"/>
                                        <p:tgtEl>
                                          <p:spTgt spid="15"/>
                                        </p:tgtEl>
                                        <p:attrNameLst>
                                          <p:attrName>ppt_x</p:attrName>
                                        </p:attrNameLst>
                                      </p:cBhvr>
                                      <p:tavLst>
                                        <p:tav tm="0">
                                          <p:val>
                                            <p:strVal val="#ppt_x"/>
                                          </p:val>
                                        </p:tav>
                                        <p:tav tm="100000">
                                          <p:val>
                                            <p:strVal val="#ppt_x"/>
                                          </p:val>
                                        </p:tav>
                                      </p:tavLst>
                                    </p:anim>
                                    <p:anim calcmode="lin" valueType="num">
                                      <p:cBhvr additive="base">
                                        <p:cTn id="63" dur="550" fill="hold"/>
                                        <p:tgtEl>
                                          <p:spTgt spid="15"/>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65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550"/>
                                        <p:tgtEl>
                                          <p:spTgt spid="16"/>
                                        </p:tgtEl>
                                      </p:cBhvr>
                                    </p:animEffect>
                                    <p:anim calcmode="lin" valueType="num">
                                      <p:cBhvr additive="base">
                                        <p:cTn id="67" dur="550" fill="hold"/>
                                        <p:tgtEl>
                                          <p:spTgt spid="16"/>
                                        </p:tgtEl>
                                        <p:attrNameLst>
                                          <p:attrName>ppt_x</p:attrName>
                                        </p:attrNameLst>
                                      </p:cBhvr>
                                      <p:tavLst>
                                        <p:tav tm="0">
                                          <p:val>
                                            <p:strVal val="#ppt_x"/>
                                          </p:val>
                                        </p:tav>
                                        <p:tav tm="100000">
                                          <p:val>
                                            <p:strVal val="#ppt_x"/>
                                          </p:val>
                                        </p:tav>
                                      </p:tavLst>
                                    </p:anim>
                                    <p:anim calcmode="lin" valueType="num">
                                      <p:cBhvr additive="base">
                                        <p:cTn id="68" dur="550" fill="hold"/>
                                        <p:tgtEl>
                                          <p:spTgt spid="16"/>
                                        </p:tgtEl>
                                        <p:attrNameLst>
                                          <p:attrName>ppt_y</p:attrName>
                                        </p:attrNameLst>
                                      </p:cBhvr>
                                      <p:tavLst>
                                        <p:tav tm="0">
                                          <p:val>
                                            <p:strVal val="#ppt_y+.06"/>
                                          </p:val>
                                        </p:tav>
                                        <p:tav tm="100000">
                                          <p:val>
                                            <p:strVal val="#ppt_y"/>
                                          </p:val>
                                        </p:tav>
                                      </p:tavLst>
                                    </p:anim>
                                  </p:childTnLst>
                                </p:cTn>
                              </p:par>
                              <p:par>
                                <p:cTn id="69" presetID="53" presetClass="entr" presetSubtype="16" fill="hold" grpId="0" nodeType="withEffect">
                                  <p:stCondLst>
                                    <p:cond delay="110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fill="hold"/>
                                        <p:tgtEl>
                                          <p:spTgt spid="17"/>
                                        </p:tgtEl>
                                        <p:attrNameLst>
                                          <p:attrName>ppt_w</p:attrName>
                                        </p:attrNameLst>
                                      </p:cBhvr>
                                      <p:tavLst>
                                        <p:tav tm="0">
                                          <p:val>
                                            <p:strVal val="#ppt_w*0.7"/>
                                          </p:val>
                                        </p:tav>
                                        <p:tav tm="100000">
                                          <p:val>
                                            <p:strVal val="#ppt_w"/>
                                          </p:val>
                                        </p:tav>
                                      </p:tavLst>
                                    </p:anim>
                                    <p:anim calcmode="lin" valueType="num">
                                      <p:cBhvr additive="base">
                                        <p:cTn id="72" dur="500" fill="hold"/>
                                        <p:tgtEl>
                                          <p:spTgt spid="17"/>
                                        </p:tgtEl>
                                        <p:attrNameLst>
                                          <p:attrName>ppt_h</p:attrName>
                                        </p:attrNameLst>
                                      </p:cBhvr>
                                      <p:tavLst>
                                        <p:tav tm="0">
                                          <p:val>
                                            <p:strVal val="#ppt_h*0.7"/>
                                          </p:val>
                                        </p:tav>
                                        <p:tav tm="100000">
                                          <p:val>
                                            <p:strVal val="#ppt_h"/>
                                          </p:val>
                                        </p:tav>
                                      </p:tavLst>
                                    </p:anim>
                                    <p:animEffect transition="in" filter="fade">
                                      <p:cBhvr>
                                        <p:cTn id="73" dur="500"/>
                                        <p:tgtEl>
                                          <p:spTgt spid="17"/>
                                        </p:tgtEl>
                                      </p:cBhvr>
                                    </p:animEffect>
                                  </p:childTnLst>
                                </p:cTn>
                              </p:par>
                              <p:par>
                                <p:cTn id="74" presetID="53" presetClass="entr" presetSubtype="16" fill="hold" grpId="0" nodeType="withEffect">
                                  <p:stCondLst>
                                    <p:cond delay="120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500" fill="hold"/>
                                        <p:tgtEl>
                                          <p:spTgt spid="18"/>
                                        </p:tgtEl>
                                        <p:attrNameLst>
                                          <p:attrName>ppt_w</p:attrName>
                                        </p:attrNameLst>
                                      </p:cBhvr>
                                      <p:tavLst>
                                        <p:tav tm="0">
                                          <p:val>
                                            <p:strVal val="#ppt_w*0.7"/>
                                          </p:val>
                                        </p:tav>
                                        <p:tav tm="100000">
                                          <p:val>
                                            <p:strVal val="#ppt_w"/>
                                          </p:val>
                                        </p:tav>
                                      </p:tavLst>
                                    </p:anim>
                                    <p:anim calcmode="lin" valueType="num">
                                      <p:cBhvr additive="base">
                                        <p:cTn id="77" dur="500" fill="hold"/>
                                        <p:tgtEl>
                                          <p:spTgt spid="18"/>
                                        </p:tgtEl>
                                        <p:attrNameLst>
                                          <p:attrName>ppt_h</p:attrName>
                                        </p:attrNameLst>
                                      </p:cBhvr>
                                      <p:tavLst>
                                        <p:tav tm="0">
                                          <p:val>
                                            <p:strVal val="#ppt_h*0.7"/>
                                          </p:val>
                                        </p:tav>
                                        <p:tav tm="100000">
                                          <p:val>
                                            <p:strVal val="#ppt_h"/>
                                          </p:val>
                                        </p:tav>
                                      </p:tavLst>
                                    </p:anim>
                                    <p:animEffect transition="in" filter="fade">
                                      <p:cBhvr>
                                        <p:cTn id="78" dur="500"/>
                                        <p:tgtEl>
                                          <p:spTgt spid="18"/>
                                        </p:tgtEl>
                                      </p:cBhvr>
                                    </p:animEffect>
                                  </p:childTnLst>
                                </p:cTn>
                              </p:par>
                              <p:par>
                                <p:cTn id="79" presetID="53" presetClass="entr" presetSubtype="16" fill="hold" grpId="0" nodeType="withEffect">
                                  <p:stCondLst>
                                    <p:cond delay="130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ppt_w</p:attrName>
                                        </p:attrNameLst>
                                      </p:cBhvr>
                                      <p:tavLst>
                                        <p:tav tm="0">
                                          <p:val>
                                            <p:strVal val="#ppt_w*0.7"/>
                                          </p:val>
                                        </p:tav>
                                        <p:tav tm="100000">
                                          <p:val>
                                            <p:strVal val="#ppt_w"/>
                                          </p:val>
                                        </p:tav>
                                      </p:tavLst>
                                    </p:anim>
                                    <p:anim calcmode="lin" valueType="num">
                                      <p:cBhvr additive="base">
                                        <p:cTn id="82" dur="500" fill="hold"/>
                                        <p:tgtEl>
                                          <p:spTgt spid="19"/>
                                        </p:tgtEl>
                                        <p:attrNameLst>
                                          <p:attrName>ppt_h</p:attrName>
                                        </p:attrNameLst>
                                      </p:cBhvr>
                                      <p:tavLst>
                                        <p:tav tm="0">
                                          <p:val>
                                            <p:strVal val="#ppt_h*0.7"/>
                                          </p:val>
                                        </p:tav>
                                        <p:tav tm="100000">
                                          <p:val>
                                            <p:strVal val="#ppt_h"/>
                                          </p:val>
                                        </p:tav>
                                      </p:tavLst>
                                    </p:anim>
                                    <p:animEffect transition="in" filter="fade">
                                      <p:cBhvr>
                                        <p:cTn id="83" dur="500"/>
                                        <p:tgtEl>
                                          <p:spTgt spid="19"/>
                                        </p:tgtEl>
                                      </p:cBhvr>
                                    </p:animEffect>
                                  </p:childTnLst>
                                </p:cTn>
                              </p:par>
                              <p:par>
                                <p:cTn id="84" presetID="31" presetClass="entr" presetSubtype="0" fill="hold" grpId="0" nodeType="withEffect">
                                  <p:stCondLst>
                                    <p:cond delay="1400"/>
                                  </p:stCondLst>
                                  <p:childTnLst>
                                    <p:set>
                                      <p:cBhvr>
                                        <p:cTn id="85" dur="1" fill="hold">
                                          <p:stCondLst>
                                            <p:cond delay="0"/>
                                          </p:stCondLst>
                                        </p:cTn>
                                        <p:tgtEl>
                                          <p:spTgt spid="21"/>
                                        </p:tgtEl>
                                        <p:attrNameLst>
                                          <p:attrName>style.visibility</p:attrName>
                                        </p:attrNameLst>
                                      </p:cBhvr>
                                      <p:to>
                                        <p:strVal val="visible"/>
                                      </p:to>
                                    </p:set>
                                    <p:anim calcmode="lin" valueType="num">
                                      <p:cBhvr additive="base">
                                        <p:cTn id="86" dur="800" fill="hold"/>
                                        <p:tgtEl>
                                          <p:spTgt spid="21"/>
                                        </p:tgtEl>
                                        <p:attrNameLst>
                                          <p:attrName>ppt_w</p:attrName>
                                        </p:attrNameLst>
                                      </p:cBhvr>
                                      <p:tavLst>
                                        <p:tav tm="0">
                                          <p:val>
                                            <p:strVal val="0"/>
                                          </p:val>
                                        </p:tav>
                                        <p:tav tm="100000">
                                          <p:val>
                                            <p:strVal val="#ppt_w"/>
                                          </p:val>
                                        </p:tav>
                                      </p:tavLst>
                                    </p:anim>
                                    <p:anim calcmode="lin" valueType="num">
                                      <p:cBhvr additive="base">
                                        <p:cTn id="87" dur="800" fill="hold"/>
                                        <p:tgtEl>
                                          <p:spTgt spid="21"/>
                                        </p:tgtEl>
                                        <p:attrNameLst>
                                          <p:attrName>ppt_h</p:attrName>
                                        </p:attrNameLst>
                                      </p:cBhvr>
                                      <p:tavLst>
                                        <p:tav tm="0">
                                          <p:val>
                                            <p:strVal val="0"/>
                                          </p:val>
                                        </p:tav>
                                        <p:tav tm="100000">
                                          <p:val>
                                            <p:strVal val="#ppt_h"/>
                                          </p:val>
                                        </p:tav>
                                      </p:tavLst>
                                    </p:anim>
                                    <p:anim calcmode="lin" valueType="num">
                                      <p:cBhvr>
                                        <p:cTn id="88" dur="800" fill="hold"/>
                                        <p:tgtEl>
                                          <p:spTgt spid="21"/>
                                        </p:tgtEl>
                                        <p:attrNameLst>
                                          <p:attrName>style.rotation</p:attrName>
                                        </p:attrNameLst>
                                      </p:cBhvr>
                                      <p:tavLst>
                                        <p:tav tm="0">
                                          <p:val>
                                            <p:fltVal val="90"/>
                                          </p:val>
                                        </p:tav>
                                        <p:tav tm="100000">
                                          <p:val>
                                            <p:fltVal val="0"/>
                                          </p:val>
                                        </p:tav>
                                      </p:tavLst>
                                    </p:anim>
                                    <p:animEffect transition="in" filter="fade">
                                      <p:cBhvr>
                                        <p:cTn id="89" dur="800"/>
                                        <p:tgtEl>
                                          <p:spTgt spid="21"/>
                                        </p:tgtEl>
                                      </p:cBhvr>
                                    </p:animEffect>
                                  </p:childTnLst>
                                </p:cTn>
                              </p:par>
                              <p:par>
                                <p:cTn id="90" presetID="10" presetClass="entr" presetSubtype="0" fill="hold" grpId="0" nodeType="withEffect">
                                  <p:stCondLst>
                                    <p:cond delay="140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8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_dark.jpg"/>
          <p:cNvPicPr>
            <a:picLocks noChangeAspect="1"/>
          </p:cNvPicPr>
          <p:nvPr/>
        </p:nvPicPr>
        <p:blipFill>
          <a:blip r:embed="rId2"/>
          <a:srcRect l="1" r="1"/>
          <a:stretch>
            <a:fillRect/>
          </a:stretch>
        </p:blipFill>
        <p:spPr>
          <a:xfrm>
            <a:off x="0" y="0"/>
            <a:ext cx="12191695" cy="6858000"/>
          </a:xfrm>
          <a:prstGeom prst="rect">
            <a:avLst/>
          </a:prstGeom>
        </p:spPr>
      </p:pic>
      <p:sp>
        <p:nvSpPr>
          <p:cNvPr id="3" name="!!bignum"/>
          <p:cNvSpPr txBox="1"/>
          <p:nvPr/>
        </p:nvSpPr>
        <p:spPr>
          <a:xfrm>
            <a:off x="5120640" y="182880"/>
            <a:ext cx="7132320" cy="3840480"/>
          </a:xfrm>
          <a:prstGeom prst="rect">
            <a:avLst/>
          </a:prstGeom>
          <a:noFill/>
        </p:spPr>
        <p:txBody>
          <a:bodyPr wrap="square" lIns="0" rIns="0" tIns="0" bIns="0" anchor="t">
            <a:noAutofit/>
          </a:bodyPr>
          <a:lstStyle/>
          <a:p>
            <a:pPr algn="r"/>
            <a:r>
              <a:rPr sz="27000" b="0" i="0">
                <a:ln w="15875">
                  <a:solidFill>
                    <a:srgbClr val="E3AE4A">
                      <a:alpha val="35000"/>
                    </a:srgbClr>
                  </a:solidFill>
                </a:ln>
                <a:noFill/>
                <a:latin typeface="Big Shoulders Display Black"/>
                <a:ea typeface="Big Shoulders Display Black"/>
                <a:cs typeface="Big Shoulders Display Black"/>
              </a:rPr>
              <a:t>03</a:t>
            </a:r>
          </a:p>
        </p:txBody>
      </p:sp>
      <p:pic>
        <p:nvPicPr>
          <p:cNvPr id="4" name="Picture 3" descr="glow_FFC560_30_1.5.png"/>
          <p:cNvPicPr>
            <a:picLocks noChangeAspect="1"/>
          </p:cNvPicPr>
          <p:nvPr/>
        </p:nvPicPr>
        <p:blipFill>
          <a:blip r:embed="rId3"/>
          <a:stretch>
            <a:fillRect/>
          </a:stretch>
        </p:blipFill>
        <p:spPr>
          <a:xfrm>
            <a:off x="-476674" y="-411480"/>
            <a:ext cx="7680960" cy="7680960"/>
          </a:xfrm>
          <a:prstGeom prst="rect">
            <a:avLst/>
          </a:prstGeom>
        </p:spPr>
      </p:pic>
      <p:pic>
        <p:nvPicPr>
          <p:cNvPr id="5" name="!!medal" descr="medal.png"/>
          <p:cNvPicPr>
            <a:picLocks noChangeAspect="1"/>
          </p:cNvPicPr>
          <p:nvPr/>
        </p:nvPicPr>
        <p:blipFill>
          <a:blip r:embed="rId4"/>
          <a:srcRect/>
          <a:stretch>
            <a:fillRect/>
          </a:stretch>
        </p:blipFill>
        <p:spPr>
          <a:xfrm>
            <a:off x="685800" y="868680"/>
            <a:ext cx="5356012" cy="5120640"/>
          </a:xfrm>
          <a:prstGeom prst="rect">
            <a:avLst/>
          </a:prstGeom>
        </p:spPr>
      </p:pic>
      <p:sp>
        <p:nvSpPr>
          <p:cNvPr id="6" name="TextBox 5"/>
          <p:cNvSpPr txBox="1"/>
          <p:nvPr/>
        </p:nvSpPr>
        <p:spPr>
          <a:xfrm>
            <a:off x="5852160" y="1828800"/>
            <a:ext cx="5852160" cy="457200"/>
          </a:xfrm>
          <a:prstGeom prst="rect">
            <a:avLst/>
          </a:prstGeom>
          <a:noFill/>
        </p:spPr>
        <p:txBody>
          <a:bodyPr wrap="square" lIns="0" rIns="0" tIns="0" bIns="0" anchor="t">
            <a:noAutofit/>
          </a:bodyPr>
          <a:lstStyle/>
          <a:p>
            <a:pPr algn="l"/>
            <a:r>
              <a:rPr sz="2400" b="0" i="0" spc="400">
                <a:solidFill>
                  <a:srgbClr val="E3AE4A"/>
                </a:solidFill>
                <a:latin typeface="Big Shoulders Display Black"/>
                <a:ea typeface="Big Shoulders Display Black"/>
                <a:cs typeface="Big Shoulders Display Black"/>
              </a:rPr>
              <a:t>PHẦN 3</a:t>
            </a:r>
          </a:p>
        </p:txBody>
      </p:sp>
      <p:sp>
        <p:nvSpPr>
          <p:cNvPr id="7" name="!!title"/>
          <p:cNvSpPr txBox="1"/>
          <p:nvPr/>
        </p:nvSpPr>
        <p:spPr>
          <a:xfrm>
            <a:off x="5852160" y="2331720"/>
            <a:ext cx="5943600" cy="1559560"/>
          </a:xfrm>
          <a:prstGeom prst="rect">
            <a:avLst/>
          </a:prstGeom>
          <a:noFill/>
        </p:spPr>
        <p:txBody>
          <a:bodyPr wrap="square" lIns="0" rIns="0" tIns="0" bIns="0" anchor="t">
            <a:noAutofit/>
          </a:bodyPr>
          <a:lstStyle/>
          <a:p>
            <a:pPr algn="l">
              <a:lnSpc>
                <a:spcPct val="92000"/>
              </a:lnSpc>
            </a:pPr>
            <a:r>
              <a:rPr sz="5600" b="0" i="0">
                <a:gradFill rotWithShape="1">
                  <a:gsLst>
                    <a:gs pos="0">
                      <a:srgbClr val="FFF3C4"/>
                    </a:gs>
                    <a:gs pos="55000">
                      <a:srgbClr val="FFE6A1"/>
                    </a:gs>
                    <a:gs pos="100000">
                      <a:srgbClr val="E3AE4A"/>
                    </a:gs>
                  </a:gsLst>
                  <a:lin ang="5400000" scaled="0"/>
                </a:gradFill>
                <a:effectLst>
                  <a:outerShdw blurRad="91440" dist="36576" dir="5400000" algn="ctr" rotWithShape="0">
                    <a:srgbClr val="3A0006">
                      <a:alpha val="60000"/>
                    </a:srgbClr>
                  </a:outerShdw>
                </a:effectLst>
                <a:latin typeface="Big Shoulders Display Black"/>
                <a:ea typeface="Big Shoulders Display Black"/>
                <a:cs typeface="Big Shoulders Display Black"/>
              </a:rPr>
              <a:t>THUYẾT KHẢ TRI VÀ THUYẾT BẤT KHẢ TRI</a:t>
            </a:r>
          </a:p>
        </p:txBody>
      </p:sp>
      <p:sp>
        <p:nvSpPr>
          <p:cNvPr id="8" name="Rectangle 7"/>
          <p:cNvSpPr/>
          <p:nvPr/>
        </p:nvSpPr>
        <p:spPr>
          <a:xfrm>
            <a:off x="5897880" y="4028440"/>
            <a:ext cx="2194560" cy="36576"/>
          </a:xfrm>
          <a:prstGeom prst="rect">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9" name="TextBox 8"/>
          <p:cNvSpPr txBox="1"/>
          <p:nvPr/>
        </p:nvSpPr>
        <p:spPr>
          <a:xfrm>
            <a:off x="5852160" y="4211320"/>
            <a:ext cx="5760720" cy="1097280"/>
          </a:xfrm>
          <a:prstGeom prst="rect">
            <a:avLst/>
          </a:prstGeom>
          <a:noFill/>
        </p:spPr>
        <p:txBody>
          <a:bodyPr wrap="square" lIns="0" rIns="0" tIns="0" bIns="0" anchor="t">
            <a:noAutofit/>
          </a:bodyPr>
          <a:lstStyle/>
          <a:p>
            <a:pPr algn="l">
              <a:lnSpc>
                <a:spcPct val="120000"/>
              </a:lnSpc>
            </a:pPr>
            <a:r>
              <a:rPr sz="1400" b="0" i="0">
                <a:solidFill>
                  <a:srgbClr val="FFF4E2"/>
                </a:solidFill>
                <a:latin typeface="Be Vietnam Pro"/>
                <a:ea typeface="Be Vietnam Pro"/>
                <a:cs typeface="Be Vietnam Pro"/>
              </a:rPr>
              <a:t>Cách trả lời mặt thứ hai: con người có nhận thức được thế giới hay không?</a:t>
            </a:r>
          </a:p>
        </p:txBody>
      </p:sp>
      <p:pic>
        <p:nvPicPr>
          <p:cNvPr id="10" name="!!drape" descr="drape_br.png"/>
          <p:cNvPicPr>
            <a:picLocks noChangeAspect="1"/>
          </p:cNvPicPr>
          <p:nvPr/>
        </p:nvPicPr>
        <p:blipFill>
          <a:blip r:embed="rId5"/>
          <a:srcRect/>
          <a:stretch>
            <a:fillRect/>
          </a:stretch>
        </p:blipFill>
        <p:spPr>
          <a:xfrm>
            <a:off x="6156655" y="3840480"/>
            <a:ext cx="6400800" cy="32004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100" fill="hold"/>
                                        <p:tgtEl>
                                          <p:spTgt spid="5"/>
                                        </p:tgtEl>
                                        <p:attrNameLst>
                                          <p:attrName>ppt_w</p:attrName>
                                        </p:attrNameLst>
                                      </p:cBhvr>
                                      <p:tavLst>
                                        <p:tav tm="0">
                                          <p:val>
                                            <p:strVal val="0"/>
                                          </p:val>
                                        </p:tav>
                                        <p:tav tm="100000">
                                          <p:val>
                                            <p:strVal val="#ppt_w"/>
                                          </p:val>
                                        </p:tav>
                                      </p:tavLst>
                                    </p:anim>
                                    <p:anim calcmode="lin" valueType="num">
                                      <p:cBhvr additive="base">
                                        <p:cTn id="8" dur="1100" fill="hold"/>
                                        <p:tgtEl>
                                          <p:spTgt spid="5"/>
                                        </p:tgtEl>
                                        <p:attrNameLst>
                                          <p:attrName>ppt_h</p:attrName>
                                        </p:attrNameLst>
                                      </p:cBhvr>
                                      <p:tavLst>
                                        <p:tav tm="0">
                                          <p:val>
                                            <p:strVal val="0"/>
                                          </p:val>
                                        </p:tav>
                                        <p:tav tm="100000">
                                          <p:val>
                                            <p:strVal val="#ppt_h"/>
                                          </p:val>
                                        </p:tav>
                                      </p:tavLst>
                                    </p:anim>
                                    <p:anim calcmode="lin" valueType="num">
                                      <p:cBhvr>
                                        <p:cTn id="9" dur="1100" fill="hold"/>
                                        <p:tgtEl>
                                          <p:spTgt spid="5"/>
                                        </p:tgtEl>
                                        <p:attrNameLst>
                                          <p:attrName>style.rotation</p:attrName>
                                        </p:attrNameLst>
                                      </p:cBhvr>
                                      <p:tavLst>
                                        <p:tav tm="0">
                                          <p:val>
                                            <p:fltVal val="90"/>
                                          </p:val>
                                        </p:tav>
                                        <p:tav tm="100000">
                                          <p:val>
                                            <p:fltVal val="0"/>
                                          </p:val>
                                        </p:tav>
                                      </p:tavLst>
                                    </p:anim>
                                    <p:animEffect transition="in" filter="fade">
                                      <p:cBhvr>
                                        <p:cTn id="10" dur="11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par>
                                <p:cTn id="14" presetID="22" presetClass="entr" presetSubtype="8" fill="hold" grpId="0" nodeType="withEffect">
                                  <p:stCondLst>
                                    <p:cond delay="20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900"/>
                                        <p:tgtEl>
                                          <p:spTgt spid="10"/>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900"/>
                                        <p:tgtEl>
                                          <p:spTgt spid="3"/>
                                        </p:tgtEl>
                                      </p:cBhvr>
                                    </p:animEffect>
                                  </p:childTnLst>
                                </p:cTn>
                              </p:par>
                              <p:par>
                                <p:cTn id="20" presetID="22" presetClass="entr" presetSubtype="8" fill="hold" grpId="0" nodeType="withEffect">
                                  <p:stCondLst>
                                    <p:cond delay="50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par>
                                <p:cTn id="23" presetID="53" presetClass="entr" presetSubtype="16" fill="hold" grpId="0" nodeType="withEffect">
                                  <p:stCondLst>
                                    <p:cond delay="7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800" fill="hold"/>
                                        <p:tgtEl>
                                          <p:spTgt spid="7"/>
                                        </p:tgtEl>
                                        <p:attrNameLst>
                                          <p:attrName>ppt_w</p:attrName>
                                        </p:attrNameLst>
                                      </p:cBhvr>
                                      <p:tavLst>
                                        <p:tav tm="0">
                                          <p:val>
                                            <p:strVal val="#ppt_w*0.7"/>
                                          </p:val>
                                        </p:tav>
                                        <p:tav tm="100000">
                                          <p:val>
                                            <p:strVal val="#ppt_w"/>
                                          </p:val>
                                        </p:tav>
                                      </p:tavLst>
                                    </p:anim>
                                    <p:anim calcmode="lin" valueType="num">
                                      <p:cBhvr additive="base">
                                        <p:cTn id="26" dur="800" fill="hold"/>
                                        <p:tgtEl>
                                          <p:spTgt spid="7"/>
                                        </p:tgtEl>
                                        <p:attrNameLst>
                                          <p:attrName>ppt_h</p:attrName>
                                        </p:attrNameLst>
                                      </p:cBhvr>
                                      <p:tavLst>
                                        <p:tav tm="0">
                                          <p:val>
                                            <p:strVal val="#ppt_h*0.7"/>
                                          </p:val>
                                        </p:tav>
                                        <p:tav tm="100000">
                                          <p:val>
                                            <p:strVal val="#ppt_h"/>
                                          </p:val>
                                        </p:tav>
                                      </p:tavLst>
                                    </p:anim>
                                    <p:animEffect transition="in" filter="fade">
                                      <p:cBhvr>
                                        <p:cTn id="27" dur="800"/>
                                        <p:tgtEl>
                                          <p:spTgt spid="7"/>
                                        </p:tgtEl>
                                      </p:cBhvr>
                                    </p:animEffect>
                                  </p:childTnLst>
                                </p:cTn>
                              </p:par>
                              <p:par>
                                <p:cTn id="28" presetID="22" presetClass="entr" presetSubtype="8" fill="hold" grpId="0" nodeType="withEffect">
                                  <p:stCondLst>
                                    <p:cond delay="110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400"/>
                                        <p:tgtEl>
                                          <p:spTgt spid="8"/>
                                        </p:tgtEl>
                                      </p:cBhvr>
                                    </p:animEffect>
                                  </p:childTnLst>
                                </p:cTn>
                              </p:par>
                              <p:par>
                                <p:cTn id="31" presetID="10" presetClass="entr" presetSubtype="0" fill="hold" grpId="0" nodeType="withEffect">
                                  <p:stCondLst>
                                    <p:cond delay="13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pic>
        <p:nvPicPr>
          <p:cNvPr id="3" name="!!ribbon" descr="ribbon_tr.png"/>
          <p:cNvPicPr>
            <a:picLocks noChangeAspect="1"/>
          </p:cNvPicPr>
          <p:nvPr/>
        </p:nvPicPr>
        <p:blipFill>
          <a:blip r:embed="rId3"/>
          <a:srcRect l="48" r="48"/>
          <a:stretch>
            <a:fillRect/>
          </a:stretch>
        </p:blipFill>
        <p:spPr>
          <a:xfrm>
            <a:off x="8351215" y="-320040"/>
            <a:ext cx="4206240" cy="2706624"/>
          </a:xfrm>
          <a:prstGeom prst="rect">
            <a:avLst/>
          </a:prstGeom>
        </p:spPr>
      </p:pic>
      <p:pic>
        <p:nvPicPr>
          <p:cNvPr id="4" name="Picture 3" descr="glow_FFB347_38_1.4.png"/>
          <p:cNvPicPr>
            <a:picLocks noChangeAspect="1"/>
          </p:cNvPicPr>
          <p:nvPr/>
        </p:nvPicPr>
        <p:blipFill>
          <a:blip r:embed="rId4"/>
          <a:stretch>
            <a:fillRect/>
          </a:stretch>
        </p:blipFill>
        <p:spPr>
          <a:xfrm>
            <a:off x="6695694" y="201625"/>
            <a:ext cx="5993892" cy="5993892"/>
          </a:xfrm>
          <a:prstGeom prst="rect">
            <a:avLst/>
          </a:prstGeom>
        </p:spPr>
      </p:pic>
      <p:pic>
        <p:nvPicPr>
          <p:cNvPr id="5" name="!!hero" descr="cut_lenin_bw.png"/>
          <p:cNvPicPr>
            <a:picLocks noChangeAspect="1"/>
          </p:cNvPicPr>
          <p:nvPr/>
        </p:nvPicPr>
        <p:blipFill>
          <a:blip r:embed="rId5"/>
          <a:stretch>
            <a:fillRect/>
          </a:stretch>
        </p:blipFill>
        <p:spPr>
          <a:xfrm>
            <a:off x="7611463" y="548640"/>
            <a:ext cx="4162355" cy="6309360"/>
          </a:xfrm>
          <a:prstGeom prst="rect">
            <a:avLst/>
          </a:prstGeom>
        </p:spPr>
      </p:pic>
      <p:pic>
        <p:nvPicPr>
          <p:cNvPr id="6" name="!!drape" descr="drape_br.png"/>
          <p:cNvPicPr>
            <a:picLocks noChangeAspect="1"/>
          </p:cNvPicPr>
          <p:nvPr/>
        </p:nvPicPr>
        <p:blipFill>
          <a:blip r:embed="rId6"/>
          <a:srcRect/>
          <a:stretch>
            <a:fillRect/>
          </a:stretch>
        </p:blipFill>
        <p:spPr>
          <a:xfrm>
            <a:off x="6156655" y="3840480"/>
            <a:ext cx="6400800" cy="3200400"/>
          </a:xfrm>
          <a:prstGeom prst="rect">
            <a:avLst/>
          </a:prstGeom>
        </p:spPr>
      </p:pic>
      <p:sp>
        <p:nvSpPr>
          <p:cNvPr id="7"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3</a:t>
            </a:r>
          </a:p>
        </p:txBody>
      </p:sp>
      <p:sp>
        <p:nvSpPr>
          <p:cNvPr id="8" name="!!tab"/>
          <p:cNvSpPr/>
          <p:nvPr/>
        </p:nvSpPr>
        <p:spPr>
          <a:xfrm>
            <a:off x="548640" y="566928"/>
            <a:ext cx="5536730"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MẶT THỨ HAI: KHẢ NĂNG NHẬN THỨC</a:t>
            </a:r>
          </a:p>
        </p:txBody>
      </p:sp>
      <p:sp>
        <p:nvSpPr>
          <p:cNvPr id="9" name="!!rule"/>
          <p:cNvSpPr/>
          <p:nvPr/>
        </p:nvSpPr>
        <p:spPr>
          <a:xfrm>
            <a:off x="6195098" y="1133856"/>
            <a:ext cx="5630837"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0" name="TextBox 9"/>
          <p:cNvSpPr txBox="1"/>
          <p:nvPr/>
        </p:nvSpPr>
        <p:spPr>
          <a:xfrm>
            <a:off x="548640" y="1463040"/>
            <a:ext cx="6949440" cy="548640"/>
          </a:xfrm>
          <a:prstGeom prst="rect">
            <a:avLst/>
          </a:prstGeom>
          <a:noFill/>
        </p:spPr>
        <p:txBody>
          <a:bodyPr wrap="square" lIns="0" rIns="0" tIns="0" bIns="0" anchor="ctr">
            <a:noAutofit/>
          </a:bodyPr>
          <a:lstStyle/>
          <a:p>
            <a:pPr algn="l"/>
            <a:r>
              <a:rPr sz="1900" b="0" i="1">
                <a:solidFill>
                  <a:srgbClr val="FFE6A1"/>
                </a:solidFill>
                <a:effectLst>
                  <a:outerShdw blurRad="91440" dist="36576" dir="5400000" algn="ctr" rotWithShape="0">
                    <a:srgbClr val="3A0006">
                      <a:alpha val="45000"/>
                    </a:srgbClr>
                  </a:outerShdw>
                </a:effectLst>
                <a:latin typeface="Be Vietnam Pro"/>
                <a:ea typeface="Be Vietnam Pro"/>
                <a:cs typeface="Be Vietnam Pro"/>
              </a:rPr>
              <a:t>“Con người có thể nhận thức được thế giới hay không?”</a:t>
            </a:r>
          </a:p>
        </p:txBody>
      </p:sp>
      <p:sp>
        <p:nvSpPr>
          <p:cNvPr id="11" name="TextBox 10"/>
          <p:cNvSpPr txBox="1"/>
          <p:nvPr/>
        </p:nvSpPr>
        <p:spPr>
          <a:xfrm>
            <a:off x="548640" y="2057400"/>
            <a:ext cx="6766560" cy="548640"/>
          </a:xfrm>
          <a:prstGeom prst="rect">
            <a:avLst/>
          </a:prstGeom>
          <a:noFill/>
        </p:spPr>
        <p:txBody>
          <a:bodyPr wrap="square" lIns="0" rIns="0" tIns="0" bIns="0" anchor="t">
            <a:noAutofit/>
          </a:bodyPr>
          <a:lstStyle/>
          <a:p>
            <a:pPr algn="l">
              <a:lnSpc>
                <a:spcPct val="115000"/>
              </a:lnSpc>
            </a:pPr>
            <a:r>
              <a:rPr sz="1250" b="0" i="0">
                <a:solidFill>
                  <a:srgbClr val="FFF4E2"/>
                </a:solidFill>
                <a:latin typeface="Be Vietnam Pro"/>
                <a:ea typeface="Be Vietnam Pro"/>
                <a:cs typeface="Be Vietnam Pro"/>
              </a:rPr>
              <a:t>Tuyệt đại đa số các nhà triết học, cả duy vật lẫn duy tâm, đều phải trả lời câu hỏi này.</a:t>
            </a:r>
          </a:p>
        </p:txBody>
      </p:sp>
      <p:sp>
        <p:nvSpPr>
          <p:cNvPr id="12" name="Snip Diagonal Corner Rectangle 11"/>
          <p:cNvSpPr/>
          <p:nvPr/>
        </p:nvSpPr>
        <p:spPr>
          <a:xfrm>
            <a:off x="731520" y="3063240"/>
            <a:ext cx="6035040" cy="1874520"/>
          </a:xfrm>
          <a:prstGeom prst="snip2DiagRect">
            <a:avLst>
              <a:gd name="adj1" fmla="val 0"/>
              <a:gd name="adj2" fmla="val 14634"/>
            </a:avLst>
          </a:prstGeom>
          <a:noFill/>
          <a:ln w="1905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Snip Diagonal Corner Rectangle 12"/>
          <p:cNvSpPr/>
          <p:nvPr/>
        </p:nvSpPr>
        <p:spPr>
          <a:xfrm>
            <a:off x="2578454" y="2834640"/>
            <a:ext cx="2341172" cy="457200"/>
          </a:xfrm>
          <a:prstGeom prst="snip2DiagRect">
            <a:avLst>
              <a:gd name="adj1" fmla="val 0"/>
              <a:gd name="adj2" fmla="val 28000"/>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600" b="0" i="0" spc="150">
                <a:solidFill>
                  <a:srgbClr val="FFE6A1"/>
                </a:solidFill>
                <a:latin typeface="Big Shoulders Display Black"/>
                <a:ea typeface="Big Shoulders Display Black"/>
                <a:cs typeface="Big Shoulders Display Black"/>
              </a:rPr>
              <a:t>HAI LẬP TRƯỜNG</a:t>
            </a:r>
          </a:p>
        </p:txBody>
      </p:sp>
      <p:sp>
        <p:nvSpPr>
          <p:cNvPr id="14" name="Snip Diagonal Corner Rectangle 13"/>
          <p:cNvSpPr/>
          <p:nvPr/>
        </p:nvSpPr>
        <p:spPr>
          <a:xfrm>
            <a:off x="1143000" y="3657600"/>
            <a:ext cx="2514600" cy="868680"/>
          </a:xfrm>
          <a:prstGeom prst="snip2DiagRect">
            <a:avLst>
              <a:gd name="adj1" fmla="val 0"/>
              <a:gd name="adj2" fmla="val 18947"/>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500" b="0" i="0">
                <a:solidFill>
                  <a:srgbClr val="FFF4E2"/>
                </a:solidFill>
                <a:latin typeface="Be Vietnam Pro SemiBold"/>
                <a:ea typeface="Be Vietnam Pro SemiBold"/>
                <a:cs typeface="Be Vietnam Pro SemiBold"/>
              </a:rPr>
              <a:t>Thuyết khả tri</a:t>
            </a:r>
          </a:p>
        </p:txBody>
      </p:sp>
      <p:sp>
        <p:nvSpPr>
          <p:cNvPr id="15" name="Snip Diagonal Corner Rectangle 14"/>
          <p:cNvSpPr/>
          <p:nvPr/>
        </p:nvSpPr>
        <p:spPr>
          <a:xfrm>
            <a:off x="3886200" y="3657600"/>
            <a:ext cx="2514600" cy="868680"/>
          </a:xfrm>
          <a:prstGeom prst="snip2DiagRect">
            <a:avLst>
              <a:gd name="adj1" fmla="val 0"/>
              <a:gd name="adj2" fmla="val 18947"/>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500" b="0" i="0">
                <a:solidFill>
                  <a:srgbClr val="FFF4E2"/>
                </a:solidFill>
                <a:latin typeface="Be Vietnam Pro SemiBold"/>
                <a:ea typeface="Be Vietnam Pro SemiBold"/>
                <a:cs typeface="Be Vietnam Pro SemiBold"/>
              </a:rPr>
              <a:t>Thuyết bất khả tri</a:t>
            </a:r>
          </a:p>
        </p:txBody>
      </p:sp>
      <p:sp>
        <p:nvSpPr>
          <p:cNvPr id="16" name="!!name"/>
          <p:cNvSpPr/>
          <p:nvPr/>
        </p:nvSpPr>
        <p:spPr>
          <a:xfrm>
            <a:off x="8412480" y="5257800"/>
            <a:ext cx="1598172" cy="438912"/>
          </a:xfrm>
          <a:prstGeom prst="snip2DiagRect">
            <a:avLst>
              <a:gd name="adj1" fmla="val 0"/>
              <a:gd name="adj2" fmla="val 29166"/>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82880" rIns="182880" tIns="18288" bIns="18288" wrap="square"/>
          <a:lstStyle/>
          <a:p>
            <a:pPr algn="l">
              <a:lnSpc>
                <a:spcPct val="105000"/>
              </a:lnSpc>
            </a:pPr>
            <a:r>
              <a:rPr sz="1500" b="0" i="0" spc="50">
                <a:solidFill>
                  <a:srgbClr val="FFF4E2"/>
                </a:solidFill>
                <a:latin typeface="Big Shoulders Display Black"/>
                <a:ea typeface="Big Shoulders Display Black"/>
                <a:cs typeface="Big Shoulders Display Black"/>
              </a:rPr>
              <a:t>V.I. Lênin</a:t>
            </a:r>
          </a:p>
        </p:txBody>
      </p:sp>
      <p:pic>
        <p:nvPicPr>
          <p:cNvPr id="17" name="Picture 16" descr="star_red.png"/>
          <p:cNvPicPr>
            <a:picLocks noChangeAspect="1"/>
          </p:cNvPicPr>
          <p:nvPr/>
        </p:nvPicPr>
        <p:blipFill>
          <a:blip r:embed="rId7"/>
          <a:stretch>
            <a:fillRect/>
          </a:stretch>
        </p:blipFill>
        <p:spPr>
          <a:xfrm>
            <a:off x="9681468" y="5204865"/>
            <a:ext cx="566928" cy="555855"/>
          </a:xfrm>
          <a:prstGeom prst="rect">
            <a:avLst/>
          </a:prstGeom>
        </p:spPr>
      </p:pic>
      <p:sp>
        <p:nvSpPr>
          <p:cNvPr id="18" name="TextBox 17"/>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900" fill="hold"/>
                                        <p:tgtEl>
                                          <p:spTgt spid="4"/>
                                        </p:tgtEl>
                                        <p:attrNameLst>
                                          <p:attrName>ppt_x</p:attrName>
                                        </p:attrNameLst>
                                      </p:cBhvr>
                                      <p:tavLst>
                                        <p:tav tm="0">
                                          <p:val>
                                            <p:strVal val="1+#ppt_w/2"/>
                                          </p:val>
                                        </p:tav>
                                        <p:tav tm="100000">
                                          <p:val>
                                            <p:strVal val="#ppt_x"/>
                                          </p:val>
                                        </p:tav>
                                      </p:tavLst>
                                    </p:anim>
                                    <p:anim calcmode="lin" valueType="num">
                                      <p:cBhvr additive="base">
                                        <p:cTn id="8" dur="9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900" fill="hold"/>
                                        <p:tgtEl>
                                          <p:spTgt spid="5"/>
                                        </p:tgtEl>
                                        <p:attrNameLst>
                                          <p:attrName>ppt_x</p:attrName>
                                        </p:attrNameLst>
                                      </p:cBhvr>
                                      <p:tavLst>
                                        <p:tav tm="0">
                                          <p:val>
                                            <p:strVal val="1+#ppt_w/2"/>
                                          </p:val>
                                        </p:tav>
                                        <p:tav tm="100000">
                                          <p:val>
                                            <p:strVal val="#ppt_x"/>
                                          </p:val>
                                        </p:tav>
                                      </p:tavLst>
                                    </p:anim>
                                    <p:anim calcmode="lin" valueType="num">
                                      <p:cBhvr additive="base">
                                        <p:cTn id="12" dur="900" fill="hold"/>
                                        <p:tgtEl>
                                          <p:spTgt spid="5"/>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p:stCondLst>
                                    <p:cond delay="10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600"/>
                                        <p:tgtEl>
                                          <p:spTgt spid="7"/>
                                        </p:tgtEl>
                                      </p:cBhvr>
                                    </p:animEffect>
                                  </p:childTnLst>
                                </p:cTn>
                              </p:par>
                              <p:par>
                                <p:cTn id="16" presetID="22" presetClass="entr" presetSubtype="8" fill="hold" grpId="0" nodeType="withEffect">
                                  <p:stCondLst>
                                    <p:cond delay="22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600"/>
                                        <p:tgtEl>
                                          <p:spTgt spid="8"/>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800"/>
                                        <p:tgtEl>
                                          <p:spTgt spid="3"/>
                                        </p:tgtEl>
                                      </p:cBhvr>
                                    </p:animEffect>
                                  </p:childTnLst>
                                </p:cTn>
                              </p:par>
                              <p:par>
                                <p:cTn id="22" presetID="22" presetClass="entr" presetSubtype="8" fill="hold" grpId="0" nodeType="withEffect">
                                  <p:stCondLst>
                                    <p:cond delay="30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800"/>
                                        <p:tgtEl>
                                          <p:spTgt spid="6"/>
                                        </p:tgtEl>
                                      </p:cBhvr>
                                    </p:animEffect>
                                  </p:childTnLst>
                                </p:cTn>
                              </p:par>
                              <p:par>
                                <p:cTn id="25" presetID="22" presetClass="entr" presetSubtype="8" fill="hold" grpId="0" nodeType="withEffect">
                                  <p:stCondLst>
                                    <p:cond delay="339"/>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600"/>
                                        <p:tgtEl>
                                          <p:spTgt spid="9"/>
                                        </p:tgtEl>
                                      </p:cBhvr>
                                    </p:animEffect>
                                  </p:childTnLst>
                                </p:cTn>
                              </p:par>
                              <p:par>
                                <p:cTn id="28" presetID="10" presetClass="entr" presetSubtype="0" fill="hold" grpId="0" nodeType="withEffect">
                                  <p:stCondLst>
                                    <p:cond delay="5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childTnLst>
                                </p:cTn>
                              </p:par>
                              <p:par>
                                <p:cTn id="31" presetID="10" presetClass="entr" presetSubtype="0" fill="hold" grpId="0" nodeType="withEffect">
                                  <p:stCondLst>
                                    <p:cond delay="7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53" presetClass="entr" presetSubtype="16" fill="hold" grpId="0" nodeType="withEffect">
                                  <p:stCondLst>
                                    <p:cond delay="90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ppt_w</p:attrName>
                                        </p:attrNameLst>
                                      </p:cBhvr>
                                      <p:tavLst>
                                        <p:tav tm="0">
                                          <p:val>
                                            <p:strVal val="#ppt_w*0.7"/>
                                          </p:val>
                                        </p:tav>
                                        <p:tav tm="100000">
                                          <p:val>
                                            <p:strVal val="#ppt_w"/>
                                          </p:val>
                                        </p:tav>
                                      </p:tavLst>
                                    </p:anim>
                                    <p:anim calcmode="lin" valueType="num">
                                      <p:cBhvr additive="base">
                                        <p:cTn id="37" dur="500" fill="hold"/>
                                        <p:tgtEl>
                                          <p:spTgt spid="12"/>
                                        </p:tgtEl>
                                        <p:attrNameLst>
                                          <p:attrName>ppt_h</p:attrName>
                                        </p:attrNameLst>
                                      </p:cBhvr>
                                      <p:tavLst>
                                        <p:tav tm="0">
                                          <p:val>
                                            <p:strVal val="#ppt_h*0.7"/>
                                          </p:val>
                                        </p:tav>
                                        <p:tav tm="100000">
                                          <p:val>
                                            <p:strVal val="#ppt_h"/>
                                          </p:val>
                                        </p:tav>
                                      </p:tavLst>
                                    </p:anim>
                                    <p:animEffect transition="in" filter="fade">
                                      <p:cBhvr>
                                        <p:cTn id="38" dur="500"/>
                                        <p:tgtEl>
                                          <p:spTgt spid="12"/>
                                        </p:tgtEl>
                                      </p:cBhvr>
                                    </p:animEffect>
                                  </p:childTnLst>
                                </p:cTn>
                              </p:par>
                              <p:par>
                                <p:cTn id="39" presetID="53" presetClass="entr" presetSubtype="16" fill="hold" grpId="0" nodeType="withEffect">
                                  <p:stCondLst>
                                    <p:cond delay="100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ppt_w</p:attrName>
                                        </p:attrNameLst>
                                      </p:cBhvr>
                                      <p:tavLst>
                                        <p:tav tm="0">
                                          <p:val>
                                            <p:strVal val="#ppt_w*0.7"/>
                                          </p:val>
                                        </p:tav>
                                        <p:tav tm="100000">
                                          <p:val>
                                            <p:strVal val="#ppt_w"/>
                                          </p:val>
                                        </p:tav>
                                      </p:tavLst>
                                    </p:anim>
                                    <p:anim calcmode="lin" valueType="num">
                                      <p:cBhvr additive="base">
                                        <p:cTn id="42" dur="500" fill="hold"/>
                                        <p:tgtEl>
                                          <p:spTgt spid="13"/>
                                        </p:tgtEl>
                                        <p:attrNameLst>
                                          <p:attrName>ppt_h</p:attrName>
                                        </p:attrNameLst>
                                      </p:cBhvr>
                                      <p:tavLst>
                                        <p:tav tm="0">
                                          <p:val>
                                            <p:strVal val="#ppt_h*0.7"/>
                                          </p:val>
                                        </p:tav>
                                        <p:tav tm="100000">
                                          <p:val>
                                            <p:strVal val="#ppt_h"/>
                                          </p:val>
                                        </p:tav>
                                      </p:tavLst>
                                    </p:anim>
                                    <p:animEffect transition="in" filter="fade">
                                      <p:cBhvr>
                                        <p:cTn id="43" dur="500"/>
                                        <p:tgtEl>
                                          <p:spTgt spid="13"/>
                                        </p:tgtEl>
                                      </p:cBhvr>
                                    </p:animEffect>
                                  </p:childTnLst>
                                </p:cTn>
                              </p:par>
                              <p:par>
                                <p:cTn id="44" presetID="42" presetClass="entr" presetSubtype="0" fill="hold" grpId="0" nodeType="withEffect">
                                  <p:stCondLst>
                                    <p:cond delay="12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50"/>
                                        <p:tgtEl>
                                          <p:spTgt spid="14"/>
                                        </p:tgtEl>
                                      </p:cBhvr>
                                    </p:animEffect>
                                    <p:anim calcmode="lin" valueType="num">
                                      <p:cBhvr additive="base">
                                        <p:cTn id="47" dur="450" fill="hold"/>
                                        <p:tgtEl>
                                          <p:spTgt spid="14"/>
                                        </p:tgtEl>
                                        <p:attrNameLst>
                                          <p:attrName>ppt_x</p:attrName>
                                        </p:attrNameLst>
                                      </p:cBhvr>
                                      <p:tavLst>
                                        <p:tav tm="0">
                                          <p:val>
                                            <p:strVal val="#ppt_x"/>
                                          </p:val>
                                        </p:tav>
                                        <p:tav tm="100000">
                                          <p:val>
                                            <p:strVal val="#ppt_x"/>
                                          </p:val>
                                        </p:tav>
                                      </p:tavLst>
                                    </p:anim>
                                    <p:anim calcmode="lin" valueType="num">
                                      <p:cBhvr additive="base">
                                        <p:cTn id="48" dur="450" fill="hold"/>
                                        <p:tgtEl>
                                          <p:spTgt spid="14"/>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140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450"/>
                                        <p:tgtEl>
                                          <p:spTgt spid="15"/>
                                        </p:tgtEl>
                                      </p:cBhvr>
                                    </p:animEffect>
                                    <p:anim calcmode="lin" valueType="num">
                                      <p:cBhvr additive="base">
                                        <p:cTn id="52" dur="450" fill="hold"/>
                                        <p:tgtEl>
                                          <p:spTgt spid="15"/>
                                        </p:tgtEl>
                                        <p:attrNameLst>
                                          <p:attrName>ppt_x</p:attrName>
                                        </p:attrNameLst>
                                      </p:cBhvr>
                                      <p:tavLst>
                                        <p:tav tm="0">
                                          <p:val>
                                            <p:strVal val="#ppt_x"/>
                                          </p:val>
                                        </p:tav>
                                        <p:tav tm="100000">
                                          <p:val>
                                            <p:strVal val="#ppt_x"/>
                                          </p:val>
                                        </p:tav>
                                      </p:tavLst>
                                    </p:anim>
                                    <p:anim calcmode="lin" valueType="num">
                                      <p:cBhvr additive="base">
                                        <p:cTn id="53" dur="450" fill="hold"/>
                                        <p:tgtEl>
                                          <p:spTgt spid="15"/>
                                        </p:tgtEl>
                                        <p:attrNameLst>
                                          <p:attrName>ppt_y</p:attrName>
                                        </p:attrNameLst>
                                      </p:cBhvr>
                                      <p:tavLst>
                                        <p:tav tm="0">
                                          <p:val>
                                            <p:strVal val="#ppt_y+.06"/>
                                          </p:val>
                                        </p:tav>
                                        <p:tav tm="100000">
                                          <p:val>
                                            <p:strVal val="#ppt_y"/>
                                          </p:val>
                                        </p:tav>
                                      </p:tavLst>
                                    </p:anim>
                                  </p:childTnLst>
                                </p:cTn>
                              </p:par>
                              <p:par>
                                <p:cTn id="54" presetID="22" presetClass="entr" presetSubtype="8" fill="hold" grpId="0" nodeType="withEffect">
                                  <p:stCondLst>
                                    <p:cond delay="1500"/>
                                  </p:stCondLst>
                                  <p:childTnLst>
                                    <p:set>
                                      <p:cBhvr>
                                        <p:cTn id="55" dur="1" fill="hold">
                                          <p:stCondLst>
                                            <p:cond delay="0"/>
                                          </p:stCondLst>
                                        </p:cTn>
                                        <p:tgtEl>
                                          <p:spTgt spid="16"/>
                                        </p:tgtEl>
                                        <p:attrNameLst>
                                          <p:attrName>style.visibility</p:attrName>
                                        </p:attrNameLst>
                                      </p:cBhvr>
                                      <p:to>
                                        <p:strVal val="visible"/>
                                      </p:to>
                                    </p:set>
                                    <p:animEffect transition="in" filter="wipe(left)">
                                      <p:cBhvr>
                                        <p:cTn id="56" dur="500"/>
                                        <p:tgtEl>
                                          <p:spTgt spid="16"/>
                                        </p:tgtEl>
                                      </p:cBhvr>
                                    </p:animEffect>
                                  </p:childTnLst>
                                </p:cTn>
                              </p:par>
                              <p:par>
                                <p:cTn id="57" presetID="22" presetClass="entr" presetSubtype="8" fill="hold" grpId="0" nodeType="withEffect">
                                  <p:stCondLst>
                                    <p:cond delay="1600"/>
                                  </p:stCondLst>
                                  <p:childTnLst>
                                    <p:set>
                                      <p:cBhvr>
                                        <p:cTn id="58" dur="1" fill="hold">
                                          <p:stCondLst>
                                            <p:cond delay="0"/>
                                          </p:stCondLst>
                                        </p:cTn>
                                        <p:tgtEl>
                                          <p:spTgt spid="17"/>
                                        </p:tgtEl>
                                        <p:attrNameLst>
                                          <p:attrName>style.visibility</p:attrName>
                                        </p:attrNameLst>
                                      </p:cBhvr>
                                      <p:to>
                                        <p:strVal val="visible"/>
                                      </p:to>
                                    </p:set>
                                    <p:animEffect transition="in" filter="wipe(left)">
                                      <p:cBhvr>
                                        <p:cTn id="5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3</a:t>
            </a:r>
          </a:p>
        </p:txBody>
      </p:sp>
      <p:sp>
        <p:nvSpPr>
          <p:cNvPr id="4" name="!!tab"/>
          <p:cNvSpPr/>
          <p:nvPr/>
        </p:nvSpPr>
        <p:spPr>
          <a:xfrm>
            <a:off x="548640" y="566928"/>
            <a:ext cx="2843655"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THUYẾT KHẢ TRI</a:t>
            </a:r>
          </a:p>
        </p:txBody>
      </p:sp>
      <p:sp>
        <p:nvSpPr>
          <p:cNvPr id="5" name="!!rule"/>
          <p:cNvSpPr/>
          <p:nvPr/>
        </p:nvSpPr>
        <p:spPr>
          <a:xfrm>
            <a:off x="3502023" y="1133856"/>
            <a:ext cx="8323912"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Snip Diagonal Corner Rectangle 5"/>
          <p:cNvSpPr/>
          <p:nvPr/>
        </p:nvSpPr>
        <p:spPr>
          <a:xfrm>
            <a:off x="548640" y="1783080"/>
            <a:ext cx="6080760" cy="603504"/>
          </a:xfrm>
          <a:prstGeom prst="snip2DiagRect">
            <a:avLst>
              <a:gd name="adj1" fmla="val 0"/>
              <a:gd name="adj2" fmla="val 212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685800" tIns="36576" bIns="36576" wrap="square"/>
          <a:lstStyle/>
          <a:p>
            <a:pPr algn="l">
              <a:lnSpc>
                <a:spcPct val="108000"/>
              </a:lnSpc>
            </a:pPr>
            <a:r>
              <a:rPr sz="1250" b="0" i="0">
                <a:solidFill>
                  <a:srgbClr val="FFF4E2"/>
                </a:solidFill>
                <a:latin typeface="Be Vietnam Pro"/>
                <a:ea typeface="Be Vietnam Pro"/>
                <a:cs typeface="Be Vietnam Pro"/>
              </a:rPr>
              <a:t>Khẳng định khả năng nhận thức thế giới của con người</a:t>
            </a:r>
          </a:p>
        </p:txBody>
      </p:sp>
      <p:pic>
        <p:nvPicPr>
          <p:cNvPr id="7" name="Picture 6" descr="star_red.png"/>
          <p:cNvPicPr>
            <a:picLocks noChangeAspect="1"/>
          </p:cNvPicPr>
          <p:nvPr/>
        </p:nvPicPr>
        <p:blipFill>
          <a:blip r:embed="rId3"/>
          <a:stretch>
            <a:fillRect/>
          </a:stretch>
        </p:blipFill>
        <p:spPr>
          <a:xfrm>
            <a:off x="6117336" y="1909096"/>
            <a:ext cx="365760" cy="358616"/>
          </a:xfrm>
          <a:prstGeom prst="rect">
            <a:avLst/>
          </a:prstGeom>
        </p:spPr>
      </p:pic>
      <p:sp>
        <p:nvSpPr>
          <p:cNvPr id="8" name="Snip Diagonal Corner Rectangle 7"/>
          <p:cNvSpPr/>
          <p:nvPr/>
        </p:nvSpPr>
        <p:spPr>
          <a:xfrm>
            <a:off x="548640" y="2569464"/>
            <a:ext cx="6080760" cy="603504"/>
          </a:xfrm>
          <a:prstGeom prst="snip2DiagRect">
            <a:avLst>
              <a:gd name="adj1" fmla="val 0"/>
              <a:gd name="adj2" fmla="val 212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685800" tIns="36576" bIns="36576" wrap="square"/>
          <a:lstStyle/>
          <a:p>
            <a:pPr algn="l">
              <a:lnSpc>
                <a:spcPct val="108000"/>
              </a:lnSpc>
            </a:pPr>
            <a:r>
              <a:rPr sz="1250" b="0" i="0">
                <a:solidFill>
                  <a:srgbClr val="FFF4E2"/>
                </a:solidFill>
                <a:latin typeface="Be Vietnam Pro"/>
                <a:ea typeface="Be Vietnam Pro"/>
                <a:cs typeface="Be Vietnam Pro"/>
              </a:rPr>
              <a:t>Về nguyên tắc, con người có thể hiểu được bản chất của sự vật</a:t>
            </a:r>
          </a:p>
        </p:txBody>
      </p:sp>
      <p:pic>
        <p:nvPicPr>
          <p:cNvPr id="9" name="Picture 8" descr="star_red.png"/>
          <p:cNvPicPr>
            <a:picLocks noChangeAspect="1"/>
          </p:cNvPicPr>
          <p:nvPr/>
        </p:nvPicPr>
        <p:blipFill>
          <a:blip r:embed="rId3"/>
          <a:stretch>
            <a:fillRect/>
          </a:stretch>
        </p:blipFill>
        <p:spPr>
          <a:xfrm>
            <a:off x="6117336" y="2695480"/>
            <a:ext cx="365760" cy="358616"/>
          </a:xfrm>
          <a:prstGeom prst="rect">
            <a:avLst/>
          </a:prstGeom>
        </p:spPr>
      </p:pic>
      <p:sp>
        <p:nvSpPr>
          <p:cNvPr id="10" name="Snip Diagonal Corner Rectangle 9"/>
          <p:cNvSpPr/>
          <p:nvPr/>
        </p:nvSpPr>
        <p:spPr>
          <a:xfrm>
            <a:off x="548640" y="3355848"/>
            <a:ext cx="6080760" cy="603504"/>
          </a:xfrm>
          <a:prstGeom prst="snip2DiagRect">
            <a:avLst>
              <a:gd name="adj1" fmla="val 0"/>
              <a:gd name="adj2" fmla="val 212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685800" tIns="36576" bIns="36576" wrap="square"/>
          <a:lstStyle/>
          <a:p>
            <a:pPr algn="l">
              <a:lnSpc>
                <a:spcPct val="108000"/>
              </a:lnSpc>
            </a:pPr>
            <a:r>
              <a:rPr sz="1250" b="0" i="0">
                <a:solidFill>
                  <a:srgbClr val="FFF4E2"/>
                </a:solidFill>
                <a:latin typeface="Be Vietnam Pro"/>
                <a:ea typeface="Be Vietnam Pro"/>
                <a:cs typeface="Be Vietnam Pro"/>
              </a:rPr>
              <a:t>Cảm giác, biểu tượng, khái niệm… phù hợp với chính sự vật</a:t>
            </a:r>
          </a:p>
        </p:txBody>
      </p:sp>
      <p:pic>
        <p:nvPicPr>
          <p:cNvPr id="11" name="Picture 10" descr="star_red.png"/>
          <p:cNvPicPr>
            <a:picLocks noChangeAspect="1"/>
          </p:cNvPicPr>
          <p:nvPr/>
        </p:nvPicPr>
        <p:blipFill>
          <a:blip r:embed="rId3"/>
          <a:stretch>
            <a:fillRect/>
          </a:stretch>
        </p:blipFill>
        <p:spPr>
          <a:xfrm>
            <a:off x="6117336" y="3481864"/>
            <a:ext cx="365760" cy="358616"/>
          </a:xfrm>
          <a:prstGeom prst="rect">
            <a:avLst/>
          </a:prstGeom>
        </p:spPr>
      </p:pic>
      <p:sp>
        <p:nvSpPr>
          <p:cNvPr id="12" name="Snip Diagonal Corner Rectangle 11"/>
          <p:cNvSpPr/>
          <p:nvPr/>
        </p:nvSpPr>
        <p:spPr>
          <a:xfrm>
            <a:off x="548640" y="4142232"/>
            <a:ext cx="6080760" cy="603504"/>
          </a:xfrm>
          <a:prstGeom prst="snip2DiagRect">
            <a:avLst>
              <a:gd name="adj1" fmla="val 0"/>
              <a:gd name="adj2" fmla="val 2121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28600" rIns="685800" tIns="36576" bIns="36576" wrap="square"/>
          <a:lstStyle/>
          <a:p>
            <a:pPr algn="l">
              <a:lnSpc>
                <a:spcPct val="108000"/>
              </a:lnSpc>
            </a:pPr>
            <a:r>
              <a:rPr sz="1250" b="0" i="0">
                <a:solidFill>
                  <a:srgbClr val="FFF4E2"/>
                </a:solidFill>
                <a:latin typeface="Be Vietnam Pro"/>
                <a:ea typeface="Be Vietnam Pro"/>
                <a:cs typeface="Be Vietnam Pro"/>
              </a:rPr>
              <a:t>Nhận thức là quá trình không ngừng đi sâu vào bản chất</a:t>
            </a:r>
          </a:p>
        </p:txBody>
      </p:sp>
      <p:pic>
        <p:nvPicPr>
          <p:cNvPr id="13" name="Picture 12" descr="star_red.png"/>
          <p:cNvPicPr>
            <a:picLocks noChangeAspect="1"/>
          </p:cNvPicPr>
          <p:nvPr/>
        </p:nvPicPr>
        <p:blipFill>
          <a:blip r:embed="rId3"/>
          <a:stretch>
            <a:fillRect/>
          </a:stretch>
        </p:blipFill>
        <p:spPr>
          <a:xfrm>
            <a:off x="6117336" y="4268248"/>
            <a:ext cx="365760" cy="358616"/>
          </a:xfrm>
          <a:prstGeom prst="rect">
            <a:avLst/>
          </a:prstGeom>
        </p:spPr>
      </p:pic>
      <p:pic>
        <p:nvPicPr>
          <p:cNvPr id="14" name="!!ph1" descr="aa3c4db34c3083b8.jpg"/>
          <p:cNvPicPr>
            <a:picLocks noChangeAspect="1"/>
          </p:cNvPicPr>
          <p:nvPr/>
        </p:nvPicPr>
        <p:blipFill>
          <a:blip r:embed="rId4"/>
          <a:srcRect t="16122" b="16122"/>
          <a:stretch>
            <a:fillRect/>
          </a:stretch>
        </p:blipFill>
        <p:spPr>
          <a:xfrm>
            <a:off x="7086600" y="1417320"/>
            <a:ext cx="4572000" cy="2423160"/>
          </a:xfrm>
          <a:prstGeom prst="snip2DiagRect">
            <a:avLst>
              <a:gd name="adj1" fmla="val 0"/>
              <a:gd name="adj2" fmla="val 8301"/>
            </a:avLst>
          </a:prstGeom>
          <a:ln w="2540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pic>
        <p:nvPicPr>
          <p:cNvPr id="15" name="!!ph2" descr="57ca2239566c9f44.jpg"/>
          <p:cNvPicPr>
            <a:picLocks noChangeAspect="1"/>
          </p:cNvPicPr>
          <p:nvPr/>
        </p:nvPicPr>
        <p:blipFill>
          <a:blip r:embed="rId5"/>
          <a:srcRect t="19119" b="39119"/>
          <a:stretch>
            <a:fillRect/>
          </a:stretch>
        </p:blipFill>
        <p:spPr>
          <a:xfrm>
            <a:off x="7635240" y="4069080"/>
            <a:ext cx="4023360" cy="2240280"/>
          </a:xfrm>
          <a:prstGeom prst="snip2DiagRect">
            <a:avLst>
              <a:gd name="adj1" fmla="val 0"/>
              <a:gd name="adj2" fmla="val 8979"/>
            </a:avLst>
          </a:prstGeom>
          <a:ln w="25400">
            <a:gradFill rotWithShape="1">
              <a:gsLst>
                <a:gs pos="0">
                  <a:srgbClr val="FFE6A1"/>
                </a:gs>
                <a:gs pos="45000">
                  <a:srgbClr val="E3AE4A"/>
                </a:gs>
                <a:gs pos="100000">
                  <a:srgbClr val="A8721C"/>
                </a:gs>
              </a:gsLst>
              <a:lin ang="2700000" scaled="0"/>
            </a:gradFill>
          </a:ln>
          <a:effectLst>
            <a:outerShdw blurRad="228600" dist="73152" dir="5400000" algn="ctr" rotWithShape="0">
              <a:srgbClr val="2A0005">
                <a:alpha val="45000"/>
              </a:srgbClr>
            </a:outerShdw>
          </a:effectLst>
        </p:spPr>
      </p:pic>
      <p:sp>
        <p:nvSpPr>
          <p:cNvPr id="16" name="TextBox 15"/>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22" presetClass="entr" presetSubtype="8" fill="hold" grpId="0" nodeType="with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40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 presetClass="entr" presetSubtype="2" fill="hold" grpId="0" nodeType="withEffect">
                                  <p:stCondLst>
                                    <p:cond delay="50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700" fill="hold"/>
                                        <p:tgtEl>
                                          <p:spTgt spid="14"/>
                                        </p:tgtEl>
                                        <p:attrNameLst>
                                          <p:attrName>ppt_x</p:attrName>
                                        </p:attrNameLst>
                                      </p:cBhvr>
                                      <p:tavLst>
                                        <p:tav tm="0">
                                          <p:val>
                                            <p:strVal val="1+#ppt_w/2"/>
                                          </p:val>
                                        </p:tav>
                                        <p:tav tm="100000">
                                          <p:val>
                                            <p:strVal val="#ppt_x"/>
                                          </p:val>
                                        </p:tav>
                                      </p:tavLst>
                                    </p:anim>
                                    <p:anim calcmode="lin" valueType="num">
                                      <p:cBhvr additive="base">
                                        <p:cTn id="23" dur="700" fill="hold"/>
                                        <p:tgtEl>
                                          <p:spTgt spid="14"/>
                                        </p:tgtEl>
                                        <p:attrNameLst>
                                          <p:attrName>ppt_y</p:attrName>
                                        </p:attrNameLst>
                                      </p:cBhvr>
                                      <p:tavLst>
                                        <p:tav tm="0">
                                          <p:val>
                                            <p:strVal val="#ppt_y"/>
                                          </p:val>
                                        </p:tav>
                                        <p:tav tm="100000">
                                          <p:val>
                                            <p:strVal val="#ppt_y"/>
                                          </p:val>
                                        </p:tav>
                                      </p:tavLst>
                                    </p:anim>
                                  </p:childTnLst>
                                </p:cTn>
                              </p:par>
                              <p:par>
                                <p:cTn id="24" presetID="22" presetClass="entr" presetSubtype="8" fill="hold" grpId="0" nodeType="withEffect">
                                  <p:stCondLst>
                                    <p:cond delay="55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par>
                                <p:cTn id="27" presetID="22" presetClass="entr" presetSubtype="8" fill="hold" grpId="0" nodeType="withEffect">
                                  <p:stCondLst>
                                    <p:cond delay="55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2" presetClass="entr" presetSubtype="8" fill="hold" grpId="0" nodeType="withEffect">
                                  <p:stCondLst>
                                    <p:cond delay="70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par>
                                <p:cTn id="33" presetID="22" presetClass="entr" presetSubtype="8" fill="hold" grpId="0" nodeType="withEffect">
                                  <p:stCondLst>
                                    <p:cond delay="70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par>
                                <p:cTn id="36" presetID="2" presetClass="entr" presetSubtype="2" fill="hold" grpId="0" nodeType="withEffect">
                                  <p:stCondLst>
                                    <p:cond delay="75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700" fill="hold"/>
                                        <p:tgtEl>
                                          <p:spTgt spid="15"/>
                                        </p:tgtEl>
                                        <p:attrNameLst>
                                          <p:attrName>ppt_x</p:attrName>
                                        </p:attrNameLst>
                                      </p:cBhvr>
                                      <p:tavLst>
                                        <p:tav tm="0">
                                          <p:val>
                                            <p:strVal val="1+#ppt_w/2"/>
                                          </p:val>
                                        </p:tav>
                                        <p:tav tm="100000">
                                          <p:val>
                                            <p:strVal val="#ppt_x"/>
                                          </p:val>
                                        </p:tav>
                                      </p:tavLst>
                                    </p:anim>
                                    <p:anim calcmode="lin" valueType="num">
                                      <p:cBhvr additive="base">
                                        <p:cTn id="39" dur="700" fill="hold"/>
                                        <p:tgtEl>
                                          <p:spTgt spid="15"/>
                                        </p:tgtEl>
                                        <p:attrNameLst>
                                          <p:attrName>ppt_y</p:attrName>
                                        </p:attrNameLst>
                                      </p:cBhvr>
                                      <p:tavLst>
                                        <p:tav tm="0">
                                          <p:val>
                                            <p:strVal val="#ppt_y"/>
                                          </p:val>
                                        </p:tav>
                                        <p:tav tm="100000">
                                          <p:val>
                                            <p:strVal val="#ppt_y"/>
                                          </p:val>
                                        </p:tav>
                                      </p:tavLst>
                                    </p:anim>
                                  </p:childTnLst>
                                </p:cTn>
                              </p:par>
                              <p:par>
                                <p:cTn id="40" presetID="22" presetClass="entr" presetSubtype="8" fill="hold" grpId="0" nodeType="withEffect">
                                  <p:stCondLst>
                                    <p:cond delay="85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par>
                                <p:cTn id="43" presetID="22" presetClass="entr" presetSubtype="8" fill="hold" grpId="0" nodeType="withEffect">
                                  <p:stCondLst>
                                    <p:cond delay="85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10" grpId="0" animBg="1"/>
      <p:bldP spid="12"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3</a:t>
            </a:r>
          </a:p>
        </p:txBody>
      </p:sp>
      <p:sp>
        <p:nvSpPr>
          <p:cNvPr id="4" name="!!tab"/>
          <p:cNvSpPr/>
          <p:nvPr/>
        </p:nvSpPr>
        <p:spPr>
          <a:xfrm>
            <a:off x="548640" y="566928"/>
            <a:ext cx="5267113"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CANTƠ VÀ HÊGHEN: HAI CÁCH NHÌN</a:t>
            </a:r>
          </a:p>
        </p:txBody>
      </p:sp>
      <p:sp>
        <p:nvSpPr>
          <p:cNvPr id="5" name="!!rule"/>
          <p:cNvSpPr/>
          <p:nvPr/>
        </p:nvSpPr>
        <p:spPr>
          <a:xfrm>
            <a:off x="5925481" y="1133856"/>
            <a:ext cx="5900455"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6" name="Picture 5" descr="glow_FFC560_30_1.5.png"/>
          <p:cNvPicPr>
            <a:picLocks noChangeAspect="1"/>
          </p:cNvPicPr>
          <p:nvPr/>
        </p:nvPicPr>
        <p:blipFill>
          <a:blip r:embed="rId3"/>
          <a:stretch>
            <a:fillRect/>
          </a:stretch>
        </p:blipFill>
        <p:spPr>
          <a:xfrm>
            <a:off x="9722574" y="777240"/>
            <a:ext cx="2194560" cy="2194560"/>
          </a:xfrm>
          <a:prstGeom prst="rect">
            <a:avLst/>
          </a:prstGeom>
        </p:spPr>
      </p:pic>
      <p:pic>
        <p:nvPicPr>
          <p:cNvPr id="7" name="!!emblem" descr="hammer_sickle.png"/>
          <p:cNvPicPr>
            <a:picLocks noChangeAspect="1"/>
          </p:cNvPicPr>
          <p:nvPr/>
        </p:nvPicPr>
        <p:blipFill>
          <a:blip r:embed="rId4"/>
          <a:srcRect/>
          <a:stretch>
            <a:fillRect/>
          </a:stretch>
        </p:blipFill>
        <p:spPr>
          <a:xfrm>
            <a:off x="10180015" y="1143000"/>
            <a:ext cx="1279677" cy="1463040"/>
          </a:xfrm>
          <a:prstGeom prst="rect">
            <a:avLst/>
          </a:prstGeom>
        </p:spPr>
      </p:pic>
      <p:pic>
        <p:nvPicPr>
          <p:cNvPr id="8" name="Picture 7" descr="star_red.png"/>
          <p:cNvPicPr>
            <a:picLocks noChangeAspect="1"/>
          </p:cNvPicPr>
          <p:nvPr/>
        </p:nvPicPr>
        <p:blipFill>
          <a:blip r:embed="rId5"/>
          <a:stretch>
            <a:fillRect/>
          </a:stretch>
        </p:blipFill>
        <p:spPr>
          <a:xfrm>
            <a:off x="548640" y="1563410"/>
            <a:ext cx="457200" cy="448270"/>
          </a:xfrm>
          <a:prstGeom prst="rect">
            <a:avLst/>
          </a:prstGeom>
        </p:spPr>
      </p:pic>
      <p:sp>
        <p:nvSpPr>
          <p:cNvPr id="9" name="TextBox 8"/>
          <p:cNvSpPr txBox="1"/>
          <p:nvPr/>
        </p:nvSpPr>
        <p:spPr>
          <a:xfrm>
            <a:off x="1097280" y="1554480"/>
            <a:ext cx="1760508" cy="457200"/>
          </a:xfrm>
          <a:prstGeom prst="rect">
            <a:avLst/>
          </a:prstGeom>
          <a:noFill/>
        </p:spPr>
        <p:txBody>
          <a:bodyPr wrap="square" lIns="0" rIns="0" tIns="0" bIns="0" anchor="ctr">
            <a:noAutofit/>
          </a:bodyPr>
          <a:lstStyle/>
          <a:p>
            <a:pPr algn="l"/>
            <a:r>
              <a:rPr sz="1400" b="0" i="0">
                <a:solidFill>
                  <a:srgbClr val="FFE6A1"/>
                </a:solidFill>
                <a:latin typeface="Be Vietnam Pro SemiBold"/>
                <a:ea typeface="Be Vietnam Pro SemiBold"/>
                <a:cs typeface="Be Vietnam Pro SemiBold"/>
              </a:rPr>
              <a:t>Thuyết bất khả tri</a:t>
            </a:r>
          </a:p>
        </p:txBody>
      </p:sp>
      <p:sp>
        <p:nvSpPr>
          <p:cNvPr id="10" name="Chevron 9"/>
          <p:cNvSpPr/>
          <p:nvPr/>
        </p:nvSpPr>
        <p:spPr>
          <a:xfrm>
            <a:off x="2912652" y="1655064"/>
            <a:ext cx="256032" cy="204826"/>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1" name="TextBox 10"/>
          <p:cNvSpPr txBox="1"/>
          <p:nvPr/>
        </p:nvSpPr>
        <p:spPr>
          <a:xfrm>
            <a:off x="3360708" y="1536192"/>
            <a:ext cx="6377652" cy="548640"/>
          </a:xfrm>
          <a:prstGeom prst="rect">
            <a:avLst/>
          </a:prstGeom>
          <a:noFill/>
        </p:spPr>
        <p:txBody>
          <a:bodyPr wrap="square" lIns="0" rIns="0" tIns="0" bIns="0" anchor="ctr">
            <a:noAutofit/>
          </a:bodyPr>
          <a:lstStyle/>
          <a:p>
            <a:pPr algn="l">
              <a:lnSpc>
                <a:spcPct val="110000"/>
              </a:lnSpc>
            </a:pPr>
            <a:r>
              <a:rPr sz="1200" b="0" i="0">
                <a:solidFill>
                  <a:srgbClr val="FFF4E2"/>
                </a:solidFill>
                <a:latin typeface="Be Vietnam Pro"/>
                <a:ea typeface="Be Vietnam Pro"/>
                <a:cs typeface="Be Vietnam Pro"/>
              </a:rPr>
              <a:t>Phủ nhận khả năng nhận thức bản chất của đối tượng; kết quả nhận thức chỉ là bề ngoài, hạn hẹp và cắt xén.</a:t>
            </a:r>
          </a:p>
        </p:txBody>
      </p:sp>
      <p:pic>
        <p:nvPicPr>
          <p:cNvPr id="12" name="Picture 11" descr="glow_FFB347_38_1.4.png"/>
          <p:cNvPicPr>
            <a:picLocks noChangeAspect="1"/>
          </p:cNvPicPr>
          <p:nvPr/>
        </p:nvPicPr>
        <p:blipFill>
          <a:blip r:embed="rId6"/>
          <a:stretch>
            <a:fillRect/>
          </a:stretch>
        </p:blipFill>
        <p:spPr>
          <a:xfrm>
            <a:off x="-280035" y="2275713"/>
            <a:ext cx="4126230" cy="4126230"/>
          </a:xfrm>
          <a:prstGeom prst="rect">
            <a:avLst/>
          </a:prstGeom>
        </p:spPr>
      </p:pic>
      <p:pic>
        <p:nvPicPr>
          <p:cNvPr id="13" name="!!person0" descr="cut_kant_ink.png"/>
          <p:cNvPicPr>
            <a:picLocks noChangeAspect="1"/>
          </p:cNvPicPr>
          <p:nvPr/>
        </p:nvPicPr>
        <p:blipFill>
          <a:blip r:embed="rId7"/>
          <a:stretch>
            <a:fillRect/>
          </a:stretch>
        </p:blipFill>
        <p:spPr>
          <a:xfrm>
            <a:off x="320040" y="4013989"/>
            <a:ext cx="2926080" cy="2844011"/>
          </a:xfrm>
          <a:prstGeom prst="rect">
            <a:avLst/>
          </a:prstGeom>
        </p:spPr>
      </p:pic>
      <p:sp>
        <p:nvSpPr>
          <p:cNvPr id="14" name="!!pname0"/>
          <p:cNvSpPr/>
          <p:nvPr/>
        </p:nvSpPr>
        <p:spPr>
          <a:xfrm>
            <a:off x="3063240" y="2880360"/>
            <a:ext cx="1560469" cy="438912"/>
          </a:xfrm>
          <a:prstGeom prst="snip2DiagRect">
            <a:avLst>
              <a:gd name="adj1" fmla="val 0"/>
              <a:gd name="adj2" fmla="val 29166"/>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82880" rIns="182880" tIns="18288" bIns="18288" wrap="square"/>
          <a:lstStyle/>
          <a:p>
            <a:pPr algn="l">
              <a:lnSpc>
                <a:spcPct val="105000"/>
              </a:lnSpc>
            </a:pPr>
            <a:r>
              <a:rPr sz="1600" b="0" i="0" spc="50">
                <a:solidFill>
                  <a:srgbClr val="FFF4E2"/>
                </a:solidFill>
                <a:latin typeface="Big Shoulders Display Black"/>
                <a:ea typeface="Big Shoulders Display Black"/>
                <a:cs typeface="Big Shoulders Display Black"/>
              </a:rPr>
              <a:t>I. CANTƠ</a:t>
            </a:r>
          </a:p>
        </p:txBody>
      </p:sp>
      <p:pic>
        <p:nvPicPr>
          <p:cNvPr id="15" name="Picture 14" descr="star_red.png"/>
          <p:cNvPicPr>
            <a:picLocks noChangeAspect="1"/>
          </p:cNvPicPr>
          <p:nvPr/>
        </p:nvPicPr>
        <p:blipFill>
          <a:blip r:embed="rId5"/>
          <a:stretch>
            <a:fillRect/>
          </a:stretch>
        </p:blipFill>
        <p:spPr>
          <a:xfrm>
            <a:off x="4294525" y="2827425"/>
            <a:ext cx="566928" cy="555855"/>
          </a:xfrm>
          <a:prstGeom prst="rect">
            <a:avLst/>
          </a:prstGeom>
        </p:spPr>
      </p:pic>
      <p:sp>
        <p:nvSpPr>
          <p:cNvPr id="16" name="TextBox 15"/>
          <p:cNvSpPr txBox="1"/>
          <p:nvPr/>
        </p:nvSpPr>
        <p:spPr>
          <a:xfrm>
            <a:off x="3063240" y="3520440"/>
            <a:ext cx="2743200" cy="2651760"/>
          </a:xfrm>
          <a:prstGeom prst="rect">
            <a:avLst/>
          </a:prstGeom>
          <a:noFill/>
        </p:spPr>
        <p:txBody>
          <a:bodyPr wrap="square" lIns="0" rIns="0" tIns="0" bIns="0" anchor="t">
            <a:noAutofit/>
          </a:bodyPr>
          <a:lstStyle/>
          <a:p>
            <a:pPr algn="l" marL="201168" indent="-201168">
              <a:lnSpc>
                <a:spcPct val="115000"/>
              </a:lnSpc>
              <a:spcAft>
                <a:spcPts val="600"/>
              </a:spcAft>
              <a:buClr>
                <a:srgbClr val="E3AE4A"/>
              </a:buClr>
              <a:buSzPct val="100000"/>
              <a:buFont typeface="Arial"/>
              <a:buChar char="•"/>
            </a:pPr>
            <a:r>
              <a:rPr sz="1200" b="0" i="0">
                <a:solidFill>
                  <a:srgbClr val="FFF4E2"/>
                </a:solidFill>
                <a:latin typeface="Be Vietnam Pro"/>
                <a:ea typeface="Be Vietnam Pro"/>
                <a:cs typeface="Be Vietnam Pro"/>
              </a:rPr>
              <a:t>Phân biệt “hiện tượng” và “vật tự nó”</a:t>
            </a:r>
          </a:p>
          <a:p>
            <a:pPr algn="l" marL="201168" indent="-201168">
              <a:lnSpc>
                <a:spcPct val="115000"/>
              </a:lnSpc>
              <a:spcAft>
                <a:spcPts val="600"/>
              </a:spcAft>
              <a:buClr>
                <a:srgbClr val="E3AE4A"/>
              </a:buClr>
              <a:buSzPct val="100000"/>
              <a:buFont typeface="Arial"/>
              <a:buChar char="•"/>
            </a:pPr>
            <a:r>
              <a:rPr sz="1200" b="0" i="0">
                <a:solidFill>
                  <a:srgbClr val="FFF4E2"/>
                </a:solidFill>
                <a:latin typeface="Be Vietnam Pro"/>
                <a:ea typeface="Be Vietnam Pro"/>
                <a:cs typeface="Be Vietnam Pro"/>
              </a:rPr>
              <a:t>Con người chỉ nhận thức được hiện tượng, không thể nhận thức được “vật tự nó”</a:t>
            </a:r>
          </a:p>
        </p:txBody>
      </p:sp>
      <p:pic>
        <p:nvPicPr>
          <p:cNvPr id="17" name="Picture 16" descr="glow_FFB347_38_1.4.png"/>
          <p:cNvPicPr>
            <a:picLocks noChangeAspect="1"/>
          </p:cNvPicPr>
          <p:nvPr/>
        </p:nvPicPr>
        <p:blipFill>
          <a:blip r:embed="rId6"/>
          <a:stretch>
            <a:fillRect/>
          </a:stretch>
        </p:blipFill>
        <p:spPr>
          <a:xfrm>
            <a:off x="5480685" y="2275713"/>
            <a:ext cx="4126230" cy="4126230"/>
          </a:xfrm>
          <a:prstGeom prst="rect">
            <a:avLst/>
          </a:prstGeom>
        </p:spPr>
      </p:pic>
      <p:pic>
        <p:nvPicPr>
          <p:cNvPr id="18" name="!!person1" descr="cut_hegel.png"/>
          <p:cNvPicPr>
            <a:picLocks noChangeAspect="1"/>
          </p:cNvPicPr>
          <p:nvPr/>
        </p:nvPicPr>
        <p:blipFill>
          <a:blip r:embed="rId8"/>
          <a:stretch>
            <a:fillRect/>
          </a:stretch>
        </p:blipFill>
        <p:spPr>
          <a:xfrm>
            <a:off x="6080760" y="3270497"/>
            <a:ext cx="2926080" cy="3587503"/>
          </a:xfrm>
          <a:prstGeom prst="rect">
            <a:avLst/>
          </a:prstGeom>
        </p:spPr>
      </p:pic>
      <p:sp>
        <p:nvSpPr>
          <p:cNvPr id="19" name="!!pname1"/>
          <p:cNvSpPr/>
          <p:nvPr/>
        </p:nvSpPr>
        <p:spPr>
          <a:xfrm>
            <a:off x="8823960" y="2880360"/>
            <a:ext cx="2061950" cy="438912"/>
          </a:xfrm>
          <a:prstGeom prst="snip2DiagRect">
            <a:avLst>
              <a:gd name="adj1" fmla="val 0"/>
              <a:gd name="adj2" fmla="val 29166"/>
            </a:avLst>
          </a:prstGeom>
          <a:gradFill rotWithShape="1">
            <a:gsLst>
              <a:gs pos="0">
                <a:srgbClr val="7A0912"/>
              </a:gs>
              <a:gs pos="100000">
                <a:srgbClr val="A30F1A"/>
              </a:gs>
            </a:gsLst>
            <a:lin ang="54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82880" rIns="182880" tIns="18288" bIns="18288" wrap="square"/>
          <a:lstStyle/>
          <a:p>
            <a:pPr algn="l">
              <a:lnSpc>
                <a:spcPct val="105000"/>
              </a:lnSpc>
            </a:pPr>
            <a:r>
              <a:rPr sz="1600" b="0" i="0" spc="50">
                <a:solidFill>
                  <a:srgbClr val="FFF4E2"/>
                </a:solidFill>
                <a:latin typeface="Big Shoulders Display Black"/>
                <a:ea typeface="Big Shoulders Display Black"/>
                <a:cs typeface="Big Shoulders Display Black"/>
              </a:rPr>
              <a:t>G.W.F. HÊGHEN</a:t>
            </a:r>
          </a:p>
        </p:txBody>
      </p:sp>
      <p:pic>
        <p:nvPicPr>
          <p:cNvPr id="20" name="Picture 19" descr="star_red.png"/>
          <p:cNvPicPr>
            <a:picLocks noChangeAspect="1"/>
          </p:cNvPicPr>
          <p:nvPr/>
        </p:nvPicPr>
        <p:blipFill>
          <a:blip r:embed="rId5"/>
          <a:stretch>
            <a:fillRect/>
          </a:stretch>
        </p:blipFill>
        <p:spPr>
          <a:xfrm>
            <a:off x="10556726" y="2827425"/>
            <a:ext cx="566928" cy="555855"/>
          </a:xfrm>
          <a:prstGeom prst="rect">
            <a:avLst/>
          </a:prstGeom>
        </p:spPr>
      </p:pic>
      <p:sp>
        <p:nvSpPr>
          <p:cNvPr id="21" name="TextBox 20"/>
          <p:cNvSpPr txBox="1"/>
          <p:nvPr/>
        </p:nvSpPr>
        <p:spPr>
          <a:xfrm>
            <a:off x="8823960" y="3520440"/>
            <a:ext cx="2743200" cy="2651760"/>
          </a:xfrm>
          <a:prstGeom prst="rect">
            <a:avLst/>
          </a:prstGeom>
          <a:noFill/>
        </p:spPr>
        <p:txBody>
          <a:bodyPr wrap="square" lIns="0" rIns="0" tIns="0" bIns="0" anchor="t">
            <a:noAutofit/>
          </a:bodyPr>
          <a:lstStyle/>
          <a:p>
            <a:pPr algn="l" marL="201168" indent="-201168">
              <a:lnSpc>
                <a:spcPct val="115000"/>
              </a:lnSpc>
              <a:spcAft>
                <a:spcPts val="600"/>
              </a:spcAft>
              <a:buClr>
                <a:srgbClr val="E3AE4A"/>
              </a:buClr>
              <a:buSzPct val="100000"/>
              <a:buFont typeface="Arial"/>
              <a:buChar char="•"/>
            </a:pPr>
            <a:r>
              <a:rPr sz="1200" b="0" i="0">
                <a:solidFill>
                  <a:srgbClr val="FFF4E2"/>
                </a:solidFill>
                <a:latin typeface="Be Vietnam Pro"/>
                <a:ea typeface="Be Vietnam Pro"/>
                <a:cs typeface="Be Vietnam Pro"/>
              </a:rPr>
              <a:t>Phê phán thuyết bất khả tri của Cantơ</a:t>
            </a:r>
          </a:p>
          <a:p>
            <a:pPr algn="l" marL="201168" indent="-201168">
              <a:lnSpc>
                <a:spcPct val="115000"/>
              </a:lnSpc>
              <a:spcAft>
                <a:spcPts val="600"/>
              </a:spcAft>
              <a:buClr>
                <a:srgbClr val="E3AE4A"/>
              </a:buClr>
              <a:buSzPct val="100000"/>
              <a:buFont typeface="Arial"/>
              <a:buChar char="•"/>
            </a:pPr>
            <a:r>
              <a:rPr sz="1200" b="0" i="0">
                <a:solidFill>
                  <a:srgbClr val="FFF4E2"/>
                </a:solidFill>
                <a:latin typeface="Be Vietnam Pro"/>
                <a:ea typeface="Be Vietnam Pro"/>
                <a:cs typeface="Be Vietnam Pro"/>
              </a:rPr>
              <a:t>Khẳng định khả năng nhận thức thế giới, trên lập trường duy tâm khách quan</a:t>
            </a:r>
          </a:p>
        </p:txBody>
      </p:sp>
      <p:sp>
        <p:nvSpPr>
          <p:cNvPr id="22" name="TextBox 21"/>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19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31" presetClass="entr" presetSubtype="0"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800" fill="hold"/>
                                        <p:tgtEl>
                                          <p:spTgt spid="7"/>
                                        </p:tgtEl>
                                        <p:attrNameLst>
                                          <p:attrName>ppt_w</p:attrName>
                                        </p:attrNameLst>
                                      </p:cBhvr>
                                      <p:tavLst>
                                        <p:tav tm="0">
                                          <p:val>
                                            <p:strVal val="0"/>
                                          </p:val>
                                        </p:tav>
                                        <p:tav tm="100000">
                                          <p:val>
                                            <p:strVal val="#ppt_w"/>
                                          </p:val>
                                        </p:tav>
                                      </p:tavLst>
                                    </p:anim>
                                    <p:anim calcmode="lin" valueType="num">
                                      <p:cBhvr additive="base">
                                        <p:cTn id="14" dur="800" fill="hold"/>
                                        <p:tgtEl>
                                          <p:spTgt spid="7"/>
                                        </p:tgtEl>
                                        <p:attrNameLst>
                                          <p:attrName>ppt_h</p:attrName>
                                        </p:attrNameLst>
                                      </p:cBhvr>
                                      <p:tavLst>
                                        <p:tav tm="0">
                                          <p:val>
                                            <p:strVal val="0"/>
                                          </p:val>
                                        </p:tav>
                                        <p:tav tm="100000">
                                          <p:val>
                                            <p:strVal val="#ppt_h"/>
                                          </p:val>
                                        </p:tav>
                                      </p:tavLst>
                                    </p:anim>
                                    <p:anim calcmode="lin" valueType="num">
                                      <p:cBhvr>
                                        <p:cTn id="15" dur="800" fill="hold"/>
                                        <p:tgtEl>
                                          <p:spTgt spid="7"/>
                                        </p:tgtEl>
                                        <p:attrNameLst>
                                          <p:attrName>style.rotation</p:attrName>
                                        </p:attrNameLst>
                                      </p:cBhvr>
                                      <p:tavLst>
                                        <p:tav tm="0">
                                          <p:val>
                                            <p:fltVal val="90"/>
                                          </p:val>
                                        </p:tav>
                                        <p:tav tm="100000">
                                          <p:val>
                                            <p:fltVal val="0"/>
                                          </p:val>
                                        </p:tav>
                                      </p:tavLst>
                                    </p:anim>
                                    <p:animEffect transition="in" filter="fade">
                                      <p:cBhvr>
                                        <p:cTn id="16" dur="800"/>
                                        <p:tgtEl>
                                          <p:spTgt spid="7"/>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800"/>
                                        <p:tgtEl>
                                          <p:spTgt spid="6"/>
                                        </p:tgtEl>
                                      </p:cBhvr>
                                    </p:animEffect>
                                  </p:childTnLst>
                                </p:cTn>
                              </p:par>
                              <p:par>
                                <p:cTn id="20" presetID="22" presetClass="entr" presetSubtype="8" fill="hold" grpId="0" nodeType="withEffect">
                                  <p:stCondLst>
                                    <p:cond delay="24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600"/>
                                        <p:tgtEl>
                                          <p:spTgt spid="5"/>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6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7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799"/>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42" presetClass="entr" presetSubtype="0" fill="hold" grpId="0" nodeType="withEffect">
                                  <p:stCondLst>
                                    <p:cond delay="9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700"/>
                                        <p:tgtEl>
                                          <p:spTgt spid="12"/>
                                        </p:tgtEl>
                                      </p:cBhvr>
                                    </p:animEffect>
                                    <p:anim calcmode="lin" valueType="num">
                                      <p:cBhvr additive="base">
                                        <p:cTn id="38" dur="700" fill="hold"/>
                                        <p:tgtEl>
                                          <p:spTgt spid="12"/>
                                        </p:tgtEl>
                                        <p:attrNameLst>
                                          <p:attrName>ppt_x</p:attrName>
                                        </p:attrNameLst>
                                      </p:cBhvr>
                                      <p:tavLst>
                                        <p:tav tm="0">
                                          <p:val>
                                            <p:strVal val="#ppt_x"/>
                                          </p:val>
                                        </p:tav>
                                        <p:tav tm="100000">
                                          <p:val>
                                            <p:strVal val="#ppt_x"/>
                                          </p:val>
                                        </p:tav>
                                      </p:tavLst>
                                    </p:anim>
                                    <p:anim calcmode="lin" valueType="num">
                                      <p:cBhvr additive="base">
                                        <p:cTn id="39" dur="700" fill="hold"/>
                                        <p:tgtEl>
                                          <p:spTgt spid="12"/>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9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700"/>
                                        <p:tgtEl>
                                          <p:spTgt spid="13"/>
                                        </p:tgtEl>
                                      </p:cBhvr>
                                    </p:animEffect>
                                    <p:anim calcmode="lin" valueType="num">
                                      <p:cBhvr additive="base">
                                        <p:cTn id="43" dur="700" fill="hold"/>
                                        <p:tgtEl>
                                          <p:spTgt spid="13"/>
                                        </p:tgtEl>
                                        <p:attrNameLst>
                                          <p:attrName>ppt_x</p:attrName>
                                        </p:attrNameLst>
                                      </p:cBhvr>
                                      <p:tavLst>
                                        <p:tav tm="0">
                                          <p:val>
                                            <p:strVal val="#ppt_x"/>
                                          </p:val>
                                        </p:tav>
                                        <p:tav tm="100000">
                                          <p:val>
                                            <p:strVal val="#ppt_x"/>
                                          </p:val>
                                        </p:tav>
                                      </p:tavLst>
                                    </p:anim>
                                    <p:anim calcmode="lin" valueType="num">
                                      <p:cBhvr additive="base">
                                        <p:cTn id="44" dur="700" fill="hold"/>
                                        <p:tgtEl>
                                          <p:spTgt spid="13"/>
                                        </p:tgtEl>
                                        <p:attrNameLst>
                                          <p:attrName>ppt_y</p:attrName>
                                        </p:attrNameLst>
                                      </p:cBhvr>
                                      <p:tavLst>
                                        <p:tav tm="0">
                                          <p:val>
                                            <p:strVal val="#ppt_y+.06"/>
                                          </p:val>
                                        </p:tav>
                                        <p:tav tm="100000">
                                          <p:val>
                                            <p:strVal val="#ppt_y"/>
                                          </p:val>
                                        </p:tav>
                                      </p:tavLst>
                                    </p:anim>
                                  </p:childTnLst>
                                </p:cTn>
                              </p:par>
                              <p:par>
                                <p:cTn id="45" presetID="22" presetClass="entr" presetSubtype="8" fill="hold" grpId="0" nodeType="withEffect">
                                  <p:stCondLst>
                                    <p:cond delay="130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450"/>
                                        <p:tgtEl>
                                          <p:spTgt spid="14"/>
                                        </p:tgtEl>
                                      </p:cBhvr>
                                    </p:animEffect>
                                  </p:childTnLst>
                                </p:cTn>
                              </p:par>
                              <p:par>
                                <p:cTn id="48" presetID="22" presetClass="entr" presetSubtype="8" fill="hold" grpId="0" nodeType="withEffect">
                                  <p:stCondLst>
                                    <p:cond delay="140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450"/>
                                        <p:tgtEl>
                                          <p:spTgt spid="15"/>
                                        </p:tgtEl>
                                      </p:cBhvr>
                                    </p:animEffect>
                                  </p:childTnLst>
                                </p:cTn>
                              </p:par>
                              <p:par>
                                <p:cTn id="51" presetID="10" presetClass="entr" presetSubtype="0" fill="hold" grpId="0" nodeType="withEffect">
                                  <p:stCondLst>
                                    <p:cond delay="150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42" presetClass="entr" presetSubtype="0" fill="hold" grpId="0" nodeType="withEffect">
                                  <p:stCondLst>
                                    <p:cond delay="160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700"/>
                                        <p:tgtEl>
                                          <p:spTgt spid="17"/>
                                        </p:tgtEl>
                                      </p:cBhvr>
                                    </p:animEffect>
                                    <p:anim calcmode="lin" valueType="num">
                                      <p:cBhvr additive="base">
                                        <p:cTn id="57" dur="700" fill="hold"/>
                                        <p:tgtEl>
                                          <p:spTgt spid="17"/>
                                        </p:tgtEl>
                                        <p:attrNameLst>
                                          <p:attrName>ppt_x</p:attrName>
                                        </p:attrNameLst>
                                      </p:cBhvr>
                                      <p:tavLst>
                                        <p:tav tm="0">
                                          <p:val>
                                            <p:strVal val="#ppt_x"/>
                                          </p:val>
                                        </p:tav>
                                        <p:tav tm="100000">
                                          <p:val>
                                            <p:strVal val="#ppt_x"/>
                                          </p:val>
                                        </p:tav>
                                      </p:tavLst>
                                    </p:anim>
                                    <p:anim calcmode="lin" valueType="num">
                                      <p:cBhvr additive="base">
                                        <p:cTn id="58"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160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700"/>
                                        <p:tgtEl>
                                          <p:spTgt spid="18"/>
                                        </p:tgtEl>
                                      </p:cBhvr>
                                    </p:animEffect>
                                    <p:anim calcmode="lin" valueType="num">
                                      <p:cBhvr additive="base">
                                        <p:cTn id="62" dur="700" fill="hold"/>
                                        <p:tgtEl>
                                          <p:spTgt spid="18"/>
                                        </p:tgtEl>
                                        <p:attrNameLst>
                                          <p:attrName>ppt_x</p:attrName>
                                        </p:attrNameLst>
                                      </p:cBhvr>
                                      <p:tavLst>
                                        <p:tav tm="0">
                                          <p:val>
                                            <p:strVal val="#ppt_x"/>
                                          </p:val>
                                        </p:tav>
                                        <p:tav tm="100000">
                                          <p:val>
                                            <p:strVal val="#ppt_x"/>
                                          </p:val>
                                        </p:tav>
                                      </p:tavLst>
                                    </p:anim>
                                    <p:anim calcmode="lin" valueType="num">
                                      <p:cBhvr additive="base">
                                        <p:cTn id="63" dur="700" fill="hold"/>
                                        <p:tgtEl>
                                          <p:spTgt spid="18"/>
                                        </p:tgtEl>
                                        <p:attrNameLst>
                                          <p:attrName>ppt_y</p:attrName>
                                        </p:attrNameLst>
                                      </p:cBhvr>
                                      <p:tavLst>
                                        <p:tav tm="0">
                                          <p:val>
                                            <p:strVal val="#ppt_y+.06"/>
                                          </p:val>
                                        </p:tav>
                                        <p:tav tm="100000">
                                          <p:val>
                                            <p:strVal val="#ppt_y"/>
                                          </p:val>
                                        </p:tav>
                                      </p:tavLst>
                                    </p:anim>
                                  </p:childTnLst>
                                </p:cTn>
                              </p:par>
                              <p:par>
                                <p:cTn id="64" presetID="22" presetClass="entr" presetSubtype="8" fill="hold" grpId="0" nodeType="withEffect">
                                  <p:stCondLst>
                                    <p:cond delay="200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450"/>
                                        <p:tgtEl>
                                          <p:spTgt spid="19"/>
                                        </p:tgtEl>
                                      </p:cBhvr>
                                    </p:animEffect>
                                  </p:childTnLst>
                                </p:cTn>
                              </p:par>
                              <p:par>
                                <p:cTn id="67" presetID="22" presetClass="entr" presetSubtype="8" fill="hold" grpId="0" nodeType="withEffect">
                                  <p:stCondLst>
                                    <p:cond delay="2100"/>
                                  </p:stCondLst>
                                  <p:childTnLst>
                                    <p:set>
                                      <p:cBhvr>
                                        <p:cTn id="68" dur="1" fill="hold">
                                          <p:stCondLst>
                                            <p:cond delay="0"/>
                                          </p:stCondLst>
                                        </p:cTn>
                                        <p:tgtEl>
                                          <p:spTgt spid="20"/>
                                        </p:tgtEl>
                                        <p:attrNameLst>
                                          <p:attrName>style.visibility</p:attrName>
                                        </p:attrNameLst>
                                      </p:cBhvr>
                                      <p:to>
                                        <p:strVal val="visible"/>
                                      </p:to>
                                    </p:set>
                                    <p:animEffect transition="in" filter="wipe(left)">
                                      <p:cBhvr>
                                        <p:cTn id="69" dur="450"/>
                                        <p:tgtEl>
                                          <p:spTgt spid="20"/>
                                        </p:tgtEl>
                                      </p:cBhvr>
                                    </p:animEffect>
                                  </p:childTnLst>
                                </p:cTn>
                              </p:par>
                              <p:par>
                                <p:cTn id="70" presetID="10" presetClass="entr" presetSubtype="0" fill="hold" grpId="0" nodeType="withEffect">
                                  <p:stCondLst>
                                    <p:cond delay="220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1" grpId="0" animBg="1"/>
      <p:bldP spid="14" grpId="0" animBg="1"/>
      <p:bldP spid="16" grpId="0" animBg="1"/>
      <p:bldP spid="19" grpId="0" animBg="1"/>
      <p:bldP spid="21"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pic>
        <p:nvPicPr>
          <p:cNvPr id="3" name="Picture 2" descr="glow_FFB347_38_1.4.png"/>
          <p:cNvPicPr>
            <a:picLocks noChangeAspect="1"/>
          </p:cNvPicPr>
          <p:nvPr/>
        </p:nvPicPr>
        <p:blipFill>
          <a:blip r:embed="rId3"/>
          <a:stretch>
            <a:fillRect/>
          </a:stretch>
        </p:blipFill>
        <p:spPr>
          <a:xfrm>
            <a:off x="-150876" y="2046427"/>
            <a:ext cx="4690872" cy="4690872"/>
          </a:xfrm>
          <a:prstGeom prst="rect">
            <a:avLst/>
          </a:prstGeom>
        </p:spPr>
      </p:pic>
      <p:pic>
        <p:nvPicPr>
          <p:cNvPr id="4" name="!!hero" descr="cut_marx_moscow.png"/>
          <p:cNvPicPr>
            <a:picLocks noChangeAspect="1"/>
          </p:cNvPicPr>
          <p:nvPr/>
        </p:nvPicPr>
        <p:blipFill>
          <a:blip r:embed="rId4"/>
          <a:stretch>
            <a:fillRect/>
          </a:stretch>
        </p:blipFill>
        <p:spPr>
          <a:xfrm>
            <a:off x="-274320" y="3145061"/>
            <a:ext cx="4937760" cy="3712939"/>
          </a:xfrm>
          <a:prstGeom prst="rect">
            <a:avLst/>
          </a:prstGeom>
        </p:spPr>
      </p:pic>
      <p:pic>
        <p:nvPicPr>
          <p:cNvPr id="5" name="!!drape" descr="drape_bl.png"/>
          <p:cNvPicPr>
            <a:picLocks noChangeAspect="1"/>
          </p:cNvPicPr>
          <p:nvPr/>
        </p:nvPicPr>
        <p:blipFill>
          <a:blip r:embed="rId5"/>
          <a:srcRect/>
          <a:stretch>
            <a:fillRect/>
          </a:stretch>
        </p:blipFill>
        <p:spPr>
          <a:xfrm>
            <a:off x="-365760" y="3840480"/>
            <a:ext cx="6400800" cy="3200400"/>
          </a:xfrm>
          <a:prstGeom prst="rect">
            <a:avLst/>
          </a:prstGeom>
        </p:spPr>
      </p:pic>
      <p:sp>
        <p:nvSpPr>
          <p:cNvPr id="6"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PHẦN 3</a:t>
            </a:r>
          </a:p>
        </p:txBody>
      </p:sp>
      <p:sp>
        <p:nvSpPr>
          <p:cNvPr id="7" name="!!tab"/>
          <p:cNvSpPr/>
          <p:nvPr/>
        </p:nvSpPr>
        <p:spPr>
          <a:xfrm>
            <a:off x="548640" y="566928"/>
            <a:ext cx="3851966"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THỰC TIỄN VÀ KẾT LUẬN</a:t>
            </a:r>
          </a:p>
        </p:txBody>
      </p:sp>
      <p:sp>
        <p:nvSpPr>
          <p:cNvPr id="8" name="!!rule"/>
          <p:cNvSpPr/>
          <p:nvPr/>
        </p:nvSpPr>
        <p:spPr>
          <a:xfrm>
            <a:off x="4510334" y="1133856"/>
            <a:ext cx="7315602"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9" name="Picture 8" descr="quote_close.png"/>
          <p:cNvPicPr>
            <a:picLocks noChangeAspect="1"/>
          </p:cNvPicPr>
          <p:nvPr/>
        </p:nvPicPr>
        <p:blipFill>
          <a:blip r:embed="rId6"/>
          <a:stretch>
            <a:fillRect/>
          </a:stretch>
        </p:blipFill>
        <p:spPr>
          <a:xfrm>
            <a:off x="10728655" y="643128"/>
            <a:ext cx="868680" cy="637032"/>
          </a:xfrm>
          <a:prstGeom prst="rect">
            <a:avLst/>
          </a:prstGeom>
        </p:spPr>
      </p:pic>
      <p:sp>
        <p:nvSpPr>
          <p:cNvPr id="10" name="TextBox 9"/>
          <p:cNvSpPr txBox="1"/>
          <p:nvPr/>
        </p:nvSpPr>
        <p:spPr>
          <a:xfrm>
            <a:off x="548640" y="1417320"/>
            <a:ext cx="10728655" cy="914400"/>
          </a:xfrm>
          <a:prstGeom prst="rect">
            <a:avLst/>
          </a:prstGeom>
          <a:noFill/>
        </p:spPr>
        <p:txBody>
          <a:bodyPr wrap="square" lIns="0" rIns="0" tIns="0" bIns="0" anchor="ctr">
            <a:noAutofit/>
          </a:bodyPr>
          <a:lstStyle/>
          <a:p>
            <a:pPr algn="l">
              <a:lnSpc>
                <a:spcPct val="115000"/>
              </a:lnSpc>
            </a:pPr>
            <a:r>
              <a:rPr sz="1500" b="0" i="1">
                <a:solidFill>
                  <a:srgbClr val="FFE6A1"/>
                </a:solidFill>
                <a:effectLst>
                  <a:outerShdw blurRad="91440" dist="36576" dir="5400000" algn="ctr" rotWithShape="0">
                    <a:srgbClr val="3A0006">
                      <a:alpha val="40000"/>
                    </a:srgbClr>
                  </a:outerShdw>
                </a:effectLst>
                <a:latin typeface="Be Vietnam Pro"/>
                <a:ea typeface="Be Vietnam Pro"/>
                <a:cs typeface="Be Vietnam Pro"/>
              </a:rPr>
              <a:t>“Vấn đề tìm hiểu xem tư duy của con người có thể đạt tới chân lý khách quan không, hoàn toàn không phải là một vấn đề lý luận mà là một vấn đề thực tiễn.” — C. Mác</a:t>
            </a:r>
          </a:p>
        </p:txBody>
      </p:sp>
      <p:sp>
        <p:nvSpPr>
          <p:cNvPr id="11" name="Snip Diagonal Corner Rectangle 10"/>
          <p:cNvSpPr/>
          <p:nvPr/>
        </p:nvSpPr>
        <p:spPr>
          <a:xfrm>
            <a:off x="4572000" y="2560320"/>
            <a:ext cx="7071055" cy="566928"/>
          </a:xfrm>
          <a:prstGeom prst="snip2DiagRect">
            <a:avLst>
              <a:gd name="adj1" fmla="val 0"/>
              <a:gd name="adj2" fmla="val 22580"/>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685800" tIns="36576" bIns="36576" wrap="square"/>
          <a:lstStyle/>
          <a:p>
            <a:pPr algn="l">
              <a:lnSpc>
                <a:spcPct val="105000"/>
              </a:lnSpc>
            </a:pPr>
            <a:r>
              <a:rPr sz="1250" b="0" i="0">
                <a:solidFill>
                  <a:srgbClr val="FFF4E2"/>
                </a:solidFill>
                <a:latin typeface="Be Vietnam Pro"/>
                <a:ea typeface="Be Vietnam Pro"/>
                <a:cs typeface="Be Vietnam Pro"/>
              </a:rPr>
              <a:t>Thực tiễn chứng minh tính đúng đắn của nhận thức</a:t>
            </a:r>
          </a:p>
        </p:txBody>
      </p:sp>
      <p:sp>
        <p:nvSpPr>
          <p:cNvPr id="12" name="Chevron 11"/>
          <p:cNvSpPr/>
          <p:nvPr/>
        </p:nvSpPr>
        <p:spPr>
          <a:xfrm rot="5400000">
            <a:off x="11140135" y="2706624"/>
            <a:ext cx="274320" cy="219456"/>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Snip Diagonal Corner Rectangle 12"/>
          <p:cNvSpPr/>
          <p:nvPr/>
        </p:nvSpPr>
        <p:spPr>
          <a:xfrm>
            <a:off x="4572000" y="3291840"/>
            <a:ext cx="7071055" cy="566928"/>
          </a:xfrm>
          <a:prstGeom prst="snip2DiagRect">
            <a:avLst>
              <a:gd name="adj1" fmla="val 0"/>
              <a:gd name="adj2" fmla="val 22580"/>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685800" tIns="36576" bIns="36576" wrap="square"/>
          <a:lstStyle/>
          <a:p>
            <a:pPr algn="l">
              <a:lnSpc>
                <a:spcPct val="105000"/>
              </a:lnSpc>
            </a:pPr>
            <a:r>
              <a:rPr sz="1250" b="0" i="0">
                <a:solidFill>
                  <a:srgbClr val="FFF4E2"/>
                </a:solidFill>
                <a:latin typeface="Be Vietnam Pro"/>
                <a:ea typeface="Be Vietnam Pro"/>
                <a:cs typeface="Be Vietnam Pro"/>
              </a:rPr>
              <a:t>“Vật tự nó” dần trở thành “vật cho ta”</a:t>
            </a:r>
          </a:p>
        </p:txBody>
      </p:sp>
      <p:sp>
        <p:nvSpPr>
          <p:cNvPr id="14" name="Chevron 13"/>
          <p:cNvSpPr/>
          <p:nvPr/>
        </p:nvSpPr>
        <p:spPr>
          <a:xfrm rot="5400000">
            <a:off x="11140135" y="3438144"/>
            <a:ext cx="274320" cy="219456"/>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Snip Diagonal Corner Rectangle 14"/>
          <p:cNvSpPr/>
          <p:nvPr/>
        </p:nvSpPr>
        <p:spPr>
          <a:xfrm>
            <a:off x="4572000" y="4023360"/>
            <a:ext cx="7071055" cy="566928"/>
          </a:xfrm>
          <a:prstGeom prst="snip2DiagRect">
            <a:avLst>
              <a:gd name="adj1" fmla="val 0"/>
              <a:gd name="adj2" fmla="val 22580"/>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685800" tIns="36576" bIns="36576" wrap="square"/>
          <a:lstStyle/>
          <a:p>
            <a:pPr algn="l">
              <a:lnSpc>
                <a:spcPct val="105000"/>
              </a:lnSpc>
            </a:pPr>
            <a:r>
              <a:rPr sz="1250" b="0" i="0">
                <a:solidFill>
                  <a:srgbClr val="FFF4E2"/>
                </a:solidFill>
                <a:latin typeface="Be Vietnam Pro"/>
                <a:ea typeface="Be Vietnam Pro"/>
                <a:cs typeface="Be Vietnam Pro"/>
              </a:rPr>
              <a:t>Vật chất có trước và quyết định ý thức</a:t>
            </a:r>
          </a:p>
        </p:txBody>
      </p:sp>
      <p:sp>
        <p:nvSpPr>
          <p:cNvPr id="16" name="Chevron 15"/>
          <p:cNvSpPr/>
          <p:nvPr/>
        </p:nvSpPr>
        <p:spPr>
          <a:xfrm rot="5400000">
            <a:off x="11140135" y="4169664"/>
            <a:ext cx="274320" cy="219456"/>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7" name="Snip Diagonal Corner Rectangle 16"/>
          <p:cNvSpPr/>
          <p:nvPr/>
        </p:nvSpPr>
        <p:spPr>
          <a:xfrm>
            <a:off x="4572000" y="4754880"/>
            <a:ext cx="7071055" cy="566928"/>
          </a:xfrm>
          <a:prstGeom prst="snip2DiagRect">
            <a:avLst>
              <a:gd name="adj1" fmla="val 0"/>
              <a:gd name="adj2" fmla="val 22580"/>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685800" tIns="36576" bIns="36576" wrap="square"/>
          <a:lstStyle/>
          <a:p>
            <a:pPr algn="l">
              <a:lnSpc>
                <a:spcPct val="105000"/>
              </a:lnSpc>
            </a:pPr>
            <a:r>
              <a:rPr sz="1250" b="0" i="0">
                <a:solidFill>
                  <a:srgbClr val="FFF4E2"/>
                </a:solidFill>
                <a:latin typeface="Be Vietnam Pro"/>
                <a:ea typeface="Be Vietnam Pro"/>
                <a:cs typeface="Be Vietnam Pro"/>
              </a:rPr>
              <a:t>Con người có khả năng nhận thức đúng đắn thế giới</a:t>
            </a:r>
          </a:p>
        </p:txBody>
      </p:sp>
      <p:sp>
        <p:nvSpPr>
          <p:cNvPr id="18" name="Chevron 17"/>
          <p:cNvSpPr/>
          <p:nvPr/>
        </p:nvSpPr>
        <p:spPr>
          <a:xfrm rot="5400000">
            <a:off x="11140135" y="4901184"/>
            <a:ext cx="274320" cy="219456"/>
          </a:xfrm>
          <a:prstGeom prst="chevron">
            <a:avLst/>
          </a:prstGeom>
          <a:solidFill>
            <a:srgbClr val="E3AE4A"/>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Snip Diagonal Corner Rectangle 18"/>
          <p:cNvSpPr/>
          <p:nvPr/>
        </p:nvSpPr>
        <p:spPr>
          <a:xfrm>
            <a:off x="4297680" y="5669280"/>
            <a:ext cx="7345375" cy="566928"/>
          </a:xfrm>
          <a:prstGeom prst="snip2DiagRect">
            <a:avLst>
              <a:gd name="adj1" fmla="val 0"/>
              <a:gd name="adj2" fmla="val 29032"/>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28016" rIns="128016" tIns="36576" bIns="36576" wrap="square"/>
          <a:lstStyle/>
          <a:p>
            <a:pPr algn="ctr">
              <a:lnSpc>
                <a:spcPct val="105000"/>
              </a:lnSpc>
            </a:pPr>
            <a:r>
              <a:rPr sz="1250" b="0" i="0">
                <a:solidFill>
                  <a:srgbClr val="FFF4E2"/>
                </a:solidFill>
                <a:latin typeface="Be Vietnam Pro SemiBold"/>
                <a:ea typeface="Be Vietnam Pro SemiBold"/>
                <a:cs typeface="Be Vietnam Pro SemiBold"/>
              </a:rPr>
              <a:t>LẬP TRƯỜNG MÁC – LÊNIN: duy vật biện chứng, gắn nhận thức với thực tiễn</a:t>
            </a:r>
          </a:p>
        </p:txBody>
      </p:sp>
      <p:sp>
        <p:nvSpPr>
          <p:cNvPr id="20" name="TextBox 19"/>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900" fill="hold"/>
                                        <p:tgtEl>
                                          <p:spTgt spid="3"/>
                                        </p:tgtEl>
                                        <p:attrNameLst>
                                          <p:attrName>ppt_x</p:attrName>
                                        </p:attrNameLst>
                                      </p:cBhvr>
                                      <p:tavLst>
                                        <p:tav tm="0">
                                          <p:val>
                                            <p:strVal val="0-#ppt_w/2"/>
                                          </p:val>
                                        </p:tav>
                                        <p:tav tm="100000">
                                          <p:val>
                                            <p:strVal val="#ppt_x"/>
                                          </p:val>
                                        </p:tav>
                                      </p:tavLst>
                                    </p:anim>
                                    <p:anim calcmode="lin" valueType="num">
                                      <p:cBhvr additive="base">
                                        <p:cTn id="8" dur="9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900" fill="hold"/>
                                        <p:tgtEl>
                                          <p:spTgt spid="4"/>
                                        </p:tgtEl>
                                        <p:attrNameLst>
                                          <p:attrName>ppt_x</p:attrName>
                                        </p:attrNameLst>
                                      </p:cBhvr>
                                      <p:tavLst>
                                        <p:tav tm="0">
                                          <p:val>
                                            <p:strVal val="0-#ppt_w/2"/>
                                          </p:val>
                                        </p:tav>
                                        <p:tav tm="100000">
                                          <p:val>
                                            <p:strVal val="#ppt_x"/>
                                          </p:val>
                                        </p:tav>
                                      </p:tavLst>
                                    </p:anim>
                                    <p:anim calcmode="lin" valueType="num">
                                      <p:cBhvr additive="base">
                                        <p:cTn id="12" dur="900" fill="hold"/>
                                        <p:tgtEl>
                                          <p:spTgt spid="4"/>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p:stCondLst>
                                    <p:cond delay="1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600"/>
                                        <p:tgtEl>
                                          <p:spTgt spid="6"/>
                                        </p:tgtEl>
                                      </p:cBhvr>
                                    </p:animEffect>
                                  </p:childTnLst>
                                </p:cTn>
                              </p:par>
                              <p:par>
                                <p:cTn id="16" presetID="22" presetClass="entr" presetSubtype="8" fill="hold" grpId="0" nodeType="withEffect">
                                  <p:stCondLst>
                                    <p:cond delay="22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600"/>
                                        <p:tgtEl>
                                          <p:spTgt spid="7"/>
                                        </p:tgtEl>
                                      </p:cBhvr>
                                    </p:animEffect>
                                  </p:childTnLst>
                                </p:cTn>
                              </p:par>
                              <p:par>
                                <p:cTn id="19" presetID="22" presetClass="entr" presetSubtype="2" fill="hold" grpId="0" nodeType="withEffect">
                                  <p:stCondLst>
                                    <p:cond delay="300"/>
                                  </p:stCondLst>
                                  <p:childTnLst>
                                    <p:set>
                                      <p:cBhvr>
                                        <p:cTn id="20" dur="1" fill="hold">
                                          <p:stCondLst>
                                            <p:cond delay="0"/>
                                          </p:stCondLst>
                                        </p:cTn>
                                        <p:tgtEl>
                                          <p:spTgt spid="5"/>
                                        </p:tgtEl>
                                        <p:attrNameLst>
                                          <p:attrName>style.visibility</p:attrName>
                                        </p:attrNameLst>
                                      </p:cBhvr>
                                      <p:to>
                                        <p:strVal val="visible"/>
                                      </p:to>
                                    </p:set>
                                    <p:animEffect transition="in" filter="wipe(right)">
                                      <p:cBhvr>
                                        <p:cTn id="21" dur="800"/>
                                        <p:tgtEl>
                                          <p:spTgt spid="5"/>
                                        </p:tgtEl>
                                      </p:cBhvr>
                                    </p:animEffect>
                                  </p:childTnLst>
                                </p:cTn>
                              </p:par>
                              <p:par>
                                <p:cTn id="22" presetID="22" presetClass="entr" presetSubtype="8" fill="hold" grpId="0" nodeType="withEffect">
                                  <p:stCondLst>
                                    <p:cond delay="339"/>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600"/>
                                        <p:tgtEl>
                                          <p:spTgt spid="8"/>
                                        </p:tgtEl>
                                      </p:cBhvr>
                                    </p:animEffect>
                                  </p:childTnLst>
                                </p:cTn>
                              </p:par>
                              <p:par>
                                <p:cTn id="25" presetID="53" presetClass="entr" presetSubtype="16" fill="hold" grpId="0" nodeType="withEffect">
                                  <p:stCondLst>
                                    <p:cond delay="4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ppt_w</p:attrName>
                                        </p:attrNameLst>
                                      </p:cBhvr>
                                      <p:tavLst>
                                        <p:tav tm="0">
                                          <p:val>
                                            <p:strVal val="#ppt_w*0.7"/>
                                          </p:val>
                                        </p:tav>
                                        <p:tav tm="100000">
                                          <p:val>
                                            <p:strVal val="#ppt_w"/>
                                          </p:val>
                                        </p:tav>
                                      </p:tavLst>
                                    </p:anim>
                                    <p:anim calcmode="lin" valueType="num">
                                      <p:cBhvr additive="base">
                                        <p:cTn id="28" dur="500" fill="hold"/>
                                        <p:tgtEl>
                                          <p:spTgt spid="9"/>
                                        </p:tgtEl>
                                        <p:attrNameLst>
                                          <p:attrName>ppt_h</p:attrName>
                                        </p:attrNameLst>
                                      </p:cBhvr>
                                      <p:tavLst>
                                        <p:tav tm="0">
                                          <p:val>
                                            <p:strVal val="#ppt_h*0.7"/>
                                          </p:val>
                                        </p:tav>
                                        <p:tav tm="100000">
                                          <p:val>
                                            <p:strVal val="#ppt_h"/>
                                          </p:val>
                                        </p:tav>
                                      </p:tavLst>
                                    </p:anim>
                                    <p:animEffect transition="in" filter="fade">
                                      <p:cBhvr>
                                        <p:cTn id="29" dur="500"/>
                                        <p:tgtEl>
                                          <p:spTgt spid="9"/>
                                        </p:tgtEl>
                                      </p:cBhvr>
                                    </p:animEffect>
                                  </p:childTnLst>
                                </p:cTn>
                              </p:par>
                              <p:par>
                                <p:cTn id="30" presetID="10" presetClass="entr" presetSubtype="0" fill="hold" grpId="0" nodeType="withEffect">
                                  <p:stCondLst>
                                    <p:cond delay="6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00"/>
                                        <p:tgtEl>
                                          <p:spTgt spid="10"/>
                                        </p:tgtEl>
                                      </p:cBhvr>
                                    </p:animEffect>
                                  </p:childTnLst>
                                </p:cTn>
                              </p:par>
                              <p:par>
                                <p:cTn id="33" presetID="22" presetClass="entr" presetSubtype="8" fill="hold" grpId="0" nodeType="withEffect">
                                  <p:stCondLst>
                                    <p:cond delay="90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450"/>
                                        <p:tgtEl>
                                          <p:spTgt spid="11"/>
                                        </p:tgtEl>
                                      </p:cBhvr>
                                    </p:animEffect>
                                  </p:childTnLst>
                                </p:cTn>
                              </p:par>
                              <p:par>
                                <p:cTn id="36" presetID="22" presetClass="entr" presetSubtype="8" fill="hold" grpId="0" nodeType="withEffect">
                                  <p:stCondLst>
                                    <p:cond delay="90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450"/>
                                        <p:tgtEl>
                                          <p:spTgt spid="12"/>
                                        </p:tgtEl>
                                      </p:cBhvr>
                                    </p:animEffect>
                                  </p:childTnLst>
                                </p:cTn>
                              </p:par>
                              <p:par>
                                <p:cTn id="39" presetID="22" presetClass="entr" presetSubtype="8" fill="hold" grpId="0" nodeType="withEffect">
                                  <p:stCondLst>
                                    <p:cond delay="105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450"/>
                                        <p:tgtEl>
                                          <p:spTgt spid="13"/>
                                        </p:tgtEl>
                                      </p:cBhvr>
                                    </p:animEffect>
                                  </p:childTnLst>
                                </p:cTn>
                              </p:par>
                              <p:par>
                                <p:cTn id="42" presetID="22" presetClass="entr" presetSubtype="8" fill="hold" grpId="0" nodeType="withEffect">
                                  <p:stCondLst>
                                    <p:cond delay="105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450"/>
                                        <p:tgtEl>
                                          <p:spTgt spid="14"/>
                                        </p:tgtEl>
                                      </p:cBhvr>
                                    </p:animEffect>
                                  </p:childTnLst>
                                </p:cTn>
                              </p:par>
                              <p:par>
                                <p:cTn id="45" presetID="22" presetClass="entr" presetSubtype="8" fill="hold" grpId="0" nodeType="withEffect">
                                  <p:stCondLst>
                                    <p:cond delay="120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450"/>
                                        <p:tgtEl>
                                          <p:spTgt spid="15"/>
                                        </p:tgtEl>
                                      </p:cBhvr>
                                    </p:animEffect>
                                  </p:childTnLst>
                                </p:cTn>
                              </p:par>
                              <p:par>
                                <p:cTn id="48" presetID="22" presetClass="entr" presetSubtype="8" fill="hold" grpId="0" nodeType="withEffect">
                                  <p:stCondLst>
                                    <p:cond delay="120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450"/>
                                        <p:tgtEl>
                                          <p:spTgt spid="16"/>
                                        </p:tgtEl>
                                      </p:cBhvr>
                                    </p:animEffect>
                                  </p:childTnLst>
                                </p:cTn>
                              </p:par>
                              <p:par>
                                <p:cTn id="51" presetID="22" presetClass="entr" presetSubtype="8" fill="hold" grpId="0" nodeType="withEffect">
                                  <p:stCondLst>
                                    <p:cond delay="1349"/>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450"/>
                                        <p:tgtEl>
                                          <p:spTgt spid="17"/>
                                        </p:tgtEl>
                                      </p:cBhvr>
                                    </p:animEffect>
                                  </p:childTnLst>
                                </p:cTn>
                              </p:par>
                              <p:par>
                                <p:cTn id="54" presetID="22" presetClass="entr" presetSubtype="8" fill="hold" grpId="0" nodeType="withEffect">
                                  <p:stCondLst>
                                    <p:cond delay="1349"/>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450"/>
                                        <p:tgtEl>
                                          <p:spTgt spid="18"/>
                                        </p:tgtEl>
                                      </p:cBhvr>
                                    </p:animEffect>
                                  </p:childTnLst>
                                </p:cTn>
                              </p:par>
                              <p:par>
                                <p:cTn id="57" presetID="53" presetClass="entr" presetSubtype="16" fill="hold" grpId="0" nodeType="withEffect">
                                  <p:stCondLst>
                                    <p:cond delay="170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600" fill="hold"/>
                                        <p:tgtEl>
                                          <p:spTgt spid="19"/>
                                        </p:tgtEl>
                                        <p:attrNameLst>
                                          <p:attrName>ppt_w</p:attrName>
                                        </p:attrNameLst>
                                      </p:cBhvr>
                                      <p:tavLst>
                                        <p:tav tm="0">
                                          <p:val>
                                            <p:strVal val="#ppt_w*0.7"/>
                                          </p:val>
                                        </p:tav>
                                        <p:tav tm="100000">
                                          <p:val>
                                            <p:strVal val="#ppt_w"/>
                                          </p:val>
                                        </p:tav>
                                      </p:tavLst>
                                    </p:anim>
                                    <p:anim calcmode="lin" valueType="num">
                                      <p:cBhvr additive="base">
                                        <p:cTn id="60" dur="600" fill="hold"/>
                                        <p:tgtEl>
                                          <p:spTgt spid="19"/>
                                        </p:tgtEl>
                                        <p:attrNameLst>
                                          <p:attrName>ppt_h</p:attrName>
                                        </p:attrNameLst>
                                      </p:cBhvr>
                                      <p:tavLst>
                                        <p:tav tm="0">
                                          <p:val>
                                            <p:strVal val="#ppt_h*0.7"/>
                                          </p:val>
                                        </p:tav>
                                        <p:tav tm="100000">
                                          <p:val>
                                            <p:strVal val="#ppt_h"/>
                                          </p:val>
                                        </p:tav>
                                      </p:tavLst>
                                    </p:anim>
                                    <p:animEffect transition="in" filter="fade">
                                      <p:cBhvr>
                                        <p:cTn id="61"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TƯ LIỆU</a:t>
            </a:r>
          </a:p>
        </p:txBody>
      </p:sp>
      <p:sp>
        <p:nvSpPr>
          <p:cNvPr id="4" name="!!tab"/>
          <p:cNvSpPr/>
          <p:nvPr/>
        </p:nvSpPr>
        <p:spPr>
          <a:xfrm>
            <a:off x="548640" y="566928"/>
            <a:ext cx="6863880"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CÁC MỐC HÌNH THÀNH TRIẾT HỌC MÁC – LÊNIN</a:t>
            </a:r>
          </a:p>
        </p:txBody>
      </p:sp>
      <p:sp>
        <p:nvSpPr>
          <p:cNvPr id="5" name="!!rule"/>
          <p:cNvSpPr/>
          <p:nvPr/>
        </p:nvSpPr>
        <p:spPr>
          <a:xfrm>
            <a:off x="7522248" y="1133856"/>
            <a:ext cx="4303687"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Rectangle 5"/>
          <p:cNvSpPr/>
          <p:nvPr/>
        </p:nvSpPr>
        <p:spPr>
          <a:xfrm>
            <a:off x="548640" y="2679192"/>
            <a:ext cx="11094415" cy="36576"/>
          </a:xfrm>
          <a:prstGeom prst="rect">
            <a:avLst/>
          </a:prstGeom>
          <a:gradFill rotWithShape="1">
            <a:gsLst>
              <a:gs pos="0">
                <a:srgbClr val="E3AE4A">
                  <a:alpha val="0"/>
                </a:srgbClr>
              </a:gs>
              <a:gs pos="8000">
                <a:srgbClr val="E3AE4A"/>
              </a:gs>
              <a:gs pos="92000">
                <a:srgbClr val="E3AE4A"/>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7" name="TextBox 6"/>
          <p:cNvSpPr txBox="1"/>
          <p:nvPr/>
        </p:nvSpPr>
        <p:spPr>
          <a:xfrm>
            <a:off x="731520" y="1737360"/>
            <a:ext cx="2145731" cy="731520"/>
          </a:xfrm>
          <a:prstGeom prst="rect">
            <a:avLst/>
          </a:prstGeom>
          <a:noFill/>
        </p:spPr>
        <p:txBody>
          <a:bodyPr wrap="square" lIns="0" rIns="0" tIns="0" bIns="0" anchor="b">
            <a:noAutofit/>
          </a:bodyPr>
          <a:lstStyle/>
          <a:p>
            <a:pPr algn="ctr"/>
            <a:r>
              <a:rPr sz="36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1844</a:t>
            </a:r>
          </a:p>
        </p:txBody>
      </p:sp>
      <p:pic>
        <p:nvPicPr>
          <p:cNvPr id="8" name="Picture 7" descr="star_red.png"/>
          <p:cNvPicPr>
            <a:picLocks noChangeAspect="1"/>
          </p:cNvPicPr>
          <p:nvPr/>
        </p:nvPicPr>
        <p:blipFill>
          <a:blip r:embed="rId3"/>
          <a:stretch>
            <a:fillRect/>
          </a:stretch>
        </p:blipFill>
        <p:spPr>
          <a:xfrm>
            <a:off x="1594074" y="2495383"/>
            <a:ext cx="420624" cy="412409"/>
          </a:xfrm>
          <a:prstGeom prst="rect">
            <a:avLst/>
          </a:prstGeom>
        </p:spPr>
      </p:pic>
      <p:sp>
        <p:nvSpPr>
          <p:cNvPr id="9" name="Snip Diagonal Corner Rectangle 8"/>
          <p:cNvSpPr/>
          <p:nvPr/>
        </p:nvSpPr>
        <p:spPr>
          <a:xfrm>
            <a:off x="813816" y="3108960"/>
            <a:ext cx="1981139" cy="1965960"/>
          </a:xfrm>
          <a:prstGeom prst="snip2DiagRect">
            <a:avLst>
              <a:gd name="adj1" fmla="val 0"/>
              <a:gd name="adj2" fmla="val 930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0" name="TextBox 9"/>
          <p:cNvSpPr txBox="1"/>
          <p:nvPr/>
        </p:nvSpPr>
        <p:spPr>
          <a:xfrm>
            <a:off x="950976" y="3246120"/>
            <a:ext cx="1706819" cy="685800"/>
          </a:xfrm>
          <a:prstGeom prst="rect">
            <a:avLst/>
          </a:prstGeom>
          <a:noFill/>
        </p:spPr>
        <p:txBody>
          <a:bodyPr wrap="square" lIns="0" rIns="0" tIns="0" bIns="0" anchor="ctr">
            <a:noAutofit/>
          </a:bodyPr>
          <a:lstStyle/>
          <a:p>
            <a:pPr algn="ctr">
              <a:lnSpc>
                <a:spcPct val="105000"/>
              </a:lnSpc>
            </a:pPr>
            <a:r>
              <a:rPr sz="1350" b="0" i="0">
                <a:solidFill>
                  <a:srgbClr val="FFE6A1"/>
                </a:solidFill>
                <a:latin typeface="Be Vietnam Pro SemiBold"/>
                <a:ea typeface="Be Vietnam Pro SemiBold"/>
                <a:cs typeface="Be Vietnam Pro SemiBold"/>
              </a:rPr>
              <a:t>Mác gặp Ăngghen</a:t>
            </a:r>
          </a:p>
        </p:txBody>
      </p:sp>
      <p:sp>
        <p:nvSpPr>
          <p:cNvPr id="11" name="TextBox 10"/>
          <p:cNvSpPr txBox="1"/>
          <p:nvPr/>
        </p:nvSpPr>
        <p:spPr>
          <a:xfrm>
            <a:off x="950976" y="3959352"/>
            <a:ext cx="1706819" cy="1554480"/>
          </a:xfrm>
          <a:prstGeom prst="rect">
            <a:avLst/>
          </a:prstGeom>
          <a:noFill/>
        </p:spPr>
        <p:txBody>
          <a:bodyPr wrap="square" lIns="0" rIns="0" tIns="0" bIns="0" anchor="t">
            <a:noAutofit/>
          </a:bodyPr>
          <a:lstStyle/>
          <a:p>
            <a:pPr algn="ctr">
              <a:lnSpc>
                <a:spcPct val="115000"/>
              </a:lnSpc>
            </a:pPr>
            <a:r>
              <a:rPr sz="1150" b="0" i="0">
                <a:solidFill>
                  <a:srgbClr val="FFF4E2"/>
                </a:solidFill>
                <a:latin typeface="Be Vietnam Pro"/>
                <a:ea typeface="Be Vietnam Pro"/>
                <a:cs typeface="Be Vietnam Pro"/>
              </a:rPr>
              <a:t>Bắt đầu tình bạn và sự hợp tác lý luận suốt đời</a:t>
            </a:r>
          </a:p>
        </p:txBody>
      </p:sp>
      <p:sp>
        <p:nvSpPr>
          <p:cNvPr id="12" name="TextBox 11"/>
          <p:cNvSpPr txBox="1"/>
          <p:nvPr/>
        </p:nvSpPr>
        <p:spPr>
          <a:xfrm>
            <a:off x="2877251" y="1737360"/>
            <a:ext cx="2145731" cy="731520"/>
          </a:xfrm>
          <a:prstGeom prst="rect">
            <a:avLst/>
          </a:prstGeom>
          <a:noFill/>
        </p:spPr>
        <p:txBody>
          <a:bodyPr wrap="square" lIns="0" rIns="0" tIns="0" bIns="0" anchor="b">
            <a:noAutofit/>
          </a:bodyPr>
          <a:lstStyle/>
          <a:p>
            <a:pPr algn="ctr"/>
            <a:r>
              <a:rPr sz="36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1848</a:t>
            </a:r>
          </a:p>
        </p:txBody>
      </p:sp>
      <p:pic>
        <p:nvPicPr>
          <p:cNvPr id="13" name="Picture 12" descr="star_red.png"/>
          <p:cNvPicPr>
            <a:picLocks noChangeAspect="1"/>
          </p:cNvPicPr>
          <p:nvPr/>
        </p:nvPicPr>
        <p:blipFill>
          <a:blip r:embed="rId3"/>
          <a:stretch>
            <a:fillRect/>
          </a:stretch>
        </p:blipFill>
        <p:spPr>
          <a:xfrm>
            <a:off x="3739805" y="2495383"/>
            <a:ext cx="420624" cy="412409"/>
          </a:xfrm>
          <a:prstGeom prst="rect">
            <a:avLst/>
          </a:prstGeom>
        </p:spPr>
      </p:pic>
      <p:sp>
        <p:nvSpPr>
          <p:cNvPr id="14" name="Snip Diagonal Corner Rectangle 13"/>
          <p:cNvSpPr/>
          <p:nvPr/>
        </p:nvSpPr>
        <p:spPr>
          <a:xfrm>
            <a:off x="2959547" y="3108960"/>
            <a:ext cx="1981139" cy="1965960"/>
          </a:xfrm>
          <a:prstGeom prst="snip2DiagRect">
            <a:avLst>
              <a:gd name="adj1" fmla="val 0"/>
              <a:gd name="adj2" fmla="val 930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TextBox 14"/>
          <p:cNvSpPr txBox="1"/>
          <p:nvPr/>
        </p:nvSpPr>
        <p:spPr>
          <a:xfrm>
            <a:off x="3096707" y="3246120"/>
            <a:ext cx="1706819" cy="685800"/>
          </a:xfrm>
          <a:prstGeom prst="rect">
            <a:avLst/>
          </a:prstGeom>
          <a:noFill/>
        </p:spPr>
        <p:txBody>
          <a:bodyPr wrap="square" lIns="0" rIns="0" tIns="0" bIns="0" anchor="ctr">
            <a:noAutofit/>
          </a:bodyPr>
          <a:lstStyle/>
          <a:p>
            <a:pPr algn="ctr">
              <a:lnSpc>
                <a:spcPct val="105000"/>
              </a:lnSpc>
            </a:pPr>
            <a:r>
              <a:rPr sz="1350" b="0" i="0">
                <a:solidFill>
                  <a:srgbClr val="FFE6A1"/>
                </a:solidFill>
                <a:latin typeface="Be Vietnam Pro SemiBold"/>
                <a:ea typeface="Be Vietnam Pro SemiBold"/>
                <a:cs typeface="Be Vietnam Pro SemiBold"/>
              </a:rPr>
              <a:t>Tuyên ngôn</a:t>
            </a:r>
          </a:p>
        </p:txBody>
      </p:sp>
      <p:sp>
        <p:nvSpPr>
          <p:cNvPr id="16" name="TextBox 15"/>
          <p:cNvSpPr txBox="1"/>
          <p:nvPr/>
        </p:nvSpPr>
        <p:spPr>
          <a:xfrm>
            <a:off x="3096707" y="3959352"/>
            <a:ext cx="1706819" cy="1554480"/>
          </a:xfrm>
          <a:prstGeom prst="rect">
            <a:avLst/>
          </a:prstGeom>
          <a:noFill/>
        </p:spPr>
        <p:txBody>
          <a:bodyPr wrap="square" lIns="0" rIns="0" tIns="0" bIns="0" anchor="t">
            <a:noAutofit/>
          </a:bodyPr>
          <a:lstStyle/>
          <a:p>
            <a:pPr algn="ctr">
              <a:lnSpc>
                <a:spcPct val="115000"/>
              </a:lnSpc>
            </a:pPr>
            <a:r>
              <a:rPr sz="1150" b="0" i="0">
                <a:solidFill>
                  <a:srgbClr val="FFF4E2"/>
                </a:solidFill>
                <a:latin typeface="Be Vietnam Pro"/>
                <a:ea typeface="Be Vietnam Pro"/>
                <a:cs typeface="Be Vietnam Pro"/>
              </a:rPr>
              <a:t>Tuyên ngôn của Đảng Cộng sản ra đời</a:t>
            </a:r>
          </a:p>
        </p:txBody>
      </p:sp>
      <p:sp>
        <p:nvSpPr>
          <p:cNvPr id="17" name="TextBox 16"/>
          <p:cNvSpPr txBox="1"/>
          <p:nvPr/>
        </p:nvSpPr>
        <p:spPr>
          <a:xfrm>
            <a:off x="5022982" y="1737360"/>
            <a:ext cx="2145731" cy="731520"/>
          </a:xfrm>
          <a:prstGeom prst="rect">
            <a:avLst/>
          </a:prstGeom>
          <a:noFill/>
        </p:spPr>
        <p:txBody>
          <a:bodyPr wrap="square" lIns="0" rIns="0" tIns="0" bIns="0" anchor="b">
            <a:noAutofit/>
          </a:bodyPr>
          <a:lstStyle/>
          <a:p>
            <a:pPr algn="ctr"/>
            <a:r>
              <a:rPr sz="36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1867</a:t>
            </a:r>
          </a:p>
        </p:txBody>
      </p:sp>
      <p:pic>
        <p:nvPicPr>
          <p:cNvPr id="18" name="Picture 17" descr="star_red.png"/>
          <p:cNvPicPr>
            <a:picLocks noChangeAspect="1"/>
          </p:cNvPicPr>
          <p:nvPr/>
        </p:nvPicPr>
        <p:blipFill>
          <a:blip r:embed="rId3"/>
          <a:stretch>
            <a:fillRect/>
          </a:stretch>
        </p:blipFill>
        <p:spPr>
          <a:xfrm>
            <a:off x="5885536" y="2495383"/>
            <a:ext cx="420624" cy="412409"/>
          </a:xfrm>
          <a:prstGeom prst="rect">
            <a:avLst/>
          </a:prstGeom>
        </p:spPr>
      </p:pic>
      <p:sp>
        <p:nvSpPr>
          <p:cNvPr id="19" name="Snip Diagonal Corner Rectangle 18"/>
          <p:cNvSpPr/>
          <p:nvPr/>
        </p:nvSpPr>
        <p:spPr>
          <a:xfrm>
            <a:off x="5105278" y="3108960"/>
            <a:ext cx="1981139" cy="1965960"/>
          </a:xfrm>
          <a:prstGeom prst="snip2DiagRect">
            <a:avLst>
              <a:gd name="adj1" fmla="val 0"/>
              <a:gd name="adj2" fmla="val 930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0" name="TextBox 19"/>
          <p:cNvSpPr txBox="1"/>
          <p:nvPr/>
        </p:nvSpPr>
        <p:spPr>
          <a:xfrm>
            <a:off x="5242438" y="3246120"/>
            <a:ext cx="1706819" cy="685800"/>
          </a:xfrm>
          <a:prstGeom prst="rect">
            <a:avLst/>
          </a:prstGeom>
          <a:noFill/>
        </p:spPr>
        <p:txBody>
          <a:bodyPr wrap="square" lIns="0" rIns="0" tIns="0" bIns="0" anchor="ctr">
            <a:noAutofit/>
          </a:bodyPr>
          <a:lstStyle/>
          <a:p>
            <a:pPr algn="ctr">
              <a:lnSpc>
                <a:spcPct val="105000"/>
              </a:lnSpc>
            </a:pPr>
            <a:r>
              <a:rPr sz="1350" b="0" i="0">
                <a:solidFill>
                  <a:srgbClr val="FFE6A1"/>
                </a:solidFill>
                <a:latin typeface="Be Vietnam Pro SemiBold"/>
                <a:ea typeface="Be Vietnam Pro SemiBold"/>
                <a:cs typeface="Be Vietnam Pro SemiBold"/>
              </a:rPr>
              <a:t>Bộ Tư bản</a:t>
            </a:r>
          </a:p>
        </p:txBody>
      </p:sp>
      <p:sp>
        <p:nvSpPr>
          <p:cNvPr id="21" name="TextBox 20"/>
          <p:cNvSpPr txBox="1"/>
          <p:nvPr/>
        </p:nvSpPr>
        <p:spPr>
          <a:xfrm>
            <a:off x="5242438" y="3959352"/>
            <a:ext cx="1706819" cy="1554480"/>
          </a:xfrm>
          <a:prstGeom prst="rect">
            <a:avLst/>
          </a:prstGeom>
          <a:noFill/>
        </p:spPr>
        <p:txBody>
          <a:bodyPr wrap="square" lIns="0" rIns="0" tIns="0" bIns="0" anchor="t">
            <a:noAutofit/>
          </a:bodyPr>
          <a:lstStyle/>
          <a:p>
            <a:pPr algn="ctr">
              <a:lnSpc>
                <a:spcPct val="115000"/>
              </a:lnSpc>
            </a:pPr>
            <a:r>
              <a:rPr sz="1150" b="0" i="0">
                <a:solidFill>
                  <a:srgbClr val="FFF4E2"/>
                </a:solidFill>
                <a:latin typeface="Be Vietnam Pro"/>
                <a:ea typeface="Be Vietnam Pro"/>
                <a:cs typeface="Be Vietnam Pro"/>
              </a:rPr>
              <a:t>Tập I bộ Tư bản của C. Mác được xuất bản</a:t>
            </a:r>
          </a:p>
        </p:txBody>
      </p:sp>
      <p:sp>
        <p:nvSpPr>
          <p:cNvPr id="22" name="TextBox 21"/>
          <p:cNvSpPr txBox="1"/>
          <p:nvPr/>
        </p:nvSpPr>
        <p:spPr>
          <a:xfrm>
            <a:off x="7168713" y="1737360"/>
            <a:ext cx="2145731" cy="731520"/>
          </a:xfrm>
          <a:prstGeom prst="rect">
            <a:avLst/>
          </a:prstGeom>
          <a:noFill/>
        </p:spPr>
        <p:txBody>
          <a:bodyPr wrap="square" lIns="0" rIns="0" tIns="0" bIns="0" anchor="b">
            <a:noAutofit/>
          </a:bodyPr>
          <a:lstStyle/>
          <a:p>
            <a:pPr algn="ctr"/>
            <a:r>
              <a:rPr sz="36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1909</a:t>
            </a:r>
          </a:p>
        </p:txBody>
      </p:sp>
      <p:pic>
        <p:nvPicPr>
          <p:cNvPr id="23" name="Picture 22" descr="star_red.png"/>
          <p:cNvPicPr>
            <a:picLocks noChangeAspect="1"/>
          </p:cNvPicPr>
          <p:nvPr/>
        </p:nvPicPr>
        <p:blipFill>
          <a:blip r:embed="rId3"/>
          <a:stretch>
            <a:fillRect/>
          </a:stretch>
        </p:blipFill>
        <p:spPr>
          <a:xfrm>
            <a:off x="8031267" y="2495383"/>
            <a:ext cx="420624" cy="412409"/>
          </a:xfrm>
          <a:prstGeom prst="rect">
            <a:avLst/>
          </a:prstGeom>
        </p:spPr>
      </p:pic>
      <p:sp>
        <p:nvSpPr>
          <p:cNvPr id="24" name="Snip Diagonal Corner Rectangle 23"/>
          <p:cNvSpPr/>
          <p:nvPr/>
        </p:nvSpPr>
        <p:spPr>
          <a:xfrm>
            <a:off x="7251009" y="3108960"/>
            <a:ext cx="1981139" cy="1965960"/>
          </a:xfrm>
          <a:prstGeom prst="snip2DiagRect">
            <a:avLst>
              <a:gd name="adj1" fmla="val 0"/>
              <a:gd name="adj2" fmla="val 930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TextBox 24"/>
          <p:cNvSpPr txBox="1"/>
          <p:nvPr/>
        </p:nvSpPr>
        <p:spPr>
          <a:xfrm>
            <a:off x="7388169" y="3246120"/>
            <a:ext cx="1706819" cy="685800"/>
          </a:xfrm>
          <a:prstGeom prst="rect">
            <a:avLst/>
          </a:prstGeom>
          <a:noFill/>
        </p:spPr>
        <p:txBody>
          <a:bodyPr wrap="square" lIns="0" rIns="0" tIns="0" bIns="0" anchor="ctr">
            <a:noAutofit/>
          </a:bodyPr>
          <a:lstStyle/>
          <a:p>
            <a:pPr algn="ctr">
              <a:lnSpc>
                <a:spcPct val="105000"/>
              </a:lnSpc>
            </a:pPr>
            <a:r>
              <a:rPr sz="1350" b="0" i="0">
                <a:solidFill>
                  <a:srgbClr val="FFE6A1"/>
                </a:solidFill>
                <a:latin typeface="Be Vietnam Pro SemiBold"/>
                <a:ea typeface="Be Vietnam Pro SemiBold"/>
                <a:cs typeface="Be Vietnam Pro SemiBold"/>
              </a:rPr>
              <a:t>V.I. Lênin</a:t>
            </a:r>
          </a:p>
        </p:txBody>
      </p:sp>
      <p:sp>
        <p:nvSpPr>
          <p:cNvPr id="26" name="TextBox 25"/>
          <p:cNvSpPr txBox="1"/>
          <p:nvPr/>
        </p:nvSpPr>
        <p:spPr>
          <a:xfrm>
            <a:off x="7388169" y="3959352"/>
            <a:ext cx="1706819" cy="1554480"/>
          </a:xfrm>
          <a:prstGeom prst="rect">
            <a:avLst/>
          </a:prstGeom>
          <a:noFill/>
        </p:spPr>
        <p:txBody>
          <a:bodyPr wrap="square" lIns="0" rIns="0" tIns="0" bIns="0" anchor="t">
            <a:noAutofit/>
          </a:bodyPr>
          <a:lstStyle/>
          <a:p>
            <a:pPr algn="ctr">
              <a:lnSpc>
                <a:spcPct val="115000"/>
              </a:lnSpc>
            </a:pPr>
            <a:r>
              <a:rPr sz="1150" b="0" i="0">
                <a:solidFill>
                  <a:srgbClr val="FFF4E2"/>
                </a:solidFill>
                <a:latin typeface="Be Vietnam Pro"/>
                <a:ea typeface="Be Vietnam Pro"/>
                <a:cs typeface="Be Vietnam Pro"/>
              </a:rPr>
              <a:t>Tác phẩm “Chủ nghĩa duy vật và chủ nghĩa kinh nghiệm phê phán”</a:t>
            </a:r>
          </a:p>
        </p:txBody>
      </p:sp>
      <p:sp>
        <p:nvSpPr>
          <p:cNvPr id="27" name="TextBox 26"/>
          <p:cNvSpPr txBox="1"/>
          <p:nvPr/>
        </p:nvSpPr>
        <p:spPr>
          <a:xfrm>
            <a:off x="9314444" y="1737360"/>
            <a:ext cx="2145731" cy="731520"/>
          </a:xfrm>
          <a:prstGeom prst="rect">
            <a:avLst/>
          </a:prstGeom>
          <a:noFill/>
        </p:spPr>
        <p:txBody>
          <a:bodyPr wrap="square" lIns="0" rIns="0" tIns="0" bIns="0" anchor="b">
            <a:noAutofit/>
          </a:bodyPr>
          <a:lstStyle/>
          <a:p>
            <a:pPr algn="ctr"/>
            <a:r>
              <a:rPr sz="36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1930</a:t>
            </a:r>
          </a:p>
        </p:txBody>
      </p:sp>
      <p:pic>
        <p:nvPicPr>
          <p:cNvPr id="28" name="Picture 27" descr="star_red.png"/>
          <p:cNvPicPr>
            <a:picLocks noChangeAspect="1"/>
          </p:cNvPicPr>
          <p:nvPr/>
        </p:nvPicPr>
        <p:blipFill>
          <a:blip r:embed="rId3"/>
          <a:stretch>
            <a:fillRect/>
          </a:stretch>
        </p:blipFill>
        <p:spPr>
          <a:xfrm>
            <a:off x="10176998" y="2495383"/>
            <a:ext cx="420624" cy="412409"/>
          </a:xfrm>
          <a:prstGeom prst="rect">
            <a:avLst/>
          </a:prstGeom>
        </p:spPr>
      </p:pic>
      <p:sp>
        <p:nvSpPr>
          <p:cNvPr id="29" name="Snip Diagonal Corner Rectangle 28"/>
          <p:cNvSpPr/>
          <p:nvPr/>
        </p:nvSpPr>
        <p:spPr>
          <a:xfrm>
            <a:off x="9396740" y="3108960"/>
            <a:ext cx="1981139" cy="1965960"/>
          </a:xfrm>
          <a:prstGeom prst="snip2DiagRect">
            <a:avLst>
              <a:gd name="adj1" fmla="val 0"/>
              <a:gd name="adj2" fmla="val 9302"/>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0" name="TextBox 29"/>
          <p:cNvSpPr txBox="1"/>
          <p:nvPr/>
        </p:nvSpPr>
        <p:spPr>
          <a:xfrm>
            <a:off x="9533900" y="3246120"/>
            <a:ext cx="1706819" cy="685800"/>
          </a:xfrm>
          <a:prstGeom prst="rect">
            <a:avLst/>
          </a:prstGeom>
          <a:noFill/>
        </p:spPr>
        <p:txBody>
          <a:bodyPr wrap="square" lIns="0" rIns="0" tIns="0" bIns="0" anchor="ctr">
            <a:noAutofit/>
          </a:bodyPr>
          <a:lstStyle/>
          <a:p>
            <a:pPr algn="ctr">
              <a:lnSpc>
                <a:spcPct val="105000"/>
              </a:lnSpc>
            </a:pPr>
            <a:r>
              <a:rPr sz="1350" b="0" i="0">
                <a:solidFill>
                  <a:srgbClr val="FFE6A1"/>
                </a:solidFill>
                <a:latin typeface="Be Vietnam Pro SemiBold"/>
                <a:ea typeface="Be Vietnam Pro SemiBold"/>
                <a:cs typeface="Be Vietnam Pro SemiBold"/>
              </a:rPr>
              <a:t>Việt Nam</a:t>
            </a:r>
          </a:p>
        </p:txBody>
      </p:sp>
      <p:sp>
        <p:nvSpPr>
          <p:cNvPr id="31" name="TextBox 30"/>
          <p:cNvSpPr txBox="1"/>
          <p:nvPr/>
        </p:nvSpPr>
        <p:spPr>
          <a:xfrm>
            <a:off x="9533900" y="3959352"/>
            <a:ext cx="1706819" cy="1554480"/>
          </a:xfrm>
          <a:prstGeom prst="rect">
            <a:avLst/>
          </a:prstGeom>
          <a:noFill/>
        </p:spPr>
        <p:txBody>
          <a:bodyPr wrap="square" lIns="0" rIns="0" tIns="0" bIns="0" anchor="t">
            <a:noAutofit/>
          </a:bodyPr>
          <a:lstStyle/>
          <a:p>
            <a:pPr algn="ctr">
              <a:lnSpc>
                <a:spcPct val="115000"/>
              </a:lnSpc>
            </a:pPr>
            <a:r>
              <a:rPr sz="1150" b="0" i="0">
                <a:solidFill>
                  <a:srgbClr val="FFF4E2"/>
                </a:solidFill>
                <a:latin typeface="Be Vietnam Pro"/>
                <a:ea typeface="Be Vietnam Pro"/>
                <a:cs typeface="Be Vietnam Pro"/>
              </a:rPr>
              <a:t>Đảng Cộng sản Việt Nam ra đời, vận dụng chủ nghĩa Mác – Lênin</a:t>
            </a:r>
          </a:p>
        </p:txBody>
      </p:sp>
      <p:pic>
        <p:nvPicPr>
          <p:cNvPr id="32" name="!!drape" descr="drape_wide.png"/>
          <p:cNvPicPr>
            <a:picLocks noChangeAspect="1"/>
          </p:cNvPicPr>
          <p:nvPr/>
        </p:nvPicPr>
        <p:blipFill>
          <a:blip r:embed="rId4"/>
          <a:srcRect t="893" b="893"/>
          <a:stretch>
            <a:fillRect/>
          </a:stretch>
        </p:blipFill>
        <p:spPr>
          <a:xfrm>
            <a:off x="-274320" y="5257800"/>
            <a:ext cx="12740335" cy="1828800"/>
          </a:xfrm>
          <a:prstGeom prst="rect">
            <a:avLst/>
          </a:prstGeom>
        </p:spPr>
      </p:pic>
      <p:sp>
        <p:nvSpPr>
          <p:cNvPr id="33" name="TextBox 32"/>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21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32"/>
                                        </p:tgtEl>
                                        <p:attrNameLst>
                                          <p:attrName>style.visibility</p:attrName>
                                        </p:attrNameLst>
                                      </p:cBhvr>
                                      <p:to>
                                        <p:strVal val="visible"/>
                                      </p:to>
                                    </p:set>
                                    <p:animEffect transition="in" filter="wipe(left)">
                                      <p:cBhvr>
                                        <p:cTn id="13" dur="900"/>
                                        <p:tgtEl>
                                          <p:spTgt spid="32"/>
                                        </p:tgtEl>
                                      </p:cBhvr>
                                    </p:animEffect>
                                  </p:childTnLst>
                                </p:cTn>
                              </p:par>
                              <p:par>
                                <p:cTn id="14" presetID="22" presetClass="entr" presetSubtype="8" fill="hold" grpId="0" nodeType="withEffect">
                                  <p:stCondLst>
                                    <p:cond delay="24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600"/>
                                        <p:tgtEl>
                                          <p:spTgt spid="5"/>
                                        </p:tgtEl>
                                      </p:cBhvr>
                                    </p:animEffect>
                                  </p:childTnLst>
                                </p:cTn>
                              </p:par>
                              <p:par>
                                <p:cTn id="17" presetID="22" presetClass="entr" presetSubtype="8" fill="hold" grpId="0" nodeType="withEffect">
                                  <p:stCondLst>
                                    <p:cond delay="30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1000"/>
                                        <p:tgtEl>
                                          <p:spTgt spid="6"/>
                                        </p:tgtEl>
                                      </p:cBhvr>
                                    </p:animEffect>
                                  </p:childTnLst>
                                </p:cTn>
                              </p:par>
                              <p:par>
                                <p:cTn id="20" presetID="42" presetClass="entr" presetSubtype="0" fill="hold" grpId="0" nodeType="withEffect">
                                  <p:stCondLst>
                                    <p:cond delay="5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5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50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5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additive="base">
                                        <p:cTn id="38" dur="500" fill="hold"/>
                                        <p:tgtEl>
                                          <p:spTgt spid="10"/>
                                        </p:tgtEl>
                                        <p:attrNameLst>
                                          <p:attrName>ppt_x</p:attrName>
                                        </p:attrNameLst>
                                      </p:cBhvr>
                                      <p:tavLst>
                                        <p:tav tm="0">
                                          <p:val>
                                            <p:strVal val="#ppt_x"/>
                                          </p:val>
                                        </p:tav>
                                        <p:tav tm="100000">
                                          <p:val>
                                            <p:strVal val="#ppt_x"/>
                                          </p:val>
                                        </p:tav>
                                      </p:tavLst>
                                    </p:anim>
                                    <p:anim calcmode="lin" valueType="num">
                                      <p:cBhvr additive="base">
                                        <p:cTn id="39" dur="500" fill="hold"/>
                                        <p:tgtEl>
                                          <p:spTgt spid="10"/>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5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7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additive="base">
                                        <p:cTn id="48" dur="500" fill="hold"/>
                                        <p:tgtEl>
                                          <p:spTgt spid="12"/>
                                        </p:tgtEl>
                                        <p:attrNameLst>
                                          <p:attrName>ppt_x</p:attrName>
                                        </p:attrNameLst>
                                      </p:cBhvr>
                                      <p:tavLst>
                                        <p:tav tm="0">
                                          <p:val>
                                            <p:strVal val="#ppt_x"/>
                                          </p:val>
                                        </p:tav>
                                        <p:tav tm="100000">
                                          <p:val>
                                            <p:strVal val="#ppt_x"/>
                                          </p:val>
                                        </p:tav>
                                      </p:tavLst>
                                    </p:anim>
                                    <p:anim calcmode="lin" valueType="num">
                                      <p:cBhvr additive="base">
                                        <p:cTn id="49" dur="500" fill="hold"/>
                                        <p:tgtEl>
                                          <p:spTgt spid="12"/>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70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70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additive="base">
                                        <p:cTn id="58" dur="500" fill="hold"/>
                                        <p:tgtEl>
                                          <p:spTgt spid="14"/>
                                        </p:tgtEl>
                                        <p:attrNameLst>
                                          <p:attrName>ppt_x</p:attrName>
                                        </p:attrNameLst>
                                      </p:cBhvr>
                                      <p:tavLst>
                                        <p:tav tm="0">
                                          <p:val>
                                            <p:strVal val="#ppt_x"/>
                                          </p:val>
                                        </p:tav>
                                        <p:tav tm="100000">
                                          <p:val>
                                            <p:strVal val="#ppt_x"/>
                                          </p:val>
                                        </p:tav>
                                      </p:tavLst>
                                    </p:anim>
                                    <p:anim calcmode="lin" valueType="num">
                                      <p:cBhvr additive="base">
                                        <p:cTn id="59" dur="50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70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70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899"/>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899"/>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899"/>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899"/>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anim calcmode="lin" valueType="num">
                                      <p:cBhvr additive="base">
                                        <p:cTn id="88" dur="500" fill="hold"/>
                                        <p:tgtEl>
                                          <p:spTgt spid="20"/>
                                        </p:tgtEl>
                                        <p:attrNameLst>
                                          <p:attrName>ppt_x</p:attrName>
                                        </p:attrNameLst>
                                      </p:cBhvr>
                                      <p:tavLst>
                                        <p:tav tm="0">
                                          <p:val>
                                            <p:strVal val="#ppt_x"/>
                                          </p:val>
                                        </p:tav>
                                        <p:tav tm="100000">
                                          <p:val>
                                            <p:strVal val="#ppt_x"/>
                                          </p:val>
                                        </p:tav>
                                      </p:tavLst>
                                    </p:anim>
                                    <p:anim calcmode="lin" valueType="num">
                                      <p:cBhvr additive="base">
                                        <p:cTn id="89" dur="500" fill="hold"/>
                                        <p:tgtEl>
                                          <p:spTgt spid="20"/>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899"/>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1099"/>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anim calcmode="lin" valueType="num">
                                      <p:cBhvr additive="base">
                                        <p:cTn id="98" dur="500" fill="hold"/>
                                        <p:tgtEl>
                                          <p:spTgt spid="22"/>
                                        </p:tgtEl>
                                        <p:attrNameLst>
                                          <p:attrName>ppt_x</p:attrName>
                                        </p:attrNameLst>
                                      </p:cBhvr>
                                      <p:tavLst>
                                        <p:tav tm="0">
                                          <p:val>
                                            <p:strVal val="#ppt_x"/>
                                          </p:val>
                                        </p:tav>
                                        <p:tav tm="100000">
                                          <p:val>
                                            <p:strVal val="#ppt_x"/>
                                          </p:val>
                                        </p:tav>
                                      </p:tavLst>
                                    </p:anim>
                                    <p:anim calcmode="lin" valueType="num">
                                      <p:cBhvr additive="base">
                                        <p:cTn id="99" dur="500" fill="hold"/>
                                        <p:tgtEl>
                                          <p:spTgt spid="22"/>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1099"/>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anim calcmode="lin" valueType="num">
                                      <p:cBhvr additive="base">
                                        <p:cTn id="103" dur="500" fill="hold"/>
                                        <p:tgtEl>
                                          <p:spTgt spid="23"/>
                                        </p:tgtEl>
                                        <p:attrNameLst>
                                          <p:attrName>ppt_x</p:attrName>
                                        </p:attrNameLst>
                                      </p:cBhvr>
                                      <p:tavLst>
                                        <p:tav tm="0">
                                          <p:val>
                                            <p:strVal val="#ppt_x"/>
                                          </p:val>
                                        </p:tav>
                                        <p:tav tm="100000">
                                          <p:val>
                                            <p:strVal val="#ppt_x"/>
                                          </p:val>
                                        </p:tav>
                                      </p:tavLst>
                                    </p:anim>
                                    <p:anim calcmode="lin" valueType="num">
                                      <p:cBhvr additive="base">
                                        <p:cTn id="104" dur="500" fill="hold"/>
                                        <p:tgtEl>
                                          <p:spTgt spid="23"/>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1099"/>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anim calcmode="lin" valueType="num">
                                      <p:cBhvr additive="base">
                                        <p:cTn id="108" dur="500" fill="hold"/>
                                        <p:tgtEl>
                                          <p:spTgt spid="24"/>
                                        </p:tgtEl>
                                        <p:attrNameLst>
                                          <p:attrName>ppt_x</p:attrName>
                                        </p:attrNameLst>
                                      </p:cBhvr>
                                      <p:tavLst>
                                        <p:tav tm="0">
                                          <p:val>
                                            <p:strVal val="#ppt_x"/>
                                          </p:val>
                                        </p:tav>
                                        <p:tav tm="100000">
                                          <p:val>
                                            <p:strVal val="#ppt_x"/>
                                          </p:val>
                                        </p:tav>
                                      </p:tavLst>
                                    </p:anim>
                                    <p:anim calcmode="lin" valueType="num">
                                      <p:cBhvr additive="base">
                                        <p:cTn id="109" dur="500" fill="hold"/>
                                        <p:tgtEl>
                                          <p:spTgt spid="24"/>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1099"/>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additive="base">
                                        <p:cTn id="113" dur="500" fill="hold"/>
                                        <p:tgtEl>
                                          <p:spTgt spid="25"/>
                                        </p:tgtEl>
                                        <p:attrNameLst>
                                          <p:attrName>ppt_x</p:attrName>
                                        </p:attrNameLst>
                                      </p:cBhvr>
                                      <p:tavLst>
                                        <p:tav tm="0">
                                          <p:val>
                                            <p:strVal val="#ppt_x"/>
                                          </p:val>
                                        </p:tav>
                                        <p:tav tm="100000">
                                          <p:val>
                                            <p:strVal val="#ppt_x"/>
                                          </p:val>
                                        </p:tav>
                                      </p:tavLst>
                                    </p:anim>
                                    <p:anim calcmode="lin" valueType="num">
                                      <p:cBhvr additive="base">
                                        <p:cTn id="114" dur="500" fill="hold"/>
                                        <p:tgtEl>
                                          <p:spTgt spid="25"/>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1099"/>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anim calcmode="lin" valueType="num">
                                      <p:cBhvr additive="base">
                                        <p:cTn id="118" dur="500" fill="hold"/>
                                        <p:tgtEl>
                                          <p:spTgt spid="26"/>
                                        </p:tgtEl>
                                        <p:attrNameLst>
                                          <p:attrName>ppt_x</p:attrName>
                                        </p:attrNameLst>
                                      </p:cBhvr>
                                      <p:tavLst>
                                        <p:tav tm="0">
                                          <p:val>
                                            <p:strVal val="#ppt_x"/>
                                          </p:val>
                                        </p:tav>
                                        <p:tav tm="100000">
                                          <p:val>
                                            <p:strVal val="#ppt_x"/>
                                          </p:val>
                                        </p:tav>
                                      </p:tavLst>
                                    </p:anim>
                                    <p:anim calcmode="lin" valueType="num">
                                      <p:cBhvr additive="base">
                                        <p:cTn id="119" dur="500" fill="hold"/>
                                        <p:tgtEl>
                                          <p:spTgt spid="26"/>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1299"/>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anim calcmode="lin" valueType="num">
                                      <p:cBhvr additive="base">
                                        <p:cTn id="123" dur="500" fill="hold"/>
                                        <p:tgtEl>
                                          <p:spTgt spid="27"/>
                                        </p:tgtEl>
                                        <p:attrNameLst>
                                          <p:attrName>ppt_x</p:attrName>
                                        </p:attrNameLst>
                                      </p:cBhvr>
                                      <p:tavLst>
                                        <p:tav tm="0">
                                          <p:val>
                                            <p:strVal val="#ppt_x"/>
                                          </p:val>
                                        </p:tav>
                                        <p:tav tm="100000">
                                          <p:val>
                                            <p:strVal val="#ppt_x"/>
                                          </p:val>
                                        </p:tav>
                                      </p:tavLst>
                                    </p:anim>
                                    <p:anim calcmode="lin" valueType="num">
                                      <p:cBhvr additive="base">
                                        <p:cTn id="124" dur="500" fill="hold"/>
                                        <p:tgtEl>
                                          <p:spTgt spid="27"/>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1299"/>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additive="base">
                                        <p:cTn id="128" dur="500" fill="hold"/>
                                        <p:tgtEl>
                                          <p:spTgt spid="28"/>
                                        </p:tgtEl>
                                        <p:attrNameLst>
                                          <p:attrName>ppt_x</p:attrName>
                                        </p:attrNameLst>
                                      </p:cBhvr>
                                      <p:tavLst>
                                        <p:tav tm="0">
                                          <p:val>
                                            <p:strVal val="#ppt_x"/>
                                          </p:val>
                                        </p:tav>
                                        <p:tav tm="100000">
                                          <p:val>
                                            <p:strVal val="#ppt_x"/>
                                          </p:val>
                                        </p:tav>
                                      </p:tavLst>
                                    </p:anim>
                                    <p:anim calcmode="lin" valueType="num">
                                      <p:cBhvr additive="base">
                                        <p:cTn id="129" dur="500" fill="hold"/>
                                        <p:tgtEl>
                                          <p:spTgt spid="28"/>
                                        </p:tgtEl>
                                        <p:attrNameLst>
                                          <p:attrName>ppt_y</p:attrName>
                                        </p:attrNameLst>
                                      </p:cBhvr>
                                      <p:tavLst>
                                        <p:tav tm="0">
                                          <p:val>
                                            <p:strVal val="#ppt_y+.06"/>
                                          </p:val>
                                        </p:tav>
                                        <p:tav tm="100000">
                                          <p:val>
                                            <p:strVal val="#ppt_y"/>
                                          </p:val>
                                        </p:tav>
                                      </p:tavLst>
                                    </p:anim>
                                  </p:childTnLst>
                                </p:cTn>
                              </p:par>
                              <p:par>
                                <p:cTn id="130" presetID="42" presetClass="entr" presetSubtype="0" fill="hold" grpId="0" nodeType="withEffect">
                                  <p:stCondLst>
                                    <p:cond delay="1299"/>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anim calcmode="lin" valueType="num">
                                      <p:cBhvr additive="base">
                                        <p:cTn id="133" dur="500" fill="hold"/>
                                        <p:tgtEl>
                                          <p:spTgt spid="29"/>
                                        </p:tgtEl>
                                        <p:attrNameLst>
                                          <p:attrName>ppt_x</p:attrName>
                                        </p:attrNameLst>
                                      </p:cBhvr>
                                      <p:tavLst>
                                        <p:tav tm="0">
                                          <p:val>
                                            <p:strVal val="#ppt_x"/>
                                          </p:val>
                                        </p:tav>
                                        <p:tav tm="100000">
                                          <p:val>
                                            <p:strVal val="#ppt_x"/>
                                          </p:val>
                                        </p:tav>
                                      </p:tavLst>
                                    </p:anim>
                                    <p:anim calcmode="lin" valueType="num">
                                      <p:cBhvr additive="base">
                                        <p:cTn id="134" dur="500" fill="hold"/>
                                        <p:tgtEl>
                                          <p:spTgt spid="29"/>
                                        </p:tgtEl>
                                        <p:attrNameLst>
                                          <p:attrName>ppt_y</p:attrName>
                                        </p:attrNameLst>
                                      </p:cBhvr>
                                      <p:tavLst>
                                        <p:tav tm="0">
                                          <p:val>
                                            <p:strVal val="#ppt_y+.06"/>
                                          </p:val>
                                        </p:tav>
                                        <p:tav tm="100000">
                                          <p:val>
                                            <p:strVal val="#ppt_y"/>
                                          </p:val>
                                        </p:tav>
                                      </p:tavLst>
                                    </p:anim>
                                  </p:childTnLst>
                                </p:cTn>
                              </p:par>
                              <p:par>
                                <p:cTn id="135" presetID="42" presetClass="entr" presetSubtype="0" fill="hold" grpId="0" nodeType="withEffect">
                                  <p:stCondLst>
                                    <p:cond delay="1299"/>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anim calcmode="lin" valueType="num">
                                      <p:cBhvr additive="base">
                                        <p:cTn id="138" dur="500" fill="hold"/>
                                        <p:tgtEl>
                                          <p:spTgt spid="30"/>
                                        </p:tgtEl>
                                        <p:attrNameLst>
                                          <p:attrName>ppt_x</p:attrName>
                                        </p:attrNameLst>
                                      </p:cBhvr>
                                      <p:tavLst>
                                        <p:tav tm="0">
                                          <p:val>
                                            <p:strVal val="#ppt_x"/>
                                          </p:val>
                                        </p:tav>
                                        <p:tav tm="100000">
                                          <p:val>
                                            <p:strVal val="#ppt_x"/>
                                          </p:val>
                                        </p:tav>
                                      </p:tavLst>
                                    </p:anim>
                                    <p:anim calcmode="lin" valueType="num">
                                      <p:cBhvr additive="base">
                                        <p:cTn id="139" dur="500" fill="hold"/>
                                        <p:tgtEl>
                                          <p:spTgt spid="30"/>
                                        </p:tgtEl>
                                        <p:attrNameLst>
                                          <p:attrName>ppt_y</p:attrName>
                                        </p:attrNameLst>
                                      </p:cBhvr>
                                      <p:tavLst>
                                        <p:tav tm="0">
                                          <p:val>
                                            <p:strVal val="#ppt_y+.06"/>
                                          </p:val>
                                        </p:tav>
                                        <p:tav tm="100000">
                                          <p:val>
                                            <p:strVal val="#ppt_y"/>
                                          </p:val>
                                        </p:tav>
                                      </p:tavLst>
                                    </p:anim>
                                  </p:childTnLst>
                                </p:cTn>
                              </p:par>
                              <p:par>
                                <p:cTn id="140" presetID="42" presetClass="entr" presetSubtype="0" fill="hold" grpId="0" nodeType="withEffect">
                                  <p:stCondLst>
                                    <p:cond delay="1299"/>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additive="base">
                                        <p:cTn id="143" dur="500" fill="hold"/>
                                        <p:tgtEl>
                                          <p:spTgt spid="31"/>
                                        </p:tgtEl>
                                        <p:attrNameLst>
                                          <p:attrName>ppt_x</p:attrName>
                                        </p:attrNameLst>
                                      </p:cBhvr>
                                      <p:tavLst>
                                        <p:tav tm="0">
                                          <p:val>
                                            <p:strVal val="#ppt_x"/>
                                          </p:val>
                                        </p:tav>
                                        <p:tav tm="100000">
                                          <p:val>
                                            <p:strVal val="#ppt_x"/>
                                          </p:val>
                                        </p:tav>
                                      </p:tavLst>
                                    </p:anim>
                                    <p:anim calcmode="lin" valueType="num">
                                      <p:cBhvr additive="base">
                                        <p:cTn id="144" dur="500" fill="hold"/>
                                        <p:tgtEl>
                                          <p:spTgt spid="3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KHẢO SÁT</a:t>
            </a:r>
          </a:p>
        </p:txBody>
      </p:sp>
      <p:sp>
        <p:nvSpPr>
          <p:cNvPr id="4" name="!!tab"/>
          <p:cNvSpPr/>
          <p:nvPr/>
        </p:nvSpPr>
        <p:spPr>
          <a:xfrm>
            <a:off x="548640" y="566928"/>
            <a:ext cx="6801759"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MỨC ĐỘ NẮM VỮNG KIẾN THỨC CỦA SINH VIÊN</a:t>
            </a:r>
          </a:p>
        </p:txBody>
      </p:sp>
      <p:sp>
        <p:nvSpPr>
          <p:cNvPr id="5" name="!!rule"/>
          <p:cNvSpPr/>
          <p:nvPr/>
        </p:nvSpPr>
        <p:spPr>
          <a:xfrm>
            <a:off x="7460127" y="1133856"/>
            <a:ext cx="4365808"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Snip Diagonal Corner Rectangle 5"/>
          <p:cNvSpPr/>
          <p:nvPr/>
        </p:nvSpPr>
        <p:spPr>
          <a:xfrm>
            <a:off x="548640" y="1508760"/>
            <a:ext cx="7498080" cy="4572000"/>
          </a:xfrm>
          <a:prstGeom prst="snip2DiagRect">
            <a:avLst>
              <a:gd name="adj1" fmla="val 0"/>
              <a:gd name="adj2" fmla="val 5000"/>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graphicFrame>
        <p:nvGraphicFramePr>
          <p:cNvPr id="7" name="Chart 6"/>
          <p:cNvGraphicFramePr>
            <a:graphicFrameLocks noGrp="1"/>
          </p:cNvGraphicFramePr>
          <p:nvPr/>
        </p:nvGraphicFramePr>
        <p:xfrm>
          <a:off x="777240" y="1691640"/>
          <a:ext cx="7040880" cy="3794760"/>
        </p:xfrm>
        <a:graphic>
          <a:graphicData uri="http://schemas.openxmlformats.org/drawingml/2006/chart">
            <c:chart xmlns:c="http://schemas.openxmlformats.org/drawingml/2006/chart" r:id="rId3"/>
          </a:graphicData>
        </a:graphic>
      </p:graphicFrame>
      <p:sp>
        <p:nvSpPr>
          <p:cNvPr id="8" name="TextBox 7"/>
          <p:cNvSpPr txBox="1"/>
          <p:nvPr/>
        </p:nvSpPr>
        <p:spPr>
          <a:xfrm>
            <a:off x="822960" y="5532120"/>
            <a:ext cx="6949440" cy="411480"/>
          </a:xfrm>
          <a:prstGeom prst="rect">
            <a:avLst/>
          </a:prstGeom>
          <a:noFill/>
        </p:spPr>
        <p:txBody>
          <a:bodyPr wrap="square" lIns="0" rIns="0" tIns="0" bIns="0" anchor="ctr">
            <a:noAutofit/>
          </a:bodyPr>
          <a:lstStyle/>
          <a:p>
            <a:pPr algn="l"/>
            <a:r>
              <a:rPr sz="1050" b="0" i="1">
                <a:solidFill>
                  <a:srgbClr val="FFE6A1"/>
                </a:solidFill>
                <a:latin typeface="Be Vietnam Pro"/>
                <a:ea typeface="Be Vietnam Pro"/>
                <a:cs typeface="Be Vietnam Pro"/>
              </a:rPr>
              <a:t>Số liệu minh họa — chuột phải vào biểu đồ → Edit Data để thay số liệu thật.</a:t>
            </a:r>
          </a:p>
        </p:txBody>
      </p:sp>
      <p:sp>
        <p:nvSpPr>
          <p:cNvPr id="9" name="Snip Diagonal Corner Rectangle 8"/>
          <p:cNvSpPr/>
          <p:nvPr/>
        </p:nvSpPr>
        <p:spPr>
          <a:xfrm>
            <a:off x="8366760" y="1508760"/>
            <a:ext cx="3276295" cy="1371600"/>
          </a:xfrm>
          <a:prstGeom prst="snip2DiagRect">
            <a:avLst>
              <a:gd name="adj1" fmla="val 0"/>
              <a:gd name="adj2" fmla="val 13333"/>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0" name="TextBox 9"/>
          <p:cNvSpPr txBox="1"/>
          <p:nvPr/>
        </p:nvSpPr>
        <p:spPr>
          <a:xfrm>
            <a:off x="8595360" y="1581912"/>
            <a:ext cx="2926080" cy="731520"/>
          </a:xfrm>
          <a:prstGeom prst="rect">
            <a:avLst/>
          </a:prstGeom>
          <a:noFill/>
        </p:spPr>
        <p:txBody>
          <a:bodyPr wrap="square" lIns="0" rIns="0" tIns="0" bIns="0" anchor="b">
            <a:noAutofit/>
          </a:bodyPr>
          <a:lstStyle/>
          <a:p>
            <a:pPr algn="l"/>
            <a:r>
              <a:rPr sz="44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+40</a:t>
            </a:r>
            <a:r>
              <a:rPr sz="20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 %</a:t>
            </a:r>
          </a:p>
        </p:txBody>
      </p:sp>
      <p:sp>
        <p:nvSpPr>
          <p:cNvPr id="11" name="TextBox 10"/>
          <p:cNvSpPr txBox="1"/>
          <p:nvPr/>
        </p:nvSpPr>
        <p:spPr>
          <a:xfrm>
            <a:off x="8595360" y="2313432"/>
            <a:ext cx="2819095" cy="502920"/>
          </a:xfrm>
          <a:prstGeom prst="rect">
            <a:avLst/>
          </a:prstGeom>
          <a:noFill/>
        </p:spPr>
        <p:txBody>
          <a:bodyPr wrap="square" lIns="0" rIns="0" tIns="0" bIns="0" anchor="t">
            <a:noAutofit/>
          </a:bodyPr>
          <a:lstStyle/>
          <a:p>
            <a:pPr algn="l">
              <a:lnSpc>
                <a:spcPct val="110000"/>
              </a:lnSpc>
            </a:pPr>
            <a:r>
              <a:rPr sz="1150" b="0" i="0">
                <a:solidFill>
                  <a:srgbClr val="FFF4E2"/>
                </a:solidFill>
                <a:latin typeface="Be Vietnam Pro"/>
                <a:ea typeface="Be Vietnam Pro"/>
                <a:cs typeface="Be Vietnam Pro"/>
              </a:rPr>
              <a:t>Mức tăng trung bình sau học phần</a:t>
            </a:r>
          </a:p>
        </p:txBody>
      </p:sp>
      <p:sp>
        <p:nvSpPr>
          <p:cNvPr id="12" name="Snip Diagonal Corner Rectangle 11"/>
          <p:cNvSpPr/>
          <p:nvPr/>
        </p:nvSpPr>
        <p:spPr>
          <a:xfrm>
            <a:off x="8366760" y="3108960"/>
            <a:ext cx="3276295" cy="1371600"/>
          </a:xfrm>
          <a:prstGeom prst="snip2DiagRect">
            <a:avLst>
              <a:gd name="adj1" fmla="val 0"/>
              <a:gd name="adj2" fmla="val 13333"/>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TextBox 12"/>
          <p:cNvSpPr txBox="1"/>
          <p:nvPr/>
        </p:nvSpPr>
        <p:spPr>
          <a:xfrm>
            <a:off x="8595360" y="3182112"/>
            <a:ext cx="2926080" cy="731520"/>
          </a:xfrm>
          <a:prstGeom prst="rect">
            <a:avLst/>
          </a:prstGeom>
          <a:noFill/>
        </p:spPr>
        <p:txBody>
          <a:bodyPr wrap="square" lIns="0" rIns="0" tIns="0" bIns="0" anchor="b">
            <a:noAutofit/>
          </a:bodyPr>
          <a:lstStyle/>
          <a:p>
            <a:pPr algn="l"/>
            <a:r>
              <a:rPr sz="44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120</a:t>
            </a:r>
            <a:r>
              <a:rPr sz="20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 SV</a:t>
            </a:r>
          </a:p>
        </p:txBody>
      </p:sp>
      <p:sp>
        <p:nvSpPr>
          <p:cNvPr id="14" name="TextBox 13"/>
          <p:cNvSpPr txBox="1"/>
          <p:nvPr/>
        </p:nvSpPr>
        <p:spPr>
          <a:xfrm>
            <a:off x="8595360" y="3913632"/>
            <a:ext cx="2819095" cy="502920"/>
          </a:xfrm>
          <a:prstGeom prst="rect">
            <a:avLst/>
          </a:prstGeom>
          <a:noFill/>
        </p:spPr>
        <p:txBody>
          <a:bodyPr wrap="square" lIns="0" rIns="0" tIns="0" bIns="0" anchor="t">
            <a:noAutofit/>
          </a:bodyPr>
          <a:lstStyle/>
          <a:p>
            <a:pPr algn="l">
              <a:lnSpc>
                <a:spcPct val="110000"/>
              </a:lnSpc>
            </a:pPr>
            <a:r>
              <a:rPr sz="1150" b="0" i="0">
                <a:solidFill>
                  <a:srgbClr val="FFF4E2"/>
                </a:solidFill>
                <a:latin typeface="Be Vietnam Pro"/>
                <a:ea typeface="Be Vietnam Pro"/>
                <a:cs typeface="Be Vietnam Pro"/>
              </a:rPr>
              <a:t>Sinh viên tham gia khảo sát</a:t>
            </a:r>
          </a:p>
        </p:txBody>
      </p:sp>
      <p:sp>
        <p:nvSpPr>
          <p:cNvPr id="15" name="Snip Diagonal Corner Rectangle 14"/>
          <p:cNvSpPr/>
          <p:nvPr/>
        </p:nvSpPr>
        <p:spPr>
          <a:xfrm>
            <a:off x="8366760" y="4709160"/>
            <a:ext cx="3276295" cy="1371600"/>
          </a:xfrm>
          <a:prstGeom prst="snip2DiagRect">
            <a:avLst>
              <a:gd name="adj1" fmla="val 0"/>
              <a:gd name="adj2" fmla="val 13333"/>
            </a:avLst>
          </a:prstGeom>
          <a:gradFill rotWithShape="1">
            <a:gsLst>
              <a:gs pos="0">
                <a:srgbClr val="4E040A">
                  <a:alpha val="72000"/>
                </a:srgbClr>
              </a:gs>
              <a:gs pos="100000">
                <a:srgbClr val="7A0912">
                  <a:alpha val="45000"/>
                </a:srgbClr>
              </a:gs>
            </a:gsLst>
            <a:lin ang="2100000" scaled="0"/>
          </a:grad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6" name="TextBox 15"/>
          <p:cNvSpPr txBox="1"/>
          <p:nvPr/>
        </p:nvSpPr>
        <p:spPr>
          <a:xfrm>
            <a:off x="8595360" y="4782312"/>
            <a:ext cx="2926080" cy="731520"/>
          </a:xfrm>
          <a:prstGeom prst="rect">
            <a:avLst/>
          </a:prstGeom>
          <a:noFill/>
        </p:spPr>
        <p:txBody>
          <a:bodyPr wrap="square" lIns="0" rIns="0" tIns="0" bIns="0" anchor="b">
            <a:noAutofit/>
          </a:bodyPr>
          <a:lstStyle/>
          <a:p>
            <a:pPr algn="l"/>
            <a:r>
              <a:rPr sz="44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4</a:t>
            </a:r>
            <a:r>
              <a:rPr sz="2000" b="0" i="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 nội dung</a:t>
            </a:r>
          </a:p>
        </p:txBody>
      </p:sp>
      <p:sp>
        <p:nvSpPr>
          <p:cNvPr id="17" name="TextBox 16"/>
          <p:cNvSpPr txBox="1"/>
          <p:nvPr/>
        </p:nvSpPr>
        <p:spPr>
          <a:xfrm>
            <a:off x="8595360" y="5513832"/>
            <a:ext cx="2819095" cy="502920"/>
          </a:xfrm>
          <a:prstGeom prst="rect">
            <a:avLst/>
          </a:prstGeom>
          <a:noFill/>
        </p:spPr>
        <p:txBody>
          <a:bodyPr wrap="square" lIns="0" rIns="0" tIns="0" bIns="0" anchor="t">
            <a:noAutofit/>
          </a:bodyPr>
          <a:lstStyle/>
          <a:p>
            <a:pPr algn="l">
              <a:lnSpc>
                <a:spcPct val="110000"/>
              </a:lnSpc>
            </a:pPr>
            <a:r>
              <a:rPr sz="1150" b="0" i="0">
                <a:solidFill>
                  <a:srgbClr val="FFF4E2"/>
                </a:solidFill>
                <a:latin typeface="Be Vietnam Pro"/>
                <a:ea typeface="Be Vietnam Pro"/>
                <a:cs typeface="Be Vietnam Pro"/>
              </a:rPr>
              <a:t>Nhóm kiến thức được đánh giá</a:t>
            </a:r>
          </a:p>
        </p:txBody>
      </p:sp>
      <p:sp>
        <p:nvSpPr>
          <p:cNvPr id="18" name="TextBox 17"/>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22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22" presetClass="entr" presetSubtype="4" fill="hold" grpId="0" nodeType="withEffect">
                                  <p:stCondLst>
                                    <p:cond delay="50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900"/>
                                        <p:tgtEl>
                                          <p:spTgt spid="7"/>
                                        </p:tgtEl>
                                      </p:cBhvr>
                                    </p:animEffect>
                                  </p:childTnLst>
                                </p:cTn>
                              </p:par>
                              <p:par>
                                <p:cTn id="20" presetID="2" presetClass="entr" presetSubtype="2" fill="hold" grpId="0" nodeType="withEffect">
                                  <p:stCondLst>
                                    <p:cond delay="60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600" fill="hold"/>
                                        <p:tgtEl>
                                          <p:spTgt spid="9"/>
                                        </p:tgtEl>
                                        <p:attrNameLst>
                                          <p:attrName>ppt_x</p:attrName>
                                        </p:attrNameLst>
                                      </p:cBhvr>
                                      <p:tavLst>
                                        <p:tav tm="0">
                                          <p:val>
                                            <p:strVal val="1+#ppt_w/2"/>
                                          </p:val>
                                        </p:tav>
                                        <p:tav tm="100000">
                                          <p:val>
                                            <p:strVal val="#ppt_x"/>
                                          </p:val>
                                        </p:tav>
                                      </p:tavLst>
                                    </p:anim>
                                    <p:anim calcmode="lin" valueType="num">
                                      <p:cBhvr additive="base">
                                        <p:cTn id="23" dur="600" fill="hold"/>
                                        <p:tgtEl>
                                          <p:spTgt spid="9"/>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60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600" fill="hold"/>
                                        <p:tgtEl>
                                          <p:spTgt spid="10"/>
                                        </p:tgtEl>
                                        <p:attrNameLst>
                                          <p:attrName>ppt_x</p:attrName>
                                        </p:attrNameLst>
                                      </p:cBhvr>
                                      <p:tavLst>
                                        <p:tav tm="0">
                                          <p:val>
                                            <p:strVal val="1+#ppt_w/2"/>
                                          </p:val>
                                        </p:tav>
                                        <p:tav tm="100000">
                                          <p:val>
                                            <p:strVal val="#ppt_x"/>
                                          </p:val>
                                        </p:tav>
                                      </p:tavLst>
                                    </p:anim>
                                    <p:anim calcmode="lin" valueType="num">
                                      <p:cBhvr additive="base">
                                        <p:cTn id="27" dur="600" fill="hold"/>
                                        <p:tgtEl>
                                          <p:spTgt spid="1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60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600" fill="hold"/>
                                        <p:tgtEl>
                                          <p:spTgt spid="11"/>
                                        </p:tgtEl>
                                        <p:attrNameLst>
                                          <p:attrName>ppt_x</p:attrName>
                                        </p:attrNameLst>
                                      </p:cBhvr>
                                      <p:tavLst>
                                        <p:tav tm="0">
                                          <p:val>
                                            <p:strVal val="1+#ppt_w/2"/>
                                          </p:val>
                                        </p:tav>
                                        <p:tav tm="100000">
                                          <p:val>
                                            <p:strVal val="#ppt_x"/>
                                          </p:val>
                                        </p:tav>
                                      </p:tavLst>
                                    </p:anim>
                                    <p:anim calcmode="lin" valueType="num">
                                      <p:cBhvr additive="base">
                                        <p:cTn id="31" dur="600" fill="hold"/>
                                        <p:tgtEl>
                                          <p:spTgt spid="11"/>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80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600" fill="hold"/>
                                        <p:tgtEl>
                                          <p:spTgt spid="12"/>
                                        </p:tgtEl>
                                        <p:attrNameLst>
                                          <p:attrName>ppt_x</p:attrName>
                                        </p:attrNameLst>
                                      </p:cBhvr>
                                      <p:tavLst>
                                        <p:tav tm="0">
                                          <p:val>
                                            <p:strVal val="1+#ppt_w/2"/>
                                          </p:val>
                                        </p:tav>
                                        <p:tav tm="100000">
                                          <p:val>
                                            <p:strVal val="#ppt_x"/>
                                          </p:val>
                                        </p:tav>
                                      </p:tavLst>
                                    </p:anim>
                                    <p:anim calcmode="lin" valueType="num">
                                      <p:cBhvr additive="base">
                                        <p:cTn id="35" dur="600" fill="hold"/>
                                        <p:tgtEl>
                                          <p:spTgt spid="12"/>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80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600" fill="hold"/>
                                        <p:tgtEl>
                                          <p:spTgt spid="13"/>
                                        </p:tgtEl>
                                        <p:attrNameLst>
                                          <p:attrName>ppt_x</p:attrName>
                                        </p:attrNameLst>
                                      </p:cBhvr>
                                      <p:tavLst>
                                        <p:tav tm="0">
                                          <p:val>
                                            <p:strVal val="1+#ppt_w/2"/>
                                          </p:val>
                                        </p:tav>
                                        <p:tav tm="100000">
                                          <p:val>
                                            <p:strVal val="#ppt_x"/>
                                          </p:val>
                                        </p:tav>
                                      </p:tavLst>
                                    </p:anim>
                                    <p:anim calcmode="lin" valueType="num">
                                      <p:cBhvr additive="base">
                                        <p:cTn id="39" dur="600" fill="hold"/>
                                        <p:tgtEl>
                                          <p:spTgt spid="13"/>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80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600" fill="hold"/>
                                        <p:tgtEl>
                                          <p:spTgt spid="14"/>
                                        </p:tgtEl>
                                        <p:attrNameLst>
                                          <p:attrName>ppt_x</p:attrName>
                                        </p:attrNameLst>
                                      </p:cBhvr>
                                      <p:tavLst>
                                        <p:tav tm="0">
                                          <p:val>
                                            <p:strVal val="1+#ppt_w/2"/>
                                          </p:val>
                                        </p:tav>
                                        <p:tav tm="100000">
                                          <p:val>
                                            <p:strVal val="#ppt_x"/>
                                          </p:val>
                                        </p:tav>
                                      </p:tavLst>
                                    </p:anim>
                                    <p:anim calcmode="lin" valueType="num">
                                      <p:cBhvr additive="base">
                                        <p:cTn id="43" dur="600" fill="hold"/>
                                        <p:tgtEl>
                                          <p:spTgt spid="14"/>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100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600" fill="hold"/>
                                        <p:tgtEl>
                                          <p:spTgt spid="15"/>
                                        </p:tgtEl>
                                        <p:attrNameLst>
                                          <p:attrName>ppt_x</p:attrName>
                                        </p:attrNameLst>
                                      </p:cBhvr>
                                      <p:tavLst>
                                        <p:tav tm="0">
                                          <p:val>
                                            <p:strVal val="1+#ppt_w/2"/>
                                          </p:val>
                                        </p:tav>
                                        <p:tav tm="100000">
                                          <p:val>
                                            <p:strVal val="#ppt_x"/>
                                          </p:val>
                                        </p:tav>
                                      </p:tavLst>
                                    </p:anim>
                                    <p:anim calcmode="lin" valueType="num">
                                      <p:cBhvr additive="base">
                                        <p:cTn id="47" dur="600" fill="hold"/>
                                        <p:tgtEl>
                                          <p:spTgt spid="15"/>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100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600" fill="hold"/>
                                        <p:tgtEl>
                                          <p:spTgt spid="16"/>
                                        </p:tgtEl>
                                        <p:attrNameLst>
                                          <p:attrName>ppt_x</p:attrName>
                                        </p:attrNameLst>
                                      </p:cBhvr>
                                      <p:tavLst>
                                        <p:tav tm="0">
                                          <p:val>
                                            <p:strVal val="1+#ppt_w/2"/>
                                          </p:val>
                                        </p:tav>
                                        <p:tav tm="100000">
                                          <p:val>
                                            <p:strVal val="#ppt_x"/>
                                          </p:val>
                                        </p:tav>
                                      </p:tavLst>
                                    </p:anim>
                                    <p:anim calcmode="lin" valueType="num">
                                      <p:cBhvr additive="base">
                                        <p:cTn id="51" dur="600" fill="hold"/>
                                        <p:tgtEl>
                                          <p:spTgt spid="16"/>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100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600" fill="hold"/>
                                        <p:tgtEl>
                                          <p:spTgt spid="17"/>
                                        </p:tgtEl>
                                        <p:attrNameLst>
                                          <p:attrName>ppt_x</p:attrName>
                                        </p:attrNameLst>
                                      </p:cBhvr>
                                      <p:tavLst>
                                        <p:tav tm="0">
                                          <p:val>
                                            <p:strVal val="1+#ppt_w/2"/>
                                          </p:val>
                                        </p:tav>
                                        <p:tav tm="100000">
                                          <p:val>
                                            <p:strVal val="#ppt_x"/>
                                          </p:val>
                                        </p:tav>
                                      </p:tavLst>
                                    </p:anim>
                                    <p:anim calcmode="lin" valueType="num">
                                      <p:cBhvr additive="base">
                                        <p:cTn id="55" dur="600" fill="hold"/>
                                        <p:tgtEl>
                                          <p:spTgt spid="17"/>
                                        </p:tgtEl>
                                        <p:attrNameLst>
                                          <p:attrName>ppt_y</p:attrName>
                                        </p:attrNameLst>
                                      </p:cBhvr>
                                      <p:tavLst>
                                        <p:tav tm="0">
                                          <p:val>
                                            <p:strVal val="#ppt_y"/>
                                          </p:val>
                                        </p:tav>
                                        <p:tav tm="100000">
                                          <p:val>
                                            <p:strVal val="#ppt_y"/>
                                          </p:val>
                                        </p:tav>
                                      </p:tavLst>
                                    </p:anim>
                                  </p:childTnLst>
                                </p:cTn>
                              </p:par>
                              <p:par>
                                <p:cTn id="56" presetID="10" presetClass="entr" presetSubtype="0" fill="hold" grpId="0" nodeType="withEffect">
                                  <p:stCondLst>
                                    <p:cond delay="110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Graphic spid="7" grpId="0">
        <p:bldAsOne/>
      </p:bldGraphic>
      <p:bldP spid="9" grpId="0" animBg="1"/>
      <p:bldP spid="10" grpId="0" animBg="1"/>
      <p:bldP spid="11" grpId="0" animBg="1"/>
      <p:bldP spid="12" grpId="0" animBg="1"/>
      <p:bldP spid="13" grpId="0" animBg="1"/>
      <p:bldP spid="14" grpId="0" animBg="1"/>
      <p:bldP spid="15" grpId="0" animBg="1"/>
      <p:bldP spid="16" grpId="0" animBg="1"/>
      <p:bldP spid="17" grpId="0" animBg="1"/>
      <p:bldP spid="8"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jpg"/>
          <p:cNvPicPr>
            <a:picLocks noChangeAspect="1"/>
          </p:cNvPicPr>
          <p:nvPr/>
        </p:nvPicPr>
        <p:blipFill>
          <a:blip r:embed="rId2"/>
          <a:srcRect l="1" r="1"/>
          <a:stretch>
            <a:fillRect/>
          </a:stretch>
        </p:blipFill>
        <p:spPr>
          <a:xfrm>
            <a:off x="0" y="0"/>
            <a:ext cx="12191695" cy="6858000"/>
          </a:xfrm>
          <a:prstGeom prst="rect">
            <a:avLst/>
          </a:prstGeom>
        </p:spPr>
      </p:pic>
      <p:sp>
        <p:nvSpPr>
          <p:cNvPr id="3" name="!!part"/>
          <p:cNvSpPr txBox="1"/>
          <p:nvPr/>
        </p:nvSpPr>
        <p:spPr>
          <a:xfrm>
            <a:off x="594360" y="256032"/>
            <a:ext cx="3657600" cy="274320"/>
          </a:xfrm>
          <a:prstGeom prst="rect">
            <a:avLst/>
          </a:prstGeom>
          <a:noFill/>
        </p:spPr>
        <p:txBody>
          <a:bodyPr wrap="square" lIns="0" rIns="0" tIns="0" bIns="0" anchor="t">
            <a:noAutofit/>
          </a:bodyPr>
          <a:lstStyle/>
          <a:p>
            <a:pPr algn="l"/>
            <a:r>
              <a:rPr sz="1200" b="0" i="0" spc="200">
                <a:solidFill>
                  <a:srgbClr val="FFE6A1"/>
                </a:solidFill>
                <a:latin typeface="Big Shoulders Display Black"/>
                <a:ea typeface="Big Shoulders Display Black"/>
                <a:cs typeface="Big Shoulders Display Black"/>
              </a:rPr>
              <a:t>TỔNG KẾT</a:t>
            </a:r>
          </a:p>
        </p:txBody>
      </p:sp>
      <p:sp>
        <p:nvSpPr>
          <p:cNvPr id="4" name="!!tab"/>
          <p:cNvSpPr/>
          <p:nvPr/>
        </p:nvSpPr>
        <p:spPr>
          <a:xfrm>
            <a:off x="548640" y="566928"/>
            <a:ext cx="7053179" cy="603504"/>
          </a:xfrm>
          <a:prstGeom prst="snip2DiagRect">
            <a:avLst>
              <a:gd name="adj1" fmla="val 0"/>
              <a:gd name="adj2" fmla="val 30303"/>
            </a:avLst>
          </a:prstGeom>
          <a:gradFill rotWithShape="1">
            <a:gsLst>
              <a:gs pos="0">
                <a:srgbClr val="4E040A">
                  <a:alpha val="72000"/>
                </a:srgbClr>
              </a:gs>
              <a:gs pos="100000">
                <a:srgbClr val="7A0912">
                  <a:alpha val="45000"/>
                </a:srgbClr>
              </a:gs>
            </a:gsLst>
            <a:lin ang="2100000" scaled="0"/>
          </a:gradFill>
          <a:ln w="15875">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274320" rIns="274320" tIns="18288" bIns="18288" wrap="square"/>
          <a:lstStyle/>
          <a:p>
            <a:pPr algn="l">
              <a:lnSpc>
                <a:spcPct val="105000"/>
              </a:lnSpc>
            </a:pPr>
            <a:r>
              <a:rPr sz="2700" b="0" i="0" spc="60">
                <a:gradFill rotWithShape="1">
                  <a:gsLst>
                    <a:gs pos="0">
                      <a:srgbClr val="FFF3C4"/>
                    </a:gs>
                    <a:gs pos="55000">
                      <a:srgbClr val="FFE6A1"/>
                    </a:gs>
                    <a:gs pos="100000">
                      <a:srgbClr val="E3AE4A"/>
                    </a:gs>
                  </a:gsLst>
                  <a:lin ang="5400000" scaled="0"/>
                </a:gradFill>
                <a:latin typeface="Big Shoulders Display Black"/>
                <a:ea typeface="Big Shoulders Display Black"/>
                <a:cs typeface="Big Shoulders Display Black"/>
              </a:rPr>
              <a:t>SO SÁNH BA HÌNH THỨC CỦA CHỦ NGHĨA DUY VẬT</a:t>
            </a:r>
          </a:p>
        </p:txBody>
      </p:sp>
      <p:sp>
        <p:nvSpPr>
          <p:cNvPr id="5" name="!!rule"/>
          <p:cNvSpPr/>
          <p:nvPr/>
        </p:nvSpPr>
        <p:spPr>
          <a:xfrm>
            <a:off x="7711547" y="1133856"/>
            <a:ext cx="4114388" cy="22860"/>
          </a:xfrm>
          <a:prstGeom prst="rect">
            <a:avLst/>
          </a:prstGeom>
          <a:gradFill rotWithShape="1">
            <a:gsLst>
              <a:gs pos="0">
                <a:srgbClr val="E3AE4A">
                  <a:alpha val="85000"/>
                </a:srgbClr>
              </a:gs>
              <a:gs pos="100000">
                <a:srgbClr val="E3AE4A">
                  <a:alpha val="0"/>
                </a:srgbClr>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graphicFrame>
        <p:nvGraphicFramePr>
          <p:cNvPr id="6" name="Table 5"/>
          <p:cNvGraphicFramePr>
            <a:graphicFrameLocks noGrp="1"/>
          </p:cNvGraphicFramePr>
          <p:nvPr/>
        </p:nvGraphicFramePr>
        <p:xfrm>
          <a:off x="548640" y="1600200"/>
          <a:ext cx="11094414" cy="3474720"/>
        </p:xfrm>
        <a:graphic>
          <a:graphicData uri="http://schemas.openxmlformats.org/drawingml/2006/table">
            <a:tbl>
              <a:tblPr firstRow="0" bandRow="0">
                <a:tableStyleId>{2D5ABB26-0587-4C30-8999-92F81FD0307C}</a:tableStyleId>
              </a:tblPr>
              <a:tblGrid>
                <a:gridCol w="2017166"/>
                <a:gridCol w="2200545"/>
                <a:gridCol w="3667575"/>
                <a:gridCol w="3209128"/>
              </a:tblGrid>
              <a:tr h="868680">
                <a:tc>
                  <a:txBody>
                    <a:bodyPr wrap="square"/>
                    <a:lstStyle/>
                    <a:p>
                      <a:pPr algn="ctr"/>
                      <a:r>
                        <a:rPr sz="1500" b="0" i="0" spc="120">
                          <a:solidFill>
                            <a:srgbClr val="FFE6A1"/>
                          </a:solidFill>
                          <a:latin typeface="Big Shoulders Display Black"/>
                          <a:ea typeface="Big Shoulders Display Black"/>
                          <a:cs typeface="Big Shoulders Display Black"/>
                        </a:rPr>
                        <a:t>HÌNH THỨC</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4E040A"/>
                    </a:solidFill>
                  </a:tcPr>
                </a:tc>
                <a:tc>
                  <a:txBody>
                    <a:bodyPr wrap="square"/>
                    <a:lstStyle/>
                    <a:p>
                      <a:pPr algn="ctr"/>
                      <a:r>
                        <a:rPr sz="1500" b="0" i="0" spc="120">
                          <a:solidFill>
                            <a:srgbClr val="FFE6A1"/>
                          </a:solidFill>
                          <a:latin typeface="Big Shoulders Display Black"/>
                          <a:ea typeface="Big Shoulders Display Black"/>
                          <a:cs typeface="Big Shoulders Display Black"/>
                        </a:rPr>
                        <a:t>THỜI KỲ</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4E040A"/>
                    </a:solidFill>
                  </a:tcPr>
                </a:tc>
                <a:tc>
                  <a:txBody>
                    <a:bodyPr wrap="square"/>
                    <a:lstStyle/>
                    <a:p>
                      <a:pPr algn="ctr"/>
                      <a:r>
                        <a:rPr sz="1500" b="0" i="0" spc="120">
                          <a:solidFill>
                            <a:srgbClr val="FFE6A1"/>
                          </a:solidFill>
                          <a:latin typeface="Big Shoulders Display Black"/>
                          <a:ea typeface="Big Shoulders Display Black"/>
                          <a:cs typeface="Big Shoulders Display Black"/>
                        </a:rPr>
                        <a:t>ĐẶC ĐIỂM</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4E040A"/>
                    </a:solidFill>
                  </a:tcPr>
                </a:tc>
                <a:tc>
                  <a:txBody>
                    <a:bodyPr wrap="square"/>
                    <a:lstStyle/>
                    <a:p>
                      <a:pPr algn="ctr"/>
                      <a:r>
                        <a:rPr sz="1500" b="0" i="0" spc="120">
                          <a:solidFill>
                            <a:srgbClr val="FFE6A1"/>
                          </a:solidFill>
                          <a:latin typeface="Big Shoulders Display Black"/>
                          <a:ea typeface="Big Shoulders Display Black"/>
                          <a:cs typeface="Big Shoulders Display Black"/>
                        </a:rPr>
                        <a:t>HẠN CHẾ / Ý NGHĨA</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4E040A"/>
                    </a:solidFill>
                  </a:tcPr>
                </a:tc>
              </a:tr>
              <a:tr h="868680">
                <a:tc>
                  <a:txBody>
                    <a:bodyPr wrap="square"/>
                    <a:lstStyle/>
                    <a:p>
                      <a:pPr algn="l"/>
                      <a:r>
                        <a:rPr sz="1200" b="0" i="0">
                          <a:solidFill>
                            <a:srgbClr val="FFE6A1"/>
                          </a:solidFill>
                          <a:latin typeface="Be Vietnam Pro SemiBold"/>
                          <a:ea typeface="Be Vietnam Pro SemiBold"/>
                          <a:cs typeface="Be Vietnam Pro SemiBold"/>
                        </a:rPr>
                        <a:t>Chất phác</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7A0912"/>
                    </a:solidFill>
                  </a:tcPr>
                </a:tc>
                <a:tc>
                  <a:txBody>
                    <a:bodyPr wrap="square"/>
                    <a:lstStyle/>
                    <a:p>
                      <a:pPr algn="ctr"/>
                      <a:r>
                        <a:rPr sz="1200" b="0" i="0">
                          <a:solidFill>
                            <a:srgbClr val="FFF4E2"/>
                          </a:solidFill>
                          <a:latin typeface="Be Vietnam Pro"/>
                          <a:ea typeface="Be Vietnam Pro"/>
                          <a:cs typeface="Be Vietnam Pro"/>
                        </a:rPr>
                        <a:t>Cổ đại</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7A0912"/>
                    </a:solidFill>
                  </a:tcPr>
                </a:tc>
                <a:tc>
                  <a:txBody>
                    <a:bodyPr wrap="square"/>
                    <a:lstStyle/>
                    <a:p>
                      <a:pPr algn="ctr"/>
                      <a:r>
                        <a:rPr sz="1200" b="0" i="0">
                          <a:solidFill>
                            <a:srgbClr val="FFF4E2"/>
                          </a:solidFill>
                          <a:latin typeface="Be Vietnam Pro"/>
                          <a:ea typeface="Be Vietnam Pro"/>
                          <a:cs typeface="Be Vietnam Pro"/>
                        </a:rPr>
                        <a:t>Đồng nhất vật chất với một số chất cụ thể</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7A0912"/>
                    </a:solidFill>
                  </a:tcPr>
                </a:tc>
                <a:tc>
                  <a:txBody>
                    <a:bodyPr wrap="square"/>
                    <a:lstStyle/>
                    <a:p>
                      <a:pPr algn="ctr"/>
                      <a:r>
                        <a:rPr sz="1200" b="0" i="0">
                          <a:solidFill>
                            <a:srgbClr val="FFF4E2"/>
                          </a:solidFill>
                          <a:latin typeface="Be Vietnam Pro"/>
                          <a:ea typeface="Be Vietnam Pro"/>
                          <a:cs typeface="Be Vietnam Pro"/>
                        </a:rPr>
                        <a:t>Trực quan, ngây thơ</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7A0912"/>
                    </a:solidFill>
                  </a:tcPr>
                </a:tc>
              </a:tr>
              <a:tr h="868680">
                <a:tc>
                  <a:txBody>
                    <a:bodyPr wrap="square"/>
                    <a:lstStyle/>
                    <a:p>
                      <a:pPr algn="l"/>
                      <a:r>
                        <a:rPr sz="1200" b="0" i="0">
                          <a:solidFill>
                            <a:srgbClr val="FFE6A1"/>
                          </a:solidFill>
                          <a:latin typeface="Be Vietnam Pro SemiBold"/>
                          <a:ea typeface="Be Vietnam Pro SemiBold"/>
                          <a:cs typeface="Be Vietnam Pro SemiBold"/>
                        </a:rPr>
                        <a:t>Siêu hình</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8C0B15"/>
                    </a:solidFill>
                  </a:tcPr>
                </a:tc>
                <a:tc>
                  <a:txBody>
                    <a:bodyPr wrap="square"/>
                    <a:lstStyle/>
                    <a:p>
                      <a:pPr algn="ctr"/>
                      <a:r>
                        <a:rPr sz="1200" b="0" i="0">
                          <a:solidFill>
                            <a:srgbClr val="FFF4E2"/>
                          </a:solidFill>
                          <a:latin typeface="Be Vietnam Pro"/>
                          <a:ea typeface="Be Vietnam Pro"/>
                          <a:cs typeface="Be Vietnam Pro"/>
                        </a:rPr>
                        <a:t>Thế kỷ XV – XVIII</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8C0B15"/>
                    </a:solidFill>
                  </a:tcPr>
                </a:tc>
                <a:tc>
                  <a:txBody>
                    <a:bodyPr wrap="square"/>
                    <a:lstStyle/>
                    <a:p>
                      <a:pPr algn="ctr"/>
                      <a:r>
                        <a:rPr sz="1200" b="0" i="0">
                          <a:solidFill>
                            <a:srgbClr val="FFF4E2"/>
                          </a:solidFill>
                          <a:latin typeface="Be Vietnam Pro"/>
                          <a:ea typeface="Be Vietnam Pro"/>
                          <a:cs typeface="Be Vietnam Pro"/>
                        </a:rPr>
                        <a:t>Nhìn thế giới như một cỗ máy khổng lồ</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8C0B15"/>
                    </a:solidFill>
                  </a:tcPr>
                </a:tc>
                <a:tc>
                  <a:txBody>
                    <a:bodyPr wrap="square"/>
                    <a:lstStyle/>
                    <a:p>
                      <a:pPr algn="ctr"/>
                      <a:r>
                        <a:rPr sz="1200" b="0" i="0">
                          <a:solidFill>
                            <a:srgbClr val="FFF4E2"/>
                          </a:solidFill>
                          <a:latin typeface="Be Vietnam Pro"/>
                          <a:ea typeface="Be Vietnam Pro"/>
                          <a:cs typeface="Be Vietnam Pro"/>
                        </a:rPr>
                        <a:t>Máy móc, biệt lập, tĩnh tại</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8C0B15"/>
                    </a:solidFill>
                  </a:tcPr>
                </a:tc>
              </a:tr>
              <a:tr h="868680">
                <a:tc>
                  <a:txBody>
                    <a:bodyPr wrap="square"/>
                    <a:lstStyle/>
                    <a:p>
                      <a:pPr algn="l"/>
                      <a:r>
                        <a:rPr sz="1200" b="0" i="0">
                          <a:solidFill>
                            <a:srgbClr val="FFE6A1"/>
                          </a:solidFill>
                          <a:latin typeface="Be Vietnam Pro SemiBold"/>
                          <a:ea typeface="Be Vietnam Pro SemiBold"/>
                          <a:cs typeface="Be Vietnam Pro SemiBold"/>
                        </a:rPr>
                        <a:t>Biện chứng</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7A0912"/>
                    </a:solidFill>
                  </a:tcPr>
                </a:tc>
                <a:tc>
                  <a:txBody>
                    <a:bodyPr wrap="square"/>
                    <a:lstStyle/>
                    <a:p>
                      <a:pPr algn="ctr"/>
                      <a:r>
                        <a:rPr sz="1200" b="0" i="0">
                          <a:solidFill>
                            <a:srgbClr val="FFF4E2"/>
                          </a:solidFill>
                          <a:latin typeface="Be Vietnam Pro"/>
                          <a:ea typeface="Be Vietnam Pro"/>
                          <a:cs typeface="Be Vietnam Pro"/>
                        </a:rPr>
                        <a:t>Từ những năm 40 thế kỷ XIX</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7A0912"/>
                    </a:solidFill>
                  </a:tcPr>
                </a:tc>
                <a:tc>
                  <a:txBody>
                    <a:bodyPr wrap="square"/>
                    <a:lstStyle/>
                    <a:p>
                      <a:pPr algn="ctr"/>
                      <a:r>
                        <a:rPr sz="1200" b="0" i="0">
                          <a:solidFill>
                            <a:srgbClr val="FFF4E2"/>
                          </a:solidFill>
                          <a:latin typeface="Be Vietnam Pro"/>
                          <a:ea typeface="Be Vietnam Pro"/>
                          <a:cs typeface="Be Vietnam Pro"/>
                        </a:rPr>
                        <a:t>Thống nhất thế giới quan duy vật với phép biện chứng</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7A0912"/>
                    </a:solidFill>
                  </a:tcPr>
                </a:tc>
                <a:tc>
                  <a:txBody>
                    <a:bodyPr wrap="square"/>
                    <a:lstStyle/>
                    <a:p>
                      <a:pPr algn="ctr"/>
                      <a:r>
                        <a:rPr sz="1200" b="0" i="0">
                          <a:solidFill>
                            <a:srgbClr val="FFF4E2"/>
                          </a:solidFill>
                          <a:latin typeface="Be Vietnam Pro"/>
                          <a:ea typeface="Be Vietnam Pro"/>
                          <a:cs typeface="Be Vietnam Pro"/>
                        </a:rPr>
                        <a:t>Khắc phục hạn chế của các hình thức trước</a:t>
                      </a:r>
                    </a:p>
                  </a:txBody>
                  <a:tcPr marL="91440" marR="91440" marT="27432" marB="27432" anchor="ctr">
                    <a:lnL w="9525">
                      <a:solidFill>
                        <a:srgbClr val="A8721C"/>
                      </a:solidFill>
                    </a:lnL>
                    <a:lnR w="9525">
                      <a:solidFill>
                        <a:srgbClr val="A8721C"/>
                      </a:solidFill>
                    </a:lnR>
                    <a:lnT w="9525">
                      <a:solidFill>
                        <a:srgbClr val="A8721C"/>
                      </a:solidFill>
                    </a:lnT>
                    <a:lnB w="9525">
                      <a:solidFill>
                        <a:srgbClr val="A8721C"/>
                      </a:solidFill>
                    </a:lnB>
                    <a:solidFill>
                      <a:srgbClr val="7A0912"/>
                    </a:solidFill>
                  </a:tcPr>
                </a:tc>
              </a:tr>
            </a:tbl>
          </a:graphicData>
        </a:graphic>
      </p:graphicFrame>
      <p:sp>
        <p:nvSpPr>
          <p:cNvPr id="7" name="TextBox 6"/>
          <p:cNvSpPr txBox="1"/>
          <p:nvPr/>
        </p:nvSpPr>
        <p:spPr>
          <a:xfrm>
            <a:off x="548640" y="5303520"/>
            <a:ext cx="11094415" cy="411480"/>
          </a:xfrm>
          <a:prstGeom prst="rect">
            <a:avLst/>
          </a:prstGeom>
          <a:noFill/>
        </p:spPr>
        <p:txBody>
          <a:bodyPr wrap="square" lIns="0" rIns="0" tIns="0" bIns="0" anchor="t">
            <a:noAutofit/>
          </a:bodyPr>
          <a:lstStyle/>
          <a:p>
            <a:pPr algn="l"/>
            <a:r>
              <a:rPr sz="1100" b="0" i="1">
                <a:solidFill>
                  <a:srgbClr val="FFE6A1"/>
                </a:solidFill>
                <a:latin typeface="Be Vietnam Pro"/>
                <a:ea typeface="Be Vietnam Pro"/>
                <a:cs typeface="Be Vietnam Pro"/>
              </a:rPr>
              <a:t>Bảng là đối tượng gốc của PowerPoint: thêm / bớt dòng, sửa chữ trực tiếp.</a:t>
            </a:r>
          </a:p>
        </p:txBody>
      </p:sp>
      <p:pic>
        <p:nvPicPr>
          <p:cNvPr id="8" name="Picture 7" descr="glow_FFC560_30_1.5.png"/>
          <p:cNvPicPr>
            <a:picLocks noChangeAspect="1"/>
          </p:cNvPicPr>
          <p:nvPr/>
        </p:nvPicPr>
        <p:blipFill>
          <a:blip r:embed="rId3"/>
          <a:stretch>
            <a:fillRect/>
          </a:stretch>
        </p:blipFill>
        <p:spPr>
          <a:xfrm>
            <a:off x="10216989" y="5269230"/>
            <a:ext cx="1577340" cy="1577340"/>
          </a:xfrm>
          <a:prstGeom prst="rect">
            <a:avLst/>
          </a:prstGeom>
        </p:spPr>
      </p:pic>
      <p:pic>
        <p:nvPicPr>
          <p:cNvPr id="9" name="!!emblem" descr="hammer_sickle.png"/>
          <p:cNvPicPr>
            <a:picLocks noChangeAspect="1"/>
          </p:cNvPicPr>
          <p:nvPr/>
        </p:nvPicPr>
        <p:blipFill>
          <a:blip r:embed="rId4"/>
          <a:srcRect/>
          <a:stretch>
            <a:fillRect/>
          </a:stretch>
        </p:blipFill>
        <p:spPr>
          <a:xfrm>
            <a:off x="10545775" y="5532120"/>
            <a:ext cx="919768" cy="1051560"/>
          </a:xfrm>
          <a:prstGeom prst="rect">
            <a:avLst/>
          </a:prstGeom>
        </p:spPr>
      </p:pic>
      <p:sp>
        <p:nvSpPr>
          <p:cNvPr id="10" name="TextBox 9"/>
          <p:cNvSpPr txBox="1"/>
          <p:nvPr/>
        </p:nvSpPr>
        <p:spPr>
          <a:xfrm>
            <a:off x="10911535" y="6473952"/>
            <a:ext cx="731520" cy="237744"/>
          </a:xfrm>
          <a:prstGeom prst="rect">
            <a:avLst/>
          </a:prstGeom>
          <a:noFill/>
        </p:spPr>
        <p:txBody>
          <a:bodyPr wrap="square" lIns="0" rIns="0" tIns="0" bIns="0" anchor="t">
            <a:noAutofit/>
          </a:bodyPr>
          <a:lstStyle/>
          <a:p>
            <a:pPr algn="r"/>
            <a:r>
              <a:rPr sz="1000" b="0" i="0" spc="100">
                <a:solidFill>
                  <a:srgbClr val="FFE6A1"/>
                </a:solidFill>
                <a:latin typeface="Big Shoulders Display Black"/>
                <a:ea typeface="Big Shoulders Display Black"/>
                <a:cs typeface="Big Shoulders Display Black"/>
              </a:rPr>
              <a:t>23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600"/>
                                        <p:tgtEl>
                                          <p:spTgt spid="3"/>
                                        </p:tgtEl>
                                      </p:cBhvr>
                                    </p:animEffect>
                                  </p:childTnLst>
                                </p:cTn>
                              </p:par>
                              <p:par>
                                <p:cTn id="8" presetID="22" presetClass="entr" presetSubtype="8" fill="hold" grpId="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600"/>
                                        <p:tgtEl>
                                          <p:spTgt spid="4"/>
                                        </p:tgtEl>
                                      </p:cBhvr>
                                    </p:animEffect>
                                  </p:childTnLst>
                                </p:cTn>
                              </p:par>
                              <p:par>
                                <p:cTn id="11" presetID="22" presetClass="entr" presetSubtype="8" fill="hold" grpId="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22" presetClass="entr" presetSubtype="1" fill="hold" grpId="0" nodeType="with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10" presetClass="entr" presetSubtype="0" fill="hold" grpId="0" nodeType="withEffect">
                                  <p:stCondLst>
                                    <p:cond delay="1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31" presetClass="entr" presetSubtype="0" fill="hold" grpId="0" nodeType="withEffect">
                                  <p:stCondLst>
                                    <p:cond delay="120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800" fill="hold"/>
                                        <p:tgtEl>
                                          <p:spTgt spid="9"/>
                                        </p:tgtEl>
                                        <p:attrNameLst>
                                          <p:attrName>ppt_w</p:attrName>
                                        </p:attrNameLst>
                                      </p:cBhvr>
                                      <p:tavLst>
                                        <p:tav tm="0">
                                          <p:val>
                                            <p:strVal val="0"/>
                                          </p:val>
                                        </p:tav>
                                        <p:tav tm="100000">
                                          <p:val>
                                            <p:strVal val="#ppt_w"/>
                                          </p:val>
                                        </p:tav>
                                      </p:tavLst>
                                    </p:anim>
                                    <p:anim calcmode="lin" valueType="num">
                                      <p:cBhvr additive="base">
                                        <p:cTn id="23" dur="800" fill="hold"/>
                                        <p:tgtEl>
                                          <p:spTgt spid="9"/>
                                        </p:tgtEl>
                                        <p:attrNameLst>
                                          <p:attrName>ppt_h</p:attrName>
                                        </p:attrNameLst>
                                      </p:cBhvr>
                                      <p:tavLst>
                                        <p:tav tm="0">
                                          <p:val>
                                            <p:strVal val="0"/>
                                          </p:val>
                                        </p:tav>
                                        <p:tav tm="100000">
                                          <p:val>
                                            <p:strVal val="#ppt_h"/>
                                          </p:val>
                                        </p:tav>
                                      </p:tavLst>
                                    </p:anim>
                                    <p:anim calcmode="lin" valueType="num">
                                      <p:cBhvr>
                                        <p:cTn id="24" dur="800" fill="hold"/>
                                        <p:tgtEl>
                                          <p:spTgt spid="9"/>
                                        </p:tgtEl>
                                        <p:attrNameLst>
                                          <p:attrName>style.rotation</p:attrName>
                                        </p:attrNameLst>
                                      </p:cBhvr>
                                      <p:tavLst>
                                        <p:tav tm="0">
                                          <p:val>
                                            <p:fltVal val="90"/>
                                          </p:val>
                                        </p:tav>
                                        <p:tav tm="100000">
                                          <p:val>
                                            <p:fltVal val="0"/>
                                          </p:val>
                                        </p:tav>
                                      </p:tavLst>
                                    </p:anim>
                                    <p:animEffect transition="in" filter="fade">
                                      <p:cBhvr>
                                        <p:cTn id="25" dur="800"/>
                                        <p:tgtEl>
                                          <p:spTgt spid="9"/>
                                        </p:tgtEl>
                                      </p:cBhvr>
                                    </p:animEffect>
                                  </p:childTnLst>
                                </p:cTn>
                              </p:par>
                              <p:par>
                                <p:cTn id="26" presetID="10" presetClass="entr" presetSubtype="0" fill="hold" grpId="0" nodeType="withEffect">
                                  <p:stCondLst>
                                    <p:cond delay="12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8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Graphic spid="6" grpId="0">
        <p:bldAsOne/>
      </p:bldGraphic>
      <p:bldP spid="7"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A0912"/>
        </a:solidFill>
        <a:effectLst/>
      </p:bgPr>
    </p:bg>
    <p:spTree>
      <p:nvGrpSpPr>
        <p:cNvPr id="1" name=""/>
        <p:cNvGrpSpPr/>
        <p:nvPr/>
      </p:nvGrpSpPr>
      <p:grpSpPr/>
      <p:pic>
        <p:nvPicPr>
          <p:cNvPr id="2" name="!!bg" descr="silk_cover.jpg"/>
          <p:cNvPicPr>
            <a:picLocks noChangeAspect="1"/>
          </p:cNvPicPr>
          <p:nvPr/>
        </p:nvPicPr>
        <p:blipFill>
          <a:blip r:embed="rId2"/>
          <a:srcRect l="1" r="1"/>
          <a:stretch>
            <a:fillRect/>
          </a:stretch>
        </p:blipFill>
        <p:spPr>
          <a:xfrm>
            <a:off x="0" y="0"/>
            <a:ext cx="12191695" cy="6858000"/>
          </a:xfrm>
          <a:prstGeom prst="rect">
            <a:avLst/>
          </a:prstGeom>
        </p:spPr>
      </p:pic>
      <p:pic>
        <p:nvPicPr>
          <p:cNvPr id="3" name="!!emblem" descr="hammer_sickle.png"/>
          <p:cNvPicPr>
            <a:picLocks noChangeAspect="1"/>
          </p:cNvPicPr>
          <p:nvPr/>
        </p:nvPicPr>
        <p:blipFill>
          <a:blip r:embed="rId3"/>
          <a:srcRect t="0" b="0"/>
          <a:stretch>
            <a:fillRect/>
          </a:stretch>
        </p:blipFill>
        <p:spPr>
          <a:xfrm>
            <a:off x="7635240" y="182880"/>
            <a:ext cx="2639335" cy="3017520"/>
          </a:xfrm>
          <a:prstGeom prst="rect">
            <a:avLst/>
          </a:prstGeom>
        </p:spPr>
      </p:pic>
      <p:pic>
        <p:nvPicPr>
          <p:cNvPr id="4" name="!!ribbon" descr="ribbon_tr.png"/>
          <p:cNvPicPr>
            <a:picLocks noChangeAspect="1"/>
          </p:cNvPicPr>
          <p:nvPr/>
        </p:nvPicPr>
        <p:blipFill>
          <a:blip r:embed="rId4"/>
          <a:srcRect l="48" r="48"/>
          <a:stretch>
            <a:fillRect/>
          </a:stretch>
        </p:blipFill>
        <p:spPr>
          <a:xfrm>
            <a:off x="8351215" y="-320040"/>
            <a:ext cx="4206240" cy="2706624"/>
          </a:xfrm>
          <a:prstGeom prst="rect">
            <a:avLst/>
          </a:prstGeom>
        </p:spPr>
      </p:pic>
      <p:pic>
        <p:nvPicPr>
          <p:cNvPr id="5" name="Picture 4" descr="glow_FFB347_38_1.4.png"/>
          <p:cNvPicPr>
            <a:picLocks noChangeAspect="1"/>
          </p:cNvPicPr>
          <p:nvPr/>
        </p:nvPicPr>
        <p:blipFill>
          <a:blip r:embed="rId5"/>
          <a:stretch>
            <a:fillRect/>
          </a:stretch>
        </p:blipFill>
        <p:spPr>
          <a:xfrm>
            <a:off x="6647688" y="298094"/>
            <a:ext cx="5907024" cy="5907024"/>
          </a:xfrm>
          <a:prstGeom prst="rect">
            <a:avLst/>
          </a:prstGeom>
        </p:spPr>
      </p:pic>
      <p:pic>
        <p:nvPicPr>
          <p:cNvPr id="6" name="!!hero" descr="cut_lenin_full_top.png"/>
          <p:cNvPicPr>
            <a:picLocks noChangeAspect="1"/>
          </p:cNvPicPr>
          <p:nvPr/>
        </p:nvPicPr>
        <p:blipFill>
          <a:blip r:embed="rId6"/>
          <a:stretch>
            <a:fillRect/>
          </a:stretch>
        </p:blipFill>
        <p:spPr>
          <a:xfrm>
            <a:off x="7628112" y="640080"/>
            <a:ext cx="3946176" cy="6217920"/>
          </a:xfrm>
          <a:prstGeom prst="rect">
            <a:avLst/>
          </a:prstGeom>
        </p:spPr>
      </p:pic>
      <p:pic>
        <p:nvPicPr>
          <p:cNvPr id="7" name="!!drape" descr="drape_br.png"/>
          <p:cNvPicPr>
            <a:picLocks noChangeAspect="1"/>
          </p:cNvPicPr>
          <p:nvPr/>
        </p:nvPicPr>
        <p:blipFill>
          <a:blip r:embed="rId7"/>
          <a:srcRect/>
          <a:stretch>
            <a:fillRect/>
          </a:stretch>
        </p:blipFill>
        <p:spPr>
          <a:xfrm>
            <a:off x="6156655" y="3840480"/>
            <a:ext cx="6400800" cy="3200400"/>
          </a:xfrm>
          <a:prstGeom prst="rect">
            <a:avLst/>
          </a:prstGeom>
        </p:spPr>
      </p:pic>
      <p:sp>
        <p:nvSpPr>
          <p:cNvPr id="8" name="!!kicker"/>
          <p:cNvSpPr/>
          <p:nvPr/>
        </p:nvSpPr>
        <p:spPr>
          <a:xfrm>
            <a:off x="548640" y="1234440"/>
            <a:ext cx="2449985" cy="420624"/>
          </a:xfrm>
          <a:prstGeom prst="snip2DiagRect">
            <a:avLst>
              <a:gd name="adj1" fmla="val 0"/>
              <a:gd name="adj2" fmla="val 26086"/>
            </a:avLst>
          </a:prstGeom>
          <a:noFill/>
          <a:ln w="12700">
            <a:gradFill rotWithShape="1">
              <a:gsLst>
                <a:gs pos="0">
                  <a:srgbClr val="FFE6A1"/>
                </a:gs>
                <a:gs pos="45000">
                  <a:srgbClr val="E3AE4A"/>
                </a:gs>
                <a:gs pos="100000">
                  <a:srgbClr val="A8721C"/>
                </a:gs>
              </a:gsLst>
              <a:lin ang="2700000" scaled="0"/>
            </a:gradFill>
          </a:ln>
          <a:effectLst>
            <a:outerShdw blurRad="164592" dist="45720" dir="5400000" algn="ctr" rotWithShape="0">
              <a:srgbClr val="2A0005">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182880" rIns="182880" tIns="18288" bIns="18288" wrap="square"/>
          <a:lstStyle/>
          <a:p>
            <a:pPr algn="ctr">
              <a:lnSpc>
                <a:spcPct val="105000"/>
              </a:lnSpc>
            </a:pPr>
            <a:r>
              <a:rPr sz="1400" b="0" i="0" spc="150">
                <a:solidFill>
                  <a:srgbClr val="FFE6A1"/>
                </a:solidFill>
                <a:latin typeface="Big Shoulders Display Black"/>
                <a:ea typeface="Big Shoulders Display Black"/>
                <a:cs typeface="Big Shoulders Display Black"/>
              </a:rPr>
              <a:t>TRIẾT HỌC MÁC – LÊNIN</a:t>
            </a:r>
          </a:p>
        </p:txBody>
      </p:sp>
      <p:sp>
        <p:nvSpPr>
          <p:cNvPr id="9" name="!!title"/>
          <p:cNvSpPr txBox="1"/>
          <p:nvPr/>
        </p:nvSpPr>
        <p:spPr>
          <a:xfrm>
            <a:off x="548640" y="1828800"/>
            <a:ext cx="6949440" cy="1694180"/>
          </a:xfrm>
          <a:prstGeom prst="rect">
            <a:avLst/>
          </a:prstGeom>
          <a:noFill/>
        </p:spPr>
        <p:txBody>
          <a:bodyPr wrap="none" lIns="0" rIns="0" tIns="0" bIns="0" anchor="t">
            <a:noAutofit/>
          </a:bodyPr>
          <a:lstStyle/>
          <a:p>
            <a:pPr algn="l"/>
            <a:r>
              <a:rPr sz="11600" b="0" i="0">
                <a:gradFill rotWithShape="1">
                  <a:gsLst>
                    <a:gs pos="0">
                      <a:srgbClr val="FFF3C4"/>
                    </a:gs>
                    <a:gs pos="55000">
                      <a:srgbClr val="FFE6A1"/>
                    </a:gs>
                    <a:gs pos="100000">
                      <a:srgbClr val="E3AE4A"/>
                    </a:gs>
                  </a:gsLst>
                  <a:lin ang="5400000" scaled="0"/>
                </a:gradFill>
                <a:effectLst>
                  <a:outerShdw blurRad="146304" dist="64008" dir="5400000" algn="ctr" rotWithShape="0">
                    <a:srgbClr val="3A0006">
                      <a:alpha val="60000"/>
                    </a:srgbClr>
                  </a:outerShdw>
                </a:effectLst>
                <a:latin typeface="Big Shoulders Display Black"/>
                <a:ea typeface="Big Shoulders Display Black"/>
                <a:cs typeface="Big Shoulders Display Black"/>
              </a:rPr>
              <a:t>XIN CẢM ƠN</a:t>
            </a:r>
          </a:p>
        </p:txBody>
      </p:sp>
      <p:sp>
        <p:nvSpPr>
          <p:cNvPr id="10" name="TextBox 9"/>
          <p:cNvSpPr txBox="1"/>
          <p:nvPr/>
        </p:nvSpPr>
        <p:spPr>
          <a:xfrm>
            <a:off x="594360" y="3522980"/>
            <a:ext cx="6400800" cy="502920"/>
          </a:xfrm>
          <a:prstGeom prst="rect">
            <a:avLst/>
          </a:prstGeom>
          <a:noFill/>
        </p:spPr>
        <p:txBody>
          <a:bodyPr wrap="square" lIns="0" rIns="0" tIns="0" bIns="0" anchor="t">
            <a:noAutofit/>
          </a:bodyPr>
          <a:lstStyle/>
          <a:p>
            <a:pPr algn="l"/>
            <a:r>
              <a:rPr sz="2000" b="0" i="1">
                <a:solidFill>
                  <a:srgbClr val="FFF4E2"/>
                </a:solidFill>
                <a:latin typeface="Be Vietnam Pro"/>
                <a:ea typeface="Be Vietnam Pro"/>
                <a:cs typeface="Be Vietnam Pro"/>
              </a:rPr>
              <a:t>thầy cô và các bạn đã lắng nghe!</a:t>
            </a:r>
          </a:p>
        </p:txBody>
      </p:sp>
      <p:sp>
        <p:nvSpPr>
          <p:cNvPr id="11" name="TextBox 10"/>
          <p:cNvSpPr txBox="1"/>
          <p:nvPr/>
        </p:nvSpPr>
        <p:spPr>
          <a:xfrm>
            <a:off x="548640" y="5806440"/>
            <a:ext cx="6400800" cy="685800"/>
          </a:xfrm>
          <a:prstGeom prst="rect">
            <a:avLst/>
          </a:prstGeom>
          <a:noFill/>
        </p:spPr>
        <p:txBody>
          <a:bodyPr wrap="square" lIns="0" rIns="0" tIns="0" bIns="0" anchor="t">
            <a:noAutofit/>
          </a:bodyPr>
          <a:lstStyle/>
          <a:p>
            <a:pPr algn="l">
              <a:lnSpc>
                <a:spcPct val="115000"/>
              </a:lnSpc>
            </a:pPr>
            <a:r>
              <a:rPr sz="1600" b="0" i="0" spc="120">
                <a:solidFill>
                  <a:srgbClr val="FFE6A1"/>
                </a:solidFill>
                <a:latin typeface="Big Shoulders Display Black"/>
                <a:ea typeface="Big Shoulders Display Black"/>
                <a:cs typeface="Big Shoulders Display Black"/>
              </a:rPr>
              <a:t>TRÌNH BÀY: NHÓM 3</a:t>
            </a:r>
          </a:p>
          <a:p>
            <a:pPr algn="l">
              <a:lnSpc>
                <a:spcPct val="115000"/>
              </a:lnSpc>
            </a:pPr>
            <a:r>
              <a:rPr sz="1150" b="0" i="0">
                <a:solidFill>
                  <a:srgbClr val="FFF4E2"/>
                </a:solidFill>
                <a:latin typeface="Be Vietnam Pro"/>
                <a:ea typeface="Be Vietnam Pro"/>
                <a:cs typeface="Be Vietnam Pro"/>
              </a:rPr>
              <a:t>Lớp Triết học K50 · Học kỳ I, 2026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ppt_w</p:attrName>
                                        </p:attrNameLst>
                                      </p:cBhvr>
                                      <p:tavLst>
                                        <p:tav tm="0">
                                          <p:val>
                                            <p:strVal val="0"/>
                                          </p:val>
                                        </p:tav>
                                        <p:tav tm="100000">
                                          <p:val>
                                            <p:strVal val="#ppt_w"/>
                                          </p:val>
                                        </p:tav>
                                      </p:tavLst>
                                    </p:anim>
                                    <p:anim calcmode="lin" valueType="num">
                                      <p:cBhvr additive="base">
                                        <p:cTn id="8" dur="1000" fill="hold"/>
                                        <p:tgtEl>
                                          <p:spTgt spid="3"/>
                                        </p:tgtEl>
                                        <p:attrNameLst>
                                          <p:attrName>ppt_h</p:attrName>
                                        </p:attrNameLst>
                                      </p:cBhvr>
                                      <p:tavLst>
                                        <p:tav tm="0">
                                          <p:val>
                                            <p:str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par>
                                <p:cTn id="11" presetID="2" presetClass="entr" presetSubtype="2"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1000" fill="hold"/>
                                        <p:tgtEl>
                                          <p:spTgt spid="5"/>
                                        </p:tgtEl>
                                        <p:attrNameLst>
                                          <p:attrName>ppt_x</p:attrName>
                                        </p:attrNameLst>
                                      </p:cBhvr>
                                      <p:tavLst>
                                        <p:tav tm="0">
                                          <p:val>
                                            <p:strVal val="1+#ppt_w/2"/>
                                          </p:val>
                                        </p:tav>
                                        <p:tav tm="100000">
                                          <p:val>
                                            <p:strVal val="#ppt_x"/>
                                          </p:val>
                                        </p:tav>
                                      </p:tavLst>
                                    </p:anim>
                                    <p:anim calcmode="lin" valueType="num">
                                      <p:cBhvr additive="base">
                                        <p:cTn id="14" dur="1000" fill="hold"/>
                                        <p:tgtEl>
                                          <p:spTgt spid="5"/>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2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1000" fill="hold"/>
                                        <p:tgtEl>
                                          <p:spTgt spid="6"/>
                                        </p:tgtEl>
                                        <p:attrNameLst>
                                          <p:attrName>ppt_x</p:attrName>
                                        </p:attrNameLst>
                                      </p:cBhvr>
                                      <p:tavLst>
                                        <p:tav tm="0">
                                          <p:val>
                                            <p:strVal val="1+#ppt_w/2"/>
                                          </p:val>
                                        </p:tav>
                                        <p:tav tm="100000">
                                          <p:val>
                                            <p:strVal val="#ppt_x"/>
                                          </p:val>
                                        </p:tav>
                                      </p:tavLst>
                                    </p:anim>
                                    <p:anim calcmode="lin" valueType="num">
                                      <p:cBhvr additive="base">
                                        <p:cTn id="18" dur="1000" fill="hold"/>
                                        <p:tgtEl>
                                          <p:spTgt spid="6"/>
                                        </p:tgtEl>
                                        <p:attrNameLst>
                                          <p:attrName>ppt_y</p:attrName>
                                        </p:attrNameLst>
                                      </p:cBhvr>
                                      <p:tavLst>
                                        <p:tav tm="0">
                                          <p:val>
                                            <p:strVal val="#ppt_y"/>
                                          </p:val>
                                        </p:tav>
                                        <p:tav tm="100000">
                                          <p:val>
                                            <p:strVal val="#ppt_y"/>
                                          </p:val>
                                        </p:tav>
                                      </p:tavLst>
                                    </p:anim>
                                  </p:childTnLst>
                                </p:cTn>
                              </p:par>
                              <p:par>
                                <p:cTn id="19" presetID="22" presetClass="entr" presetSubtype="8" fill="hold" grpId="0" nodeType="withEffect">
                                  <p:stCondLst>
                                    <p:cond delay="5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800"/>
                                        <p:tgtEl>
                                          <p:spTgt spid="7"/>
                                        </p:tgtEl>
                                      </p:cBhvr>
                                    </p:animEffect>
                                  </p:childTnLst>
                                </p:cTn>
                              </p:par>
                              <p:par>
                                <p:cTn id="22" presetID="22" presetClass="entr" presetSubtype="8" fill="hold" grpId="0" nodeType="withEffect">
                                  <p:stCondLst>
                                    <p:cond delay="60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800"/>
                                        <p:tgtEl>
                                          <p:spTgt spid="4"/>
                                        </p:tgtEl>
                                      </p:cBhvr>
                                    </p:animEffect>
                                  </p:childTnLst>
                                </p:cTn>
                              </p:par>
                              <p:par>
                                <p:cTn id="25" presetID="22" presetClass="entr" presetSubtype="8" fill="hold" grpId="0" nodeType="withEffect">
                                  <p:stCondLst>
                                    <p:cond delay="60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par>
                                <p:cTn id="28" presetID="53" presetClass="entr" presetSubtype="16" fill="hold" grpId="0" nodeType="withEffect">
                                  <p:stCondLst>
                                    <p:cond delay="80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1000" fill="hold"/>
                                        <p:tgtEl>
                                          <p:spTgt spid="9"/>
                                        </p:tgtEl>
                                        <p:attrNameLst>
                                          <p:attrName>ppt_w</p:attrName>
                                        </p:attrNameLst>
                                      </p:cBhvr>
                                      <p:tavLst>
                                        <p:tav tm="0">
                                          <p:val>
                                            <p:strVal val="#ppt_w*0.7"/>
                                          </p:val>
                                        </p:tav>
                                        <p:tav tm="100000">
                                          <p:val>
                                            <p:strVal val="#ppt_w"/>
                                          </p:val>
                                        </p:tav>
                                      </p:tavLst>
                                    </p:anim>
                                    <p:anim calcmode="lin" valueType="num">
                                      <p:cBhvr additive="base">
                                        <p:cTn id="31" dur="1000" fill="hold"/>
                                        <p:tgtEl>
                                          <p:spTgt spid="9"/>
                                        </p:tgtEl>
                                        <p:attrNameLst>
                                          <p:attrName>ppt_h</p:attrName>
                                        </p:attrNameLst>
                                      </p:cBhvr>
                                      <p:tavLst>
                                        <p:tav tm="0">
                                          <p:val>
                                            <p:strVal val="#ppt_h*0.7"/>
                                          </p:val>
                                        </p:tav>
                                        <p:tav tm="100000">
                                          <p:val>
                                            <p:strVal val="#ppt_h"/>
                                          </p:val>
                                        </p:tav>
                                      </p:tavLst>
                                    </p:anim>
                                    <p:animEffect transition="in" filter="fade">
                                      <p:cBhvr>
                                        <p:cTn id="32" dur="1000"/>
                                        <p:tgtEl>
                                          <p:spTgt spid="9"/>
                                        </p:tgtEl>
                                      </p:cBhvr>
                                    </p:animEffect>
                                  </p:childTnLst>
                                </p:cTn>
                              </p:par>
                              <p:par>
                                <p:cTn id="33" presetID="10" presetClass="entr" presetSubtype="0" fill="hold" grpId="0" nodeType="withEffect">
                                  <p:stCondLst>
                                    <p:cond delay="140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600"/>
                                        <p:tgtEl>
                                          <p:spTgt spid="10"/>
                                        </p:tgtEl>
                                      </p:cBhvr>
                                    </p:animEffect>
                                  </p:childTnLst>
                                </p:cTn>
                              </p:par>
                              <p:par>
                                <p:cTn id="36" presetID="10" presetClass="entr" presetSubtype="0" fill="hold" grpId="0" nodeType="withEffect">
                                  <p:stCondLst>
                                    <p:cond delay="160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5.xml><?xml version="1.0" encoding="utf-8"?>
<p:sld xmlns:a="http://schemas.openxmlformats.org/drawingml/2006/main" xmlns:p="http://schemas.openxmlformats.org/presentationml/2006/main" xmlns:r="http://schemas.openxmlformats.org/officeDocument/2006/relationships" show="0">
  <p:cSld>
    <p:bg>
      <p:bgPr>
        <a:solidFill>
          <a:srgbClr val="7A0912"/>
        </a:solidFill>
        <a:effectLst/>
      </p:bgPr>
    </p:bg>
    <p:spTree>
      <p:nvGrpSpPr>
        <p:cNvPr id="1" name=""/>
        <p:cNvGrpSpPr/>
        <p:nvPr/>
      </p:nvGrpSpPr>
      <p:grpSpPr/>
      <p:pic>
        <p:nvPicPr>
          <p:cNvPr id="2" name="!!bg" descr="silk_dark.jpg"/>
          <p:cNvPicPr>
            <a:picLocks noChangeAspect="1"/>
          </p:cNvPicPr>
          <p:nvPr/>
        </p:nvPicPr>
        <p:blipFill>
          <a:blip r:embed="rId2"/>
          <a:srcRect l="1" r="1"/>
          <a:stretch>
            <a:fillRect/>
          </a:stretch>
        </p:blipFill>
        <p:spPr>
          <a:xfrm>
            <a:off x="0" y="0"/>
            <a:ext cx="12191695" cy="6858000"/>
          </a:xfrm>
          <a:prstGeom prst="rect">
            <a:avLst/>
          </a:prstGeom>
        </p:spPr>
      </p:pic>
      <p:sp>
        <p:nvSpPr>
          <p:cNvPr id="3" name="TextBox 2"/>
          <p:cNvSpPr txBox="1"/>
          <p:nvPr/>
        </p:nvSpPr>
        <p:spPr>
          <a:xfrm>
            <a:off x="548640" y="457200"/>
            <a:ext cx="10058400" cy="548640"/>
          </a:xfrm>
          <a:prstGeom prst="rect">
            <a:avLst/>
          </a:prstGeom>
          <a:noFill/>
        </p:spPr>
        <p:txBody>
          <a:bodyPr wrap="square" lIns="0" rIns="0" tIns="0" bIns="0" anchor="t">
            <a:noAutofit/>
          </a:bodyPr>
          <a:lstStyle/>
          <a:p>
            <a:pPr algn="l"/>
            <a:r>
              <a:rPr sz="3000" b="0" i="0" spc="200">
                <a:solidFill>
                  <a:srgbClr val="FFE6A1"/>
                </a:solidFill>
                <a:latin typeface="Big Shoulders Display Black"/>
                <a:ea typeface="Big Shoulders Display Black"/>
                <a:cs typeface="Big Shoulders Display Black"/>
              </a:rPr>
              <a:t>NGUỒN HÌNH ẢNH</a:t>
            </a:r>
          </a:p>
        </p:txBody>
      </p:sp>
      <p:sp>
        <p:nvSpPr>
          <p:cNvPr id="4" name="TextBox 3"/>
          <p:cNvSpPr txBox="1"/>
          <p:nvPr/>
        </p:nvSpPr>
        <p:spPr>
          <a:xfrm>
            <a:off x="548640" y="1051560"/>
            <a:ext cx="10972800" cy="457200"/>
          </a:xfrm>
          <a:prstGeom prst="rect">
            <a:avLst/>
          </a:prstGeom>
          <a:noFill/>
        </p:spPr>
        <p:txBody>
          <a:bodyPr wrap="square" lIns="0" rIns="0" tIns="0" bIns="0" anchor="t">
            <a:noAutofit/>
          </a:bodyPr>
          <a:lstStyle/>
          <a:p>
            <a:pPr algn="l"/>
            <a:r>
              <a:rPr sz="1000" b="0" i="1">
                <a:solidFill>
                  <a:srgbClr val="FFF4E2"/>
                </a:solidFill>
                <a:latin typeface="Be Vietnam Pro"/>
                <a:ea typeface="Be Vietnam Pro"/>
                <a:cs typeface="Be Vietnam Pro"/>
              </a:rPr>
              <a:t>Slide ẩn — không hiển thị khi trình chiếu. Ảnh: bộ dữ liệu Open Images (Google), giấy phép CC BY 2.0; tượng được tách nền từ ảnh. Huy hiệu, lụa, ruy băng: vẽ bằng mã. Icon: Lucide (ISC). Font: Big Shoulders Display, Be Vietnam Pro (SIL OFL).</a:t>
            </a:r>
          </a:p>
        </p:txBody>
      </p:sp>
      <p:sp>
        <p:nvSpPr>
          <p:cNvPr id="5" name="TextBox 4"/>
          <p:cNvSpPr txBox="1"/>
          <p:nvPr/>
        </p:nvSpPr>
        <p:spPr>
          <a:xfrm>
            <a:off x="548640" y="1645920"/>
            <a:ext cx="5394960" cy="4846320"/>
          </a:xfrm>
          <a:prstGeom prst="rect">
            <a:avLst/>
          </a:prstGeom>
          <a:noFill/>
        </p:spPr>
        <p:txBody>
          <a:bodyPr wrap="square" lIns="0" rIns="0" tIns="0" bIns="0" anchor="t">
            <a:noAutofit/>
          </a:bodyPr>
          <a:lstStyle/>
          <a:p>
            <a:pPr algn="l">
              <a:lnSpc>
                <a:spcPct val="105000"/>
              </a:lnSpc>
            </a:pPr>
            <a:r>
              <a:rPr sz="800" b="0" i="0">
                <a:solidFill>
                  <a:srgbClr val="FFF4E2"/>
                </a:solidFill>
                <a:latin typeface="Be Vietnam Pro"/>
                <a:ea typeface="Be Vietnam Pro"/>
                <a:cs typeface="Be Vietnam Pro"/>
              </a:rPr>
              <a:t>• Lenin statue — Nick Hubbard (Flickr, CC BY 2.0)</a:t>
            </a:r>
          </a:p>
          <a:p>
            <a:pPr algn="l">
              <a:lnSpc>
                <a:spcPct val="105000"/>
              </a:lnSpc>
            </a:pPr>
            <a:r>
              <a:rPr sz="800" b="0" i="0">
                <a:solidFill>
                  <a:srgbClr val="FFF4E2"/>
                </a:solidFill>
                <a:latin typeface="Be Vietnam Pro"/>
                <a:ea typeface="Be Vietnam Pro"/>
                <a:cs typeface="Be Vietnam Pro"/>
              </a:rPr>
              <a:t>• Lenin statue in Besarabsky Square — Jennifer Boyer (Flickr, CC BY 2.0)</a:t>
            </a:r>
          </a:p>
          <a:p>
            <a:pPr algn="l">
              <a:lnSpc>
                <a:spcPct val="105000"/>
              </a:lnSpc>
            </a:pPr>
            <a:r>
              <a:rPr sz="800" b="0" i="0">
                <a:solidFill>
                  <a:srgbClr val="FFF4E2"/>
                </a:solidFill>
                <a:latin typeface="Be Vietnam Pro"/>
                <a:ea typeface="Be Vietnam Pro"/>
                <a:cs typeface="Be Vietnam Pro"/>
              </a:rPr>
              <a:t>• McDonalds in this picture morphed from the Len — Dave Proffer (Flickr, CC BY 2.0)</a:t>
            </a:r>
          </a:p>
          <a:p>
            <a:pPr algn="l">
              <a:lnSpc>
                <a:spcPct val="105000"/>
              </a:lnSpc>
            </a:pPr>
            <a:r>
              <a:rPr sz="800" b="0" i="0">
                <a:solidFill>
                  <a:srgbClr val="FFF4E2"/>
                </a:solidFill>
                <a:latin typeface="Be Vietnam Pro"/>
                <a:ea typeface="Be Vietnam Pro"/>
                <a:cs typeface="Be Vietnam Pro"/>
              </a:rPr>
              <a:t>• Statue of Lenin in Kharkiv&amp;#x27;s Freedom (Svo — Ben Sutherland (Flickr, CC BY 2.0)</a:t>
            </a:r>
          </a:p>
          <a:p>
            <a:pPr algn="l">
              <a:lnSpc>
                <a:spcPct val="105000"/>
              </a:lnSpc>
            </a:pPr>
            <a:r>
              <a:rPr sz="800" b="0" i="0">
                <a:solidFill>
                  <a:srgbClr val="FFF4E2"/>
                </a:solidFill>
                <a:latin typeface="Be Vietnam Pro"/>
                <a:ea typeface="Be Vietnam Pro"/>
                <a:cs typeface="Be Vietnam Pro"/>
              </a:rPr>
              <a:t>• Statue of Karl Marx, Moscow, Russia — flowcomm (Flickr, CC BY 2.0)</a:t>
            </a:r>
          </a:p>
          <a:p>
            <a:pPr algn="l">
              <a:lnSpc>
                <a:spcPct val="105000"/>
              </a:lnSpc>
            </a:pPr>
            <a:r>
              <a:rPr sz="800" b="0" i="0">
                <a:solidFill>
                  <a:srgbClr val="FFF4E2"/>
                </a:solidFill>
                <a:latin typeface="Be Vietnam Pro"/>
                <a:ea typeface="Be Vietnam Pro"/>
                <a:cs typeface="Be Vietnam Pro"/>
              </a:rPr>
              <a:t>• Berlin Marx Engels Forum — Ian Irving (Flickr, CC BY 2.0)</a:t>
            </a:r>
          </a:p>
          <a:p>
            <a:pPr algn="l">
              <a:lnSpc>
                <a:spcPct val="105000"/>
              </a:lnSpc>
            </a:pPr>
            <a:r>
              <a:rPr sz="800" b="0" i="0">
                <a:solidFill>
                  <a:srgbClr val="FFF4E2"/>
                </a:solidFill>
                <a:latin typeface="Be Vietnam Pro"/>
                <a:ea typeface="Be Vietnam Pro"/>
                <a:cs typeface="Be Vietnam Pro"/>
              </a:rPr>
              <a:t>• erstes deutsches Marx-Engels-Denkmal 1957 Plat — gravitat-OFF (Flickr, CC BY 2.0)</a:t>
            </a:r>
          </a:p>
          <a:p>
            <a:pPr algn="l">
              <a:lnSpc>
                <a:spcPct val="105000"/>
              </a:lnSpc>
            </a:pPr>
            <a:r>
              <a:rPr sz="800" b="0" i="0">
                <a:solidFill>
                  <a:srgbClr val="FFF4E2"/>
                </a:solidFill>
                <a:latin typeface="Be Vietnam Pro"/>
                <a:ea typeface="Be Vietnam Pro"/>
                <a:cs typeface="Be Vietnam Pro"/>
              </a:rPr>
              <a:t>• Kant — Fondo Antiguo de la Universidad de Sevilla (Flickr, CC BY 2.0)</a:t>
            </a:r>
          </a:p>
          <a:p>
            <a:pPr algn="l">
              <a:lnSpc>
                <a:spcPct val="105000"/>
              </a:lnSpc>
            </a:pPr>
            <a:r>
              <a:rPr sz="800" b="0" i="0">
                <a:solidFill>
                  <a:srgbClr val="FFF4E2"/>
                </a:solidFill>
                <a:latin typeface="Be Vietnam Pro"/>
                <a:ea typeface="Be Vietnam Pro"/>
                <a:cs typeface="Be Vietnam Pro"/>
              </a:rPr>
              <a:t>• Hegel-Büste auf HU-Campus — quapan (Flickr, CC BY 2.0)</a:t>
            </a:r>
          </a:p>
          <a:p>
            <a:pPr algn="l">
              <a:lnSpc>
                <a:spcPct val="105000"/>
              </a:lnSpc>
            </a:pPr>
            <a:r>
              <a:rPr sz="800" b="0" i="0">
                <a:solidFill>
                  <a:srgbClr val="FFF4E2"/>
                </a:solidFill>
                <a:latin typeface="Be Vietnam Pro"/>
                <a:ea typeface="Be Vietnam Pro"/>
                <a:cs typeface="Be Vietnam Pro"/>
              </a:rPr>
              <a:t>• Aristotle Statue, China National Art Gallery,  — IvanWalsh.com (Flickr, CC BY 2.0)</a:t>
            </a:r>
          </a:p>
          <a:p>
            <a:pPr algn="l">
              <a:lnSpc>
                <a:spcPct val="105000"/>
              </a:lnSpc>
            </a:pPr>
            <a:r>
              <a:rPr sz="800" b="0" i="0">
                <a:solidFill>
                  <a:srgbClr val="FFF4E2"/>
                </a:solidFill>
                <a:latin typeface="Be Vietnam Pro"/>
                <a:ea typeface="Be Vietnam Pro"/>
                <a:cs typeface="Be Vietnam Pro"/>
              </a:rPr>
              <a:t>• Karl Marx, painted portrait _DDC2787 — thierry ehrmann (Flickr, CC BY 2.0)</a:t>
            </a:r>
          </a:p>
          <a:p>
            <a:pPr algn="l">
              <a:lnSpc>
                <a:spcPct val="105000"/>
              </a:lnSpc>
            </a:pPr>
            <a:r>
              <a:rPr sz="800" b="0" i="0">
                <a:solidFill>
                  <a:srgbClr val="FFF4E2"/>
                </a:solidFill>
                <a:latin typeface="Be Vietnam Pro"/>
                <a:ea typeface="Be Vietnam Pro"/>
                <a:cs typeface="Be Vietnam Pro"/>
              </a:rPr>
              <a:t>• M101 - Largest ever Hubble galaxy portrait — Davide De Martin (Flickr, CC BY 2.0)</a:t>
            </a:r>
          </a:p>
        </p:txBody>
      </p:sp>
      <p:sp>
        <p:nvSpPr>
          <p:cNvPr id="6" name="TextBox 5"/>
          <p:cNvSpPr txBox="1"/>
          <p:nvPr/>
        </p:nvSpPr>
        <p:spPr>
          <a:xfrm>
            <a:off x="6126480" y="1645920"/>
            <a:ext cx="5394960" cy="4846320"/>
          </a:xfrm>
          <a:prstGeom prst="rect">
            <a:avLst/>
          </a:prstGeom>
          <a:noFill/>
        </p:spPr>
        <p:txBody>
          <a:bodyPr wrap="square" lIns="0" rIns="0" tIns="0" bIns="0" anchor="t">
            <a:noAutofit/>
          </a:bodyPr>
          <a:lstStyle/>
          <a:p>
            <a:pPr algn="l">
              <a:lnSpc>
                <a:spcPct val="105000"/>
              </a:lnSpc>
            </a:pPr>
            <a:r>
              <a:rPr sz="800" b="0" i="0">
                <a:solidFill>
                  <a:srgbClr val="FFF4E2"/>
                </a:solidFill>
                <a:latin typeface="Be Vietnam Pro"/>
                <a:ea typeface="Be Vietnam Pro"/>
                <a:cs typeface="Be Vietnam Pro"/>
              </a:rPr>
              <a:t>• The Milky Way — atomic80 (Flickr, CC BY 2.0)</a:t>
            </a:r>
          </a:p>
          <a:p>
            <a:pPr algn="l">
              <a:lnSpc>
                <a:spcPct val="105000"/>
              </a:lnSpc>
            </a:pPr>
            <a:r>
              <a:rPr sz="800" b="0" i="0">
                <a:solidFill>
                  <a:srgbClr val="FFF4E2"/>
                </a:solidFill>
                <a:latin typeface="Be Vietnam Pro"/>
                <a:ea typeface="Be Vietnam Pro"/>
                <a:cs typeface="Be Vietnam Pro"/>
              </a:rPr>
              <a:t>• Rembrant Storm On The Sea Of Galilee — FotoGuy 49057 (Flickr, CC BY 2.0)</a:t>
            </a:r>
          </a:p>
          <a:p>
            <a:pPr algn="l">
              <a:lnSpc>
                <a:spcPct val="105000"/>
              </a:lnSpc>
            </a:pPr>
            <a:r>
              <a:rPr sz="800" b="0" i="0">
                <a:solidFill>
                  <a:srgbClr val="FFF4E2"/>
                </a:solidFill>
                <a:latin typeface="Be Vietnam Pro"/>
                <a:ea typeface="Be Vietnam Pro"/>
                <a:cs typeface="Be Vietnam Pro"/>
              </a:rPr>
              <a:t>• Laos - Luang Prabang 84 - young monk at aftern — McKay Savage (Flickr, CC BY 2.0)</a:t>
            </a:r>
          </a:p>
          <a:p>
            <a:pPr algn="l">
              <a:lnSpc>
                <a:spcPct val="105000"/>
              </a:lnSpc>
            </a:pPr>
            <a:r>
              <a:rPr sz="800" b="0" i="0">
                <a:solidFill>
                  <a:srgbClr val="FFF4E2"/>
                </a:solidFill>
                <a:latin typeface="Be Vietnam Pro"/>
                <a:ea typeface="Be Vietnam Pro"/>
                <a:cs typeface="Be Vietnam Pro"/>
              </a:rPr>
              <a:t>• Synthetic Biology Research at NASA Ames — Alexander van Dijk (Flickr, CC BY 2.0)</a:t>
            </a:r>
          </a:p>
          <a:p>
            <a:pPr algn="l">
              <a:lnSpc>
                <a:spcPct val="105000"/>
              </a:lnSpc>
            </a:pPr>
            <a:r>
              <a:rPr sz="800" b="0" i="0">
                <a:solidFill>
                  <a:srgbClr val="FFF4E2"/>
                </a:solidFill>
                <a:latin typeface="Be Vietnam Pro"/>
                <a:ea typeface="Be Vietnam Pro"/>
                <a:cs typeface="Be Vietnam Pro"/>
              </a:rPr>
              <a:t>• Faecal Coliforms analysis — SuSanA Secretariat (Flickr, CC BY 2.0)</a:t>
            </a:r>
          </a:p>
          <a:p>
            <a:pPr algn="l">
              <a:lnSpc>
                <a:spcPct val="105000"/>
              </a:lnSpc>
            </a:pPr>
            <a:r>
              <a:rPr sz="800" b="0" i="0">
                <a:solidFill>
                  <a:srgbClr val="FFF4E2"/>
                </a:solidFill>
                <a:latin typeface="Be Vietnam Pro"/>
                <a:ea typeface="Be Vietnam Pro"/>
                <a:cs typeface="Be Vietnam Pro"/>
              </a:rPr>
              <a:t>• Smelters at Work — Ped Saunders (Flickr, CC BY 2.0)</a:t>
            </a:r>
          </a:p>
          <a:p>
            <a:pPr algn="l">
              <a:lnSpc>
                <a:spcPct val="105000"/>
              </a:lnSpc>
            </a:pPr>
            <a:r>
              <a:rPr sz="800" b="0" i="0">
                <a:solidFill>
                  <a:srgbClr val="FFF4E2"/>
                </a:solidFill>
                <a:latin typeface="Be Vietnam Pro"/>
                <a:ea typeface="Be Vietnam Pro"/>
                <a:cs typeface="Be Vietnam Pro"/>
              </a:rPr>
              <a:t>• Jänschwalde — Tobias Scheck (Flickr, CC BY 2.0)</a:t>
            </a:r>
          </a:p>
          <a:p>
            <a:pPr algn="l">
              <a:lnSpc>
                <a:spcPct val="105000"/>
              </a:lnSpc>
            </a:pPr>
            <a:r>
              <a:rPr sz="800" b="0" i="0">
                <a:solidFill>
                  <a:srgbClr val="FFF4E2"/>
                </a:solidFill>
                <a:latin typeface="Be Vietnam Pro"/>
                <a:ea typeface="Be Vietnam Pro"/>
                <a:cs typeface="Be Vietnam Pro"/>
              </a:rPr>
              <a:t>• Petani — Dhimas Driawan (Flickr, CC BY 2.0)</a:t>
            </a:r>
          </a:p>
          <a:p>
            <a:pPr algn="l">
              <a:lnSpc>
                <a:spcPct val="105000"/>
              </a:lnSpc>
            </a:pPr>
            <a:r>
              <a:rPr sz="800" b="0" i="0">
                <a:solidFill>
                  <a:srgbClr val="FFF4E2"/>
                </a:solidFill>
                <a:latin typeface="Be Vietnam Pro"/>
                <a:ea typeface="Be Vietnam Pro"/>
                <a:cs typeface="Be Vietnam Pro"/>
              </a:rPr>
              <a:t>• Sapa, Vietnam — Matt Worthington (Flickr, CC BY 2.0)</a:t>
            </a:r>
          </a:p>
          <a:p>
            <a:pPr algn="l">
              <a:lnSpc>
                <a:spcPct val="105000"/>
              </a:lnSpc>
            </a:pPr>
            <a:r>
              <a:rPr sz="800" b="0" i="0">
                <a:solidFill>
                  <a:srgbClr val="FFF4E2"/>
                </a:solidFill>
                <a:latin typeface="Be Vietnam Pro"/>
                <a:ea typeface="Be Vietnam Pro"/>
                <a:cs typeface="Be Vietnam Pro"/>
              </a:rPr>
              <a:t>• digital-drugs-binaural-beats — digitalbob8 (Flickr, CC BY 2.0)</a:t>
            </a:r>
          </a:p>
          <a:p>
            <a:pPr algn="l">
              <a:lnSpc>
                <a:spcPct val="105000"/>
              </a:lnSpc>
            </a:pPr>
            <a:r>
              <a:rPr sz="800" b="0" i="0">
                <a:solidFill>
                  <a:srgbClr val="FFF4E2"/>
                </a:solidFill>
                <a:latin typeface="Be Vietnam Pro"/>
                <a:ea typeface="Be Vietnam Pro"/>
                <a:cs typeface="Be Vietnam Pro"/>
              </a:rPr>
              <a:t>• 書櫃一隅 — Maha prajna (Flickr, CC BY 2.0)</a:t>
            </a:r>
          </a:p>
          <a:p>
            <a:pPr algn="l">
              <a:lnSpc>
                <a:spcPct val="105000"/>
              </a:lnSpc>
            </a:pPr>
            <a:r>
              <a:rPr sz="800" b="0" i="0">
                <a:solidFill>
                  <a:srgbClr val="FFF4E2"/>
                </a:solidFill>
                <a:latin typeface="Be Vietnam Pro"/>
                <a:ea typeface="Be Vietnam Pro"/>
                <a:cs typeface="Be Vietnam Pro"/>
              </a:rPr>
              <a:t>• IMG_3017 — moroccanmary (Flickr, CC BY 2.0)</a:t>
            </a:r>
          </a:p>
        </p:txBody>
      </p:sp>
    </p:spTree>
  </p:cSld>
  <p:clrMapOvr>
    <a:masterClrMapping/>
  </p:clrMapOvr>
  <mc:AlternateContent xmlns:mc="http://schemas.openxmlformats.org/markup-compatibility/2006">
    <mc:Choice xmlns:p14="http://schemas.microsoft.com/office/powerpoint/2010/main" Requires="p14">
      <p:transition spd="slow" p14:dur="1200">
        <p:fad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