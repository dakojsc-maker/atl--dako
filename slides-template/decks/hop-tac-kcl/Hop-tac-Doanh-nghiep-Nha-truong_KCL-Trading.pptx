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TRANG 1. HỢP TÁC DOANH NGHIỆP – NHÀ TRƯỜNG</a:t>
            </a:r>
          </a:p>
          <a:p>
            <a:r>
              <a:t>Chủ đề: Kết nối giáo dục với doanh nghiệp – Kiến tạo nguồn nhân lực chất lượng cao.</a:t>
            </a:r>
          </a:p>
          <a:p>
            <a:r>
              <a:t>Thông điệp chính: Cùng hợp tác hôm nay để tạo dựng cơ hội nghề nghiệp và phát triển bền vững cho thế hệ trẻ Việt Nam.</a:t>
            </a:r>
          </a:p>
          <a:p>
            <a:r>
              <a:t>Người trình bày: Ông Kim Sang Won – Đại diện KCL Trading.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TRANG 2. TẠI SAO CẦN HỢP TÁC GIỮA DOANH NGHIỆP VÀ NHÀ TRƯỜNG?</a:t>
            </a:r>
          </a:p>
          <a:p>
            <a:r>
              <a:t>- Nhà trường cung cấp nền tảng kiến thức, kỹ năng và tư duy chuyên môn.</a:t>
            </a:r>
          </a:p>
          <a:p>
            <a:r>
              <a:t>- Doanh nghiệp mang đến môi trường thực tế, kinh nghiệm và yêu cầu của thị trường lao động.</a:t>
            </a:r>
          </a:p>
          <a:p>
            <a:r>
              <a:t>- Sinh viên được tiếp cận công việc thực tế ngay trong quá trình học tập.</a:t>
            </a:r>
          </a:p>
          <a:p>
            <a:r>
              <a:t>- Hai bên phối hợp để thu hẹp khoảng cách giữa đào tạo và nhu cầu tuyển dụng.</a:t>
            </a:r>
          </a:p>
          <a:p>
            <a:r>
              <a:t>Thông điệp: Đào tạo không chỉ để sinh viên tốt nghiệp, mà còn để các em có thể làm việc, phát triển và đóng góp cho xã hội.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TRANG 3. VAI TRÒ CỦA DOANH NGHIỆP TRONG GIÁO DỤC</a:t>
            </a:r>
          </a:p>
          <a:p>
            <a:r>
              <a:t>Doanh nghiệp không chỉ là nơi tuyển dụng sinh viên sau khi tốt nghiệp, mà còn là đối tác đồng hành cùng nhà trường trong suốt quá trình đào tạo.</a:t>
            </a:r>
          </a:p>
          <a:p>
            <a:r>
              <a:t>- Tham gia tư vấn chương trình đào tạo sát với nhu cầu thực tế.</a:t>
            </a:r>
          </a:p>
          <a:p>
            <a:r>
              <a:t>- Tạo điều kiện thực tập, trải nghiệm và tham quan doanh nghiệp.</a:t>
            </a:r>
          </a:p>
          <a:p>
            <a:r>
              <a:t>- Chia sẻ kinh nghiệm nghề nghiệp, kỹ năng làm việc và văn hóa doanh nghiệp.</a:t>
            </a:r>
          </a:p>
          <a:p>
            <a:r>
              <a:t>- Hỗ trợ kết nối việc làm trong nước và quốc tế.</a:t>
            </a:r>
          </a:p>
          <a:p>
            <a:r>
              <a:t>- Cùng nhà trường xây dựng những chương trình đào tạo có giá trị thực tiễn.</a:t>
            </a:r>
          </a:p>
          <a:p>
            <a:r>
              <a:t>Thông điệp: Doanh nghiệp cần tham gia từ quá trình đào tạo, thay vì chỉ chờ đợi nguồn nhân lực sau tốt nghiệp.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TRANG 4. CÁC MÔ HÌNH HỢP TÁC THIẾT THỰC</a:t>
            </a:r>
          </a:p>
          <a:p>
            <a:r>
              <a:t>1. Đào tạo gắn với thực tiễn: Doanh nghiệp tham gia góp ý giáo trình và nội dung đào tạo.</a:t>
            </a:r>
          </a:p>
          <a:p>
            <a:r>
              <a:t>2. Thực tập doanh nghiệp: Sinh viên được trải nghiệm môi trường làm việc thực tế.</a:t>
            </a:r>
          </a:p>
          <a:p>
            <a:r>
              <a:t>3. Định hướng nghề nghiệp: Tổ chức hội thảo, giao lưu với chuyên gia và nhà tuyển dụng.</a:t>
            </a:r>
          </a:p>
          <a:p>
            <a:r>
              <a:t>4. Hỗ trợ tuyển dụng: Kết nối sinh viên với các vị trí việc làm phù hợp.</a:t>
            </a:r>
          </a:p>
          <a:p>
            <a:r>
              <a:t>5. Hợp tác quốc tế: Phát triển chương trình trao đổi, đào tạo và cơ hội làm việc tại Hàn Quốc.</a:t>
            </a:r>
          </a:p>
          <a:p>
            <a:r>
              <a:t>Thông điệp: Hợp tác hiệu quả cần có chương trình cụ thể, mục tiêu rõ ràng và lợi ích thiết thực cho sinh viên.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TRANG 5. KẾT NỐI DOANH NGHIỆP VIỆT NAM – HÀN QUỐC</a:t>
            </a:r>
          </a:p>
          <a:p>
            <a:r>
              <a:t>Trong bối cảnh hợp tác kinh tế Việt Nam – Hàn Quốc ngày càng phát triển, nhu cầu về nguồn nhân lực có chuyên môn, ngoại ngữ và khả năng thích nghi quốc tế ngày càng quan trọng.</a:t>
            </a:r>
          </a:p>
          <a:p>
            <a:r>
              <a:t>- Tăng cường đào tạo tiếng Hàn và kỹ năng giao tiếp trong môi trường quốc tế.</a:t>
            </a:r>
          </a:p>
          <a:p>
            <a:r>
              <a:t>- Kết nối sinh viên với doanh nghiệp Hàn Quốc đang hoạt động tại Việt Nam.</a:t>
            </a:r>
          </a:p>
          <a:p>
            <a:r>
              <a:t>- Mở rộng cơ hội thực tập, việc làm và phát triển nghề nghiệp xuyên quốc gia.</a:t>
            </a:r>
          </a:p>
          <a:p>
            <a:r>
              <a:t>- Chia sẻ văn hóa làm việc, tác phong chuyên nghiệp và tinh thần trách nhiệm.</a:t>
            </a:r>
          </a:p>
          <a:p>
            <a:r>
              <a:t>- Xây dựng mạng lưới hợp tác giữa trường đại học, doanh nghiệp và các đối tác quốc tế.</a:t>
            </a:r>
          </a:p>
          <a:p>
            <a:r>
              <a:t>Thông điệp: Giáo dục là cầu nối quan trọng giúp nhân lực trẻ Việt Nam tiếp cận cơ hội phát triển trong môi trường toàn cầu.</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TRANG 6. CAM KẾT ĐỒNG HÀNH CÙNG NHÀ TRƯỜNG</a:t>
            </a:r>
          </a:p>
          <a:p>
            <a:r>
              <a:t>Với kinh nghiệm kết nối doanh nghiệp và hợp tác giáo dục Việt Nam – Hàn Quốc, KCL Trading mong muốn tiếp tục đồng hành cùng các trường đại học trên những phương diện phù hợp với năng lực và nhu cầu thực tế của hai bên.</a:t>
            </a:r>
          </a:p>
          <a:p>
            <a:r>
              <a:t>- Tăng cường kết nối giữa nhà trường và doanh nghiệp.</a:t>
            </a:r>
          </a:p>
          <a:p>
            <a:r>
              <a:t>- Hỗ trợ định hướng nghề nghiệp và tiếp cận cơ hội thực tập.</a:t>
            </a:r>
          </a:p>
          <a:p>
            <a:r>
              <a:t>- Phối hợp tổ chức các chương trình giao lưu, hội thảo chuyên đề.</a:t>
            </a:r>
          </a:p>
          <a:p>
            <a:r>
              <a:t>- Tìm kiếm cơ hội việc làm phù hợp cho sinh viên.</a:t>
            </a:r>
          </a:p>
          <a:p>
            <a:r>
              <a:t>- Từng bước mở rộng hợp tác với mạng lưới doanh nghiệp Hàn Quốc.</a:t>
            </a:r>
          </a:p>
          <a:p>
            <a:r>
              <a:t>Thông điệp: Chúng tôi mong muốn xây dựng quan hệ đối tác lâu dài, dựa trên sự tin tưởng, trách nhiệm và lợi ích chung.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TRANG 7. CÙNG KIẾN TẠO TƯƠNG LAI – BÀI PHÁT BIỂU KẾT THÚC</a:t>
            </a:r>
          </a:p>
          <a:p>
            <a:r>
              <a:t>Kính thưa quý vị đại biểu, quý thầy cô và các bạn sinh viên!</a:t>
            </a:r>
          </a:p>
          <a:p>
            <a:r>
              <a:t>Tôi tin rằng sự hợp tác giữa doanh nghiệp và nhà trường không chỉ mang lại lợi ích cho hai bên, mà còn mở ra những cơ hội mới cho thế hệ trẻ.</a:t>
            </a:r>
          </a:p>
          <a:p>
            <a:r>
              <a:t>Nhà trường đào tạo tri thức và nhân cách; doanh nghiệp tạo môi trường để tri thức được vận dụng vào thực tiễn. Khi hai bên cùng chung tầm nhìn, chúng ta có thể đào tạo nguồn nhân lực đáp ứng yêu cầu của xã hội và hội nhập quốc tế.</a:t>
            </a:r>
          </a:p>
          <a:p>
            <a:r>
              <a:t>KCL Trading mong muốn trở thành cầu nối tích cực giữa nhà trường, sinh viên và cộng đồng doanh nghiệp Việt Nam – Hàn Quốc.</a:t>
            </a:r>
          </a:p>
          <a:p>
            <a:r>
              <a:t>Tôi hy vọng hôm nay sẽ là khởi đầu cho những chương trình hợp tác thiết thực, hiệu quả và bền vững.</a:t>
            </a:r>
          </a:p>
          <a:p>
            <a:r>
              <a:t>(Chuyển sang slide cuối: lời chúc, cảm ơn và video.)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Xin kính chúc quý vị sức khỏe, thành công. Chúc quý nhà trường ngày càng phát triển!</a:t>
            </a:r>
          </a:p>
          <a:p>
            <a:r>
              <a:t>Xin trân trọng cảm ơn!</a:t>
            </a:r>
          </a:p>
          <a:p/>
          <a:p>
            <a:r>
              <a:t>VIDEO: bấm vào khung video để phát (cần Internet, PowerPoint 2019 / Microsoft 365). Dự phòng: nút “Xem trên YouTube” (https://youtu.be/snzSo2rnOo8) hoặc “Mở trên Google Drive” (https://drive.google.com/file/d/1LCbgjreNxFcYkaJbH8vhz7fwgys_f7Fv/view?usp=drive_link).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 Id="rId4" Type="http://schemas.openxmlformats.org/officeDocument/2006/relationships/image" Target="../media/image5.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6.jpg"/><Relationship Id="rId4" Type="http://schemas.openxmlformats.org/officeDocument/2006/relationships/image" Target="../media/image7.png"/><Relationship Id="rId5" Type="http://schemas.openxmlformats.org/officeDocument/2006/relationships/image" Target="../media/image5.png"/><Relationship Id="rId6" Type="http://schemas.openxmlformats.org/officeDocument/2006/relationships/image" Target="../media/image8.png"/><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jpg"/><Relationship Id="rId9" Type="http://schemas.openxmlformats.org/officeDocument/2006/relationships/image" Target="../media/image8.png"/><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15.jpg"/><Relationship Id="rId4" Type="http://schemas.openxmlformats.org/officeDocument/2006/relationships/image" Target="../media/image16.jpg"/><Relationship Id="rId5" Type="http://schemas.openxmlformats.org/officeDocument/2006/relationships/image" Target="../media/image5.png"/><Relationship Id="rId6" Type="http://schemas.openxmlformats.org/officeDocument/2006/relationships/image" Target="../media/image8.png"/><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17.jpg"/><Relationship Id="rId4" Type="http://schemas.openxmlformats.org/officeDocument/2006/relationships/image" Target="../media/image18.jpg"/><Relationship Id="rId5" Type="http://schemas.openxmlformats.org/officeDocument/2006/relationships/image" Target="../media/image5.png"/><Relationship Id="rId6" Type="http://schemas.openxmlformats.org/officeDocument/2006/relationships/image" Target="../media/image8.png"/><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20.jpg"/><Relationship Id="rId5" Type="http://schemas.openxmlformats.org/officeDocument/2006/relationships/video" Target="https://www.youtube.com/embed/snzSo2rnOo8?feature=oembed" TargetMode="External"/><Relationship Id="rId6" Type="http://schemas.openxmlformats.org/officeDocument/2006/relationships/hyperlink" Target="https://youtu.be/snzSo2rnOo8" TargetMode="External"/><Relationship Id="rId7" Type="http://schemas.openxmlformats.org/officeDocument/2006/relationships/image" Target="../media/image21.png"/><Relationship Id="rId8" Type="http://schemas.openxmlformats.org/officeDocument/2006/relationships/hyperlink" Target="https://drive.google.com/file/d/1LCbgjreNxFcYkaJbH8vhz7fwgys_f7Fv/view?usp=drive_link" TargetMode="External"/><Relationship Id="rId9" Type="http://schemas.openxmlformats.org/officeDocument/2006/relationships/image" Target="../media/image22.png"/><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0D0A"/>
        </a:solidFill>
        <a:effectLst/>
      </p:bgPr>
    </p:bg>
    <p:spTree>
      <p:nvGrpSpPr>
        <p:cNvPr id="1" name=""/>
        <p:cNvGrpSpPr/>
        <p:nvPr/>
      </p:nvGrpSpPr>
      <p:grpSpPr/>
      <p:pic>
        <p:nvPicPr>
          <p:cNvPr id="2" name="!!bg" descr="sv-thuy-loi-bao-ho.jpg"/>
          <p:cNvPicPr>
            <a:picLocks noChangeAspect="1"/>
          </p:cNvPicPr>
          <p:nvPr/>
        </p:nvPicPr>
        <p:blipFill>
          <a:blip r:embed="rId2"/>
          <a:srcRect t="20449" b="4449"/>
          <a:stretch>
            <a:fillRect/>
          </a:stretch>
        </p:blipFill>
        <p:spPr>
          <a:xfrm>
            <a:off x="0" y="0"/>
            <a:ext cx="12191695" cy="6858000"/>
          </a:xfrm>
          <a:prstGeom prst="rect">
            <a:avLst/>
          </a:prstGeom>
        </p:spPr>
      </p:pic>
      <p:sp>
        <p:nvSpPr>
          <p:cNvPr id="3" name="!!shade"/>
          <p:cNvSpPr/>
          <p:nvPr/>
        </p:nvSpPr>
        <p:spPr>
          <a:xfrm>
            <a:off x="0" y="0"/>
            <a:ext cx="12191695" cy="6858000"/>
          </a:xfrm>
          <a:prstGeom prst="rect">
            <a:avLst/>
          </a:prstGeom>
          <a:gradFill rotWithShape="1">
            <a:gsLst>
              <a:gs pos="0">
                <a:srgbClr val="140D0A"/>
              </a:gs>
              <a:gs pos="45000">
                <a:srgbClr val="140D0A">
                  <a:alpha val="71300"/>
                </a:srgbClr>
              </a:gs>
              <a:gs pos="80000">
                <a:srgbClr val="140D0A">
                  <a:alpha val="20700"/>
                </a:srgbClr>
              </a:gs>
              <a:gs pos="100000">
                <a:srgbClr val="140D0A">
                  <a:alpha val="5750"/>
                </a:srgbClr>
              </a:gs>
            </a:gsLst>
            <a:lin ang="0" scaled="0"/>
          </a:gra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4" name="!!kicker"/>
          <p:cNvSpPr/>
          <p:nvPr/>
        </p:nvSpPr>
        <p:spPr>
          <a:xfrm>
            <a:off x="548640" y="502920"/>
            <a:ext cx="1180634" cy="329184"/>
          </a:xfrm>
          <a:prstGeom prst="rect">
            <a:avLst/>
          </a:prstGeom>
          <a:solidFill>
            <a:srgbClr val="F26B1F"/>
          </a:solidFill>
          <a:ln>
            <a:noFill/>
          </a:ln>
          <a:effectLst/>
        </p:spPr>
        <p:style>
          <a:lnRef idx="1">
            <a:schemeClr val="accent1"/>
          </a:lnRef>
          <a:fillRef idx="3">
            <a:schemeClr val="accent1"/>
          </a:fillRef>
          <a:effectRef idx="0">
            <a:schemeClr val="accent1"/>
          </a:effectRef>
          <a:fontRef idx="minor">
            <a:schemeClr val="lt1"/>
          </a:fontRef>
        </p:style>
        <p:txBody>
          <a:bodyPr rtlCol="0" anchor="ctr" lIns="109728" rIns="109728" tIns="18288" bIns="18288" wrap="square"/>
          <a:lstStyle/>
          <a:p>
            <a:pPr algn="ctr"/>
            <a:r>
              <a:rPr sz="1300" b="0" i="0" spc="250">
                <a:solidFill>
                  <a:srgbClr val="FFFFFF"/>
                </a:solidFill>
                <a:latin typeface="Anton"/>
                <a:ea typeface="Anton"/>
                <a:cs typeface="Anton"/>
              </a:rPr>
              <a:t>HỢP TÁC</a:t>
            </a:r>
          </a:p>
        </p:txBody>
      </p:sp>
      <p:sp>
        <p:nvSpPr>
          <p:cNvPr id="5" name="!!t1"/>
          <p:cNvSpPr txBox="1"/>
          <p:nvPr/>
        </p:nvSpPr>
        <p:spPr>
          <a:xfrm>
            <a:off x="548640" y="1143000"/>
            <a:ext cx="7315200" cy="1438656"/>
          </a:xfrm>
          <a:prstGeom prst="rect">
            <a:avLst/>
          </a:prstGeom>
          <a:noFill/>
        </p:spPr>
        <p:txBody>
          <a:bodyPr wrap="none" lIns="0" rIns="0" tIns="0" bIns="0" anchor="b">
            <a:noAutofit/>
          </a:bodyPr>
          <a:lstStyle/>
          <a:p>
            <a:pPr algn="l"/>
            <a:r>
              <a:rPr sz="9600" b="0" i="0">
                <a:solidFill>
                  <a:srgbClr val="FFFFFF"/>
                </a:solidFill>
                <a:effectLst>
                  <a:outerShdw blurRad="128016" dist="54864" dir="5400000" algn="ctr" rotWithShape="0">
                    <a:srgbClr val="000000">
                      <a:alpha val="65000"/>
                    </a:srgbClr>
                  </a:outerShdw>
                </a:effectLst>
                <a:latin typeface="Anton"/>
                <a:ea typeface="Anton"/>
                <a:cs typeface="Anton"/>
              </a:rPr>
              <a:t>DOANH NGHIỆP</a:t>
            </a:r>
          </a:p>
        </p:txBody>
      </p:sp>
      <p:sp>
        <p:nvSpPr>
          <p:cNvPr id="6" name="!!amp"/>
          <p:cNvSpPr txBox="1"/>
          <p:nvPr/>
        </p:nvSpPr>
        <p:spPr>
          <a:xfrm>
            <a:off x="594360" y="2466564"/>
            <a:ext cx="640080" cy="719328"/>
          </a:xfrm>
          <a:prstGeom prst="rect">
            <a:avLst/>
          </a:prstGeom>
          <a:noFill/>
        </p:spPr>
        <p:txBody>
          <a:bodyPr wrap="square" lIns="0" rIns="0" tIns="0" bIns="0" anchor="ctr">
            <a:noAutofit/>
          </a:bodyPr>
          <a:lstStyle/>
          <a:p>
            <a:pPr algn="l"/>
            <a:r>
              <a:rPr sz="4000" b="0" i="0">
                <a:solidFill>
                  <a:srgbClr val="FF8A2A"/>
                </a:solidFill>
                <a:latin typeface="Anton"/>
                <a:ea typeface="Anton"/>
                <a:cs typeface="Anton"/>
              </a:rPr>
              <a:t>&amp;</a:t>
            </a:r>
          </a:p>
        </p:txBody>
      </p:sp>
      <p:sp>
        <p:nvSpPr>
          <p:cNvPr id="7" name="!!t2"/>
          <p:cNvSpPr txBox="1"/>
          <p:nvPr/>
        </p:nvSpPr>
        <p:spPr>
          <a:xfrm>
            <a:off x="1097280" y="2509723"/>
            <a:ext cx="7315200" cy="1438656"/>
          </a:xfrm>
          <a:prstGeom prst="rect">
            <a:avLst/>
          </a:prstGeom>
          <a:noFill/>
        </p:spPr>
        <p:txBody>
          <a:bodyPr wrap="none" lIns="0" rIns="0" tIns="0" bIns="0" anchor="t">
            <a:noAutofit/>
          </a:bodyPr>
          <a:lstStyle/>
          <a:p>
            <a:pPr algn="l"/>
            <a:r>
              <a:rPr sz="9600" b="0" i="0">
                <a:solidFill>
                  <a:srgbClr val="FFFFFF"/>
                </a:solidFill>
                <a:effectLst>
                  <a:outerShdw blurRad="128016" dist="54864" dir="5400000" algn="ctr" rotWithShape="0">
                    <a:srgbClr val="000000">
                      <a:alpha val="65000"/>
                    </a:srgbClr>
                  </a:outerShdw>
                </a:effectLst>
                <a:latin typeface="Anton"/>
                <a:ea typeface="Anton"/>
                <a:cs typeface="Anton"/>
              </a:rPr>
              <a:t>NHÀ TRƯỜNG</a:t>
            </a:r>
          </a:p>
        </p:txBody>
      </p:sp>
      <p:sp>
        <p:nvSpPr>
          <p:cNvPr id="8" name="TextBox 7"/>
          <p:cNvSpPr txBox="1"/>
          <p:nvPr/>
        </p:nvSpPr>
        <p:spPr>
          <a:xfrm>
            <a:off x="594360" y="4039819"/>
            <a:ext cx="7498080" cy="679450"/>
          </a:xfrm>
          <a:prstGeom prst="rect">
            <a:avLst/>
          </a:prstGeom>
          <a:noFill/>
        </p:spPr>
        <p:txBody>
          <a:bodyPr wrap="square" lIns="0" rIns="0" tIns="0" bIns="0" anchor="t">
            <a:noAutofit/>
          </a:bodyPr>
          <a:lstStyle/>
          <a:p>
            <a:pPr algn="l">
              <a:lnSpc>
                <a:spcPct val="115000"/>
              </a:lnSpc>
            </a:pPr>
            <a:r>
              <a:rPr sz="1700" b="0" i="0">
                <a:solidFill>
                  <a:srgbClr val="FFE6D2"/>
                </a:solidFill>
                <a:effectLst>
                  <a:outerShdw blurRad="73152" dist="27432" dir="5400000" algn="ctr" rotWithShape="0">
                    <a:srgbClr val="000000">
                      <a:alpha val="60000"/>
                    </a:srgbClr>
                  </a:outerShdw>
                </a:effectLst>
                <a:latin typeface="Lexend SemiBold"/>
                <a:ea typeface="Lexend SemiBold"/>
                <a:cs typeface="Lexend SemiBold"/>
              </a:rPr>
              <a:t>Kết nối giáo dục với doanh nghiệp –</a:t>
            </a:r>
          </a:p>
          <a:p>
            <a:pPr algn="l">
              <a:lnSpc>
                <a:spcPct val="115000"/>
              </a:lnSpc>
            </a:pPr>
            <a:r>
              <a:rPr sz="1700" b="0" i="0">
                <a:solidFill>
                  <a:srgbClr val="FFE6D2"/>
                </a:solidFill>
                <a:effectLst>
                  <a:outerShdw blurRad="73152" dist="27432" dir="5400000" algn="ctr" rotWithShape="0">
                    <a:srgbClr val="000000">
                      <a:alpha val="60000"/>
                    </a:srgbClr>
                  </a:outerShdw>
                </a:effectLst>
                <a:latin typeface="Lexend SemiBold"/>
                <a:ea typeface="Lexend SemiBold"/>
                <a:cs typeface="Lexend SemiBold"/>
              </a:rPr>
              <a:t>Kiến tạo nguồn nhân lực chất lượng cao</a:t>
            </a:r>
          </a:p>
        </p:txBody>
      </p:sp>
      <p:sp>
        <p:nvSpPr>
          <p:cNvPr id="9" name="Rectangle 8"/>
          <p:cNvSpPr/>
          <p:nvPr/>
        </p:nvSpPr>
        <p:spPr>
          <a:xfrm>
            <a:off x="612648" y="4764989"/>
            <a:ext cx="54864" cy="400050"/>
          </a:xfrm>
          <a:prstGeom prst="rect">
            <a:avLst/>
          </a:prstGeom>
          <a:solidFill>
            <a:srgbClr val="F26B1F"/>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0" name="TextBox 9"/>
          <p:cNvSpPr txBox="1"/>
          <p:nvPr/>
        </p:nvSpPr>
        <p:spPr>
          <a:xfrm>
            <a:off x="822960" y="4719269"/>
            <a:ext cx="6766560" cy="491490"/>
          </a:xfrm>
          <a:prstGeom prst="rect">
            <a:avLst/>
          </a:prstGeom>
          <a:noFill/>
        </p:spPr>
        <p:txBody>
          <a:bodyPr wrap="square" lIns="0" rIns="0" tIns="0" bIns="0" anchor="t">
            <a:noAutofit/>
          </a:bodyPr>
          <a:lstStyle/>
          <a:p>
            <a:pPr algn="l">
              <a:lnSpc>
                <a:spcPct val="130000"/>
              </a:lnSpc>
              <a:spcAft>
                <a:spcPts val="0"/>
              </a:spcAft>
            </a:pPr>
            <a:r>
              <a:rPr sz="1350" b="0" i="0">
                <a:solidFill>
                  <a:srgbClr val="F2E6DE"/>
                </a:solidFill>
                <a:latin typeface="Lexend"/>
                <a:ea typeface="Lexend"/>
                <a:cs typeface="Lexend"/>
              </a:rPr>
              <a:t>Cùng hợp tác hôm nay để tạo dựng </a:t>
            </a:r>
            <a:r>
              <a:rPr sz="1350" b="0" i="0">
                <a:solidFill>
                  <a:srgbClr val="FF8A2A"/>
                </a:solidFill>
                <a:latin typeface="Lexend SemiBold"/>
                <a:ea typeface="Lexend SemiBold"/>
                <a:cs typeface="Lexend SemiBold"/>
              </a:rPr>
              <a:t>cơ hội nghề nghiệp</a:t>
            </a:r>
            <a:r>
              <a:rPr sz="1350" b="0" i="0">
                <a:solidFill>
                  <a:srgbClr val="F2E6DE"/>
                </a:solidFill>
                <a:latin typeface="Lexend"/>
                <a:ea typeface="Lexend"/>
                <a:cs typeface="Lexend"/>
              </a:rPr>
              <a:t> và </a:t>
            </a:r>
            <a:r>
              <a:rPr sz="1350" b="0" i="0">
                <a:solidFill>
                  <a:srgbClr val="FF8A2A"/>
                </a:solidFill>
                <a:latin typeface="Lexend SemiBold"/>
                <a:ea typeface="Lexend SemiBold"/>
                <a:cs typeface="Lexend SemiBold"/>
              </a:rPr>
              <a:t>phát triển bền vững</a:t>
            </a:r>
            <a:r>
              <a:rPr sz="1350" b="0" i="0">
                <a:solidFill>
                  <a:srgbClr val="F2E6DE"/>
                </a:solidFill>
                <a:latin typeface="Lexend"/>
                <a:ea typeface="Lexend"/>
                <a:cs typeface="Lexend"/>
              </a:rPr>
              <a:t> cho thế hệ trẻ Việt Nam.</a:t>
            </a:r>
          </a:p>
        </p:txBody>
      </p:sp>
      <p:sp>
        <p:nvSpPr>
          <p:cNvPr id="11" name="!!pres"/>
          <p:cNvSpPr/>
          <p:nvPr/>
        </p:nvSpPr>
        <p:spPr>
          <a:xfrm>
            <a:off x="548640" y="5669280"/>
            <a:ext cx="5456317" cy="457200"/>
          </a:xfrm>
          <a:prstGeom prst="roundRect">
            <a:avLst>
              <a:gd name="adj" fmla="val 20000"/>
            </a:avLst>
          </a:prstGeom>
          <a:solidFill>
            <a:srgbClr val="000000">
              <a:alpha val="45000"/>
            </a:srgbClr>
          </a:solidFill>
          <a:ln w="9525">
            <a:solidFill>
              <a:srgbClr val="FFFFFF">
                <a:alpha val="45000"/>
              </a:srgbClr>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12" name="Picture 11" descr="user-round_FFFFFF.png"/>
          <p:cNvPicPr>
            <a:picLocks noChangeAspect="1"/>
          </p:cNvPicPr>
          <p:nvPr/>
        </p:nvPicPr>
        <p:blipFill>
          <a:blip r:embed="rId3"/>
          <a:stretch>
            <a:fillRect/>
          </a:stretch>
        </p:blipFill>
        <p:spPr>
          <a:xfrm>
            <a:off x="713232" y="5779008"/>
            <a:ext cx="237744" cy="237744"/>
          </a:xfrm>
          <a:prstGeom prst="rect">
            <a:avLst/>
          </a:prstGeom>
        </p:spPr>
      </p:pic>
      <p:sp>
        <p:nvSpPr>
          <p:cNvPr id="13" name="TextBox 12"/>
          <p:cNvSpPr txBox="1"/>
          <p:nvPr/>
        </p:nvSpPr>
        <p:spPr>
          <a:xfrm>
            <a:off x="1051560" y="5669280"/>
            <a:ext cx="4907677" cy="457200"/>
          </a:xfrm>
          <a:prstGeom prst="rect">
            <a:avLst/>
          </a:prstGeom>
          <a:noFill/>
        </p:spPr>
        <p:txBody>
          <a:bodyPr wrap="square" lIns="0" rIns="0" tIns="0" bIns="0" anchor="ctr">
            <a:noAutofit/>
          </a:bodyPr>
          <a:lstStyle/>
          <a:p>
            <a:pPr algn="l"/>
            <a:r>
              <a:rPr sz="1300" b="0" i="0" spc="120">
                <a:solidFill>
                  <a:srgbClr val="FFFFFF"/>
                </a:solidFill>
                <a:latin typeface="Anton"/>
                <a:ea typeface="Anton"/>
                <a:cs typeface="Anton"/>
              </a:rPr>
              <a:t>NGƯỜI TRÌNH BÀY: ÔNG KIM SANG WON – ĐẠI DIỆN KCL TRADING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400" fill="hold"/>
                                        <p:tgtEl>
                                          <p:spTgt spid="2"/>
                                        </p:tgtEl>
                                        <p:attrNameLst>
                                          <p:attrName>ppt_w</p:attrName>
                                        </p:attrNameLst>
                                      </p:cBhvr>
                                      <p:tavLst>
                                        <p:tav tm="0">
                                          <p:val>
                                            <p:strVal val="#ppt_w*0.7"/>
                                          </p:val>
                                        </p:tav>
                                        <p:tav tm="100000">
                                          <p:val>
                                            <p:strVal val="#ppt_w"/>
                                          </p:val>
                                        </p:tav>
                                      </p:tavLst>
                                    </p:anim>
                                    <p:anim calcmode="lin" valueType="num">
                                      <p:cBhvr additive="base">
                                        <p:cTn id="8" dur="1400" fill="hold"/>
                                        <p:tgtEl>
                                          <p:spTgt spid="2"/>
                                        </p:tgtEl>
                                        <p:attrNameLst>
                                          <p:attrName>ppt_h</p:attrName>
                                        </p:attrNameLst>
                                      </p:cBhvr>
                                      <p:tavLst>
                                        <p:tav tm="0">
                                          <p:val>
                                            <p:strVal val="#ppt_h*0.7"/>
                                          </p:val>
                                        </p:tav>
                                        <p:tav tm="100000">
                                          <p:val>
                                            <p:strVal val="#ppt_h"/>
                                          </p:val>
                                        </p:tav>
                                      </p:tavLst>
                                    </p:anim>
                                    <p:animEffect transition="in" filter="fade">
                                      <p:cBhvr>
                                        <p:cTn id="9" dur="1400"/>
                                        <p:tgtEl>
                                          <p:spTgt spid="2"/>
                                        </p:tgtEl>
                                      </p:cBhvr>
                                    </p:animEffect>
                                  </p:childTnLst>
                                </p:cTn>
                              </p:par>
                              <p:par>
                                <p:cTn id="10" presetID="22" presetClass="entr" presetSubtype="8" fill="hold" grpId="0" nodeType="withEffect">
                                  <p:stCondLst>
                                    <p:cond delay="40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par>
                                <p:cTn id="13" presetID="42" presetClass="entr" presetSubtype="0" fill="hold" grpId="0" nodeType="withEffect">
                                  <p:stCondLst>
                                    <p:cond delay="60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700"/>
                                        <p:tgtEl>
                                          <p:spTgt spid="5"/>
                                        </p:tgtEl>
                                      </p:cBhvr>
                                    </p:animEffect>
                                    <p:anim calcmode="lin" valueType="num">
                                      <p:cBhvr additive="base">
                                        <p:cTn id="16" dur="700" fill="hold"/>
                                        <p:tgtEl>
                                          <p:spTgt spid="5"/>
                                        </p:tgtEl>
                                        <p:attrNameLst>
                                          <p:attrName>ppt_x</p:attrName>
                                        </p:attrNameLst>
                                      </p:cBhvr>
                                      <p:tavLst>
                                        <p:tav tm="0">
                                          <p:val>
                                            <p:strVal val="#ppt_x"/>
                                          </p:val>
                                        </p:tav>
                                        <p:tav tm="100000">
                                          <p:val>
                                            <p:strVal val="#ppt_x"/>
                                          </p:val>
                                        </p:tav>
                                      </p:tavLst>
                                    </p:anim>
                                    <p:anim calcmode="lin" valueType="num">
                                      <p:cBhvr additive="base">
                                        <p:cTn id="17" dur="700" fill="hold"/>
                                        <p:tgtEl>
                                          <p:spTgt spid="5"/>
                                        </p:tgtEl>
                                        <p:attrNameLst>
                                          <p:attrName>ppt_y</p:attrName>
                                        </p:attrNameLst>
                                      </p:cBhvr>
                                      <p:tavLst>
                                        <p:tav tm="0">
                                          <p:val>
                                            <p:strVal val="#ppt_y+.06"/>
                                          </p:val>
                                        </p:tav>
                                        <p:tav tm="100000">
                                          <p:val>
                                            <p:strVal val="#ppt_y"/>
                                          </p:val>
                                        </p:tav>
                                      </p:tavLst>
                                    </p:anim>
                                  </p:childTnLst>
                                </p:cTn>
                              </p:par>
                              <p:par>
                                <p:cTn id="18" presetID="31" presetClass="entr" presetSubtype="0" fill="hold" grpId="0" nodeType="withEffect">
                                  <p:stCondLst>
                                    <p:cond delay="950"/>
                                  </p:stCondLst>
                                  <p:childTnLst>
                                    <p:set>
                                      <p:cBhvr>
                                        <p:cTn id="19" dur="1" fill="hold">
                                          <p:stCondLst>
                                            <p:cond delay="0"/>
                                          </p:stCondLst>
                                        </p:cTn>
                                        <p:tgtEl>
                                          <p:spTgt spid="6"/>
                                        </p:tgtEl>
                                        <p:attrNameLst>
                                          <p:attrName>style.visibility</p:attrName>
                                        </p:attrNameLst>
                                      </p:cBhvr>
                                      <p:to>
                                        <p:strVal val="visible"/>
                                      </p:to>
                                    </p:set>
                                    <p:anim calcmode="lin" valueType="num">
                                      <p:cBhvr additive="base">
                                        <p:cTn id="20" dur="600" fill="hold"/>
                                        <p:tgtEl>
                                          <p:spTgt spid="6"/>
                                        </p:tgtEl>
                                        <p:attrNameLst>
                                          <p:attrName>ppt_w</p:attrName>
                                        </p:attrNameLst>
                                      </p:cBhvr>
                                      <p:tavLst>
                                        <p:tav tm="0">
                                          <p:val>
                                            <p:strVal val="0"/>
                                          </p:val>
                                        </p:tav>
                                        <p:tav tm="100000">
                                          <p:val>
                                            <p:strVal val="#ppt_w"/>
                                          </p:val>
                                        </p:tav>
                                      </p:tavLst>
                                    </p:anim>
                                    <p:anim calcmode="lin" valueType="num">
                                      <p:cBhvr additive="base">
                                        <p:cTn id="21" dur="600" fill="hold"/>
                                        <p:tgtEl>
                                          <p:spTgt spid="6"/>
                                        </p:tgtEl>
                                        <p:attrNameLst>
                                          <p:attrName>ppt_h</p:attrName>
                                        </p:attrNameLst>
                                      </p:cBhvr>
                                      <p:tavLst>
                                        <p:tav tm="0">
                                          <p:val>
                                            <p:strVal val="0"/>
                                          </p:val>
                                        </p:tav>
                                        <p:tav tm="100000">
                                          <p:val>
                                            <p:strVal val="#ppt_h"/>
                                          </p:val>
                                        </p:tav>
                                      </p:tavLst>
                                    </p:anim>
                                    <p:anim calcmode="lin" valueType="num">
                                      <p:cBhvr>
                                        <p:cTn id="22" dur="600" fill="hold"/>
                                        <p:tgtEl>
                                          <p:spTgt spid="6"/>
                                        </p:tgtEl>
                                        <p:attrNameLst>
                                          <p:attrName>style.rotation</p:attrName>
                                        </p:attrNameLst>
                                      </p:cBhvr>
                                      <p:tavLst>
                                        <p:tav tm="0">
                                          <p:val>
                                            <p:fltVal val="90"/>
                                          </p:val>
                                        </p:tav>
                                        <p:tav tm="100000">
                                          <p:val>
                                            <p:fltVal val="0"/>
                                          </p:val>
                                        </p:tav>
                                      </p:tavLst>
                                    </p:anim>
                                    <p:animEffect transition="in" filter="fade">
                                      <p:cBhvr>
                                        <p:cTn id="23" dur="600"/>
                                        <p:tgtEl>
                                          <p:spTgt spid="6"/>
                                        </p:tgtEl>
                                      </p:cBhvr>
                                    </p:animEffect>
                                  </p:childTnLst>
                                </p:cTn>
                              </p:par>
                              <p:par>
                                <p:cTn id="24" presetID="42" presetClass="entr" presetSubtype="0" fill="hold" grpId="0" nodeType="withEffect">
                                  <p:stCondLst>
                                    <p:cond delay="110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700"/>
                                        <p:tgtEl>
                                          <p:spTgt spid="7"/>
                                        </p:tgtEl>
                                      </p:cBhvr>
                                    </p:animEffect>
                                    <p:anim calcmode="lin" valueType="num">
                                      <p:cBhvr additive="base">
                                        <p:cTn id="27" dur="700" fill="hold"/>
                                        <p:tgtEl>
                                          <p:spTgt spid="7"/>
                                        </p:tgtEl>
                                        <p:attrNameLst>
                                          <p:attrName>ppt_x</p:attrName>
                                        </p:attrNameLst>
                                      </p:cBhvr>
                                      <p:tavLst>
                                        <p:tav tm="0">
                                          <p:val>
                                            <p:strVal val="#ppt_x"/>
                                          </p:val>
                                        </p:tav>
                                        <p:tav tm="100000">
                                          <p:val>
                                            <p:strVal val="#ppt_x"/>
                                          </p:val>
                                        </p:tav>
                                      </p:tavLst>
                                    </p:anim>
                                    <p:anim calcmode="lin" valueType="num">
                                      <p:cBhvr additive="base">
                                        <p:cTn id="28" dur="700" fill="hold"/>
                                        <p:tgtEl>
                                          <p:spTgt spid="7"/>
                                        </p:tgtEl>
                                        <p:attrNameLst>
                                          <p:attrName>ppt_y</p:attrName>
                                        </p:attrNameLst>
                                      </p:cBhvr>
                                      <p:tavLst>
                                        <p:tav tm="0">
                                          <p:val>
                                            <p:strVal val="#ppt_y+.06"/>
                                          </p:val>
                                        </p:tav>
                                        <p:tav tm="100000">
                                          <p:val>
                                            <p:strVal val="#ppt_y"/>
                                          </p:val>
                                        </p:tav>
                                      </p:tavLst>
                                    </p:anim>
                                  </p:childTnLst>
                                </p:cTn>
                              </p:par>
                              <p:par>
                                <p:cTn id="29" presetID="10" presetClass="entr" presetSubtype="0" fill="hold" grpId="0" nodeType="withEffect">
                                  <p:stCondLst>
                                    <p:cond delay="150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600"/>
                                        <p:tgtEl>
                                          <p:spTgt spid="8"/>
                                        </p:tgtEl>
                                      </p:cBhvr>
                                    </p:animEffect>
                                  </p:childTnLst>
                                </p:cTn>
                              </p:par>
                              <p:par>
                                <p:cTn id="32" presetID="10" presetClass="entr" presetSubtype="0" fill="hold" grpId="0" nodeType="withEffect">
                                  <p:stCondLst>
                                    <p:cond delay="180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600"/>
                                        <p:tgtEl>
                                          <p:spTgt spid="9"/>
                                        </p:tgtEl>
                                      </p:cBhvr>
                                    </p:animEffect>
                                  </p:childTnLst>
                                </p:cTn>
                              </p:par>
                              <p:par>
                                <p:cTn id="35" presetID="10" presetClass="entr" presetSubtype="0" fill="hold" grpId="0" nodeType="withEffect">
                                  <p:stCondLst>
                                    <p:cond delay="180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600"/>
                                        <p:tgtEl>
                                          <p:spTgt spid="10"/>
                                        </p:tgtEl>
                                      </p:cBhvr>
                                    </p:animEffect>
                                  </p:childTnLst>
                                </p:cTn>
                              </p:par>
                              <p:par>
                                <p:cTn id="38" presetID="10" presetClass="entr" presetSubtype="0" fill="hold" grpId="0" nodeType="withEffect">
                                  <p:stCondLst>
                                    <p:cond delay="210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600"/>
                                        <p:tgtEl>
                                          <p:spTgt spid="11"/>
                                        </p:tgtEl>
                                      </p:cBhvr>
                                    </p:animEffect>
                                  </p:childTnLst>
                                </p:cTn>
                              </p:par>
                              <p:par>
                                <p:cTn id="41" presetID="10" presetClass="entr" presetSubtype="0" fill="hold" grpId="0" nodeType="withEffect">
                                  <p:stCondLst>
                                    <p:cond delay="210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600"/>
                                        <p:tgtEl>
                                          <p:spTgt spid="12"/>
                                        </p:tgtEl>
                                      </p:cBhvr>
                                    </p:animEffect>
                                  </p:childTnLst>
                                </p:cTn>
                              </p:par>
                              <p:par>
                                <p:cTn id="44" presetID="10" presetClass="entr" presetSubtype="0" fill="hold" grpId="0" nodeType="withEffect">
                                  <p:stCondLst>
                                    <p:cond delay="210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6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3" grpId="0" animBg="1"/>
    </p:bld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4EA"/>
        </a:solidFill>
        <a:effectLst/>
      </p:bgPr>
    </p:bg>
    <p:spTree>
      <p:nvGrpSpPr>
        <p:cNvPr id="1" name=""/>
        <p:cNvGrpSpPr/>
        <p:nvPr/>
      </p:nvGrpSpPr>
      <p:grpSpPr/>
      <p:pic>
        <p:nvPicPr>
          <p:cNvPr id="2" name="!!bg" descr="paper.jpg"/>
          <p:cNvPicPr>
            <a:picLocks noChangeAspect="1"/>
          </p:cNvPicPr>
          <p:nvPr/>
        </p:nvPicPr>
        <p:blipFill>
          <a:blip r:embed="rId2"/>
          <a:srcRect l="1" r="1"/>
          <a:stretch>
            <a:fillRect/>
          </a:stretch>
        </p:blipFill>
        <p:spPr>
          <a:xfrm>
            <a:off x="0" y="0"/>
            <a:ext cx="12191695" cy="6858000"/>
          </a:xfrm>
          <a:prstGeom prst="rect">
            <a:avLst/>
          </a:prstGeom>
        </p:spPr>
      </p:pic>
      <p:sp>
        <p:nvSpPr>
          <p:cNvPr id="3" name="!!ttl"/>
          <p:cNvSpPr txBox="1"/>
          <p:nvPr/>
        </p:nvSpPr>
        <p:spPr>
          <a:xfrm>
            <a:off x="548640" y="292608"/>
            <a:ext cx="8595360" cy="566928"/>
          </a:xfrm>
          <a:prstGeom prst="rect">
            <a:avLst/>
          </a:prstGeom>
          <a:noFill/>
        </p:spPr>
        <p:txBody>
          <a:bodyPr wrap="none" lIns="0" rIns="0" tIns="0" bIns="0" anchor="b">
            <a:noAutofit/>
          </a:bodyPr>
          <a:lstStyle/>
          <a:p>
            <a:pPr algn="l"/>
            <a:r>
              <a:rPr sz="2900" b="0" i="0" spc="30">
                <a:solidFill>
                  <a:srgbClr val="7A2A10"/>
                </a:solidFill>
                <a:latin typeface="Anton"/>
                <a:ea typeface="Anton"/>
                <a:cs typeface="Anton"/>
              </a:rPr>
              <a:t>TẠI SAO CẦN HỢP TÁC GIỮA DOANH NGHIỆP VÀ NHÀ TRƯỜNG?</a:t>
            </a:r>
          </a:p>
        </p:txBody>
      </p:sp>
      <p:sp>
        <p:nvSpPr>
          <p:cNvPr id="4" name="!!bar"/>
          <p:cNvSpPr/>
          <p:nvPr/>
        </p:nvSpPr>
        <p:spPr>
          <a:xfrm>
            <a:off x="548640" y="914400"/>
            <a:ext cx="822960" cy="59436"/>
          </a:xfrm>
          <a:prstGeom prst="rect">
            <a:avLst/>
          </a:prstGeom>
          <a:solidFill>
            <a:srgbClr val="F26B1F"/>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5" name="!!crumb"/>
          <p:cNvSpPr txBox="1"/>
          <p:nvPr/>
        </p:nvSpPr>
        <p:spPr>
          <a:xfrm>
            <a:off x="7436815" y="384048"/>
            <a:ext cx="4206240" cy="274320"/>
          </a:xfrm>
          <a:prstGeom prst="rect">
            <a:avLst/>
          </a:prstGeom>
          <a:noFill/>
        </p:spPr>
        <p:txBody>
          <a:bodyPr wrap="square" lIns="0" rIns="0" tIns="0" bIns="0" anchor="t">
            <a:noAutofit/>
          </a:bodyPr>
          <a:lstStyle/>
          <a:p>
            <a:pPr algn="r"/>
            <a:r>
              <a:rPr sz="900" b="0" i="0" spc="80">
                <a:solidFill>
                  <a:srgbClr val="A08576"/>
                </a:solidFill>
                <a:latin typeface="Lexend Medium"/>
                <a:ea typeface="Lexend Medium"/>
                <a:cs typeface="Lexend Medium"/>
              </a:rPr>
              <a:t>HỢP TÁC DOANH NGHIỆP – NHÀ TRƯỜNG</a:t>
            </a:r>
          </a:p>
        </p:txBody>
      </p:sp>
      <p:sp>
        <p:nvSpPr>
          <p:cNvPr id="6" name="TextBox 5"/>
          <p:cNvSpPr txBox="1"/>
          <p:nvPr/>
        </p:nvSpPr>
        <p:spPr>
          <a:xfrm>
            <a:off x="10911535" y="6473952"/>
            <a:ext cx="731520" cy="237744"/>
          </a:xfrm>
          <a:prstGeom prst="rect">
            <a:avLst/>
          </a:prstGeom>
          <a:noFill/>
        </p:spPr>
        <p:txBody>
          <a:bodyPr wrap="square" lIns="0" rIns="0" tIns="0" bIns="0" anchor="t">
            <a:noAutofit/>
          </a:bodyPr>
          <a:lstStyle/>
          <a:p>
            <a:pPr algn="r"/>
            <a:r>
              <a:rPr sz="1000" b="0" i="0">
                <a:solidFill>
                  <a:srgbClr val="A08576"/>
                </a:solidFill>
                <a:latin typeface="Anton"/>
                <a:ea typeface="Anton"/>
                <a:cs typeface="Anton"/>
              </a:rPr>
              <a:t>02</a:t>
            </a:r>
          </a:p>
        </p:txBody>
      </p:sp>
      <p:pic>
        <p:nvPicPr>
          <p:cNvPr id="7" name="Picture 6" descr="sinh-vien-thu-vien.jpg"/>
          <p:cNvPicPr>
            <a:picLocks noChangeAspect="1"/>
          </p:cNvPicPr>
          <p:nvPr/>
        </p:nvPicPr>
        <p:blipFill>
          <a:blip r:embed="rId3"/>
          <a:srcRect l="7749" r="23749"/>
          <a:stretch>
            <a:fillRect/>
          </a:stretch>
        </p:blipFill>
        <p:spPr>
          <a:xfrm>
            <a:off x="548640" y="1234440"/>
            <a:ext cx="5120640" cy="4983480"/>
          </a:xfrm>
          <a:prstGeom prst="roundRect">
            <a:avLst>
              <a:gd name="adj" fmla="val 3302"/>
            </a:avLst>
          </a:prstGeom>
          <a:ln w="31750">
            <a:solidFill>
              <a:srgbClr val="FFFFFF"/>
            </a:solidFill>
          </a:ln>
          <a:effectLst>
            <a:outerShdw blurRad="274320" dist="73152" dir="5400000" algn="ctr" rotWithShape="0">
              <a:srgbClr val="6A2A08">
                <a:alpha val="28000"/>
              </a:srgbClr>
            </a:outerShdw>
          </a:effectLst>
        </p:spPr>
      </p:pic>
      <p:sp>
        <p:nvSpPr>
          <p:cNvPr id="8" name="TextBox 7"/>
          <p:cNvSpPr txBox="1"/>
          <p:nvPr/>
        </p:nvSpPr>
        <p:spPr>
          <a:xfrm>
            <a:off x="6126480" y="1005840"/>
            <a:ext cx="1097280" cy="1097280"/>
          </a:xfrm>
          <a:prstGeom prst="rect">
            <a:avLst/>
          </a:prstGeom>
          <a:noFill/>
        </p:spPr>
        <p:txBody>
          <a:bodyPr wrap="square" lIns="0" rIns="0" tIns="0" bIns="0" anchor="t">
            <a:noAutofit/>
          </a:bodyPr>
          <a:lstStyle/>
          <a:p>
            <a:pPr algn="l"/>
            <a:r>
              <a:rPr sz="9600" b="0" i="0">
                <a:solidFill>
                  <a:srgbClr val="F26B1F"/>
                </a:solidFill>
                <a:latin typeface="Anton"/>
                <a:ea typeface="Anton"/>
                <a:cs typeface="Anton"/>
              </a:rPr>
              <a:t>“</a:t>
            </a:r>
          </a:p>
        </p:txBody>
      </p:sp>
      <p:sp>
        <p:nvSpPr>
          <p:cNvPr id="9" name="TextBox 8"/>
          <p:cNvSpPr txBox="1"/>
          <p:nvPr/>
        </p:nvSpPr>
        <p:spPr>
          <a:xfrm>
            <a:off x="6172200" y="1783080"/>
            <a:ext cx="5470855" cy="1737360"/>
          </a:xfrm>
          <a:prstGeom prst="rect">
            <a:avLst/>
          </a:prstGeom>
          <a:noFill/>
        </p:spPr>
        <p:txBody>
          <a:bodyPr wrap="square" lIns="0" rIns="0" tIns="0" bIns="0" anchor="t">
            <a:noAutofit/>
          </a:bodyPr>
          <a:lstStyle/>
          <a:p>
            <a:pPr algn="l">
              <a:lnSpc>
                <a:spcPct val="125000"/>
              </a:lnSpc>
              <a:spcAft>
                <a:spcPts val="600"/>
              </a:spcAft>
            </a:pPr>
            <a:r>
              <a:rPr sz="1700" b="0" i="0">
                <a:solidFill>
                  <a:srgbClr val="3E2A1F"/>
                </a:solidFill>
                <a:latin typeface="Lexend Medium"/>
                <a:ea typeface="Lexend Medium"/>
                <a:cs typeface="Lexend Medium"/>
              </a:rPr>
              <a:t>Đào tạo không chỉ để sinh viên tốt nghiệp, mà còn để các em có thể </a:t>
            </a:r>
            <a:r>
              <a:rPr sz="1700" b="0" i="0">
                <a:solidFill>
                  <a:srgbClr val="F26B1F"/>
                </a:solidFill>
                <a:latin typeface="Lexend SemiBold"/>
                <a:ea typeface="Lexend SemiBold"/>
                <a:cs typeface="Lexend SemiBold"/>
              </a:rPr>
              <a:t>làm việc, phát triển và đóng góp</a:t>
            </a:r>
            <a:r>
              <a:rPr sz="1700" b="0" i="0">
                <a:solidFill>
                  <a:srgbClr val="3E2A1F"/>
                </a:solidFill>
                <a:latin typeface="Lexend Medium"/>
                <a:ea typeface="Lexend Medium"/>
                <a:cs typeface="Lexend Medium"/>
              </a:rPr>
              <a:t> cho xã hội.</a:t>
            </a:r>
          </a:p>
        </p:txBody>
      </p:sp>
      <p:pic>
        <p:nvPicPr>
          <p:cNvPr id="10" name="Picture 9" descr="circle-check_F26B1F.png"/>
          <p:cNvPicPr>
            <a:picLocks noChangeAspect="1"/>
          </p:cNvPicPr>
          <p:nvPr/>
        </p:nvPicPr>
        <p:blipFill>
          <a:blip r:embed="rId4"/>
          <a:stretch>
            <a:fillRect/>
          </a:stretch>
        </p:blipFill>
        <p:spPr>
          <a:xfrm>
            <a:off x="6172200" y="3685032"/>
            <a:ext cx="274320" cy="274320"/>
          </a:xfrm>
          <a:prstGeom prst="rect">
            <a:avLst/>
          </a:prstGeom>
        </p:spPr>
      </p:pic>
      <p:sp>
        <p:nvSpPr>
          <p:cNvPr id="11" name="TextBox 10"/>
          <p:cNvSpPr txBox="1"/>
          <p:nvPr/>
        </p:nvSpPr>
        <p:spPr>
          <a:xfrm>
            <a:off x="6583680" y="3657600"/>
            <a:ext cx="5059375" cy="442595"/>
          </a:xfrm>
          <a:prstGeom prst="rect">
            <a:avLst/>
          </a:prstGeom>
          <a:noFill/>
        </p:spPr>
        <p:txBody>
          <a:bodyPr wrap="square" lIns="0" rIns="0" tIns="0" bIns="0" anchor="t">
            <a:noAutofit/>
          </a:bodyPr>
          <a:lstStyle/>
          <a:p>
            <a:pPr algn="l">
              <a:lnSpc>
                <a:spcPct val="120000"/>
              </a:lnSpc>
              <a:spcAft>
                <a:spcPts val="0"/>
              </a:spcAft>
            </a:pPr>
            <a:r>
              <a:rPr sz="1250" b="0" i="0">
                <a:solidFill>
                  <a:srgbClr val="F26B1F"/>
                </a:solidFill>
                <a:latin typeface="Lexend SemiBold"/>
                <a:ea typeface="Lexend SemiBold"/>
                <a:cs typeface="Lexend SemiBold"/>
              </a:rPr>
              <a:t>Nhà trường</a:t>
            </a:r>
            <a:r>
              <a:rPr sz="1250" b="0" i="0">
                <a:solidFill>
                  <a:srgbClr val="5A473C"/>
                </a:solidFill>
                <a:latin typeface="Lexend"/>
                <a:ea typeface="Lexend"/>
                <a:cs typeface="Lexend"/>
              </a:rPr>
              <a:t> cung cấp nền tảng kiến thức, kỹ năng và tư duy chuyên môn.</a:t>
            </a:r>
          </a:p>
        </p:txBody>
      </p:sp>
      <p:pic>
        <p:nvPicPr>
          <p:cNvPr id="12" name="Picture 11" descr="circle-check_F26B1F.png"/>
          <p:cNvPicPr>
            <a:picLocks noChangeAspect="1"/>
          </p:cNvPicPr>
          <p:nvPr/>
        </p:nvPicPr>
        <p:blipFill>
          <a:blip r:embed="rId4"/>
          <a:stretch>
            <a:fillRect/>
          </a:stretch>
        </p:blipFill>
        <p:spPr>
          <a:xfrm>
            <a:off x="6172200" y="4328795"/>
            <a:ext cx="274320" cy="274320"/>
          </a:xfrm>
          <a:prstGeom prst="rect">
            <a:avLst/>
          </a:prstGeom>
        </p:spPr>
      </p:pic>
      <p:sp>
        <p:nvSpPr>
          <p:cNvPr id="13" name="TextBox 12"/>
          <p:cNvSpPr txBox="1"/>
          <p:nvPr/>
        </p:nvSpPr>
        <p:spPr>
          <a:xfrm>
            <a:off x="6583680" y="4301363"/>
            <a:ext cx="5059375" cy="442595"/>
          </a:xfrm>
          <a:prstGeom prst="rect">
            <a:avLst/>
          </a:prstGeom>
          <a:noFill/>
        </p:spPr>
        <p:txBody>
          <a:bodyPr wrap="square" lIns="0" rIns="0" tIns="0" bIns="0" anchor="t">
            <a:noAutofit/>
          </a:bodyPr>
          <a:lstStyle/>
          <a:p>
            <a:pPr algn="l">
              <a:lnSpc>
                <a:spcPct val="120000"/>
              </a:lnSpc>
              <a:spcAft>
                <a:spcPts val="0"/>
              </a:spcAft>
            </a:pPr>
            <a:r>
              <a:rPr sz="1250" b="0" i="0">
                <a:solidFill>
                  <a:srgbClr val="F26B1F"/>
                </a:solidFill>
                <a:latin typeface="Lexend SemiBold"/>
                <a:ea typeface="Lexend SemiBold"/>
                <a:cs typeface="Lexend SemiBold"/>
              </a:rPr>
              <a:t>Doanh nghiệp</a:t>
            </a:r>
            <a:r>
              <a:rPr sz="1250" b="0" i="0">
                <a:solidFill>
                  <a:srgbClr val="5A473C"/>
                </a:solidFill>
                <a:latin typeface="Lexend"/>
                <a:ea typeface="Lexend"/>
                <a:cs typeface="Lexend"/>
              </a:rPr>
              <a:t> mang đến môi trường thực tế, kinh nghiệm và yêu cầu của thị trường lao động.</a:t>
            </a:r>
          </a:p>
        </p:txBody>
      </p:sp>
      <p:pic>
        <p:nvPicPr>
          <p:cNvPr id="14" name="Picture 13" descr="circle-check_F26B1F.png"/>
          <p:cNvPicPr>
            <a:picLocks noChangeAspect="1"/>
          </p:cNvPicPr>
          <p:nvPr/>
        </p:nvPicPr>
        <p:blipFill>
          <a:blip r:embed="rId4"/>
          <a:stretch>
            <a:fillRect/>
          </a:stretch>
        </p:blipFill>
        <p:spPr>
          <a:xfrm>
            <a:off x="6172200" y="4972558"/>
            <a:ext cx="274320" cy="274320"/>
          </a:xfrm>
          <a:prstGeom prst="rect">
            <a:avLst/>
          </a:prstGeom>
        </p:spPr>
      </p:pic>
      <p:sp>
        <p:nvSpPr>
          <p:cNvPr id="15" name="TextBox 14"/>
          <p:cNvSpPr txBox="1"/>
          <p:nvPr/>
        </p:nvSpPr>
        <p:spPr>
          <a:xfrm>
            <a:off x="6583680" y="4945126"/>
            <a:ext cx="5059375" cy="442595"/>
          </a:xfrm>
          <a:prstGeom prst="rect">
            <a:avLst/>
          </a:prstGeom>
          <a:noFill/>
        </p:spPr>
        <p:txBody>
          <a:bodyPr wrap="square" lIns="0" rIns="0" tIns="0" bIns="0" anchor="t">
            <a:noAutofit/>
          </a:bodyPr>
          <a:lstStyle/>
          <a:p>
            <a:pPr algn="l">
              <a:lnSpc>
                <a:spcPct val="120000"/>
              </a:lnSpc>
              <a:spcAft>
                <a:spcPts val="0"/>
              </a:spcAft>
            </a:pPr>
            <a:r>
              <a:rPr sz="1250" b="0" i="0">
                <a:solidFill>
                  <a:srgbClr val="F26B1F"/>
                </a:solidFill>
                <a:latin typeface="Lexend SemiBold"/>
                <a:ea typeface="Lexend SemiBold"/>
                <a:cs typeface="Lexend SemiBold"/>
              </a:rPr>
              <a:t>Sinh viên</a:t>
            </a:r>
            <a:r>
              <a:rPr sz="1250" b="0" i="0">
                <a:solidFill>
                  <a:srgbClr val="5A473C"/>
                </a:solidFill>
                <a:latin typeface="Lexend"/>
                <a:ea typeface="Lexend"/>
                <a:cs typeface="Lexend"/>
              </a:rPr>
              <a:t> được tiếp cận công việc thực tế ngay trong quá trình học tập.</a:t>
            </a:r>
          </a:p>
        </p:txBody>
      </p:sp>
      <p:pic>
        <p:nvPicPr>
          <p:cNvPr id="16" name="Picture 15" descr="circle-check_F26B1F.png"/>
          <p:cNvPicPr>
            <a:picLocks noChangeAspect="1"/>
          </p:cNvPicPr>
          <p:nvPr/>
        </p:nvPicPr>
        <p:blipFill>
          <a:blip r:embed="rId4"/>
          <a:stretch>
            <a:fillRect/>
          </a:stretch>
        </p:blipFill>
        <p:spPr>
          <a:xfrm>
            <a:off x="6172200" y="5616321"/>
            <a:ext cx="274320" cy="274320"/>
          </a:xfrm>
          <a:prstGeom prst="rect">
            <a:avLst/>
          </a:prstGeom>
        </p:spPr>
      </p:pic>
      <p:sp>
        <p:nvSpPr>
          <p:cNvPr id="17" name="TextBox 16"/>
          <p:cNvSpPr txBox="1"/>
          <p:nvPr/>
        </p:nvSpPr>
        <p:spPr>
          <a:xfrm>
            <a:off x="6583680" y="5588889"/>
            <a:ext cx="5059375" cy="442595"/>
          </a:xfrm>
          <a:prstGeom prst="rect">
            <a:avLst/>
          </a:prstGeom>
          <a:noFill/>
        </p:spPr>
        <p:txBody>
          <a:bodyPr wrap="square" lIns="0" rIns="0" tIns="0" bIns="0" anchor="t">
            <a:noAutofit/>
          </a:bodyPr>
          <a:lstStyle/>
          <a:p>
            <a:pPr algn="l">
              <a:lnSpc>
                <a:spcPct val="120000"/>
              </a:lnSpc>
              <a:spcAft>
                <a:spcPts val="0"/>
              </a:spcAft>
            </a:pPr>
            <a:r>
              <a:rPr sz="1250" b="0" i="0">
                <a:solidFill>
                  <a:srgbClr val="5A473C"/>
                </a:solidFill>
                <a:latin typeface="Lexend"/>
                <a:ea typeface="Lexend"/>
                <a:cs typeface="Lexend"/>
              </a:rPr>
              <a:t>Hai bên phối hợp để </a:t>
            </a:r>
            <a:r>
              <a:rPr sz="1250" b="0" i="0">
                <a:solidFill>
                  <a:srgbClr val="F26B1F"/>
                </a:solidFill>
                <a:latin typeface="Lexend SemiBold"/>
                <a:ea typeface="Lexend SemiBold"/>
                <a:cs typeface="Lexend SemiBold"/>
              </a:rPr>
              <a:t>thu hẹp khoảng cách</a:t>
            </a:r>
            <a:r>
              <a:rPr sz="1250" b="0" i="0">
                <a:solidFill>
                  <a:srgbClr val="5A473C"/>
                </a:solidFill>
                <a:latin typeface="Lexend"/>
                <a:ea typeface="Lexend"/>
                <a:cs typeface="Lexend"/>
              </a:rPr>
              <a:t> giữa đào tạo và nhu cầu tuyển dụng.</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grpId="0" nodeType="withEffect">
                                  <p:stCondLst>
                                    <p:cond delay="10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par>
                                <p:cTn id="11" presetID="22" presetClass="entr" presetSubtype="8" fill="hold" grpId="0" nodeType="withEffect">
                                  <p:stCondLst>
                                    <p:cond delay="20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par>
                                <p:cTn id="14" presetID="2" presetClass="entr" presetSubtype="8" fill="hold" grpId="0" nodeType="withEffect">
                                  <p:stCondLst>
                                    <p:cond delay="20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800" fill="hold"/>
                                        <p:tgtEl>
                                          <p:spTgt spid="7"/>
                                        </p:tgtEl>
                                        <p:attrNameLst>
                                          <p:attrName>ppt_x</p:attrName>
                                        </p:attrNameLst>
                                      </p:cBhvr>
                                      <p:tavLst>
                                        <p:tav tm="0">
                                          <p:val>
                                            <p:strVal val="0-#ppt_w/2"/>
                                          </p:val>
                                        </p:tav>
                                        <p:tav tm="100000">
                                          <p:val>
                                            <p:strVal val="#ppt_x"/>
                                          </p:val>
                                        </p:tav>
                                      </p:tavLst>
                                    </p:anim>
                                    <p:anim calcmode="lin" valueType="num">
                                      <p:cBhvr additive="base">
                                        <p:cTn id="17" dur="800" fill="hold"/>
                                        <p:tgtEl>
                                          <p:spTgt spid="7"/>
                                        </p:tgtEl>
                                        <p:attrNameLst>
                                          <p:attrName>ppt_y</p:attrName>
                                        </p:attrNameLst>
                                      </p:cBhvr>
                                      <p:tavLst>
                                        <p:tav tm="0">
                                          <p:val>
                                            <p:strVal val="#ppt_y"/>
                                          </p:val>
                                        </p:tav>
                                        <p:tav tm="100000">
                                          <p:val>
                                            <p:strVal val="#ppt_y"/>
                                          </p:val>
                                        </p:tav>
                                      </p:tavLst>
                                    </p:anim>
                                  </p:childTnLst>
                                </p:cTn>
                              </p:par>
                              <p:par>
                                <p:cTn id="18" presetID="22" presetClass="entr" presetSubtype="8" fill="hold" grpId="0" nodeType="withEffect">
                                  <p:stCondLst>
                                    <p:cond delay="300"/>
                                  </p:stCondLst>
                                  <p:childTnLst>
                                    <p:set>
                                      <p:cBhvr>
                                        <p:cTn id="19" dur="1" fill="hold">
                                          <p:stCondLst>
                                            <p:cond delay="0"/>
                                          </p:stCondLst>
                                        </p:cTn>
                                        <p:tgtEl>
                                          <p:spTgt spid="6"/>
                                        </p:tgtEl>
                                        <p:attrNameLst>
                                          <p:attrName>style.visibility</p:attrName>
                                        </p:attrNameLst>
                                      </p:cBhvr>
                                      <p:to>
                                        <p:strVal val="visible"/>
                                      </p:to>
                                    </p:set>
                                    <p:animEffect transition="in" filter="wipe(left)">
                                      <p:cBhvr>
                                        <p:cTn id="20" dur="500"/>
                                        <p:tgtEl>
                                          <p:spTgt spid="6"/>
                                        </p:tgtEl>
                                      </p:cBhvr>
                                    </p:animEffect>
                                  </p:childTnLst>
                                </p:cTn>
                              </p:par>
                              <p:par>
                                <p:cTn id="21" presetID="53" presetClass="entr" presetSubtype="16" fill="hold" grpId="0" nodeType="withEffect">
                                  <p:stCondLst>
                                    <p:cond delay="60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400" fill="hold"/>
                                        <p:tgtEl>
                                          <p:spTgt spid="8"/>
                                        </p:tgtEl>
                                        <p:attrNameLst>
                                          <p:attrName>ppt_w</p:attrName>
                                        </p:attrNameLst>
                                      </p:cBhvr>
                                      <p:tavLst>
                                        <p:tav tm="0">
                                          <p:val>
                                            <p:strVal val="#ppt_w*0.7"/>
                                          </p:val>
                                        </p:tav>
                                        <p:tav tm="100000">
                                          <p:val>
                                            <p:strVal val="#ppt_w"/>
                                          </p:val>
                                        </p:tav>
                                      </p:tavLst>
                                    </p:anim>
                                    <p:anim calcmode="lin" valueType="num">
                                      <p:cBhvr additive="base">
                                        <p:cTn id="24" dur="400" fill="hold"/>
                                        <p:tgtEl>
                                          <p:spTgt spid="8"/>
                                        </p:tgtEl>
                                        <p:attrNameLst>
                                          <p:attrName>ppt_h</p:attrName>
                                        </p:attrNameLst>
                                      </p:cBhvr>
                                      <p:tavLst>
                                        <p:tav tm="0">
                                          <p:val>
                                            <p:strVal val="#ppt_h*0.7"/>
                                          </p:val>
                                        </p:tav>
                                        <p:tav tm="100000">
                                          <p:val>
                                            <p:strVal val="#ppt_h"/>
                                          </p:val>
                                        </p:tav>
                                      </p:tavLst>
                                    </p:anim>
                                    <p:animEffect transition="in" filter="fade">
                                      <p:cBhvr>
                                        <p:cTn id="25" dur="400"/>
                                        <p:tgtEl>
                                          <p:spTgt spid="8"/>
                                        </p:tgtEl>
                                      </p:cBhvr>
                                    </p:animEffect>
                                  </p:childTnLst>
                                </p:cTn>
                              </p:par>
                              <p:par>
                                <p:cTn id="26" presetID="10" presetClass="entr" presetSubtype="0" fill="hold" grpId="0" nodeType="withEffect">
                                  <p:stCondLst>
                                    <p:cond delay="80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700"/>
                                        <p:tgtEl>
                                          <p:spTgt spid="9"/>
                                        </p:tgtEl>
                                      </p:cBhvr>
                                    </p:animEffect>
                                  </p:childTnLst>
                                </p:cTn>
                              </p:par>
                              <p:par>
                                <p:cTn id="29" presetID="42" presetClass="entr" presetSubtype="0" fill="hold" grpId="0" nodeType="withEffect">
                                  <p:stCondLst>
                                    <p:cond delay="130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50"/>
                                        <p:tgtEl>
                                          <p:spTgt spid="10"/>
                                        </p:tgtEl>
                                      </p:cBhvr>
                                    </p:animEffect>
                                    <p:anim calcmode="lin" valueType="num">
                                      <p:cBhvr additive="base">
                                        <p:cTn id="32" dur="450" fill="hold"/>
                                        <p:tgtEl>
                                          <p:spTgt spid="10"/>
                                        </p:tgtEl>
                                        <p:attrNameLst>
                                          <p:attrName>ppt_x</p:attrName>
                                        </p:attrNameLst>
                                      </p:cBhvr>
                                      <p:tavLst>
                                        <p:tav tm="0">
                                          <p:val>
                                            <p:strVal val="#ppt_x"/>
                                          </p:val>
                                        </p:tav>
                                        <p:tav tm="100000">
                                          <p:val>
                                            <p:strVal val="#ppt_x"/>
                                          </p:val>
                                        </p:tav>
                                      </p:tavLst>
                                    </p:anim>
                                    <p:anim calcmode="lin" valueType="num">
                                      <p:cBhvr additive="base">
                                        <p:cTn id="33" dur="450" fill="hold"/>
                                        <p:tgtEl>
                                          <p:spTgt spid="10"/>
                                        </p:tgtEl>
                                        <p:attrNameLst>
                                          <p:attrName>ppt_y</p:attrName>
                                        </p:attrNameLst>
                                      </p:cBhvr>
                                      <p:tavLst>
                                        <p:tav tm="0">
                                          <p:val>
                                            <p:strVal val="#ppt_y+.06"/>
                                          </p:val>
                                        </p:tav>
                                        <p:tav tm="100000">
                                          <p:val>
                                            <p:strVal val="#ppt_y"/>
                                          </p:val>
                                        </p:tav>
                                      </p:tavLst>
                                    </p:anim>
                                  </p:childTnLst>
                                </p:cTn>
                              </p:par>
                              <p:par>
                                <p:cTn id="34" presetID="42" presetClass="entr" presetSubtype="0" fill="hold" grpId="0" nodeType="withEffect">
                                  <p:stCondLst>
                                    <p:cond delay="130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450"/>
                                        <p:tgtEl>
                                          <p:spTgt spid="11"/>
                                        </p:tgtEl>
                                      </p:cBhvr>
                                    </p:animEffect>
                                    <p:anim calcmode="lin" valueType="num">
                                      <p:cBhvr additive="base">
                                        <p:cTn id="37" dur="450" fill="hold"/>
                                        <p:tgtEl>
                                          <p:spTgt spid="11"/>
                                        </p:tgtEl>
                                        <p:attrNameLst>
                                          <p:attrName>ppt_x</p:attrName>
                                        </p:attrNameLst>
                                      </p:cBhvr>
                                      <p:tavLst>
                                        <p:tav tm="0">
                                          <p:val>
                                            <p:strVal val="#ppt_x"/>
                                          </p:val>
                                        </p:tav>
                                        <p:tav tm="100000">
                                          <p:val>
                                            <p:strVal val="#ppt_x"/>
                                          </p:val>
                                        </p:tav>
                                      </p:tavLst>
                                    </p:anim>
                                    <p:anim calcmode="lin" valueType="num">
                                      <p:cBhvr additive="base">
                                        <p:cTn id="38" dur="450" fill="hold"/>
                                        <p:tgtEl>
                                          <p:spTgt spid="11"/>
                                        </p:tgtEl>
                                        <p:attrNameLst>
                                          <p:attrName>ppt_y</p:attrName>
                                        </p:attrNameLst>
                                      </p:cBhvr>
                                      <p:tavLst>
                                        <p:tav tm="0">
                                          <p:val>
                                            <p:strVal val="#ppt_y+.06"/>
                                          </p:val>
                                        </p:tav>
                                        <p:tav tm="100000">
                                          <p:val>
                                            <p:strVal val="#ppt_y"/>
                                          </p:val>
                                        </p:tav>
                                      </p:tavLst>
                                    </p:anim>
                                  </p:childTnLst>
                                </p:cTn>
                              </p:par>
                              <p:par>
                                <p:cTn id="39" presetID="42" presetClass="entr" presetSubtype="0" fill="hold" grpId="0" nodeType="withEffect">
                                  <p:stCondLst>
                                    <p:cond delay="145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450"/>
                                        <p:tgtEl>
                                          <p:spTgt spid="12"/>
                                        </p:tgtEl>
                                      </p:cBhvr>
                                    </p:animEffect>
                                    <p:anim calcmode="lin" valueType="num">
                                      <p:cBhvr additive="base">
                                        <p:cTn id="42" dur="450" fill="hold"/>
                                        <p:tgtEl>
                                          <p:spTgt spid="12"/>
                                        </p:tgtEl>
                                        <p:attrNameLst>
                                          <p:attrName>ppt_x</p:attrName>
                                        </p:attrNameLst>
                                      </p:cBhvr>
                                      <p:tavLst>
                                        <p:tav tm="0">
                                          <p:val>
                                            <p:strVal val="#ppt_x"/>
                                          </p:val>
                                        </p:tav>
                                        <p:tav tm="100000">
                                          <p:val>
                                            <p:strVal val="#ppt_x"/>
                                          </p:val>
                                        </p:tav>
                                      </p:tavLst>
                                    </p:anim>
                                    <p:anim calcmode="lin" valueType="num">
                                      <p:cBhvr additive="base">
                                        <p:cTn id="43" dur="450" fill="hold"/>
                                        <p:tgtEl>
                                          <p:spTgt spid="12"/>
                                        </p:tgtEl>
                                        <p:attrNameLst>
                                          <p:attrName>ppt_y</p:attrName>
                                        </p:attrNameLst>
                                      </p:cBhvr>
                                      <p:tavLst>
                                        <p:tav tm="0">
                                          <p:val>
                                            <p:strVal val="#ppt_y+.06"/>
                                          </p:val>
                                        </p:tav>
                                        <p:tav tm="100000">
                                          <p:val>
                                            <p:strVal val="#ppt_y"/>
                                          </p:val>
                                        </p:tav>
                                      </p:tavLst>
                                    </p:anim>
                                  </p:childTnLst>
                                </p:cTn>
                              </p:par>
                              <p:par>
                                <p:cTn id="44" presetID="42" presetClass="entr" presetSubtype="0" fill="hold" grpId="0" nodeType="withEffect">
                                  <p:stCondLst>
                                    <p:cond delay="145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450"/>
                                        <p:tgtEl>
                                          <p:spTgt spid="13"/>
                                        </p:tgtEl>
                                      </p:cBhvr>
                                    </p:animEffect>
                                    <p:anim calcmode="lin" valueType="num">
                                      <p:cBhvr additive="base">
                                        <p:cTn id="47" dur="450" fill="hold"/>
                                        <p:tgtEl>
                                          <p:spTgt spid="13"/>
                                        </p:tgtEl>
                                        <p:attrNameLst>
                                          <p:attrName>ppt_x</p:attrName>
                                        </p:attrNameLst>
                                      </p:cBhvr>
                                      <p:tavLst>
                                        <p:tav tm="0">
                                          <p:val>
                                            <p:strVal val="#ppt_x"/>
                                          </p:val>
                                        </p:tav>
                                        <p:tav tm="100000">
                                          <p:val>
                                            <p:strVal val="#ppt_x"/>
                                          </p:val>
                                        </p:tav>
                                      </p:tavLst>
                                    </p:anim>
                                    <p:anim calcmode="lin" valueType="num">
                                      <p:cBhvr additive="base">
                                        <p:cTn id="48" dur="450" fill="hold"/>
                                        <p:tgtEl>
                                          <p:spTgt spid="13"/>
                                        </p:tgtEl>
                                        <p:attrNameLst>
                                          <p:attrName>ppt_y</p:attrName>
                                        </p:attrNameLst>
                                      </p:cBhvr>
                                      <p:tavLst>
                                        <p:tav tm="0">
                                          <p:val>
                                            <p:strVal val="#ppt_y+.06"/>
                                          </p:val>
                                        </p:tav>
                                        <p:tav tm="100000">
                                          <p:val>
                                            <p:strVal val="#ppt_y"/>
                                          </p:val>
                                        </p:tav>
                                      </p:tavLst>
                                    </p:anim>
                                  </p:childTnLst>
                                </p:cTn>
                              </p:par>
                              <p:par>
                                <p:cTn id="49" presetID="42" presetClass="entr" presetSubtype="0" fill="hold" grpId="0" nodeType="withEffect">
                                  <p:stCondLst>
                                    <p:cond delay="1599"/>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450"/>
                                        <p:tgtEl>
                                          <p:spTgt spid="14"/>
                                        </p:tgtEl>
                                      </p:cBhvr>
                                    </p:animEffect>
                                    <p:anim calcmode="lin" valueType="num">
                                      <p:cBhvr additive="base">
                                        <p:cTn id="52" dur="450" fill="hold"/>
                                        <p:tgtEl>
                                          <p:spTgt spid="14"/>
                                        </p:tgtEl>
                                        <p:attrNameLst>
                                          <p:attrName>ppt_x</p:attrName>
                                        </p:attrNameLst>
                                      </p:cBhvr>
                                      <p:tavLst>
                                        <p:tav tm="0">
                                          <p:val>
                                            <p:strVal val="#ppt_x"/>
                                          </p:val>
                                        </p:tav>
                                        <p:tav tm="100000">
                                          <p:val>
                                            <p:strVal val="#ppt_x"/>
                                          </p:val>
                                        </p:tav>
                                      </p:tavLst>
                                    </p:anim>
                                    <p:anim calcmode="lin" valueType="num">
                                      <p:cBhvr additive="base">
                                        <p:cTn id="53" dur="450" fill="hold"/>
                                        <p:tgtEl>
                                          <p:spTgt spid="14"/>
                                        </p:tgtEl>
                                        <p:attrNameLst>
                                          <p:attrName>ppt_y</p:attrName>
                                        </p:attrNameLst>
                                      </p:cBhvr>
                                      <p:tavLst>
                                        <p:tav tm="0">
                                          <p:val>
                                            <p:strVal val="#ppt_y+.06"/>
                                          </p:val>
                                        </p:tav>
                                        <p:tav tm="100000">
                                          <p:val>
                                            <p:strVal val="#ppt_y"/>
                                          </p:val>
                                        </p:tav>
                                      </p:tavLst>
                                    </p:anim>
                                  </p:childTnLst>
                                </p:cTn>
                              </p:par>
                              <p:par>
                                <p:cTn id="54" presetID="42" presetClass="entr" presetSubtype="0" fill="hold" grpId="0" nodeType="withEffect">
                                  <p:stCondLst>
                                    <p:cond delay="1599"/>
                                  </p:stCondLst>
                                  <p:childTnLst>
                                    <p:set>
                                      <p:cBhvr>
                                        <p:cTn id="55" dur="1" fill="hold">
                                          <p:stCondLst>
                                            <p:cond delay="0"/>
                                          </p:stCondLst>
                                        </p:cTn>
                                        <p:tgtEl>
                                          <p:spTgt spid="15"/>
                                        </p:tgtEl>
                                        <p:attrNameLst>
                                          <p:attrName>style.visibility</p:attrName>
                                        </p:attrNameLst>
                                      </p:cBhvr>
                                      <p:to>
                                        <p:strVal val="visible"/>
                                      </p:to>
                                    </p:set>
                                    <p:animEffect transition="in" filter="fade">
                                      <p:cBhvr>
                                        <p:cTn id="56" dur="450"/>
                                        <p:tgtEl>
                                          <p:spTgt spid="15"/>
                                        </p:tgtEl>
                                      </p:cBhvr>
                                    </p:animEffect>
                                    <p:anim calcmode="lin" valueType="num">
                                      <p:cBhvr additive="base">
                                        <p:cTn id="57" dur="450" fill="hold"/>
                                        <p:tgtEl>
                                          <p:spTgt spid="15"/>
                                        </p:tgtEl>
                                        <p:attrNameLst>
                                          <p:attrName>ppt_x</p:attrName>
                                        </p:attrNameLst>
                                      </p:cBhvr>
                                      <p:tavLst>
                                        <p:tav tm="0">
                                          <p:val>
                                            <p:strVal val="#ppt_x"/>
                                          </p:val>
                                        </p:tav>
                                        <p:tav tm="100000">
                                          <p:val>
                                            <p:strVal val="#ppt_x"/>
                                          </p:val>
                                        </p:tav>
                                      </p:tavLst>
                                    </p:anim>
                                    <p:anim calcmode="lin" valueType="num">
                                      <p:cBhvr additive="base">
                                        <p:cTn id="58" dur="450" fill="hold"/>
                                        <p:tgtEl>
                                          <p:spTgt spid="15"/>
                                        </p:tgtEl>
                                        <p:attrNameLst>
                                          <p:attrName>ppt_y</p:attrName>
                                        </p:attrNameLst>
                                      </p:cBhvr>
                                      <p:tavLst>
                                        <p:tav tm="0">
                                          <p:val>
                                            <p:strVal val="#ppt_y+.06"/>
                                          </p:val>
                                        </p:tav>
                                        <p:tav tm="100000">
                                          <p:val>
                                            <p:strVal val="#ppt_y"/>
                                          </p:val>
                                        </p:tav>
                                      </p:tavLst>
                                    </p:anim>
                                  </p:childTnLst>
                                </p:cTn>
                              </p:par>
                              <p:par>
                                <p:cTn id="59" presetID="42" presetClass="entr" presetSubtype="0" fill="hold" grpId="0" nodeType="withEffect">
                                  <p:stCondLst>
                                    <p:cond delay="1749"/>
                                  </p:stCondLst>
                                  <p:childTnLst>
                                    <p:set>
                                      <p:cBhvr>
                                        <p:cTn id="60" dur="1" fill="hold">
                                          <p:stCondLst>
                                            <p:cond delay="0"/>
                                          </p:stCondLst>
                                        </p:cTn>
                                        <p:tgtEl>
                                          <p:spTgt spid="16"/>
                                        </p:tgtEl>
                                        <p:attrNameLst>
                                          <p:attrName>style.visibility</p:attrName>
                                        </p:attrNameLst>
                                      </p:cBhvr>
                                      <p:to>
                                        <p:strVal val="visible"/>
                                      </p:to>
                                    </p:set>
                                    <p:animEffect transition="in" filter="fade">
                                      <p:cBhvr>
                                        <p:cTn id="61" dur="450"/>
                                        <p:tgtEl>
                                          <p:spTgt spid="16"/>
                                        </p:tgtEl>
                                      </p:cBhvr>
                                    </p:animEffect>
                                    <p:anim calcmode="lin" valueType="num">
                                      <p:cBhvr additive="base">
                                        <p:cTn id="62" dur="450" fill="hold"/>
                                        <p:tgtEl>
                                          <p:spTgt spid="16"/>
                                        </p:tgtEl>
                                        <p:attrNameLst>
                                          <p:attrName>ppt_x</p:attrName>
                                        </p:attrNameLst>
                                      </p:cBhvr>
                                      <p:tavLst>
                                        <p:tav tm="0">
                                          <p:val>
                                            <p:strVal val="#ppt_x"/>
                                          </p:val>
                                        </p:tav>
                                        <p:tav tm="100000">
                                          <p:val>
                                            <p:strVal val="#ppt_x"/>
                                          </p:val>
                                        </p:tav>
                                      </p:tavLst>
                                    </p:anim>
                                    <p:anim calcmode="lin" valueType="num">
                                      <p:cBhvr additive="base">
                                        <p:cTn id="63" dur="450" fill="hold"/>
                                        <p:tgtEl>
                                          <p:spTgt spid="16"/>
                                        </p:tgtEl>
                                        <p:attrNameLst>
                                          <p:attrName>ppt_y</p:attrName>
                                        </p:attrNameLst>
                                      </p:cBhvr>
                                      <p:tavLst>
                                        <p:tav tm="0">
                                          <p:val>
                                            <p:strVal val="#ppt_y+.06"/>
                                          </p:val>
                                        </p:tav>
                                        <p:tav tm="100000">
                                          <p:val>
                                            <p:strVal val="#ppt_y"/>
                                          </p:val>
                                        </p:tav>
                                      </p:tavLst>
                                    </p:anim>
                                  </p:childTnLst>
                                </p:cTn>
                              </p:par>
                              <p:par>
                                <p:cTn id="64" presetID="42" presetClass="entr" presetSubtype="0" fill="hold" grpId="0" nodeType="withEffect">
                                  <p:stCondLst>
                                    <p:cond delay="1749"/>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450"/>
                                        <p:tgtEl>
                                          <p:spTgt spid="17"/>
                                        </p:tgtEl>
                                      </p:cBhvr>
                                    </p:animEffect>
                                    <p:anim calcmode="lin" valueType="num">
                                      <p:cBhvr additive="base">
                                        <p:cTn id="67" dur="450" fill="hold"/>
                                        <p:tgtEl>
                                          <p:spTgt spid="17"/>
                                        </p:tgtEl>
                                        <p:attrNameLst>
                                          <p:attrName>ppt_x</p:attrName>
                                        </p:attrNameLst>
                                      </p:cBhvr>
                                      <p:tavLst>
                                        <p:tav tm="0">
                                          <p:val>
                                            <p:strVal val="#ppt_x"/>
                                          </p:val>
                                        </p:tav>
                                        <p:tav tm="100000">
                                          <p:val>
                                            <p:strVal val="#ppt_x"/>
                                          </p:val>
                                        </p:tav>
                                      </p:tavLst>
                                    </p:anim>
                                    <p:anim calcmode="lin" valueType="num">
                                      <p:cBhvr additive="base">
                                        <p:cTn id="68" dur="450" fill="hold"/>
                                        <p:tgtEl>
                                          <p:spTgt spid="17"/>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8" grpId="0" animBg="1"/>
      <p:bldP spid="9" grpId="0" animBg="1"/>
      <p:bldP spid="11" grpId="0" animBg="1"/>
      <p:bldP spid="13" grpId="0" animBg="1"/>
      <p:bldP spid="15" grpId="0" animBg="1"/>
      <p:bldP spid="17"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4EA"/>
        </a:solidFill>
        <a:effectLst/>
      </p:bgPr>
    </p:bg>
    <p:spTree>
      <p:nvGrpSpPr>
        <p:cNvPr id="1" name=""/>
        <p:cNvGrpSpPr/>
        <p:nvPr/>
      </p:nvGrpSpPr>
      <p:grpSpPr/>
      <p:pic>
        <p:nvPicPr>
          <p:cNvPr id="2" name="!!bg" descr="paper.jpg"/>
          <p:cNvPicPr>
            <a:picLocks noChangeAspect="1"/>
          </p:cNvPicPr>
          <p:nvPr/>
        </p:nvPicPr>
        <p:blipFill>
          <a:blip r:embed="rId2"/>
          <a:srcRect l="1" r="1"/>
          <a:stretch>
            <a:fillRect/>
          </a:stretch>
        </p:blipFill>
        <p:spPr>
          <a:xfrm>
            <a:off x="0" y="0"/>
            <a:ext cx="12191695" cy="6858000"/>
          </a:xfrm>
          <a:prstGeom prst="rect">
            <a:avLst/>
          </a:prstGeom>
        </p:spPr>
      </p:pic>
      <p:sp>
        <p:nvSpPr>
          <p:cNvPr id="3" name="!!ttl"/>
          <p:cNvSpPr txBox="1"/>
          <p:nvPr/>
        </p:nvSpPr>
        <p:spPr>
          <a:xfrm>
            <a:off x="548640" y="292608"/>
            <a:ext cx="8595360" cy="566928"/>
          </a:xfrm>
          <a:prstGeom prst="rect">
            <a:avLst/>
          </a:prstGeom>
          <a:noFill/>
        </p:spPr>
        <p:txBody>
          <a:bodyPr wrap="none" lIns="0" rIns="0" tIns="0" bIns="0" anchor="b">
            <a:noAutofit/>
          </a:bodyPr>
          <a:lstStyle/>
          <a:p>
            <a:pPr algn="l"/>
            <a:r>
              <a:rPr sz="3000" b="0" i="0" spc="30">
                <a:solidFill>
                  <a:srgbClr val="7A2A10"/>
                </a:solidFill>
                <a:latin typeface="Anton"/>
                <a:ea typeface="Anton"/>
                <a:cs typeface="Anton"/>
              </a:rPr>
              <a:t>VAI TRÒ CỦA DOANH NGHIỆP TRONG GIÁO DỤC</a:t>
            </a:r>
          </a:p>
        </p:txBody>
      </p:sp>
      <p:sp>
        <p:nvSpPr>
          <p:cNvPr id="4" name="!!bar"/>
          <p:cNvSpPr/>
          <p:nvPr/>
        </p:nvSpPr>
        <p:spPr>
          <a:xfrm>
            <a:off x="548640" y="914400"/>
            <a:ext cx="822960" cy="59436"/>
          </a:xfrm>
          <a:prstGeom prst="rect">
            <a:avLst/>
          </a:prstGeom>
          <a:solidFill>
            <a:srgbClr val="F26B1F"/>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5" name="!!crumb"/>
          <p:cNvSpPr txBox="1"/>
          <p:nvPr/>
        </p:nvSpPr>
        <p:spPr>
          <a:xfrm>
            <a:off x="7436815" y="384048"/>
            <a:ext cx="4206240" cy="274320"/>
          </a:xfrm>
          <a:prstGeom prst="rect">
            <a:avLst/>
          </a:prstGeom>
          <a:noFill/>
        </p:spPr>
        <p:txBody>
          <a:bodyPr wrap="square" lIns="0" rIns="0" tIns="0" bIns="0" anchor="t">
            <a:noAutofit/>
          </a:bodyPr>
          <a:lstStyle/>
          <a:p>
            <a:pPr algn="r"/>
            <a:r>
              <a:rPr sz="900" b="0" i="0" spc="80">
                <a:solidFill>
                  <a:srgbClr val="A08576"/>
                </a:solidFill>
                <a:latin typeface="Lexend Medium"/>
                <a:ea typeface="Lexend Medium"/>
                <a:cs typeface="Lexend Medium"/>
              </a:rPr>
              <a:t>HỢP TÁC DOANH NGHIỆP – NHÀ TRƯỜNG</a:t>
            </a:r>
          </a:p>
        </p:txBody>
      </p:sp>
      <p:sp>
        <p:nvSpPr>
          <p:cNvPr id="6" name="TextBox 5"/>
          <p:cNvSpPr txBox="1"/>
          <p:nvPr/>
        </p:nvSpPr>
        <p:spPr>
          <a:xfrm>
            <a:off x="10911535" y="6473952"/>
            <a:ext cx="731520" cy="237744"/>
          </a:xfrm>
          <a:prstGeom prst="rect">
            <a:avLst/>
          </a:prstGeom>
          <a:noFill/>
        </p:spPr>
        <p:txBody>
          <a:bodyPr wrap="square" lIns="0" rIns="0" tIns="0" bIns="0" anchor="t">
            <a:noAutofit/>
          </a:bodyPr>
          <a:lstStyle/>
          <a:p>
            <a:pPr algn="r"/>
            <a:r>
              <a:rPr sz="1000" b="0" i="0">
                <a:solidFill>
                  <a:srgbClr val="A08576"/>
                </a:solidFill>
                <a:latin typeface="Anton"/>
                <a:ea typeface="Anton"/>
                <a:cs typeface="Anton"/>
              </a:rPr>
              <a:t>03</a:t>
            </a:r>
          </a:p>
        </p:txBody>
      </p:sp>
      <p:pic>
        <p:nvPicPr>
          <p:cNvPr id="7" name="Picture 6" descr="tu-van-sinh-vien.jpg"/>
          <p:cNvPicPr>
            <a:picLocks noChangeAspect="1"/>
          </p:cNvPicPr>
          <p:nvPr/>
        </p:nvPicPr>
        <p:blipFill>
          <a:blip r:embed="rId3"/>
          <a:srcRect l="3813" r="37813"/>
          <a:stretch>
            <a:fillRect/>
          </a:stretch>
        </p:blipFill>
        <p:spPr>
          <a:xfrm>
            <a:off x="7269480" y="1188720"/>
            <a:ext cx="4373575" cy="4983480"/>
          </a:xfrm>
          <a:prstGeom prst="roundRect">
            <a:avLst>
              <a:gd name="adj" fmla="val 3763"/>
            </a:avLst>
          </a:prstGeom>
          <a:ln w="31750">
            <a:solidFill>
              <a:srgbClr val="FFFFFF"/>
            </a:solidFill>
          </a:ln>
          <a:effectLst>
            <a:outerShdw blurRad="274320" dist="73152" dir="5400000" algn="ctr" rotWithShape="0">
              <a:srgbClr val="6A2A08">
                <a:alpha val="28000"/>
              </a:srgbClr>
            </a:outerShdw>
          </a:effectLst>
        </p:spPr>
      </p:pic>
      <p:pic>
        <p:nvPicPr>
          <p:cNvPr id="8" name="!!swoosh" descr="swoosh.png"/>
          <p:cNvPicPr>
            <a:picLocks noChangeAspect="1"/>
          </p:cNvPicPr>
          <p:nvPr/>
        </p:nvPicPr>
        <p:blipFill>
          <a:blip r:embed="rId4"/>
          <a:srcRect l="84" r="84"/>
          <a:stretch>
            <a:fillRect/>
          </a:stretch>
        </p:blipFill>
        <p:spPr>
          <a:xfrm>
            <a:off x="6309360" y="4160520"/>
            <a:ext cx="6217920" cy="2724912"/>
          </a:xfrm>
          <a:prstGeom prst="rect">
            <a:avLst/>
          </a:prstGeom>
        </p:spPr>
      </p:pic>
      <p:sp>
        <p:nvSpPr>
          <p:cNvPr id="9" name="Rounded Rectangle 8"/>
          <p:cNvSpPr/>
          <p:nvPr/>
        </p:nvSpPr>
        <p:spPr>
          <a:xfrm>
            <a:off x="548640" y="1188720"/>
            <a:ext cx="6400800" cy="731520"/>
          </a:xfrm>
          <a:prstGeom prst="roundRect">
            <a:avLst>
              <a:gd name="adj" fmla="val 20000"/>
            </a:avLst>
          </a:prstGeom>
          <a:gradFill rotWithShape="1">
            <a:gsLst>
              <a:gs pos="0">
                <a:srgbClr val="F26B1F"/>
              </a:gs>
              <a:gs pos="100000">
                <a:srgbClr val="FF8A2A"/>
              </a:gs>
            </a:gsLst>
            <a:lin ang="0" scaled="0"/>
          </a:gradFill>
          <a:ln>
            <a:noFill/>
          </a:ln>
          <a:effectLst>
            <a:outerShdw blurRad="182880" dist="45720" dir="5400000" algn="ctr" rotWithShape="0">
              <a:srgbClr val="8A3A10">
                <a:alpha val="30000"/>
              </a:srgbClr>
            </a:outerShdw>
          </a:effectLst>
        </p:spPr>
        <p:style>
          <a:lnRef idx="1">
            <a:schemeClr val="accent1"/>
          </a:lnRef>
          <a:fillRef idx="3">
            <a:schemeClr val="accent1"/>
          </a:fillRef>
          <a:effectRef idx="0">
            <a:schemeClr val="accent1"/>
          </a:effectRef>
          <a:fontRef idx="minor">
            <a:schemeClr val="lt1"/>
          </a:fontRef>
        </p:style>
        <p:txBody>
          <a:bodyPr rtlCol="0" anchor="ctr" lIns="201168" rIns="201168" wrap="square"/>
          <a:lstStyle/>
          <a:p>
            <a:pPr algn="l">
              <a:lnSpc>
                <a:spcPct val="110000"/>
              </a:lnSpc>
            </a:pPr>
            <a:r>
              <a:rPr sz="1200" b="0" i="0">
                <a:solidFill>
                  <a:srgbClr val="FFFFFF"/>
                </a:solidFill>
                <a:latin typeface="Lexend SemiBold"/>
                <a:ea typeface="Lexend SemiBold"/>
                <a:cs typeface="Lexend SemiBold"/>
              </a:rPr>
              <a:t>Doanh nghiệp không chỉ là nơi tuyển dụng sinh viên sau khi tốt nghiệp, mà còn là đối tác đồng hành cùng nhà trường trong suốt quá trình đào tạo.</a:t>
            </a:r>
          </a:p>
        </p:txBody>
      </p:sp>
      <p:pic>
        <p:nvPicPr>
          <p:cNvPr id="10" name="Picture 9" descr="circle-check_F26B1F.png"/>
          <p:cNvPicPr>
            <a:picLocks noChangeAspect="1"/>
          </p:cNvPicPr>
          <p:nvPr/>
        </p:nvPicPr>
        <p:blipFill>
          <a:blip r:embed="rId5"/>
          <a:stretch>
            <a:fillRect/>
          </a:stretch>
        </p:blipFill>
        <p:spPr>
          <a:xfrm>
            <a:off x="548640" y="2167128"/>
            <a:ext cx="274320" cy="274320"/>
          </a:xfrm>
          <a:prstGeom prst="rect">
            <a:avLst/>
          </a:prstGeom>
        </p:spPr>
      </p:pic>
      <p:sp>
        <p:nvSpPr>
          <p:cNvPr id="11" name="TextBox 10"/>
          <p:cNvSpPr txBox="1"/>
          <p:nvPr/>
        </p:nvSpPr>
        <p:spPr>
          <a:xfrm>
            <a:off x="960120" y="2148840"/>
            <a:ext cx="5989320" cy="243840"/>
          </a:xfrm>
          <a:prstGeom prst="rect">
            <a:avLst/>
          </a:prstGeom>
          <a:noFill/>
        </p:spPr>
        <p:txBody>
          <a:bodyPr wrap="square" lIns="0" rIns="0" tIns="0" bIns="0" anchor="t">
            <a:noAutofit/>
          </a:bodyPr>
          <a:lstStyle/>
          <a:p>
            <a:pPr algn="l">
              <a:lnSpc>
                <a:spcPct val="122000"/>
              </a:lnSpc>
              <a:spcAft>
                <a:spcPts val="0"/>
              </a:spcAft>
            </a:pPr>
            <a:r>
              <a:rPr sz="1200" b="0" i="0">
                <a:solidFill>
                  <a:srgbClr val="F26B1F"/>
                </a:solidFill>
                <a:latin typeface="Lexend SemiBold"/>
                <a:ea typeface="Lexend SemiBold"/>
                <a:cs typeface="Lexend SemiBold"/>
              </a:rPr>
              <a:t>Tham gia tư vấn</a:t>
            </a:r>
            <a:r>
              <a:rPr sz="1200" b="0" i="0">
                <a:solidFill>
                  <a:srgbClr val="5A473C"/>
                </a:solidFill>
                <a:latin typeface="Lexend"/>
                <a:ea typeface="Lexend"/>
                <a:cs typeface="Lexend"/>
              </a:rPr>
              <a:t> chương trình đào tạo sát với nhu cầu thực tế.</a:t>
            </a:r>
          </a:p>
        </p:txBody>
      </p:sp>
      <p:pic>
        <p:nvPicPr>
          <p:cNvPr id="12" name="Picture 11" descr="circle-check_F26B1F.png"/>
          <p:cNvPicPr>
            <a:picLocks noChangeAspect="1"/>
          </p:cNvPicPr>
          <p:nvPr/>
        </p:nvPicPr>
        <p:blipFill>
          <a:blip r:embed="rId5"/>
          <a:stretch>
            <a:fillRect/>
          </a:stretch>
        </p:blipFill>
        <p:spPr>
          <a:xfrm>
            <a:off x="548640" y="2685288"/>
            <a:ext cx="274320" cy="274320"/>
          </a:xfrm>
          <a:prstGeom prst="rect">
            <a:avLst/>
          </a:prstGeom>
        </p:spPr>
      </p:pic>
      <p:sp>
        <p:nvSpPr>
          <p:cNvPr id="13" name="TextBox 12"/>
          <p:cNvSpPr txBox="1"/>
          <p:nvPr/>
        </p:nvSpPr>
        <p:spPr>
          <a:xfrm>
            <a:off x="960120" y="2667000"/>
            <a:ext cx="5989320" cy="243840"/>
          </a:xfrm>
          <a:prstGeom prst="rect">
            <a:avLst/>
          </a:prstGeom>
          <a:noFill/>
        </p:spPr>
        <p:txBody>
          <a:bodyPr wrap="square" lIns="0" rIns="0" tIns="0" bIns="0" anchor="t">
            <a:noAutofit/>
          </a:bodyPr>
          <a:lstStyle/>
          <a:p>
            <a:pPr algn="l">
              <a:lnSpc>
                <a:spcPct val="122000"/>
              </a:lnSpc>
              <a:spcAft>
                <a:spcPts val="0"/>
              </a:spcAft>
            </a:pPr>
            <a:r>
              <a:rPr sz="1200" b="0" i="0">
                <a:solidFill>
                  <a:srgbClr val="F26B1F"/>
                </a:solidFill>
                <a:latin typeface="Lexend SemiBold"/>
                <a:ea typeface="Lexend SemiBold"/>
                <a:cs typeface="Lexend SemiBold"/>
              </a:rPr>
              <a:t>Tạo điều kiện thực tập,</a:t>
            </a:r>
            <a:r>
              <a:rPr sz="1200" b="0" i="0">
                <a:solidFill>
                  <a:srgbClr val="5A473C"/>
                </a:solidFill>
                <a:latin typeface="Lexend"/>
                <a:ea typeface="Lexend"/>
                <a:cs typeface="Lexend"/>
              </a:rPr>
              <a:t> trải nghiệm và tham quan doanh nghiệp.</a:t>
            </a:r>
          </a:p>
        </p:txBody>
      </p:sp>
      <p:pic>
        <p:nvPicPr>
          <p:cNvPr id="14" name="Picture 13" descr="circle-check_F26B1F.png"/>
          <p:cNvPicPr>
            <a:picLocks noChangeAspect="1"/>
          </p:cNvPicPr>
          <p:nvPr/>
        </p:nvPicPr>
        <p:blipFill>
          <a:blip r:embed="rId5"/>
          <a:stretch>
            <a:fillRect/>
          </a:stretch>
        </p:blipFill>
        <p:spPr>
          <a:xfrm>
            <a:off x="548640" y="3203448"/>
            <a:ext cx="274320" cy="274320"/>
          </a:xfrm>
          <a:prstGeom prst="rect">
            <a:avLst/>
          </a:prstGeom>
        </p:spPr>
      </p:pic>
      <p:sp>
        <p:nvSpPr>
          <p:cNvPr id="15" name="TextBox 14"/>
          <p:cNvSpPr txBox="1"/>
          <p:nvPr/>
        </p:nvSpPr>
        <p:spPr>
          <a:xfrm>
            <a:off x="960120" y="3185160"/>
            <a:ext cx="5989320" cy="243840"/>
          </a:xfrm>
          <a:prstGeom prst="rect">
            <a:avLst/>
          </a:prstGeom>
          <a:noFill/>
        </p:spPr>
        <p:txBody>
          <a:bodyPr wrap="square" lIns="0" rIns="0" tIns="0" bIns="0" anchor="t">
            <a:noAutofit/>
          </a:bodyPr>
          <a:lstStyle/>
          <a:p>
            <a:pPr algn="l">
              <a:lnSpc>
                <a:spcPct val="122000"/>
              </a:lnSpc>
              <a:spcAft>
                <a:spcPts val="0"/>
              </a:spcAft>
            </a:pPr>
            <a:r>
              <a:rPr sz="1200" b="0" i="0">
                <a:solidFill>
                  <a:srgbClr val="F26B1F"/>
                </a:solidFill>
                <a:latin typeface="Lexend SemiBold"/>
                <a:ea typeface="Lexend SemiBold"/>
                <a:cs typeface="Lexend SemiBold"/>
              </a:rPr>
              <a:t>Chia sẻ kinh nghiệm nghề nghiệp,</a:t>
            </a:r>
            <a:r>
              <a:rPr sz="1200" b="0" i="0">
                <a:solidFill>
                  <a:srgbClr val="5A473C"/>
                </a:solidFill>
                <a:latin typeface="Lexend"/>
                <a:ea typeface="Lexend"/>
                <a:cs typeface="Lexend"/>
              </a:rPr>
              <a:t> kỹ năng làm việc và văn hóa doanh nghiệp.</a:t>
            </a:r>
          </a:p>
        </p:txBody>
      </p:sp>
      <p:pic>
        <p:nvPicPr>
          <p:cNvPr id="16" name="Picture 15" descr="circle-check_F26B1F.png"/>
          <p:cNvPicPr>
            <a:picLocks noChangeAspect="1"/>
          </p:cNvPicPr>
          <p:nvPr/>
        </p:nvPicPr>
        <p:blipFill>
          <a:blip r:embed="rId5"/>
          <a:stretch>
            <a:fillRect/>
          </a:stretch>
        </p:blipFill>
        <p:spPr>
          <a:xfrm>
            <a:off x="548640" y="3721608"/>
            <a:ext cx="274320" cy="274320"/>
          </a:xfrm>
          <a:prstGeom prst="rect">
            <a:avLst/>
          </a:prstGeom>
        </p:spPr>
      </p:pic>
      <p:sp>
        <p:nvSpPr>
          <p:cNvPr id="17" name="TextBox 16"/>
          <p:cNvSpPr txBox="1"/>
          <p:nvPr/>
        </p:nvSpPr>
        <p:spPr>
          <a:xfrm>
            <a:off x="960120" y="3703320"/>
            <a:ext cx="5989320" cy="243840"/>
          </a:xfrm>
          <a:prstGeom prst="rect">
            <a:avLst/>
          </a:prstGeom>
          <a:noFill/>
        </p:spPr>
        <p:txBody>
          <a:bodyPr wrap="square" lIns="0" rIns="0" tIns="0" bIns="0" anchor="t">
            <a:noAutofit/>
          </a:bodyPr>
          <a:lstStyle/>
          <a:p>
            <a:pPr algn="l">
              <a:lnSpc>
                <a:spcPct val="122000"/>
              </a:lnSpc>
              <a:spcAft>
                <a:spcPts val="0"/>
              </a:spcAft>
            </a:pPr>
            <a:r>
              <a:rPr sz="1200" b="0" i="0">
                <a:solidFill>
                  <a:srgbClr val="F26B1F"/>
                </a:solidFill>
                <a:latin typeface="Lexend SemiBold"/>
                <a:ea typeface="Lexend SemiBold"/>
                <a:cs typeface="Lexend SemiBold"/>
              </a:rPr>
              <a:t>Hỗ trợ kết nối việc làm</a:t>
            </a:r>
            <a:r>
              <a:rPr sz="1200" b="0" i="0">
                <a:solidFill>
                  <a:srgbClr val="5A473C"/>
                </a:solidFill>
                <a:latin typeface="Lexend"/>
                <a:ea typeface="Lexend"/>
                <a:cs typeface="Lexend"/>
              </a:rPr>
              <a:t> trong nước và quốc tế.</a:t>
            </a:r>
          </a:p>
        </p:txBody>
      </p:sp>
      <p:pic>
        <p:nvPicPr>
          <p:cNvPr id="18" name="Picture 17" descr="circle-check_F26B1F.png"/>
          <p:cNvPicPr>
            <a:picLocks noChangeAspect="1"/>
          </p:cNvPicPr>
          <p:nvPr/>
        </p:nvPicPr>
        <p:blipFill>
          <a:blip r:embed="rId5"/>
          <a:stretch>
            <a:fillRect/>
          </a:stretch>
        </p:blipFill>
        <p:spPr>
          <a:xfrm>
            <a:off x="548640" y="4239768"/>
            <a:ext cx="274320" cy="274320"/>
          </a:xfrm>
          <a:prstGeom prst="rect">
            <a:avLst/>
          </a:prstGeom>
        </p:spPr>
      </p:pic>
      <p:sp>
        <p:nvSpPr>
          <p:cNvPr id="19" name="TextBox 18"/>
          <p:cNvSpPr txBox="1"/>
          <p:nvPr/>
        </p:nvSpPr>
        <p:spPr>
          <a:xfrm>
            <a:off x="960120" y="4221480"/>
            <a:ext cx="5989320" cy="243840"/>
          </a:xfrm>
          <a:prstGeom prst="rect">
            <a:avLst/>
          </a:prstGeom>
          <a:noFill/>
        </p:spPr>
        <p:txBody>
          <a:bodyPr wrap="square" lIns="0" rIns="0" tIns="0" bIns="0" anchor="t">
            <a:noAutofit/>
          </a:bodyPr>
          <a:lstStyle/>
          <a:p>
            <a:pPr algn="l">
              <a:lnSpc>
                <a:spcPct val="122000"/>
              </a:lnSpc>
              <a:spcAft>
                <a:spcPts val="0"/>
              </a:spcAft>
            </a:pPr>
            <a:r>
              <a:rPr sz="1200" b="0" i="0">
                <a:solidFill>
                  <a:srgbClr val="F26B1F"/>
                </a:solidFill>
                <a:latin typeface="Lexend SemiBold"/>
                <a:ea typeface="Lexend SemiBold"/>
                <a:cs typeface="Lexend SemiBold"/>
              </a:rPr>
              <a:t>Cùng nhà trường xây dựng</a:t>
            </a:r>
            <a:r>
              <a:rPr sz="1200" b="0" i="0">
                <a:solidFill>
                  <a:srgbClr val="5A473C"/>
                </a:solidFill>
                <a:latin typeface="Lexend"/>
                <a:ea typeface="Lexend"/>
                <a:cs typeface="Lexend"/>
              </a:rPr>
              <a:t> những chương trình đào tạo có giá trị thực tiễn.</a:t>
            </a:r>
          </a:p>
        </p:txBody>
      </p:sp>
      <p:sp>
        <p:nvSpPr>
          <p:cNvPr id="20" name="Rounded Rectangle 19"/>
          <p:cNvSpPr/>
          <p:nvPr/>
        </p:nvSpPr>
        <p:spPr>
          <a:xfrm>
            <a:off x="548640" y="5292344"/>
            <a:ext cx="6126480" cy="879856"/>
          </a:xfrm>
          <a:prstGeom prst="roundRect">
            <a:avLst>
              <a:gd name="adj" fmla="val 14549"/>
            </a:avLst>
          </a:prstGeom>
          <a:solidFill>
            <a:srgbClr val="FFFFFF">
              <a:alpha val="62000"/>
            </a:srgbClr>
          </a:solidFill>
          <a:ln w="15875">
            <a:solidFill>
              <a:srgbClr val="F26B1F"/>
            </a:solidFill>
            <a:prstDash val="dash"/>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1" name="Rounded Rectangle 20"/>
          <p:cNvSpPr/>
          <p:nvPr/>
        </p:nvSpPr>
        <p:spPr>
          <a:xfrm>
            <a:off x="822960" y="5146040"/>
            <a:ext cx="1143248" cy="292608"/>
          </a:xfrm>
          <a:prstGeom prst="roundRect">
            <a:avLst>
              <a:gd name="adj" fmla="val 25000"/>
            </a:avLst>
          </a:prstGeom>
          <a:solidFill>
            <a:srgbClr val="F26B1F"/>
          </a:solidFill>
          <a:ln>
            <a:noFill/>
          </a:ln>
          <a:effectLst/>
        </p:spPr>
        <p:style>
          <a:lnRef idx="1">
            <a:schemeClr val="accent1"/>
          </a:lnRef>
          <a:fillRef idx="3">
            <a:schemeClr val="accent1"/>
          </a:fillRef>
          <a:effectRef idx="0">
            <a:schemeClr val="accent1"/>
          </a:effectRef>
          <a:fontRef idx="minor">
            <a:schemeClr val="lt1"/>
          </a:fontRef>
        </p:style>
        <p:txBody>
          <a:bodyPr rtlCol="0" anchor="ctr" lIns="45720" rIns="45720" tIns="0" bIns="0" wrap="square"/>
          <a:lstStyle/>
          <a:p>
            <a:pPr algn="ctr"/>
            <a:r>
              <a:rPr sz="1100" b="0" i="0" spc="150">
                <a:solidFill>
                  <a:srgbClr val="FFFFFF"/>
                </a:solidFill>
                <a:latin typeface="Anton"/>
                <a:ea typeface="Anton"/>
                <a:cs typeface="Anton"/>
              </a:rPr>
              <a:t>THÔNG ĐIỆP</a:t>
            </a:r>
          </a:p>
        </p:txBody>
      </p:sp>
      <p:pic>
        <p:nvPicPr>
          <p:cNvPr id="22" name="Picture 21" descr="megaphone_F26B1F.png"/>
          <p:cNvPicPr>
            <a:picLocks noChangeAspect="1"/>
          </p:cNvPicPr>
          <p:nvPr/>
        </p:nvPicPr>
        <p:blipFill>
          <a:blip r:embed="rId6"/>
          <a:stretch>
            <a:fillRect/>
          </a:stretch>
        </p:blipFill>
        <p:spPr>
          <a:xfrm>
            <a:off x="841248" y="5549392"/>
            <a:ext cx="365760" cy="365760"/>
          </a:xfrm>
          <a:prstGeom prst="rect">
            <a:avLst/>
          </a:prstGeom>
        </p:spPr>
      </p:pic>
      <p:sp>
        <p:nvSpPr>
          <p:cNvPr id="23" name="TextBox 22"/>
          <p:cNvSpPr txBox="1"/>
          <p:nvPr/>
        </p:nvSpPr>
        <p:spPr>
          <a:xfrm>
            <a:off x="1417320" y="5420360"/>
            <a:ext cx="4983480" cy="678688"/>
          </a:xfrm>
          <a:prstGeom prst="rect">
            <a:avLst/>
          </a:prstGeom>
          <a:noFill/>
        </p:spPr>
        <p:txBody>
          <a:bodyPr wrap="square" lIns="0" rIns="0" tIns="0" bIns="0" anchor="ctr">
            <a:noAutofit/>
          </a:bodyPr>
          <a:lstStyle/>
          <a:p>
            <a:pPr algn="l">
              <a:lnSpc>
                <a:spcPct val="125000"/>
              </a:lnSpc>
              <a:spcAft>
                <a:spcPts val="0"/>
              </a:spcAft>
            </a:pPr>
            <a:r>
              <a:rPr sz="1300" b="0" i="0">
                <a:solidFill>
                  <a:srgbClr val="3E2A1F"/>
                </a:solidFill>
                <a:latin typeface="Lexend Medium"/>
                <a:ea typeface="Lexend Medium"/>
                <a:cs typeface="Lexend Medium"/>
              </a:rPr>
              <a:t>Doanh nghiệp cần </a:t>
            </a:r>
            <a:r>
              <a:rPr sz="1300" b="0" i="0">
                <a:solidFill>
                  <a:srgbClr val="F26B1F"/>
                </a:solidFill>
                <a:latin typeface="Lexend SemiBold"/>
                <a:ea typeface="Lexend SemiBold"/>
                <a:cs typeface="Lexend SemiBold"/>
              </a:rPr>
              <a:t>tham gia từ quá trình đào tạo</a:t>
            </a:r>
            <a:r>
              <a:rPr sz="1300" b="0" i="0">
                <a:solidFill>
                  <a:srgbClr val="3E2A1F"/>
                </a:solidFill>
                <a:latin typeface="Lexend Medium"/>
                <a:ea typeface="Lexend Medium"/>
                <a:cs typeface="Lexend Medium"/>
              </a:rPr>
              <a:t>, thay vì chỉ chờ đợi nguồn nhân lực sau tốt nghiệp.</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grpId="0" nodeType="withEffect">
                                  <p:stCondLst>
                                    <p:cond delay="10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par>
                                <p:cTn id="11" presetID="22" presetClass="entr" presetSubtype="8" fill="hold" grpId="0" nodeType="withEffect">
                                  <p:stCondLst>
                                    <p:cond delay="20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par>
                                <p:cTn id="14" presetID="22" presetClass="entr" presetSubtype="8" fill="hold" grpId="0" nodeType="withEffect">
                                  <p:stCondLst>
                                    <p:cond delay="30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par>
                                <p:cTn id="17" presetID="42" presetClass="entr" presetSubtype="0" fill="hold" grpId="0" nodeType="withEffect">
                                  <p:stCondLst>
                                    <p:cond delay="3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600"/>
                                        <p:tgtEl>
                                          <p:spTgt spid="7"/>
                                        </p:tgtEl>
                                      </p:cBhvr>
                                    </p:animEffect>
                                    <p:anim calcmode="lin" valueType="num">
                                      <p:cBhvr additive="base">
                                        <p:cTn id="20" dur="600" fill="hold"/>
                                        <p:tgtEl>
                                          <p:spTgt spid="7"/>
                                        </p:tgtEl>
                                        <p:attrNameLst>
                                          <p:attrName>ppt_x</p:attrName>
                                        </p:attrNameLst>
                                      </p:cBhvr>
                                      <p:tavLst>
                                        <p:tav tm="0">
                                          <p:val>
                                            <p:strVal val="#ppt_x"/>
                                          </p:val>
                                        </p:tav>
                                        <p:tav tm="100000">
                                          <p:val>
                                            <p:strVal val="#ppt_x"/>
                                          </p:val>
                                        </p:tav>
                                      </p:tavLst>
                                    </p:anim>
                                    <p:anim calcmode="lin" valueType="num">
                                      <p:cBhvr additive="base">
                                        <p:cTn id="21" dur="600" fill="hold"/>
                                        <p:tgtEl>
                                          <p:spTgt spid="7"/>
                                        </p:tgtEl>
                                        <p:attrNameLst>
                                          <p:attrName>ppt_y</p:attrName>
                                        </p:attrNameLst>
                                      </p:cBhvr>
                                      <p:tavLst>
                                        <p:tav tm="0">
                                          <p:val>
                                            <p:strVal val="#ppt_y+.06"/>
                                          </p:val>
                                        </p:tav>
                                        <p:tav tm="100000">
                                          <p:val>
                                            <p:strVal val="#ppt_y"/>
                                          </p:val>
                                        </p:tav>
                                      </p:tavLst>
                                    </p:anim>
                                  </p:childTnLst>
                                </p:cTn>
                              </p:par>
                              <p:par>
                                <p:cTn id="22" presetID="22" presetClass="entr" presetSubtype="8" fill="hold" grpId="0" nodeType="withEffect">
                                  <p:stCondLst>
                                    <p:cond delay="500"/>
                                  </p:stCondLst>
                                  <p:childTnLst>
                                    <p:set>
                                      <p:cBhvr>
                                        <p:cTn id="23" dur="1" fill="hold">
                                          <p:stCondLst>
                                            <p:cond delay="0"/>
                                          </p:stCondLst>
                                        </p:cTn>
                                        <p:tgtEl>
                                          <p:spTgt spid="9"/>
                                        </p:tgtEl>
                                        <p:attrNameLst>
                                          <p:attrName>style.visibility</p:attrName>
                                        </p:attrNameLst>
                                      </p:cBhvr>
                                      <p:to>
                                        <p:strVal val="visible"/>
                                      </p:to>
                                    </p:set>
                                    <p:animEffect transition="in" filter="wipe(left)">
                                      <p:cBhvr>
                                        <p:cTn id="24" dur="500"/>
                                        <p:tgtEl>
                                          <p:spTgt spid="9"/>
                                        </p:tgtEl>
                                      </p:cBhvr>
                                    </p:animEffect>
                                  </p:childTnLst>
                                </p:cTn>
                              </p:par>
                              <p:par>
                                <p:cTn id="25" presetID="22" presetClass="entr" presetSubtype="8" fill="hold" grpId="0" nodeType="withEffect">
                                  <p:stCondLst>
                                    <p:cond delay="60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800"/>
                                        <p:tgtEl>
                                          <p:spTgt spid="8"/>
                                        </p:tgtEl>
                                      </p:cBhvr>
                                    </p:animEffect>
                                  </p:childTnLst>
                                </p:cTn>
                              </p:par>
                              <p:par>
                                <p:cTn id="28" presetID="42" presetClass="entr" presetSubtype="0" fill="hold" grpId="0" nodeType="withEffect">
                                  <p:stCondLst>
                                    <p:cond delay="90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450"/>
                                        <p:tgtEl>
                                          <p:spTgt spid="10"/>
                                        </p:tgtEl>
                                      </p:cBhvr>
                                    </p:animEffect>
                                    <p:anim calcmode="lin" valueType="num">
                                      <p:cBhvr additive="base">
                                        <p:cTn id="31" dur="450" fill="hold"/>
                                        <p:tgtEl>
                                          <p:spTgt spid="10"/>
                                        </p:tgtEl>
                                        <p:attrNameLst>
                                          <p:attrName>ppt_x</p:attrName>
                                        </p:attrNameLst>
                                      </p:cBhvr>
                                      <p:tavLst>
                                        <p:tav tm="0">
                                          <p:val>
                                            <p:strVal val="#ppt_x"/>
                                          </p:val>
                                        </p:tav>
                                        <p:tav tm="100000">
                                          <p:val>
                                            <p:strVal val="#ppt_x"/>
                                          </p:val>
                                        </p:tav>
                                      </p:tavLst>
                                    </p:anim>
                                    <p:anim calcmode="lin" valueType="num">
                                      <p:cBhvr additive="base">
                                        <p:cTn id="32" dur="450" fill="hold"/>
                                        <p:tgtEl>
                                          <p:spTgt spid="10"/>
                                        </p:tgtEl>
                                        <p:attrNameLst>
                                          <p:attrName>ppt_y</p:attrName>
                                        </p:attrNameLst>
                                      </p:cBhvr>
                                      <p:tavLst>
                                        <p:tav tm="0">
                                          <p:val>
                                            <p:strVal val="#ppt_y+.06"/>
                                          </p:val>
                                        </p:tav>
                                        <p:tav tm="100000">
                                          <p:val>
                                            <p:strVal val="#ppt_y"/>
                                          </p:val>
                                        </p:tav>
                                      </p:tavLst>
                                    </p:anim>
                                  </p:childTnLst>
                                </p:cTn>
                              </p:par>
                              <p:par>
                                <p:cTn id="33" presetID="42" presetClass="entr" presetSubtype="0" fill="hold" grpId="0" nodeType="withEffect">
                                  <p:stCondLst>
                                    <p:cond delay="90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450"/>
                                        <p:tgtEl>
                                          <p:spTgt spid="11"/>
                                        </p:tgtEl>
                                      </p:cBhvr>
                                    </p:animEffect>
                                    <p:anim calcmode="lin" valueType="num">
                                      <p:cBhvr additive="base">
                                        <p:cTn id="36" dur="450" fill="hold"/>
                                        <p:tgtEl>
                                          <p:spTgt spid="11"/>
                                        </p:tgtEl>
                                        <p:attrNameLst>
                                          <p:attrName>ppt_x</p:attrName>
                                        </p:attrNameLst>
                                      </p:cBhvr>
                                      <p:tavLst>
                                        <p:tav tm="0">
                                          <p:val>
                                            <p:strVal val="#ppt_x"/>
                                          </p:val>
                                        </p:tav>
                                        <p:tav tm="100000">
                                          <p:val>
                                            <p:strVal val="#ppt_x"/>
                                          </p:val>
                                        </p:tav>
                                      </p:tavLst>
                                    </p:anim>
                                    <p:anim calcmode="lin" valueType="num">
                                      <p:cBhvr additive="base">
                                        <p:cTn id="37" dur="450" fill="hold"/>
                                        <p:tgtEl>
                                          <p:spTgt spid="11"/>
                                        </p:tgtEl>
                                        <p:attrNameLst>
                                          <p:attrName>ppt_y</p:attrName>
                                        </p:attrNameLst>
                                      </p:cBhvr>
                                      <p:tavLst>
                                        <p:tav tm="0">
                                          <p:val>
                                            <p:strVal val="#ppt_y+.06"/>
                                          </p:val>
                                        </p:tav>
                                        <p:tav tm="100000">
                                          <p:val>
                                            <p:strVal val="#ppt_y"/>
                                          </p:val>
                                        </p:tav>
                                      </p:tavLst>
                                    </p:anim>
                                  </p:childTnLst>
                                </p:cTn>
                              </p:par>
                              <p:par>
                                <p:cTn id="38" presetID="42" presetClass="entr" presetSubtype="0" fill="hold" grpId="0" nodeType="withEffect">
                                  <p:stCondLst>
                                    <p:cond delay="108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450"/>
                                        <p:tgtEl>
                                          <p:spTgt spid="12"/>
                                        </p:tgtEl>
                                      </p:cBhvr>
                                    </p:animEffect>
                                    <p:anim calcmode="lin" valueType="num">
                                      <p:cBhvr additive="base">
                                        <p:cTn id="41" dur="450" fill="hold"/>
                                        <p:tgtEl>
                                          <p:spTgt spid="12"/>
                                        </p:tgtEl>
                                        <p:attrNameLst>
                                          <p:attrName>ppt_x</p:attrName>
                                        </p:attrNameLst>
                                      </p:cBhvr>
                                      <p:tavLst>
                                        <p:tav tm="0">
                                          <p:val>
                                            <p:strVal val="#ppt_x"/>
                                          </p:val>
                                        </p:tav>
                                        <p:tav tm="100000">
                                          <p:val>
                                            <p:strVal val="#ppt_x"/>
                                          </p:val>
                                        </p:tav>
                                      </p:tavLst>
                                    </p:anim>
                                    <p:anim calcmode="lin" valueType="num">
                                      <p:cBhvr additive="base">
                                        <p:cTn id="42" dur="450" fill="hold"/>
                                        <p:tgtEl>
                                          <p:spTgt spid="12"/>
                                        </p:tgtEl>
                                        <p:attrNameLst>
                                          <p:attrName>ppt_y</p:attrName>
                                        </p:attrNameLst>
                                      </p:cBhvr>
                                      <p:tavLst>
                                        <p:tav tm="0">
                                          <p:val>
                                            <p:strVal val="#ppt_y+.06"/>
                                          </p:val>
                                        </p:tav>
                                        <p:tav tm="100000">
                                          <p:val>
                                            <p:strVal val="#ppt_y"/>
                                          </p:val>
                                        </p:tav>
                                      </p:tavLst>
                                    </p:anim>
                                  </p:childTnLst>
                                </p:cTn>
                              </p:par>
                              <p:par>
                                <p:cTn id="43" presetID="42" presetClass="entr" presetSubtype="0" fill="hold" grpId="0" nodeType="withEffect">
                                  <p:stCondLst>
                                    <p:cond delay="108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450"/>
                                        <p:tgtEl>
                                          <p:spTgt spid="13"/>
                                        </p:tgtEl>
                                      </p:cBhvr>
                                    </p:animEffect>
                                    <p:anim calcmode="lin" valueType="num">
                                      <p:cBhvr additive="base">
                                        <p:cTn id="46" dur="450" fill="hold"/>
                                        <p:tgtEl>
                                          <p:spTgt spid="13"/>
                                        </p:tgtEl>
                                        <p:attrNameLst>
                                          <p:attrName>ppt_x</p:attrName>
                                        </p:attrNameLst>
                                      </p:cBhvr>
                                      <p:tavLst>
                                        <p:tav tm="0">
                                          <p:val>
                                            <p:strVal val="#ppt_x"/>
                                          </p:val>
                                        </p:tav>
                                        <p:tav tm="100000">
                                          <p:val>
                                            <p:strVal val="#ppt_x"/>
                                          </p:val>
                                        </p:tav>
                                      </p:tavLst>
                                    </p:anim>
                                    <p:anim calcmode="lin" valueType="num">
                                      <p:cBhvr additive="base">
                                        <p:cTn id="47" dur="450" fill="hold"/>
                                        <p:tgtEl>
                                          <p:spTgt spid="13"/>
                                        </p:tgtEl>
                                        <p:attrNameLst>
                                          <p:attrName>ppt_y</p:attrName>
                                        </p:attrNameLst>
                                      </p:cBhvr>
                                      <p:tavLst>
                                        <p:tav tm="0">
                                          <p:val>
                                            <p:strVal val="#ppt_y+.06"/>
                                          </p:val>
                                        </p:tav>
                                        <p:tav tm="100000">
                                          <p:val>
                                            <p:strVal val="#ppt_y"/>
                                          </p:val>
                                        </p:tav>
                                      </p:tavLst>
                                    </p:anim>
                                  </p:childTnLst>
                                </p:cTn>
                              </p:par>
                              <p:par>
                                <p:cTn id="48" presetID="42" presetClass="entr" presetSubtype="0" fill="hold" grpId="0" nodeType="withEffect">
                                  <p:stCondLst>
                                    <p:cond delay="126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450"/>
                                        <p:tgtEl>
                                          <p:spTgt spid="14"/>
                                        </p:tgtEl>
                                      </p:cBhvr>
                                    </p:animEffect>
                                    <p:anim calcmode="lin" valueType="num">
                                      <p:cBhvr additive="base">
                                        <p:cTn id="51" dur="450" fill="hold"/>
                                        <p:tgtEl>
                                          <p:spTgt spid="14"/>
                                        </p:tgtEl>
                                        <p:attrNameLst>
                                          <p:attrName>ppt_x</p:attrName>
                                        </p:attrNameLst>
                                      </p:cBhvr>
                                      <p:tavLst>
                                        <p:tav tm="0">
                                          <p:val>
                                            <p:strVal val="#ppt_x"/>
                                          </p:val>
                                        </p:tav>
                                        <p:tav tm="100000">
                                          <p:val>
                                            <p:strVal val="#ppt_x"/>
                                          </p:val>
                                        </p:tav>
                                      </p:tavLst>
                                    </p:anim>
                                    <p:anim calcmode="lin" valueType="num">
                                      <p:cBhvr additive="base">
                                        <p:cTn id="52" dur="450" fill="hold"/>
                                        <p:tgtEl>
                                          <p:spTgt spid="14"/>
                                        </p:tgtEl>
                                        <p:attrNameLst>
                                          <p:attrName>ppt_y</p:attrName>
                                        </p:attrNameLst>
                                      </p:cBhvr>
                                      <p:tavLst>
                                        <p:tav tm="0">
                                          <p:val>
                                            <p:strVal val="#ppt_y+.06"/>
                                          </p:val>
                                        </p:tav>
                                        <p:tav tm="100000">
                                          <p:val>
                                            <p:strVal val="#ppt_y"/>
                                          </p:val>
                                        </p:tav>
                                      </p:tavLst>
                                    </p:anim>
                                  </p:childTnLst>
                                </p:cTn>
                              </p:par>
                              <p:par>
                                <p:cTn id="53" presetID="42" presetClass="entr" presetSubtype="0" fill="hold" grpId="0" nodeType="withEffect">
                                  <p:stCondLst>
                                    <p:cond delay="126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450"/>
                                        <p:tgtEl>
                                          <p:spTgt spid="15"/>
                                        </p:tgtEl>
                                      </p:cBhvr>
                                    </p:animEffect>
                                    <p:anim calcmode="lin" valueType="num">
                                      <p:cBhvr additive="base">
                                        <p:cTn id="56" dur="450" fill="hold"/>
                                        <p:tgtEl>
                                          <p:spTgt spid="15"/>
                                        </p:tgtEl>
                                        <p:attrNameLst>
                                          <p:attrName>ppt_x</p:attrName>
                                        </p:attrNameLst>
                                      </p:cBhvr>
                                      <p:tavLst>
                                        <p:tav tm="0">
                                          <p:val>
                                            <p:strVal val="#ppt_x"/>
                                          </p:val>
                                        </p:tav>
                                        <p:tav tm="100000">
                                          <p:val>
                                            <p:strVal val="#ppt_x"/>
                                          </p:val>
                                        </p:tav>
                                      </p:tavLst>
                                    </p:anim>
                                    <p:anim calcmode="lin" valueType="num">
                                      <p:cBhvr additive="base">
                                        <p:cTn id="57" dur="450" fill="hold"/>
                                        <p:tgtEl>
                                          <p:spTgt spid="15"/>
                                        </p:tgtEl>
                                        <p:attrNameLst>
                                          <p:attrName>ppt_y</p:attrName>
                                        </p:attrNameLst>
                                      </p:cBhvr>
                                      <p:tavLst>
                                        <p:tav tm="0">
                                          <p:val>
                                            <p:strVal val="#ppt_y+.06"/>
                                          </p:val>
                                        </p:tav>
                                        <p:tav tm="100000">
                                          <p:val>
                                            <p:strVal val="#ppt_y"/>
                                          </p:val>
                                        </p:tav>
                                      </p:tavLst>
                                    </p:anim>
                                  </p:childTnLst>
                                </p:cTn>
                              </p:par>
                              <p:par>
                                <p:cTn id="58" presetID="42" presetClass="entr" presetSubtype="0" fill="hold" grpId="0" nodeType="withEffect">
                                  <p:stCondLst>
                                    <p:cond delay="1440"/>
                                  </p:stCondLst>
                                  <p:childTnLst>
                                    <p:set>
                                      <p:cBhvr>
                                        <p:cTn id="59" dur="1" fill="hold">
                                          <p:stCondLst>
                                            <p:cond delay="0"/>
                                          </p:stCondLst>
                                        </p:cTn>
                                        <p:tgtEl>
                                          <p:spTgt spid="16"/>
                                        </p:tgtEl>
                                        <p:attrNameLst>
                                          <p:attrName>style.visibility</p:attrName>
                                        </p:attrNameLst>
                                      </p:cBhvr>
                                      <p:to>
                                        <p:strVal val="visible"/>
                                      </p:to>
                                    </p:set>
                                    <p:animEffect transition="in" filter="fade">
                                      <p:cBhvr>
                                        <p:cTn id="60" dur="450"/>
                                        <p:tgtEl>
                                          <p:spTgt spid="16"/>
                                        </p:tgtEl>
                                      </p:cBhvr>
                                    </p:animEffect>
                                    <p:anim calcmode="lin" valueType="num">
                                      <p:cBhvr additive="base">
                                        <p:cTn id="61" dur="450" fill="hold"/>
                                        <p:tgtEl>
                                          <p:spTgt spid="16"/>
                                        </p:tgtEl>
                                        <p:attrNameLst>
                                          <p:attrName>ppt_x</p:attrName>
                                        </p:attrNameLst>
                                      </p:cBhvr>
                                      <p:tavLst>
                                        <p:tav tm="0">
                                          <p:val>
                                            <p:strVal val="#ppt_x"/>
                                          </p:val>
                                        </p:tav>
                                        <p:tav tm="100000">
                                          <p:val>
                                            <p:strVal val="#ppt_x"/>
                                          </p:val>
                                        </p:tav>
                                      </p:tavLst>
                                    </p:anim>
                                    <p:anim calcmode="lin" valueType="num">
                                      <p:cBhvr additive="base">
                                        <p:cTn id="62" dur="450" fill="hold"/>
                                        <p:tgtEl>
                                          <p:spTgt spid="16"/>
                                        </p:tgtEl>
                                        <p:attrNameLst>
                                          <p:attrName>ppt_y</p:attrName>
                                        </p:attrNameLst>
                                      </p:cBhvr>
                                      <p:tavLst>
                                        <p:tav tm="0">
                                          <p:val>
                                            <p:strVal val="#ppt_y+.06"/>
                                          </p:val>
                                        </p:tav>
                                        <p:tav tm="100000">
                                          <p:val>
                                            <p:strVal val="#ppt_y"/>
                                          </p:val>
                                        </p:tav>
                                      </p:tavLst>
                                    </p:anim>
                                  </p:childTnLst>
                                </p:cTn>
                              </p:par>
                              <p:par>
                                <p:cTn id="63" presetID="42" presetClass="entr" presetSubtype="0" fill="hold" grpId="0" nodeType="withEffect">
                                  <p:stCondLst>
                                    <p:cond delay="1440"/>
                                  </p:stCondLst>
                                  <p:childTnLst>
                                    <p:set>
                                      <p:cBhvr>
                                        <p:cTn id="64" dur="1" fill="hold">
                                          <p:stCondLst>
                                            <p:cond delay="0"/>
                                          </p:stCondLst>
                                        </p:cTn>
                                        <p:tgtEl>
                                          <p:spTgt spid="17"/>
                                        </p:tgtEl>
                                        <p:attrNameLst>
                                          <p:attrName>style.visibility</p:attrName>
                                        </p:attrNameLst>
                                      </p:cBhvr>
                                      <p:to>
                                        <p:strVal val="visible"/>
                                      </p:to>
                                    </p:set>
                                    <p:animEffect transition="in" filter="fade">
                                      <p:cBhvr>
                                        <p:cTn id="65" dur="450"/>
                                        <p:tgtEl>
                                          <p:spTgt spid="17"/>
                                        </p:tgtEl>
                                      </p:cBhvr>
                                    </p:animEffect>
                                    <p:anim calcmode="lin" valueType="num">
                                      <p:cBhvr additive="base">
                                        <p:cTn id="66" dur="450" fill="hold"/>
                                        <p:tgtEl>
                                          <p:spTgt spid="17"/>
                                        </p:tgtEl>
                                        <p:attrNameLst>
                                          <p:attrName>ppt_x</p:attrName>
                                        </p:attrNameLst>
                                      </p:cBhvr>
                                      <p:tavLst>
                                        <p:tav tm="0">
                                          <p:val>
                                            <p:strVal val="#ppt_x"/>
                                          </p:val>
                                        </p:tav>
                                        <p:tav tm="100000">
                                          <p:val>
                                            <p:strVal val="#ppt_x"/>
                                          </p:val>
                                        </p:tav>
                                      </p:tavLst>
                                    </p:anim>
                                    <p:anim calcmode="lin" valueType="num">
                                      <p:cBhvr additive="base">
                                        <p:cTn id="67" dur="450" fill="hold"/>
                                        <p:tgtEl>
                                          <p:spTgt spid="17"/>
                                        </p:tgtEl>
                                        <p:attrNameLst>
                                          <p:attrName>ppt_y</p:attrName>
                                        </p:attrNameLst>
                                      </p:cBhvr>
                                      <p:tavLst>
                                        <p:tav tm="0">
                                          <p:val>
                                            <p:strVal val="#ppt_y+.06"/>
                                          </p:val>
                                        </p:tav>
                                        <p:tav tm="100000">
                                          <p:val>
                                            <p:strVal val="#ppt_y"/>
                                          </p:val>
                                        </p:tav>
                                      </p:tavLst>
                                    </p:anim>
                                  </p:childTnLst>
                                </p:cTn>
                              </p:par>
                              <p:par>
                                <p:cTn id="68" presetID="42" presetClass="entr" presetSubtype="0" fill="hold" grpId="0" nodeType="withEffect">
                                  <p:stCondLst>
                                    <p:cond delay="1619"/>
                                  </p:stCondLst>
                                  <p:childTnLst>
                                    <p:set>
                                      <p:cBhvr>
                                        <p:cTn id="69" dur="1" fill="hold">
                                          <p:stCondLst>
                                            <p:cond delay="0"/>
                                          </p:stCondLst>
                                        </p:cTn>
                                        <p:tgtEl>
                                          <p:spTgt spid="18"/>
                                        </p:tgtEl>
                                        <p:attrNameLst>
                                          <p:attrName>style.visibility</p:attrName>
                                        </p:attrNameLst>
                                      </p:cBhvr>
                                      <p:to>
                                        <p:strVal val="visible"/>
                                      </p:to>
                                    </p:set>
                                    <p:animEffect transition="in" filter="fade">
                                      <p:cBhvr>
                                        <p:cTn id="70" dur="450"/>
                                        <p:tgtEl>
                                          <p:spTgt spid="18"/>
                                        </p:tgtEl>
                                      </p:cBhvr>
                                    </p:animEffect>
                                    <p:anim calcmode="lin" valueType="num">
                                      <p:cBhvr additive="base">
                                        <p:cTn id="71" dur="450" fill="hold"/>
                                        <p:tgtEl>
                                          <p:spTgt spid="18"/>
                                        </p:tgtEl>
                                        <p:attrNameLst>
                                          <p:attrName>ppt_x</p:attrName>
                                        </p:attrNameLst>
                                      </p:cBhvr>
                                      <p:tavLst>
                                        <p:tav tm="0">
                                          <p:val>
                                            <p:strVal val="#ppt_x"/>
                                          </p:val>
                                        </p:tav>
                                        <p:tav tm="100000">
                                          <p:val>
                                            <p:strVal val="#ppt_x"/>
                                          </p:val>
                                        </p:tav>
                                      </p:tavLst>
                                    </p:anim>
                                    <p:anim calcmode="lin" valueType="num">
                                      <p:cBhvr additive="base">
                                        <p:cTn id="72" dur="450" fill="hold"/>
                                        <p:tgtEl>
                                          <p:spTgt spid="18"/>
                                        </p:tgtEl>
                                        <p:attrNameLst>
                                          <p:attrName>ppt_y</p:attrName>
                                        </p:attrNameLst>
                                      </p:cBhvr>
                                      <p:tavLst>
                                        <p:tav tm="0">
                                          <p:val>
                                            <p:strVal val="#ppt_y+.06"/>
                                          </p:val>
                                        </p:tav>
                                        <p:tav tm="100000">
                                          <p:val>
                                            <p:strVal val="#ppt_y"/>
                                          </p:val>
                                        </p:tav>
                                      </p:tavLst>
                                    </p:anim>
                                  </p:childTnLst>
                                </p:cTn>
                              </p:par>
                              <p:par>
                                <p:cTn id="73" presetID="42" presetClass="entr" presetSubtype="0" fill="hold" grpId="0" nodeType="withEffect">
                                  <p:stCondLst>
                                    <p:cond delay="1619"/>
                                  </p:stCondLst>
                                  <p:childTnLst>
                                    <p:set>
                                      <p:cBhvr>
                                        <p:cTn id="74" dur="1" fill="hold">
                                          <p:stCondLst>
                                            <p:cond delay="0"/>
                                          </p:stCondLst>
                                        </p:cTn>
                                        <p:tgtEl>
                                          <p:spTgt spid="19"/>
                                        </p:tgtEl>
                                        <p:attrNameLst>
                                          <p:attrName>style.visibility</p:attrName>
                                        </p:attrNameLst>
                                      </p:cBhvr>
                                      <p:to>
                                        <p:strVal val="visible"/>
                                      </p:to>
                                    </p:set>
                                    <p:animEffect transition="in" filter="fade">
                                      <p:cBhvr>
                                        <p:cTn id="75" dur="450"/>
                                        <p:tgtEl>
                                          <p:spTgt spid="19"/>
                                        </p:tgtEl>
                                      </p:cBhvr>
                                    </p:animEffect>
                                    <p:anim calcmode="lin" valueType="num">
                                      <p:cBhvr additive="base">
                                        <p:cTn id="76" dur="450" fill="hold"/>
                                        <p:tgtEl>
                                          <p:spTgt spid="19"/>
                                        </p:tgtEl>
                                        <p:attrNameLst>
                                          <p:attrName>ppt_x</p:attrName>
                                        </p:attrNameLst>
                                      </p:cBhvr>
                                      <p:tavLst>
                                        <p:tav tm="0">
                                          <p:val>
                                            <p:strVal val="#ppt_x"/>
                                          </p:val>
                                        </p:tav>
                                        <p:tav tm="100000">
                                          <p:val>
                                            <p:strVal val="#ppt_x"/>
                                          </p:val>
                                        </p:tav>
                                      </p:tavLst>
                                    </p:anim>
                                    <p:anim calcmode="lin" valueType="num">
                                      <p:cBhvr additive="base">
                                        <p:cTn id="77" dur="450" fill="hold"/>
                                        <p:tgtEl>
                                          <p:spTgt spid="19"/>
                                        </p:tgtEl>
                                        <p:attrNameLst>
                                          <p:attrName>ppt_y</p:attrName>
                                        </p:attrNameLst>
                                      </p:cBhvr>
                                      <p:tavLst>
                                        <p:tav tm="0">
                                          <p:val>
                                            <p:strVal val="#ppt_y+.06"/>
                                          </p:val>
                                        </p:tav>
                                        <p:tav tm="100000">
                                          <p:val>
                                            <p:strVal val="#ppt_y"/>
                                          </p:val>
                                        </p:tav>
                                      </p:tavLst>
                                    </p:anim>
                                  </p:childTnLst>
                                </p:cTn>
                              </p:par>
                              <p:par>
                                <p:cTn id="78" presetID="53" presetClass="entr" presetSubtype="16" fill="hold" grpId="0" nodeType="withEffect">
                                  <p:stCondLst>
                                    <p:cond delay="1999"/>
                                  </p:stCondLst>
                                  <p:childTnLst>
                                    <p:set>
                                      <p:cBhvr>
                                        <p:cTn id="79" dur="1" fill="hold">
                                          <p:stCondLst>
                                            <p:cond delay="0"/>
                                          </p:stCondLst>
                                        </p:cTn>
                                        <p:tgtEl>
                                          <p:spTgt spid="20"/>
                                        </p:tgtEl>
                                        <p:attrNameLst>
                                          <p:attrName>style.visibility</p:attrName>
                                        </p:attrNameLst>
                                      </p:cBhvr>
                                      <p:to>
                                        <p:strVal val="visible"/>
                                      </p:to>
                                    </p:set>
                                    <p:anim calcmode="lin" valueType="num">
                                      <p:cBhvr additive="base">
                                        <p:cTn id="80" dur="500" fill="hold"/>
                                        <p:tgtEl>
                                          <p:spTgt spid="20"/>
                                        </p:tgtEl>
                                        <p:attrNameLst>
                                          <p:attrName>ppt_w</p:attrName>
                                        </p:attrNameLst>
                                      </p:cBhvr>
                                      <p:tavLst>
                                        <p:tav tm="0">
                                          <p:val>
                                            <p:strVal val="#ppt_w*0.7"/>
                                          </p:val>
                                        </p:tav>
                                        <p:tav tm="100000">
                                          <p:val>
                                            <p:strVal val="#ppt_w"/>
                                          </p:val>
                                        </p:tav>
                                      </p:tavLst>
                                    </p:anim>
                                    <p:anim calcmode="lin" valueType="num">
                                      <p:cBhvr additive="base">
                                        <p:cTn id="81" dur="500" fill="hold"/>
                                        <p:tgtEl>
                                          <p:spTgt spid="20"/>
                                        </p:tgtEl>
                                        <p:attrNameLst>
                                          <p:attrName>ppt_h</p:attrName>
                                        </p:attrNameLst>
                                      </p:cBhvr>
                                      <p:tavLst>
                                        <p:tav tm="0">
                                          <p:val>
                                            <p:strVal val="#ppt_h*0.7"/>
                                          </p:val>
                                        </p:tav>
                                        <p:tav tm="100000">
                                          <p:val>
                                            <p:strVal val="#ppt_h"/>
                                          </p:val>
                                        </p:tav>
                                      </p:tavLst>
                                    </p:anim>
                                    <p:animEffect transition="in" filter="fade">
                                      <p:cBhvr>
                                        <p:cTn id="82" dur="500"/>
                                        <p:tgtEl>
                                          <p:spTgt spid="20"/>
                                        </p:tgtEl>
                                      </p:cBhvr>
                                    </p:animEffect>
                                  </p:childTnLst>
                                </p:cTn>
                              </p:par>
                              <p:par>
                                <p:cTn id="83" presetID="53" presetClass="entr" presetSubtype="16" fill="hold" grpId="0" nodeType="withEffect">
                                  <p:stCondLst>
                                    <p:cond delay="2050"/>
                                  </p:stCondLst>
                                  <p:childTnLst>
                                    <p:set>
                                      <p:cBhvr>
                                        <p:cTn id="84" dur="1" fill="hold">
                                          <p:stCondLst>
                                            <p:cond delay="0"/>
                                          </p:stCondLst>
                                        </p:cTn>
                                        <p:tgtEl>
                                          <p:spTgt spid="21"/>
                                        </p:tgtEl>
                                        <p:attrNameLst>
                                          <p:attrName>style.visibility</p:attrName>
                                        </p:attrNameLst>
                                      </p:cBhvr>
                                      <p:to>
                                        <p:strVal val="visible"/>
                                      </p:to>
                                    </p:set>
                                    <p:anim calcmode="lin" valueType="num">
                                      <p:cBhvr additive="base">
                                        <p:cTn id="85" dur="500" fill="hold"/>
                                        <p:tgtEl>
                                          <p:spTgt spid="21"/>
                                        </p:tgtEl>
                                        <p:attrNameLst>
                                          <p:attrName>ppt_w</p:attrName>
                                        </p:attrNameLst>
                                      </p:cBhvr>
                                      <p:tavLst>
                                        <p:tav tm="0">
                                          <p:val>
                                            <p:strVal val="#ppt_w*0.7"/>
                                          </p:val>
                                        </p:tav>
                                        <p:tav tm="100000">
                                          <p:val>
                                            <p:strVal val="#ppt_w"/>
                                          </p:val>
                                        </p:tav>
                                      </p:tavLst>
                                    </p:anim>
                                    <p:anim calcmode="lin" valueType="num">
                                      <p:cBhvr additive="base">
                                        <p:cTn id="86" dur="500" fill="hold"/>
                                        <p:tgtEl>
                                          <p:spTgt spid="21"/>
                                        </p:tgtEl>
                                        <p:attrNameLst>
                                          <p:attrName>ppt_h</p:attrName>
                                        </p:attrNameLst>
                                      </p:cBhvr>
                                      <p:tavLst>
                                        <p:tav tm="0">
                                          <p:val>
                                            <p:strVal val="#ppt_h*0.7"/>
                                          </p:val>
                                        </p:tav>
                                        <p:tav tm="100000">
                                          <p:val>
                                            <p:strVal val="#ppt_h"/>
                                          </p:val>
                                        </p:tav>
                                      </p:tavLst>
                                    </p:anim>
                                    <p:animEffect transition="in" filter="fade">
                                      <p:cBhvr>
                                        <p:cTn id="87" dur="500"/>
                                        <p:tgtEl>
                                          <p:spTgt spid="21"/>
                                        </p:tgtEl>
                                      </p:cBhvr>
                                    </p:animEffect>
                                  </p:childTnLst>
                                </p:cTn>
                              </p:par>
                              <p:par>
                                <p:cTn id="88" presetID="53" presetClass="entr" presetSubtype="16" fill="hold" grpId="0" nodeType="withEffect">
                                  <p:stCondLst>
                                    <p:cond delay="2099"/>
                                  </p:stCondLst>
                                  <p:childTnLst>
                                    <p:set>
                                      <p:cBhvr>
                                        <p:cTn id="89" dur="1" fill="hold">
                                          <p:stCondLst>
                                            <p:cond delay="0"/>
                                          </p:stCondLst>
                                        </p:cTn>
                                        <p:tgtEl>
                                          <p:spTgt spid="22"/>
                                        </p:tgtEl>
                                        <p:attrNameLst>
                                          <p:attrName>style.visibility</p:attrName>
                                        </p:attrNameLst>
                                      </p:cBhvr>
                                      <p:to>
                                        <p:strVal val="visible"/>
                                      </p:to>
                                    </p:set>
                                    <p:anim calcmode="lin" valueType="num">
                                      <p:cBhvr additive="base">
                                        <p:cTn id="90" dur="500" fill="hold"/>
                                        <p:tgtEl>
                                          <p:spTgt spid="22"/>
                                        </p:tgtEl>
                                        <p:attrNameLst>
                                          <p:attrName>ppt_w</p:attrName>
                                        </p:attrNameLst>
                                      </p:cBhvr>
                                      <p:tavLst>
                                        <p:tav tm="0">
                                          <p:val>
                                            <p:strVal val="#ppt_w*0.7"/>
                                          </p:val>
                                        </p:tav>
                                        <p:tav tm="100000">
                                          <p:val>
                                            <p:strVal val="#ppt_w"/>
                                          </p:val>
                                        </p:tav>
                                      </p:tavLst>
                                    </p:anim>
                                    <p:anim calcmode="lin" valueType="num">
                                      <p:cBhvr additive="base">
                                        <p:cTn id="91" dur="500" fill="hold"/>
                                        <p:tgtEl>
                                          <p:spTgt spid="22"/>
                                        </p:tgtEl>
                                        <p:attrNameLst>
                                          <p:attrName>ppt_h</p:attrName>
                                        </p:attrNameLst>
                                      </p:cBhvr>
                                      <p:tavLst>
                                        <p:tav tm="0">
                                          <p:val>
                                            <p:strVal val="#ppt_h*0.7"/>
                                          </p:val>
                                        </p:tav>
                                        <p:tav tm="100000">
                                          <p:val>
                                            <p:strVal val="#ppt_h"/>
                                          </p:val>
                                        </p:tav>
                                      </p:tavLst>
                                    </p:anim>
                                    <p:animEffect transition="in" filter="fade">
                                      <p:cBhvr>
                                        <p:cTn id="92" dur="500"/>
                                        <p:tgtEl>
                                          <p:spTgt spid="22"/>
                                        </p:tgtEl>
                                      </p:cBhvr>
                                    </p:animEffect>
                                  </p:childTnLst>
                                </p:cTn>
                              </p:par>
                              <p:par>
                                <p:cTn id="93" presetID="53" presetClass="entr" presetSubtype="16" fill="hold" grpId="0" nodeType="withEffect">
                                  <p:stCondLst>
                                    <p:cond delay="2149"/>
                                  </p:stCondLst>
                                  <p:childTnLst>
                                    <p:set>
                                      <p:cBhvr>
                                        <p:cTn id="94" dur="1" fill="hold">
                                          <p:stCondLst>
                                            <p:cond delay="0"/>
                                          </p:stCondLst>
                                        </p:cTn>
                                        <p:tgtEl>
                                          <p:spTgt spid="23"/>
                                        </p:tgtEl>
                                        <p:attrNameLst>
                                          <p:attrName>style.visibility</p:attrName>
                                        </p:attrNameLst>
                                      </p:cBhvr>
                                      <p:to>
                                        <p:strVal val="visible"/>
                                      </p:to>
                                    </p:set>
                                    <p:anim calcmode="lin" valueType="num">
                                      <p:cBhvr additive="base">
                                        <p:cTn id="95" dur="500" fill="hold"/>
                                        <p:tgtEl>
                                          <p:spTgt spid="23"/>
                                        </p:tgtEl>
                                        <p:attrNameLst>
                                          <p:attrName>ppt_w</p:attrName>
                                        </p:attrNameLst>
                                      </p:cBhvr>
                                      <p:tavLst>
                                        <p:tav tm="0">
                                          <p:val>
                                            <p:strVal val="#ppt_w*0.7"/>
                                          </p:val>
                                        </p:tav>
                                        <p:tav tm="100000">
                                          <p:val>
                                            <p:strVal val="#ppt_w"/>
                                          </p:val>
                                        </p:tav>
                                      </p:tavLst>
                                    </p:anim>
                                    <p:anim calcmode="lin" valueType="num">
                                      <p:cBhvr additive="base">
                                        <p:cTn id="96" dur="500" fill="hold"/>
                                        <p:tgtEl>
                                          <p:spTgt spid="23"/>
                                        </p:tgtEl>
                                        <p:attrNameLst>
                                          <p:attrName>ppt_h</p:attrName>
                                        </p:attrNameLst>
                                      </p:cBhvr>
                                      <p:tavLst>
                                        <p:tav tm="0">
                                          <p:val>
                                            <p:strVal val="#ppt_h*0.7"/>
                                          </p:val>
                                        </p:tav>
                                        <p:tav tm="100000">
                                          <p:val>
                                            <p:strVal val="#ppt_h"/>
                                          </p:val>
                                        </p:tav>
                                      </p:tavLst>
                                    </p:anim>
                                    <p:animEffect transition="in" filter="fade">
                                      <p:cBhvr>
                                        <p:cTn id="9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9" grpId="0" animBg="1"/>
      <p:bldP spid="11" grpId="0" animBg="1"/>
      <p:bldP spid="13" grpId="0" animBg="1"/>
      <p:bldP spid="15" grpId="0" animBg="1"/>
      <p:bldP spid="17" grpId="0" animBg="1"/>
      <p:bldP spid="19" grpId="0" animBg="1"/>
      <p:bldP spid="20" grpId="0" animBg="1"/>
      <p:bldP spid="21" grpId="0" animBg="1"/>
      <p:bldP spid="23"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4EA"/>
        </a:solidFill>
        <a:effectLst/>
      </p:bgPr>
    </p:bg>
    <p:spTree>
      <p:nvGrpSpPr>
        <p:cNvPr id="1" name=""/>
        <p:cNvGrpSpPr/>
        <p:nvPr/>
      </p:nvGrpSpPr>
      <p:grpSpPr/>
      <p:pic>
        <p:nvPicPr>
          <p:cNvPr id="2" name="!!bg" descr="paper.jpg"/>
          <p:cNvPicPr>
            <a:picLocks noChangeAspect="1"/>
          </p:cNvPicPr>
          <p:nvPr/>
        </p:nvPicPr>
        <p:blipFill>
          <a:blip r:embed="rId2"/>
          <a:srcRect l="1" r="1"/>
          <a:stretch>
            <a:fillRect/>
          </a:stretch>
        </p:blipFill>
        <p:spPr>
          <a:xfrm>
            <a:off x="0" y="0"/>
            <a:ext cx="12191695" cy="6858000"/>
          </a:xfrm>
          <a:prstGeom prst="rect">
            <a:avLst/>
          </a:prstGeom>
        </p:spPr>
      </p:pic>
      <p:sp>
        <p:nvSpPr>
          <p:cNvPr id="3" name="!!ttl"/>
          <p:cNvSpPr txBox="1"/>
          <p:nvPr/>
        </p:nvSpPr>
        <p:spPr>
          <a:xfrm>
            <a:off x="548640" y="292608"/>
            <a:ext cx="8595360" cy="566928"/>
          </a:xfrm>
          <a:prstGeom prst="rect">
            <a:avLst/>
          </a:prstGeom>
          <a:noFill/>
        </p:spPr>
        <p:txBody>
          <a:bodyPr wrap="none" lIns="0" rIns="0" tIns="0" bIns="0" anchor="b">
            <a:noAutofit/>
          </a:bodyPr>
          <a:lstStyle/>
          <a:p>
            <a:pPr algn="l"/>
            <a:r>
              <a:rPr sz="3000" b="0" i="0" spc="30">
                <a:solidFill>
                  <a:srgbClr val="7A2A10"/>
                </a:solidFill>
                <a:latin typeface="Anton"/>
                <a:ea typeface="Anton"/>
                <a:cs typeface="Anton"/>
              </a:rPr>
              <a:t>CÁC MÔ HÌNH HỢP TÁC THIẾT THỰC</a:t>
            </a:r>
          </a:p>
        </p:txBody>
      </p:sp>
      <p:sp>
        <p:nvSpPr>
          <p:cNvPr id="4" name="!!bar"/>
          <p:cNvSpPr/>
          <p:nvPr/>
        </p:nvSpPr>
        <p:spPr>
          <a:xfrm>
            <a:off x="548640" y="914400"/>
            <a:ext cx="822960" cy="59436"/>
          </a:xfrm>
          <a:prstGeom prst="rect">
            <a:avLst/>
          </a:prstGeom>
          <a:solidFill>
            <a:srgbClr val="F26B1F"/>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5" name="!!crumb"/>
          <p:cNvSpPr txBox="1"/>
          <p:nvPr/>
        </p:nvSpPr>
        <p:spPr>
          <a:xfrm>
            <a:off x="7436815" y="384048"/>
            <a:ext cx="4206240" cy="274320"/>
          </a:xfrm>
          <a:prstGeom prst="rect">
            <a:avLst/>
          </a:prstGeom>
          <a:noFill/>
        </p:spPr>
        <p:txBody>
          <a:bodyPr wrap="square" lIns="0" rIns="0" tIns="0" bIns="0" anchor="t">
            <a:noAutofit/>
          </a:bodyPr>
          <a:lstStyle/>
          <a:p>
            <a:pPr algn="r"/>
            <a:r>
              <a:rPr sz="900" b="0" i="0" spc="80">
                <a:solidFill>
                  <a:srgbClr val="A08576"/>
                </a:solidFill>
                <a:latin typeface="Lexend Medium"/>
                <a:ea typeface="Lexend Medium"/>
                <a:cs typeface="Lexend Medium"/>
              </a:rPr>
              <a:t>HỢP TÁC DOANH NGHIỆP – NHÀ TRƯỜNG</a:t>
            </a:r>
          </a:p>
        </p:txBody>
      </p:sp>
      <p:sp>
        <p:nvSpPr>
          <p:cNvPr id="6" name="TextBox 5"/>
          <p:cNvSpPr txBox="1"/>
          <p:nvPr/>
        </p:nvSpPr>
        <p:spPr>
          <a:xfrm>
            <a:off x="10911535" y="6473952"/>
            <a:ext cx="731520" cy="237744"/>
          </a:xfrm>
          <a:prstGeom prst="rect">
            <a:avLst/>
          </a:prstGeom>
          <a:noFill/>
        </p:spPr>
        <p:txBody>
          <a:bodyPr wrap="square" lIns="0" rIns="0" tIns="0" bIns="0" anchor="t">
            <a:noAutofit/>
          </a:bodyPr>
          <a:lstStyle/>
          <a:p>
            <a:pPr algn="r"/>
            <a:r>
              <a:rPr sz="1000" b="0" i="0">
                <a:solidFill>
                  <a:srgbClr val="A08576"/>
                </a:solidFill>
                <a:latin typeface="Anton"/>
                <a:ea typeface="Anton"/>
                <a:cs typeface="Anton"/>
              </a:rPr>
              <a:t>04</a:t>
            </a:r>
          </a:p>
        </p:txBody>
      </p:sp>
      <p:sp>
        <p:nvSpPr>
          <p:cNvPr id="7" name="Pentagon 6"/>
          <p:cNvSpPr/>
          <p:nvPr/>
        </p:nvSpPr>
        <p:spPr>
          <a:xfrm>
            <a:off x="548640" y="1325880"/>
            <a:ext cx="2401763" cy="1051560"/>
          </a:xfrm>
          <a:prstGeom prst="homePlate">
            <a:avLst>
              <a:gd name="adj" fmla="val 32000"/>
            </a:avLst>
          </a:prstGeom>
          <a:solidFill>
            <a:srgbClr val="FF9A35"/>
          </a:solidFill>
          <a:ln>
            <a:noFill/>
          </a:ln>
          <a:effectLst>
            <a:outerShdw blurRad="182880" dist="45720" dir="5400000" algn="ctr" rotWithShape="0">
              <a:srgbClr val="8A3A10">
                <a:alpha val="25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8" name="Picture 7" descr="book-open_FFFFFF.png"/>
          <p:cNvPicPr>
            <a:picLocks noChangeAspect="1"/>
          </p:cNvPicPr>
          <p:nvPr/>
        </p:nvPicPr>
        <p:blipFill>
          <a:blip r:embed="rId3"/>
          <a:stretch>
            <a:fillRect/>
          </a:stretch>
        </p:blipFill>
        <p:spPr>
          <a:xfrm>
            <a:off x="1502634" y="1609344"/>
            <a:ext cx="493776" cy="493776"/>
          </a:xfrm>
          <a:prstGeom prst="rect">
            <a:avLst/>
          </a:prstGeom>
        </p:spPr>
      </p:pic>
      <p:sp>
        <p:nvSpPr>
          <p:cNvPr id="9" name="TextBox 8"/>
          <p:cNvSpPr txBox="1"/>
          <p:nvPr/>
        </p:nvSpPr>
        <p:spPr>
          <a:xfrm>
            <a:off x="822960" y="2514600"/>
            <a:ext cx="1853123" cy="411480"/>
          </a:xfrm>
          <a:prstGeom prst="rect">
            <a:avLst/>
          </a:prstGeom>
          <a:noFill/>
        </p:spPr>
        <p:txBody>
          <a:bodyPr wrap="square" lIns="0" rIns="0" tIns="0" bIns="0" anchor="t">
            <a:noAutofit/>
          </a:bodyPr>
          <a:lstStyle/>
          <a:p>
            <a:pPr algn="ctr"/>
            <a:r>
              <a:rPr sz="2600" b="0" i="0">
                <a:solidFill>
                  <a:srgbClr val="F26B1F"/>
                </a:solidFill>
                <a:latin typeface="Anton"/>
                <a:ea typeface="Anton"/>
                <a:cs typeface="Anton"/>
              </a:rPr>
              <a:t>01</a:t>
            </a:r>
          </a:p>
        </p:txBody>
      </p:sp>
      <p:sp>
        <p:nvSpPr>
          <p:cNvPr id="10" name="TextBox 9"/>
          <p:cNvSpPr txBox="1"/>
          <p:nvPr/>
        </p:nvSpPr>
        <p:spPr>
          <a:xfrm>
            <a:off x="731520" y="2953512"/>
            <a:ext cx="1990283" cy="548640"/>
          </a:xfrm>
          <a:prstGeom prst="rect">
            <a:avLst/>
          </a:prstGeom>
          <a:noFill/>
        </p:spPr>
        <p:txBody>
          <a:bodyPr wrap="square" lIns="0" rIns="0" tIns="0" bIns="0" anchor="t">
            <a:noAutofit/>
          </a:bodyPr>
          <a:lstStyle/>
          <a:p>
            <a:pPr algn="ctr">
              <a:lnSpc>
                <a:spcPct val="105000"/>
              </a:lnSpc>
            </a:pPr>
            <a:r>
              <a:rPr sz="1350" b="0" i="0">
                <a:solidFill>
                  <a:srgbClr val="3E2A1F"/>
                </a:solidFill>
                <a:latin typeface="Lexend SemiBold"/>
                <a:ea typeface="Lexend SemiBold"/>
                <a:cs typeface="Lexend SemiBold"/>
              </a:rPr>
              <a:t>Đào tạo gắn với thực tiễn</a:t>
            </a:r>
          </a:p>
        </p:txBody>
      </p:sp>
      <p:sp>
        <p:nvSpPr>
          <p:cNvPr id="11" name="TextBox 10"/>
          <p:cNvSpPr txBox="1"/>
          <p:nvPr/>
        </p:nvSpPr>
        <p:spPr>
          <a:xfrm>
            <a:off x="731520" y="3520440"/>
            <a:ext cx="1990283" cy="685800"/>
          </a:xfrm>
          <a:prstGeom prst="rect">
            <a:avLst/>
          </a:prstGeom>
          <a:noFill/>
        </p:spPr>
        <p:txBody>
          <a:bodyPr wrap="square" lIns="0" rIns="0" tIns="0" bIns="0" anchor="t">
            <a:noAutofit/>
          </a:bodyPr>
          <a:lstStyle/>
          <a:p>
            <a:pPr algn="ctr">
              <a:lnSpc>
                <a:spcPct val="115000"/>
              </a:lnSpc>
            </a:pPr>
            <a:r>
              <a:rPr sz="1100" b="0" i="0">
                <a:solidFill>
                  <a:srgbClr val="5A473C"/>
                </a:solidFill>
                <a:latin typeface="Lexend"/>
                <a:ea typeface="Lexend"/>
                <a:cs typeface="Lexend"/>
              </a:rPr>
              <a:t>Doanh nghiệp tham gia góp ý giáo trình và nội dung đào tạo.</a:t>
            </a:r>
          </a:p>
        </p:txBody>
      </p:sp>
      <p:sp>
        <p:nvSpPr>
          <p:cNvPr id="12" name="Chevron 11"/>
          <p:cNvSpPr/>
          <p:nvPr/>
        </p:nvSpPr>
        <p:spPr>
          <a:xfrm>
            <a:off x="2721803" y="1325880"/>
            <a:ext cx="2401763" cy="1051560"/>
          </a:xfrm>
          <a:prstGeom prst="chevron">
            <a:avLst>
              <a:gd name="adj" fmla="val 32000"/>
            </a:avLst>
          </a:prstGeom>
          <a:solidFill>
            <a:srgbClr val="F98227"/>
          </a:solidFill>
          <a:ln>
            <a:noFill/>
          </a:ln>
          <a:effectLst>
            <a:outerShdw blurRad="182880" dist="45720" dir="5400000" algn="ctr" rotWithShape="0">
              <a:srgbClr val="8A3A10">
                <a:alpha val="25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13" name="Picture 12" descr="briefcase_FFFFFF.png"/>
          <p:cNvPicPr>
            <a:picLocks noChangeAspect="1"/>
          </p:cNvPicPr>
          <p:nvPr/>
        </p:nvPicPr>
        <p:blipFill>
          <a:blip r:embed="rId4"/>
          <a:stretch>
            <a:fillRect/>
          </a:stretch>
        </p:blipFill>
        <p:spPr>
          <a:xfrm>
            <a:off x="3675797" y="1609344"/>
            <a:ext cx="493776" cy="493776"/>
          </a:xfrm>
          <a:prstGeom prst="rect">
            <a:avLst/>
          </a:prstGeom>
        </p:spPr>
      </p:pic>
      <p:sp>
        <p:nvSpPr>
          <p:cNvPr id="14" name="TextBox 13"/>
          <p:cNvSpPr txBox="1"/>
          <p:nvPr/>
        </p:nvSpPr>
        <p:spPr>
          <a:xfrm>
            <a:off x="2996123" y="2514600"/>
            <a:ext cx="1853123" cy="411480"/>
          </a:xfrm>
          <a:prstGeom prst="rect">
            <a:avLst/>
          </a:prstGeom>
          <a:noFill/>
        </p:spPr>
        <p:txBody>
          <a:bodyPr wrap="square" lIns="0" rIns="0" tIns="0" bIns="0" anchor="t">
            <a:noAutofit/>
          </a:bodyPr>
          <a:lstStyle/>
          <a:p>
            <a:pPr algn="ctr"/>
            <a:r>
              <a:rPr sz="2600" b="0" i="0">
                <a:solidFill>
                  <a:srgbClr val="F26B1F"/>
                </a:solidFill>
                <a:latin typeface="Anton"/>
                <a:ea typeface="Anton"/>
                <a:cs typeface="Anton"/>
              </a:rPr>
              <a:t>02</a:t>
            </a:r>
          </a:p>
        </p:txBody>
      </p:sp>
      <p:sp>
        <p:nvSpPr>
          <p:cNvPr id="15" name="TextBox 14"/>
          <p:cNvSpPr txBox="1"/>
          <p:nvPr/>
        </p:nvSpPr>
        <p:spPr>
          <a:xfrm>
            <a:off x="2904683" y="2953512"/>
            <a:ext cx="1990283" cy="548640"/>
          </a:xfrm>
          <a:prstGeom prst="rect">
            <a:avLst/>
          </a:prstGeom>
          <a:noFill/>
        </p:spPr>
        <p:txBody>
          <a:bodyPr wrap="square" lIns="0" rIns="0" tIns="0" bIns="0" anchor="t">
            <a:noAutofit/>
          </a:bodyPr>
          <a:lstStyle/>
          <a:p>
            <a:pPr algn="ctr">
              <a:lnSpc>
                <a:spcPct val="105000"/>
              </a:lnSpc>
            </a:pPr>
            <a:r>
              <a:rPr sz="1350" b="0" i="0">
                <a:solidFill>
                  <a:srgbClr val="3E2A1F"/>
                </a:solidFill>
                <a:latin typeface="Lexend SemiBold"/>
                <a:ea typeface="Lexend SemiBold"/>
                <a:cs typeface="Lexend SemiBold"/>
              </a:rPr>
              <a:t>Thực tập doanh nghiệp</a:t>
            </a:r>
          </a:p>
        </p:txBody>
      </p:sp>
      <p:sp>
        <p:nvSpPr>
          <p:cNvPr id="16" name="TextBox 15"/>
          <p:cNvSpPr txBox="1"/>
          <p:nvPr/>
        </p:nvSpPr>
        <p:spPr>
          <a:xfrm>
            <a:off x="2904683" y="3520440"/>
            <a:ext cx="1990283" cy="685800"/>
          </a:xfrm>
          <a:prstGeom prst="rect">
            <a:avLst/>
          </a:prstGeom>
          <a:noFill/>
        </p:spPr>
        <p:txBody>
          <a:bodyPr wrap="square" lIns="0" rIns="0" tIns="0" bIns="0" anchor="t">
            <a:noAutofit/>
          </a:bodyPr>
          <a:lstStyle/>
          <a:p>
            <a:pPr algn="ctr">
              <a:lnSpc>
                <a:spcPct val="115000"/>
              </a:lnSpc>
            </a:pPr>
            <a:r>
              <a:rPr sz="1100" b="0" i="0">
                <a:solidFill>
                  <a:srgbClr val="5A473C"/>
                </a:solidFill>
                <a:latin typeface="Lexend"/>
                <a:ea typeface="Lexend"/>
                <a:cs typeface="Lexend"/>
              </a:rPr>
              <a:t>Sinh viên được trải nghiệm môi trường làm việc thực tế.</a:t>
            </a:r>
          </a:p>
        </p:txBody>
      </p:sp>
      <p:sp>
        <p:nvSpPr>
          <p:cNvPr id="17" name="Chevron 16"/>
          <p:cNvSpPr/>
          <p:nvPr/>
        </p:nvSpPr>
        <p:spPr>
          <a:xfrm>
            <a:off x="4894966" y="1325880"/>
            <a:ext cx="2401763" cy="1051560"/>
          </a:xfrm>
          <a:prstGeom prst="chevron">
            <a:avLst>
              <a:gd name="adj" fmla="val 32000"/>
            </a:avLst>
          </a:prstGeom>
          <a:solidFill>
            <a:srgbClr val="F26B1F"/>
          </a:solidFill>
          <a:ln>
            <a:noFill/>
          </a:ln>
          <a:effectLst>
            <a:outerShdw blurRad="182880" dist="45720" dir="5400000" algn="ctr" rotWithShape="0">
              <a:srgbClr val="8A3A10">
                <a:alpha val="25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18" name="Picture 17" descr="compass_FFFFFF.png"/>
          <p:cNvPicPr>
            <a:picLocks noChangeAspect="1"/>
          </p:cNvPicPr>
          <p:nvPr/>
        </p:nvPicPr>
        <p:blipFill>
          <a:blip r:embed="rId5"/>
          <a:stretch>
            <a:fillRect/>
          </a:stretch>
        </p:blipFill>
        <p:spPr>
          <a:xfrm>
            <a:off x="5848960" y="1609344"/>
            <a:ext cx="493776" cy="493776"/>
          </a:xfrm>
          <a:prstGeom prst="rect">
            <a:avLst/>
          </a:prstGeom>
        </p:spPr>
      </p:pic>
      <p:sp>
        <p:nvSpPr>
          <p:cNvPr id="19" name="TextBox 18"/>
          <p:cNvSpPr txBox="1"/>
          <p:nvPr/>
        </p:nvSpPr>
        <p:spPr>
          <a:xfrm>
            <a:off x="5169286" y="2514600"/>
            <a:ext cx="1853123" cy="411480"/>
          </a:xfrm>
          <a:prstGeom prst="rect">
            <a:avLst/>
          </a:prstGeom>
          <a:noFill/>
        </p:spPr>
        <p:txBody>
          <a:bodyPr wrap="square" lIns="0" rIns="0" tIns="0" bIns="0" anchor="t">
            <a:noAutofit/>
          </a:bodyPr>
          <a:lstStyle/>
          <a:p>
            <a:pPr algn="ctr"/>
            <a:r>
              <a:rPr sz="2600" b="0" i="0">
                <a:solidFill>
                  <a:srgbClr val="F26B1F"/>
                </a:solidFill>
                <a:latin typeface="Anton"/>
                <a:ea typeface="Anton"/>
                <a:cs typeface="Anton"/>
              </a:rPr>
              <a:t>03</a:t>
            </a:r>
          </a:p>
        </p:txBody>
      </p:sp>
      <p:sp>
        <p:nvSpPr>
          <p:cNvPr id="20" name="TextBox 19"/>
          <p:cNvSpPr txBox="1"/>
          <p:nvPr/>
        </p:nvSpPr>
        <p:spPr>
          <a:xfrm>
            <a:off x="5077846" y="2953512"/>
            <a:ext cx="1990283" cy="548640"/>
          </a:xfrm>
          <a:prstGeom prst="rect">
            <a:avLst/>
          </a:prstGeom>
          <a:noFill/>
        </p:spPr>
        <p:txBody>
          <a:bodyPr wrap="square" lIns="0" rIns="0" tIns="0" bIns="0" anchor="t">
            <a:noAutofit/>
          </a:bodyPr>
          <a:lstStyle/>
          <a:p>
            <a:pPr algn="ctr">
              <a:lnSpc>
                <a:spcPct val="105000"/>
              </a:lnSpc>
            </a:pPr>
            <a:r>
              <a:rPr sz="1350" b="0" i="0">
                <a:solidFill>
                  <a:srgbClr val="3E2A1F"/>
                </a:solidFill>
                <a:latin typeface="Lexend SemiBold"/>
                <a:ea typeface="Lexend SemiBold"/>
                <a:cs typeface="Lexend SemiBold"/>
              </a:rPr>
              <a:t>Định hướng nghề nghiệp</a:t>
            </a:r>
          </a:p>
        </p:txBody>
      </p:sp>
      <p:sp>
        <p:nvSpPr>
          <p:cNvPr id="21" name="TextBox 20"/>
          <p:cNvSpPr txBox="1"/>
          <p:nvPr/>
        </p:nvSpPr>
        <p:spPr>
          <a:xfrm>
            <a:off x="5077846" y="3520440"/>
            <a:ext cx="1990283" cy="685800"/>
          </a:xfrm>
          <a:prstGeom prst="rect">
            <a:avLst/>
          </a:prstGeom>
          <a:noFill/>
        </p:spPr>
        <p:txBody>
          <a:bodyPr wrap="square" lIns="0" rIns="0" tIns="0" bIns="0" anchor="t">
            <a:noAutofit/>
          </a:bodyPr>
          <a:lstStyle/>
          <a:p>
            <a:pPr algn="ctr">
              <a:lnSpc>
                <a:spcPct val="115000"/>
              </a:lnSpc>
            </a:pPr>
            <a:r>
              <a:rPr sz="1100" b="0" i="0">
                <a:solidFill>
                  <a:srgbClr val="5A473C"/>
                </a:solidFill>
                <a:latin typeface="Lexend"/>
                <a:ea typeface="Lexend"/>
                <a:cs typeface="Lexend"/>
              </a:rPr>
              <a:t>Tổ chức hội thảo, giao lưu với chuyên gia và nhà tuyển dụng.</a:t>
            </a:r>
          </a:p>
        </p:txBody>
      </p:sp>
      <p:sp>
        <p:nvSpPr>
          <p:cNvPr id="22" name="Chevron 21"/>
          <p:cNvSpPr/>
          <p:nvPr/>
        </p:nvSpPr>
        <p:spPr>
          <a:xfrm>
            <a:off x="7068129" y="1325880"/>
            <a:ext cx="2401763" cy="1051560"/>
          </a:xfrm>
          <a:prstGeom prst="chevron">
            <a:avLst>
              <a:gd name="adj" fmla="val 32000"/>
            </a:avLst>
          </a:prstGeom>
          <a:solidFill>
            <a:srgbClr val="E3521C"/>
          </a:solidFill>
          <a:ln>
            <a:noFill/>
          </a:ln>
          <a:effectLst>
            <a:outerShdw blurRad="182880" dist="45720" dir="5400000" algn="ctr" rotWithShape="0">
              <a:srgbClr val="8A3A10">
                <a:alpha val="25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23" name="Picture 22" descr="user-check_FFFFFF.png"/>
          <p:cNvPicPr>
            <a:picLocks noChangeAspect="1"/>
          </p:cNvPicPr>
          <p:nvPr/>
        </p:nvPicPr>
        <p:blipFill>
          <a:blip r:embed="rId6"/>
          <a:stretch>
            <a:fillRect/>
          </a:stretch>
        </p:blipFill>
        <p:spPr>
          <a:xfrm>
            <a:off x="8022123" y="1609344"/>
            <a:ext cx="493776" cy="493776"/>
          </a:xfrm>
          <a:prstGeom prst="rect">
            <a:avLst/>
          </a:prstGeom>
        </p:spPr>
      </p:pic>
      <p:sp>
        <p:nvSpPr>
          <p:cNvPr id="24" name="TextBox 23"/>
          <p:cNvSpPr txBox="1"/>
          <p:nvPr/>
        </p:nvSpPr>
        <p:spPr>
          <a:xfrm>
            <a:off x="7342449" y="2514600"/>
            <a:ext cx="1853123" cy="411480"/>
          </a:xfrm>
          <a:prstGeom prst="rect">
            <a:avLst/>
          </a:prstGeom>
          <a:noFill/>
        </p:spPr>
        <p:txBody>
          <a:bodyPr wrap="square" lIns="0" rIns="0" tIns="0" bIns="0" anchor="t">
            <a:noAutofit/>
          </a:bodyPr>
          <a:lstStyle/>
          <a:p>
            <a:pPr algn="ctr"/>
            <a:r>
              <a:rPr sz="2600" b="0" i="0">
                <a:solidFill>
                  <a:srgbClr val="F26B1F"/>
                </a:solidFill>
                <a:latin typeface="Anton"/>
                <a:ea typeface="Anton"/>
                <a:cs typeface="Anton"/>
              </a:rPr>
              <a:t>04</a:t>
            </a:r>
          </a:p>
        </p:txBody>
      </p:sp>
      <p:sp>
        <p:nvSpPr>
          <p:cNvPr id="25" name="TextBox 24"/>
          <p:cNvSpPr txBox="1"/>
          <p:nvPr/>
        </p:nvSpPr>
        <p:spPr>
          <a:xfrm>
            <a:off x="7251009" y="2953512"/>
            <a:ext cx="1990283" cy="548640"/>
          </a:xfrm>
          <a:prstGeom prst="rect">
            <a:avLst/>
          </a:prstGeom>
          <a:noFill/>
        </p:spPr>
        <p:txBody>
          <a:bodyPr wrap="square" lIns="0" rIns="0" tIns="0" bIns="0" anchor="t">
            <a:noAutofit/>
          </a:bodyPr>
          <a:lstStyle/>
          <a:p>
            <a:pPr algn="ctr">
              <a:lnSpc>
                <a:spcPct val="105000"/>
              </a:lnSpc>
            </a:pPr>
            <a:r>
              <a:rPr sz="1350" b="0" i="0">
                <a:solidFill>
                  <a:srgbClr val="3E2A1F"/>
                </a:solidFill>
                <a:latin typeface="Lexend SemiBold"/>
                <a:ea typeface="Lexend SemiBold"/>
                <a:cs typeface="Lexend SemiBold"/>
              </a:rPr>
              <a:t>Hỗ trợ tuyển dụng</a:t>
            </a:r>
          </a:p>
        </p:txBody>
      </p:sp>
      <p:sp>
        <p:nvSpPr>
          <p:cNvPr id="26" name="TextBox 25"/>
          <p:cNvSpPr txBox="1"/>
          <p:nvPr/>
        </p:nvSpPr>
        <p:spPr>
          <a:xfrm>
            <a:off x="7251009" y="3520440"/>
            <a:ext cx="1990283" cy="685800"/>
          </a:xfrm>
          <a:prstGeom prst="rect">
            <a:avLst/>
          </a:prstGeom>
          <a:noFill/>
        </p:spPr>
        <p:txBody>
          <a:bodyPr wrap="square" lIns="0" rIns="0" tIns="0" bIns="0" anchor="t">
            <a:noAutofit/>
          </a:bodyPr>
          <a:lstStyle/>
          <a:p>
            <a:pPr algn="ctr">
              <a:lnSpc>
                <a:spcPct val="115000"/>
              </a:lnSpc>
            </a:pPr>
            <a:r>
              <a:rPr sz="1100" b="0" i="0">
                <a:solidFill>
                  <a:srgbClr val="5A473C"/>
                </a:solidFill>
                <a:latin typeface="Lexend"/>
                <a:ea typeface="Lexend"/>
                <a:cs typeface="Lexend"/>
              </a:rPr>
              <a:t>Kết nối sinh viên với các vị trí việc làm phù hợp.</a:t>
            </a:r>
          </a:p>
        </p:txBody>
      </p:sp>
      <p:sp>
        <p:nvSpPr>
          <p:cNvPr id="27" name="Chevron 26"/>
          <p:cNvSpPr/>
          <p:nvPr/>
        </p:nvSpPr>
        <p:spPr>
          <a:xfrm>
            <a:off x="9241292" y="1325880"/>
            <a:ext cx="2401763" cy="1051560"/>
          </a:xfrm>
          <a:prstGeom prst="chevron">
            <a:avLst>
              <a:gd name="adj" fmla="val 32000"/>
            </a:avLst>
          </a:prstGeom>
          <a:solidFill>
            <a:srgbClr val="D9381E"/>
          </a:solidFill>
          <a:ln>
            <a:noFill/>
          </a:ln>
          <a:effectLst>
            <a:outerShdw blurRad="182880" dist="45720" dir="5400000" algn="ctr" rotWithShape="0">
              <a:srgbClr val="8A3A10">
                <a:alpha val="25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28" name="Picture 27" descr="globe_FFFFFF.png"/>
          <p:cNvPicPr>
            <a:picLocks noChangeAspect="1"/>
          </p:cNvPicPr>
          <p:nvPr/>
        </p:nvPicPr>
        <p:blipFill>
          <a:blip r:embed="rId7"/>
          <a:stretch>
            <a:fillRect/>
          </a:stretch>
        </p:blipFill>
        <p:spPr>
          <a:xfrm>
            <a:off x="10195286" y="1609344"/>
            <a:ext cx="493776" cy="493776"/>
          </a:xfrm>
          <a:prstGeom prst="rect">
            <a:avLst/>
          </a:prstGeom>
        </p:spPr>
      </p:pic>
      <p:sp>
        <p:nvSpPr>
          <p:cNvPr id="29" name="TextBox 28"/>
          <p:cNvSpPr txBox="1"/>
          <p:nvPr/>
        </p:nvSpPr>
        <p:spPr>
          <a:xfrm>
            <a:off x="9515612" y="2514600"/>
            <a:ext cx="1853123" cy="411480"/>
          </a:xfrm>
          <a:prstGeom prst="rect">
            <a:avLst/>
          </a:prstGeom>
          <a:noFill/>
        </p:spPr>
        <p:txBody>
          <a:bodyPr wrap="square" lIns="0" rIns="0" tIns="0" bIns="0" anchor="t">
            <a:noAutofit/>
          </a:bodyPr>
          <a:lstStyle/>
          <a:p>
            <a:pPr algn="ctr"/>
            <a:r>
              <a:rPr sz="2600" b="0" i="0">
                <a:solidFill>
                  <a:srgbClr val="F26B1F"/>
                </a:solidFill>
                <a:latin typeface="Anton"/>
                <a:ea typeface="Anton"/>
                <a:cs typeface="Anton"/>
              </a:rPr>
              <a:t>05</a:t>
            </a:r>
          </a:p>
        </p:txBody>
      </p:sp>
      <p:sp>
        <p:nvSpPr>
          <p:cNvPr id="30" name="TextBox 29"/>
          <p:cNvSpPr txBox="1"/>
          <p:nvPr/>
        </p:nvSpPr>
        <p:spPr>
          <a:xfrm>
            <a:off x="9424172" y="2953512"/>
            <a:ext cx="1990283" cy="548640"/>
          </a:xfrm>
          <a:prstGeom prst="rect">
            <a:avLst/>
          </a:prstGeom>
          <a:noFill/>
        </p:spPr>
        <p:txBody>
          <a:bodyPr wrap="square" lIns="0" rIns="0" tIns="0" bIns="0" anchor="t">
            <a:noAutofit/>
          </a:bodyPr>
          <a:lstStyle/>
          <a:p>
            <a:pPr algn="ctr">
              <a:lnSpc>
                <a:spcPct val="105000"/>
              </a:lnSpc>
            </a:pPr>
            <a:r>
              <a:rPr sz="1350" b="0" i="0">
                <a:solidFill>
                  <a:srgbClr val="3E2A1F"/>
                </a:solidFill>
                <a:latin typeface="Lexend SemiBold"/>
                <a:ea typeface="Lexend SemiBold"/>
                <a:cs typeface="Lexend SemiBold"/>
              </a:rPr>
              <a:t>Hợp tác quốc tế</a:t>
            </a:r>
          </a:p>
        </p:txBody>
      </p:sp>
      <p:sp>
        <p:nvSpPr>
          <p:cNvPr id="31" name="TextBox 30"/>
          <p:cNvSpPr txBox="1"/>
          <p:nvPr/>
        </p:nvSpPr>
        <p:spPr>
          <a:xfrm>
            <a:off x="9424172" y="3520440"/>
            <a:ext cx="1990283" cy="685800"/>
          </a:xfrm>
          <a:prstGeom prst="rect">
            <a:avLst/>
          </a:prstGeom>
          <a:noFill/>
        </p:spPr>
        <p:txBody>
          <a:bodyPr wrap="square" lIns="0" rIns="0" tIns="0" bIns="0" anchor="t">
            <a:noAutofit/>
          </a:bodyPr>
          <a:lstStyle/>
          <a:p>
            <a:pPr algn="ctr">
              <a:lnSpc>
                <a:spcPct val="115000"/>
              </a:lnSpc>
            </a:pPr>
            <a:r>
              <a:rPr sz="1100" b="0" i="0">
                <a:solidFill>
                  <a:srgbClr val="5A473C"/>
                </a:solidFill>
                <a:latin typeface="Lexend"/>
                <a:ea typeface="Lexend"/>
                <a:cs typeface="Lexend"/>
              </a:rPr>
              <a:t>Phát triển chương trình trao đổi, đào tạo và cơ hội làm việc tại Hàn Quốc.</a:t>
            </a:r>
          </a:p>
        </p:txBody>
      </p:sp>
      <p:pic>
        <p:nvPicPr>
          <p:cNvPr id="32" name="Picture 31" descr="sv-thuy-loi-thuc-hanh.jpg"/>
          <p:cNvPicPr>
            <a:picLocks noChangeAspect="1"/>
          </p:cNvPicPr>
          <p:nvPr/>
        </p:nvPicPr>
        <p:blipFill>
          <a:blip r:embed="rId8"/>
          <a:srcRect l="59" r="59"/>
          <a:stretch>
            <a:fillRect/>
          </a:stretch>
        </p:blipFill>
        <p:spPr>
          <a:xfrm>
            <a:off x="548640" y="4343400"/>
            <a:ext cx="4206240" cy="1947672"/>
          </a:xfrm>
          <a:prstGeom prst="roundRect">
            <a:avLst>
              <a:gd name="adj" fmla="val 5633"/>
            </a:avLst>
          </a:prstGeom>
          <a:ln w="31750">
            <a:solidFill>
              <a:srgbClr val="FFFFFF"/>
            </a:solidFill>
          </a:ln>
          <a:effectLst>
            <a:outerShdw blurRad="274320" dist="73152" dir="5400000" algn="ctr" rotWithShape="0">
              <a:srgbClr val="6A2A08">
                <a:alpha val="28000"/>
              </a:srgbClr>
            </a:outerShdw>
          </a:effectLst>
        </p:spPr>
      </p:pic>
      <p:sp>
        <p:nvSpPr>
          <p:cNvPr id="33" name="Rounded Rectangle 32"/>
          <p:cNvSpPr/>
          <p:nvPr/>
        </p:nvSpPr>
        <p:spPr>
          <a:xfrm>
            <a:off x="5166360" y="4877308"/>
            <a:ext cx="6476695" cy="879856"/>
          </a:xfrm>
          <a:prstGeom prst="roundRect">
            <a:avLst>
              <a:gd name="adj" fmla="val 14549"/>
            </a:avLst>
          </a:prstGeom>
          <a:solidFill>
            <a:srgbClr val="FFFFFF">
              <a:alpha val="62000"/>
            </a:srgbClr>
          </a:solidFill>
          <a:ln w="15875">
            <a:solidFill>
              <a:srgbClr val="F26B1F"/>
            </a:solidFill>
            <a:prstDash val="dash"/>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34" name="Rounded Rectangle 33"/>
          <p:cNvSpPr/>
          <p:nvPr/>
        </p:nvSpPr>
        <p:spPr>
          <a:xfrm>
            <a:off x="5440680" y="4731004"/>
            <a:ext cx="1143248" cy="292608"/>
          </a:xfrm>
          <a:prstGeom prst="roundRect">
            <a:avLst>
              <a:gd name="adj" fmla="val 25000"/>
            </a:avLst>
          </a:prstGeom>
          <a:solidFill>
            <a:srgbClr val="F26B1F"/>
          </a:solidFill>
          <a:ln>
            <a:noFill/>
          </a:ln>
          <a:effectLst/>
        </p:spPr>
        <p:style>
          <a:lnRef idx="1">
            <a:schemeClr val="accent1"/>
          </a:lnRef>
          <a:fillRef idx="3">
            <a:schemeClr val="accent1"/>
          </a:fillRef>
          <a:effectRef idx="0">
            <a:schemeClr val="accent1"/>
          </a:effectRef>
          <a:fontRef idx="minor">
            <a:schemeClr val="lt1"/>
          </a:fontRef>
        </p:style>
        <p:txBody>
          <a:bodyPr rtlCol="0" anchor="ctr" lIns="45720" rIns="45720" tIns="0" bIns="0" wrap="square"/>
          <a:lstStyle/>
          <a:p>
            <a:pPr algn="ctr"/>
            <a:r>
              <a:rPr sz="1100" b="0" i="0" spc="150">
                <a:solidFill>
                  <a:srgbClr val="FFFFFF"/>
                </a:solidFill>
                <a:latin typeface="Anton"/>
                <a:ea typeface="Anton"/>
                <a:cs typeface="Anton"/>
              </a:rPr>
              <a:t>THÔNG ĐIỆP</a:t>
            </a:r>
          </a:p>
        </p:txBody>
      </p:sp>
      <p:pic>
        <p:nvPicPr>
          <p:cNvPr id="35" name="Picture 34" descr="megaphone_F26B1F.png"/>
          <p:cNvPicPr>
            <a:picLocks noChangeAspect="1"/>
          </p:cNvPicPr>
          <p:nvPr/>
        </p:nvPicPr>
        <p:blipFill>
          <a:blip r:embed="rId9"/>
          <a:stretch>
            <a:fillRect/>
          </a:stretch>
        </p:blipFill>
        <p:spPr>
          <a:xfrm>
            <a:off x="5458968" y="5134356"/>
            <a:ext cx="365760" cy="365760"/>
          </a:xfrm>
          <a:prstGeom prst="rect">
            <a:avLst/>
          </a:prstGeom>
        </p:spPr>
      </p:pic>
      <p:sp>
        <p:nvSpPr>
          <p:cNvPr id="36" name="TextBox 35"/>
          <p:cNvSpPr txBox="1"/>
          <p:nvPr/>
        </p:nvSpPr>
        <p:spPr>
          <a:xfrm>
            <a:off x="6035040" y="5005324"/>
            <a:ext cx="5333695" cy="678688"/>
          </a:xfrm>
          <a:prstGeom prst="rect">
            <a:avLst/>
          </a:prstGeom>
          <a:noFill/>
        </p:spPr>
        <p:txBody>
          <a:bodyPr wrap="square" lIns="0" rIns="0" tIns="0" bIns="0" anchor="ctr">
            <a:noAutofit/>
          </a:bodyPr>
          <a:lstStyle/>
          <a:p>
            <a:pPr algn="l">
              <a:lnSpc>
                <a:spcPct val="125000"/>
              </a:lnSpc>
              <a:spcAft>
                <a:spcPts val="0"/>
              </a:spcAft>
            </a:pPr>
            <a:r>
              <a:rPr sz="1300" b="0" i="0">
                <a:solidFill>
                  <a:srgbClr val="3E2A1F"/>
                </a:solidFill>
                <a:latin typeface="Lexend Medium"/>
                <a:ea typeface="Lexend Medium"/>
                <a:cs typeface="Lexend Medium"/>
              </a:rPr>
              <a:t>Hợp tác hiệu quả cần có </a:t>
            </a:r>
            <a:r>
              <a:rPr sz="1300" b="0" i="0">
                <a:solidFill>
                  <a:srgbClr val="F26B1F"/>
                </a:solidFill>
                <a:latin typeface="Lexend SemiBold"/>
                <a:ea typeface="Lexend SemiBold"/>
                <a:cs typeface="Lexend SemiBold"/>
              </a:rPr>
              <a:t>chương trình cụ thể</a:t>
            </a:r>
            <a:r>
              <a:rPr sz="1300" b="0" i="0">
                <a:solidFill>
                  <a:srgbClr val="3E2A1F"/>
                </a:solidFill>
                <a:latin typeface="Lexend Medium"/>
                <a:ea typeface="Lexend Medium"/>
                <a:cs typeface="Lexend Medium"/>
              </a:rPr>
              <a:t>, </a:t>
            </a:r>
            <a:r>
              <a:rPr sz="1300" b="0" i="0">
                <a:solidFill>
                  <a:srgbClr val="F26B1F"/>
                </a:solidFill>
                <a:latin typeface="Lexend SemiBold"/>
                <a:ea typeface="Lexend SemiBold"/>
                <a:cs typeface="Lexend SemiBold"/>
              </a:rPr>
              <a:t>mục tiêu rõ ràng</a:t>
            </a:r>
            <a:r>
              <a:rPr sz="1300" b="0" i="0">
                <a:solidFill>
                  <a:srgbClr val="3E2A1F"/>
                </a:solidFill>
                <a:latin typeface="Lexend Medium"/>
                <a:ea typeface="Lexend Medium"/>
                <a:cs typeface="Lexend Medium"/>
              </a:rPr>
              <a:t> và </a:t>
            </a:r>
            <a:r>
              <a:rPr sz="1300" b="0" i="0">
                <a:solidFill>
                  <a:srgbClr val="F26B1F"/>
                </a:solidFill>
                <a:latin typeface="Lexend SemiBold"/>
                <a:ea typeface="Lexend SemiBold"/>
                <a:cs typeface="Lexend SemiBold"/>
              </a:rPr>
              <a:t>lợi ích thiết thực</a:t>
            </a:r>
            <a:r>
              <a:rPr sz="1300" b="0" i="0">
                <a:solidFill>
                  <a:srgbClr val="3E2A1F"/>
                </a:solidFill>
                <a:latin typeface="Lexend Medium"/>
                <a:ea typeface="Lexend Medium"/>
                <a:cs typeface="Lexend Medium"/>
              </a:rPr>
              <a:t> cho sinh viên.</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grpId="0" nodeType="withEffect">
                                  <p:stCondLst>
                                    <p:cond delay="10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par>
                                <p:cTn id="11" presetID="22" presetClass="entr" presetSubtype="8" fill="hold" grpId="0" nodeType="withEffect">
                                  <p:stCondLst>
                                    <p:cond delay="20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par>
                                <p:cTn id="14" presetID="22" presetClass="entr" presetSubtype="8" fill="hold" grpId="0" nodeType="withEffect">
                                  <p:stCondLst>
                                    <p:cond delay="30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par>
                                <p:cTn id="17" presetID="2" presetClass="entr" presetSubtype="8" fill="hold" grpId="0" nodeType="withEffect">
                                  <p:stCondLst>
                                    <p:cond delay="50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0-#ppt_w/2"/>
                                          </p:val>
                                        </p:tav>
                                        <p:tav tm="100000">
                                          <p:val>
                                            <p:strVal val="#ppt_x"/>
                                          </p:val>
                                        </p:tav>
                                      </p:tavLst>
                                    </p:anim>
                                    <p:anim calcmode="lin" valueType="num">
                                      <p:cBhvr additive="base">
                                        <p:cTn id="20" dur="500" fill="hold"/>
                                        <p:tgtEl>
                                          <p:spTgt spid="7"/>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50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0-#ppt_w/2"/>
                                          </p:val>
                                        </p:tav>
                                        <p:tav tm="100000">
                                          <p:val>
                                            <p:strVal val="#ppt_x"/>
                                          </p:val>
                                        </p:tav>
                                      </p:tavLst>
                                    </p:anim>
                                    <p:anim calcmode="lin" valueType="num">
                                      <p:cBhvr additive="base">
                                        <p:cTn id="24" dur="500" fill="hold"/>
                                        <p:tgtEl>
                                          <p:spTgt spid="8"/>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50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0-#ppt_w/2"/>
                                          </p:val>
                                        </p:tav>
                                        <p:tav tm="100000">
                                          <p:val>
                                            <p:strVal val="#ppt_x"/>
                                          </p:val>
                                        </p:tav>
                                      </p:tavLst>
                                    </p:anim>
                                    <p:anim calcmode="lin" valueType="num">
                                      <p:cBhvr additive="base">
                                        <p:cTn id="28" dur="500" fill="hold"/>
                                        <p:tgtEl>
                                          <p:spTgt spid="9"/>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50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0-#ppt_w/2"/>
                                          </p:val>
                                        </p:tav>
                                        <p:tav tm="100000">
                                          <p:val>
                                            <p:strVal val="#ppt_x"/>
                                          </p:val>
                                        </p:tav>
                                      </p:tavLst>
                                    </p:anim>
                                    <p:anim calcmode="lin" valueType="num">
                                      <p:cBhvr additive="base">
                                        <p:cTn id="32" dur="500" fill="hold"/>
                                        <p:tgtEl>
                                          <p:spTgt spid="10"/>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500"/>
                                  </p:stCondLst>
                                  <p:childTnLst>
                                    <p:set>
                                      <p:cBhvr>
                                        <p:cTn id="34" dur="1" fill="hold">
                                          <p:stCondLst>
                                            <p:cond delay="0"/>
                                          </p:stCondLst>
                                        </p:cTn>
                                        <p:tgtEl>
                                          <p:spTgt spid="11"/>
                                        </p:tgtEl>
                                        <p:attrNameLst>
                                          <p:attrName>style.visibility</p:attrName>
                                        </p:attrNameLst>
                                      </p:cBhvr>
                                      <p:to>
                                        <p:strVal val="visible"/>
                                      </p:to>
                                    </p:set>
                                    <p:anim calcmode="lin" valueType="num">
                                      <p:cBhvr additive="base">
                                        <p:cTn id="35" dur="500" fill="hold"/>
                                        <p:tgtEl>
                                          <p:spTgt spid="11"/>
                                        </p:tgtEl>
                                        <p:attrNameLst>
                                          <p:attrName>ppt_x</p:attrName>
                                        </p:attrNameLst>
                                      </p:cBhvr>
                                      <p:tavLst>
                                        <p:tav tm="0">
                                          <p:val>
                                            <p:strVal val="0-#ppt_w/2"/>
                                          </p:val>
                                        </p:tav>
                                        <p:tav tm="100000">
                                          <p:val>
                                            <p:strVal val="#ppt_x"/>
                                          </p:val>
                                        </p:tav>
                                      </p:tavLst>
                                    </p:anim>
                                    <p:anim calcmode="lin" valueType="num">
                                      <p:cBhvr additive="base">
                                        <p:cTn id="36" dur="500" fill="hold"/>
                                        <p:tgtEl>
                                          <p:spTgt spid="11"/>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700"/>
                                  </p:stCondLst>
                                  <p:childTnLst>
                                    <p:set>
                                      <p:cBhvr>
                                        <p:cTn id="38" dur="1" fill="hold">
                                          <p:stCondLst>
                                            <p:cond delay="0"/>
                                          </p:stCondLst>
                                        </p:cTn>
                                        <p:tgtEl>
                                          <p:spTgt spid="12"/>
                                        </p:tgtEl>
                                        <p:attrNameLst>
                                          <p:attrName>style.visibility</p:attrName>
                                        </p:attrNameLst>
                                      </p:cBhvr>
                                      <p:to>
                                        <p:strVal val="visible"/>
                                      </p:to>
                                    </p:set>
                                    <p:anim calcmode="lin" valueType="num">
                                      <p:cBhvr additive="base">
                                        <p:cTn id="39" dur="500" fill="hold"/>
                                        <p:tgtEl>
                                          <p:spTgt spid="12"/>
                                        </p:tgtEl>
                                        <p:attrNameLst>
                                          <p:attrName>ppt_x</p:attrName>
                                        </p:attrNameLst>
                                      </p:cBhvr>
                                      <p:tavLst>
                                        <p:tav tm="0">
                                          <p:val>
                                            <p:strVal val="0-#ppt_w/2"/>
                                          </p:val>
                                        </p:tav>
                                        <p:tav tm="100000">
                                          <p:val>
                                            <p:strVal val="#ppt_x"/>
                                          </p:val>
                                        </p:tav>
                                      </p:tavLst>
                                    </p:anim>
                                    <p:anim calcmode="lin" valueType="num">
                                      <p:cBhvr additive="base">
                                        <p:cTn id="40" dur="500" fill="hold"/>
                                        <p:tgtEl>
                                          <p:spTgt spid="12"/>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700"/>
                                  </p:stCondLst>
                                  <p:childTnLst>
                                    <p:set>
                                      <p:cBhvr>
                                        <p:cTn id="42" dur="1" fill="hold">
                                          <p:stCondLst>
                                            <p:cond delay="0"/>
                                          </p:stCondLst>
                                        </p:cTn>
                                        <p:tgtEl>
                                          <p:spTgt spid="13"/>
                                        </p:tgtEl>
                                        <p:attrNameLst>
                                          <p:attrName>style.visibility</p:attrName>
                                        </p:attrNameLst>
                                      </p:cBhvr>
                                      <p:to>
                                        <p:strVal val="visible"/>
                                      </p:to>
                                    </p:set>
                                    <p:anim calcmode="lin" valueType="num">
                                      <p:cBhvr additive="base">
                                        <p:cTn id="43" dur="500" fill="hold"/>
                                        <p:tgtEl>
                                          <p:spTgt spid="13"/>
                                        </p:tgtEl>
                                        <p:attrNameLst>
                                          <p:attrName>ppt_x</p:attrName>
                                        </p:attrNameLst>
                                      </p:cBhvr>
                                      <p:tavLst>
                                        <p:tav tm="0">
                                          <p:val>
                                            <p:strVal val="0-#ppt_w/2"/>
                                          </p:val>
                                        </p:tav>
                                        <p:tav tm="100000">
                                          <p:val>
                                            <p:strVal val="#ppt_x"/>
                                          </p:val>
                                        </p:tav>
                                      </p:tavLst>
                                    </p:anim>
                                    <p:anim calcmode="lin" valueType="num">
                                      <p:cBhvr additive="base">
                                        <p:cTn id="44" dur="500" fill="hold"/>
                                        <p:tgtEl>
                                          <p:spTgt spid="13"/>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700"/>
                                  </p:stCondLst>
                                  <p:childTnLst>
                                    <p:set>
                                      <p:cBhvr>
                                        <p:cTn id="46" dur="1" fill="hold">
                                          <p:stCondLst>
                                            <p:cond delay="0"/>
                                          </p:stCondLst>
                                        </p:cTn>
                                        <p:tgtEl>
                                          <p:spTgt spid="14"/>
                                        </p:tgtEl>
                                        <p:attrNameLst>
                                          <p:attrName>style.visibility</p:attrName>
                                        </p:attrNameLst>
                                      </p:cBhvr>
                                      <p:to>
                                        <p:strVal val="visible"/>
                                      </p:to>
                                    </p:set>
                                    <p:anim calcmode="lin" valueType="num">
                                      <p:cBhvr additive="base">
                                        <p:cTn id="47" dur="500" fill="hold"/>
                                        <p:tgtEl>
                                          <p:spTgt spid="14"/>
                                        </p:tgtEl>
                                        <p:attrNameLst>
                                          <p:attrName>ppt_x</p:attrName>
                                        </p:attrNameLst>
                                      </p:cBhvr>
                                      <p:tavLst>
                                        <p:tav tm="0">
                                          <p:val>
                                            <p:strVal val="0-#ppt_w/2"/>
                                          </p:val>
                                        </p:tav>
                                        <p:tav tm="100000">
                                          <p:val>
                                            <p:strVal val="#ppt_x"/>
                                          </p:val>
                                        </p:tav>
                                      </p:tavLst>
                                    </p:anim>
                                    <p:anim calcmode="lin" valueType="num">
                                      <p:cBhvr additive="base">
                                        <p:cTn id="48" dur="500" fill="hold"/>
                                        <p:tgtEl>
                                          <p:spTgt spid="14"/>
                                        </p:tgtEl>
                                        <p:attrNameLst>
                                          <p:attrName>ppt_y</p:attrName>
                                        </p:attrNameLst>
                                      </p:cBhvr>
                                      <p:tavLst>
                                        <p:tav tm="0">
                                          <p:val>
                                            <p:strVal val="#ppt_y"/>
                                          </p:val>
                                        </p:tav>
                                        <p:tav tm="100000">
                                          <p:val>
                                            <p:strVal val="#ppt_y"/>
                                          </p:val>
                                        </p:tav>
                                      </p:tavLst>
                                    </p:anim>
                                  </p:childTnLst>
                                </p:cTn>
                              </p:par>
                              <p:par>
                                <p:cTn id="49" presetID="2" presetClass="entr" presetSubtype="8" fill="hold" grpId="0" nodeType="withEffect">
                                  <p:stCondLst>
                                    <p:cond delay="700"/>
                                  </p:stCondLst>
                                  <p:childTnLst>
                                    <p:set>
                                      <p:cBhvr>
                                        <p:cTn id="50" dur="1" fill="hold">
                                          <p:stCondLst>
                                            <p:cond delay="0"/>
                                          </p:stCondLst>
                                        </p:cTn>
                                        <p:tgtEl>
                                          <p:spTgt spid="15"/>
                                        </p:tgtEl>
                                        <p:attrNameLst>
                                          <p:attrName>style.visibility</p:attrName>
                                        </p:attrNameLst>
                                      </p:cBhvr>
                                      <p:to>
                                        <p:strVal val="visible"/>
                                      </p:to>
                                    </p:set>
                                    <p:anim calcmode="lin" valueType="num">
                                      <p:cBhvr additive="base">
                                        <p:cTn id="51" dur="500" fill="hold"/>
                                        <p:tgtEl>
                                          <p:spTgt spid="15"/>
                                        </p:tgtEl>
                                        <p:attrNameLst>
                                          <p:attrName>ppt_x</p:attrName>
                                        </p:attrNameLst>
                                      </p:cBhvr>
                                      <p:tavLst>
                                        <p:tav tm="0">
                                          <p:val>
                                            <p:strVal val="0-#ppt_w/2"/>
                                          </p:val>
                                        </p:tav>
                                        <p:tav tm="100000">
                                          <p:val>
                                            <p:strVal val="#ppt_x"/>
                                          </p:val>
                                        </p:tav>
                                      </p:tavLst>
                                    </p:anim>
                                    <p:anim calcmode="lin" valueType="num">
                                      <p:cBhvr additive="base">
                                        <p:cTn id="52" dur="500" fill="hold"/>
                                        <p:tgtEl>
                                          <p:spTgt spid="15"/>
                                        </p:tgtEl>
                                        <p:attrNameLst>
                                          <p:attrName>ppt_y</p:attrName>
                                        </p:attrNameLst>
                                      </p:cBhvr>
                                      <p:tavLst>
                                        <p:tav tm="0">
                                          <p:val>
                                            <p:strVal val="#ppt_y"/>
                                          </p:val>
                                        </p:tav>
                                        <p:tav tm="100000">
                                          <p:val>
                                            <p:strVal val="#ppt_y"/>
                                          </p:val>
                                        </p:tav>
                                      </p:tavLst>
                                    </p:anim>
                                  </p:childTnLst>
                                </p:cTn>
                              </p:par>
                              <p:par>
                                <p:cTn id="53" presetID="2" presetClass="entr" presetSubtype="8" fill="hold" grpId="0" nodeType="withEffect">
                                  <p:stCondLst>
                                    <p:cond delay="700"/>
                                  </p:stCondLst>
                                  <p:childTnLst>
                                    <p:set>
                                      <p:cBhvr>
                                        <p:cTn id="54" dur="1" fill="hold">
                                          <p:stCondLst>
                                            <p:cond delay="0"/>
                                          </p:stCondLst>
                                        </p:cTn>
                                        <p:tgtEl>
                                          <p:spTgt spid="16"/>
                                        </p:tgtEl>
                                        <p:attrNameLst>
                                          <p:attrName>style.visibility</p:attrName>
                                        </p:attrNameLst>
                                      </p:cBhvr>
                                      <p:to>
                                        <p:strVal val="visible"/>
                                      </p:to>
                                    </p:set>
                                    <p:anim calcmode="lin" valueType="num">
                                      <p:cBhvr additive="base">
                                        <p:cTn id="55" dur="500" fill="hold"/>
                                        <p:tgtEl>
                                          <p:spTgt spid="16"/>
                                        </p:tgtEl>
                                        <p:attrNameLst>
                                          <p:attrName>ppt_x</p:attrName>
                                        </p:attrNameLst>
                                      </p:cBhvr>
                                      <p:tavLst>
                                        <p:tav tm="0">
                                          <p:val>
                                            <p:strVal val="0-#ppt_w/2"/>
                                          </p:val>
                                        </p:tav>
                                        <p:tav tm="100000">
                                          <p:val>
                                            <p:strVal val="#ppt_x"/>
                                          </p:val>
                                        </p:tav>
                                      </p:tavLst>
                                    </p:anim>
                                    <p:anim calcmode="lin" valueType="num">
                                      <p:cBhvr additive="base">
                                        <p:cTn id="56" dur="500" fill="hold"/>
                                        <p:tgtEl>
                                          <p:spTgt spid="16"/>
                                        </p:tgtEl>
                                        <p:attrNameLst>
                                          <p:attrName>ppt_y</p:attrName>
                                        </p:attrNameLst>
                                      </p:cBhvr>
                                      <p:tavLst>
                                        <p:tav tm="0">
                                          <p:val>
                                            <p:strVal val="#ppt_y"/>
                                          </p:val>
                                        </p:tav>
                                        <p:tav tm="100000">
                                          <p:val>
                                            <p:strVal val="#ppt_y"/>
                                          </p:val>
                                        </p:tav>
                                      </p:tavLst>
                                    </p:anim>
                                  </p:childTnLst>
                                </p:cTn>
                              </p:par>
                              <p:par>
                                <p:cTn id="57" presetID="2" presetClass="entr" presetSubtype="8" fill="hold" grpId="0" nodeType="withEffect">
                                  <p:stCondLst>
                                    <p:cond delay="899"/>
                                  </p:stCondLst>
                                  <p:childTnLst>
                                    <p:set>
                                      <p:cBhvr>
                                        <p:cTn id="58" dur="1" fill="hold">
                                          <p:stCondLst>
                                            <p:cond delay="0"/>
                                          </p:stCondLst>
                                        </p:cTn>
                                        <p:tgtEl>
                                          <p:spTgt spid="17"/>
                                        </p:tgtEl>
                                        <p:attrNameLst>
                                          <p:attrName>style.visibility</p:attrName>
                                        </p:attrNameLst>
                                      </p:cBhvr>
                                      <p:to>
                                        <p:strVal val="visible"/>
                                      </p:to>
                                    </p:set>
                                    <p:anim calcmode="lin" valueType="num">
                                      <p:cBhvr additive="base">
                                        <p:cTn id="59" dur="500" fill="hold"/>
                                        <p:tgtEl>
                                          <p:spTgt spid="17"/>
                                        </p:tgtEl>
                                        <p:attrNameLst>
                                          <p:attrName>ppt_x</p:attrName>
                                        </p:attrNameLst>
                                      </p:cBhvr>
                                      <p:tavLst>
                                        <p:tav tm="0">
                                          <p:val>
                                            <p:strVal val="0-#ppt_w/2"/>
                                          </p:val>
                                        </p:tav>
                                        <p:tav tm="100000">
                                          <p:val>
                                            <p:strVal val="#ppt_x"/>
                                          </p:val>
                                        </p:tav>
                                      </p:tavLst>
                                    </p:anim>
                                    <p:anim calcmode="lin" valueType="num">
                                      <p:cBhvr additive="base">
                                        <p:cTn id="60" dur="500" fill="hold"/>
                                        <p:tgtEl>
                                          <p:spTgt spid="17"/>
                                        </p:tgtEl>
                                        <p:attrNameLst>
                                          <p:attrName>ppt_y</p:attrName>
                                        </p:attrNameLst>
                                      </p:cBhvr>
                                      <p:tavLst>
                                        <p:tav tm="0">
                                          <p:val>
                                            <p:strVal val="#ppt_y"/>
                                          </p:val>
                                        </p:tav>
                                        <p:tav tm="100000">
                                          <p:val>
                                            <p:strVal val="#ppt_y"/>
                                          </p:val>
                                        </p:tav>
                                      </p:tavLst>
                                    </p:anim>
                                  </p:childTnLst>
                                </p:cTn>
                              </p:par>
                              <p:par>
                                <p:cTn id="61" presetID="2" presetClass="entr" presetSubtype="8" fill="hold" grpId="0" nodeType="withEffect">
                                  <p:stCondLst>
                                    <p:cond delay="899"/>
                                  </p:stCondLst>
                                  <p:childTnLst>
                                    <p:set>
                                      <p:cBhvr>
                                        <p:cTn id="62" dur="1" fill="hold">
                                          <p:stCondLst>
                                            <p:cond delay="0"/>
                                          </p:stCondLst>
                                        </p:cTn>
                                        <p:tgtEl>
                                          <p:spTgt spid="18"/>
                                        </p:tgtEl>
                                        <p:attrNameLst>
                                          <p:attrName>style.visibility</p:attrName>
                                        </p:attrNameLst>
                                      </p:cBhvr>
                                      <p:to>
                                        <p:strVal val="visible"/>
                                      </p:to>
                                    </p:set>
                                    <p:anim calcmode="lin" valueType="num">
                                      <p:cBhvr additive="base">
                                        <p:cTn id="63" dur="500" fill="hold"/>
                                        <p:tgtEl>
                                          <p:spTgt spid="18"/>
                                        </p:tgtEl>
                                        <p:attrNameLst>
                                          <p:attrName>ppt_x</p:attrName>
                                        </p:attrNameLst>
                                      </p:cBhvr>
                                      <p:tavLst>
                                        <p:tav tm="0">
                                          <p:val>
                                            <p:strVal val="0-#ppt_w/2"/>
                                          </p:val>
                                        </p:tav>
                                        <p:tav tm="100000">
                                          <p:val>
                                            <p:strVal val="#ppt_x"/>
                                          </p:val>
                                        </p:tav>
                                      </p:tavLst>
                                    </p:anim>
                                    <p:anim calcmode="lin" valueType="num">
                                      <p:cBhvr additive="base">
                                        <p:cTn id="64" dur="500" fill="hold"/>
                                        <p:tgtEl>
                                          <p:spTgt spid="18"/>
                                        </p:tgtEl>
                                        <p:attrNameLst>
                                          <p:attrName>ppt_y</p:attrName>
                                        </p:attrNameLst>
                                      </p:cBhvr>
                                      <p:tavLst>
                                        <p:tav tm="0">
                                          <p:val>
                                            <p:strVal val="#ppt_y"/>
                                          </p:val>
                                        </p:tav>
                                        <p:tav tm="100000">
                                          <p:val>
                                            <p:strVal val="#ppt_y"/>
                                          </p:val>
                                        </p:tav>
                                      </p:tavLst>
                                    </p:anim>
                                  </p:childTnLst>
                                </p:cTn>
                              </p:par>
                              <p:par>
                                <p:cTn id="65" presetID="2" presetClass="entr" presetSubtype="8" fill="hold" grpId="0" nodeType="withEffect">
                                  <p:stCondLst>
                                    <p:cond delay="899"/>
                                  </p:stCondLst>
                                  <p:childTnLst>
                                    <p:set>
                                      <p:cBhvr>
                                        <p:cTn id="66" dur="1" fill="hold">
                                          <p:stCondLst>
                                            <p:cond delay="0"/>
                                          </p:stCondLst>
                                        </p:cTn>
                                        <p:tgtEl>
                                          <p:spTgt spid="19"/>
                                        </p:tgtEl>
                                        <p:attrNameLst>
                                          <p:attrName>style.visibility</p:attrName>
                                        </p:attrNameLst>
                                      </p:cBhvr>
                                      <p:to>
                                        <p:strVal val="visible"/>
                                      </p:to>
                                    </p:set>
                                    <p:anim calcmode="lin" valueType="num">
                                      <p:cBhvr additive="base">
                                        <p:cTn id="67" dur="500" fill="hold"/>
                                        <p:tgtEl>
                                          <p:spTgt spid="19"/>
                                        </p:tgtEl>
                                        <p:attrNameLst>
                                          <p:attrName>ppt_x</p:attrName>
                                        </p:attrNameLst>
                                      </p:cBhvr>
                                      <p:tavLst>
                                        <p:tav tm="0">
                                          <p:val>
                                            <p:strVal val="0-#ppt_w/2"/>
                                          </p:val>
                                        </p:tav>
                                        <p:tav tm="100000">
                                          <p:val>
                                            <p:strVal val="#ppt_x"/>
                                          </p:val>
                                        </p:tav>
                                      </p:tavLst>
                                    </p:anim>
                                    <p:anim calcmode="lin" valueType="num">
                                      <p:cBhvr additive="base">
                                        <p:cTn id="68" dur="500" fill="hold"/>
                                        <p:tgtEl>
                                          <p:spTgt spid="19"/>
                                        </p:tgtEl>
                                        <p:attrNameLst>
                                          <p:attrName>ppt_y</p:attrName>
                                        </p:attrNameLst>
                                      </p:cBhvr>
                                      <p:tavLst>
                                        <p:tav tm="0">
                                          <p:val>
                                            <p:strVal val="#ppt_y"/>
                                          </p:val>
                                        </p:tav>
                                        <p:tav tm="100000">
                                          <p:val>
                                            <p:strVal val="#ppt_y"/>
                                          </p:val>
                                        </p:tav>
                                      </p:tavLst>
                                    </p:anim>
                                  </p:childTnLst>
                                </p:cTn>
                              </p:par>
                              <p:par>
                                <p:cTn id="69" presetID="2" presetClass="entr" presetSubtype="8" fill="hold" grpId="0" nodeType="withEffect">
                                  <p:stCondLst>
                                    <p:cond delay="899"/>
                                  </p:stCondLst>
                                  <p:childTnLst>
                                    <p:set>
                                      <p:cBhvr>
                                        <p:cTn id="70" dur="1" fill="hold">
                                          <p:stCondLst>
                                            <p:cond delay="0"/>
                                          </p:stCondLst>
                                        </p:cTn>
                                        <p:tgtEl>
                                          <p:spTgt spid="20"/>
                                        </p:tgtEl>
                                        <p:attrNameLst>
                                          <p:attrName>style.visibility</p:attrName>
                                        </p:attrNameLst>
                                      </p:cBhvr>
                                      <p:to>
                                        <p:strVal val="visible"/>
                                      </p:to>
                                    </p:set>
                                    <p:anim calcmode="lin" valueType="num">
                                      <p:cBhvr additive="base">
                                        <p:cTn id="71" dur="500" fill="hold"/>
                                        <p:tgtEl>
                                          <p:spTgt spid="20"/>
                                        </p:tgtEl>
                                        <p:attrNameLst>
                                          <p:attrName>ppt_x</p:attrName>
                                        </p:attrNameLst>
                                      </p:cBhvr>
                                      <p:tavLst>
                                        <p:tav tm="0">
                                          <p:val>
                                            <p:strVal val="0-#ppt_w/2"/>
                                          </p:val>
                                        </p:tav>
                                        <p:tav tm="100000">
                                          <p:val>
                                            <p:strVal val="#ppt_x"/>
                                          </p:val>
                                        </p:tav>
                                      </p:tavLst>
                                    </p:anim>
                                    <p:anim calcmode="lin" valueType="num">
                                      <p:cBhvr additive="base">
                                        <p:cTn id="72" dur="500" fill="hold"/>
                                        <p:tgtEl>
                                          <p:spTgt spid="20"/>
                                        </p:tgtEl>
                                        <p:attrNameLst>
                                          <p:attrName>ppt_y</p:attrName>
                                        </p:attrNameLst>
                                      </p:cBhvr>
                                      <p:tavLst>
                                        <p:tav tm="0">
                                          <p:val>
                                            <p:strVal val="#ppt_y"/>
                                          </p:val>
                                        </p:tav>
                                        <p:tav tm="100000">
                                          <p:val>
                                            <p:strVal val="#ppt_y"/>
                                          </p:val>
                                        </p:tav>
                                      </p:tavLst>
                                    </p:anim>
                                  </p:childTnLst>
                                </p:cTn>
                              </p:par>
                              <p:par>
                                <p:cTn id="73" presetID="2" presetClass="entr" presetSubtype="8" fill="hold" grpId="0" nodeType="withEffect">
                                  <p:stCondLst>
                                    <p:cond delay="899"/>
                                  </p:stCondLst>
                                  <p:childTnLst>
                                    <p:set>
                                      <p:cBhvr>
                                        <p:cTn id="74" dur="1" fill="hold">
                                          <p:stCondLst>
                                            <p:cond delay="0"/>
                                          </p:stCondLst>
                                        </p:cTn>
                                        <p:tgtEl>
                                          <p:spTgt spid="21"/>
                                        </p:tgtEl>
                                        <p:attrNameLst>
                                          <p:attrName>style.visibility</p:attrName>
                                        </p:attrNameLst>
                                      </p:cBhvr>
                                      <p:to>
                                        <p:strVal val="visible"/>
                                      </p:to>
                                    </p:set>
                                    <p:anim calcmode="lin" valueType="num">
                                      <p:cBhvr additive="base">
                                        <p:cTn id="75" dur="500" fill="hold"/>
                                        <p:tgtEl>
                                          <p:spTgt spid="21"/>
                                        </p:tgtEl>
                                        <p:attrNameLst>
                                          <p:attrName>ppt_x</p:attrName>
                                        </p:attrNameLst>
                                      </p:cBhvr>
                                      <p:tavLst>
                                        <p:tav tm="0">
                                          <p:val>
                                            <p:strVal val="0-#ppt_w/2"/>
                                          </p:val>
                                        </p:tav>
                                        <p:tav tm="100000">
                                          <p:val>
                                            <p:strVal val="#ppt_x"/>
                                          </p:val>
                                        </p:tav>
                                      </p:tavLst>
                                    </p:anim>
                                    <p:anim calcmode="lin" valueType="num">
                                      <p:cBhvr additive="base">
                                        <p:cTn id="76" dur="500" fill="hold"/>
                                        <p:tgtEl>
                                          <p:spTgt spid="21"/>
                                        </p:tgtEl>
                                        <p:attrNameLst>
                                          <p:attrName>ppt_y</p:attrName>
                                        </p:attrNameLst>
                                      </p:cBhvr>
                                      <p:tavLst>
                                        <p:tav tm="0">
                                          <p:val>
                                            <p:strVal val="#ppt_y"/>
                                          </p:val>
                                        </p:tav>
                                        <p:tav tm="100000">
                                          <p:val>
                                            <p:strVal val="#ppt_y"/>
                                          </p:val>
                                        </p:tav>
                                      </p:tavLst>
                                    </p:anim>
                                  </p:childTnLst>
                                </p:cTn>
                              </p:par>
                              <p:par>
                                <p:cTn id="77" presetID="2" presetClass="entr" presetSubtype="8" fill="hold" grpId="0" nodeType="withEffect">
                                  <p:stCondLst>
                                    <p:cond delay="1099"/>
                                  </p:stCondLst>
                                  <p:childTnLst>
                                    <p:set>
                                      <p:cBhvr>
                                        <p:cTn id="78" dur="1" fill="hold">
                                          <p:stCondLst>
                                            <p:cond delay="0"/>
                                          </p:stCondLst>
                                        </p:cTn>
                                        <p:tgtEl>
                                          <p:spTgt spid="22"/>
                                        </p:tgtEl>
                                        <p:attrNameLst>
                                          <p:attrName>style.visibility</p:attrName>
                                        </p:attrNameLst>
                                      </p:cBhvr>
                                      <p:to>
                                        <p:strVal val="visible"/>
                                      </p:to>
                                    </p:set>
                                    <p:anim calcmode="lin" valueType="num">
                                      <p:cBhvr additive="base">
                                        <p:cTn id="79" dur="500" fill="hold"/>
                                        <p:tgtEl>
                                          <p:spTgt spid="22"/>
                                        </p:tgtEl>
                                        <p:attrNameLst>
                                          <p:attrName>ppt_x</p:attrName>
                                        </p:attrNameLst>
                                      </p:cBhvr>
                                      <p:tavLst>
                                        <p:tav tm="0">
                                          <p:val>
                                            <p:strVal val="0-#ppt_w/2"/>
                                          </p:val>
                                        </p:tav>
                                        <p:tav tm="100000">
                                          <p:val>
                                            <p:strVal val="#ppt_x"/>
                                          </p:val>
                                        </p:tav>
                                      </p:tavLst>
                                    </p:anim>
                                    <p:anim calcmode="lin" valueType="num">
                                      <p:cBhvr additive="base">
                                        <p:cTn id="80" dur="500" fill="hold"/>
                                        <p:tgtEl>
                                          <p:spTgt spid="22"/>
                                        </p:tgtEl>
                                        <p:attrNameLst>
                                          <p:attrName>ppt_y</p:attrName>
                                        </p:attrNameLst>
                                      </p:cBhvr>
                                      <p:tavLst>
                                        <p:tav tm="0">
                                          <p:val>
                                            <p:strVal val="#ppt_y"/>
                                          </p:val>
                                        </p:tav>
                                        <p:tav tm="100000">
                                          <p:val>
                                            <p:strVal val="#ppt_y"/>
                                          </p:val>
                                        </p:tav>
                                      </p:tavLst>
                                    </p:anim>
                                  </p:childTnLst>
                                </p:cTn>
                              </p:par>
                              <p:par>
                                <p:cTn id="81" presetID="2" presetClass="entr" presetSubtype="8" fill="hold" grpId="0" nodeType="withEffect">
                                  <p:stCondLst>
                                    <p:cond delay="1099"/>
                                  </p:stCondLst>
                                  <p:childTnLst>
                                    <p:set>
                                      <p:cBhvr>
                                        <p:cTn id="82" dur="1" fill="hold">
                                          <p:stCondLst>
                                            <p:cond delay="0"/>
                                          </p:stCondLst>
                                        </p:cTn>
                                        <p:tgtEl>
                                          <p:spTgt spid="23"/>
                                        </p:tgtEl>
                                        <p:attrNameLst>
                                          <p:attrName>style.visibility</p:attrName>
                                        </p:attrNameLst>
                                      </p:cBhvr>
                                      <p:to>
                                        <p:strVal val="visible"/>
                                      </p:to>
                                    </p:set>
                                    <p:anim calcmode="lin" valueType="num">
                                      <p:cBhvr additive="base">
                                        <p:cTn id="83" dur="500" fill="hold"/>
                                        <p:tgtEl>
                                          <p:spTgt spid="23"/>
                                        </p:tgtEl>
                                        <p:attrNameLst>
                                          <p:attrName>ppt_x</p:attrName>
                                        </p:attrNameLst>
                                      </p:cBhvr>
                                      <p:tavLst>
                                        <p:tav tm="0">
                                          <p:val>
                                            <p:strVal val="0-#ppt_w/2"/>
                                          </p:val>
                                        </p:tav>
                                        <p:tav tm="100000">
                                          <p:val>
                                            <p:strVal val="#ppt_x"/>
                                          </p:val>
                                        </p:tav>
                                      </p:tavLst>
                                    </p:anim>
                                    <p:anim calcmode="lin" valueType="num">
                                      <p:cBhvr additive="base">
                                        <p:cTn id="84" dur="500" fill="hold"/>
                                        <p:tgtEl>
                                          <p:spTgt spid="23"/>
                                        </p:tgtEl>
                                        <p:attrNameLst>
                                          <p:attrName>ppt_y</p:attrName>
                                        </p:attrNameLst>
                                      </p:cBhvr>
                                      <p:tavLst>
                                        <p:tav tm="0">
                                          <p:val>
                                            <p:strVal val="#ppt_y"/>
                                          </p:val>
                                        </p:tav>
                                        <p:tav tm="100000">
                                          <p:val>
                                            <p:strVal val="#ppt_y"/>
                                          </p:val>
                                        </p:tav>
                                      </p:tavLst>
                                    </p:anim>
                                  </p:childTnLst>
                                </p:cTn>
                              </p:par>
                              <p:par>
                                <p:cTn id="85" presetID="2" presetClass="entr" presetSubtype="8" fill="hold" grpId="0" nodeType="withEffect">
                                  <p:stCondLst>
                                    <p:cond delay="1099"/>
                                  </p:stCondLst>
                                  <p:childTnLst>
                                    <p:set>
                                      <p:cBhvr>
                                        <p:cTn id="86" dur="1" fill="hold">
                                          <p:stCondLst>
                                            <p:cond delay="0"/>
                                          </p:stCondLst>
                                        </p:cTn>
                                        <p:tgtEl>
                                          <p:spTgt spid="24"/>
                                        </p:tgtEl>
                                        <p:attrNameLst>
                                          <p:attrName>style.visibility</p:attrName>
                                        </p:attrNameLst>
                                      </p:cBhvr>
                                      <p:to>
                                        <p:strVal val="visible"/>
                                      </p:to>
                                    </p:set>
                                    <p:anim calcmode="lin" valueType="num">
                                      <p:cBhvr additive="base">
                                        <p:cTn id="87" dur="500" fill="hold"/>
                                        <p:tgtEl>
                                          <p:spTgt spid="24"/>
                                        </p:tgtEl>
                                        <p:attrNameLst>
                                          <p:attrName>ppt_x</p:attrName>
                                        </p:attrNameLst>
                                      </p:cBhvr>
                                      <p:tavLst>
                                        <p:tav tm="0">
                                          <p:val>
                                            <p:strVal val="0-#ppt_w/2"/>
                                          </p:val>
                                        </p:tav>
                                        <p:tav tm="100000">
                                          <p:val>
                                            <p:strVal val="#ppt_x"/>
                                          </p:val>
                                        </p:tav>
                                      </p:tavLst>
                                    </p:anim>
                                    <p:anim calcmode="lin" valueType="num">
                                      <p:cBhvr additive="base">
                                        <p:cTn id="88" dur="500" fill="hold"/>
                                        <p:tgtEl>
                                          <p:spTgt spid="24"/>
                                        </p:tgtEl>
                                        <p:attrNameLst>
                                          <p:attrName>ppt_y</p:attrName>
                                        </p:attrNameLst>
                                      </p:cBhvr>
                                      <p:tavLst>
                                        <p:tav tm="0">
                                          <p:val>
                                            <p:strVal val="#ppt_y"/>
                                          </p:val>
                                        </p:tav>
                                        <p:tav tm="100000">
                                          <p:val>
                                            <p:strVal val="#ppt_y"/>
                                          </p:val>
                                        </p:tav>
                                      </p:tavLst>
                                    </p:anim>
                                  </p:childTnLst>
                                </p:cTn>
                              </p:par>
                              <p:par>
                                <p:cTn id="89" presetID="2" presetClass="entr" presetSubtype="8" fill="hold" grpId="0" nodeType="withEffect">
                                  <p:stCondLst>
                                    <p:cond delay="1099"/>
                                  </p:stCondLst>
                                  <p:childTnLst>
                                    <p:set>
                                      <p:cBhvr>
                                        <p:cTn id="90" dur="1" fill="hold">
                                          <p:stCondLst>
                                            <p:cond delay="0"/>
                                          </p:stCondLst>
                                        </p:cTn>
                                        <p:tgtEl>
                                          <p:spTgt spid="25"/>
                                        </p:tgtEl>
                                        <p:attrNameLst>
                                          <p:attrName>style.visibility</p:attrName>
                                        </p:attrNameLst>
                                      </p:cBhvr>
                                      <p:to>
                                        <p:strVal val="visible"/>
                                      </p:to>
                                    </p:set>
                                    <p:anim calcmode="lin" valueType="num">
                                      <p:cBhvr additive="base">
                                        <p:cTn id="91" dur="500" fill="hold"/>
                                        <p:tgtEl>
                                          <p:spTgt spid="25"/>
                                        </p:tgtEl>
                                        <p:attrNameLst>
                                          <p:attrName>ppt_x</p:attrName>
                                        </p:attrNameLst>
                                      </p:cBhvr>
                                      <p:tavLst>
                                        <p:tav tm="0">
                                          <p:val>
                                            <p:strVal val="0-#ppt_w/2"/>
                                          </p:val>
                                        </p:tav>
                                        <p:tav tm="100000">
                                          <p:val>
                                            <p:strVal val="#ppt_x"/>
                                          </p:val>
                                        </p:tav>
                                      </p:tavLst>
                                    </p:anim>
                                    <p:anim calcmode="lin" valueType="num">
                                      <p:cBhvr additive="base">
                                        <p:cTn id="92" dur="500" fill="hold"/>
                                        <p:tgtEl>
                                          <p:spTgt spid="25"/>
                                        </p:tgtEl>
                                        <p:attrNameLst>
                                          <p:attrName>ppt_y</p:attrName>
                                        </p:attrNameLst>
                                      </p:cBhvr>
                                      <p:tavLst>
                                        <p:tav tm="0">
                                          <p:val>
                                            <p:strVal val="#ppt_y"/>
                                          </p:val>
                                        </p:tav>
                                        <p:tav tm="100000">
                                          <p:val>
                                            <p:strVal val="#ppt_y"/>
                                          </p:val>
                                        </p:tav>
                                      </p:tavLst>
                                    </p:anim>
                                  </p:childTnLst>
                                </p:cTn>
                              </p:par>
                              <p:par>
                                <p:cTn id="93" presetID="2" presetClass="entr" presetSubtype="8" fill="hold" grpId="0" nodeType="withEffect">
                                  <p:stCondLst>
                                    <p:cond delay="1099"/>
                                  </p:stCondLst>
                                  <p:childTnLst>
                                    <p:set>
                                      <p:cBhvr>
                                        <p:cTn id="94" dur="1" fill="hold">
                                          <p:stCondLst>
                                            <p:cond delay="0"/>
                                          </p:stCondLst>
                                        </p:cTn>
                                        <p:tgtEl>
                                          <p:spTgt spid="26"/>
                                        </p:tgtEl>
                                        <p:attrNameLst>
                                          <p:attrName>style.visibility</p:attrName>
                                        </p:attrNameLst>
                                      </p:cBhvr>
                                      <p:to>
                                        <p:strVal val="visible"/>
                                      </p:to>
                                    </p:set>
                                    <p:anim calcmode="lin" valueType="num">
                                      <p:cBhvr additive="base">
                                        <p:cTn id="95" dur="500" fill="hold"/>
                                        <p:tgtEl>
                                          <p:spTgt spid="26"/>
                                        </p:tgtEl>
                                        <p:attrNameLst>
                                          <p:attrName>ppt_x</p:attrName>
                                        </p:attrNameLst>
                                      </p:cBhvr>
                                      <p:tavLst>
                                        <p:tav tm="0">
                                          <p:val>
                                            <p:strVal val="0-#ppt_w/2"/>
                                          </p:val>
                                        </p:tav>
                                        <p:tav tm="100000">
                                          <p:val>
                                            <p:strVal val="#ppt_x"/>
                                          </p:val>
                                        </p:tav>
                                      </p:tavLst>
                                    </p:anim>
                                    <p:anim calcmode="lin" valueType="num">
                                      <p:cBhvr additive="base">
                                        <p:cTn id="96" dur="500" fill="hold"/>
                                        <p:tgtEl>
                                          <p:spTgt spid="26"/>
                                        </p:tgtEl>
                                        <p:attrNameLst>
                                          <p:attrName>ppt_y</p:attrName>
                                        </p:attrNameLst>
                                      </p:cBhvr>
                                      <p:tavLst>
                                        <p:tav tm="0">
                                          <p:val>
                                            <p:strVal val="#ppt_y"/>
                                          </p:val>
                                        </p:tav>
                                        <p:tav tm="100000">
                                          <p:val>
                                            <p:strVal val="#ppt_y"/>
                                          </p:val>
                                        </p:tav>
                                      </p:tavLst>
                                    </p:anim>
                                  </p:childTnLst>
                                </p:cTn>
                              </p:par>
                              <p:par>
                                <p:cTn id="97" presetID="2" presetClass="entr" presetSubtype="8" fill="hold" grpId="0" nodeType="withEffect">
                                  <p:stCondLst>
                                    <p:cond delay="1299"/>
                                  </p:stCondLst>
                                  <p:childTnLst>
                                    <p:set>
                                      <p:cBhvr>
                                        <p:cTn id="98" dur="1" fill="hold">
                                          <p:stCondLst>
                                            <p:cond delay="0"/>
                                          </p:stCondLst>
                                        </p:cTn>
                                        <p:tgtEl>
                                          <p:spTgt spid="27"/>
                                        </p:tgtEl>
                                        <p:attrNameLst>
                                          <p:attrName>style.visibility</p:attrName>
                                        </p:attrNameLst>
                                      </p:cBhvr>
                                      <p:to>
                                        <p:strVal val="visible"/>
                                      </p:to>
                                    </p:set>
                                    <p:anim calcmode="lin" valueType="num">
                                      <p:cBhvr additive="base">
                                        <p:cTn id="99" dur="500" fill="hold"/>
                                        <p:tgtEl>
                                          <p:spTgt spid="27"/>
                                        </p:tgtEl>
                                        <p:attrNameLst>
                                          <p:attrName>ppt_x</p:attrName>
                                        </p:attrNameLst>
                                      </p:cBhvr>
                                      <p:tavLst>
                                        <p:tav tm="0">
                                          <p:val>
                                            <p:strVal val="0-#ppt_w/2"/>
                                          </p:val>
                                        </p:tav>
                                        <p:tav tm="100000">
                                          <p:val>
                                            <p:strVal val="#ppt_x"/>
                                          </p:val>
                                        </p:tav>
                                      </p:tavLst>
                                    </p:anim>
                                    <p:anim calcmode="lin" valueType="num">
                                      <p:cBhvr additive="base">
                                        <p:cTn id="100" dur="500" fill="hold"/>
                                        <p:tgtEl>
                                          <p:spTgt spid="27"/>
                                        </p:tgtEl>
                                        <p:attrNameLst>
                                          <p:attrName>ppt_y</p:attrName>
                                        </p:attrNameLst>
                                      </p:cBhvr>
                                      <p:tavLst>
                                        <p:tav tm="0">
                                          <p:val>
                                            <p:strVal val="#ppt_y"/>
                                          </p:val>
                                        </p:tav>
                                        <p:tav tm="100000">
                                          <p:val>
                                            <p:strVal val="#ppt_y"/>
                                          </p:val>
                                        </p:tav>
                                      </p:tavLst>
                                    </p:anim>
                                  </p:childTnLst>
                                </p:cTn>
                              </p:par>
                              <p:par>
                                <p:cTn id="101" presetID="2" presetClass="entr" presetSubtype="8" fill="hold" grpId="0" nodeType="withEffect">
                                  <p:stCondLst>
                                    <p:cond delay="1299"/>
                                  </p:stCondLst>
                                  <p:childTnLst>
                                    <p:set>
                                      <p:cBhvr>
                                        <p:cTn id="102" dur="1" fill="hold">
                                          <p:stCondLst>
                                            <p:cond delay="0"/>
                                          </p:stCondLst>
                                        </p:cTn>
                                        <p:tgtEl>
                                          <p:spTgt spid="28"/>
                                        </p:tgtEl>
                                        <p:attrNameLst>
                                          <p:attrName>style.visibility</p:attrName>
                                        </p:attrNameLst>
                                      </p:cBhvr>
                                      <p:to>
                                        <p:strVal val="visible"/>
                                      </p:to>
                                    </p:set>
                                    <p:anim calcmode="lin" valueType="num">
                                      <p:cBhvr additive="base">
                                        <p:cTn id="103" dur="500" fill="hold"/>
                                        <p:tgtEl>
                                          <p:spTgt spid="28"/>
                                        </p:tgtEl>
                                        <p:attrNameLst>
                                          <p:attrName>ppt_x</p:attrName>
                                        </p:attrNameLst>
                                      </p:cBhvr>
                                      <p:tavLst>
                                        <p:tav tm="0">
                                          <p:val>
                                            <p:strVal val="0-#ppt_w/2"/>
                                          </p:val>
                                        </p:tav>
                                        <p:tav tm="100000">
                                          <p:val>
                                            <p:strVal val="#ppt_x"/>
                                          </p:val>
                                        </p:tav>
                                      </p:tavLst>
                                    </p:anim>
                                    <p:anim calcmode="lin" valueType="num">
                                      <p:cBhvr additive="base">
                                        <p:cTn id="104" dur="500" fill="hold"/>
                                        <p:tgtEl>
                                          <p:spTgt spid="28"/>
                                        </p:tgtEl>
                                        <p:attrNameLst>
                                          <p:attrName>ppt_y</p:attrName>
                                        </p:attrNameLst>
                                      </p:cBhvr>
                                      <p:tavLst>
                                        <p:tav tm="0">
                                          <p:val>
                                            <p:strVal val="#ppt_y"/>
                                          </p:val>
                                        </p:tav>
                                        <p:tav tm="100000">
                                          <p:val>
                                            <p:strVal val="#ppt_y"/>
                                          </p:val>
                                        </p:tav>
                                      </p:tavLst>
                                    </p:anim>
                                  </p:childTnLst>
                                </p:cTn>
                              </p:par>
                              <p:par>
                                <p:cTn id="105" presetID="2" presetClass="entr" presetSubtype="8" fill="hold" grpId="0" nodeType="withEffect">
                                  <p:stCondLst>
                                    <p:cond delay="1299"/>
                                  </p:stCondLst>
                                  <p:childTnLst>
                                    <p:set>
                                      <p:cBhvr>
                                        <p:cTn id="106" dur="1" fill="hold">
                                          <p:stCondLst>
                                            <p:cond delay="0"/>
                                          </p:stCondLst>
                                        </p:cTn>
                                        <p:tgtEl>
                                          <p:spTgt spid="29"/>
                                        </p:tgtEl>
                                        <p:attrNameLst>
                                          <p:attrName>style.visibility</p:attrName>
                                        </p:attrNameLst>
                                      </p:cBhvr>
                                      <p:to>
                                        <p:strVal val="visible"/>
                                      </p:to>
                                    </p:set>
                                    <p:anim calcmode="lin" valueType="num">
                                      <p:cBhvr additive="base">
                                        <p:cTn id="107" dur="500" fill="hold"/>
                                        <p:tgtEl>
                                          <p:spTgt spid="29"/>
                                        </p:tgtEl>
                                        <p:attrNameLst>
                                          <p:attrName>ppt_x</p:attrName>
                                        </p:attrNameLst>
                                      </p:cBhvr>
                                      <p:tavLst>
                                        <p:tav tm="0">
                                          <p:val>
                                            <p:strVal val="0-#ppt_w/2"/>
                                          </p:val>
                                        </p:tav>
                                        <p:tav tm="100000">
                                          <p:val>
                                            <p:strVal val="#ppt_x"/>
                                          </p:val>
                                        </p:tav>
                                      </p:tavLst>
                                    </p:anim>
                                    <p:anim calcmode="lin" valueType="num">
                                      <p:cBhvr additive="base">
                                        <p:cTn id="108" dur="500" fill="hold"/>
                                        <p:tgtEl>
                                          <p:spTgt spid="29"/>
                                        </p:tgtEl>
                                        <p:attrNameLst>
                                          <p:attrName>ppt_y</p:attrName>
                                        </p:attrNameLst>
                                      </p:cBhvr>
                                      <p:tavLst>
                                        <p:tav tm="0">
                                          <p:val>
                                            <p:strVal val="#ppt_y"/>
                                          </p:val>
                                        </p:tav>
                                        <p:tav tm="100000">
                                          <p:val>
                                            <p:strVal val="#ppt_y"/>
                                          </p:val>
                                        </p:tav>
                                      </p:tavLst>
                                    </p:anim>
                                  </p:childTnLst>
                                </p:cTn>
                              </p:par>
                              <p:par>
                                <p:cTn id="109" presetID="2" presetClass="entr" presetSubtype="8" fill="hold" grpId="0" nodeType="withEffect">
                                  <p:stCondLst>
                                    <p:cond delay="1299"/>
                                  </p:stCondLst>
                                  <p:childTnLst>
                                    <p:set>
                                      <p:cBhvr>
                                        <p:cTn id="110" dur="1" fill="hold">
                                          <p:stCondLst>
                                            <p:cond delay="0"/>
                                          </p:stCondLst>
                                        </p:cTn>
                                        <p:tgtEl>
                                          <p:spTgt spid="30"/>
                                        </p:tgtEl>
                                        <p:attrNameLst>
                                          <p:attrName>style.visibility</p:attrName>
                                        </p:attrNameLst>
                                      </p:cBhvr>
                                      <p:to>
                                        <p:strVal val="visible"/>
                                      </p:to>
                                    </p:set>
                                    <p:anim calcmode="lin" valueType="num">
                                      <p:cBhvr additive="base">
                                        <p:cTn id="111" dur="500" fill="hold"/>
                                        <p:tgtEl>
                                          <p:spTgt spid="30"/>
                                        </p:tgtEl>
                                        <p:attrNameLst>
                                          <p:attrName>ppt_x</p:attrName>
                                        </p:attrNameLst>
                                      </p:cBhvr>
                                      <p:tavLst>
                                        <p:tav tm="0">
                                          <p:val>
                                            <p:strVal val="0-#ppt_w/2"/>
                                          </p:val>
                                        </p:tav>
                                        <p:tav tm="100000">
                                          <p:val>
                                            <p:strVal val="#ppt_x"/>
                                          </p:val>
                                        </p:tav>
                                      </p:tavLst>
                                    </p:anim>
                                    <p:anim calcmode="lin" valueType="num">
                                      <p:cBhvr additive="base">
                                        <p:cTn id="112" dur="500" fill="hold"/>
                                        <p:tgtEl>
                                          <p:spTgt spid="30"/>
                                        </p:tgtEl>
                                        <p:attrNameLst>
                                          <p:attrName>ppt_y</p:attrName>
                                        </p:attrNameLst>
                                      </p:cBhvr>
                                      <p:tavLst>
                                        <p:tav tm="0">
                                          <p:val>
                                            <p:strVal val="#ppt_y"/>
                                          </p:val>
                                        </p:tav>
                                        <p:tav tm="100000">
                                          <p:val>
                                            <p:strVal val="#ppt_y"/>
                                          </p:val>
                                        </p:tav>
                                      </p:tavLst>
                                    </p:anim>
                                  </p:childTnLst>
                                </p:cTn>
                              </p:par>
                              <p:par>
                                <p:cTn id="113" presetID="2" presetClass="entr" presetSubtype="8" fill="hold" grpId="0" nodeType="withEffect">
                                  <p:stCondLst>
                                    <p:cond delay="1299"/>
                                  </p:stCondLst>
                                  <p:childTnLst>
                                    <p:set>
                                      <p:cBhvr>
                                        <p:cTn id="114" dur="1" fill="hold">
                                          <p:stCondLst>
                                            <p:cond delay="0"/>
                                          </p:stCondLst>
                                        </p:cTn>
                                        <p:tgtEl>
                                          <p:spTgt spid="31"/>
                                        </p:tgtEl>
                                        <p:attrNameLst>
                                          <p:attrName>style.visibility</p:attrName>
                                        </p:attrNameLst>
                                      </p:cBhvr>
                                      <p:to>
                                        <p:strVal val="visible"/>
                                      </p:to>
                                    </p:set>
                                    <p:anim calcmode="lin" valueType="num">
                                      <p:cBhvr additive="base">
                                        <p:cTn id="115" dur="500" fill="hold"/>
                                        <p:tgtEl>
                                          <p:spTgt spid="31"/>
                                        </p:tgtEl>
                                        <p:attrNameLst>
                                          <p:attrName>ppt_x</p:attrName>
                                        </p:attrNameLst>
                                      </p:cBhvr>
                                      <p:tavLst>
                                        <p:tav tm="0">
                                          <p:val>
                                            <p:strVal val="0-#ppt_w/2"/>
                                          </p:val>
                                        </p:tav>
                                        <p:tav tm="100000">
                                          <p:val>
                                            <p:strVal val="#ppt_x"/>
                                          </p:val>
                                        </p:tav>
                                      </p:tavLst>
                                    </p:anim>
                                    <p:anim calcmode="lin" valueType="num">
                                      <p:cBhvr additive="base">
                                        <p:cTn id="116" dur="500" fill="hold"/>
                                        <p:tgtEl>
                                          <p:spTgt spid="31"/>
                                        </p:tgtEl>
                                        <p:attrNameLst>
                                          <p:attrName>ppt_y</p:attrName>
                                        </p:attrNameLst>
                                      </p:cBhvr>
                                      <p:tavLst>
                                        <p:tav tm="0">
                                          <p:val>
                                            <p:strVal val="#ppt_y"/>
                                          </p:val>
                                        </p:tav>
                                        <p:tav tm="100000">
                                          <p:val>
                                            <p:strVal val="#ppt_y"/>
                                          </p:val>
                                        </p:tav>
                                      </p:tavLst>
                                    </p:anim>
                                  </p:childTnLst>
                                </p:cTn>
                              </p:par>
                              <p:par>
                                <p:cTn id="117" presetID="22" presetClass="entr" presetSubtype="8" fill="hold" grpId="0" nodeType="withEffect">
                                  <p:stCondLst>
                                    <p:cond delay="1600"/>
                                  </p:stCondLst>
                                  <p:childTnLst>
                                    <p:set>
                                      <p:cBhvr>
                                        <p:cTn id="118" dur="1" fill="hold">
                                          <p:stCondLst>
                                            <p:cond delay="0"/>
                                          </p:stCondLst>
                                        </p:cTn>
                                        <p:tgtEl>
                                          <p:spTgt spid="32"/>
                                        </p:tgtEl>
                                        <p:attrNameLst>
                                          <p:attrName>style.visibility</p:attrName>
                                        </p:attrNameLst>
                                      </p:cBhvr>
                                      <p:to>
                                        <p:strVal val="visible"/>
                                      </p:to>
                                    </p:set>
                                    <p:animEffect transition="in" filter="wipe(left)">
                                      <p:cBhvr>
                                        <p:cTn id="119" dur="800"/>
                                        <p:tgtEl>
                                          <p:spTgt spid="32"/>
                                        </p:tgtEl>
                                      </p:cBhvr>
                                    </p:animEffect>
                                  </p:childTnLst>
                                </p:cTn>
                              </p:par>
                              <p:par>
                                <p:cTn id="120" presetID="53" presetClass="entr" presetSubtype="16" fill="hold" grpId="0" nodeType="withEffect">
                                  <p:stCondLst>
                                    <p:cond delay="2000"/>
                                  </p:stCondLst>
                                  <p:childTnLst>
                                    <p:set>
                                      <p:cBhvr>
                                        <p:cTn id="121" dur="1" fill="hold">
                                          <p:stCondLst>
                                            <p:cond delay="0"/>
                                          </p:stCondLst>
                                        </p:cTn>
                                        <p:tgtEl>
                                          <p:spTgt spid="33"/>
                                        </p:tgtEl>
                                        <p:attrNameLst>
                                          <p:attrName>style.visibility</p:attrName>
                                        </p:attrNameLst>
                                      </p:cBhvr>
                                      <p:to>
                                        <p:strVal val="visible"/>
                                      </p:to>
                                    </p:set>
                                    <p:anim calcmode="lin" valueType="num">
                                      <p:cBhvr additive="base">
                                        <p:cTn id="122" dur="500" fill="hold"/>
                                        <p:tgtEl>
                                          <p:spTgt spid="33"/>
                                        </p:tgtEl>
                                        <p:attrNameLst>
                                          <p:attrName>ppt_w</p:attrName>
                                        </p:attrNameLst>
                                      </p:cBhvr>
                                      <p:tavLst>
                                        <p:tav tm="0">
                                          <p:val>
                                            <p:strVal val="#ppt_w*0.7"/>
                                          </p:val>
                                        </p:tav>
                                        <p:tav tm="100000">
                                          <p:val>
                                            <p:strVal val="#ppt_w"/>
                                          </p:val>
                                        </p:tav>
                                      </p:tavLst>
                                    </p:anim>
                                    <p:anim calcmode="lin" valueType="num">
                                      <p:cBhvr additive="base">
                                        <p:cTn id="123" dur="500" fill="hold"/>
                                        <p:tgtEl>
                                          <p:spTgt spid="33"/>
                                        </p:tgtEl>
                                        <p:attrNameLst>
                                          <p:attrName>ppt_h</p:attrName>
                                        </p:attrNameLst>
                                      </p:cBhvr>
                                      <p:tavLst>
                                        <p:tav tm="0">
                                          <p:val>
                                            <p:strVal val="#ppt_h*0.7"/>
                                          </p:val>
                                        </p:tav>
                                        <p:tav tm="100000">
                                          <p:val>
                                            <p:strVal val="#ppt_h"/>
                                          </p:val>
                                        </p:tav>
                                      </p:tavLst>
                                    </p:anim>
                                    <p:animEffect transition="in" filter="fade">
                                      <p:cBhvr>
                                        <p:cTn id="124" dur="500"/>
                                        <p:tgtEl>
                                          <p:spTgt spid="33"/>
                                        </p:tgtEl>
                                      </p:cBhvr>
                                    </p:animEffect>
                                  </p:childTnLst>
                                </p:cTn>
                              </p:par>
                              <p:par>
                                <p:cTn id="125" presetID="53" presetClass="entr" presetSubtype="16" fill="hold" grpId="0" nodeType="withEffect">
                                  <p:stCondLst>
                                    <p:cond delay="2050"/>
                                  </p:stCondLst>
                                  <p:childTnLst>
                                    <p:set>
                                      <p:cBhvr>
                                        <p:cTn id="126" dur="1" fill="hold">
                                          <p:stCondLst>
                                            <p:cond delay="0"/>
                                          </p:stCondLst>
                                        </p:cTn>
                                        <p:tgtEl>
                                          <p:spTgt spid="34"/>
                                        </p:tgtEl>
                                        <p:attrNameLst>
                                          <p:attrName>style.visibility</p:attrName>
                                        </p:attrNameLst>
                                      </p:cBhvr>
                                      <p:to>
                                        <p:strVal val="visible"/>
                                      </p:to>
                                    </p:set>
                                    <p:anim calcmode="lin" valueType="num">
                                      <p:cBhvr additive="base">
                                        <p:cTn id="127" dur="500" fill="hold"/>
                                        <p:tgtEl>
                                          <p:spTgt spid="34"/>
                                        </p:tgtEl>
                                        <p:attrNameLst>
                                          <p:attrName>ppt_w</p:attrName>
                                        </p:attrNameLst>
                                      </p:cBhvr>
                                      <p:tavLst>
                                        <p:tav tm="0">
                                          <p:val>
                                            <p:strVal val="#ppt_w*0.7"/>
                                          </p:val>
                                        </p:tav>
                                        <p:tav tm="100000">
                                          <p:val>
                                            <p:strVal val="#ppt_w"/>
                                          </p:val>
                                        </p:tav>
                                      </p:tavLst>
                                    </p:anim>
                                    <p:anim calcmode="lin" valueType="num">
                                      <p:cBhvr additive="base">
                                        <p:cTn id="128" dur="500" fill="hold"/>
                                        <p:tgtEl>
                                          <p:spTgt spid="34"/>
                                        </p:tgtEl>
                                        <p:attrNameLst>
                                          <p:attrName>ppt_h</p:attrName>
                                        </p:attrNameLst>
                                      </p:cBhvr>
                                      <p:tavLst>
                                        <p:tav tm="0">
                                          <p:val>
                                            <p:strVal val="#ppt_h*0.7"/>
                                          </p:val>
                                        </p:tav>
                                        <p:tav tm="100000">
                                          <p:val>
                                            <p:strVal val="#ppt_h"/>
                                          </p:val>
                                        </p:tav>
                                      </p:tavLst>
                                    </p:anim>
                                    <p:animEffect transition="in" filter="fade">
                                      <p:cBhvr>
                                        <p:cTn id="129" dur="500"/>
                                        <p:tgtEl>
                                          <p:spTgt spid="34"/>
                                        </p:tgtEl>
                                      </p:cBhvr>
                                    </p:animEffect>
                                  </p:childTnLst>
                                </p:cTn>
                              </p:par>
                              <p:par>
                                <p:cTn id="130" presetID="53" presetClass="entr" presetSubtype="16" fill="hold" grpId="0" nodeType="withEffect">
                                  <p:stCondLst>
                                    <p:cond delay="2099"/>
                                  </p:stCondLst>
                                  <p:childTnLst>
                                    <p:set>
                                      <p:cBhvr>
                                        <p:cTn id="131" dur="1" fill="hold">
                                          <p:stCondLst>
                                            <p:cond delay="0"/>
                                          </p:stCondLst>
                                        </p:cTn>
                                        <p:tgtEl>
                                          <p:spTgt spid="35"/>
                                        </p:tgtEl>
                                        <p:attrNameLst>
                                          <p:attrName>style.visibility</p:attrName>
                                        </p:attrNameLst>
                                      </p:cBhvr>
                                      <p:to>
                                        <p:strVal val="visible"/>
                                      </p:to>
                                    </p:set>
                                    <p:anim calcmode="lin" valueType="num">
                                      <p:cBhvr additive="base">
                                        <p:cTn id="132" dur="500" fill="hold"/>
                                        <p:tgtEl>
                                          <p:spTgt spid="35"/>
                                        </p:tgtEl>
                                        <p:attrNameLst>
                                          <p:attrName>ppt_w</p:attrName>
                                        </p:attrNameLst>
                                      </p:cBhvr>
                                      <p:tavLst>
                                        <p:tav tm="0">
                                          <p:val>
                                            <p:strVal val="#ppt_w*0.7"/>
                                          </p:val>
                                        </p:tav>
                                        <p:tav tm="100000">
                                          <p:val>
                                            <p:strVal val="#ppt_w"/>
                                          </p:val>
                                        </p:tav>
                                      </p:tavLst>
                                    </p:anim>
                                    <p:anim calcmode="lin" valueType="num">
                                      <p:cBhvr additive="base">
                                        <p:cTn id="133" dur="500" fill="hold"/>
                                        <p:tgtEl>
                                          <p:spTgt spid="35"/>
                                        </p:tgtEl>
                                        <p:attrNameLst>
                                          <p:attrName>ppt_h</p:attrName>
                                        </p:attrNameLst>
                                      </p:cBhvr>
                                      <p:tavLst>
                                        <p:tav tm="0">
                                          <p:val>
                                            <p:strVal val="#ppt_h*0.7"/>
                                          </p:val>
                                        </p:tav>
                                        <p:tav tm="100000">
                                          <p:val>
                                            <p:strVal val="#ppt_h"/>
                                          </p:val>
                                        </p:tav>
                                      </p:tavLst>
                                    </p:anim>
                                    <p:animEffect transition="in" filter="fade">
                                      <p:cBhvr>
                                        <p:cTn id="134" dur="500"/>
                                        <p:tgtEl>
                                          <p:spTgt spid="35"/>
                                        </p:tgtEl>
                                      </p:cBhvr>
                                    </p:animEffect>
                                  </p:childTnLst>
                                </p:cTn>
                              </p:par>
                              <p:par>
                                <p:cTn id="135" presetID="53" presetClass="entr" presetSubtype="16" fill="hold" grpId="0" nodeType="withEffect">
                                  <p:stCondLst>
                                    <p:cond delay="2149"/>
                                  </p:stCondLst>
                                  <p:childTnLst>
                                    <p:set>
                                      <p:cBhvr>
                                        <p:cTn id="136" dur="1" fill="hold">
                                          <p:stCondLst>
                                            <p:cond delay="0"/>
                                          </p:stCondLst>
                                        </p:cTn>
                                        <p:tgtEl>
                                          <p:spTgt spid="36"/>
                                        </p:tgtEl>
                                        <p:attrNameLst>
                                          <p:attrName>style.visibility</p:attrName>
                                        </p:attrNameLst>
                                      </p:cBhvr>
                                      <p:to>
                                        <p:strVal val="visible"/>
                                      </p:to>
                                    </p:set>
                                    <p:anim calcmode="lin" valueType="num">
                                      <p:cBhvr additive="base">
                                        <p:cTn id="137" dur="500" fill="hold"/>
                                        <p:tgtEl>
                                          <p:spTgt spid="36"/>
                                        </p:tgtEl>
                                        <p:attrNameLst>
                                          <p:attrName>ppt_w</p:attrName>
                                        </p:attrNameLst>
                                      </p:cBhvr>
                                      <p:tavLst>
                                        <p:tav tm="0">
                                          <p:val>
                                            <p:strVal val="#ppt_w*0.7"/>
                                          </p:val>
                                        </p:tav>
                                        <p:tav tm="100000">
                                          <p:val>
                                            <p:strVal val="#ppt_w"/>
                                          </p:val>
                                        </p:tav>
                                      </p:tavLst>
                                    </p:anim>
                                    <p:anim calcmode="lin" valueType="num">
                                      <p:cBhvr additive="base">
                                        <p:cTn id="138" dur="500" fill="hold"/>
                                        <p:tgtEl>
                                          <p:spTgt spid="36"/>
                                        </p:tgtEl>
                                        <p:attrNameLst>
                                          <p:attrName>ppt_h</p:attrName>
                                        </p:attrNameLst>
                                      </p:cBhvr>
                                      <p:tavLst>
                                        <p:tav tm="0">
                                          <p:val>
                                            <p:strVal val="#ppt_h*0.7"/>
                                          </p:val>
                                        </p:tav>
                                        <p:tav tm="100000">
                                          <p:val>
                                            <p:strVal val="#ppt_h"/>
                                          </p:val>
                                        </p:tav>
                                      </p:tavLst>
                                    </p:anim>
                                    <p:animEffect transition="in" filter="fade">
                                      <p:cBhvr>
                                        <p:cTn id="139"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9" grpId="0" animBg="1"/>
      <p:bldP spid="10" grpId="0" animBg="1"/>
      <p:bldP spid="11" grpId="0" animBg="1"/>
      <p:bldP spid="12" grpId="0" animBg="1"/>
      <p:bldP spid="14" grpId="0" animBg="1"/>
      <p:bldP spid="15" grpId="0" animBg="1"/>
      <p:bldP spid="16" grpId="0" animBg="1"/>
      <p:bldP spid="17" grpId="0" animBg="1"/>
      <p:bldP spid="19" grpId="0" animBg="1"/>
      <p:bldP spid="20" grpId="0" animBg="1"/>
      <p:bldP spid="21" grpId="0" animBg="1"/>
      <p:bldP spid="22" grpId="0" animBg="1"/>
      <p:bldP spid="24" grpId="0" animBg="1"/>
      <p:bldP spid="25" grpId="0" animBg="1"/>
      <p:bldP spid="26" grpId="0" animBg="1"/>
      <p:bldP spid="27" grpId="0" animBg="1"/>
      <p:bldP spid="29" grpId="0" animBg="1"/>
      <p:bldP spid="30" grpId="0" animBg="1"/>
      <p:bldP spid="31" grpId="0" animBg="1"/>
      <p:bldP spid="33" grpId="0" animBg="1"/>
      <p:bldP spid="34" grpId="0" animBg="1"/>
      <p:bldP spid="36"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4EA"/>
        </a:solidFill>
        <a:effectLst/>
      </p:bgPr>
    </p:bg>
    <p:spTree>
      <p:nvGrpSpPr>
        <p:cNvPr id="1" name=""/>
        <p:cNvGrpSpPr/>
        <p:nvPr/>
      </p:nvGrpSpPr>
      <p:grpSpPr/>
      <p:pic>
        <p:nvPicPr>
          <p:cNvPr id="2" name="!!bg" descr="paper.jpg"/>
          <p:cNvPicPr>
            <a:picLocks noChangeAspect="1"/>
          </p:cNvPicPr>
          <p:nvPr/>
        </p:nvPicPr>
        <p:blipFill>
          <a:blip r:embed="rId2"/>
          <a:srcRect l="1" r="1"/>
          <a:stretch>
            <a:fillRect/>
          </a:stretch>
        </p:blipFill>
        <p:spPr>
          <a:xfrm>
            <a:off x="0" y="0"/>
            <a:ext cx="12191695" cy="6858000"/>
          </a:xfrm>
          <a:prstGeom prst="rect">
            <a:avLst/>
          </a:prstGeom>
        </p:spPr>
      </p:pic>
      <p:sp>
        <p:nvSpPr>
          <p:cNvPr id="3" name="!!ttl"/>
          <p:cNvSpPr txBox="1"/>
          <p:nvPr/>
        </p:nvSpPr>
        <p:spPr>
          <a:xfrm>
            <a:off x="548640" y="292608"/>
            <a:ext cx="8595360" cy="566928"/>
          </a:xfrm>
          <a:prstGeom prst="rect">
            <a:avLst/>
          </a:prstGeom>
          <a:noFill/>
        </p:spPr>
        <p:txBody>
          <a:bodyPr wrap="none" lIns="0" rIns="0" tIns="0" bIns="0" anchor="b">
            <a:noAutofit/>
          </a:bodyPr>
          <a:lstStyle/>
          <a:p>
            <a:pPr algn="l"/>
            <a:r>
              <a:rPr sz="3000" b="0" i="0" spc="30">
                <a:solidFill>
                  <a:srgbClr val="7A2A10"/>
                </a:solidFill>
                <a:latin typeface="Anton"/>
                <a:ea typeface="Anton"/>
                <a:cs typeface="Anton"/>
              </a:rPr>
              <a:t>KẾT NỐI DOANH NGHIỆP VIỆT NAM – HÀN QUỐC</a:t>
            </a:r>
          </a:p>
        </p:txBody>
      </p:sp>
      <p:sp>
        <p:nvSpPr>
          <p:cNvPr id="4" name="!!bar"/>
          <p:cNvSpPr/>
          <p:nvPr/>
        </p:nvSpPr>
        <p:spPr>
          <a:xfrm>
            <a:off x="548640" y="914400"/>
            <a:ext cx="822960" cy="59436"/>
          </a:xfrm>
          <a:prstGeom prst="rect">
            <a:avLst/>
          </a:prstGeom>
          <a:solidFill>
            <a:srgbClr val="F26B1F"/>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5" name="!!crumb"/>
          <p:cNvSpPr txBox="1"/>
          <p:nvPr/>
        </p:nvSpPr>
        <p:spPr>
          <a:xfrm>
            <a:off x="7436815" y="384048"/>
            <a:ext cx="4206240" cy="274320"/>
          </a:xfrm>
          <a:prstGeom prst="rect">
            <a:avLst/>
          </a:prstGeom>
          <a:noFill/>
        </p:spPr>
        <p:txBody>
          <a:bodyPr wrap="square" lIns="0" rIns="0" tIns="0" bIns="0" anchor="t">
            <a:noAutofit/>
          </a:bodyPr>
          <a:lstStyle/>
          <a:p>
            <a:pPr algn="r"/>
            <a:r>
              <a:rPr sz="900" b="0" i="0" spc="80">
                <a:solidFill>
                  <a:srgbClr val="A08576"/>
                </a:solidFill>
                <a:latin typeface="Lexend Medium"/>
                <a:ea typeface="Lexend Medium"/>
                <a:cs typeface="Lexend Medium"/>
              </a:rPr>
              <a:t>HỢP TÁC DOANH NGHIỆP – NHÀ TRƯỜNG</a:t>
            </a:r>
          </a:p>
        </p:txBody>
      </p:sp>
      <p:sp>
        <p:nvSpPr>
          <p:cNvPr id="6" name="TextBox 5"/>
          <p:cNvSpPr txBox="1"/>
          <p:nvPr/>
        </p:nvSpPr>
        <p:spPr>
          <a:xfrm>
            <a:off x="10911535" y="6473952"/>
            <a:ext cx="731520" cy="237744"/>
          </a:xfrm>
          <a:prstGeom prst="rect">
            <a:avLst/>
          </a:prstGeom>
          <a:noFill/>
        </p:spPr>
        <p:txBody>
          <a:bodyPr wrap="square" lIns="0" rIns="0" tIns="0" bIns="0" anchor="t">
            <a:noAutofit/>
          </a:bodyPr>
          <a:lstStyle/>
          <a:p>
            <a:pPr algn="r"/>
            <a:r>
              <a:rPr sz="1000" b="0" i="0">
                <a:solidFill>
                  <a:srgbClr val="A08576"/>
                </a:solidFill>
                <a:latin typeface="Anton"/>
                <a:ea typeface="Anton"/>
                <a:cs typeface="Anton"/>
              </a:rPr>
              <a:t>05</a:t>
            </a:r>
          </a:p>
        </p:txBody>
      </p:sp>
      <p:pic>
        <p:nvPicPr>
          <p:cNvPr id="7" name="Picture 6" descr="chosun-camp.jpg"/>
          <p:cNvPicPr>
            <a:picLocks noChangeAspect="1"/>
          </p:cNvPicPr>
          <p:nvPr/>
        </p:nvPicPr>
        <p:blipFill>
          <a:blip r:embed="rId3"/>
          <a:srcRect l="8714" r="8714"/>
          <a:stretch>
            <a:fillRect/>
          </a:stretch>
        </p:blipFill>
        <p:spPr>
          <a:xfrm>
            <a:off x="7299655" y="1234440"/>
            <a:ext cx="4343400" cy="2427732"/>
          </a:xfrm>
          <a:prstGeom prst="roundRect">
            <a:avLst>
              <a:gd name="adj" fmla="val 5273"/>
            </a:avLst>
          </a:prstGeom>
          <a:ln w="31750">
            <a:solidFill>
              <a:srgbClr val="FFFFFF"/>
            </a:solidFill>
          </a:ln>
          <a:effectLst>
            <a:outerShdw blurRad="274320" dist="73152" dir="5400000" algn="ctr" rotWithShape="0">
              <a:srgbClr val="6A2A08">
                <a:alpha val="28000"/>
              </a:srgbClr>
            </a:outerShdw>
          </a:effectLst>
        </p:spPr>
      </p:pic>
      <p:pic>
        <p:nvPicPr>
          <p:cNvPr id="8" name="Picture 7" descr="hanbok-aodai.jpg"/>
          <p:cNvPicPr>
            <a:picLocks noChangeAspect="1"/>
          </p:cNvPicPr>
          <p:nvPr/>
        </p:nvPicPr>
        <p:blipFill>
          <a:blip r:embed="rId4"/>
          <a:srcRect t="32053" b="12053"/>
          <a:stretch>
            <a:fillRect/>
          </a:stretch>
        </p:blipFill>
        <p:spPr>
          <a:xfrm>
            <a:off x="7299655" y="3863340"/>
            <a:ext cx="4343400" cy="2427732"/>
          </a:xfrm>
          <a:prstGeom prst="roundRect">
            <a:avLst>
              <a:gd name="adj" fmla="val 5273"/>
            </a:avLst>
          </a:prstGeom>
          <a:ln w="31750">
            <a:solidFill>
              <a:srgbClr val="FFFFFF"/>
            </a:solidFill>
          </a:ln>
          <a:effectLst>
            <a:outerShdw blurRad="274320" dist="73152" dir="5400000" algn="ctr" rotWithShape="0">
              <a:srgbClr val="6A2A08">
                <a:alpha val="28000"/>
              </a:srgbClr>
            </a:outerShdw>
          </a:effectLst>
        </p:spPr>
      </p:pic>
      <p:sp>
        <p:nvSpPr>
          <p:cNvPr id="9" name="Rounded Rectangle 8"/>
          <p:cNvSpPr/>
          <p:nvPr/>
        </p:nvSpPr>
        <p:spPr>
          <a:xfrm>
            <a:off x="548640" y="1234440"/>
            <a:ext cx="6339535" cy="865823"/>
          </a:xfrm>
          <a:prstGeom prst="roundRect">
            <a:avLst>
              <a:gd name="adj" fmla="val 16897"/>
            </a:avLst>
          </a:prstGeom>
          <a:gradFill rotWithShape="1">
            <a:gsLst>
              <a:gs pos="0">
                <a:srgbClr val="F26B1F"/>
              </a:gs>
              <a:gs pos="100000">
                <a:srgbClr val="FF8A2A"/>
              </a:gs>
            </a:gsLst>
            <a:lin ang="0" scaled="0"/>
          </a:gradFill>
          <a:ln>
            <a:noFill/>
          </a:ln>
          <a:effectLst>
            <a:outerShdw blurRad="182880" dist="45720" dir="5400000" algn="ctr" rotWithShape="0">
              <a:srgbClr val="8A3A10">
                <a:alpha val="30000"/>
              </a:srgbClr>
            </a:outerShdw>
          </a:effectLst>
        </p:spPr>
        <p:style>
          <a:lnRef idx="1">
            <a:schemeClr val="accent1"/>
          </a:lnRef>
          <a:fillRef idx="3">
            <a:schemeClr val="accent1"/>
          </a:fillRef>
          <a:effectRef idx="0">
            <a:schemeClr val="accent1"/>
          </a:effectRef>
          <a:fontRef idx="minor">
            <a:schemeClr val="lt1"/>
          </a:fontRef>
        </p:style>
        <p:txBody>
          <a:bodyPr rtlCol="0" anchor="ctr" lIns="201168" rIns="201168" wrap="square"/>
          <a:lstStyle/>
          <a:p>
            <a:pPr algn="l">
              <a:lnSpc>
                <a:spcPct val="110000"/>
              </a:lnSpc>
            </a:pPr>
            <a:r>
              <a:rPr sz="1150" b="0" i="0">
                <a:solidFill>
                  <a:srgbClr val="FFFFFF"/>
                </a:solidFill>
                <a:latin typeface="Lexend SemiBold"/>
                <a:ea typeface="Lexend SemiBold"/>
                <a:cs typeface="Lexend SemiBold"/>
              </a:rPr>
              <a:t>Trong bối cảnh hợp tác kinh tế Việt Nam – Hàn Quốc ngày càng phát triển, nhu cầu về nguồn nhân lực có chuyên môn, ngoại ngữ và khả năng thích nghi quốc tế ngày càng quan trọng.</a:t>
            </a:r>
          </a:p>
        </p:txBody>
      </p:sp>
      <p:pic>
        <p:nvPicPr>
          <p:cNvPr id="10" name="Picture 9" descr="circle-check_F26B1F.png"/>
          <p:cNvPicPr>
            <a:picLocks noChangeAspect="1"/>
          </p:cNvPicPr>
          <p:nvPr/>
        </p:nvPicPr>
        <p:blipFill>
          <a:blip r:embed="rId5"/>
          <a:stretch>
            <a:fillRect/>
          </a:stretch>
        </p:blipFill>
        <p:spPr>
          <a:xfrm>
            <a:off x="548640" y="2392871"/>
            <a:ext cx="274320" cy="274320"/>
          </a:xfrm>
          <a:prstGeom prst="rect">
            <a:avLst/>
          </a:prstGeom>
        </p:spPr>
      </p:pic>
      <p:sp>
        <p:nvSpPr>
          <p:cNvPr id="11" name="TextBox 10"/>
          <p:cNvSpPr txBox="1"/>
          <p:nvPr/>
        </p:nvSpPr>
        <p:spPr>
          <a:xfrm>
            <a:off x="960120" y="2374583"/>
            <a:ext cx="5928055" cy="425450"/>
          </a:xfrm>
          <a:prstGeom prst="rect">
            <a:avLst/>
          </a:prstGeom>
          <a:noFill/>
        </p:spPr>
        <p:txBody>
          <a:bodyPr wrap="square" lIns="0" rIns="0" tIns="0" bIns="0" anchor="t">
            <a:noAutofit/>
          </a:bodyPr>
          <a:lstStyle/>
          <a:p>
            <a:pPr algn="l">
              <a:lnSpc>
                <a:spcPct val="122000"/>
              </a:lnSpc>
              <a:spcAft>
                <a:spcPts val="0"/>
              </a:spcAft>
            </a:pPr>
            <a:r>
              <a:rPr sz="1150" b="0" i="0">
                <a:solidFill>
                  <a:srgbClr val="F26B1F"/>
                </a:solidFill>
                <a:latin typeface="Lexend SemiBold"/>
                <a:ea typeface="Lexend SemiBold"/>
                <a:cs typeface="Lexend SemiBold"/>
              </a:rPr>
              <a:t>Tăng cường đào tạo tiếng Hàn</a:t>
            </a:r>
            <a:r>
              <a:rPr sz="1150" b="0" i="0">
                <a:solidFill>
                  <a:srgbClr val="5A473C"/>
                </a:solidFill>
                <a:latin typeface="Lexend"/>
                <a:ea typeface="Lexend"/>
                <a:cs typeface="Lexend"/>
              </a:rPr>
              <a:t> và kỹ năng giao tiếp trong môi trường quốc tế.</a:t>
            </a:r>
          </a:p>
        </p:txBody>
      </p:sp>
      <p:pic>
        <p:nvPicPr>
          <p:cNvPr id="12" name="Picture 11" descr="circle-check_F26B1F.png"/>
          <p:cNvPicPr>
            <a:picLocks noChangeAspect="1"/>
          </p:cNvPicPr>
          <p:nvPr/>
        </p:nvPicPr>
        <p:blipFill>
          <a:blip r:embed="rId5"/>
          <a:stretch>
            <a:fillRect/>
          </a:stretch>
        </p:blipFill>
        <p:spPr>
          <a:xfrm>
            <a:off x="548640" y="3059252"/>
            <a:ext cx="274320" cy="274320"/>
          </a:xfrm>
          <a:prstGeom prst="rect">
            <a:avLst/>
          </a:prstGeom>
        </p:spPr>
      </p:pic>
      <p:sp>
        <p:nvSpPr>
          <p:cNvPr id="13" name="TextBox 12"/>
          <p:cNvSpPr txBox="1"/>
          <p:nvPr/>
        </p:nvSpPr>
        <p:spPr>
          <a:xfrm>
            <a:off x="960120" y="3040964"/>
            <a:ext cx="5928055" cy="235585"/>
          </a:xfrm>
          <a:prstGeom prst="rect">
            <a:avLst/>
          </a:prstGeom>
          <a:noFill/>
        </p:spPr>
        <p:txBody>
          <a:bodyPr wrap="square" lIns="0" rIns="0" tIns="0" bIns="0" anchor="t">
            <a:noAutofit/>
          </a:bodyPr>
          <a:lstStyle/>
          <a:p>
            <a:pPr algn="l">
              <a:lnSpc>
                <a:spcPct val="122000"/>
              </a:lnSpc>
              <a:spcAft>
                <a:spcPts val="0"/>
              </a:spcAft>
            </a:pPr>
            <a:r>
              <a:rPr sz="1150" b="0" i="0">
                <a:solidFill>
                  <a:srgbClr val="F26B1F"/>
                </a:solidFill>
                <a:latin typeface="Lexend SemiBold"/>
                <a:ea typeface="Lexend SemiBold"/>
                <a:cs typeface="Lexend SemiBold"/>
              </a:rPr>
              <a:t>Kết nối sinh viên</a:t>
            </a:r>
            <a:r>
              <a:rPr sz="1150" b="0" i="0">
                <a:solidFill>
                  <a:srgbClr val="5A473C"/>
                </a:solidFill>
                <a:latin typeface="Lexend"/>
                <a:ea typeface="Lexend"/>
                <a:cs typeface="Lexend"/>
              </a:rPr>
              <a:t> với doanh nghiệp Hàn Quốc đang hoạt động tại Việt Nam.</a:t>
            </a:r>
          </a:p>
        </p:txBody>
      </p:sp>
      <p:pic>
        <p:nvPicPr>
          <p:cNvPr id="14" name="Picture 13" descr="circle-check_F26B1F.png"/>
          <p:cNvPicPr>
            <a:picLocks noChangeAspect="1"/>
          </p:cNvPicPr>
          <p:nvPr/>
        </p:nvPicPr>
        <p:blipFill>
          <a:blip r:embed="rId5"/>
          <a:stretch>
            <a:fillRect/>
          </a:stretch>
        </p:blipFill>
        <p:spPr>
          <a:xfrm>
            <a:off x="548640" y="3535769"/>
            <a:ext cx="274320" cy="274320"/>
          </a:xfrm>
          <a:prstGeom prst="rect">
            <a:avLst/>
          </a:prstGeom>
        </p:spPr>
      </p:pic>
      <p:sp>
        <p:nvSpPr>
          <p:cNvPr id="15" name="TextBox 14"/>
          <p:cNvSpPr txBox="1"/>
          <p:nvPr/>
        </p:nvSpPr>
        <p:spPr>
          <a:xfrm>
            <a:off x="960120" y="3517481"/>
            <a:ext cx="5928055" cy="235585"/>
          </a:xfrm>
          <a:prstGeom prst="rect">
            <a:avLst/>
          </a:prstGeom>
          <a:noFill/>
        </p:spPr>
        <p:txBody>
          <a:bodyPr wrap="square" lIns="0" rIns="0" tIns="0" bIns="0" anchor="t">
            <a:noAutofit/>
          </a:bodyPr>
          <a:lstStyle/>
          <a:p>
            <a:pPr algn="l">
              <a:lnSpc>
                <a:spcPct val="122000"/>
              </a:lnSpc>
              <a:spcAft>
                <a:spcPts val="0"/>
              </a:spcAft>
            </a:pPr>
            <a:r>
              <a:rPr sz="1150" b="0" i="0">
                <a:solidFill>
                  <a:srgbClr val="F26B1F"/>
                </a:solidFill>
                <a:latin typeface="Lexend SemiBold"/>
                <a:ea typeface="Lexend SemiBold"/>
                <a:cs typeface="Lexend SemiBold"/>
              </a:rPr>
              <a:t>Mở rộng cơ hội thực tập, việc làm</a:t>
            </a:r>
            <a:r>
              <a:rPr sz="1150" b="0" i="0">
                <a:solidFill>
                  <a:srgbClr val="5A473C"/>
                </a:solidFill>
                <a:latin typeface="Lexend"/>
                <a:ea typeface="Lexend"/>
                <a:cs typeface="Lexend"/>
              </a:rPr>
              <a:t> và phát triển nghề nghiệp xuyên quốc gia.</a:t>
            </a:r>
          </a:p>
        </p:txBody>
      </p:sp>
      <p:pic>
        <p:nvPicPr>
          <p:cNvPr id="16" name="Picture 15" descr="circle-check_F26B1F.png"/>
          <p:cNvPicPr>
            <a:picLocks noChangeAspect="1"/>
          </p:cNvPicPr>
          <p:nvPr/>
        </p:nvPicPr>
        <p:blipFill>
          <a:blip r:embed="rId5"/>
          <a:stretch>
            <a:fillRect/>
          </a:stretch>
        </p:blipFill>
        <p:spPr>
          <a:xfrm>
            <a:off x="548640" y="4012286"/>
            <a:ext cx="274320" cy="274320"/>
          </a:xfrm>
          <a:prstGeom prst="rect">
            <a:avLst/>
          </a:prstGeom>
        </p:spPr>
      </p:pic>
      <p:sp>
        <p:nvSpPr>
          <p:cNvPr id="17" name="TextBox 16"/>
          <p:cNvSpPr txBox="1"/>
          <p:nvPr/>
        </p:nvSpPr>
        <p:spPr>
          <a:xfrm>
            <a:off x="960120" y="3993998"/>
            <a:ext cx="5928055" cy="235585"/>
          </a:xfrm>
          <a:prstGeom prst="rect">
            <a:avLst/>
          </a:prstGeom>
          <a:noFill/>
        </p:spPr>
        <p:txBody>
          <a:bodyPr wrap="square" lIns="0" rIns="0" tIns="0" bIns="0" anchor="t">
            <a:noAutofit/>
          </a:bodyPr>
          <a:lstStyle/>
          <a:p>
            <a:pPr algn="l">
              <a:lnSpc>
                <a:spcPct val="122000"/>
              </a:lnSpc>
              <a:spcAft>
                <a:spcPts val="0"/>
              </a:spcAft>
            </a:pPr>
            <a:r>
              <a:rPr sz="1150" b="0" i="0">
                <a:solidFill>
                  <a:srgbClr val="F26B1F"/>
                </a:solidFill>
                <a:latin typeface="Lexend SemiBold"/>
                <a:ea typeface="Lexend SemiBold"/>
                <a:cs typeface="Lexend SemiBold"/>
              </a:rPr>
              <a:t>Chia sẻ văn hóa làm việc,</a:t>
            </a:r>
            <a:r>
              <a:rPr sz="1150" b="0" i="0">
                <a:solidFill>
                  <a:srgbClr val="5A473C"/>
                </a:solidFill>
                <a:latin typeface="Lexend"/>
                <a:ea typeface="Lexend"/>
                <a:cs typeface="Lexend"/>
              </a:rPr>
              <a:t> tác phong chuyên nghiệp và tinh thần trách nhiệm.</a:t>
            </a:r>
          </a:p>
        </p:txBody>
      </p:sp>
      <p:pic>
        <p:nvPicPr>
          <p:cNvPr id="18" name="Picture 17" descr="circle-check_F26B1F.png"/>
          <p:cNvPicPr>
            <a:picLocks noChangeAspect="1"/>
          </p:cNvPicPr>
          <p:nvPr/>
        </p:nvPicPr>
        <p:blipFill>
          <a:blip r:embed="rId5"/>
          <a:stretch>
            <a:fillRect/>
          </a:stretch>
        </p:blipFill>
        <p:spPr>
          <a:xfrm>
            <a:off x="548640" y="4488802"/>
            <a:ext cx="274320" cy="274320"/>
          </a:xfrm>
          <a:prstGeom prst="rect">
            <a:avLst/>
          </a:prstGeom>
        </p:spPr>
      </p:pic>
      <p:sp>
        <p:nvSpPr>
          <p:cNvPr id="19" name="TextBox 18"/>
          <p:cNvSpPr txBox="1"/>
          <p:nvPr/>
        </p:nvSpPr>
        <p:spPr>
          <a:xfrm>
            <a:off x="960120" y="4470514"/>
            <a:ext cx="5928055" cy="425450"/>
          </a:xfrm>
          <a:prstGeom prst="rect">
            <a:avLst/>
          </a:prstGeom>
          <a:noFill/>
        </p:spPr>
        <p:txBody>
          <a:bodyPr wrap="square" lIns="0" rIns="0" tIns="0" bIns="0" anchor="t">
            <a:noAutofit/>
          </a:bodyPr>
          <a:lstStyle/>
          <a:p>
            <a:pPr algn="l">
              <a:lnSpc>
                <a:spcPct val="122000"/>
              </a:lnSpc>
              <a:spcAft>
                <a:spcPts val="0"/>
              </a:spcAft>
            </a:pPr>
            <a:r>
              <a:rPr sz="1150" b="0" i="0">
                <a:solidFill>
                  <a:srgbClr val="F26B1F"/>
                </a:solidFill>
                <a:latin typeface="Lexend SemiBold"/>
                <a:ea typeface="Lexend SemiBold"/>
                <a:cs typeface="Lexend SemiBold"/>
              </a:rPr>
              <a:t>Xây dựng mạng lưới hợp tác</a:t>
            </a:r>
            <a:r>
              <a:rPr sz="1150" b="0" i="0">
                <a:solidFill>
                  <a:srgbClr val="5A473C"/>
                </a:solidFill>
                <a:latin typeface="Lexend"/>
                <a:ea typeface="Lexend"/>
                <a:cs typeface="Lexend"/>
              </a:rPr>
              <a:t> giữa trường đại học, doanh nghiệp và các đối tác quốc tế.</a:t>
            </a:r>
          </a:p>
        </p:txBody>
      </p:sp>
      <p:sp>
        <p:nvSpPr>
          <p:cNvPr id="20" name="Rounded Rectangle 19"/>
          <p:cNvSpPr/>
          <p:nvPr/>
        </p:nvSpPr>
        <p:spPr>
          <a:xfrm>
            <a:off x="548640" y="5411216"/>
            <a:ext cx="6339535" cy="879856"/>
          </a:xfrm>
          <a:prstGeom prst="roundRect">
            <a:avLst>
              <a:gd name="adj" fmla="val 14549"/>
            </a:avLst>
          </a:prstGeom>
          <a:solidFill>
            <a:srgbClr val="FFFFFF">
              <a:alpha val="62000"/>
            </a:srgbClr>
          </a:solidFill>
          <a:ln w="15875">
            <a:solidFill>
              <a:srgbClr val="F26B1F"/>
            </a:solidFill>
            <a:prstDash val="dash"/>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1" name="Rounded Rectangle 20"/>
          <p:cNvSpPr/>
          <p:nvPr/>
        </p:nvSpPr>
        <p:spPr>
          <a:xfrm>
            <a:off x="822960" y="5264912"/>
            <a:ext cx="1143248" cy="292608"/>
          </a:xfrm>
          <a:prstGeom prst="roundRect">
            <a:avLst>
              <a:gd name="adj" fmla="val 25000"/>
            </a:avLst>
          </a:prstGeom>
          <a:solidFill>
            <a:srgbClr val="F26B1F"/>
          </a:solidFill>
          <a:ln>
            <a:noFill/>
          </a:ln>
          <a:effectLst/>
        </p:spPr>
        <p:style>
          <a:lnRef idx="1">
            <a:schemeClr val="accent1"/>
          </a:lnRef>
          <a:fillRef idx="3">
            <a:schemeClr val="accent1"/>
          </a:fillRef>
          <a:effectRef idx="0">
            <a:schemeClr val="accent1"/>
          </a:effectRef>
          <a:fontRef idx="minor">
            <a:schemeClr val="lt1"/>
          </a:fontRef>
        </p:style>
        <p:txBody>
          <a:bodyPr rtlCol="0" anchor="ctr" lIns="45720" rIns="45720" tIns="0" bIns="0" wrap="square"/>
          <a:lstStyle/>
          <a:p>
            <a:pPr algn="ctr"/>
            <a:r>
              <a:rPr sz="1100" b="0" i="0" spc="150">
                <a:solidFill>
                  <a:srgbClr val="FFFFFF"/>
                </a:solidFill>
                <a:latin typeface="Anton"/>
                <a:ea typeface="Anton"/>
                <a:cs typeface="Anton"/>
              </a:rPr>
              <a:t>THÔNG ĐIỆP</a:t>
            </a:r>
          </a:p>
        </p:txBody>
      </p:sp>
      <p:pic>
        <p:nvPicPr>
          <p:cNvPr id="22" name="Picture 21" descr="megaphone_F26B1F.png"/>
          <p:cNvPicPr>
            <a:picLocks noChangeAspect="1"/>
          </p:cNvPicPr>
          <p:nvPr/>
        </p:nvPicPr>
        <p:blipFill>
          <a:blip r:embed="rId6"/>
          <a:stretch>
            <a:fillRect/>
          </a:stretch>
        </p:blipFill>
        <p:spPr>
          <a:xfrm>
            <a:off x="841248" y="5668264"/>
            <a:ext cx="365760" cy="365760"/>
          </a:xfrm>
          <a:prstGeom prst="rect">
            <a:avLst/>
          </a:prstGeom>
        </p:spPr>
      </p:pic>
      <p:sp>
        <p:nvSpPr>
          <p:cNvPr id="23" name="TextBox 22"/>
          <p:cNvSpPr txBox="1"/>
          <p:nvPr/>
        </p:nvSpPr>
        <p:spPr>
          <a:xfrm>
            <a:off x="1417320" y="5539232"/>
            <a:ext cx="5196535" cy="678688"/>
          </a:xfrm>
          <a:prstGeom prst="rect">
            <a:avLst/>
          </a:prstGeom>
          <a:noFill/>
        </p:spPr>
        <p:txBody>
          <a:bodyPr wrap="square" lIns="0" rIns="0" tIns="0" bIns="0" anchor="ctr">
            <a:noAutofit/>
          </a:bodyPr>
          <a:lstStyle/>
          <a:p>
            <a:pPr algn="l">
              <a:lnSpc>
                <a:spcPct val="125000"/>
              </a:lnSpc>
              <a:spcAft>
                <a:spcPts val="0"/>
              </a:spcAft>
            </a:pPr>
            <a:r>
              <a:rPr sz="1300" b="0" i="0">
                <a:solidFill>
                  <a:srgbClr val="3E2A1F"/>
                </a:solidFill>
                <a:latin typeface="Lexend Medium"/>
                <a:ea typeface="Lexend Medium"/>
                <a:cs typeface="Lexend Medium"/>
              </a:rPr>
              <a:t>Giáo dục là </a:t>
            </a:r>
            <a:r>
              <a:rPr sz="1300" b="0" i="0">
                <a:solidFill>
                  <a:srgbClr val="F26B1F"/>
                </a:solidFill>
                <a:latin typeface="Lexend SemiBold"/>
                <a:ea typeface="Lexend SemiBold"/>
                <a:cs typeface="Lexend SemiBold"/>
              </a:rPr>
              <a:t>cầu nối quan trọng</a:t>
            </a:r>
            <a:r>
              <a:rPr sz="1300" b="0" i="0">
                <a:solidFill>
                  <a:srgbClr val="3E2A1F"/>
                </a:solidFill>
                <a:latin typeface="Lexend Medium"/>
                <a:ea typeface="Lexend Medium"/>
                <a:cs typeface="Lexend Medium"/>
              </a:rPr>
              <a:t> giúp nhân lực trẻ Việt Nam tiếp cận cơ hội phát triển trong môi trường toàn cầu.</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grpId="0" nodeType="withEffect">
                                  <p:stCondLst>
                                    <p:cond delay="10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par>
                                <p:cTn id="11" presetID="22" presetClass="entr" presetSubtype="8" fill="hold" grpId="0" nodeType="withEffect">
                                  <p:stCondLst>
                                    <p:cond delay="20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par>
                                <p:cTn id="14" presetID="22" presetClass="entr" presetSubtype="8" fill="hold" grpId="0" nodeType="withEffect">
                                  <p:stCondLst>
                                    <p:cond delay="30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par>
                                <p:cTn id="17" presetID="53" presetClass="entr" presetSubtype="16" fill="hold" grpId="0" nodeType="withEffect">
                                  <p:stCondLst>
                                    <p:cond delay="30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700" fill="hold"/>
                                        <p:tgtEl>
                                          <p:spTgt spid="7"/>
                                        </p:tgtEl>
                                        <p:attrNameLst>
                                          <p:attrName>ppt_w</p:attrName>
                                        </p:attrNameLst>
                                      </p:cBhvr>
                                      <p:tavLst>
                                        <p:tav tm="0">
                                          <p:val>
                                            <p:strVal val="#ppt_w*0.7"/>
                                          </p:val>
                                        </p:tav>
                                        <p:tav tm="100000">
                                          <p:val>
                                            <p:strVal val="#ppt_w"/>
                                          </p:val>
                                        </p:tav>
                                      </p:tavLst>
                                    </p:anim>
                                    <p:anim calcmode="lin" valueType="num">
                                      <p:cBhvr additive="base">
                                        <p:cTn id="20" dur="700" fill="hold"/>
                                        <p:tgtEl>
                                          <p:spTgt spid="7"/>
                                        </p:tgtEl>
                                        <p:attrNameLst>
                                          <p:attrName>ppt_h</p:attrName>
                                        </p:attrNameLst>
                                      </p:cBhvr>
                                      <p:tavLst>
                                        <p:tav tm="0">
                                          <p:val>
                                            <p:strVal val="#ppt_h*0.7"/>
                                          </p:val>
                                        </p:tav>
                                        <p:tav tm="100000">
                                          <p:val>
                                            <p:strVal val="#ppt_h"/>
                                          </p:val>
                                        </p:tav>
                                      </p:tavLst>
                                    </p:anim>
                                    <p:animEffect transition="in" filter="fade">
                                      <p:cBhvr>
                                        <p:cTn id="21" dur="700"/>
                                        <p:tgtEl>
                                          <p:spTgt spid="7"/>
                                        </p:tgtEl>
                                      </p:cBhvr>
                                    </p:animEffect>
                                  </p:childTnLst>
                                </p:cTn>
                              </p:par>
                              <p:par>
                                <p:cTn id="22" presetID="53" presetClass="entr" presetSubtype="16" fill="hold" grpId="0" nodeType="withEffect">
                                  <p:stCondLst>
                                    <p:cond delay="50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4" dur="700" fill="hold"/>
                                        <p:tgtEl>
                                          <p:spTgt spid="8"/>
                                        </p:tgtEl>
                                        <p:attrNameLst>
                                          <p:attrName>ppt_w</p:attrName>
                                        </p:attrNameLst>
                                      </p:cBhvr>
                                      <p:tavLst>
                                        <p:tav tm="0">
                                          <p:val>
                                            <p:strVal val="#ppt_w*0.7"/>
                                          </p:val>
                                        </p:tav>
                                        <p:tav tm="100000">
                                          <p:val>
                                            <p:strVal val="#ppt_w"/>
                                          </p:val>
                                        </p:tav>
                                      </p:tavLst>
                                    </p:anim>
                                    <p:anim calcmode="lin" valueType="num">
                                      <p:cBhvr additive="base">
                                        <p:cTn id="25" dur="700" fill="hold"/>
                                        <p:tgtEl>
                                          <p:spTgt spid="8"/>
                                        </p:tgtEl>
                                        <p:attrNameLst>
                                          <p:attrName>ppt_h</p:attrName>
                                        </p:attrNameLst>
                                      </p:cBhvr>
                                      <p:tavLst>
                                        <p:tav tm="0">
                                          <p:val>
                                            <p:strVal val="#ppt_h*0.7"/>
                                          </p:val>
                                        </p:tav>
                                        <p:tav tm="100000">
                                          <p:val>
                                            <p:strVal val="#ppt_h"/>
                                          </p:val>
                                        </p:tav>
                                      </p:tavLst>
                                    </p:anim>
                                    <p:animEffect transition="in" filter="fade">
                                      <p:cBhvr>
                                        <p:cTn id="26" dur="700"/>
                                        <p:tgtEl>
                                          <p:spTgt spid="8"/>
                                        </p:tgtEl>
                                      </p:cBhvr>
                                    </p:animEffect>
                                  </p:childTnLst>
                                </p:cTn>
                              </p:par>
                              <p:par>
                                <p:cTn id="27" presetID="22" presetClass="entr" presetSubtype="8" fill="hold" grpId="0" nodeType="withEffect">
                                  <p:stCondLst>
                                    <p:cond delay="500"/>
                                  </p:stCondLst>
                                  <p:childTnLst>
                                    <p:set>
                                      <p:cBhvr>
                                        <p:cTn id="28" dur="1" fill="hold">
                                          <p:stCondLst>
                                            <p:cond delay="0"/>
                                          </p:stCondLst>
                                        </p:cTn>
                                        <p:tgtEl>
                                          <p:spTgt spid="9"/>
                                        </p:tgtEl>
                                        <p:attrNameLst>
                                          <p:attrName>style.visibility</p:attrName>
                                        </p:attrNameLst>
                                      </p:cBhvr>
                                      <p:to>
                                        <p:strVal val="visible"/>
                                      </p:to>
                                    </p:set>
                                    <p:animEffect transition="in" filter="wipe(left)">
                                      <p:cBhvr>
                                        <p:cTn id="29" dur="500"/>
                                        <p:tgtEl>
                                          <p:spTgt spid="9"/>
                                        </p:tgtEl>
                                      </p:cBhvr>
                                    </p:animEffect>
                                  </p:childTnLst>
                                </p:cTn>
                              </p:par>
                              <p:par>
                                <p:cTn id="30" presetID="42" presetClass="entr" presetSubtype="0" fill="hold" grpId="0" nodeType="withEffect">
                                  <p:stCondLst>
                                    <p:cond delay="90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450"/>
                                        <p:tgtEl>
                                          <p:spTgt spid="10"/>
                                        </p:tgtEl>
                                      </p:cBhvr>
                                    </p:animEffect>
                                    <p:anim calcmode="lin" valueType="num">
                                      <p:cBhvr additive="base">
                                        <p:cTn id="33" dur="450" fill="hold"/>
                                        <p:tgtEl>
                                          <p:spTgt spid="10"/>
                                        </p:tgtEl>
                                        <p:attrNameLst>
                                          <p:attrName>ppt_x</p:attrName>
                                        </p:attrNameLst>
                                      </p:cBhvr>
                                      <p:tavLst>
                                        <p:tav tm="0">
                                          <p:val>
                                            <p:strVal val="#ppt_x"/>
                                          </p:val>
                                        </p:tav>
                                        <p:tav tm="100000">
                                          <p:val>
                                            <p:strVal val="#ppt_x"/>
                                          </p:val>
                                        </p:tav>
                                      </p:tavLst>
                                    </p:anim>
                                    <p:anim calcmode="lin" valueType="num">
                                      <p:cBhvr additive="base">
                                        <p:cTn id="34" dur="450" fill="hold"/>
                                        <p:tgtEl>
                                          <p:spTgt spid="10"/>
                                        </p:tgtEl>
                                        <p:attrNameLst>
                                          <p:attrName>ppt_y</p:attrName>
                                        </p:attrNameLst>
                                      </p:cBhvr>
                                      <p:tavLst>
                                        <p:tav tm="0">
                                          <p:val>
                                            <p:strVal val="#ppt_y+.06"/>
                                          </p:val>
                                        </p:tav>
                                        <p:tav tm="100000">
                                          <p:val>
                                            <p:strVal val="#ppt_y"/>
                                          </p:val>
                                        </p:tav>
                                      </p:tavLst>
                                    </p:anim>
                                  </p:childTnLst>
                                </p:cTn>
                              </p:par>
                              <p:par>
                                <p:cTn id="35" presetID="42" presetClass="entr" presetSubtype="0" fill="hold" grpId="0" nodeType="withEffect">
                                  <p:stCondLst>
                                    <p:cond delay="90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450"/>
                                        <p:tgtEl>
                                          <p:spTgt spid="11"/>
                                        </p:tgtEl>
                                      </p:cBhvr>
                                    </p:animEffect>
                                    <p:anim calcmode="lin" valueType="num">
                                      <p:cBhvr additive="base">
                                        <p:cTn id="38" dur="450" fill="hold"/>
                                        <p:tgtEl>
                                          <p:spTgt spid="11"/>
                                        </p:tgtEl>
                                        <p:attrNameLst>
                                          <p:attrName>ppt_x</p:attrName>
                                        </p:attrNameLst>
                                      </p:cBhvr>
                                      <p:tavLst>
                                        <p:tav tm="0">
                                          <p:val>
                                            <p:strVal val="#ppt_x"/>
                                          </p:val>
                                        </p:tav>
                                        <p:tav tm="100000">
                                          <p:val>
                                            <p:strVal val="#ppt_x"/>
                                          </p:val>
                                        </p:tav>
                                      </p:tavLst>
                                    </p:anim>
                                    <p:anim calcmode="lin" valueType="num">
                                      <p:cBhvr additive="base">
                                        <p:cTn id="39" dur="450" fill="hold"/>
                                        <p:tgtEl>
                                          <p:spTgt spid="11"/>
                                        </p:tgtEl>
                                        <p:attrNameLst>
                                          <p:attrName>ppt_y</p:attrName>
                                        </p:attrNameLst>
                                      </p:cBhvr>
                                      <p:tavLst>
                                        <p:tav tm="0">
                                          <p:val>
                                            <p:strVal val="#ppt_y+.06"/>
                                          </p:val>
                                        </p:tav>
                                        <p:tav tm="100000">
                                          <p:val>
                                            <p:strVal val="#ppt_y"/>
                                          </p:val>
                                        </p:tav>
                                      </p:tavLst>
                                    </p:anim>
                                  </p:childTnLst>
                                </p:cTn>
                              </p:par>
                              <p:par>
                                <p:cTn id="40" presetID="42" presetClass="entr" presetSubtype="0" fill="hold" grpId="0" nodeType="withEffect">
                                  <p:stCondLst>
                                    <p:cond delay="108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450"/>
                                        <p:tgtEl>
                                          <p:spTgt spid="12"/>
                                        </p:tgtEl>
                                      </p:cBhvr>
                                    </p:animEffect>
                                    <p:anim calcmode="lin" valueType="num">
                                      <p:cBhvr additive="base">
                                        <p:cTn id="43" dur="450" fill="hold"/>
                                        <p:tgtEl>
                                          <p:spTgt spid="12"/>
                                        </p:tgtEl>
                                        <p:attrNameLst>
                                          <p:attrName>ppt_x</p:attrName>
                                        </p:attrNameLst>
                                      </p:cBhvr>
                                      <p:tavLst>
                                        <p:tav tm="0">
                                          <p:val>
                                            <p:strVal val="#ppt_x"/>
                                          </p:val>
                                        </p:tav>
                                        <p:tav tm="100000">
                                          <p:val>
                                            <p:strVal val="#ppt_x"/>
                                          </p:val>
                                        </p:tav>
                                      </p:tavLst>
                                    </p:anim>
                                    <p:anim calcmode="lin" valueType="num">
                                      <p:cBhvr additive="base">
                                        <p:cTn id="44" dur="450" fill="hold"/>
                                        <p:tgtEl>
                                          <p:spTgt spid="12"/>
                                        </p:tgtEl>
                                        <p:attrNameLst>
                                          <p:attrName>ppt_y</p:attrName>
                                        </p:attrNameLst>
                                      </p:cBhvr>
                                      <p:tavLst>
                                        <p:tav tm="0">
                                          <p:val>
                                            <p:strVal val="#ppt_y+.06"/>
                                          </p:val>
                                        </p:tav>
                                        <p:tav tm="100000">
                                          <p:val>
                                            <p:strVal val="#ppt_y"/>
                                          </p:val>
                                        </p:tav>
                                      </p:tavLst>
                                    </p:anim>
                                  </p:childTnLst>
                                </p:cTn>
                              </p:par>
                              <p:par>
                                <p:cTn id="45" presetID="42" presetClass="entr" presetSubtype="0" fill="hold" grpId="0" nodeType="withEffect">
                                  <p:stCondLst>
                                    <p:cond delay="108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450"/>
                                        <p:tgtEl>
                                          <p:spTgt spid="13"/>
                                        </p:tgtEl>
                                      </p:cBhvr>
                                    </p:animEffect>
                                    <p:anim calcmode="lin" valueType="num">
                                      <p:cBhvr additive="base">
                                        <p:cTn id="48" dur="450" fill="hold"/>
                                        <p:tgtEl>
                                          <p:spTgt spid="13"/>
                                        </p:tgtEl>
                                        <p:attrNameLst>
                                          <p:attrName>ppt_x</p:attrName>
                                        </p:attrNameLst>
                                      </p:cBhvr>
                                      <p:tavLst>
                                        <p:tav tm="0">
                                          <p:val>
                                            <p:strVal val="#ppt_x"/>
                                          </p:val>
                                        </p:tav>
                                        <p:tav tm="100000">
                                          <p:val>
                                            <p:strVal val="#ppt_x"/>
                                          </p:val>
                                        </p:tav>
                                      </p:tavLst>
                                    </p:anim>
                                    <p:anim calcmode="lin" valueType="num">
                                      <p:cBhvr additive="base">
                                        <p:cTn id="49" dur="450" fill="hold"/>
                                        <p:tgtEl>
                                          <p:spTgt spid="13"/>
                                        </p:tgtEl>
                                        <p:attrNameLst>
                                          <p:attrName>ppt_y</p:attrName>
                                        </p:attrNameLst>
                                      </p:cBhvr>
                                      <p:tavLst>
                                        <p:tav tm="0">
                                          <p:val>
                                            <p:strVal val="#ppt_y+.06"/>
                                          </p:val>
                                        </p:tav>
                                        <p:tav tm="100000">
                                          <p:val>
                                            <p:strVal val="#ppt_y"/>
                                          </p:val>
                                        </p:tav>
                                      </p:tavLst>
                                    </p:anim>
                                  </p:childTnLst>
                                </p:cTn>
                              </p:par>
                              <p:par>
                                <p:cTn id="50" presetID="42" presetClass="entr" presetSubtype="0" fill="hold" grpId="0" nodeType="withEffect">
                                  <p:stCondLst>
                                    <p:cond delay="126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450"/>
                                        <p:tgtEl>
                                          <p:spTgt spid="14"/>
                                        </p:tgtEl>
                                      </p:cBhvr>
                                    </p:animEffect>
                                    <p:anim calcmode="lin" valueType="num">
                                      <p:cBhvr additive="base">
                                        <p:cTn id="53" dur="450" fill="hold"/>
                                        <p:tgtEl>
                                          <p:spTgt spid="14"/>
                                        </p:tgtEl>
                                        <p:attrNameLst>
                                          <p:attrName>ppt_x</p:attrName>
                                        </p:attrNameLst>
                                      </p:cBhvr>
                                      <p:tavLst>
                                        <p:tav tm="0">
                                          <p:val>
                                            <p:strVal val="#ppt_x"/>
                                          </p:val>
                                        </p:tav>
                                        <p:tav tm="100000">
                                          <p:val>
                                            <p:strVal val="#ppt_x"/>
                                          </p:val>
                                        </p:tav>
                                      </p:tavLst>
                                    </p:anim>
                                    <p:anim calcmode="lin" valueType="num">
                                      <p:cBhvr additive="base">
                                        <p:cTn id="54" dur="450" fill="hold"/>
                                        <p:tgtEl>
                                          <p:spTgt spid="14"/>
                                        </p:tgtEl>
                                        <p:attrNameLst>
                                          <p:attrName>ppt_y</p:attrName>
                                        </p:attrNameLst>
                                      </p:cBhvr>
                                      <p:tavLst>
                                        <p:tav tm="0">
                                          <p:val>
                                            <p:strVal val="#ppt_y+.06"/>
                                          </p:val>
                                        </p:tav>
                                        <p:tav tm="100000">
                                          <p:val>
                                            <p:strVal val="#ppt_y"/>
                                          </p:val>
                                        </p:tav>
                                      </p:tavLst>
                                    </p:anim>
                                  </p:childTnLst>
                                </p:cTn>
                              </p:par>
                              <p:par>
                                <p:cTn id="55" presetID="42" presetClass="entr" presetSubtype="0" fill="hold" grpId="0" nodeType="withEffect">
                                  <p:stCondLst>
                                    <p:cond delay="126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450"/>
                                        <p:tgtEl>
                                          <p:spTgt spid="15"/>
                                        </p:tgtEl>
                                      </p:cBhvr>
                                    </p:animEffect>
                                    <p:anim calcmode="lin" valueType="num">
                                      <p:cBhvr additive="base">
                                        <p:cTn id="58" dur="450" fill="hold"/>
                                        <p:tgtEl>
                                          <p:spTgt spid="15"/>
                                        </p:tgtEl>
                                        <p:attrNameLst>
                                          <p:attrName>ppt_x</p:attrName>
                                        </p:attrNameLst>
                                      </p:cBhvr>
                                      <p:tavLst>
                                        <p:tav tm="0">
                                          <p:val>
                                            <p:strVal val="#ppt_x"/>
                                          </p:val>
                                        </p:tav>
                                        <p:tav tm="100000">
                                          <p:val>
                                            <p:strVal val="#ppt_x"/>
                                          </p:val>
                                        </p:tav>
                                      </p:tavLst>
                                    </p:anim>
                                    <p:anim calcmode="lin" valueType="num">
                                      <p:cBhvr additive="base">
                                        <p:cTn id="59" dur="450" fill="hold"/>
                                        <p:tgtEl>
                                          <p:spTgt spid="15"/>
                                        </p:tgtEl>
                                        <p:attrNameLst>
                                          <p:attrName>ppt_y</p:attrName>
                                        </p:attrNameLst>
                                      </p:cBhvr>
                                      <p:tavLst>
                                        <p:tav tm="0">
                                          <p:val>
                                            <p:strVal val="#ppt_y+.06"/>
                                          </p:val>
                                        </p:tav>
                                        <p:tav tm="100000">
                                          <p:val>
                                            <p:strVal val="#ppt_y"/>
                                          </p:val>
                                        </p:tav>
                                      </p:tavLst>
                                    </p:anim>
                                  </p:childTnLst>
                                </p:cTn>
                              </p:par>
                              <p:par>
                                <p:cTn id="60" presetID="42" presetClass="entr" presetSubtype="0" fill="hold" grpId="0" nodeType="withEffect">
                                  <p:stCondLst>
                                    <p:cond delay="144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450"/>
                                        <p:tgtEl>
                                          <p:spTgt spid="16"/>
                                        </p:tgtEl>
                                      </p:cBhvr>
                                    </p:animEffect>
                                    <p:anim calcmode="lin" valueType="num">
                                      <p:cBhvr additive="base">
                                        <p:cTn id="63" dur="450" fill="hold"/>
                                        <p:tgtEl>
                                          <p:spTgt spid="16"/>
                                        </p:tgtEl>
                                        <p:attrNameLst>
                                          <p:attrName>ppt_x</p:attrName>
                                        </p:attrNameLst>
                                      </p:cBhvr>
                                      <p:tavLst>
                                        <p:tav tm="0">
                                          <p:val>
                                            <p:strVal val="#ppt_x"/>
                                          </p:val>
                                        </p:tav>
                                        <p:tav tm="100000">
                                          <p:val>
                                            <p:strVal val="#ppt_x"/>
                                          </p:val>
                                        </p:tav>
                                      </p:tavLst>
                                    </p:anim>
                                    <p:anim calcmode="lin" valueType="num">
                                      <p:cBhvr additive="base">
                                        <p:cTn id="64" dur="450" fill="hold"/>
                                        <p:tgtEl>
                                          <p:spTgt spid="16"/>
                                        </p:tgtEl>
                                        <p:attrNameLst>
                                          <p:attrName>ppt_y</p:attrName>
                                        </p:attrNameLst>
                                      </p:cBhvr>
                                      <p:tavLst>
                                        <p:tav tm="0">
                                          <p:val>
                                            <p:strVal val="#ppt_y+.06"/>
                                          </p:val>
                                        </p:tav>
                                        <p:tav tm="100000">
                                          <p:val>
                                            <p:strVal val="#ppt_y"/>
                                          </p:val>
                                        </p:tav>
                                      </p:tavLst>
                                    </p:anim>
                                  </p:childTnLst>
                                </p:cTn>
                              </p:par>
                              <p:par>
                                <p:cTn id="65" presetID="42" presetClass="entr" presetSubtype="0" fill="hold" grpId="0" nodeType="withEffect">
                                  <p:stCondLst>
                                    <p:cond delay="144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450"/>
                                        <p:tgtEl>
                                          <p:spTgt spid="17"/>
                                        </p:tgtEl>
                                      </p:cBhvr>
                                    </p:animEffect>
                                    <p:anim calcmode="lin" valueType="num">
                                      <p:cBhvr additive="base">
                                        <p:cTn id="68" dur="450" fill="hold"/>
                                        <p:tgtEl>
                                          <p:spTgt spid="17"/>
                                        </p:tgtEl>
                                        <p:attrNameLst>
                                          <p:attrName>ppt_x</p:attrName>
                                        </p:attrNameLst>
                                      </p:cBhvr>
                                      <p:tavLst>
                                        <p:tav tm="0">
                                          <p:val>
                                            <p:strVal val="#ppt_x"/>
                                          </p:val>
                                        </p:tav>
                                        <p:tav tm="100000">
                                          <p:val>
                                            <p:strVal val="#ppt_x"/>
                                          </p:val>
                                        </p:tav>
                                      </p:tavLst>
                                    </p:anim>
                                    <p:anim calcmode="lin" valueType="num">
                                      <p:cBhvr additive="base">
                                        <p:cTn id="69" dur="450" fill="hold"/>
                                        <p:tgtEl>
                                          <p:spTgt spid="17"/>
                                        </p:tgtEl>
                                        <p:attrNameLst>
                                          <p:attrName>ppt_y</p:attrName>
                                        </p:attrNameLst>
                                      </p:cBhvr>
                                      <p:tavLst>
                                        <p:tav tm="0">
                                          <p:val>
                                            <p:strVal val="#ppt_y+.06"/>
                                          </p:val>
                                        </p:tav>
                                        <p:tav tm="100000">
                                          <p:val>
                                            <p:strVal val="#ppt_y"/>
                                          </p:val>
                                        </p:tav>
                                      </p:tavLst>
                                    </p:anim>
                                  </p:childTnLst>
                                </p:cTn>
                              </p:par>
                              <p:par>
                                <p:cTn id="70" presetID="42" presetClass="entr" presetSubtype="0" fill="hold" grpId="0" nodeType="withEffect">
                                  <p:stCondLst>
                                    <p:cond delay="1619"/>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450"/>
                                        <p:tgtEl>
                                          <p:spTgt spid="18"/>
                                        </p:tgtEl>
                                      </p:cBhvr>
                                    </p:animEffect>
                                    <p:anim calcmode="lin" valueType="num">
                                      <p:cBhvr additive="base">
                                        <p:cTn id="73" dur="450" fill="hold"/>
                                        <p:tgtEl>
                                          <p:spTgt spid="18"/>
                                        </p:tgtEl>
                                        <p:attrNameLst>
                                          <p:attrName>ppt_x</p:attrName>
                                        </p:attrNameLst>
                                      </p:cBhvr>
                                      <p:tavLst>
                                        <p:tav tm="0">
                                          <p:val>
                                            <p:strVal val="#ppt_x"/>
                                          </p:val>
                                        </p:tav>
                                        <p:tav tm="100000">
                                          <p:val>
                                            <p:strVal val="#ppt_x"/>
                                          </p:val>
                                        </p:tav>
                                      </p:tavLst>
                                    </p:anim>
                                    <p:anim calcmode="lin" valueType="num">
                                      <p:cBhvr additive="base">
                                        <p:cTn id="74" dur="450" fill="hold"/>
                                        <p:tgtEl>
                                          <p:spTgt spid="18"/>
                                        </p:tgtEl>
                                        <p:attrNameLst>
                                          <p:attrName>ppt_y</p:attrName>
                                        </p:attrNameLst>
                                      </p:cBhvr>
                                      <p:tavLst>
                                        <p:tav tm="0">
                                          <p:val>
                                            <p:strVal val="#ppt_y+.06"/>
                                          </p:val>
                                        </p:tav>
                                        <p:tav tm="100000">
                                          <p:val>
                                            <p:strVal val="#ppt_y"/>
                                          </p:val>
                                        </p:tav>
                                      </p:tavLst>
                                    </p:anim>
                                  </p:childTnLst>
                                </p:cTn>
                              </p:par>
                              <p:par>
                                <p:cTn id="75" presetID="42" presetClass="entr" presetSubtype="0" fill="hold" grpId="0" nodeType="withEffect">
                                  <p:stCondLst>
                                    <p:cond delay="1619"/>
                                  </p:stCondLst>
                                  <p:childTnLst>
                                    <p:set>
                                      <p:cBhvr>
                                        <p:cTn id="76" dur="1" fill="hold">
                                          <p:stCondLst>
                                            <p:cond delay="0"/>
                                          </p:stCondLst>
                                        </p:cTn>
                                        <p:tgtEl>
                                          <p:spTgt spid="19"/>
                                        </p:tgtEl>
                                        <p:attrNameLst>
                                          <p:attrName>style.visibility</p:attrName>
                                        </p:attrNameLst>
                                      </p:cBhvr>
                                      <p:to>
                                        <p:strVal val="visible"/>
                                      </p:to>
                                    </p:set>
                                    <p:animEffect transition="in" filter="fade">
                                      <p:cBhvr>
                                        <p:cTn id="77" dur="450"/>
                                        <p:tgtEl>
                                          <p:spTgt spid="19"/>
                                        </p:tgtEl>
                                      </p:cBhvr>
                                    </p:animEffect>
                                    <p:anim calcmode="lin" valueType="num">
                                      <p:cBhvr additive="base">
                                        <p:cTn id="78" dur="450" fill="hold"/>
                                        <p:tgtEl>
                                          <p:spTgt spid="19"/>
                                        </p:tgtEl>
                                        <p:attrNameLst>
                                          <p:attrName>ppt_x</p:attrName>
                                        </p:attrNameLst>
                                      </p:cBhvr>
                                      <p:tavLst>
                                        <p:tav tm="0">
                                          <p:val>
                                            <p:strVal val="#ppt_x"/>
                                          </p:val>
                                        </p:tav>
                                        <p:tav tm="100000">
                                          <p:val>
                                            <p:strVal val="#ppt_x"/>
                                          </p:val>
                                        </p:tav>
                                      </p:tavLst>
                                    </p:anim>
                                    <p:anim calcmode="lin" valueType="num">
                                      <p:cBhvr additive="base">
                                        <p:cTn id="79" dur="450" fill="hold"/>
                                        <p:tgtEl>
                                          <p:spTgt spid="19"/>
                                        </p:tgtEl>
                                        <p:attrNameLst>
                                          <p:attrName>ppt_y</p:attrName>
                                        </p:attrNameLst>
                                      </p:cBhvr>
                                      <p:tavLst>
                                        <p:tav tm="0">
                                          <p:val>
                                            <p:strVal val="#ppt_y+.06"/>
                                          </p:val>
                                        </p:tav>
                                        <p:tav tm="100000">
                                          <p:val>
                                            <p:strVal val="#ppt_y"/>
                                          </p:val>
                                        </p:tav>
                                      </p:tavLst>
                                    </p:anim>
                                  </p:childTnLst>
                                </p:cTn>
                              </p:par>
                              <p:par>
                                <p:cTn id="80" presetID="53" presetClass="entr" presetSubtype="16" fill="hold" grpId="0" nodeType="withEffect">
                                  <p:stCondLst>
                                    <p:cond delay="1999"/>
                                  </p:stCondLst>
                                  <p:childTnLst>
                                    <p:set>
                                      <p:cBhvr>
                                        <p:cTn id="81" dur="1" fill="hold">
                                          <p:stCondLst>
                                            <p:cond delay="0"/>
                                          </p:stCondLst>
                                        </p:cTn>
                                        <p:tgtEl>
                                          <p:spTgt spid="20"/>
                                        </p:tgtEl>
                                        <p:attrNameLst>
                                          <p:attrName>style.visibility</p:attrName>
                                        </p:attrNameLst>
                                      </p:cBhvr>
                                      <p:to>
                                        <p:strVal val="visible"/>
                                      </p:to>
                                    </p:set>
                                    <p:anim calcmode="lin" valueType="num">
                                      <p:cBhvr additive="base">
                                        <p:cTn id="82" dur="500" fill="hold"/>
                                        <p:tgtEl>
                                          <p:spTgt spid="20"/>
                                        </p:tgtEl>
                                        <p:attrNameLst>
                                          <p:attrName>ppt_w</p:attrName>
                                        </p:attrNameLst>
                                      </p:cBhvr>
                                      <p:tavLst>
                                        <p:tav tm="0">
                                          <p:val>
                                            <p:strVal val="#ppt_w*0.7"/>
                                          </p:val>
                                        </p:tav>
                                        <p:tav tm="100000">
                                          <p:val>
                                            <p:strVal val="#ppt_w"/>
                                          </p:val>
                                        </p:tav>
                                      </p:tavLst>
                                    </p:anim>
                                    <p:anim calcmode="lin" valueType="num">
                                      <p:cBhvr additive="base">
                                        <p:cTn id="83" dur="500" fill="hold"/>
                                        <p:tgtEl>
                                          <p:spTgt spid="20"/>
                                        </p:tgtEl>
                                        <p:attrNameLst>
                                          <p:attrName>ppt_h</p:attrName>
                                        </p:attrNameLst>
                                      </p:cBhvr>
                                      <p:tavLst>
                                        <p:tav tm="0">
                                          <p:val>
                                            <p:strVal val="#ppt_h*0.7"/>
                                          </p:val>
                                        </p:tav>
                                        <p:tav tm="100000">
                                          <p:val>
                                            <p:strVal val="#ppt_h"/>
                                          </p:val>
                                        </p:tav>
                                      </p:tavLst>
                                    </p:anim>
                                    <p:animEffect transition="in" filter="fade">
                                      <p:cBhvr>
                                        <p:cTn id="84" dur="500"/>
                                        <p:tgtEl>
                                          <p:spTgt spid="20"/>
                                        </p:tgtEl>
                                      </p:cBhvr>
                                    </p:animEffect>
                                  </p:childTnLst>
                                </p:cTn>
                              </p:par>
                              <p:par>
                                <p:cTn id="85" presetID="53" presetClass="entr" presetSubtype="16" fill="hold" grpId="0" nodeType="withEffect">
                                  <p:stCondLst>
                                    <p:cond delay="2050"/>
                                  </p:stCondLst>
                                  <p:childTnLst>
                                    <p:set>
                                      <p:cBhvr>
                                        <p:cTn id="86" dur="1" fill="hold">
                                          <p:stCondLst>
                                            <p:cond delay="0"/>
                                          </p:stCondLst>
                                        </p:cTn>
                                        <p:tgtEl>
                                          <p:spTgt spid="21"/>
                                        </p:tgtEl>
                                        <p:attrNameLst>
                                          <p:attrName>style.visibility</p:attrName>
                                        </p:attrNameLst>
                                      </p:cBhvr>
                                      <p:to>
                                        <p:strVal val="visible"/>
                                      </p:to>
                                    </p:set>
                                    <p:anim calcmode="lin" valueType="num">
                                      <p:cBhvr additive="base">
                                        <p:cTn id="87" dur="500" fill="hold"/>
                                        <p:tgtEl>
                                          <p:spTgt spid="21"/>
                                        </p:tgtEl>
                                        <p:attrNameLst>
                                          <p:attrName>ppt_w</p:attrName>
                                        </p:attrNameLst>
                                      </p:cBhvr>
                                      <p:tavLst>
                                        <p:tav tm="0">
                                          <p:val>
                                            <p:strVal val="#ppt_w*0.7"/>
                                          </p:val>
                                        </p:tav>
                                        <p:tav tm="100000">
                                          <p:val>
                                            <p:strVal val="#ppt_w"/>
                                          </p:val>
                                        </p:tav>
                                      </p:tavLst>
                                    </p:anim>
                                    <p:anim calcmode="lin" valueType="num">
                                      <p:cBhvr additive="base">
                                        <p:cTn id="88" dur="500" fill="hold"/>
                                        <p:tgtEl>
                                          <p:spTgt spid="21"/>
                                        </p:tgtEl>
                                        <p:attrNameLst>
                                          <p:attrName>ppt_h</p:attrName>
                                        </p:attrNameLst>
                                      </p:cBhvr>
                                      <p:tavLst>
                                        <p:tav tm="0">
                                          <p:val>
                                            <p:strVal val="#ppt_h*0.7"/>
                                          </p:val>
                                        </p:tav>
                                        <p:tav tm="100000">
                                          <p:val>
                                            <p:strVal val="#ppt_h"/>
                                          </p:val>
                                        </p:tav>
                                      </p:tavLst>
                                    </p:anim>
                                    <p:animEffect transition="in" filter="fade">
                                      <p:cBhvr>
                                        <p:cTn id="89" dur="500"/>
                                        <p:tgtEl>
                                          <p:spTgt spid="21"/>
                                        </p:tgtEl>
                                      </p:cBhvr>
                                    </p:animEffect>
                                  </p:childTnLst>
                                </p:cTn>
                              </p:par>
                              <p:par>
                                <p:cTn id="90" presetID="53" presetClass="entr" presetSubtype="16" fill="hold" grpId="0" nodeType="withEffect">
                                  <p:stCondLst>
                                    <p:cond delay="2099"/>
                                  </p:stCondLst>
                                  <p:childTnLst>
                                    <p:set>
                                      <p:cBhvr>
                                        <p:cTn id="91" dur="1" fill="hold">
                                          <p:stCondLst>
                                            <p:cond delay="0"/>
                                          </p:stCondLst>
                                        </p:cTn>
                                        <p:tgtEl>
                                          <p:spTgt spid="22"/>
                                        </p:tgtEl>
                                        <p:attrNameLst>
                                          <p:attrName>style.visibility</p:attrName>
                                        </p:attrNameLst>
                                      </p:cBhvr>
                                      <p:to>
                                        <p:strVal val="visible"/>
                                      </p:to>
                                    </p:set>
                                    <p:anim calcmode="lin" valueType="num">
                                      <p:cBhvr additive="base">
                                        <p:cTn id="92" dur="500" fill="hold"/>
                                        <p:tgtEl>
                                          <p:spTgt spid="22"/>
                                        </p:tgtEl>
                                        <p:attrNameLst>
                                          <p:attrName>ppt_w</p:attrName>
                                        </p:attrNameLst>
                                      </p:cBhvr>
                                      <p:tavLst>
                                        <p:tav tm="0">
                                          <p:val>
                                            <p:strVal val="#ppt_w*0.7"/>
                                          </p:val>
                                        </p:tav>
                                        <p:tav tm="100000">
                                          <p:val>
                                            <p:strVal val="#ppt_w"/>
                                          </p:val>
                                        </p:tav>
                                      </p:tavLst>
                                    </p:anim>
                                    <p:anim calcmode="lin" valueType="num">
                                      <p:cBhvr additive="base">
                                        <p:cTn id="93" dur="500" fill="hold"/>
                                        <p:tgtEl>
                                          <p:spTgt spid="22"/>
                                        </p:tgtEl>
                                        <p:attrNameLst>
                                          <p:attrName>ppt_h</p:attrName>
                                        </p:attrNameLst>
                                      </p:cBhvr>
                                      <p:tavLst>
                                        <p:tav tm="0">
                                          <p:val>
                                            <p:strVal val="#ppt_h*0.7"/>
                                          </p:val>
                                        </p:tav>
                                        <p:tav tm="100000">
                                          <p:val>
                                            <p:strVal val="#ppt_h"/>
                                          </p:val>
                                        </p:tav>
                                      </p:tavLst>
                                    </p:anim>
                                    <p:animEffect transition="in" filter="fade">
                                      <p:cBhvr>
                                        <p:cTn id="94" dur="500"/>
                                        <p:tgtEl>
                                          <p:spTgt spid="22"/>
                                        </p:tgtEl>
                                      </p:cBhvr>
                                    </p:animEffect>
                                  </p:childTnLst>
                                </p:cTn>
                              </p:par>
                              <p:par>
                                <p:cTn id="95" presetID="53" presetClass="entr" presetSubtype="16" fill="hold" grpId="0" nodeType="withEffect">
                                  <p:stCondLst>
                                    <p:cond delay="2149"/>
                                  </p:stCondLst>
                                  <p:childTnLst>
                                    <p:set>
                                      <p:cBhvr>
                                        <p:cTn id="96" dur="1" fill="hold">
                                          <p:stCondLst>
                                            <p:cond delay="0"/>
                                          </p:stCondLst>
                                        </p:cTn>
                                        <p:tgtEl>
                                          <p:spTgt spid="23"/>
                                        </p:tgtEl>
                                        <p:attrNameLst>
                                          <p:attrName>style.visibility</p:attrName>
                                        </p:attrNameLst>
                                      </p:cBhvr>
                                      <p:to>
                                        <p:strVal val="visible"/>
                                      </p:to>
                                    </p:set>
                                    <p:anim calcmode="lin" valueType="num">
                                      <p:cBhvr additive="base">
                                        <p:cTn id="97" dur="500" fill="hold"/>
                                        <p:tgtEl>
                                          <p:spTgt spid="23"/>
                                        </p:tgtEl>
                                        <p:attrNameLst>
                                          <p:attrName>ppt_w</p:attrName>
                                        </p:attrNameLst>
                                      </p:cBhvr>
                                      <p:tavLst>
                                        <p:tav tm="0">
                                          <p:val>
                                            <p:strVal val="#ppt_w*0.7"/>
                                          </p:val>
                                        </p:tav>
                                        <p:tav tm="100000">
                                          <p:val>
                                            <p:strVal val="#ppt_w"/>
                                          </p:val>
                                        </p:tav>
                                      </p:tavLst>
                                    </p:anim>
                                    <p:anim calcmode="lin" valueType="num">
                                      <p:cBhvr additive="base">
                                        <p:cTn id="98" dur="500" fill="hold"/>
                                        <p:tgtEl>
                                          <p:spTgt spid="23"/>
                                        </p:tgtEl>
                                        <p:attrNameLst>
                                          <p:attrName>ppt_h</p:attrName>
                                        </p:attrNameLst>
                                      </p:cBhvr>
                                      <p:tavLst>
                                        <p:tav tm="0">
                                          <p:val>
                                            <p:strVal val="#ppt_h*0.7"/>
                                          </p:val>
                                        </p:tav>
                                        <p:tav tm="100000">
                                          <p:val>
                                            <p:strVal val="#ppt_h"/>
                                          </p:val>
                                        </p:tav>
                                      </p:tavLst>
                                    </p:anim>
                                    <p:animEffect transition="in" filter="fade">
                                      <p:cBhvr>
                                        <p:cTn id="99"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9" grpId="0" animBg="1"/>
      <p:bldP spid="11" grpId="0" animBg="1"/>
      <p:bldP spid="13" grpId="0" animBg="1"/>
      <p:bldP spid="15" grpId="0" animBg="1"/>
      <p:bldP spid="17" grpId="0" animBg="1"/>
      <p:bldP spid="19" grpId="0" animBg="1"/>
      <p:bldP spid="20" grpId="0" animBg="1"/>
      <p:bldP spid="21" grpId="0" animBg="1"/>
      <p:bldP spid="23"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4EA"/>
        </a:solidFill>
        <a:effectLst/>
      </p:bgPr>
    </p:bg>
    <p:spTree>
      <p:nvGrpSpPr>
        <p:cNvPr id="1" name=""/>
        <p:cNvGrpSpPr/>
        <p:nvPr/>
      </p:nvGrpSpPr>
      <p:grpSpPr/>
      <p:pic>
        <p:nvPicPr>
          <p:cNvPr id="2" name="!!bg" descr="paper.jpg"/>
          <p:cNvPicPr>
            <a:picLocks noChangeAspect="1"/>
          </p:cNvPicPr>
          <p:nvPr/>
        </p:nvPicPr>
        <p:blipFill>
          <a:blip r:embed="rId2"/>
          <a:srcRect l="1" r="1"/>
          <a:stretch>
            <a:fillRect/>
          </a:stretch>
        </p:blipFill>
        <p:spPr>
          <a:xfrm>
            <a:off x="0" y="0"/>
            <a:ext cx="12191695" cy="6858000"/>
          </a:xfrm>
          <a:prstGeom prst="rect">
            <a:avLst/>
          </a:prstGeom>
        </p:spPr>
      </p:pic>
      <p:sp>
        <p:nvSpPr>
          <p:cNvPr id="3" name="!!ttl"/>
          <p:cNvSpPr txBox="1"/>
          <p:nvPr/>
        </p:nvSpPr>
        <p:spPr>
          <a:xfrm>
            <a:off x="548640" y="292608"/>
            <a:ext cx="8595360" cy="566928"/>
          </a:xfrm>
          <a:prstGeom prst="rect">
            <a:avLst/>
          </a:prstGeom>
          <a:noFill/>
        </p:spPr>
        <p:txBody>
          <a:bodyPr wrap="none" lIns="0" rIns="0" tIns="0" bIns="0" anchor="b">
            <a:noAutofit/>
          </a:bodyPr>
          <a:lstStyle/>
          <a:p>
            <a:pPr algn="l"/>
            <a:r>
              <a:rPr sz="3000" b="0" i="0" spc="30">
                <a:solidFill>
                  <a:srgbClr val="7A2A10"/>
                </a:solidFill>
                <a:latin typeface="Anton"/>
                <a:ea typeface="Anton"/>
                <a:cs typeface="Anton"/>
              </a:rPr>
              <a:t>CAM KẾT ĐỒNG HÀNH CÙNG NHÀ TRƯỜNG</a:t>
            </a:r>
          </a:p>
        </p:txBody>
      </p:sp>
      <p:sp>
        <p:nvSpPr>
          <p:cNvPr id="4" name="!!bar"/>
          <p:cNvSpPr/>
          <p:nvPr/>
        </p:nvSpPr>
        <p:spPr>
          <a:xfrm>
            <a:off x="548640" y="914400"/>
            <a:ext cx="822960" cy="59436"/>
          </a:xfrm>
          <a:prstGeom prst="rect">
            <a:avLst/>
          </a:prstGeom>
          <a:solidFill>
            <a:srgbClr val="F26B1F"/>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5" name="!!crumb"/>
          <p:cNvSpPr txBox="1"/>
          <p:nvPr/>
        </p:nvSpPr>
        <p:spPr>
          <a:xfrm>
            <a:off x="7436815" y="384048"/>
            <a:ext cx="4206240" cy="274320"/>
          </a:xfrm>
          <a:prstGeom prst="rect">
            <a:avLst/>
          </a:prstGeom>
          <a:noFill/>
        </p:spPr>
        <p:txBody>
          <a:bodyPr wrap="square" lIns="0" rIns="0" tIns="0" bIns="0" anchor="t">
            <a:noAutofit/>
          </a:bodyPr>
          <a:lstStyle/>
          <a:p>
            <a:pPr algn="r"/>
            <a:r>
              <a:rPr sz="900" b="0" i="0" spc="80">
                <a:solidFill>
                  <a:srgbClr val="A08576"/>
                </a:solidFill>
                <a:latin typeface="Lexend Medium"/>
                <a:ea typeface="Lexend Medium"/>
                <a:cs typeface="Lexend Medium"/>
              </a:rPr>
              <a:t>HỢP TÁC DOANH NGHIỆP – NHÀ TRƯỜNG</a:t>
            </a:r>
          </a:p>
        </p:txBody>
      </p:sp>
      <p:sp>
        <p:nvSpPr>
          <p:cNvPr id="6" name="TextBox 5"/>
          <p:cNvSpPr txBox="1"/>
          <p:nvPr/>
        </p:nvSpPr>
        <p:spPr>
          <a:xfrm>
            <a:off x="10911535" y="6473952"/>
            <a:ext cx="731520" cy="237744"/>
          </a:xfrm>
          <a:prstGeom prst="rect">
            <a:avLst/>
          </a:prstGeom>
          <a:noFill/>
        </p:spPr>
        <p:txBody>
          <a:bodyPr wrap="square" lIns="0" rIns="0" tIns="0" bIns="0" anchor="t">
            <a:noAutofit/>
          </a:bodyPr>
          <a:lstStyle/>
          <a:p>
            <a:pPr algn="r"/>
            <a:r>
              <a:rPr sz="1000" b="0" i="0">
                <a:solidFill>
                  <a:srgbClr val="A08576"/>
                </a:solidFill>
                <a:latin typeface="Anton"/>
                <a:ea typeface="Anton"/>
                <a:cs typeface="Anton"/>
              </a:rPr>
              <a:t>06</a:t>
            </a:r>
          </a:p>
        </p:txBody>
      </p:sp>
      <p:pic>
        <p:nvPicPr>
          <p:cNvPr id="7" name="Picture 6" descr="le-ky-ket-mou.jpg"/>
          <p:cNvPicPr>
            <a:picLocks noChangeAspect="1"/>
          </p:cNvPicPr>
          <p:nvPr/>
        </p:nvPicPr>
        <p:blipFill>
          <a:blip r:embed="rId3"/>
          <a:srcRect t="8079" b="8079"/>
          <a:stretch>
            <a:fillRect/>
          </a:stretch>
        </p:blipFill>
        <p:spPr>
          <a:xfrm>
            <a:off x="548640" y="1234440"/>
            <a:ext cx="4343400" cy="2427732"/>
          </a:xfrm>
          <a:prstGeom prst="roundRect">
            <a:avLst>
              <a:gd name="adj" fmla="val 5273"/>
            </a:avLst>
          </a:prstGeom>
          <a:ln w="31750">
            <a:solidFill>
              <a:srgbClr val="FFFFFF"/>
            </a:solidFill>
          </a:ln>
          <a:effectLst>
            <a:outerShdw blurRad="274320" dist="73152" dir="5400000" algn="ctr" rotWithShape="0">
              <a:srgbClr val="6A2A08">
                <a:alpha val="28000"/>
              </a:srgbClr>
            </a:outerShdw>
          </a:effectLst>
        </p:spPr>
      </p:pic>
      <p:pic>
        <p:nvPicPr>
          <p:cNvPr id="8" name="Picture 7" descr="ky-ket.jpg"/>
          <p:cNvPicPr>
            <a:picLocks noChangeAspect="1"/>
          </p:cNvPicPr>
          <p:nvPr/>
        </p:nvPicPr>
        <p:blipFill>
          <a:blip r:embed="rId4"/>
          <a:srcRect t="8079" b="8079"/>
          <a:stretch>
            <a:fillRect/>
          </a:stretch>
        </p:blipFill>
        <p:spPr>
          <a:xfrm>
            <a:off x="548640" y="3863340"/>
            <a:ext cx="4343400" cy="2427732"/>
          </a:xfrm>
          <a:prstGeom prst="roundRect">
            <a:avLst>
              <a:gd name="adj" fmla="val 5273"/>
            </a:avLst>
          </a:prstGeom>
          <a:ln w="31750">
            <a:solidFill>
              <a:srgbClr val="FFFFFF"/>
            </a:solidFill>
          </a:ln>
          <a:effectLst>
            <a:outerShdw blurRad="274320" dist="73152" dir="5400000" algn="ctr" rotWithShape="0">
              <a:srgbClr val="6A2A08">
                <a:alpha val="28000"/>
              </a:srgbClr>
            </a:outerShdw>
          </a:effectLst>
        </p:spPr>
      </p:pic>
      <p:sp>
        <p:nvSpPr>
          <p:cNvPr id="9" name="Rounded Rectangle 8"/>
          <p:cNvSpPr/>
          <p:nvPr/>
        </p:nvSpPr>
        <p:spPr>
          <a:xfrm>
            <a:off x="5303520" y="1234440"/>
            <a:ext cx="6339535" cy="1131570"/>
          </a:xfrm>
          <a:prstGeom prst="roundRect">
            <a:avLst>
              <a:gd name="adj" fmla="val 12929"/>
            </a:avLst>
          </a:prstGeom>
          <a:gradFill rotWithShape="1">
            <a:gsLst>
              <a:gs pos="0">
                <a:srgbClr val="F26B1F"/>
              </a:gs>
              <a:gs pos="100000">
                <a:srgbClr val="FF8A2A"/>
              </a:gs>
            </a:gsLst>
            <a:lin ang="0" scaled="0"/>
          </a:gradFill>
          <a:ln>
            <a:noFill/>
          </a:ln>
          <a:effectLst>
            <a:outerShdw blurRad="182880" dist="45720" dir="5400000" algn="ctr" rotWithShape="0">
              <a:srgbClr val="8A3A10">
                <a:alpha val="30000"/>
              </a:srgbClr>
            </a:outerShdw>
          </a:effectLst>
        </p:spPr>
        <p:style>
          <a:lnRef idx="1">
            <a:schemeClr val="accent1"/>
          </a:lnRef>
          <a:fillRef idx="3">
            <a:schemeClr val="accent1"/>
          </a:fillRef>
          <a:effectRef idx="0">
            <a:schemeClr val="accent1"/>
          </a:effectRef>
          <a:fontRef idx="minor">
            <a:schemeClr val="lt1"/>
          </a:fontRef>
        </p:style>
        <p:txBody>
          <a:bodyPr rtlCol="0" anchor="ctr" lIns="201168" rIns="201168" wrap="square"/>
          <a:lstStyle/>
          <a:p>
            <a:pPr algn="l">
              <a:lnSpc>
                <a:spcPct val="110000"/>
              </a:lnSpc>
            </a:pPr>
            <a:r>
              <a:rPr sz="1250" b="0" i="0">
                <a:solidFill>
                  <a:srgbClr val="FFFFFF"/>
                </a:solidFill>
                <a:latin typeface="Lexend SemiBold"/>
                <a:ea typeface="Lexend SemiBold"/>
                <a:cs typeface="Lexend SemiBold"/>
              </a:rPr>
              <a:t>Với kinh nghiệm kết nối doanh nghiệp và hợp tác giáo dục Việt Nam – Hàn Quốc, KCL Trading mong muốn tiếp tục đồng hành cùng các trường đại học trên những phương diện phù hợp với năng lực và nhu cầu thực tế của hai bên.</a:t>
            </a:r>
          </a:p>
        </p:txBody>
      </p:sp>
      <p:pic>
        <p:nvPicPr>
          <p:cNvPr id="10" name="Picture 9" descr="circle-check_F26B1F.png"/>
          <p:cNvPicPr>
            <a:picLocks noChangeAspect="1"/>
          </p:cNvPicPr>
          <p:nvPr/>
        </p:nvPicPr>
        <p:blipFill>
          <a:blip r:embed="rId5"/>
          <a:stretch>
            <a:fillRect/>
          </a:stretch>
        </p:blipFill>
        <p:spPr>
          <a:xfrm>
            <a:off x="5303520" y="2658618"/>
            <a:ext cx="274320" cy="274320"/>
          </a:xfrm>
          <a:prstGeom prst="rect">
            <a:avLst/>
          </a:prstGeom>
        </p:spPr>
      </p:pic>
      <p:sp>
        <p:nvSpPr>
          <p:cNvPr id="11" name="TextBox 10"/>
          <p:cNvSpPr txBox="1"/>
          <p:nvPr/>
        </p:nvSpPr>
        <p:spPr>
          <a:xfrm>
            <a:off x="5715000" y="2640330"/>
            <a:ext cx="5928055" cy="252095"/>
          </a:xfrm>
          <a:prstGeom prst="rect">
            <a:avLst/>
          </a:prstGeom>
          <a:noFill/>
        </p:spPr>
        <p:txBody>
          <a:bodyPr wrap="square" lIns="0" rIns="0" tIns="0" bIns="0" anchor="t">
            <a:noAutofit/>
          </a:bodyPr>
          <a:lstStyle/>
          <a:p>
            <a:pPr algn="l">
              <a:lnSpc>
                <a:spcPct val="122000"/>
              </a:lnSpc>
              <a:spcAft>
                <a:spcPts val="0"/>
              </a:spcAft>
            </a:pPr>
            <a:r>
              <a:rPr sz="1250" b="0" i="0">
                <a:solidFill>
                  <a:srgbClr val="F26B1F"/>
                </a:solidFill>
                <a:latin typeface="Lexend SemiBold"/>
                <a:ea typeface="Lexend SemiBold"/>
                <a:cs typeface="Lexend SemiBold"/>
              </a:rPr>
              <a:t>Tăng cường kết nối</a:t>
            </a:r>
            <a:r>
              <a:rPr sz="1250" b="0" i="0">
                <a:solidFill>
                  <a:srgbClr val="5A473C"/>
                </a:solidFill>
                <a:latin typeface="Lexend"/>
                <a:ea typeface="Lexend"/>
                <a:cs typeface="Lexend"/>
              </a:rPr>
              <a:t> giữa nhà trường và doanh nghiệp.</a:t>
            </a:r>
          </a:p>
        </p:txBody>
      </p:sp>
      <p:pic>
        <p:nvPicPr>
          <p:cNvPr id="12" name="Picture 11" descr="circle-check_F26B1F.png"/>
          <p:cNvPicPr>
            <a:picLocks noChangeAspect="1"/>
          </p:cNvPicPr>
          <p:nvPr/>
        </p:nvPicPr>
        <p:blipFill>
          <a:blip r:embed="rId5"/>
          <a:stretch>
            <a:fillRect/>
          </a:stretch>
        </p:blipFill>
        <p:spPr>
          <a:xfrm>
            <a:off x="5303520" y="3157931"/>
            <a:ext cx="274320" cy="274320"/>
          </a:xfrm>
          <a:prstGeom prst="rect">
            <a:avLst/>
          </a:prstGeom>
        </p:spPr>
      </p:pic>
      <p:sp>
        <p:nvSpPr>
          <p:cNvPr id="13" name="TextBox 12"/>
          <p:cNvSpPr txBox="1"/>
          <p:nvPr/>
        </p:nvSpPr>
        <p:spPr>
          <a:xfrm>
            <a:off x="5715000" y="3139643"/>
            <a:ext cx="5928055" cy="252095"/>
          </a:xfrm>
          <a:prstGeom prst="rect">
            <a:avLst/>
          </a:prstGeom>
          <a:noFill/>
        </p:spPr>
        <p:txBody>
          <a:bodyPr wrap="square" lIns="0" rIns="0" tIns="0" bIns="0" anchor="t">
            <a:noAutofit/>
          </a:bodyPr>
          <a:lstStyle/>
          <a:p>
            <a:pPr algn="l">
              <a:lnSpc>
                <a:spcPct val="122000"/>
              </a:lnSpc>
              <a:spcAft>
                <a:spcPts val="0"/>
              </a:spcAft>
            </a:pPr>
            <a:r>
              <a:rPr sz="1250" b="0" i="0">
                <a:solidFill>
                  <a:srgbClr val="F26B1F"/>
                </a:solidFill>
                <a:latin typeface="Lexend SemiBold"/>
                <a:ea typeface="Lexend SemiBold"/>
                <a:cs typeface="Lexend SemiBold"/>
              </a:rPr>
              <a:t>Hỗ trợ định hướng nghề nghiệp</a:t>
            </a:r>
            <a:r>
              <a:rPr sz="1250" b="0" i="0">
                <a:solidFill>
                  <a:srgbClr val="5A473C"/>
                </a:solidFill>
                <a:latin typeface="Lexend"/>
                <a:ea typeface="Lexend"/>
                <a:cs typeface="Lexend"/>
              </a:rPr>
              <a:t> và tiếp cận cơ hội thực tập.</a:t>
            </a:r>
          </a:p>
        </p:txBody>
      </p:sp>
      <p:pic>
        <p:nvPicPr>
          <p:cNvPr id="14" name="Picture 13" descr="circle-check_F26B1F.png"/>
          <p:cNvPicPr>
            <a:picLocks noChangeAspect="1"/>
          </p:cNvPicPr>
          <p:nvPr/>
        </p:nvPicPr>
        <p:blipFill>
          <a:blip r:embed="rId5"/>
          <a:stretch>
            <a:fillRect/>
          </a:stretch>
        </p:blipFill>
        <p:spPr>
          <a:xfrm>
            <a:off x="5303520" y="3657244"/>
            <a:ext cx="274320" cy="274320"/>
          </a:xfrm>
          <a:prstGeom prst="rect">
            <a:avLst/>
          </a:prstGeom>
        </p:spPr>
      </p:pic>
      <p:sp>
        <p:nvSpPr>
          <p:cNvPr id="15" name="TextBox 14"/>
          <p:cNvSpPr txBox="1"/>
          <p:nvPr/>
        </p:nvSpPr>
        <p:spPr>
          <a:xfrm>
            <a:off x="5715000" y="3638956"/>
            <a:ext cx="5928055" cy="252095"/>
          </a:xfrm>
          <a:prstGeom prst="rect">
            <a:avLst/>
          </a:prstGeom>
          <a:noFill/>
        </p:spPr>
        <p:txBody>
          <a:bodyPr wrap="square" lIns="0" rIns="0" tIns="0" bIns="0" anchor="t">
            <a:noAutofit/>
          </a:bodyPr>
          <a:lstStyle/>
          <a:p>
            <a:pPr algn="l">
              <a:lnSpc>
                <a:spcPct val="122000"/>
              </a:lnSpc>
              <a:spcAft>
                <a:spcPts val="0"/>
              </a:spcAft>
            </a:pPr>
            <a:r>
              <a:rPr sz="1250" b="0" i="0">
                <a:solidFill>
                  <a:srgbClr val="F26B1F"/>
                </a:solidFill>
                <a:latin typeface="Lexend SemiBold"/>
                <a:ea typeface="Lexend SemiBold"/>
                <a:cs typeface="Lexend SemiBold"/>
              </a:rPr>
              <a:t>Phối hợp tổ chức</a:t>
            </a:r>
            <a:r>
              <a:rPr sz="1250" b="0" i="0">
                <a:solidFill>
                  <a:srgbClr val="5A473C"/>
                </a:solidFill>
                <a:latin typeface="Lexend"/>
                <a:ea typeface="Lexend"/>
                <a:cs typeface="Lexend"/>
              </a:rPr>
              <a:t> các chương trình giao lưu, hội thảo chuyên đề.</a:t>
            </a:r>
          </a:p>
        </p:txBody>
      </p:sp>
      <p:pic>
        <p:nvPicPr>
          <p:cNvPr id="16" name="Picture 15" descr="circle-check_F26B1F.png"/>
          <p:cNvPicPr>
            <a:picLocks noChangeAspect="1"/>
          </p:cNvPicPr>
          <p:nvPr/>
        </p:nvPicPr>
        <p:blipFill>
          <a:blip r:embed="rId5"/>
          <a:stretch>
            <a:fillRect/>
          </a:stretch>
        </p:blipFill>
        <p:spPr>
          <a:xfrm>
            <a:off x="5303520" y="4156558"/>
            <a:ext cx="274320" cy="274320"/>
          </a:xfrm>
          <a:prstGeom prst="rect">
            <a:avLst/>
          </a:prstGeom>
        </p:spPr>
      </p:pic>
      <p:sp>
        <p:nvSpPr>
          <p:cNvPr id="17" name="TextBox 16"/>
          <p:cNvSpPr txBox="1"/>
          <p:nvPr/>
        </p:nvSpPr>
        <p:spPr>
          <a:xfrm>
            <a:off x="5715000" y="4138270"/>
            <a:ext cx="5928055" cy="252095"/>
          </a:xfrm>
          <a:prstGeom prst="rect">
            <a:avLst/>
          </a:prstGeom>
          <a:noFill/>
        </p:spPr>
        <p:txBody>
          <a:bodyPr wrap="square" lIns="0" rIns="0" tIns="0" bIns="0" anchor="t">
            <a:noAutofit/>
          </a:bodyPr>
          <a:lstStyle/>
          <a:p>
            <a:pPr algn="l">
              <a:lnSpc>
                <a:spcPct val="122000"/>
              </a:lnSpc>
              <a:spcAft>
                <a:spcPts val="0"/>
              </a:spcAft>
            </a:pPr>
            <a:r>
              <a:rPr sz="1250" b="0" i="0">
                <a:solidFill>
                  <a:srgbClr val="F26B1F"/>
                </a:solidFill>
                <a:latin typeface="Lexend SemiBold"/>
                <a:ea typeface="Lexend SemiBold"/>
                <a:cs typeface="Lexend SemiBold"/>
              </a:rPr>
              <a:t>Tìm kiếm cơ hội việc làm</a:t>
            </a:r>
            <a:r>
              <a:rPr sz="1250" b="0" i="0">
                <a:solidFill>
                  <a:srgbClr val="5A473C"/>
                </a:solidFill>
                <a:latin typeface="Lexend"/>
                <a:ea typeface="Lexend"/>
                <a:cs typeface="Lexend"/>
              </a:rPr>
              <a:t> phù hợp cho sinh viên.</a:t>
            </a:r>
          </a:p>
        </p:txBody>
      </p:sp>
      <p:pic>
        <p:nvPicPr>
          <p:cNvPr id="18" name="Picture 17" descr="circle-check_F26B1F.png"/>
          <p:cNvPicPr>
            <a:picLocks noChangeAspect="1"/>
          </p:cNvPicPr>
          <p:nvPr/>
        </p:nvPicPr>
        <p:blipFill>
          <a:blip r:embed="rId5"/>
          <a:stretch>
            <a:fillRect/>
          </a:stretch>
        </p:blipFill>
        <p:spPr>
          <a:xfrm>
            <a:off x="5303520" y="4655871"/>
            <a:ext cx="274320" cy="274320"/>
          </a:xfrm>
          <a:prstGeom prst="rect">
            <a:avLst/>
          </a:prstGeom>
        </p:spPr>
      </p:pic>
      <p:sp>
        <p:nvSpPr>
          <p:cNvPr id="19" name="TextBox 18"/>
          <p:cNvSpPr txBox="1"/>
          <p:nvPr/>
        </p:nvSpPr>
        <p:spPr>
          <a:xfrm>
            <a:off x="5715000" y="4637583"/>
            <a:ext cx="5928055" cy="252095"/>
          </a:xfrm>
          <a:prstGeom prst="rect">
            <a:avLst/>
          </a:prstGeom>
          <a:noFill/>
        </p:spPr>
        <p:txBody>
          <a:bodyPr wrap="square" lIns="0" rIns="0" tIns="0" bIns="0" anchor="t">
            <a:noAutofit/>
          </a:bodyPr>
          <a:lstStyle/>
          <a:p>
            <a:pPr algn="l">
              <a:lnSpc>
                <a:spcPct val="122000"/>
              </a:lnSpc>
              <a:spcAft>
                <a:spcPts val="0"/>
              </a:spcAft>
            </a:pPr>
            <a:r>
              <a:rPr sz="1250" b="0" i="0">
                <a:solidFill>
                  <a:srgbClr val="F26B1F"/>
                </a:solidFill>
                <a:latin typeface="Lexend SemiBold"/>
                <a:ea typeface="Lexend SemiBold"/>
                <a:cs typeface="Lexend SemiBold"/>
              </a:rPr>
              <a:t>Từng bước mở rộng hợp tác</a:t>
            </a:r>
            <a:r>
              <a:rPr sz="1250" b="0" i="0">
                <a:solidFill>
                  <a:srgbClr val="5A473C"/>
                </a:solidFill>
                <a:latin typeface="Lexend"/>
                <a:ea typeface="Lexend"/>
                <a:cs typeface="Lexend"/>
              </a:rPr>
              <a:t> với mạng lưới doanh nghiệp Hàn Quốc.</a:t>
            </a:r>
          </a:p>
        </p:txBody>
      </p:sp>
      <p:sp>
        <p:nvSpPr>
          <p:cNvPr id="20" name="Rounded Rectangle 19"/>
          <p:cNvSpPr/>
          <p:nvPr/>
        </p:nvSpPr>
        <p:spPr>
          <a:xfrm>
            <a:off x="5303520" y="5411216"/>
            <a:ext cx="6339535" cy="879856"/>
          </a:xfrm>
          <a:prstGeom prst="roundRect">
            <a:avLst>
              <a:gd name="adj" fmla="val 14549"/>
            </a:avLst>
          </a:prstGeom>
          <a:solidFill>
            <a:srgbClr val="FFFFFF">
              <a:alpha val="62000"/>
            </a:srgbClr>
          </a:solidFill>
          <a:ln w="15875">
            <a:solidFill>
              <a:srgbClr val="F26B1F"/>
            </a:solidFill>
            <a:prstDash val="dash"/>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1" name="Rounded Rectangle 20"/>
          <p:cNvSpPr/>
          <p:nvPr/>
        </p:nvSpPr>
        <p:spPr>
          <a:xfrm>
            <a:off x="5577840" y="5264912"/>
            <a:ext cx="1143248" cy="292608"/>
          </a:xfrm>
          <a:prstGeom prst="roundRect">
            <a:avLst>
              <a:gd name="adj" fmla="val 25000"/>
            </a:avLst>
          </a:prstGeom>
          <a:solidFill>
            <a:srgbClr val="F26B1F"/>
          </a:solidFill>
          <a:ln>
            <a:noFill/>
          </a:ln>
          <a:effectLst/>
        </p:spPr>
        <p:style>
          <a:lnRef idx="1">
            <a:schemeClr val="accent1"/>
          </a:lnRef>
          <a:fillRef idx="3">
            <a:schemeClr val="accent1"/>
          </a:fillRef>
          <a:effectRef idx="0">
            <a:schemeClr val="accent1"/>
          </a:effectRef>
          <a:fontRef idx="minor">
            <a:schemeClr val="lt1"/>
          </a:fontRef>
        </p:style>
        <p:txBody>
          <a:bodyPr rtlCol="0" anchor="ctr" lIns="45720" rIns="45720" tIns="0" bIns="0" wrap="square"/>
          <a:lstStyle/>
          <a:p>
            <a:pPr algn="ctr"/>
            <a:r>
              <a:rPr sz="1100" b="0" i="0" spc="150">
                <a:solidFill>
                  <a:srgbClr val="FFFFFF"/>
                </a:solidFill>
                <a:latin typeface="Anton"/>
                <a:ea typeface="Anton"/>
                <a:cs typeface="Anton"/>
              </a:rPr>
              <a:t>THÔNG ĐIỆP</a:t>
            </a:r>
          </a:p>
        </p:txBody>
      </p:sp>
      <p:pic>
        <p:nvPicPr>
          <p:cNvPr id="22" name="Picture 21" descr="megaphone_F26B1F.png"/>
          <p:cNvPicPr>
            <a:picLocks noChangeAspect="1"/>
          </p:cNvPicPr>
          <p:nvPr/>
        </p:nvPicPr>
        <p:blipFill>
          <a:blip r:embed="rId6"/>
          <a:stretch>
            <a:fillRect/>
          </a:stretch>
        </p:blipFill>
        <p:spPr>
          <a:xfrm>
            <a:off x="5596128" y="5668264"/>
            <a:ext cx="365760" cy="365760"/>
          </a:xfrm>
          <a:prstGeom prst="rect">
            <a:avLst/>
          </a:prstGeom>
        </p:spPr>
      </p:pic>
      <p:sp>
        <p:nvSpPr>
          <p:cNvPr id="23" name="TextBox 22"/>
          <p:cNvSpPr txBox="1"/>
          <p:nvPr/>
        </p:nvSpPr>
        <p:spPr>
          <a:xfrm>
            <a:off x="6172200" y="5539232"/>
            <a:ext cx="5196535" cy="678688"/>
          </a:xfrm>
          <a:prstGeom prst="rect">
            <a:avLst/>
          </a:prstGeom>
          <a:noFill/>
        </p:spPr>
        <p:txBody>
          <a:bodyPr wrap="square" lIns="0" rIns="0" tIns="0" bIns="0" anchor="ctr">
            <a:noAutofit/>
          </a:bodyPr>
          <a:lstStyle/>
          <a:p>
            <a:pPr algn="l">
              <a:lnSpc>
                <a:spcPct val="125000"/>
              </a:lnSpc>
              <a:spcAft>
                <a:spcPts val="0"/>
              </a:spcAft>
            </a:pPr>
            <a:r>
              <a:rPr sz="1300" b="0" i="0">
                <a:solidFill>
                  <a:srgbClr val="3E2A1F"/>
                </a:solidFill>
                <a:latin typeface="Lexend Medium"/>
                <a:ea typeface="Lexend Medium"/>
                <a:cs typeface="Lexend Medium"/>
              </a:rPr>
              <a:t>Chúng tôi mong muốn xây dựng </a:t>
            </a:r>
            <a:r>
              <a:rPr sz="1300" b="0" i="0">
                <a:solidFill>
                  <a:srgbClr val="F26B1F"/>
                </a:solidFill>
                <a:latin typeface="Lexend SemiBold"/>
                <a:ea typeface="Lexend SemiBold"/>
                <a:cs typeface="Lexend SemiBold"/>
              </a:rPr>
              <a:t>quan hệ đối tác lâu dài</a:t>
            </a:r>
            <a:r>
              <a:rPr sz="1300" b="0" i="0">
                <a:solidFill>
                  <a:srgbClr val="3E2A1F"/>
                </a:solidFill>
                <a:latin typeface="Lexend Medium"/>
                <a:ea typeface="Lexend Medium"/>
                <a:cs typeface="Lexend Medium"/>
              </a:rPr>
              <a:t>, dựa trên sự tin tưởng, trách nhiệm và lợi ích chung.</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grpId="0" nodeType="withEffect">
                                  <p:stCondLst>
                                    <p:cond delay="10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par>
                                <p:cTn id="11" presetID="22" presetClass="entr" presetSubtype="8" fill="hold" grpId="0" nodeType="withEffect">
                                  <p:stCondLst>
                                    <p:cond delay="20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par>
                                <p:cTn id="14" presetID="22" presetClass="entr" presetSubtype="8" fill="hold" grpId="0" nodeType="withEffect">
                                  <p:stCondLst>
                                    <p:cond delay="30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par>
                                <p:cTn id="17" presetID="53" presetClass="entr" presetSubtype="16" fill="hold" grpId="0" nodeType="withEffect">
                                  <p:stCondLst>
                                    <p:cond delay="30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700" fill="hold"/>
                                        <p:tgtEl>
                                          <p:spTgt spid="7"/>
                                        </p:tgtEl>
                                        <p:attrNameLst>
                                          <p:attrName>ppt_w</p:attrName>
                                        </p:attrNameLst>
                                      </p:cBhvr>
                                      <p:tavLst>
                                        <p:tav tm="0">
                                          <p:val>
                                            <p:strVal val="#ppt_w*0.7"/>
                                          </p:val>
                                        </p:tav>
                                        <p:tav tm="100000">
                                          <p:val>
                                            <p:strVal val="#ppt_w"/>
                                          </p:val>
                                        </p:tav>
                                      </p:tavLst>
                                    </p:anim>
                                    <p:anim calcmode="lin" valueType="num">
                                      <p:cBhvr additive="base">
                                        <p:cTn id="20" dur="700" fill="hold"/>
                                        <p:tgtEl>
                                          <p:spTgt spid="7"/>
                                        </p:tgtEl>
                                        <p:attrNameLst>
                                          <p:attrName>ppt_h</p:attrName>
                                        </p:attrNameLst>
                                      </p:cBhvr>
                                      <p:tavLst>
                                        <p:tav tm="0">
                                          <p:val>
                                            <p:strVal val="#ppt_h*0.7"/>
                                          </p:val>
                                        </p:tav>
                                        <p:tav tm="100000">
                                          <p:val>
                                            <p:strVal val="#ppt_h"/>
                                          </p:val>
                                        </p:tav>
                                      </p:tavLst>
                                    </p:anim>
                                    <p:animEffect transition="in" filter="fade">
                                      <p:cBhvr>
                                        <p:cTn id="21" dur="700"/>
                                        <p:tgtEl>
                                          <p:spTgt spid="7"/>
                                        </p:tgtEl>
                                      </p:cBhvr>
                                    </p:animEffect>
                                  </p:childTnLst>
                                </p:cTn>
                              </p:par>
                              <p:par>
                                <p:cTn id="22" presetID="53" presetClass="entr" presetSubtype="16" fill="hold" grpId="0" nodeType="withEffect">
                                  <p:stCondLst>
                                    <p:cond delay="50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4" dur="700" fill="hold"/>
                                        <p:tgtEl>
                                          <p:spTgt spid="8"/>
                                        </p:tgtEl>
                                        <p:attrNameLst>
                                          <p:attrName>ppt_w</p:attrName>
                                        </p:attrNameLst>
                                      </p:cBhvr>
                                      <p:tavLst>
                                        <p:tav tm="0">
                                          <p:val>
                                            <p:strVal val="#ppt_w*0.7"/>
                                          </p:val>
                                        </p:tav>
                                        <p:tav tm="100000">
                                          <p:val>
                                            <p:strVal val="#ppt_w"/>
                                          </p:val>
                                        </p:tav>
                                      </p:tavLst>
                                    </p:anim>
                                    <p:anim calcmode="lin" valueType="num">
                                      <p:cBhvr additive="base">
                                        <p:cTn id="25" dur="700" fill="hold"/>
                                        <p:tgtEl>
                                          <p:spTgt spid="8"/>
                                        </p:tgtEl>
                                        <p:attrNameLst>
                                          <p:attrName>ppt_h</p:attrName>
                                        </p:attrNameLst>
                                      </p:cBhvr>
                                      <p:tavLst>
                                        <p:tav tm="0">
                                          <p:val>
                                            <p:strVal val="#ppt_h*0.7"/>
                                          </p:val>
                                        </p:tav>
                                        <p:tav tm="100000">
                                          <p:val>
                                            <p:strVal val="#ppt_h"/>
                                          </p:val>
                                        </p:tav>
                                      </p:tavLst>
                                    </p:anim>
                                    <p:animEffect transition="in" filter="fade">
                                      <p:cBhvr>
                                        <p:cTn id="26" dur="700"/>
                                        <p:tgtEl>
                                          <p:spTgt spid="8"/>
                                        </p:tgtEl>
                                      </p:cBhvr>
                                    </p:animEffect>
                                  </p:childTnLst>
                                </p:cTn>
                              </p:par>
                              <p:par>
                                <p:cTn id="27" presetID="22" presetClass="entr" presetSubtype="8" fill="hold" grpId="0" nodeType="withEffect">
                                  <p:stCondLst>
                                    <p:cond delay="500"/>
                                  </p:stCondLst>
                                  <p:childTnLst>
                                    <p:set>
                                      <p:cBhvr>
                                        <p:cTn id="28" dur="1" fill="hold">
                                          <p:stCondLst>
                                            <p:cond delay="0"/>
                                          </p:stCondLst>
                                        </p:cTn>
                                        <p:tgtEl>
                                          <p:spTgt spid="9"/>
                                        </p:tgtEl>
                                        <p:attrNameLst>
                                          <p:attrName>style.visibility</p:attrName>
                                        </p:attrNameLst>
                                      </p:cBhvr>
                                      <p:to>
                                        <p:strVal val="visible"/>
                                      </p:to>
                                    </p:set>
                                    <p:animEffect transition="in" filter="wipe(left)">
                                      <p:cBhvr>
                                        <p:cTn id="29" dur="500"/>
                                        <p:tgtEl>
                                          <p:spTgt spid="9"/>
                                        </p:tgtEl>
                                      </p:cBhvr>
                                    </p:animEffect>
                                  </p:childTnLst>
                                </p:cTn>
                              </p:par>
                              <p:par>
                                <p:cTn id="30" presetID="42" presetClass="entr" presetSubtype="0" fill="hold" grpId="0" nodeType="withEffect">
                                  <p:stCondLst>
                                    <p:cond delay="90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450"/>
                                        <p:tgtEl>
                                          <p:spTgt spid="10"/>
                                        </p:tgtEl>
                                      </p:cBhvr>
                                    </p:animEffect>
                                    <p:anim calcmode="lin" valueType="num">
                                      <p:cBhvr additive="base">
                                        <p:cTn id="33" dur="450" fill="hold"/>
                                        <p:tgtEl>
                                          <p:spTgt spid="10"/>
                                        </p:tgtEl>
                                        <p:attrNameLst>
                                          <p:attrName>ppt_x</p:attrName>
                                        </p:attrNameLst>
                                      </p:cBhvr>
                                      <p:tavLst>
                                        <p:tav tm="0">
                                          <p:val>
                                            <p:strVal val="#ppt_x"/>
                                          </p:val>
                                        </p:tav>
                                        <p:tav tm="100000">
                                          <p:val>
                                            <p:strVal val="#ppt_x"/>
                                          </p:val>
                                        </p:tav>
                                      </p:tavLst>
                                    </p:anim>
                                    <p:anim calcmode="lin" valueType="num">
                                      <p:cBhvr additive="base">
                                        <p:cTn id="34" dur="450" fill="hold"/>
                                        <p:tgtEl>
                                          <p:spTgt spid="10"/>
                                        </p:tgtEl>
                                        <p:attrNameLst>
                                          <p:attrName>ppt_y</p:attrName>
                                        </p:attrNameLst>
                                      </p:cBhvr>
                                      <p:tavLst>
                                        <p:tav tm="0">
                                          <p:val>
                                            <p:strVal val="#ppt_y+.06"/>
                                          </p:val>
                                        </p:tav>
                                        <p:tav tm="100000">
                                          <p:val>
                                            <p:strVal val="#ppt_y"/>
                                          </p:val>
                                        </p:tav>
                                      </p:tavLst>
                                    </p:anim>
                                  </p:childTnLst>
                                </p:cTn>
                              </p:par>
                              <p:par>
                                <p:cTn id="35" presetID="42" presetClass="entr" presetSubtype="0" fill="hold" grpId="0" nodeType="withEffect">
                                  <p:stCondLst>
                                    <p:cond delay="90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450"/>
                                        <p:tgtEl>
                                          <p:spTgt spid="11"/>
                                        </p:tgtEl>
                                      </p:cBhvr>
                                    </p:animEffect>
                                    <p:anim calcmode="lin" valueType="num">
                                      <p:cBhvr additive="base">
                                        <p:cTn id="38" dur="450" fill="hold"/>
                                        <p:tgtEl>
                                          <p:spTgt spid="11"/>
                                        </p:tgtEl>
                                        <p:attrNameLst>
                                          <p:attrName>ppt_x</p:attrName>
                                        </p:attrNameLst>
                                      </p:cBhvr>
                                      <p:tavLst>
                                        <p:tav tm="0">
                                          <p:val>
                                            <p:strVal val="#ppt_x"/>
                                          </p:val>
                                        </p:tav>
                                        <p:tav tm="100000">
                                          <p:val>
                                            <p:strVal val="#ppt_x"/>
                                          </p:val>
                                        </p:tav>
                                      </p:tavLst>
                                    </p:anim>
                                    <p:anim calcmode="lin" valueType="num">
                                      <p:cBhvr additive="base">
                                        <p:cTn id="39" dur="450" fill="hold"/>
                                        <p:tgtEl>
                                          <p:spTgt spid="11"/>
                                        </p:tgtEl>
                                        <p:attrNameLst>
                                          <p:attrName>ppt_y</p:attrName>
                                        </p:attrNameLst>
                                      </p:cBhvr>
                                      <p:tavLst>
                                        <p:tav tm="0">
                                          <p:val>
                                            <p:strVal val="#ppt_y+.06"/>
                                          </p:val>
                                        </p:tav>
                                        <p:tav tm="100000">
                                          <p:val>
                                            <p:strVal val="#ppt_y"/>
                                          </p:val>
                                        </p:tav>
                                      </p:tavLst>
                                    </p:anim>
                                  </p:childTnLst>
                                </p:cTn>
                              </p:par>
                              <p:par>
                                <p:cTn id="40" presetID="42" presetClass="entr" presetSubtype="0" fill="hold" grpId="0" nodeType="withEffect">
                                  <p:stCondLst>
                                    <p:cond delay="108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450"/>
                                        <p:tgtEl>
                                          <p:spTgt spid="12"/>
                                        </p:tgtEl>
                                      </p:cBhvr>
                                    </p:animEffect>
                                    <p:anim calcmode="lin" valueType="num">
                                      <p:cBhvr additive="base">
                                        <p:cTn id="43" dur="450" fill="hold"/>
                                        <p:tgtEl>
                                          <p:spTgt spid="12"/>
                                        </p:tgtEl>
                                        <p:attrNameLst>
                                          <p:attrName>ppt_x</p:attrName>
                                        </p:attrNameLst>
                                      </p:cBhvr>
                                      <p:tavLst>
                                        <p:tav tm="0">
                                          <p:val>
                                            <p:strVal val="#ppt_x"/>
                                          </p:val>
                                        </p:tav>
                                        <p:tav tm="100000">
                                          <p:val>
                                            <p:strVal val="#ppt_x"/>
                                          </p:val>
                                        </p:tav>
                                      </p:tavLst>
                                    </p:anim>
                                    <p:anim calcmode="lin" valueType="num">
                                      <p:cBhvr additive="base">
                                        <p:cTn id="44" dur="450" fill="hold"/>
                                        <p:tgtEl>
                                          <p:spTgt spid="12"/>
                                        </p:tgtEl>
                                        <p:attrNameLst>
                                          <p:attrName>ppt_y</p:attrName>
                                        </p:attrNameLst>
                                      </p:cBhvr>
                                      <p:tavLst>
                                        <p:tav tm="0">
                                          <p:val>
                                            <p:strVal val="#ppt_y+.06"/>
                                          </p:val>
                                        </p:tav>
                                        <p:tav tm="100000">
                                          <p:val>
                                            <p:strVal val="#ppt_y"/>
                                          </p:val>
                                        </p:tav>
                                      </p:tavLst>
                                    </p:anim>
                                  </p:childTnLst>
                                </p:cTn>
                              </p:par>
                              <p:par>
                                <p:cTn id="45" presetID="42" presetClass="entr" presetSubtype="0" fill="hold" grpId="0" nodeType="withEffect">
                                  <p:stCondLst>
                                    <p:cond delay="108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450"/>
                                        <p:tgtEl>
                                          <p:spTgt spid="13"/>
                                        </p:tgtEl>
                                      </p:cBhvr>
                                    </p:animEffect>
                                    <p:anim calcmode="lin" valueType="num">
                                      <p:cBhvr additive="base">
                                        <p:cTn id="48" dur="450" fill="hold"/>
                                        <p:tgtEl>
                                          <p:spTgt spid="13"/>
                                        </p:tgtEl>
                                        <p:attrNameLst>
                                          <p:attrName>ppt_x</p:attrName>
                                        </p:attrNameLst>
                                      </p:cBhvr>
                                      <p:tavLst>
                                        <p:tav tm="0">
                                          <p:val>
                                            <p:strVal val="#ppt_x"/>
                                          </p:val>
                                        </p:tav>
                                        <p:tav tm="100000">
                                          <p:val>
                                            <p:strVal val="#ppt_x"/>
                                          </p:val>
                                        </p:tav>
                                      </p:tavLst>
                                    </p:anim>
                                    <p:anim calcmode="lin" valueType="num">
                                      <p:cBhvr additive="base">
                                        <p:cTn id="49" dur="450" fill="hold"/>
                                        <p:tgtEl>
                                          <p:spTgt spid="13"/>
                                        </p:tgtEl>
                                        <p:attrNameLst>
                                          <p:attrName>ppt_y</p:attrName>
                                        </p:attrNameLst>
                                      </p:cBhvr>
                                      <p:tavLst>
                                        <p:tav tm="0">
                                          <p:val>
                                            <p:strVal val="#ppt_y+.06"/>
                                          </p:val>
                                        </p:tav>
                                        <p:tav tm="100000">
                                          <p:val>
                                            <p:strVal val="#ppt_y"/>
                                          </p:val>
                                        </p:tav>
                                      </p:tavLst>
                                    </p:anim>
                                  </p:childTnLst>
                                </p:cTn>
                              </p:par>
                              <p:par>
                                <p:cTn id="50" presetID="42" presetClass="entr" presetSubtype="0" fill="hold" grpId="0" nodeType="withEffect">
                                  <p:stCondLst>
                                    <p:cond delay="126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450"/>
                                        <p:tgtEl>
                                          <p:spTgt spid="14"/>
                                        </p:tgtEl>
                                      </p:cBhvr>
                                    </p:animEffect>
                                    <p:anim calcmode="lin" valueType="num">
                                      <p:cBhvr additive="base">
                                        <p:cTn id="53" dur="450" fill="hold"/>
                                        <p:tgtEl>
                                          <p:spTgt spid="14"/>
                                        </p:tgtEl>
                                        <p:attrNameLst>
                                          <p:attrName>ppt_x</p:attrName>
                                        </p:attrNameLst>
                                      </p:cBhvr>
                                      <p:tavLst>
                                        <p:tav tm="0">
                                          <p:val>
                                            <p:strVal val="#ppt_x"/>
                                          </p:val>
                                        </p:tav>
                                        <p:tav tm="100000">
                                          <p:val>
                                            <p:strVal val="#ppt_x"/>
                                          </p:val>
                                        </p:tav>
                                      </p:tavLst>
                                    </p:anim>
                                    <p:anim calcmode="lin" valueType="num">
                                      <p:cBhvr additive="base">
                                        <p:cTn id="54" dur="450" fill="hold"/>
                                        <p:tgtEl>
                                          <p:spTgt spid="14"/>
                                        </p:tgtEl>
                                        <p:attrNameLst>
                                          <p:attrName>ppt_y</p:attrName>
                                        </p:attrNameLst>
                                      </p:cBhvr>
                                      <p:tavLst>
                                        <p:tav tm="0">
                                          <p:val>
                                            <p:strVal val="#ppt_y+.06"/>
                                          </p:val>
                                        </p:tav>
                                        <p:tav tm="100000">
                                          <p:val>
                                            <p:strVal val="#ppt_y"/>
                                          </p:val>
                                        </p:tav>
                                      </p:tavLst>
                                    </p:anim>
                                  </p:childTnLst>
                                </p:cTn>
                              </p:par>
                              <p:par>
                                <p:cTn id="55" presetID="42" presetClass="entr" presetSubtype="0" fill="hold" grpId="0" nodeType="withEffect">
                                  <p:stCondLst>
                                    <p:cond delay="126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450"/>
                                        <p:tgtEl>
                                          <p:spTgt spid="15"/>
                                        </p:tgtEl>
                                      </p:cBhvr>
                                    </p:animEffect>
                                    <p:anim calcmode="lin" valueType="num">
                                      <p:cBhvr additive="base">
                                        <p:cTn id="58" dur="450" fill="hold"/>
                                        <p:tgtEl>
                                          <p:spTgt spid="15"/>
                                        </p:tgtEl>
                                        <p:attrNameLst>
                                          <p:attrName>ppt_x</p:attrName>
                                        </p:attrNameLst>
                                      </p:cBhvr>
                                      <p:tavLst>
                                        <p:tav tm="0">
                                          <p:val>
                                            <p:strVal val="#ppt_x"/>
                                          </p:val>
                                        </p:tav>
                                        <p:tav tm="100000">
                                          <p:val>
                                            <p:strVal val="#ppt_x"/>
                                          </p:val>
                                        </p:tav>
                                      </p:tavLst>
                                    </p:anim>
                                    <p:anim calcmode="lin" valueType="num">
                                      <p:cBhvr additive="base">
                                        <p:cTn id="59" dur="450" fill="hold"/>
                                        <p:tgtEl>
                                          <p:spTgt spid="15"/>
                                        </p:tgtEl>
                                        <p:attrNameLst>
                                          <p:attrName>ppt_y</p:attrName>
                                        </p:attrNameLst>
                                      </p:cBhvr>
                                      <p:tavLst>
                                        <p:tav tm="0">
                                          <p:val>
                                            <p:strVal val="#ppt_y+.06"/>
                                          </p:val>
                                        </p:tav>
                                        <p:tav tm="100000">
                                          <p:val>
                                            <p:strVal val="#ppt_y"/>
                                          </p:val>
                                        </p:tav>
                                      </p:tavLst>
                                    </p:anim>
                                  </p:childTnLst>
                                </p:cTn>
                              </p:par>
                              <p:par>
                                <p:cTn id="60" presetID="42" presetClass="entr" presetSubtype="0" fill="hold" grpId="0" nodeType="withEffect">
                                  <p:stCondLst>
                                    <p:cond delay="144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450"/>
                                        <p:tgtEl>
                                          <p:spTgt spid="16"/>
                                        </p:tgtEl>
                                      </p:cBhvr>
                                    </p:animEffect>
                                    <p:anim calcmode="lin" valueType="num">
                                      <p:cBhvr additive="base">
                                        <p:cTn id="63" dur="450" fill="hold"/>
                                        <p:tgtEl>
                                          <p:spTgt spid="16"/>
                                        </p:tgtEl>
                                        <p:attrNameLst>
                                          <p:attrName>ppt_x</p:attrName>
                                        </p:attrNameLst>
                                      </p:cBhvr>
                                      <p:tavLst>
                                        <p:tav tm="0">
                                          <p:val>
                                            <p:strVal val="#ppt_x"/>
                                          </p:val>
                                        </p:tav>
                                        <p:tav tm="100000">
                                          <p:val>
                                            <p:strVal val="#ppt_x"/>
                                          </p:val>
                                        </p:tav>
                                      </p:tavLst>
                                    </p:anim>
                                    <p:anim calcmode="lin" valueType="num">
                                      <p:cBhvr additive="base">
                                        <p:cTn id="64" dur="450" fill="hold"/>
                                        <p:tgtEl>
                                          <p:spTgt spid="16"/>
                                        </p:tgtEl>
                                        <p:attrNameLst>
                                          <p:attrName>ppt_y</p:attrName>
                                        </p:attrNameLst>
                                      </p:cBhvr>
                                      <p:tavLst>
                                        <p:tav tm="0">
                                          <p:val>
                                            <p:strVal val="#ppt_y+.06"/>
                                          </p:val>
                                        </p:tav>
                                        <p:tav tm="100000">
                                          <p:val>
                                            <p:strVal val="#ppt_y"/>
                                          </p:val>
                                        </p:tav>
                                      </p:tavLst>
                                    </p:anim>
                                  </p:childTnLst>
                                </p:cTn>
                              </p:par>
                              <p:par>
                                <p:cTn id="65" presetID="42" presetClass="entr" presetSubtype="0" fill="hold" grpId="0" nodeType="withEffect">
                                  <p:stCondLst>
                                    <p:cond delay="144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450"/>
                                        <p:tgtEl>
                                          <p:spTgt spid="17"/>
                                        </p:tgtEl>
                                      </p:cBhvr>
                                    </p:animEffect>
                                    <p:anim calcmode="lin" valueType="num">
                                      <p:cBhvr additive="base">
                                        <p:cTn id="68" dur="450" fill="hold"/>
                                        <p:tgtEl>
                                          <p:spTgt spid="17"/>
                                        </p:tgtEl>
                                        <p:attrNameLst>
                                          <p:attrName>ppt_x</p:attrName>
                                        </p:attrNameLst>
                                      </p:cBhvr>
                                      <p:tavLst>
                                        <p:tav tm="0">
                                          <p:val>
                                            <p:strVal val="#ppt_x"/>
                                          </p:val>
                                        </p:tav>
                                        <p:tav tm="100000">
                                          <p:val>
                                            <p:strVal val="#ppt_x"/>
                                          </p:val>
                                        </p:tav>
                                      </p:tavLst>
                                    </p:anim>
                                    <p:anim calcmode="lin" valueType="num">
                                      <p:cBhvr additive="base">
                                        <p:cTn id="69" dur="450" fill="hold"/>
                                        <p:tgtEl>
                                          <p:spTgt spid="17"/>
                                        </p:tgtEl>
                                        <p:attrNameLst>
                                          <p:attrName>ppt_y</p:attrName>
                                        </p:attrNameLst>
                                      </p:cBhvr>
                                      <p:tavLst>
                                        <p:tav tm="0">
                                          <p:val>
                                            <p:strVal val="#ppt_y+.06"/>
                                          </p:val>
                                        </p:tav>
                                        <p:tav tm="100000">
                                          <p:val>
                                            <p:strVal val="#ppt_y"/>
                                          </p:val>
                                        </p:tav>
                                      </p:tavLst>
                                    </p:anim>
                                  </p:childTnLst>
                                </p:cTn>
                              </p:par>
                              <p:par>
                                <p:cTn id="70" presetID="42" presetClass="entr" presetSubtype="0" fill="hold" grpId="0" nodeType="withEffect">
                                  <p:stCondLst>
                                    <p:cond delay="1619"/>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450"/>
                                        <p:tgtEl>
                                          <p:spTgt spid="18"/>
                                        </p:tgtEl>
                                      </p:cBhvr>
                                    </p:animEffect>
                                    <p:anim calcmode="lin" valueType="num">
                                      <p:cBhvr additive="base">
                                        <p:cTn id="73" dur="450" fill="hold"/>
                                        <p:tgtEl>
                                          <p:spTgt spid="18"/>
                                        </p:tgtEl>
                                        <p:attrNameLst>
                                          <p:attrName>ppt_x</p:attrName>
                                        </p:attrNameLst>
                                      </p:cBhvr>
                                      <p:tavLst>
                                        <p:tav tm="0">
                                          <p:val>
                                            <p:strVal val="#ppt_x"/>
                                          </p:val>
                                        </p:tav>
                                        <p:tav tm="100000">
                                          <p:val>
                                            <p:strVal val="#ppt_x"/>
                                          </p:val>
                                        </p:tav>
                                      </p:tavLst>
                                    </p:anim>
                                    <p:anim calcmode="lin" valueType="num">
                                      <p:cBhvr additive="base">
                                        <p:cTn id="74" dur="450" fill="hold"/>
                                        <p:tgtEl>
                                          <p:spTgt spid="18"/>
                                        </p:tgtEl>
                                        <p:attrNameLst>
                                          <p:attrName>ppt_y</p:attrName>
                                        </p:attrNameLst>
                                      </p:cBhvr>
                                      <p:tavLst>
                                        <p:tav tm="0">
                                          <p:val>
                                            <p:strVal val="#ppt_y+.06"/>
                                          </p:val>
                                        </p:tav>
                                        <p:tav tm="100000">
                                          <p:val>
                                            <p:strVal val="#ppt_y"/>
                                          </p:val>
                                        </p:tav>
                                      </p:tavLst>
                                    </p:anim>
                                  </p:childTnLst>
                                </p:cTn>
                              </p:par>
                              <p:par>
                                <p:cTn id="75" presetID="42" presetClass="entr" presetSubtype="0" fill="hold" grpId="0" nodeType="withEffect">
                                  <p:stCondLst>
                                    <p:cond delay="1619"/>
                                  </p:stCondLst>
                                  <p:childTnLst>
                                    <p:set>
                                      <p:cBhvr>
                                        <p:cTn id="76" dur="1" fill="hold">
                                          <p:stCondLst>
                                            <p:cond delay="0"/>
                                          </p:stCondLst>
                                        </p:cTn>
                                        <p:tgtEl>
                                          <p:spTgt spid="19"/>
                                        </p:tgtEl>
                                        <p:attrNameLst>
                                          <p:attrName>style.visibility</p:attrName>
                                        </p:attrNameLst>
                                      </p:cBhvr>
                                      <p:to>
                                        <p:strVal val="visible"/>
                                      </p:to>
                                    </p:set>
                                    <p:animEffect transition="in" filter="fade">
                                      <p:cBhvr>
                                        <p:cTn id="77" dur="450"/>
                                        <p:tgtEl>
                                          <p:spTgt spid="19"/>
                                        </p:tgtEl>
                                      </p:cBhvr>
                                    </p:animEffect>
                                    <p:anim calcmode="lin" valueType="num">
                                      <p:cBhvr additive="base">
                                        <p:cTn id="78" dur="450" fill="hold"/>
                                        <p:tgtEl>
                                          <p:spTgt spid="19"/>
                                        </p:tgtEl>
                                        <p:attrNameLst>
                                          <p:attrName>ppt_x</p:attrName>
                                        </p:attrNameLst>
                                      </p:cBhvr>
                                      <p:tavLst>
                                        <p:tav tm="0">
                                          <p:val>
                                            <p:strVal val="#ppt_x"/>
                                          </p:val>
                                        </p:tav>
                                        <p:tav tm="100000">
                                          <p:val>
                                            <p:strVal val="#ppt_x"/>
                                          </p:val>
                                        </p:tav>
                                      </p:tavLst>
                                    </p:anim>
                                    <p:anim calcmode="lin" valueType="num">
                                      <p:cBhvr additive="base">
                                        <p:cTn id="79" dur="450" fill="hold"/>
                                        <p:tgtEl>
                                          <p:spTgt spid="19"/>
                                        </p:tgtEl>
                                        <p:attrNameLst>
                                          <p:attrName>ppt_y</p:attrName>
                                        </p:attrNameLst>
                                      </p:cBhvr>
                                      <p:tavLst>
                                        <p:tav tm="0">
                                          <p:val>
                                            <p:strVal val="#ppt_y+.06"/>
                                          </p:val>
                                        </p:tav>
                                        <p:tav tm="100000">
                                          <p:val>
                                            <p:strVal val="#ppt_y"/>
                                          </p:val>
                                        </p:tav>
                                      </p:tavLst>
                                    </p:anim>
                                  </p:childTnLst>
                                </p:cTn>
                              </p:par>
                              <p:par>
                                <p:cTn id="80" presetID="53" presetClass="entr" presetSubtype="16" fill="hold" grpId="0" nodeType="withEffect">
                                  <p:stCondLst>
                                    <p:cond delay="1999"/>
                                  </p:stCondLst>
                                  <p:childTnLst>
                                    <p:set>
                                      <p:cBhvr>
                                        <p:cTn id="81" dur="1" fill="hold">
                                          <p:stCondLst>
                                            <p:cond delay="0"/>
                                          </p:stCondLst>
                                        </p:cTn>
                                        <p:tgtEl>
                                          <p:spTgt spid="20"/>
                                        </p:tgtEl>
                                        <p:attrNameLst>
                                          <p:attrName>style.visibility</p:attrName>
                                        </p:attrNameLst>
                                      </p:cBhvr>
                                      <p:to>
                                        <p:strVal val="visible"/>
                                      </p:to>
                                    </p:set>
                                    <p:anim calcmode="lin" valueType="num">
                                      <p:cBhvr additive="base">
                                        <p:cTn id="82" dur="500" fill="hold"/>
                                        <p:tgtEl>
                                          <p:spTgt spid="20"/>
                                        </p:tgtEl>
                                        <p:attrNameLst>
                                          <p:attrName>ppt_w</p:attrName>
                                        </p:attrNameLst>
                                      </p:cBhvr>
                                      <p:tavLst>
                                        <p:tav tm="0">
                                          <p:val>
                                            <p:strVal val="#ppt_w*0.7"/>
                                          </p:val>
                                        </p:tav>
                                        <p:tav tm="100000">
                                          <p:val>
                                            <p:strVal val="#ppt_w"/>
                                          </p:val>
                                        </p:tav>
                                      </p:tavLst>
                                    </p:anim>
                                    <p:anim calcmode="lin" valueType="num">
                                      <p:cBhvr additive="base">
                                        <p:cTn id="83" dur="500" fill="hold"/>
                                        <p:tgtEl>
                                          <p:spTgt spid="20"/>
                                        </p:tgtEl>
                                        <p:attrNameLst>
                                          <p:attrName>ppt_h</p:attrName>
                                        </p:attrNameLst>
                                      </p:cBhvr>
                                      <p:tavLst>
                                        <p:tav tm="0">
                                          <p:val>
                                            <p:strVal val="#ppt_h*0.7"/>
                                          </p:val>
                                        </p:tav>
                                        <p:tav tm="100000">
                                          <p:val>
                                            <p:strVal val="#ppt_h"/>
                                          </p:val>
                                        </p:tav>
                                      </p:tavLst>
                                    </p:anim>
                                    <p:animEffect transition="in" filter="fade">
                                      <p:cBhvr>
                                        <p:cTn id="84" dur="500"/>
                                        <p:tgtEl>
                                          <p:spTgt spid="20"/>
                                        </p:tgtEl>
                                      </p:cBhvr>
                                    </p:animEffect>
                                  </p:childTnLst>
                                </p:cTn>
                              </p:par>
                              <p:par>
                                <p:cTn id="85" presetID="53" presetClass="entr" presetSubtype="16" fill="hold" grpId="0" nodeType="withEffect">
                                  <p:stCondLst>
                                    <p:cond delay="2050"/>
                                  </p:stCondLst>
                                  <p:childTnLst>
                                    <p:set>
                                      <p:cBhvr>
                                        <p:cTn id="86" dur="1" fill="hold">
                                          <p:stCondLst>
                                            <p:cond delay="0"/>
                                          </p:stCondLst>
                                        </p:cTn>
                                        <p:tgtEl>
                                          <p:spTgt spid="21"/>
                                        </p:tgtEl>
                                        <p:attrNameLst>
                                          <p:attrName>style.visibility</p:attrName>
                                        </p:attrNameLst>
                                      </p:cBhvr>
                                      <p:to>
                                        <p:strVal val="visible"/>
                                      </p:to>
                                    </p:set>
                                    <p:anim calcmode="lin" valueType="num">
                                      <p:cBhvr additive="base">
                                        <p:cTn id="87" dur="500" fill="hold"/>
                                        <p:tgtEl>
                                          <p:spTgt spid="21"/>
                                        </p:tgtEl>
                                        <p:attrNameLst>
                                          <p:attrName>ppt_w</p:attrName>
                                        </p:attrNameLst>
                                      </p:cBhvr>
                                      <p:tavLst>
                                        <p:tav tm="0">
                                          <p:val>
                                            <p:strVal val="#ppt_w*0.7"/>
                                          </p:val>
                                        </p:tav>
                                        <p:tav tm="100000">
                                          <p:val>
                                            <p:strVal val="#ppt_w"/>
                                          </p:val>
                                        </p:tav>
                                      </p:tavLst>
                                    </p:anim>
                                    <p:anim calcmode="lin" valueType="num">
                                      <p:cBhvr additive="base">
                                        <p:cTn id="88" dur="500" fill="hold"/>
                                        <p:tgtEl>
                                          <p:spTgt spid="21"/>
                                        </p:tgtEl>
                                        <p:attrNameLst>
                                          <p:attrName>ppt_h</p:attrName>
                                        </p:attrNameLst>
                                      </p:cBhvr>
                                      <p:tavLst>
                                        <p:tav tm="0">
                                          <p:val>
                                            <p:strVal val="#ppt_h*0.7"/>
                                          </p:val>
                                        </p:tav>
                                        <p:tav tm="100000">
                                          <p:val>
                                            <p:strVal val="#ppt_h"/>
                                          </p:val>
                                        </p:tav>
                                      </p:tavLst>
                                    </p:anim>
                                    <p:animEffect transition="in" filter="fade">
                                      <p:cBhvr>
                                        <p:cTn id="89" dur="500"/>
                                        <p:tgtEl>
                                          <p:spTgt spid="21"/>
                                        </p:tgtEl>
                                      </p:cBhvr>
                                    </p:animEffect>
                                  </p:childTnLst>
                                </p:cTn>
                              </p:par>
                              <p:par>
                                <p:cTn id="90" presetID="53" presetClass="entr" presetSubtype="16" fill="hold" grpId="0" nodeType="withEffect">
                                  <p:stCondLst>
                                    <p:cond delay="2099"/>
                                  </p:stCondLst>
                                  <p:childTnLst>
                                    <p:set>
                                      <p:cBhvr>
                                        <p:cTn id="91" dur="1" fill="hold">
                                          <p:stCondLst>
                                            <p:cond delay="0"/>
                                          </p:stCondLst>
                                        </p:cTn>
                                        <p:tgtEl>
                                          <p:spTgt spid="22"/>
                                        </p:tgtEl>
                                        <p:attrNameLst>
                                          <p:attrName>style.visibility</p:attrName>
                                        </p:attrNameLst>
                                      </p:cBhvr>
                                      <p:to>
                                        <p:strVal val="visible"/>
                                      </p:to>
                                    </p:set>
                                    <p:anim calcmode="lin" valueType="num">
                                      <p:cBhvr additive="base">
                                        <p:cTn id="92" dur="500" fill="hold"/>
                                        <p:tgtEl>
                                          <p:spTgt spid="22"/>
                                        </p:tgtEl>
                                        <p:attrNameLst>
                                          <p:attrName>ppt_w</p:attrName>
                                        </p:attrNameLst>
                                      </p:cBhvr>
                                      <p:tavLst>
                                        <p:tav tm="0">
                                          <p:val>
                                            <p:strVal val="#ppt_w*0.7"/>
                                          </p:val>
                                        </p:tav>
                                        <p:tav tm="100000">
                                          <p:val>
                                            <p:strVal val="#ppt_w"/>
                                          </p:val>
                                        </p:tav>
                                      </p:tavLst>
                                    </p:anim>
                                    <p:anim calcmode="lin" valueType="num">
                                      <p:cBhvr additive="base">
                                        <p:cTn id="93" dur="500" fill="hold"/>
                                        <p:tgtEl>
                                          <p:spTgt spid="22"/>
                                        </p:tgtEl>
                                        <p:attrNameLst>
                                          <p:attrName>ppt_h</p:attrName>
                                        </p:attrNameLst>
                                      </p:cBhvr>
                                      <p:tavLst>
                                        <p:tav tm="0">
                                          <p:val>
                                            <p:strVal val="#ppt_h*0.7"/>
                                          </p:val>
                                        </p:tav>
                                        <p:tav tm="100000">
                                          <p:val>
                                            <p:strVal val="#ppt_h"/>
                                          </p:val>
                                        </p:tav>
                                      </p:tavLst>
                                    </p:anim>
                                    <p:animEffect transition="in" filter="fade">
                                      <p:cBhvr>
                                        <p:cTn id="94" dur="500"/>
                                        <p:tgtEl>
                                          <p:spTgt spid="22"/>
                                        </p:tgtEl>
                                      </p:cBhvr>
                                    </p:animEffect>
                                  </p:childTnLst>
                                </p:cTn>
                              </p:par>
                              <p:par>
                                <p:cTn id="95" presetID="53" presetClass="entr" presetSubtype="16" fill="hold" grpId="0" nodeType="withEffect">
                                  <p:stCondLst>
                                    <p:cond delay="2149"/>
                                  </p:stCondLst>
                                  <p:childTnLst>
                                    <p:set>
                                      <p:cBhvr>
                                        <p:cTn id="96" dur="1" fill="hold">
                                          <p:stCondLst>
                                            <p:cond delay="0"/>
                                          </p:stCondLst>
                                        </p:cTn>
                                        <p:tgtEl>
                                          <p:spTgt spid="23"/>
                                        </p:tgtEl>
                                        <p:attrNameLst>
                                          <p:attrName>style.visibility</p:attrName>
                                        </p:attrNameLst>
                                      </p:cBhvr>
                                      <p:to>
                                        <p:strVal val="visible"/>
                                      </p:to>
                                    </p:set>
                                    <p:anim calcmode="lin" valueType="num">
                                      <p:cBhvr additive="base">
                                        <p:cTn id="97" dur="500" fill="hold"/>
                                        <p:tgtEl>
                                          <p:spTgt spid="23"/>
                                        </p:tgtEl>
                                        <p:attrNameLst>
                                          <p:attrName>ppt_w</p:attrName>
                                        </p:attrNameLst>
                                      </p:cBhvr>
                                      <p:tavLst>
                                        <p:tav tm="0">
                                          <p:val>
                                            <p:strVal val="#ppt_w*0.7"/>
                                          </p:val>
                                        </p:tav>
                                        <p:tav tm="100000">
                                          <p:val>
                                            <p:strVal val="#ppt_w"/>
                                          </p:val>
                                        </p:tav>
                                      </p:tavLst>
                                    </p:anim>
                                    <p:anim calcmode="lin" valueType="num">
                                      <p:cBhvr additive="base">
                                        <p:cTn id="98" dur="500" fill="hold"/>
                                        <p:tgtEl>
                                          <p:spTgt spid="23"/>
                                        </p:tgtEl>
                                        <p:attrNameLst>
                                          <p:attrName>ppt_h</p:attrName>
                                        </p:attrNameLst>
                                      </p:cBhvr>
                                      <p:tavLst>
                                        <p:tav tm="0">
                                          <p:val>
                                            <p:strVal val="#ppt_h*0.7"/>
                                          </p:val>
                                        </p:tav>
                                        <p:tav tm="100000">
                                          <p:val>
                                            <p:strVal val="#ppt_h"/>
                                          </p:val>
                                        </p:tav>
                                      </p:tavLst>
                                    </p:anim>
                                    <p:animEffect transition="in" filter="fade">
                                      <p:cBhvr>
                                        <p:cTn id="99"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9" grpId="0" animBg="1"/>
      <p:bldP spid="11" grpId="0" animBg="1"/>
      <p:bldP spid="13" grpId="0" animBg="1"/>
      <p:bldP spid="15" grpId="0" animBg="1"/>
      <p:bldP spid="17" grpId="0" animBg="1"/>
      <p:bldP spid="19" grpId="0" animBg="1"/>
      <p:bldP spid="20" grpId="0" animBg="1"/>
      <p:bldP spid="21" grpId="0" animBg="1"/>
      <p:bldP spid="23"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40D0A"/>
        </a:solidFill>
        <a:effectLst/>
      </p:bgPr>
    </p:bg>
    <p:spTree>
      <p:nvGrpSpPr>
        <p:cNvPr id="1" name=""/>
        <p:cNvGrpSpPr/>
        <p:nvPr/>
      </p:nvGrpSpPr>
      <p:grpSpPr/>
      <p:pic>
        <p:nvPicPr>
          <p:cNvPr id="2" name="!!bg" descr="giang-duong.jpg"/>
          <p:cNvPicPr>
            <a:picLocks noChangeAspect="1"/>
          </p:cNvPicPr>
          <p:nvPr/>
        </p:nvPicPr>
        <p:blipFill>
          <a:blip r:embed="rId2"/>
          <a:srcRect t="12811" b="2811"/>
          <a:stretch>
            <a:fillRect/>
          </a:stretch>
        </p:blipFill>
        <p:spPr>
          <a:xfrm>
            <a:off x="0" y="0"/>
            <a:ext cx="12191695" cy="6858000"/>
          </a:xfrm>
          <a:prstGeom prst="rect">
            <a:avLst/>
          </a:prstGeom>
        </p:spPr>
      </p:pic>
      <p:sp>
        <p:nvSpPr>
          <p:cNvPr id="3" name="!!shade"/>
          <p:cNvSpPr/>
          <p:nvPr/>
        </p:nvSpPr>
        <p:spPr>
          <a:xfrm>
            <a:off x="0" y="0"/>
            <a:ext cx="12191695" cy="6858000"/>
          </a:xfrm>
          <a:prstGeom prst="rect">
            <a:avLst/>
          </a:prstGeom>
          <a:gradFill rotWithShape="1">
            <a:gsLst>
              <a:gs pos="0">
                <a:srgbClr val="140D0A">
                  <a:alpha val="96800"/>
                </a:srgbClr>
              </a:gs>
              <a:gs pos="45000">
                <a:srgbClr val="140D0A">
                  <a:alpha val="68200"/>
                </a:srgbClr>
              </a:gs>
              <a:gs pos="80000">
                <a:srgbClr val="140D0A">
                  <a:alpha val="19800"/>
                </a:srgbClr>
              </a:gs>
              <a:gs pos="100000">
                <a:srgbClr val="140D0A">
                  <a:alpha val="5500"/>
                </a:srgbClr>
              </a:gs>
            </a:gsLst>
            <a:lin ang="0" scaled="0"/>
          </a:gra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4" name="Rectangle 3"/>
          <p:cNvSpPr/>
          <p:nvPr/>
        </p:nvSpPr>
        <p:spPr>
          <a:xfrm>
            <a:off x="0" y="0"/>
            <a:ext cx="9326880" cy="6858000"/>
          </a:xfrm>
          <a:prstGeom prst="rect">
            <a:avLst/>
          </a:prstGeom>
          <a:gradFill rotWithShape="1">
            <a:gsLst>
              <a:gs pos="0">
                <a:srgbClr val="140D0A">
                  <a:alpha val="70000"/>
                </a:srgbClr>
              </a:gs>
              <a:gs pos="68000">
                <a:srgbClr val="140D0A">
                  <a:alpha val="55000"/>
                </a:srgbClr>
              </a:gs>
              <a:gs pos="100000">
                <a:srgbClr val="140D0A">
                  <a:alpha val="0"/>
                </a:srgbClr>
              </a:gs>
            </a:gsLst>
            <a:lin ang="0" scaled="0"/>
          </a:gra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5" name="!!kicker"/>
          <p:cNvSpPr/>
          <p:nvPr/>
        </p:nvSpPr>
        <p:spPr>
          <a:xfrm>
            <a:off x="548640" y="457200"/>
            <a:ext cx="2588627" cy="329184"/>
          </a:xfrm>
          <a:prstGeom prst="rect">
            <a:avLst/>
          </a:prstGeom>
          <a:solidFill>
            <a:srgbClr val="F26B1F"/>
          </a:solidFill>
          <a:ln>
            <a:noFill/>
          </a:ln>
          <a:effectLst/>
        </p:spPr>
        <p:style>
          <a:lnRef idx="1">
            <a:schemeClr val="accent1"/>
          </a:lnRef>
          <a:fillRef idx="3">
            <a:schemeClr val="accent1"/>
          </a:fillRef>
          <a:effectRef idx="0">
            <a:schemeClr val="accent1"/>
          </a:effectRef>
          <a:fontRef idx="minor">
            <a:schemeClr val="lt1"/>
          </a:fontRef>
        </p:style>
        <p:txBody>
          <a:bodyPr rtlCol="0" anchor="ctr" lIns="109728" rIns="109728" tIns="18288" bIns="18288" wrap="square"/>
          <a:lstStyle/>
          <a:p>
            <a:pPr algn="ctr"/>
            <a:r>
              <a:rPr sz="1300" b="0" i="0" spc="250">
                <a:solidFill>
                  <a:srgbClr val="FFFFFF"/>
                </a:solidFill>
                <a:latin typeface="Anton"/>
                <a:ea typeface="Anton"/>
                <a:cs typeface="Anton"/>
              </a:rPr>
              <a:t>BÀI PHÁT BIỂU KẾT THÚC</a:t>
            </a:r>
          </a:p>
        </p:txBody>
      </p:sp>
      <p:sp>
        <p:nvSpPr>
          <p:cNvPr id="6" name="!!ttl"/>
          <p:cNvSpPr txBox="1"/>
          <p:nvPr/>
        </p:nvSpPr>
        <p:spPr>
          <a:xfrm>
            <a:off x="548640" y="868680"/>
            <a:ext cx="8229600" cy="857250"/>
          </a:xfrm>
          <a:prstGeom prst="rect">
            <a:avLst/>
          </a:prstGeom>
          <a:noFill/>
        </p:spPr>
        <p:txBody>
          <a:bodyPr wrap="none" lIns="0" rIns="0" tIns="0" bIns="0" anchor="b">
            <a:noAutofit/>
          </a:bodyPr>
          <a:lstStyle/>
          <a:p>
            <a:pPr algn="l"/>
            <a:r>
              <a:rPr sz="5400" b="0" i="0">
                <a:solidFill>
                  <a:srgbClr val="FFFFFF"/>
                </a:solidFill>
                <a:effectLst>
                  <a:outerShdw blurRad="109728" dist="45720" dir="5400000" algn="ctr" rotWithShape="0">
                    <a:srgbClr val="000000">
                      <a:alpha val="60000"/>
                    </a:srgbClr>
                  </a:outerShdw>
                </a:effectLst>
                <a:latin typeface="Anton"/>
                <a:ea typeface="Anton"/>
                <a:cs typeface="Anton"/>
              </a:rPr>
              <a:t>CÙNG KIẾN TẠO TƯƠNG LAI</a:t>
            </a:r>
          </a:p>
        </p:txBody>
      </p:sp>
      <p:sp>
        <p:nvSpPr>
          <p:cNvPr id="7" name="!!bar"/>
          <p:cNvSpPr/>
          <p:nvPr/>
        </p:nvSpPr>
        <p:spPr>
          <a:xfrm>
            <a:off x="576072" y="1835658"/>
            <a:ext cx="1280160" cy="64008"/>
          </a:xfrm>
          <a:prstGeom prst="rect">
            <a:avLst/>
          </a:prstGeom>
          <a:solidFill>
            <a:srgbClr val="F26B1F"/>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8" name="TextBox 7"/>
          <p:cNvSpPr txBox="1"/>
          <p:nvPr/>
        </p:nvSpPr>
        <p:spPr>
          <a:xfrm>
            <a:off x="548640" y="2109978"/>
            <a:ext cx="7315200" cy="411480"/>
          </a:xfrm>
          <a:prstGeom prst="rect">
            <a:avLst/>
          </a:prstGeom>
          <a:noFill/>
        </p:spPr>
        <p:txBody>
          <a:bodyPr wrap="square" lIns="0" rIns="0" tIns="0" bIns="0" anchor="t">
            <a:noAutofit/>
          </a:bodyPr>
          <a:lstStyle/>
          <a:p>
            <a:pPr algn="l"/>
            <a:r>
              <a:rPr sz="1550" b="0" i="0">
                <a:solidFill>
                  <a:srgbClr val="FF8A2A"/>
                </a:solidFill>
                <a:latin typeface="Lexend SemiBold"/>
                <a:ea typeface="Lexend SemiBold"/>
                <a:cs typeface="Lexend SemiBold"/>
              </a:rPr>
              <a:t>Kính thưa quý vị đại biểu, quý thầy cô và các bạn sinh viên!</a:t>
            </a:r>
          </a:p>
        </p:txBody>
      </p:sp>
      <p:sp>
        <p:nvSpPr>
          <p:cNvPr id="9" name="TextBox 8"/>
          <p:cNvSpPr txBox="1"/>
          <p:nvPr/>
        </p:nvSpPr>
        <p:spPr>
          <a:xfrm>
            <a:off x="548640" y="2510790"/>
            <a:ext cx="7315200" cy="3844290"/>
          </a:xfrm>
          <a:prstGeom prst="rect">
            <a:avLst/>
          </a:prstGeom>
          <a:noFill/>
        </p:spPr>
        <p:txBody>
          <a:bodyPr wrap="square" lIns="0" rIns="0" tIns="0" bIns="0" anchor="t">
            <a:noAutofit/>
          </a:bodyPr>
          <a:lstStyle/>
          <a:p>
            <a:pPr algn="l">
              <a:lnSpc>
                <a:spcPct val="130000"/>
              </a:lnSpc>
              <a:spcAft>
                <a:spcPts val="900"/>
              </a:spcAft>
            </a:pPr>
            <a:r>
              <a:rPr sz="1450" b="0" i="0">
                <a:solidFill>
                  <a:srgbClr val="F2E6DE"/>
                </a:solidFill>
                <a:latin typeface="Lexend"/>
                <a:ea typeface="Lexend"/>
                <a:cs typeface="Lexend"/>
              </a:rPr>
              <a:t>Tôi tin rằng sự hợp tác giữa doanh nghiệp và nhà trường không chỉ mang lại lợi ích cho hai bên, mà còn </a:t>
            </a:r>
            <a:r>
              <a:rPr sz="1450" b="0" i="0">
                <a:solidFill>
                  <a:srgbClr val="FF8A2A"/>
                </a:solidFill>
                <a:latin typeface="Lexend SemiBold"/>
                <a:ea typeface="Lexend SemiBold"/>
                <a:cs typeface="Lexend SemiBold"/>
              </a:rPr>
              <a:t>mở ra những cơ hội mới cho thế hệ trẻ</a:t>
            </a:r>
            <a:r>
              <a:rPr sz="1450" b="0" i="0">
                <a:solidFill>
                  <a:srgbClr val="F2E6DE"/>
                </a:solidFill>
                <a:latin typeface="Lexend"/>
                <a:ea typeface="Lexend"/>
                <a:cs typeface="Lexend"/>
              </a:rPr>
              <a:t>.</a:t>
            </a:r>
          </a:p>
          <a:p>
            <a:pPr algn="l">
              <a:lnSpc>
                <a:spcPct val="130000"/>
              </a:lnSpc>
              <a:spcAft>
                <a:spcPts val="900"/>
              </a:spcAft>
            </a:pPr>
            <a:r>
              <a:rPr sz="1450" b="0" i="0">
                <a:solidFill>
                  <a:srgbClr val="F2E6DE"/>
                </a:solidFill>
                <a:latin typeface="Lexend"/>
                <a:ea typeface="Lexend"/>
                <a:cs typeface="Lexend"/>
              </a:rPr>
              <a:t>Nhà trường đào tạo tri thức và nhân cách; doanh nghiệp tạo môi trường để tri thức được vận dụng vào thực tiễn. Khi hai bên </a:t>
            </a:r>
            <a:r>
              <a:rPr sz="1450" b="0" i="0">
                <a:solidFill>
                  <a:srgbClr val="FF8A2A"/>
                </a:solidFill>
                <a:latin typeface="Lexend SemiBold"/>
                <a:ea typeface="Lexend SemiBold"/>
                <a:cs typeface="Lexend SemiBold"/>
              </a:rPr>
              <a:t>cùng chung tầm nhìn</a:t>
            </a:r>
            <a:r>
              <a:rPr sz="1450" b="0" i="0">
                <a:solidFill>
                  <a:srgbClr val="F2E6DE"/>
                </a:solidFill>
                <a:latin typeface="Lexend"/>
                <a:ea typeface="Lexend"/>
                <a:cs typeface="Lexend"/>
              </a:rPr>
              <a:t>, chúng ta có thể đào tạo nguồn nhân lực đáp ứng yêu cầu của xã hội và hội nhập quốc tế.</a:t>
            </a:r>
          </a:p>
          <a:p>
            <a:pPr algn="l">
              <a:lnSpc>
                <a:spcPct val="130000"/>
              </a:lnSpc>
              <a:spcAft>
                <a:spcPts val="900"/>
              </a:spcAft>
            </a:pPr>
            <a:r>
              <a:rPr sz="1450" b="0" i="0">
                <a:solidFill>
                  <a:srgbClr val="F2E6DE"/>
                </a:solidFill>
                <a:latin typeface="Lexend"/>
                <a:ea typeface="Lexend"/>
                <a:cs typeface="Lexend"/>
              </a:rPr>
              <a:t>KCL Trading mong muốn trở thành </a:t>
            </a:r>
            <a:r>
              <a:rPr sz="1450" b="0" i="0">
                <a:solidFill>
                  <a:srgbClr val="FF8A2A"/>
                </a:solidFill>
                <a:latin typeface="Lexend SemiBold"/>
                <a:ea typeface="Lexend SemiBold"/>
                <a:cs typeface="Lexend SemiBold"/>
              </a:rPr>
              <a:t>cầu nối tích cực</a:t>
            </a:r>
            <a:r>
              <a:rPr sz="1450" b="0" i="0">
                <a:solidFill>
                  <a:srgbClr val="F2E6DE"/>
                </a:solidFill>
                <a:latin typeface="Lexend"/>
                <a:ea typeface="Lexend"/>
                <a:cs typeface="Lexend"/>
              </a:rPr>
              <a:t> giữa nhà trường, sinh viên và cộng đồng doanh nghiệp Việt Nam – Hàn Quốc.</a:t>
            </a:r>
          </a:p>
          <a:p>
            <a:pPr algn="l">
              <a:lnSpc>
                <a:spcPct val="130000"/>
              </a:lnSpc>
              <a:spcAft>
                <a:spcPts val="900"/>
              </a:spcAft>
            </a:pPr>
            <a:r>
              <a:rPr sz="1450" b="0" i="0">
                <a:solidFill>
                  <a:srgbClr val="F2E6DE"/>
                </a:solidFill>
                <a:latin typeface="Lexend"/>
                <a:ea typeface="Lexend"/>
                <a:cs typeface="Lexend"/>
              </a:rPr>
              <a:t>Tôi hy vọng hôm nay sẽ là khởi đầu cho những chương trình hợp tác </a:t>
            </a:r>
            <a:r>
              <a:rPr sz="1450" b="0" i="0">
                <a:solidFill>
                  <a:srgbClr val="FF8A2A"/>
                </a:solidFill>
                <a:latin typeface="Lexend SemiBold"/>
                <a:ea typeface="Lexend SemiBold"/>
                <a:cs typeface="Lexend SemiBold"/>
              </a:rPr>
              <a:t>thiết thực, hiệu quả và bền vững</a:t>
            </a:r>
            <a:r>
              <a:rPr sz="1450" b="0" i="0">
                <a:solidFill>
                  <a:srgbClr val="F2E6DE"/>
                </a:solidFill>
                <a:latin typeface="Lexend"/>
                <a:ea typeface="Lexend"/>
                <a:cs typeface="Lexend"/>
              </a:rPr>
              <a:t>.</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10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par>
                                <p:cTn id="8" presetID="42" presetClass="entr" presetSubtype="0" fill="hold" grpId="0" nodeType="withEffect">
                                  <p:stCondLst>
                                    <p:cond delay="3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700"/>
                                        <p:tgtEl>
                                          <p:spTgt spid="6"/>
                                        </p:tgtEl>
                                      </p:cBhvr>
                                    </p:animEffect>
                                    <p:anim calcmode="lin" valueType="num">
                                      <p:cBhvr additive="base">
                                        <p:cTn id="11" dur="700" fill="hold"/>
                                        <p:tgtEl>
                                          <p:spTgt spid="6"/>
                                        </p:tgtEl>
                                        <p:attrNameLst>
                                          <p:attrName>ppt_x</p:attrName>
                                        </p:attrNameLst>
                                      </p:cBhvr>
                                      <p:tavLst>
                                        <p:tav tm="0">
                                          <p:val>
                                            <p:strVal val="#ppt_x"/>
                                          </p:val>
                                        </p:tav>
                                        <p:tav tm="100000">
                                          <p:val>
                                            <p:strVal val="#ppt_x"/>
                                          </p:val>
                                        </p:tav>
                                      </p:tavLst>
                                    </p:anim>
                                    <p:anim calcmode="lin" valueType="num">
                                      <p:cBhvr additive="base">
                                        <p:cTn id="12" dur="700" fill="hold"/>
                                        <p:tgtEl>
                                          <p:spTgt spid="6"/>
                                        </p:tgtEl>
                                        <p:attrNameLst>
                                          <p:attrName>ppt_y</p:attrName>
                                        </p:attrNameLst>
                                      </p:cBhvr>
                                      <p:tavLst>
                                        <p:tav tm="0">
                                          <p:val>
                                            <p:strVal val="#ppt_y+.06"/>
                                          </p:val>
                                        </p:tav>
                                        <p:tav tm="100000">
                                          <p:val>
                                            <p:strVal val="#ppt_y"/>
                                          </p:val>
                                        </p:tav>
                                      </p:tavLst>
                                    </p:anim>
                                  </p:childTnLst>
                                </p:cTn>
                              </p:par>
                              <p:par>
                                <p:cTn id="13" presetID="22" presetClass="entr" presetSubtype="8" fill="hold" grpId="0" nodeType="withEffect">
                                  <p:stCondLst>
                                    <p:cond delay="80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400"/>
                                        <p:tgtEl>
                                          <p:spTgt spid="7"/>
                                        </p:tgtEl>
                                      </p:cBhvr>
                                    </p:animEffect>
                                  </p:childTnLst>
                                </p:cTn>
                              </p:par>
                              <p:par>
                                <p:cTn id="16" presetID="10" presetClass="entr" presetSubtype="0" fill="hold" grpId="0" nodeType="withEffect">
                                  <p:stCondLst>
                                    <p:cond delay="100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130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8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40D0A"/>
        </a:solidFill>
        <a:effectLst/>
      </p:bgPr>
    </p:bg>
    <p:spTree>
      <p:nvGrpSpPr>
        <p:cNvPr id="1" name=""/>
        <p:cNvGrpSpPr/>
        <p:nvPr/>
      </p:nvGrpSpPr>
      <p:grpSpPr/>
      <p:pic>
        <p:nvPicPr>
          <p:cNvPr id="2" name="!!bg" descr="sv-thuy-loi-bao-ho.jpg"/>
          <p:cNvPicPr>
            <a:picLocks noChangeAspect="1"/>
          </p:cNvPicPr>
          <p:nvPr/>
        </p:nvPicPr>
        <p:blipFill>
          <a:blip r:embed="rId2"/>
          <a:srcRect t="20449" b="4449"/>
          <a:stretch>
            <a:fillRect/>
          </a:stretch>
        </p:blipFill>
        <p:spPr>
          <a:xfrm>
            <a:off x="0" y="0"/>
            <a:ext cx="12191695" cy="6858000"/>
          </a:xfrm>
          <a:prstGeom prst="rect">
            <a:avLst/>
          </a:prstGeom>
        </p:spPr>
      </p:pic>
      <p:sp>
        <p:nvSpPr>
          <p:cNvPr id="3" name="!!shade"/>
          <p:cNvSpPr/>
          <p:nvPr/>
        </p:nvSpPr>
        <p:spPr>
          <a:xfrm>
            <a:off x="0" y="0"/>
            <a:ext cx="12191695" cy="6858000"/>
          </a:xfrm>
          <a:prstGeom prst="rect">
            <a:avLst/>
          </a:prstGeom>
          <a:gradFill rotWithShape="1">
            <a:gsLst>
              <a:gs pos="0">
                <a:srgbClr val="140D0A">
                  <a:alpha val="96800"/>
                </a:srgbClr>
              </a:gs>
              <a:gs pos="45000">
                <a:srgbClr val="140D0A">
                  <a:alpha val="68200"/>
                </a:srgbClr>
              </a:gs>
              <a:gs pos="80000">
                <a:srgbClr val="140D0A">
                  <a:alpha val="19800"/>
                </a:srgbClr>
              </a:gs>
              <a:gs pos="100000">
                <a:srgbClr val="140D0A">
                  <a:alpha val="5500"/>
                </a:srgbClr>
              </a:gs>
            </a:gsLst>
            <a:lin ang="0" scaled="0"/>
          </a:gra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4" name="Rectangle 3"/>
          <p:cNvSpPr/>
          <p:nvPr/>
        </p:nvSpPr>
        <p:spPr>
          <a:xfrm>
            <a:off x="5669280" y="0"/>
            <a:ext cx="6522415" cy="6858000"/>
          </a:xfrm>
          <a:prstGeom prst="rect">
            <a:avLst/>
          </a:prstGeom>
          <a:gradFill rotWithShape="1">
            <a:gsLst>
              <a:gs pos="0">
                <a:srgbClr val="140D0A">
                  <a:alpha val="0"/>
                </a:srgbClr>
              </a:gs>
              <a:gs pos="30000">
                <a:srgbClr val="140D0A">
                  <a:alpha val="45000"/>
                </a:srgbClr>
              </a:gs>
              <a:gs pos="100000">
                <a:srgbClr val="140D0A">
                  <a:alpha val="62000"/>
                </a:srgbClr>
              </a:gs>
            </a:gsLst>
            <a:lin ang="0" scaled="0"/>
          </a:gra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5" name="!!t1"/>
          <p:cNvSpPr txBox="1"/>
          <p:nvPr/>
        </p:nvSpPr>
        <p:spPr>
          <a:xfrm>
            <a:off x="548640" y="1051560"/>
            <a:ext cx="5852160" cy="914400"/>
          </a:xfrm>
          <a:prstGeom prst="rect">
            <a:avLst/>
          </a:prstGeom>
          <a:noFill/>
        </p:spPr>
        <p:txBody>
          <a:bodyPr wrap="none" lIns="0" rIns="0" tIns="0" bIns="0" anchor="b">
            <a:noAutofit/>
          </a:bodyPr>
          <a:lstStyle/>
          <a:p>
            <a:pPr algn="l"/>
            <a:r>
              <a:rPr sz="6000" b="0" i="0">
                <a:solidFill>
                  <a:srgbClr val="FFFFFF"/>
                </a:solidFill>
                <a:effectLst>
                  <a:outerShdw blurRad="128016" dist="54864" dir="5400000" algn="ctr" rotWithShape="0">
                    <a:srgbClr val="000000">
                      <a:alpha val="65000"/>
                    </a:srgbClr>
                  </a:outerShdw>
                </a:effectLst>
                <a:latin typeface="Anton"/>
                <a:ea typeface="Anton"/>
                <a:cs typeface="Anton"/>
              </a:rPr>
              <a:t>XIN TRÂN TRỌNG</a:t>
            </a:r>
          </a:p>
        </p:txBody>
      </p:sp>
      <p:sp>
        <p:nvSpPr>
          <p:cNvPr id="6" name="!!t2"/>
          <p:cNvSpPr txBox="1"/>
          <p:nvPr/>
        </p:nvSpPr>
        <p:spPr>
          <a:xfrm>
            <a:off x="548640" y="2103120"/>
            <a:ext cx="5852160" cy="1558544"/>
          </a:xfrm>
          <a:prstGeom prst="rect">
            <a:avLst/>
          </a:prstGeom>
          <a:noFill/>
        </p:spPr>
        <p:txBody>
          <a:bodyPr wrap="none" lIns="0" rIns="0" tIns="0" bIns="0" anchor="t">
            <a:noAutofit/>
          </a:bodyPr>
          <a:lstStyle/>
          <a:p>
            <a:pPr algn="l"/>
            <a:r>
              <a:rPr sz="10400" b="0" i="0">
                <a:solidFill>
                  <a:srgbClr val="FF8A2A"/>
                </a:solidFill>
                <a:effectLst>
                  <a:outerShdw blurRad="128016" dist="54864" dir="5400000" algn="ctr" rotWithShape="0">
                    <a:srgbClr val="000000">
                      <a:alpha val="65000"/>
                    </a:srgbClr>
                  </a:outerShdw>
                </a:effectLst>
                <a:latin typeface="Anton"/>
                <a:ea typeface="Anton"/>
                <a:cs typeface="Anton"/>
              </a:rPr>
              <a:t>CẢM ƠN!</a:t>
            </a:r>
          </a:p>
        </p:txBody>
      </p:sp>
      <p:sp>
        <p:nvSpPr>
          <p:cNvPr id="7" name="Rectangle 6"/>
          <p:cNvSpPr/>
          <p:nvPr/>
        </p:nvSpPr>
        <p:spPr>
          <a:xfrm>
            <a:off x="594360" y="3753104"/>
            <a:ext cx="1280160" cy="64008"/>
          </a:xfrm>
          <a:prstGeom prst="rect">
            <a:avLst/>
          </a:prstGeom>
          <a:solidFill>
            <a:srgbClr val="F26B1F"/>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8" name="TextBox 7"/>
          <p:cNvSpPr txBox="1"/>
          <p:nvPr/>
        </p:nvSpPr>
        <p:spPr>
          <a:xfrm>
            <a:off x="594360" y="3981704"/>
            <a:ext cx="5394960" cy="1097280"/>
          </a:xfrm>
          <a:prstGeom prst="rect">
            <a:avLst/>
          </a:prstGeom>
          <a:noFill/>
        </p:spPr>
        <p:txBody>
          <a:bodyPr wrap="square" lIns="0" rIns="0" tIns="0" bIns="0" anchor="t">
            <a:noAutofit/>
          </a:bodyPr>
          <a:lstStyle/>
          <a:p>
            <a:pPr algn="l">
              <a:lnSpc>
                <a:spcPct val="130000"/>
              </a:lnSpc>
              <a:spcAft>
                <a:spcPts val="400"/>
              </a:spcAft>
            </a:pPr>
            <a:r>
              <a:rPr sz="1500" b="0" i="0">
                <a:solidFill>
                  <a:srgbClr val="F2E6DE"/>
                </a:solidFill>
                <a:latin typeface="Lexend"/>
                <a:ea typeface="Lexend"/>
                <a:cs typeface="Lexend"/>
              </a:rPr>
              <a:t>Xin kính chúc quý vị </a:t>
            </a:r>
            <a:r>
              <a:rPr sz="1500" b="0" i="0">
                <a:solidFill>
                  <a:srgbClr val="FF8A2A"/>
                </a:solidFill>
                <a:latin typeface="Lexend SemiBold"/>
                <a:ea typeface="Lexend SemiBold"/>
                <a:cs typeface="Lexend SemiBold"/>
              </a:rPr>
              <a:t>sức khỏe, thành công</a:t>
            </a:r>
            <a:r>
              <a:rPr sz="1500" b="0" i="0">
                <a:solidFill>
                  <a:srgbClr val="F2E6DE"/>
                </a:solidFill>
                <a:latin typeface="Lexend"/>
                <a:ea typeface="Lexend"/>
                <a:cs typeface="Lexend"/>
              </a:rPr>
              <a:t>.</a:t>
            </a:r>
          </a:p>
          <a:p>
            <a:pPr algn="l">
              <a:lnSpc>
                <a:spcPct val="130000"/>
              </a:lnSpc>
              <a:spcAft>
                <a:spcPts val="400"/>
              </a:spcAft>
            </a:pPr>
            <a:r>
              <a:rPr sz="1500" b="0" i="0">
                <a:solidFill>
                  <a:srgbClr val="F2E6DE"/>
                </a:solidFill>
                <a:latin typeface="Lexend"/>
                <a:ea typeface="Lexend"/>
                <a:cs typeface="Lexend"/>
              </a:rPr>
              <a:t>Chúc quý nhà trường </a:t>
            </a:r>
            <a:r>
              <a:rPr sz="1500" b="0" i="0">
                <a:solidFill>
                  <a:srgbClr val="FF8A2A"/>
                </a:solidFill>
                <a:latin typeface="Lexend SemiBold"/>
                <a:ea typeface="Lexend SemiBold"/>
                <a:cs typeface="Lexend SemiBold"/>
              </a:rPr>
              <a:t>ngày càng phát triển</a:t>
            </a:r>
            <a:r>
              <a:rPr sz="1500" b="0" i="0">
                <a:solidFill>
                  <a:srgbClr val="F2E6DE"/>
                </a:solidFill>
                <a:latin typeface="Lexend"/>
                <a:ea typeface="Lexend"/>
                <a:cs typeface="Lexend"/>
              </a:rPr>
              <a:t>!</a:t>
            </a:r>
          </a:p>
        </p:txBody>
      </p:sp>
      <p:sp>
        <p:nvSpPr>
          <p:cNvPr id="9" name="!!pres"/>
          <p:cNvSpPr/>
          <p:nvPr/>
        </p:nvSpPr>
        <p:spPr>
          <a:xfrm>
            <a:off x="548640" y="5669280"/>
            <a:ext cx="4098766" cy="457200"/>
          </a:xfrm>
          <a:prstGeom prst="roundRect">
            <a:avLst>
              <a:gd name="adj" fmla="val 20000"/>
            </a:avLst>
          </a:prstGeom>
          <a:solidFill>
            <a:srgbClr val="000000">
              <a:alpha val="45000"/>
            </a:srgbClr>
          </a:solidFill>
          <a:ln w="9525">
            <a:solidFill>
              <a:srgbClr val="FFFFFF">
                <a:alpha val="45000"/>
              </a:srgbClr>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10" name="Picture 9" descr="user-round_FFFFFF.png"/>
          <p:cNvPicPr>
            <a:picLocks noChangeAspect="1"/>
          </p:cNvPicPr>
          <p:nvPr/>
        </p:nvPicPr>
        <p:blipFill>
          <a:blip r:embed="rId3"/>
          <a:stretch>
            <a:fillRect/>
          </a:stretch>
        </p:blipFill>
        <p:spPr>
          <a:xfrm>
            <a:off x="713232" y="5779008"/>
            <a:ext cx="237744" cy="237744"/>
          </a:xfrm>
          <a:prstGeom prst="rect">
            <a:avLst/>
          </a:prstGeom>
        </p:spPr>
      </p:pic>
      <p:sp>
        <p:nvSpPr>
          <p:cNvPr id="11" name="TextBox 10"/>
          <p:cNvSpPr txBox="1"/>
          <p:nvPr/>
        </p:nvSpPr>
        <p:spPr>
          <a:xfrm>
            <a:off x="1051560" y="5669280"/>
            <a:ext cx="3550126" cy="457200"/>
          </a:xfrm>
          <a:prstGeom prst="rect">
            <a:avLst/>
          </a:prstGeom>
          <a:noFill/>
        </p:spPr>
        <p:txBody>
          <a:bodyPr wrap="square" lIns="0" rIns="0" tIns="0" bIns="0" anchor="ctr">
            <a:noAutofit/>
          </a:bodyPr>
          <a:lstStyle/>
          <a:p>
            <a:pPr algn="l"/>
            <a:r>
              <a:rPr sz="1300" b="0" i="0" spc="120">
                <a:solidFill>
                  <a:srgbClr val="FFFFFF"/>
                </a:solidFill>
                <a:latin typeface="Anton"/>
                <a:ea typeface="Anton"/>
                <a:cs typeface="Anton"/>
              </a:rPr>
              <a:t>ÔNG KIM SANG WON – ĐẠI DIỆN KCL TRADING</a:t>
            </a:r>
          </a:p>
        </p:txBody>
      </p:sp>
      <p:sp>
        <p:nvSpPr>
          <p:cNvPr id="12" name="Rectangle 11"/>
          <p:cNvSpPr/>
          <p:nvPr/>
        </p:nvSpPr>
        <p:spPr>
          <a:xfrm>
            <a:off x="6355080" y="850392"/>
            <a:ext cx="856536" cy="310896"/>
          </a:xfrm>
          <a:prstGeom prst="rect">
            <a:avLst/>
          </a:prstGeom>
          <a:solidFill>
            <a:srgbClr val="F26B1F"/>
          </a:solidFill>
          <a:ln>
            <a:noFill/>
          </a:ln>
          <a:effectLst/>
        </p:spPr>
        <p:style>
          <a:lnRef idx="1">
            <a:schemeClr val="accent1"/>
          </a:lnRef>
          <a:fillRef idx="3">
            <a:schemeClr val="accent1"/>
          </a:fillRef>
          <a:effectRef idx="0">
            <a:schemeClr val="accent1"/>
          </a:effectRef>
          <a:fontRef idx="minor">
            <a:schemeClr val="lt1"/>
          </a:fontRef>
        </p:style>
        <p:txBody>
          <a:bodyPr rtlCol="0" anchor="ctr" tIns="0" bIns="0" wrap="square"/>
          <a:lstStyle/>
          <a:p>
            <a:pPr algn="ctr"/>
            <a:r>
              <a:rPr sz="1200" b="0" i="0" spc="200">
                <a:solidFill>
                  <a:srgbClr val="FFFFFF"/>
                </a:solidFill>
                <a:latin typeface="Anton"/>
                <a:ea typeface="Anton"/>
                <a:cs typeface="Anton"/>
              </a:rPr>
              <a:t>VIDEO</a:t>
            </a:r>
          </a:p>
        </p:txBody>
      </p:sp>
      <p:pic>
        <p:nvPicPr>
          <p:cNvPr id="13" name="Online Media Video" descr="poster_le_ky_ket.jpg">
            <a:hlinkClick r:id="" action="ppaction://media"/>
          </p:cNvPr>
          <p:cNvPicPr>
            <a:picLocks noChangeAspect="1"/>
          </p:cNvPicPr>
          <p:nvPr>
            <a:videoFile r:link="rId5"/>
          </p:nvPr>
        </p:nvPicPr>
        <p:blipFill>
          <a:blip r:embed="rId4"/>
          <a:stretch>
            <a:fillRect/>
          </a:stretch>
        </p:blipFill>
        <p:spPr>
          <a:xfrm>
            <a:off x="6355080" y="1325880"/>
            <a:ext cx="5287975" cy="2974486"/>
          </a:xfrm>
          <a:prstGeom prst="rect">
            <a:avLst/>
          </a:prstGeom>
          <a:ln w="31750">
            <a:solidFill>
              <a:srgbClr val="FFFFFF"/>
            </a:solidFill>
          </a:ln>
          <a:effectLst>
            <a:outerShdw blurRad="320040" dist="91440" dir="5400000" algn="ctr" rotWithShape="0">
              <a:srgbClr val="000000">
                <a:alpha val="45000"/>
              </a:srgbClr>
            </a:outerShdw>
          </a:effectLst>
        </p:spPr>
      </p:pic>
      <p:sp>
        <p:nvSpPr>
          <p:cNvPr id="14" name="Rounded Rectangle 13">
            <a:hlinkClick r:id="rId6"/>
          </p:cNvPr>
          <p:cNvSpPr/>
          <p:nvPr/>
        </p:nvSpPr>
        <p:spPr>
          <a:xfrm>
            <a:off x="6355080" y="4574686"/>
            <a:ext cx="2529688" cy="457200"/>
          </a:xfrm>
          <a:prstGeom prst="roundRect">
            <a:avLst>
              <a:gd name="adj" fmla="val 50000"/>
            </a:avLst>
          </a:prstGeom>
          <a:solidFill>
            <a:srgbClr val="F26B1F"/>
          </a:solidFill>
          <a:ln>
            <a:noFill/>
          </a:ln>
          <a:effectLst/>
        </p:spPr>
        <p:style>
          <a:lnRef idx="1">
            <a:schemeClr val="accent1"/>
          </a:lnRef>
          <a:fillRef idx="3">
            <a:schemeClr val="accent1"/>
          </a:fillRef>
          <a:effectRef idx="0">
            <a:schemeClr val="accent1"/>
          </a:effectRef>
          <a:fontRef idx="minor">
            <a:schemeClr val="lt1"/>
          </a:fontRef>
        </p:style>
        <p:txBody>
          <a:bodyPr rtlCol="0" anchor="ctr" tIns="0" bIns="0" wrap="square" lIns="502920"/>
          <a:lstStyle/>
          <a:p>
            <a:pPr algn="ctr"/>
            <a:r>
              <a:rPr sz="1200" b="0" i="0">
                <a:solidFill>
                  <a:srgbClr val="FFFFFF"/>
                </a:solidFill>
                <a:latin typeface="Lexend SemiBold"/>
                <a:ea typeface="Lexend SemiBold"/>
                <a:cs typeface="Lexend SemiBold"/>
              </a:rPr>
              <a:t>Xem trên YouTube</a:t>
            </a:r>
          </a:p>
        </p:txBody>
      </p:sp>
      <p:pic>
        <p:nvPicPr>
          <p:cNvPr id="15" name="Picture 14" descr="circle-play_FFFFFF.png">
            <a:hlinkClick r:id="rId6"/>
          </p:cNvPr>
          <p:cNvPicPr>
            <a:picLocks noChangeAspect="1"/>
          </p:cNvPicPr>
          <p:nvPr/>
        </p:nvPicPr>
        <p:blipFill>
          <a:blip r:embed="rId7"/>
          <a:stretch>
            <a:fillRect/>
          </a:stretch>
        </p:blipFill>
        <p:spPr>
          <a:xfrm>
            <a:off x="6537960" y="4675270"/>
            <a:ext cx="256032" cy="256032"/>
          </a:xfrm>
          <a:prstGeom prst="rect">
            <a:avLst/>
          </a:prstGeom>
        </p:spPr>
      </p:pic>
      <p:sp>
        <p:nvSpPr>
          <p:cNvPr id="16" name="Rounded Rectangle 15">
            <a:hlinkClick r:id="rId8"/>
          </p:cNvPr>
          <p:cNvSpPr/>
          <p:nvPr/>
        </p:nvSpPr>
        <p:spPr>
          <a:xfrm>
            <a:off x="9113368" y="4574686"/>
            <a:ext cx="2529688" cy="457200"/>
          </a:xfrm>
          <a:prstGeom prst="roundRect">
            <a:avLst>
              <a:gd name="adj" fmla="val 50000"/>
            </a:avLst>
          </a:prstGeom>
          <a:solidFill>
            <a:srgbClr val="000000">
              <a:alpha val="40000"/>
            </a:srgbClr>
          </a:solidFill>
          <a:ln w="12700">
            <a:solidFill>
              <a:srgbClr val="FFFFFF">
                <a:alpha val="55000"/>
              </a:srgbClr>
            </a:solidFill>
          </a:ln>
          <a:effectLst/>
        </p:spPr>
        <p:style>
          <a:lnRef idx="1">
            <a:schemeClr val="accent1"/>
          </a:lnRef>
          <a:fillRef idx="3">
            <a:schemeClr val="accent1"/>
          </a:fillRef>
          <a:effectRef idx="0">
            <a:schemeClr val="accent1"/>
          </a:effectRef>
          <a:fontRef idx="minor">
            <a:schemeClr val="lt1"/>
          </a:fontRef>
        </p:style>
        <p:txBody>
          <a:bodyPr rtlCol="0" anchor="ctr" tIns="0" bIns="0" wrap="square" lIns="502920"/>
          <a:lstStyle/>
          <a:p>
            <a:pPr algn="ctr"/>
            <a:r>
              <a:rPr sz="1200" b="0" i="0">
                <a:solidFill>
                  <a:srgbClr val="FFFFFF"/>
                </a:solidFill>
                <a:latin typeface="Lexend SemiBold"/>
                <a:ea typeface="Lexend SemiBold"/>
                <a:cs typeface="Lexend SemiBold"/>
              </a:rPr>
              <a:t>Mở trên Google Drive</a:t>
            </a:r>
          </a:p>
        </p:txBody>
      </p:sp>
      <p:pic>
        <p:nvPicPr>
          <p:cNvPr id="17" name="Picture 16" descr="external-link_FFFFFF.png">
            <a:hlinkClick r:id="rId8"/>
          </p:cNvPr>
          <p:cNvPicPr>
            <a:picLocks noChangeAspect="1"/>
          </p:cNvPicPr>
          <p:nvPr/>
        </p:nvPicPr>
        <p:blipFill>
          <a:blip r:embed="rId9"/>
          <a:stretch>
            <a:fillRect/>
          </a:stretch>
        </p:blipFill>
        <p:spPr>
          <a:xfrm>
            <a:off x="9296248" y="4675270"/>
            <a:ext cx="256032" cy="256032"/>
          </a:xfrm>
          <a:prstGeom prst="rect">
            <a:avLst/>
          </a:prstGeom>
        </p:spPr>
      </p:pic>
      <p:sp>
        <p:nvSpPr>
          <p:cNvPr id="18" name="TextBox 17"/>
          <p:cNvSpPr txBox="1"/>
          <p:nvPr/>
        </p:nvSpPr>
        <p:spPr>
          <a:xfrm>
            <a:off x="6355080" y="5123326"/>
            <a:ext cx="5287975" cy="457200"/>
          </a:xfrm>
          <a:prstGeom prst="rect">
            <a:avLst/>
          </a:prstGeom>
          <a:noFill/>
        </p:spPr>
        <p:txBody>
          <a:bodyPr wrap="square" lIns="0" rIns="0" tIns="0" bIns="0" anchor="t">
            <a:noAutofit/>
          </a:bodyPr>
          <a:lstStyle/>
          <a:p>
            <a:pPr algn="l">
              <a:lnSpc>
                <a:spcPct val="115000"/>
              </a:lnSpc>
            </a:pPr>
            <a:r>
              <a:rPr sz="950" b="0" i="1">
                <a:solidFill>
                  <a:srgbClr val="D9C7BC"/>
                </a:solidFill>
                <a:latin typeface="Lexend"/>
                <a:ea typeface="Lexend"/>
                <a:cs typeface="Lexend"/>
              </a:rPr>
              <a:t>Video phát ngay trong khung khi trình chiếu bằng PowerPoint 2019 / Microsoft 365 có kết nối Internet. Nếu không phát được, bấm một trong hai nút để mở video.</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400" fill="hold"/>
                                        <p:tgtEl>
                                          <p:spTgt spid="2"/>
                                        </p:tgtEl>
                                        <p:attrNameLst>
                                          <p:attrName>ppt_w</p:attrName>
                                        </p:attrNameLst>
                                      </p:cBhvr>
                                      <p:tavLst>
                                        <p:tav tm="0">
                                          <p:val>
                                            <p:strVal val="#ppt_w*0.7"/>
                                          </p:val>
                                        </p:tav>
                                        <p:tav tm="100000">
                                          <p:val>
                                            <p:strVal val="#ppt_w"/>
                                          </p:val>
                                        </p:tav>
                                      </p:tavLst>
                                    </p:anim>
                                    <p:anim calcmode="lin" valueType="num">
                                      <p:cBhvr additive="base">
                                        <p:cTn id="8" dur="1400" fill="hold"/>
                                        <p:tgtEl>
                                          <p:spTgt spid="2"/>
                                        </p:tgtEl>
                                        <p:attrNameLst>
                                          <p:attrName>ppt_h</p:attrName>
                                        </p:attrNameLst>
                                      </p:cBhvr>
                                      <p:tavLst>
                                        <p:tav tm="0">
                                          <p:val>
                                            <p:strVal val="#ppt_h*0.7"/>
                                          </p:val>
                                        </p:tav>
                                        <p:tav tm="100000">
                                          <p:val>
                                            <p:strVal val="#ppt_h"/>
                                          </p:val>
                                        </p:tav>
                                      </p:tavLst>
                                    </p:anim>
                                    <p:animEffect transition="in" filter="fade">
                                      <p:cBhvr>
                                        <p:cTn id="9" dur="1400"/>
                                        <p:tgtEl>
                                          <p:spTgt spid="2"/>
                                        </p:tgtEl>
                                      </p:cBhvr>
                                    </p:animEffect>
                                  </p:childTnLst>
                                </p:cTn>
                              </p:par>
                              <p:par>
                                <p:cTn id="10" presetID="42" presetClass="entr" presetSubtype="0" fill="hold" grpId="0" nodeType="withEffect">
                                  <p:stCondLst>
                                    <p:cond delay="40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700"/>
                                        <p:tgtEl>
                                          <p:spTgt spid="5"/>
                                        </p:tgtEl>
                                      </p:cBhvr>
                                    </p:animEffect>
                                    <p:anim calcmode="lin" valueType="num">
                                      <p:cBhvr additive="base">
                                        <p:cTn id="13" dur="700" fill="hold"/>
                                        <p:tgtEl>
                                          <p:spTgt spid="5"/>
                                        </p:tgtEl>
                                        <p:attrNameLst>
                                          <p:attrName>ppt_x</p:attrName>
                                        </p:attrNameLst>
                                      </p:cBhvr>
                                      <p:tavLst>
                                        <p:tav tm="0">
                                          <p:val>
                                            <p:strVal val="#ppt_x"/>
                                          </p:val>
                                        </p:tav>
                                        <p:tav tm="100000">
                                          <p:val>
                                            <p:strVal val="#ppt_x"/>
                                          </p:val>
                                        </p:tav>
                                      </p:tavLst>
                                    </p:anim>
                                    <p:anim calcmode="lin" valueType="num">
                                      <p:cBhvr additive="base">
                                        <p:cTn id="14" dur="700" fill="hold"/>
                                        <p:tgtEl>
                                          <p:spTgt spid="5"/>
                                        </p:tgtEl>
                                        <p:attrNameLst>
                                          <p:attrName>ppt_y</p:attrName>
                                        </p:attrNameLst>
                                      </p:cBhvr>
                                      <p:tavLst>
                                        <p:tav tm="0">
                                          <p:val>
                                            <p:strVal val="#ppt_y+.06"/>
                                          </p:val>
                                        </p:tav>
                                        <p:tav tm="100000">
                                          <p:val>
                                            <p:strVal val="#ppt_y"/>
                                          </p:val>
                                        </p:tav>
                                      </p:tavLst>
                                    </p:anim>
                                  </p:childTnLst>
                                </p:cTn>
                              </p:par>
                              <p:par>
                                <p:cTn id="15" presetID="22" presetClass="entr" presetSubtype="8" fill="hold" grpId="0" nodeType="withEffect">
                                  <p:stCondLst>
                                    <p:cond delay="500"/>
                                  </p:stCondLst>
                                  <p:childTnLst>
                                    <p:set>
                                      <p:cBhvr>
                                        <p:cTn id="16" dur="1" fill="hold">
                                          <p:stCondLst>
                                            <p:cond delay="0"/>
                                          </p:stCondLst>
                                        </p:cTn>
                                        <p:tgtEl>
                                          <p:spTgt spid="12"/>
                                        </p:tgtEl>
                                        <p:attrNameLst>
                                          <p:attrName>style.visibility</p:attrName>
                                        </p:attrNameLst>
                                      </p:cBhvr>
                                      <p:to>
                                        <p:strVal val="visible"/>
                                      </p:to>
                                    </p:set>
                                    <p:animEffect transition="in" filter="wipe(left)">
                                      <p:cBhvr>
                                        <p:cTn id="17" dur="500"/>
                                        <p:tgtEl>
                                          <p:spTgt spid="12"/>
                                        </p:tgtEl>
                                      </p:cBhvr>
                                    </p:animEffect>
                                  </p:childTnLst>
                                </p:cTn>
                              </p:par>
                              <p:par>
                                <p:cTn id="18" presetID="42" presetClass="entr" presetSubtype="0" fill="hold" grpId="0" nodeType="withEffect">
                                  <p:stCondLst>
                                    <p:cond delay="75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700"/>
                                        <p:tgtEl>
                                          <p:spTgt spid="6"/>
                                        </p:tgtEl>
                                      </p:cBhvr>
                                    </p:animEffect>
                                    <p:anim calcmode="lin" valueType="num">
                                      <p:cBhvr additive="base">
                                        <p:cTn id="21" dur="700" fill="hold"/>
                                        <p:tgtEl>
                                          <p:spTgt spid="6"/>
                                        </p:tgtEl>
                                        <p:attrNameLst>
                                          <p:attrName>ppt_x</p:attrName>
                                        </p:attrNameLst>
                                      </p:cBhvr>
                                      <p:tavLst>
                                        <p:tav tm="0">
                                          <p:val>
                                            <p:strVal val="#ppt_x"/>
                                          </p:val>
                                        </p:tav>
                                        <p:tav tm="100000">
                                          <p:val>
                                            <p:strVal val="#ppt_x"/>
                                          </p:val>
                                        </p:tav>
                                      </p:tavLst>
                                    </p:anim>
                                    <p:anim calcmode="lin" valueType="num">
                                      <p:cBhvr additive="base">
                                        <p:cTn id="22" dur="700" fill="hold"/>
                                        <p:tgtEl>
                                          <p:spTgt spid="6"/>
                                        </p:tgtEl>
                                        <p:attrNameLst>
                                          <p:attrName>ppt_y</p:attrName>
                                        </p:attrNameLst>
                                      </p:cBhvr>
                                      <p:tavLst>
                                        <p:tav tm="0">
                                          <p:val>
                                            <p:strVal val="#ppt_y+.06"/>
                                          </p:val>
                                        </p:tav>
                                        <p:tav tm="100000">
                                          <p:val>
                                            <p:strVal val="#ppt_y"/>
                                          </p:val>
                                        </p:tav>
                                      </p:tavLst>
                                    </p:anim>
                                  </p:childTnLst>
                                </p:cTn>
                              </p:par>
                              <p:par>
                                <p:cTn id="23" presetID="42" presetClass="entr" presetSubtype="0" fill="hold" grpId="0" nodeType="withEffect">
                                  <p:stCondLst>
                                    <p:cond delay="100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450"/>
                                        <p:tgtEl>
                                          <p:spTgt spid="14"/>
                                        </p:tgtEl>
                                      </p:cBhvr>
                                    </p:animEffect>
                                    <p:anim calcmode="lin" valueType="num">
                                      <p:cBhvr additive="base">
                                        <p:cTn id="26" dur="450" fill="hold"/>
                                        <p:tgtEl>
                                          <p:spTgt spid="14"/>
                                        </p:tgtEl>
                                        <p:attrNameLst>
                                          <p:attrName>ppt_x</p:attrName>
                                        </p:attrNameLst>
                                      </p:cBhvr>
                                      <p:tavLst>
                                        <p:tav tm="0">
                                          <p:val>
                                            <p:strVal val="#ppt_x"/>
                                          </p:val>
                                        </p:tav>
                                        <p:tav tm="100000">
                                          <p:val>
                                            <p:strVal val="#ppt_x"/>
                                          </p:val>
                                        </p:tav>
                                      </p:tavLst>
                                    </p:anim>
                                    <p:anim calcmode="lin" valueType="num">
                                      <p:cBhvr additive="base">
                                        <p:cTn id="27" dur="450" fill="hold"/>
                                        <p:tgtEl>
                                          <p:spTgt spid="14"/>
                                        </p:tgtEl>
                                        <p:attrNameLst>
                                          <p:attrName>ppt_y</p:attrName>
                                        </p:attrNameLst>
                                      </p:cBhvr>
                                      <p:tavLst>
                                        <p:tav tm="0">
                                          <p:val>
                                            <p:strVal val="#ppt_y+.06"/>
                                          </p:val>
                                        </p:tav>
                                        <p:tav tm="100000">
                                          <p:val>
                                            <p:strVal val="#ppt_y"/>
                                          </p:val>
                                        </p:tav>
                                      </p:tavLst>
                                    </p:anim>
                                  </p:childTnLst>
                                </p:cTn>
                              </p:par>
                              <p:par>
                                <p:cTn id="28" presetID="42" presetClass="entr" presetSubtype="0" fill="hold" grpId="0" nodeType="withEffect">
                                  <p:stCondLst>
                                    <p:cond delay="100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anim calcmode="lin" valueType="num">
                                      <p:cBhvr additive="base">
                                        <p:cTn id="31" dur="450" fill="hold"/>
                                        <p:tgtEl>
                                          <p:spTgt spid="15"/>
                                        </p:tgtEl>
                                        <p:attrNameLst>
                                          <p:attrName>ppt_x</p:attrName>
                                        </p:attrNameLst>
                                      </p:cBhvr>
                                      <p:tavLst>
                                        <p:tav tm="0">
                                          <p:val>
                                            <p:strVal val="#ppt_x"/>
                                          </p:val>
                                        </p:tav>
                                        <p:tav tm="100000">
                                          <p:val>
                                            <p:strVal val="#ppt_x"/>
                                          </p:val>
                                        </p:tav>
                                      </p:tavLst>
                                    </p:anim>
                                    <p:anim calcmode="lin" valueType="num">
                                      <p:cBhvr additive="base">
                                        <p:cTn id="32" dur="450" fill="hold"/>
                                        <p:tgtEl>
                                          <p:spTgt spid="15"/>
                                        </p:tgtEl>
                                        <p:attrNameLst>
                                          <p:attrName>ppt_y</p:attrName>
                                        </p:attrNameLst>
                                      </p:cBhvr>
                                      <p:tavLst>
                                        <p:tav tm="0">
                                          <p:val>
                                            <p:strVal val="#ppt_y+.06"/>
                                          </p:val>
                                        </p:tav>
                                        <p:tav tm="100000">
                                          <p:val>
                                            <p:strVal val="#ppt_y"/>
                                          </p:val>
                                        </p:tav>
                                      </p:tavLst>
                                    </p:anim>
                                  </p:childTnLst>
                                </p:cTn>
                              </p:par>
                              <p:par>
                                <p:cTn id="33" presetID="42" presetClass="entr" presetSubtype="0" fill="hold" grpId="0" nodeType="withEffect">
                                  <p:stCondLst>
                                    <p:cond delay="115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anim calcmode="lin" valueType="num">
                                      <p:cBhvr additive="base">
                                        <p:cTn id="36" dur="450" fill="hold"/>
                                        <p:tgtEl>
                                          <p:spTgt spid="16"/>
                                        </p:tgtEl>
                                        <p:attrNameLst>
                                          <p:attrName>ppt_x</p:attrName>
                                        </p:attrNameLst>
                                      </p:cBhvr>
                                      <p:tavLst>
                                        <p:tav tm="0">
                                          <p:val>
                                            <p:strVal val="#ppt_x"/>
                                          </p:val>
                                        </p:tav>
                                        <p:tav tm="100000">
                                          <p:val>
                                            <p:strVal val="#ppt_x"/>
                                          </p:val>
                                        </p:tav>
                                      </p:tavLst>
                                    </p:anim>
                                    <p:anim calcmode="lin" valueType="num">
                                      <p:cBhvr additive="base">
                                        <p:cTn id="37" dur="450" fill="hold"/>
                                        <p:tgtEl>
                                          <p:spTgt spid="16"/>
                                        </p:tgtEl>
                                        <p:attrNameLst>
                                          <p:attrName>ppt_y</p:attrName>
                                        </p:attrNameLst>
                                      </p:cBhvr>
                                      <p:tavLst>
                                        <p:tav tm="0">
                                          <p:val>
                                            <p:strVal val="#ppt_y+.06"/>
                                          </p:val>
                                        </p:tav>
                                        <p:tav tm="100000">
                                          <p:val>
                                            <p:strVal val="#ppt_y"/>
                                          </p:val>
                                        </p:tav>
                                      </p:tavLst>
                                    </p:anim>
                                  </p:childTnLst>
                                </p:cTn>
                              </p:par>
                              <p:par>
                                <p:cTn id="38" presetID="42" presetClass="entr" presetSubtype="0" fill="hold" grpId="0" nodeType="withEffect">
                                  <p:stCondLst>
                                    <p:cond delay="115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450"/>
                                        <p:tgtEl>
                                          <p:spTgt spid="17"/>
                                        </p:tgtEl>
                                      </p:cBhvr>
                                    </p:animEffect>
                                    <p:anim calcmode="lin" valueType="num">
                                      <p:cBhvr additive="base">
                                        <p:cTn id="41" dur="450" fill="hold"/>
                                        <p:tgtEl>
                                          <p:spTgt spid="17"/>
                                        </p:tgtEl>
                                        <p:attrNameLst>
                                          <p:attrName>ppt_x</p:attrName>
                                        </p:attrNameLst>
                                      </p:cBhvr>
                                      <p:tavLst>
                                        <p:tav tm="0">
                                          <p:val>
                                            <p:strVal val="#ppt_x"/>
                                          </p:val>
                                        </p:tav>
                                        <p:tav tm="100000">
                                          <p:val>
                                            <p:strVal val="#ppt_x"/>
                                          </p:val>
                                        </p:tav>
                                      </p:tavLst>
                                    </p:anim>
                                    <p:anim calcmode="lin" valueType="num">
                                      <p:cBhvr additive="base">
                                        <p:cTn id="42" dur="450" fill="hold"/>
                                        <p:tgtEl>
                                          <p:spTgt spid="17"/>
                                        </p:tgtEl>
                                        <p:attrNameLst>
                                          <p:attrName>ppt_y</p:attrName>
                                        </p:attrNameLst>
                                      </p:cBhvr>
                                      <p:tavLst>
                                        <p:tav tm="0">
                                          <p:val>
                                            <p:strVal val="#ppt_y+.06"/>
                                          </p:val>
                                        </p:tav>
                                        <p:tav tm="100000">
                                          <p:val>
                                            <p:strVal val="#ppt_y"/>
                                          </p:val>
                                        </p:tav>
                                      </p:tavLst>
                                    </p:anim>
                                  </p:childTnLst>
                                </p:cTn>
                              </p:par>
                              <p:par>
                                <p:cTn id="43" presetID="22" presetClass="entr" presetSubtype="8" fill="hold" grpId="0" nodeType="withEffect">
                                  <p:stCondLst>
                                    <p:cond delay="1200"/>
                                  </p:stCondLst>
                                  <p:childTnLst>
                                    <p:set>
                                      <p:cBhvr>
                                        <p:cTn id="44" dur="1" fill="hold">
                                          <p:stCondLst>
                                            <p:cond delay="0"/>
                                          </p:stCondLst>
                                        </p:cTn>
                                        <p:tgtEl>
                                          <p:spTgt spid="7"/>
                                        </p:tgtEl>
                                        <p:attrNameLst>
                                          <p:attrName>style.visibility</p:attrName>
                                        </p:attrNameLst>
                                      </p:cBhvr>
                                      <p:to>
                                        <p:strVal val="visible"/>
                                      </p:to>
                                    </p:set>
                                    <p:animEffect transition="in" filter="wipe(left)">
                                      <p:cBhvr>
                                        <p:cTn id="45" dur="400"/>
                                        <p:tgtEl>
                                          <p:spTgt spid="7"/>
                                        </p:tgtEl>
                                      </p:cBhvr>
                                    </p:animEffect>
                                  </p:childTnLst>
                                </p:cTn>
                              </p:par>
                              <p:par>
                                <p:cTn id="46" presetID="42" presetClass="entr" presetSubtype="0" fill="hold" grpId="0" nodeType="withEffect">
                                  <p:stCondLst>
                                    <p:cond delay="1299"/>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450"/>
                                        <p:tgtEl>
                                          <p:spTgt spid="18"/>
                                        </p:tgtEl>
                                      </p:cBhvr>
                                    </p:animEffect>
                                    <p:anim calcmode="lin" valueType="num">
                                      <p:cBhvr additive="base">
                                        <p:cTn id="49" dur="450" fill="hold"/>
                                        <p:tgtEl>
                                          <p:spTgt spid="18"/>
                                        </p:tgtEl>
                                        <p:attrNameLst>
                                          <p:attrName>ppt_x</p:attrName>
                                        </p:attrNameLst>
                                      </p:cBhvr>
                                      <p:tavLst>
                                        <p:tav tm="0">
                                          <p:val>
                                            <p:strVal val="#ppt_x"/>
                                          </p:val>
                                        </p:tav>
                                        <p:tav tm="100000">
                                          <p:val>
                                            <p:strVal val="#ppt_x"/>
                                          </p:val>
                                        </p:tav>
                                      </p:tavLst>
                                    </p:anim>
                                    <p:anim calcmode="lin" valueType="num">
                                      <p:cBhvr additive="base">
                                        <p:cTn id="50" dur="450" fill="hold"/>
                                        <p:tgtEl>
                                          <p:spTgt spid="18"/>
                                        </p:tgtEl>
                                        <p:attrNameLst>
                                          <p:attrName>ppt_y</p:attrName>
                                        </p:attrNameLst>
                                      </p:cBhvr>
                                      <p:tavLst>
                                        <p:tav tm="0">
                                          <p:val>
                                            <p:strVal val="#ppt_y+.06"/>
                                          </p:val>
                                        </p:tav>
                                        <p:tav tm="100000">
                                          <p:val>
                                            <p:strVal val="#ppt_y"/>
                                          </p:val>
                                        </p:tav>
                                      </p:tavLst>
                                    </p:anim>
                                  </p:childTnLst>
                                </p:cTn>
                              </p:par>
                              <p:par>
                                <p:cTn id="51" presetID="10" presetClass="entr" presetSubtype="0" fill="hold" grpId="0" nodeType="withEffect">
                                  <p:stCondLst>
                                    <p:cond delay="1350"/>
                                  </p:stCondLst>
                                  <p:childTnLst>
                                    <p:set>
                                      <p:cBhvr>
                                        <p:cTn id="52" dur="1" fill="hold">
                                          <p:stCondLst>
                                            <p:cond delay="0"/>
                                          </p:stCondLst>
                                        </p:cTn>
                                        <p:tgtEl>
                                          <p:spTgt spid="8"/>
                                        </p:tgtEl>
                                        <p:attrNameLst>
                                          <p:attrName>style.visibility</p:attrName>
                                        </p:attrNameLst>
                                      </p:cBhvr>
                                      <p:to>
                                        <p:strVal val="visible"/>
                                      </p:to>
                                    </p:set>
                                    <p:animEffect transition="in" filter="fade">
                                      <p:cBhvr>
                                        <p:cTn id="53" dur="600"/>
                                        <p:tgtEl>
                                          <p:spTgt spid="8"/>
                                        </p:tgtEl>
                                      </p:cBhvr>
                                    </p:animEffect>
                                  </p:childTnLst>
                                </p:cTn>
                              </p:par>
                              <p:par>
                                <p:cTn id="54" presetID="10" presetClass="entr" presetSubtype="0" fill="hold" grpId="0" nodeType="withEffect">
                                  <p:stCondLst>
                                    <p:cond delay="1600"/>
                                  </p:stCondLst>
                                  <p:childTnLst>
                                    <p:set>
                                      <p:cBhvr>
                                        <p:cTn id="55" dur="1" fill="hold">
                                          <p:stCondLst>
                                            <p:cond delay="0"/>
                                          </p:stCondLst>
                                        </p:cTn>
                                        <p:tgtEl>
                                          <p:spTgt spid="9"/>
                                        </p:tgtEl>
                                        <p:attrNameLst>
                                          <p:attrName>style.visibility</p:attrName>
                                        </p:attrNameLst>
                                      </p:cBhvr>
                                      <p:to>
                                        <p:strVal val="visible"/>
                                      </p:to>
                                    </p:set>
                                    <p:animEffect transition="in" filter="fade">
                                      <p:cBhvr>
                                        <p:cTn id="56" dur="600"/>
                                        <p:tgtEl>
                                          <p:spTgt spid="9"/>
                                        </p:tgtEl>
                                      </p:cBhvr>
                                    </p:animEffect>
                                  </p:childTnLst>
                                </p:cTn>
                              </p:par>
                              <p:par>
                                <p:cTn id="57" presetID="10" presetClass="entr" presetSubtype="0" fill="hold" grpId="0" nodeType="withEffect">
                                  <p:stCondLst>
                                    <p:cond delay="1600"/>
                                  </p:stCondLst>
                                  <p:childTnLst>
                                    <p:set>
                                      <p:cBhvr>
                                        <p:cTn id="58" dur="1" fill="hold">
                                          <p:stCondLst>
                                            <p:cond delay="0"/>
                                          </p:stCondLst>
                                        </p:cTn>
                                        <p:tgtEl>
                                          <p:spTgt spid="10"/>
                                        </p:tgtEl>
                                        <p:attrNameLst>
                                          <p:attrName>style.visibility</p:attrName>
                                        </p:attrNameLst>
                                      </p:cBhvr>
                                      <p:to>
                                        <p:strVal val="visible"/>
                                      </p:to>
                                    </p:set>
                                    <p:animEffect transition="in" filter="fade">
                                      <p:cBhvr>
                                        <p:cTn id="59" dur="600"/>
                                        <p:tgtEl>
                                          <p:spTgt spid="10"/>
                                        </p:tgtEl>
                                      </p:cBhvr>
                                    </p:animEffect>
                                  </p:childTnLst>
                                </p:cTn>
                              </p:par>
                              <p:par>
                                <p:cTn id="60" presetID="10" presetClass="entr" presetSubtype="0" fill="hold" grpId="0" nodeType="withEffect">
                                  <p:stCondLst>
                                    <p:cond delay="1600"/>
                                  </p:stCondLst>
                                  <p:childTnLst>
                                    <p:set>
                                      <p:cBhvr>
                                        <p:cTn id="61" dur="1" fill="hold">
                                          <p:stCondLst>
                                            <p:cond delay="0"/>
                                          </p:stCondLst>
                                        </p:cTn>
                                        <p:tgtEl>
                                          <p:spTgt spid="11"/>
                                        </p:tgtEl>
                                        <p:attrNameLst>
                                          <p:attrName>style.visibility</p:attrName>
                                        </p:attrNameLst>
                                      </p:cBhvr>
                                      <p:to>
                                        <p:strVal val="visible"/>
                                      </p:to>
                                    </p:set>
                                    <p:animEffect transition="in" filter="fade">
                                      <p:cBhvr>
                                        <p:cTn id="62" dur="6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3" fill="hold" display="0">
                  <p:stCondLst>
                    <p:cond delay="indefinite"/>
                  </p:stCondLst>
                </p:cTn>
                <p:tgtEl>
                  <p:spTgt spid="13"/>
                </p:tgtEl>
              </p:cMediaNode>
            </p:video>
          </p:childTnLst>
        </p:cTn>
      </p:par>
    </p:tnLst>
    <p:bldLst>
      <p:bldP spid="5" grpId="0" animBg="1"/>
      <p:bldP spid="12" grpId="0" animBg="1"/>
      <p:bldP spid="6" grpId="0" animBg="1"/>
      <p:bldP spid="14" grpId="0" animBg="1"/>
      <p:bldP spid="16" grpId="0" animBg="1"/>
      <p:bldP spid="7" grpId="0" animBg="1"/>
      <p:bldP spid="18" grpId="0" animBg="1"/>
      <p:bldP spid="8" grpId="0" animBg="1"/>
      <p:bldP spid="9" grpId="0" animBg="1"/>
      <p:bldP spid="11" grpId="0" animBg="1"/>
    </p:bldLst>
  </p:timing>
</p:sld>
</file>

<file path=ppt/slides/slide9.xml><?xml version="1.0" encoding="utf-8"?>
<p:sld xmlns:a="http://schemas.openxmlformats.org/drawingml/2006/main" xmlns:p="http://schemas.openxmlformats.org/presentationml/2006/main" xmlns:r="http://schemas.openxmlformats.org/officeDocument/2006/relationships" show="0">
  <p:cSld>
    <p:bg>
      <p:bgPr>
        <a:solidFill>
          <a:srgbClr val="FFF4EA"/>
        </a:solidFill>
        <a:effectLst/>
      </p:bgPr>
    </p:bg>
    <p:spTree>
      <p:nvGrpSpPr>
        <p:cNvPr id="1" name=""/>
        <p:cNvGrpSpPr/>
        <p:nvPr/>
      </p:nvGrpSpPr>
      <p:grpSpPr/>
      <p:pic>
        <p:nvPicPr>
          <p:cNvPr id="2" name="!!bg" descr="paper.jpg"/>
          <p:cNvPicPr>
            <a:picLocks noChangeAspect="1"/>
          </p:cNvPicPr>
          <p:nvPr/>
        </p:nvPicPr>
        <p:blipFill>
          <a:blip r:embed="rId2"/>
          <a:srcRect l="1" r="1"/>
          <a:stretch>
            <a:fillRect/>
          </a:stretch>
        </p:blipFill>
        <p:spPr>
          <a:xfrm>
            <a:off x="0" y="0"/>
            <a:ext cx="12191695" cy="6858000"/>
          </a:xfrm>
          <a:prstGeom prst="rect">
            <a:avLst/>
          </a:prstGeom>
        </p:spPr>
      </p:pic>
      <p:sp>
        <p:nvSpPr>
          <p:cNvPr id="3" name="TextBox 2"/>
          <p:cNvSpPr txBox="1"/>
          <p:nvPr/>
        </p:nvSpPr>
        <p:spPr>
          <a:xfrm>
            <a:off x="548640" y="365760"/>
            <a:ext cx="10058400" cy="548640"/>
          </a:xfrm>
          <a:prstGeom prst="rect">
            <a:avLst/>
          </a:prstGeom>
          <a:noFill/>
        </p:spPr>
        <p:txBody>
          <a:bodyPr wrap="square" lIns="0" rIns="0" tIns="0" bIns="0" anchor="t">
            <a:noAutofit/>
          </a:bodyPr>
          <a:lstStyle/>
          <a:p>
            <a:pPr algn="l"/>
            <a:r>
              <a:rPr sz="2800" b="0" i="0">
                <a:solidFill>
                  <a:srgbClr val="7A2A10"/>
                </a:solidFill>
                <a:latin typeface="Anton"/>
                <a:ea typeface="Anton"/>
                <a:cs typeface="Anton"/>
              </a:rPr>
              <a:t>NGUỒN HÌNH ẢNH</a:t>
            </a:r>
          </a:p>
        </p:txBody>
      </p:sp>
      <p:sp>
        <p:nvSpPr>
          <p:cNvPr id="4" name="TextBox 3"/>
          <p:cNvSpPr txBox="1"/>
          <p:nvPr/>
        </p:nvSpPr>
        <p:spPr>
          <a:xfrm>
            <a:off x="548640" y="960120"/>
            <a:ext cx="10972800" cy="457200"/>
          </a:xfrm>
          <a:prstGeom prst="rect">
            <a:avLst/>
          </a:prstGeom>
          <a:noFill/>
        </p:spPr>
        <p:txBody>
          <a:bodyPr wrap="square" lIns="0" rIns="0" tIns="0" bIns="0" anchor="t">
            <a:noAutofit/>
          </a:bodyPr>
          <a:lstStyle/>
          <a:p>
            <a:pPr algn="l"/>
            <a:r>
              <a:rPr sz="1000" b="0" i="1">
                <a:solidFill>
                  <a:srgbClr val="A08576"/>
                </a:solidFill>
                <a:latin typeface="Lexend"/>
                <a:ea typeface="Lexend"/>
                <a:cs typeface="Lexend"/>
              </a:rPr>
              <a:t>Slide ẩn — không hiển thị khi trình chiếu. Ảnh sự kiện trên các slide: do người dùng cung cấp. Hình mờ trên nền giấy: bộ dữ liệu Open Images (Google), giấy phép CC BY 2.0. Icon: Lucide (ISC). Font: Anton, Lexend (SIL OFL).</a:t>
            </a:r>
          </a:p>
        </p:txBody>
      </p:sp>
      <p:sp>
        <p:nvSpPr>
          <p:cNvPr id="5" name="TextBox 4"/>
          <p:cNvSpPr txBox="1"/>
          <p:nvPr/>
        </p:nvSpPr>
        <p:spPr>
          <a:xfrm>
            <a:off x="548640" y="1600200"/>
            <a:ext cx="5394960" cy="4937760"/>
          </a:xfrm>
          <a:prstGeom prst="rect">
            <a:avLst/>
          </a:prstGeom>
          <a:noFill/>
        </p:spPr>
        <p:txBody>
          <a:bodyPr wrap="square" lIns="0" rIns="0" tIns="0" bIns="0" anchor="t">
            <a:noAutofit/>
          </a:bodyPr>
          <a:lstStyle/>
          <a:p>
            <a:pPr algn="l">
              <a:lnSpc>
                <a:spcPct val="105000"/>
              </a:lnSpc>
            </a:pPr>
            <a:r>
              <a:rPr sz="800" b="0" i="0">
                <a:solidFill>
                  <a:srgbClr val="5A473C"/>
                </a:solidFill>
                <a:latin typeface="Lexend"/>
                <a:ea typeface="Lexend"/>
                <a:cs typeface="Lexend"/>
              </a:rPr>
              <a:t>• Women in nontraditional jobs (4 of 12) — Sean McGrath (Flickr, CC BY 2.0)</a:t>
            </a:r>
          </a:p>
        </p:txBody>
      </p:sp>
      <p:sp>
        <p:nvSpPr>
          <p:cNvPr id="6" name="TextBox 5"/>
          <p:cNvSpPr txBox="1"/>
          <p:nvPr/>
        </p:nvSpPr>
        <p:spPr>
          <a:xfrm>
            <a:off x="6126480" y="1600200"/>
            <a:ext cx="5394960" cy="4937760"/>
          </a:xfrm>
          <a:prstGeom prst="rect">
            <a:avLst/>
          </a:prstGeom>
          <a:noFill/>
        </p:spPr>
        <p:txBody>
          <a:bodyPr wrap="square" lIns="0" rIns="0" tIns="0" bIns="0" anchor="t">
            <a:noAutofit/>
          </a:bodyPr>
          <a:lstStyle/>
          <a:p>
            <a:pPr algn="l">
              <a:lnSpc>
                <a:spcPct val="105000"/>
              </a:lnSpc>
            </a:pPr>
            <a:r>
              <a:rPr sz="800" b="0" i="0">
                <a:solidFill>
                  <a:srgbClr val="5A473C"/>
                </a:solidFill>
                <a:latin typeface="Lexend"/>
                <a:ea typeface="Lexend"/>
                <a:cs typeface="Lexend"/>
              </a:rPr>
              <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