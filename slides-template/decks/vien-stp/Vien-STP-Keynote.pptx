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Mức cải thiện</c:v>
                </c:pt>
              </c:strCache>
            </c:strRef>
          </c:tx>
          <c:spPr>
            <a:solidFill>
              <a:srgbClr val="7FC211"/>
            </a:solidFill>
          </c:spPr>
          <c:invertIfNegative val="0"/>
          <c:cat>
            <c:strRef>
              <c:f>Sheet1!$A$2:$A$4</c:f>
              <c:strCache>
                <c:ptCount val="3"/>
                <c:pt idx="0">
                  <c:v>Tăng năng suất</c:v>
                </c:pt>
                <c:pt idx="1">
                  <c:v>Giảm phân bón lãng phí</c:v>
                </c:pt>
                <c:pt idx="2">
                  <c:v>Tiết kiệm nhân công</c:v>
                </c:pt>
              </c:strCache>
            </c:strRef>
          </c:cat>
          <c:val>
            <c:numRef>
              <c:f>Sheet1!$B$2:$B$4</c:f>
              <c:numCache>
                <c:formatCode>General</c:formatCode>
                <c:ptCount val="3"/>
                <c:pt idx="0">
                  <c:v>20</c:v>
                </c:pt>
                <c:pt idx="1">
                  <c:v>30</c:v>
                </c:pt>
                <c:pt idx="2">
                  <c:v>50</c:v>
                </c:pt>
              </c:numCache>
            </c:numRef>
          </c:val>
        </c:ser>
        <c:dLbls>
          <c:numFmt formatCode="0&quot;%&quot;" sourceLinked="0"/>
          <c:txPr>
            <a:bodyPr/>
            <a:lstStyle/>
            <a:p>
              <a:pPr>
                <a:defRPr sz="1300" b="1">
                  <a:solidFill>
                    <a:srgbClr val="FFFFFF"/>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w="9525">
            <a:solidFill>
              <a:srgbClr val="2E5A40"/>
            </a:solidFill>
          </a:ln>
        </c:spPr>
        <c:txPr>
          <a:bodyPr/>
          <a:lstStyle/>
          <a:p>
            <a:pPr>
              <a:defRPr sz="1300">
                <a:solidFill>
                  <a:srgbClr val="C9D3EA"/>
                </a:solidFill>
                <a:latin typeface="Montserrat"/>
              </a:defRPr>
            </a:pPr>
          </a:p>
        </c:txPr>
        <c:crossAx val="-2113994440"/>
        <c:crosses val="autoZero"/>
        <c:auto val="1"/>
        <c:lblAlgn val="ctr"/>
        <c:lblOffset val="100"/>
        <c:noMultiLvlLbl val="0"/>
      </c:catAx>
      <c:valAx>
        <c:axId val="-2113994440"/>
        <c:scaling>
          <c:max val="60.0"/>
          <c:min val="0.0"/>
        </c:scaling>
        <c:delete val="0"/>
        <c:axPos val="l"/>
        <c:majorGridlines>
          <c:spPr>
            <a:ln w="7620">
              <a:solidFill>
                <a:srgbClr val="1E4430"/>
              </a:solidFill>
            </a:ln>
          </c:spPr>
        </c:majorGridlines>
        <c:numFmt formatCode="0&quot;%&quot;" sourceLinked="0"/>
        <c:majorTickMark val="out"/>
        <c:minorTickMark val="none"/>
        <c:tickLblPos val="nextTo"/>
        <c:spPr>
          <a:ln>
            <a:noFill/>
          </a:ln>
        </c:spPr>
        <c:txPr>
          <a:bodyPr/>
          <a:lstStyle/>
          <a:p>
            <a:pPr>
              <a:defRPr sz="1300">
                <a:solidFill>
                  <a:srgbClr val="C9D3EA"/>
                </a:solidFill>
                <a:latin typeface="Montserrat"/>
              </a:defRPr>
            </a:pPr>
          </a:p>
        </c:txPr>
        <c:crossAx val="-2068027336"/>
        <c:crosses val="autoZero"/>
      </c:valAx>
    </c:plotArea>
    <c:dispBlanksAs val="gap"/>
  </c:chart>
  <c:spPr>
    <a:noFill/>
    <a:ln>
      <a:noFill/>
    </a:ln>
  </c:spPr>
  <c:txPr>
    <a:bodyPr/>
    <a:lstStyle/>
    <a:p>
      <a:pPr>
        <a:defRPr sz="1300">
          <a:solidFill>
            <a:srgbClr val="C9D3EA"/>
          </a:solidFill>
          <a:latin typeface="Be Vietnam Pro Medium"/>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vị đại biểu, Quý khách quý. Thay mặt Viện STP, tôi xin trân trọng giới thiệu với Quý vị những năng lực cốt lõi và những giá trị Viện có thể cùng Quý vị kiến tạo.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Viện STP là tổ chức khoa học và công nghệ trực thuộc VUSTA, được cấp Giấy chứng nhận hoạt động năm 2020. Sứ mệnh của chúng tôi là làm cầu nối: đưa tri thức và công nghệ đến đúng nơi cần, tạo ra giá trị cụ thể.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Hoạt động của Viện được tổ chức thành bốn trụ cột bổ trợ nhau. Quý vị chỉ cần một đầu mối để có giải pháp trọn vẹn: từ nghiên cứu, đào tạo con người đến công nghệ truy xuất và nông nghiệp số.</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Trụ cột thứ nhất: nghiên cứu khoa học và chuyển giao công nghệ.</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Viện đồng hành trọn vòng đời một dự án: khảo sát và đánh giá, lập dự án, công bố kết quả và quan trọng nhất là chuyển giao để kết quả đi vào thực tiễn.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doanh nghiệp, Viện không dừng ở tư vấn: chúng tôi chẩn đoán, phát triển và tích hợp giải pháp, đồng hành đến khi giải pháp vận hành hiệu quả.</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Trụ cột thứ hai — và là lĩnh vực Viện có bề dày triển khai lớn nhất: đào tạo và cấp chứng chỉ.</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Viện huấn luyện đủ 6 nhóm đối tượng theo đúng quy định. Những hình ảnh Quý vị đang thấy là các lớp huấn luyện thực tế tại doanh nghiệp khách hàng, phối hợp cùng DAKO.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khác biệt của Viện: doanh nghiệp ký hợp đồng đào tạo được cấp ngay tài khoản quản lý ATVSLĐ, mỗi học viên có tài khoản riêng, tra cứu chứng chỉ 24/7 — không phải đầu tư phần mềm.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Chương trình AI được thiết kế riêng cho từng đơn vị, 70% thời lượng thực hành trên chính công việc hằng ngày, với nguyên tắc dùng AI an toàn, đúng quy định.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Trung tâm khảo thí có phòng thi máy tính 250 thí sinh mỗi ca, tổ chức các kỳ thi chuẩn Cambridge; Viện đồng thời là đầu mối tuyển sinh chính quy nhiều bậc học.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Trụ cột thứ ba: truy xuất nguồn gốc chuẩn GS1, triển khai cùng HL&amp;HT.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ba bước, sản phẩm của địa phương, hợp tác xã có hồ sơ điện tử minh bạch, đáp ứng quy định mới và đủ điều kiện vươn ra thị trường xuất khẩu.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tiêu dùng chỉ cần quét mã để thấy hành trình sản phẩm và dấu tích đã xác thực; doanh nghiệp có tháp điều khiển phát hiện và khóa mã giả ngay lập tức. Giao diện trên màn hình là minh họa.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pháp áp dụng cho thủy sản, nông sản, thực phẩm, dược phẩm, hàng tiêu dùng và công nghiệp chế biến.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Trụ cột thứ tư: nông nghiệp thông minh với hệ sinh thái BOM IoT.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đi từ cảm biến ngoài đồng, qua mạng LoRaWAN tầm xa, lên nền tảng Cloud, và được AI phân tích để người nông dân, nhà quản lý ra quyết định kịp thời.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Tại các trang trại đã triển khai: năng suất tăng 20%, phân bón lãng phí giảm 30%, nhân công giám sát giảm 50%.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Viện có mạng lưới đối tác chiến lược trong công nghệ – truy xuất, giáo dục – tuyển sinh và du lịch – dịch vụ.</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số doanh nghiệp đã tin tưởng lựa chọn Viện STP và DAKO cho công tác huấn luyện an toàn lao động.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văn phòng tại ba miền, Viện sẵn sàng đồng hành cùng các địa phương trên cả nước.</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Viện xin đề xuất bốn mô hình hợp tác có thể triển khai ngay: với địa phương, với sản phẩm OCOP và hợp tác xã, với vùng nông nghiệp, và với doanh nghiệp.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trân trọng cảm ơn Quý vị đã lắng nghe. Viện STP rất mong được hợp tác, đồng hành cùng Quý vị.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5.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image" Target="../media/image8.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8.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4.png"/><Relationship Id="rId9" Type="http://schemas.openxmlformats.org/officeDocument/2006/relationships/image" Target="../media/image8.png"/><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20.jpg"/><Relationship Id="rId10" Type="http://schemas.openxmlformats.org/officeDocument/2006/relationships/image" Target="../media/image21.jpg"/><Relationship Id="rId11" Type="http://schemas.openxmlformats.org/officeDocument/2006/relationships/image" Target="../media/image22.jpg"/><Relationship Id="rId12" Type="http://schemas.openxmlformats.org/officeDocument/2006/relationships/image" Target="../media/image23.jpg"/><Relationship Id="rId13" Type="http://schemas.openxmlformats.org/officeDocument/2006/relationships/image" Target="../media/image24.jpg"/><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image" Target="../media/image30.png"/><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3.png"/><Relationship Id="rId9" Type="http://schemas.openxmlformats.org/officeDocument/2006/relationships/image" Target="../media/image31.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32.png"/><Relationship Id="rId13" Type="http://schemas.openxmlformats.org/officeDocument/2006/relationships/image" Target="../media/image33.png"/><Relationship Id="rId14" Type="http://schemas.openxmlformats.org/officeDocument/2006/relationships/image" Target="../media/image34.png"/><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35.png"/><Relationship Id="rId9" Type="http://schemas.openxmlformats.org/officeDocument/2006/relationships/image" Target="../media/image8.png"/><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6.png"/><Relationship Id="rId9" Type="http://schemas.openxmlformats.org/officeDocument/2006/relationships/image" Target="../media/image8.png"/><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6.png"/><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25.png"/><Relationship Id="rId10" Type="http://schemas.openxmlformats.org/officeDocument/2006/relationships/image" Target="../media/image36.png"/><Relationship Id="rId11" Type="http://schemas.openxmlformats.org/officeDocument/2006/relationships/image" Target="../media/image37.png"/><Relationship Id="rId12" Type="http://schemas.openxmlformats.org/officeDocument/2006/relationships/image" Target="../media/image38.png"/><Relationship Id="rId13" Type="http://schemas.openxmlformats.org/officeDocument/2006/relationships/image" Target="../media/image39.png"/><Relationship Id="rId14" Type="http://schemas.openxmlformats.org/officeDocument/2006/relationships/image" Target="../media/image34.png"/><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40.jpg"/><Relationship Id="rId10" Type="http://schemas.openxmlformats.org/officeDocument/2006/relationships/image" Target="../media/image41.jpg"/><Relationship Id="rId11" Type="http://schemas.openxmlformats.org/officeDocument/2006/relationships/image" Target="../media/image42.jpg"/><Relationship Id="rId12" Type="http://schemas.openxmlformats.org/officeDocument/2006/relationships/image" Target="../media/image43.jpg"/><Relationship Id="rId13" Type="http://schemas.openxmlformats.org/officeDocument/2006/relationships/image" Target="../media/image44.jpg"/><Relationship Id="rId14" Type="http://schemas.openxmlformats.org/officeDocument/2006/relationships/image" Target="../media/image45.jpg"/><Relationship Id="rI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7.png"/><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chart" Target="../charts/chart1.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46.jpg"/><Relationship Id="rId10" Type="http://schemas.openxmlformats.org/officeDocument/2006/relationships/image" Target="../media/image47.jpg"/><Relationship Id="rId11" Type="http://schemas.openxmlformats.org/officeDocument/2006/relationships/image" Target="../media/image48.jpg"/><Relationship Id="rId12" Type="http://schemas.openxmlformats.org/officeDocument/2006/relationships/image" Target="../media/image49.jpg"/><Relationship Id="rId13" Type="http://schemas.openxmlformats.org/officeDocument/2006/relationships/image" Target="../media/image50.jpg"/><Relationship Id="rId14" Type="http://schemas.openxmlformats.org/officeDocument/2006/relationships/image" Target="../media/image51.jpg"/><Relationship Id="rId15" Type="http://schemas.openxmlformats.org/officeDocument/2006/relationships/image" Target="../media/image52.jpg"/><Relationship Id="rId16" Type="http://schemas.openxmlformats.org/officeDocument/2006/relationships/image" Target="../media/image53.jpg"/><Relationship Id="rId17" Type="http://schemas.openxmlformats.org/officeDocument/2006/relationships/image" Target="../media/image54.jpg"/><Relationship Id="rId18" Type="http://schemas.openxmlformats.org/officeDocument/2006/relationships/image" Target="../media/image55.jpg"/><Relationship Id="rId19" Type="http://schemas.openxmlformats.org/officeDocument/2006/relationships/image" Target="../media/image56.jpg"/><Relationship Id="rId20" Type="http://schemas.openxmlformats.org/officeDocument/2006/relationships/image" Target="../media/image57.jpg"/><Relationship Id="rId21" Type="http://schemas.openxmlformats.org/officeDocument/2006/relationships/image" Target="../media/image58.jpg"/><Relationship Id="rId22" Type="http://schemas.openxmlformats.org/officeDocument/2006/relationships/image" Target="../media/image59.jpg"/><Relationship Id="rId23" Type="http://schemas.openxmlformats.org/officeDocument/2006/relationships/image" Target="../media/image60.jpg"/><Relationship Id="rId24" Type="http://schemas.openxmlformats.org/officeDocument/2006/relationships/image" Target="../media/image61.jpg"/><Relationship Id="rId2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22.jpg"/><Relationship Id="rId10" Type="http://schemas.openxmlformats.org/officeDocument/2006/relationships/image" Target="../media/image62.jpg"/><Relationship Id="rId11" Type="http://schemas.openxmlformats.org/officeDocument/2006/relationships/image" Target="../media/image20.jpg"/><Relationship Id="rId12" Type="http://schemas.openxmlformats.org/officeDocument/2006/relationships/image" Target="../media/image21.jpg"/><Relationship Id="rId13" Type="http://schemas.openxmlformats.org/officeDocument/2006/relationships/image" Target="../media/image23.jpg"/><Relationship Id="rId14" Type="http://schemas.openxmlformats.org/officeDocument/2006/relationships/image" Target="../media/image63.jpg"/><Relationship Id="rId15" Type="http://schemas.openxmlformats.org/officeDocument/2006/relationships/image" Target="../media/image64.jpg"/><Relationship Id="rId16" Type="http://schemas.openxmlformats.org/officeDocument/2006/relationships/image" Target="../media/image24.jpg"/><Relationship Id="rId1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4.png"/><Relationship Id="rId9" Type="http://schemas.openxmlformats.org/officeDocument/2006/relationships/image" Target="../media/image8.png"/><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67.png"/><Relationship Id="rId10" Type="http://schemas.openxmlformats.org/officeDocument/2006/relationships/image" Target="../media/image68.png"/><Relationship Id="rId11" Type="http://schemas.openxmlformats.org/officeDocument/2006/relationships/image" Target="../media/image69.png"/><Relationship Id="rId12" Type="http://schemas.openxmlformats.org/officeDocument/2006/relationships/image" Target="../media/image70.png"/><Relationship Id="rId13" Type="http://schemas.openxmlformats.org/officeDocument/2006/relationships/image" Target="../media/image8.png"/><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right.jpg"/>
          <p:cNvPicPr>
            <a:picLocks noChangeAspect="1"/>
          </p:cNvPicPr>
          <p:nvPr/>
        </p:nvPicPr>
        <p:blipFill>
          <a:blip r:embed="rId2"/>
          <a:srcRect l="1" r="1"/>
          <a:stretch>
            <a:fillRect/>
          </a:stretch>
        </p:blipFill>
        <p:spPr>
          <a:xfrm>
            <a:off x="0" y="0"/>
            <a:ext cx="12191695" cy="6858000"/>
          </a:xfrm>
          <a:prstGeom prst="rect">
            <a:avLst/>
          </a:prstGeom>
        </p:spPr>
      </p:pic>
      <p:cxnSp>
        <p:nvCxnSpPr>
          <p:cNvPr id="3" name="!!link_core_research"/>
          <p:cNvCxnSpPr/>
          <p:nvPr/>
        </p:nvCxnSpPr>
        <p:spPr>
          <a:xfrm flipH="1" flipV="1">
            <a:off x="6995160" y="2496312"/>
            <a:ext cx="2103120" cy="1115568"/>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cxnSp>
        <p:nvCxnSpPr>
          <p:cNvPr id="4" name="!!link_core_training"/>
          <p:cNvCxnSpPr/>
          <p:nvPr/>
        </p:nvCxnSpPr>
        <p:spPr>
          <a:xfrm flipV="1">
            <a:off x="9098280" y="2496312"/>
            <a:ext cx="2103120" cy="1115568"/>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cxnSp>
        <p:nvCxnSpPr>
          <p:cNvPr id="5" name="!!link_core_trace"/>
          <p:cNvCxnSpPr/>
          <p:nvPr/>
        </p:nvCxnSpPr>
        <p:spPr>
          <a:xfrm>
            <a:off x="9098280" y="3611880"/>
            <a:ext cx="2103120" cy="1115568"/>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cxnSp>
        <p:nvCxnSpPr>
          <p:cNvPr id="6" name="!!link_core_iot"/>
          <p:cNvCxnSpPr/>
          <p:nvPr/>
        </p:nvCxnSpPr>
        <p:spPr>
          <a:xfrm flipH="1">
            <a:off x="6995160" y="3611880"/>
            <a:ext cx="2103120" cy="1115568"/>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pic>
        <p:nvPicPr>
          <p:cNvPr id="7" name="!!glow_research" descr="glow_7FC211_30_1.7.png"/>
          <p:cNvPicPr>
            <a:picLocks noChangeAspect="1"/>
          </p:cNvPicPr>
          <p:nvPr/>
        </p:nvPicPr>
        <p:blipFill>
          <a:blip r:embed="rId3"/>
          <a:stretch>
            <a:fillRect/>
          </a:stretch>
        </p:blipFill>
        <p:spPr>
          <a:xfrm>
            <a:off x="5963031" y="1582141"/>
            <a:ext cx="2064258" cy="2064258"/>
          </a:xfrm>
          <a:prstGeom prst="rect">
            <a:avLst/>
          </a:prstGeom>
        </p:spPr>
      </p:pic>
      <p:pic>
        <p:nvPicPr>
          <p:cNvPr id="8" name="!!research" descr="research.png"/>
          <p:cNvPicPr>
            <a:picLocks noChangeAspect="1"/>
          </p:cNvPicPr>
          <p:nvPr/>
        </p:nvPicPr>
        <p:blipFill>
          <a:blip r:embed="rId4"/>
          <a:srcRect/>
          <a:stretch>
            <a:fillRect/>
          </a:stretch>
        </p:blipFill>
        <p:spPr>
          <a:xfrm>
            <a:off x="6012180" y="1413770"/>
            <a:ext cx="1965960" cy="1825534"/>
          </a:xfrm>
          <a:prstGeom prst="rect">
            <a:avLst/>
          </a:prstGeom>
        </p:spPr>
      </p:pic>
      <p:pic>
        <p:nvPicPr>
          <p:cNvPr id="9" name="!!glow_training" descr="glow_7FC211_30_1.7.png"/>
          <p:cNvPicPr>
            <a:picLocks noChangeAspect="1"/>
          </p:cNvPicPr>
          <p:nvPr/>
        </p:nvPicPr>
        <p:blipFill>
          <a:blip r:embed="rId3"/>
          <a:stretch>
            <a:fillRect/>
          </a:stretch>
        </p:blipFill>
        <p:spPr>
          <a:xfrm>
            <a:off x="10169271" y="1582141"/>
            <a:ext cx="2064258" cy="2064258"/>
          </a:xfrm>
          <a:prstGeom prst="rect">
            <a:avLst/>
          </a:prstGeom>
        </p:spPr>
      </p:pic>
      <p:pic>
        <p:nvPicPr>
          <p:cNvPr id="10" name="!!training" descr="training.png"/>
          <p:cNvPicPr>
            <a:picLocks noChangeAspect="1"/>
          </p:cNvPicPr>
          <p:nvPr/>
        </p:nvPicPr>
        <p:blipFill>
          <a:blip r:embed="rId5"/>
          <a:srcRect/>
          <a:stretch>
            <a:fillRect/>
          </a:stretch>
        </p:blipFill>
        <p:spPr>
          <a:xfrm>
            <a:off x="10218420" y="1413770"/>
            <a:ext cx="1965960" cy="1825534"/>
          </a:xfrm>
          <a:prstGeom prst="rect">
            <a:avLst/>
          </a:prstGeom>
        </p:spPr>
      </p:pic>
      <p:pic>
        <p:nvPicPr>
          <p:cNvPr id="11" name="!!glow_core" descr="glow_7FC211_30_1.7.png"/>
          <p:cNvPicPr>
            <a:picLocks noChangeAspect="1"/>
          </p:cNvPicPr>
          <p:nvPr/>
        </p:nvPicPr>
        <p:blipFill>
          <a:blip r:embed="rId3"/>
          <a:stretch>
            <a:fillRect/>
          </a:stretch>
        </p:blipFill>
        <p:spPr>
          <a:xfrm>
            <a:off x="7418070" y="2123694"/>
            <a:ext cx="3360420" cy="3360420"/>
          </a:xfrm>
          <a:prstGeom prst="rect">
            <a:avLst/>
          </a:prstGeom>
        </p:spPr>
      </p:pic>
      <p:pic>
        <p:nvPicPr>
          <p:cNvPr id="12" name="!!core" descr="core.png"/>
          <p:cNvPicPr>
            <a:picLocks noChangeAspect="1"/>
          </p:cNvPicPr>
          <p:nvPr/>
        </p:nvPicPr>
        <p:blipFill>
          <a:blip r:embed="rId6"/>
          <a:srcRect/>
          <a:stretch>
            <a:fillRect/>
          </a:stretch>
        </p:blipFill>
        <p:spPr>
          <a:xfrm>
            <a:off x="7498080" y="1849603"/>
            <a:ext cx="3200400" cy="2971800"/>
          </a:xfrm>
          <a:prstGeom prst="rect">
            <a:avLst/>
          </a:prstGeom>
        </p:spPr>
      </p:pic>
      <p:pic>
        <p:nvPicPr>
          <p:cNvPr id="13" name="!!glow_trace" descr="glow_7FC211_30_1.7.png"/>
          <p:cNvPicPr>
            <a:picLocks noChangeAspect="1"/>
          </p:cNvPicPr>
          <p:nvPr/>
        </p:nvPicPr>
        <p:blipFill>
          <a:blip r:embed="rId3"/>
          <a:stretch>
            <a:fillRect/>
          </a:stretch>
        </p:blipFill>
        <p:spPr>
          <a:xfrm>
            <a:off x="10169271" y="3813277"/>
            <a:ext cx="2064258" cy="2064258"/>
          </a:xfrm>
          <a:prstGeom prst="rect">
            <a:avLst/>
          </a:prstGeom>
        </p:spPr>
      </p:pic>
      <p:pic>
        <p:nvPicPr>
          <p:cNvPr id="14" name="!!trace" descr="trace.png"/>
          <p:cNvPicPr>
            <a:picLocks noChangeAspect="1"/>
          </p:cNvPicPr>
          <p:nvPr/>
        </p:nvPicPr>
        <p:blipFill>
          <a:blip r:embed="rId7"/>
          <a:srcRect/>
          <a:stretch>
            <a:fillRect/>
          </a:stretch>
        </p:blipFill>
        <p:spPr>
          <a:xfrm>
            <a:off x="10218420" y="3644906"/>
            <a:ext cx="1965960" cy="1825534"/>
          </a:xfrm>
          <a:prstGeom prst="rect">
            <a:avLst/>
          </a:prstGeom>
        </p:spPr>
      </p:pic>
      <p:pic>
        <p:nvPicPr>
          <p:cNvPr id="15" name="!!glow_iot" descr="glow_7FC211_30_1.7.png"/>
          <p:cNvPicPr>
            <a:picLocks noChangeAspect="1"/>
          </p:cNvPicPr>
          <p:nvPr/>
        </p:nvPicPr>
        <p:blipFill>
          <a:blip r:embed="rId3"/>
          <a:stretch>
            <a:fillRect/>
          </a:stretch>
        </p:blipFill>
        <p:spPr>
          <a:xfrm>
            <a:off x="5963031" y="3813277"/>
            <a:ext cx="2064258" cy="2064258"/>
          </a:xfrm>
          <a:prstGeom prst="rect">
            <a:avLst/>
          </a:prstGeom>
        </p:spPr>
      </p:pic>
      <p:pic>
        <p:nvPicPr>
          <p:cNvPr id="16" name="!!iot" descr="iot.png"/>
          <p:cNvPicPr>
            <a:picLocks noChangeAspect="1"/>
          </p:cNvPicPr>
          <p:nvPr/>
        </p:nvPicPr>
        <p:blipFill>
          <a:blip r:embed="rId8"/>
          <a:srcRect/>
          <a:stretch>
            <a:fillRect/>
          </a:stretch>
        </p:blipFill>
        <p:spPr>
          <a:xfrm>
            <a:off x="6012180" y="3644906"/>
            <a:ext cx="1965960" cy="1825534"/>
          </a:xfrm>
          <a:prstGeom prst="rect">
            <a:avLst/>
          </a:prstGeom>
        </p:spPr>
      </p:pic>
      <p:sp>
        <p:nvSpPr>
          <p:cNvPr id="17" name="!!kicker"/>
          <p:cNvSpPr txBox="1"/>
          <p:nvPr/>
        </p:nvSpPr>
        <p:spPr>
          <a:xfrm>
            <a:off x="685800" y="914400"/>
            <a:ext cx="530352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STP INSTITUTE · VUSTA</a:t>
            </a:r>
          </a:p>
        </p:txBody>
      </p:sp>
      <p:sp>
        <p:nvSpPr>
          <p:cNvPr id="18" name="!!title"/>
          <p:cNvSpPr txBox="1"/>
          <p:nvPr/>
        </p:nvSpPr>
        <p:spPr>
          <a:xfrm>
            <a:off x="685800" y="1325880"/>
            <a:ext cx="5669280" cy="1463040"/>
          </a:xfrm>
          <a:prstGeom prst="rect">
            <a:avLst/>
          </a:prstGeom>
          <a:noFill/>
        </p:spPr>
        <p:txBody>
          <a:bodyPr wrap="square" lIns="0" rIns="0" tIns="0" bIns="0" anchor="t">
            <a:noAutofit/>
          </a:bodyPr>
          <a:lstStyle/>
          <a:p>
            <a:pPr algn="l">
              <a:lnSpc>
                <a:spcPct val="98000"/>
              </a:lnSpc>
              <a:spcAft>
                <a:spcPts val="0"/>
              </a:spcAft>
            </a:pPr>
            <a:r>
              <a:rPr sz="5000" b="0" i="0">
                <a:solidFill>
                  <a:srgbClr val="FFFFFF"/>
                </a:solidFill>
                <a:latin typeface="Be Vietnam Pro ExtraBold"/>
                <a:ea typeface="Be Vietnam Pro ExtraBold"/>
                <a:cs typeface="Be Vietnam Pro ExtraBold"/>
              </a:rPr>
              <a:t>Kết nối tri thức</a:t>
            </a:r>
          </a:p>
          <a:p>
            <a:pPr algn="l">
              <a:lnSpc>
                <a:spcPct val="98000"/>
              </a:lnSpc>
              <a:spcAft>
                <a:spcPts val="0"/>
              </a:spcAft>
            </a:pPr>
            <a:r>
              <a:rPr sz="5000" b="0" i="0">
                <a:solidFill>
                  <a:srgbClr val="8FD11E"/>
                </a:solidFill>
                <a:latin typeface="Be Vietnam Pro ExtraBold"/>
                <a:ea typeface="Be Vietnam Pro ExtraBold"/>
                <a:cs typeface="Be Vietnam Pro ExtraBold"/>
              </a:rPr>
              <a:t>Kiến tạo giá trị</a:t>
            </a:r>
          </a:p>
        </p:txBody>
      </p:sp>
      <p:sp>
        <p:nvSpPr>
          <p:cNvPr id="19" name="!!lead"/>
          <p:cNvSpPr txBox="1"/>
          <p:nvPr/>
        </p:nvSpPr>
        <p:spPr>
          <a:xfrm>
            <a:off x="685800" y="2880360"/>
            <a:ext cx="5120640" cy="1097280"/>
          </a:xfrm>
          <a:prstGeom prst="rect">
            <a:avLst/>
          </a:prstGeom>
          <a:noFill/>
        </p:spPr>
        <p:txBody>
          <a:bodyPr wrap="square" lIns="0" rIns="0" tIns="0" bIns="0" anchor="t">
            <a:noAutofit/>
          </a:bodyPr>
          <a:lstStyle/>
          <a:p>
            <a:pPr algn="l">
              <a:lnSpc>
                <a:spcPct val="120000"/>
              </a:lnSpc>
              <a:spcAft>
                <a:spcPts val="0"/>
              </a:spcAft>
            </a:pPr>
            <a:r>
              <a:rPr sz="1600" b="0" i="0">
                <a:solidFill>
                  <a:srgbClr val="C9D8CE"/>
                </a:solidFill>
                <a:latin typeface="Be Vietnam Pro Light"/>
                <a:ea typeface="Be Vietnam Pro Light"/>
                <a:cs typeface="Be Vietnam Pro Light"/>
              </a:rPr>
              <a:t>Viện Nghiên cứu Phát triển Giáo dục và Nghề nghiệp STP — hệ sinh thái </a:t>
            </a:r>
            <a:r>
              <a:rPr sz="1600" b="0" i="0">
                <a:solidFill>
                  <a:srgbClr val="8FD11E"/>
                </a:solidFill>
                <a:latin typeface="Be Vietnam Pro Medium"/>
                <a:ea typeface="Be Vietnam Pro Medium"/>
                <a:cs typeface="Be Vietnam Pro Medium"/>
              </a:rPr>
              <a:t>nghiên cứu, đào tạo và công nghệ</a:t>
            </a:r>
            <a:r>
              <a:rPr sz="1600" b="0" i="0">
                <a:solidFill>
                  <a:srgbClr val="C9D8CE"/>
                </a:solidFill>
                <a:latin typeface="Be Vietnam Pro Light"/>
                <a:ea typeface="Be Vietnam Pro Light"/>
                <a:cs typeface="Be Vietnam Pro Light"/>
              </a:rPr>
              <a:t> đồng hành cùng địa phương và doanh nghiệp.</a:t>
            </a:r>
          </a:p>
        </p:txBody>
      </p:sp>
      <p:pic>
        <p:nvPicPr>
          <p:cNvPr id="20" name="!!logo" descr="logo_stp.png"/>
          <p:cNvPicPr>
            <a:picLocks noChangeAspect="1"/>
          </p:cNvPicPr>
          <p:nvPr/>
        </p:nvPicPr>
        <p:blipFill>
          <a:blip r:embed="rId9"/>
          <a:stretch>
            <a:fillRect/>
          </a:stretch>
        </p:blipFill>
        <p:spPr>
          <a:xfrm>
            <a:off x="685800" y="5715000"/>
            <a:ext cx="566928" cy="566928"/>
          </a:xfrm>
          <a:prstGeom prst="rect">
            <a:avLst/>
          </a:prstGeom>
        </p:spPr>
      </p:pic>
      <p:sp>
        <p:nvSpPr>
          <p:cNvPr id="21" name="!!footer"/>
          <p:cNvSpPr txBox="1"/>
          <p:nvPr/>
        </p:nvSpPr>
        <p:spPr>
          <a:xfrm>
            <a:off x="1399032" y="5715000"/>
            <a:ext cx="4754880" cy="566928"/>
          </a:xfrm>
          <a:prstGeom prst="rect">
            <a:avLst/>
          </a:prstGeom>
          <a:noFill/>
        </p:spPr>
        <p:txBody>
          <a:bodyPr wrap="square" lIns="0" rIns="0" tIns="0" bIns="0" anchor="ctr">
            <a:noAutofit/>
          </a:bodyPr>
          <a:lstStyle/>
          <a:p>
            <a:pPr algn="l">
              <a:lnSpc>
                <a:spcPct val="110000"/>
              </a:lnSpc>
              <a:spcAft>
                <a:spcPts val="0"/>
              </a:spcAft>
            </a:pPr>
            <a:r>
              <a:rPr sz="1150" b="0" i="0">
                <a:solidFill>
                  <a:srgbClr val="C9D8CE"/>
                </a:solidFill>
                <a:latin typeface="Be Vietnam Pro Medium"/>
                <a:ea typeface="Be Vietnam Pro Medium"/>
                <a:cs typeface="Be Vietnam Pro Medium"/>
              </a:rPr>
              <a:t>Tổ chức khoa học và công nghệ trực thuộc</a:t>
            </a:r>
          </a:p>
          <a:p>
            <a:pPr algn="l">
              <a:lnSpc>
                <a:spcPct val="110000"/>
              </a:lnSpc>
              <a:spcAft>
                <a:spcPts val="0"/>
              </a:spcAft>
            </a:pPr>
            <a:r>
              <a:rPr sz="1150" b="0" i="0">
                <a:solidFill>
                  <a:srgbClr val="C9D8CE"/>
                </a:solidFill>
                <a:latin typeface="Be Vietnam Pro Medium"/>
                <a:ea typeface="Be Vietnam Pro Medium"/>
                <a:cs typeface="Be Vietnam Pro Medium"/>
              </a:rPr>
              <a:t>Liên hiệp các Hội Khoa học và Kỹ thuật Việt Nam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par>
                                <p:cTn id="8" presetID="53" presetClass="entr" presetSubtype="16"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700" fill="hold"/>
                                        <p:tgtEl>
                                          <p:spTgt spid="11"/>
                                        </p:tgtEl>
                                        <p:attrNameLst>
                                          <p:attrName>ppt_w</p:attrName>
                                        </p:attrNameLst>
                                      </p:cBhvr>
                                      <p:tavLst>
                                        <p:tav tm="0">
                                          <p:val>
                                            <p:strVal val="#ppt_w*0.7"/>
                                          </p:val>
                                        </p:tav>
                                        <p:tav tm="100000">
                                          <p:val>
                                            <p:strVal val="#ppt_w"/>
                                          </p:val>
                                        </p:tav>
                                      </p:tavLst>
                                    </p:anim>
                                    <p:anim calcmode="lin" valueType="num">
                                      <p:cBhvr additive="base">
                                        <p:cTn id="11" dur="700" fill="hold"/>
                                        <p:tgtEl>
                                          <p:spTgt spid="11"/>
                                        </p:tgtEl>
                                        <p:attrNameLst>
                                          <p:attrName>ppt_h</p:attrName>
                                        </p:attrNameLst>
                                      </p:cBhvr>
                                      <p:tavLst>
                                        <p:tav tm="0">
                                          <p:val>
                                            <p:strVal val="#ppt_h*0.7"/>
                                          </p:val>
                                        </p:tav>
                                        <p:tav tm="100000">
                                          <p:val>
                                            <p:strVal val="#ppt_h"/>
                                          </p:val>
                                        </p:tav>
                                      </p:tavLst>
                                    </p:anim>
                                    <p:animEffect transition="in" filter="fade">
                                      <p:cBhvr>
                                        <p:cTn id="12" dur="700"/>
                                        <p:tgtEl>
                                          <p:spTgt spid="11"/>
                                        </p:tgtEl>
                                      </p:cBhvr>
                                    </p:animEffect>
                                  </p:childTnLst>
                                </p:cTn>
                              </p:par>
                              <p:par>
                                <p:cTn id="13" presetID="53" presetClass="entr" presetSubtype="16" fill="hold" grpId="0" nodeType="withEffect">
                                  <p:stCondLst>
                                    <p:cond delay="30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700" fill="hold"/>
                                        <p:tgtEl>
                                          <p:spTgt spid="12"/>
                                        </p:tgtEl>
                                        <p:attrNameLst>
                                          <p:attrName>ppt_w</p:attrName>
                                        </p:attrNameLst>
                                      </p:cBhvr>
                                      <p:tavLst>
                                        <p:tav tm="0">
                                          <p:val>
                                            <p:strVal val="#ppt_w*0.7"/>
                                          </p:val>
                                        </p:tav>
                                        <p:tav tm="100000">
                                          <p:val>
                                            <p:strVal val="#ppt_w"/>
                                          </p:val>
                                        </p:tav>
                                      </p:tavLst>
                                    </p:anim>
                                    <p:anim calcmode="lin" valueType="num">
                                      <p:cBhvr additive="base">
                                        <p:cTn id="16" dur="700" fill="hold"/>
                                        <p:tgtEl>
                                          <p:spTgt spid="12"/>
                                        </p:tgtEl>
                                        <p:attrNameLst>
                                          <p:attrName>ppt_h</p:attrName>
                                        </p:attrNameLst>
                                      </p:cBhvr>
                                      <p:tavLst>
                                        <p:tav tm="0">
                                          <p:val>
                                            <p:strVal val="#ppt_h*0.7"/>
                                          </p:val>
                                        </p:tav>
                                        <p:tav tm="100000">
                                          <p:val>
                                            <p:strVal val="#ppt_h"/>
                                          </p:val>
                                        </p:tav>
                                      </p:tavLst>
                                    </p:anim>
                                    <p:animEffect transition="in" filter="fade">
                                      <p:cBhvr>
                                        <p:cTn id="17" dur="700"/>
                                        <p:tgtEl>
                                          <p:spTgt spid="12"/>
                                        </p:tgtEl>
                                      </p:cBhvr>
                                    </p:animEffect>
                                  </p:childTnLst>
                                </p:cTn>
                              </p:par>
                              <p:par>
                                <p:cTn id="18" presetID="42" presetClass="entr" presetSubtype="0" fill="hold" grpId="0" nodeType="withEffect">
                                  <p:stCondLst>
                                    <p:cond delay="40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900"/>
                                        <p:tgtEl>
                                          <p:spTgt spid="18"/>
                                        </p:tgtEl>
                                      </p:cBhvr>
                                    </p:animEffect>
                                    <p:anim calcmode="lin" valueType="num">
                                      <p:cBhvr additive="base">
                                        <p:cTn id="21" dur="900" fill="hold"/>
                                        <p:tgtEl>
                                          <p:spTgt spid="18"/>
                                        </p:tgtEl>
                                        <p:attrNameLst>
                                          <p:attrName>ppt_x</p:attrName>
                                        </p:attrNameLst>
                                      </p:cBhvr>
                                      <p:tavLst>
                                        <p:tav tm="0">
                                          <p:val>
                                            <p:strVal val="#ppt_x"/>
                                          </p:val>
                                        </p:tav>
                                        <p:tav tm="100000">
                                          <p:val>
                                            <p:strVal val="#ppt_x"/>
                                          </p:val>
                                        </p:tav>
                                      </p:tavLst>
                                    </p:anim>
                                    <p:anim calcmode="lin" valueType="num">
                                      <p:cBhvr additive="base">
                                        <p:cTn id="22" dur="900" fill="hold"/>
                                        <p:tgtEl>
                                          <p:spTgt spid="18"/>
                                        </p:tgtEl>
                                        <p:attrNameLst>
                                          <p:attrName>ppt_y</p:attrName>
                                        </p:attrNameLst>
                                      </p:cBhvr>
                                      <p:tavLst>
                                        <p:tav tm="0">
                                          <p:val>
                                            <p:strVal val="#ppt_y+.06"/>
                                          </p:val>
                                        </p:tav>
                                        <p:tav tm="100000">
                                          <p:val>
                                            <p:strVal val="#ppt_y"/>
                                          </p:val>
                                        </p:tav>
                                      </p:tavLst>
                                    </p:anim>
                                  </p:childTnLst>
                                </p:cTn>
                              </p:par>
                              <p:par>
                                <p:cTn id="23" presetID="53" presetClass="entr" presetSubtype="16" fill="hold" grpId="0" nodeType="withEffect">
                                  <p:stCondLst>
                                    <p:cond delay="48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700" fill="hold"/>
                                        <p:tgtEl>
                                          <p:spTgt spid="7"/>
                                        </p:tgtEl>
                                        <p:attrNameLst>
                                          <p:attrName>ppt_w</p:attrName>
                                        </p:attrNameLst>
                                      </p:cBhvr>
                                      <p:tavLst>
                                        <p:tav tm="0">
                                          <p:val>
                                            <p:strVal val="#ppt_w*0.7"/>
                                          </p:val>
                                        </p:tav>
                                        <p:tav tm="100000">
                                          <p:val>
                                            <p:strVal val="#ppt_w"/>
                                          </p:val>
                                        </p:tav>
                                      </p:tavLst>
                                    </p:anim>
                                    <p:anim calcmode="lin" valueType="num">
                                      <p:cBhvr additive="base">
                                        <p:cTn id="26" dur="700" fill="hold"/>
                                        <p:tgtEl>
                                          <p:spTgt spid="7"/>
                                        </p:tgtEl>
                                        <p:attrNameLst>
                                          <p:attrName>ppt_h</p:attrName>
                                        </p:attrNameLst>
                                      </p:cBhvr>
                                      <p:tavLst>
                                        <p:tav tm="0">
                                          <p:val>
                                            <p:strVal val="#ppt_h*0.7"/>
                                          </p:val>
                                        </p:tav>
                                        <p:tav tm="100000">
                                          <p:val>
                                            <p:strVal val="#ppt_h"/>
                                          </p:val>
                                        </p:tav>
                                      </p:tavLst>
                                    </p:anim>
                                    <p:animEffect transition="in" filter="fade">
                                      <p:cBhvr>
                                        <p:cTn id="27" dur="700"/>
                                        <p:tgtEl>
                                          <p:spTgt spid="7"/>
                                        </p:tgtEl>
                                      </p:cBhvr>
                                    </p:animEffect>
                                  </p:childTnLst>
                                </p:cTn>
                              </p:par>
                              <p:par>
                                <p:cTn id="28" presetID="53" presetClass="entr" presetSubtype="16" fill="hold" grpId="0" nodeType="withEffect">
                                  <p:stCondLst>
                                    <p:cond delay="48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700" fill="hold"/>
                                        <p:tgtEl>
                                          <p:spTgt spid="8"/>
                                        </p:tgtEl>
                                        <p:attrNameLst>
                                          <p:attrName>ppt_w</p:attrName>
                                        </p:attrNameLst>
                                      </p:cBhvr>
                                      <p:tavLst>
                                        <p:tav tm="0">
                                          <p:val>
                                            <p:strVal val="#ppt_w*0.7"/>
                                          </p:val>
                                        </p:tav>
                                        <p:tav tm="100000">
                                          <p:val>
                                            <p:strVal val="#ppt_w"/>
                                          </p:val>
                                        </p:tav>
                                      </p:tavLst>
                                    </p:anim>
                                    <p:anim calcmode="lin" valueType="num">
                                      <p:cBhvr additive="base">
                                        <p:cTn id="31" dur="700" fill="hold"/>
                                        <p:tgtEl>
                                          <p:spTgt spid="8"/>
                                        </p:tgtEl>
                                        <p:attrNameLst>
                                          <p:attrName>ppt_h</p:attrName>
                                        </p:attrNameLst>
                                      </p:cBhvr>
                                      <p:tavLst>
                                        <p:tav tm="0">
                                          <p:val>
                                            <p:strVal val="#ppt_h*0.7"/>
                                          </p:val>
                                        </p:tav>
                                        <p:tav tm="100000">
                                          <p:val>
                                            <p:strVal val="#ppt_h"/>
                                          </p:val>
                                        </p:tav>
                                      </p:tavLst>
                                    </p:anim>
                                    <p:animEffect transition="in" filter="fade">
                                      <p:cBhvr>
                                        <p:cTn id="32" dur="700"/>
                                        <p:tgtEl>
                                          <p:spTgt spid="8"/>
                                        </p:tgtEl>
                                      </p:cBhvr>
                                    </p:animEffect>
                                  </p:childTnLst>
                                </p:cTn>
                              </p:par>
                              <p:par>
                                <p:cTn id="33" presetID="53" presetClass="entr" presetSubtype="16" fill="hold" grpId="0" nodeType="withEffect">
                                  <p:stCondLst>
                                    <p:cond delay="659"/>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700" fill="hold"/>
                                        <p:tgtEl>
                                          <p:spTgt spid="9"/>
                                        </p:tgtEl>
                                        <p:attrNameLst>
                                          <p:attrName>ppt_w</p:attrName>
                                        </p:attrNameLst>
                                      </p:cBhvr>
                                      <p:tavLst>
                                        <p:tav tm="0">
                                          <p:val>
                                            <p:strVal val="#ppt_w*0.7"/>
                                          </p:val>
                                        </p:tav>
                                        <p:tav tm="100000">
                                          <p:val>
                                            <p:strVal val="#ppt_w"/>
                                          </p:val>
                                        </p:tav>
                                      </p:tavLst>
                                    </p:anim>
                                    <p:anim calcmode="lin" valueType="num">
                                      <p:cBhvr additive="base">
                                        <p:cTn id="36" dur="700" fill="hold"/>
                                        <p:tgtEl>
                                          <p:spTgt spid="9"/>
                                        </p:tgtEl>
                                        <p:attrNameLst>
                                          <p:attrName>ppt_h</p:attrName>
                                        </p:attrNameLst>
                                      </p:cBhvr>
                                      <p:tavLst>
                                        <p:tav tm="0">
                                          <p:val>
                                            <p:strVal val="#ppt_h*0.7"/>
                                          </p:val>
                                        </p:tav>
                                        <p:tav tm="100000">
                                          <p:val>
                                            <p:strVal val="#ppt_h"/>
                                          </p:val>
                                        </p:tav>
                                      </p:tavLst>
                                    </p:anim>
                                    <p:animEffect transition="in" filter="fade">
                                      <p:cBhvr>
                                        <p:cTn id="37" dur="700"/>
                                        <p:tgtEl>
                                          <p:spTgt spid="9"/>
                                        </p:tgtEl>
                                      </p:cBhvr>
                                    </p:animEffect>
                                  </p:childTnLst>
                                </p:cTn>
                              </p:par>
                              <p:par>
                                <p:cTn id="38" presetID="53" presetClass="entr" presetSubtype="16" fill="hold" grpId="0" nodeType="withEffect">
                                  <p:stCondLst>
                                    <p:cond delay="659"/>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700" fill="hold"/>
                                        <p:tgtEl>
                                          <p:spTgt spid="10"/>
                                        </p:tgtEl>
                                        <p:attrNameLst>
                                          <p:attrName>ppt_w</p:attrName>
                                        </p:attrNameLst>
                                      </p:cBhvr>
                                      <p:tavLst>
                                        <p:tav tm="0">
                                          <p:val>
                                            <p:strVal val="#ppt_w*0.7"/>
                                          </p:val>
                                        </p:tav>
                                        <p:tav tm="100000">
                                          <p:val>
                                            <p:strVal val="#ppt_w"/>
                                          </p:val>
                                        </p:tav>
                                      </p:tavLst>
                                    </p:anim>
                                    <p:anim calcmode="lin" valueType="num">
                                      <p:cBhvr additive="base">
                                        <p:cTn id="41" dur="700" fill="hold"/>
                                        <p:tgtEl>
                                          <p:spTgt spid="10"/>
                                        </p:tgtEl>
                                        <p:attrNameLst>
                                          <p:attrName>ppt_h</p:attrName>
                                        </p:attrNameLst>
                                      </p:cBhvr>
                                      <p:tavLst>
                                        <p:tav tm="0">
                                          <p:val>
                                            <p:strVal val="#ppt_h*0.7"/>
                                          </p:val>
                                        </p:tav>
                                        <p:tav tm="100000">
                                          <p:val>
                                            <p:strVal val="#ppt_h"/>
                                          </p:val>
                                        </p:tav>
                                      </p:tavLst>
                                    </p:anim>
                                    <p:animEffect transition="in" filter="fade">
                                      <p:cBhvr>
                                        <p:cTn id="42" dur="700"/>
                                        <p:tgtEl>
                                          <p:spTgt spid="10"/>
                                        </p:tgtEl>
                                      </p:cBhvr>
                                    </p:animEffect>
                                  </p:childTnLst>
                                </p:cTn>
                              </p:par>
                              <p:par>
                                <p:cTn id="43" presetID="53" presetClass="entr" presetSubtype="16" fill="hold" grpId="0" nodeType="withEffect">
                                  <p:stCondLst>
                                    <p:cond delay="839"/>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700" fill="hold"/>
                                        <p:tgtEl>
                                          <p:spTgt spid="13"/>
                                        </p:tgtEl>
                                        <p:attrNameLst>
                                          <p:attrName>ppt_w</p:attrName>
                                        </p:attrNameLst>
                                      </p:cBhvr>
                                      <p:tavLst>
                                        <p:tav tm="0">
                                          <p:val>
                                            <p:strVal val="#ppt_w*0.7"/>
                                          </p:val>
                                        </p:tav>
                                        <p:tav tm="100000">
                                          <p:val>
                                            <p:strVal val="#ppt_w"/>
                                          </p:val>
                                        </p:tav>
                                      </p:tavLst>
                                    </p:anim>
                                    <p:anim calcmode="lin" valueType="num">
                                      <p:cBhvr additive="base">
                                        <p:cTn id="46" dur="700" fill="hold"/>
                                        <p:tgtEl>
                                          <p:spTgt spid="13"/>
                                        </p:tgtEl>
                                        <p:attrNameLst>
                                          <p:attrName>ppt_h</p:attrName>
                                        </p:attrNameLst>
                                      </p:cBhvr>
                                      <p:tavLst>
                                        <p:tav tm="0">
                                          <p:val>
                                            <p:strVal val="#ppt_h*0.7"/>
                                          </p:val>
                                        </p:tav>
                                        <p:tav tm="100000">
                                          <p:val>
                                            <p:strVal val="#ppt_h"/>
                                          </p:val>
                                        </p:tav>
                                      </p:tavLst>
                                    </p:anim>
                                    <p:animEffect transition="in" filter="fade">
                                      <p:cBhvr>
                                        <p:cTn id="47" dur="700"/>
                                        <p:tgtEl>
                                          <p:spTgt spid="13"/>
                                        </p:tgtEl>
                                      </p:cBhvr>
                                    </p:animEffect>
                                  </p:childTnLst>
                                </p:cTn>
                              </p:par>
                              <p:par>
                                <p:cTn id="48" presetID="53" presetClass="entr" presetSubtype="16" fill="hold" grpId="0" nodeType="withEffect">
                                  <p:stCondLst>
                                    <p:cond delay="839"/>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700" fill="hold"/>
                                        <p:tgtEl>
                                          <p:spTgt spid="14"/>
                                        </p:tgtEl>
                                        <p:attrNameLst>
                                          <p:attrName>ppt_w</p:attrName>
                                        </p:attrNameLst>
                                      </p:cBhvr>
                                      <p:tavLst>
                                        <p:tav tm="0">
                                          <p:val>
                                            <p:strVal val="#ppt_w*0.7"/>
                                          </p:val>
                                        </p:tav>
                                        <p:tav tm="100000">
                                          <p:val>
                                            <p:strVal val="#ppt_w"/>
                                          </p:val>
                                        </p:tav>
                                      </p:tavLst>
                                    </p:anim>
                                    <p:anim calcmode="lin" valueType="num">
                                      <p:cBhvr additive="base">
                                        <p:cTn id="51" dur="700" fill="hold"/>
                                        <p:tgtEl>
                                          <p:spTgt spid="14"/>
                                        </p:tgtEl>
                                        <p:attrNameLst>
                                          <p:attrName>ppt_h</p:attrName>
                                        </p:attrNameLst>
                                      </p:cBhvr>
                                      <p:tavLst>
                                        <p:tav tm="0">
                                          <p:val>
                                            <p:strVal val="#ppt_h*0.7"/>
                                          </p:val>
                                        </p:tav>
                                        <p:tav tm="100000">
                                          <p:val>
                                            <p:strVal val="#ppt_h"/>
                                          </p:val>
                                        </p:tav>
                                      </p:tavLst>
                                    </p:anim>
                                    <p:animEffect transition="in" filter="fade">
                                      <p:cBhvr>
                                        <p:cTn id="52" dur="700"/>
                                        <p:tgtEl>
                                          <p:spTgt spid="14"/>
                                        </p:tgtEl>
                                      </p:cBhvr>
                                    </p:animEffect>
                                  </p:childTnLst>
                                </p:cTn>
                              </p:par>
                              <p:par>
                                <p:cTn id="53" presetID="10" presetClass="entr" presetSubtype="0" fill="hold" grpId="0" nodeType="withEffect">
                                  <p:stCondLst>
                                    <p:cond delay="9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700"/>
                                        <p:tgtEl>
                                          <p:spTgt spid="19"/>
                                        </p:tgtEl>
                                      </p:cBhvr>
                                    </p:animEffect>
                                  </p:childTnLst>
                                </p:cTn>
                              </p:par>
                              <p:par>
                                <p:cTn id="56" presetID="53" presetClass="entr" presetSubtype="16" fill="hold" grpId="0" nodeType="withEffect">
                                  <p:stCondLst>
                                    <p:cond delay="1019"/>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700" fill="hold"/>
                                        <p:tgtEl>
                                          <p:spTgt spid="15"/>
                                        </p:tgtEl>
                                        <p:attrNameLst>
                                          <p:attrName>ppt_w</p:attrName>
                                        </p:attrNameLst>
                                      </p:cBhvr>
                                      <p:tavLst>
                                        <p:tav tm="0">
                                          <p:val>
                                            <p:strVal val="#ppt_w*0.7"/>
                                          </p:val>
                                        </p:tav>
                                        <p:tav tm="100000">
                                          <p:val>
                                            <p:strVal val="#ppt_w"/>
                                          </p:val>
                                        </p:tav>
                                      </p:tavLst>
                                    </p:anim>
                                    <p:anim calcmode="lin" valueType="num">
                                      <p:cBhvr additive="base">
                                        <p:cTn id="59" dur="700" fill="hold"/>
                                        <p:tgtEl>
                                          <p:spTgt spid="15"/>
                                        </p:tgtEl>
                                        <p:attrNameLst>
                                          <p:attrName>ppt_h</p:attrName>
                                        </p:attrNameLst>
                                      </p:cBhvr>
                                      <p:tavLst>
                                        <p:tav tm="0">
                                          <p:val>
                                            <p:strVal val="#ppt_h*0.7"/>
                                          </p:val>
                                        </p:tav>
                                        <p:tav tm="100000">
                                          <p:val>
                                            <p:strVal val="#ppt_h"/>
                                          </p:val>
                                        </p:tav>
                                      </p:tavLst>
                                    </p:anim>
                                    <p:animEffect transition="in" filter="fade">
                                      <p:cBhvr>
                                        <p:cTn id="60" dur="700"/>
                                        <p:tgtEl>
                                          <p:spTgt spid="15"/>
                                        </p:tgtEl>
                                      </p:cBhvr>
                                    </p:animEffect>
                                  </p:childTnLst>
                                </p:cTn>
                              </p:par>
                              <p:par>
                                <p:cTn id="61" presetID="53" presetClass="entr" presetSubtype="16" fill="hold" grpId="0" nodeType="withEffect">
                                  <p:stCondLst>
                                    <p:cond delay="1019"/>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700" fill="hold"/>
                                        <p:tgtEl>
                                          <p:spTgt spid="16"/>
                                        </p:tgtEl>
                                        <p:attrNameLst>
                                          <p:attrName>ppt_w</p:attrName>
                                        </p:attrNameLst>
                                      </p:cBhvr>
                                      <p:tavLst>
                                        <p:tav tm="0">
                                          <p:val>
                                            <p:strVal val="#ppt_w*0.7"/>
                                          </p:val>
                                        </p:tav>
                                        <p:tav tm="100000">
                                          <p:val>
                                            <p:strVal val="#ppt_w"/>
                                          </p:val>
                                        </p:tav>
                                      </p:tavLst>
                                    </p:anim>
                                    <p:anim calcmode="lin" valueType="num">
                                      <p:cBhvr additive="base">
                                        <p:cTn id="64" dur="700" fill="hold"/>
                                        <p:tgtEl>
                                          <p:spTgt spid="16"/>
                                        </p:tgtEl>
                                        <p:attrNameLst>
                                          <p:attrName>ppt_h</p:attrName>
                                        </p:attrNameLst>
                                      </p:cBhvr>
                                      <p:tavLst>
                                        <p:tav tm="0">
                                          <p:val>
                                            <p:strVal val="#ppt_h*0.7"/>
                                          </p:val>
                                        </p:tav>
                                        <p:tav tm="100000">
                                          <p:val>
                                            <p:strVal val="#ppt_h"/>
                                          </p:val>
                                        </p:tav>
                                      </p:tavLst>
                                    </p:anim>
                                    <p:animEffect transition="in" filter="fade">
                                      <p:cBhvr>
                                        <p:cTn id="65" dur="700"/>
                                        <p:tgtEl>
                                          <p:spTgt spid="16"/>
                                        </p:tgtEl>
                                      </p:cBhvr>
                                    </p:animEffect>
                                  </p:childTnLst>
                                </p:cTn>
                              </p:par>
                              <p:par>
                                <p:cTn id="66" presetID="10" presetClass="entr" presetSubtype="0" fill="hold" grpId="0" nodeType="withEffect">
                                  <p:stCondLst>
                                    <p:cond delay="1100"/>
                                  </p:stCondLst>
                                  <p:childTnLst>
                                    <p:set>
                                      <p:cBhvr>
                                        <p:cTn id="67" dur="1" fill="hold">
                                          <p:stCondLst>
                                            <p:cond delay="0"/>
                                          </p:stCondLst>
                                        </p:cTn>
                                        <p:tgtEl>
                                          <p:spTgt spid="3"/>
                                        </p:tgtEl>
                                        <p:attrNameLst>
                                          <p:attrName>style.visibility</p:attrName>
                                        </p:attrNameLst>
                                      </p:cBhvr>
                                      <p:to>
                                        <p:strVal val="visible"/>
                                      </p:to>
                                    </p:set>
                                    <p:animEffect transition="in" filter="fade">
                                      <p:cBhvr>
                                        <p:cTn id="68" dur="500"/>
                                        <p:tgtEl>
                                          <p:spTgt spid="3"/>
                                        </p:tgtEl>
                                      </p:cBhvr>
                                    </p:animEffect>
                                  </p:childTnLst>
                                </p:cTn>
                              </p:par>
                              <p:par>
                                <p:cTn id="69" presetID="10" presetClass="entr" presetSubtype="0" fill="hold" grpId="0" nodeType="withEffect">
                                  <p:stCondLst>
                                    <p:cond delay="1180"/>
                                  </p:stCondLst>
                                  <p:childTnLst>
                                    <p:set>
                                      <p:cBhvr>
                                        <p:cTn id="70" dur="1" fill="hold">
                                          <p:stCondLst>
                                            <p:cond delay="0"/>
                                          </p:stCondLst>
                                        </p:cTn>
                                        <p:tgtEl>
                                          <p:spTgt spid="4"/>
                                        </p:tgtEl>
                                        <p:attrNameLst>
                                          <p:attrName>style.visibility</p:attrName>
                                        </p:attrNameLst>
                                      </p:cBhvr>
                                      <p:to>
                                        <p:strVal val="visible"/>
                                      </p:to>
                                    </p:set>
                                    <p:animEffect transition="in" filter="fade">
                                      <p:cBhvr>
                                        <p:cTn id="71" dur="500"/>
                                        <p:tgtEl>
                                          <p:spTgt spid="4"/>
                                        </p:tgtEl>
                                      </p:cBhvr>
                                    </p:animEffect>
                                  </p:childTnLst>
                                </p:cTn>
                              </p:par>
                              <p:par>
                                <p:cTn id="72" presetID="10" presetClass="entr" presetSubtype="0" fill="hold" grpId="0" nodeType="withEffect">
                                  <p:stCondLst>
                                    <p:cond delay="120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600"/>
                                        <p:tgtEl>
                                          <p:spTgt spid="20"/>
                                        </p:tgtEl>
                                      </p:cBhvr>
                                    </p:animEffect>
                                  </p:childTnLst>
                                </p:cTn>
                              </p:par>
                              <p:par>
                                <p:cTn id="75" presetID="10" presetClass="entr" presetSubtype="0" fill="hold" grpId="0" nodeType="withEffect">
                                  <p:stCondLst>
                                    <p:cond delay="1260"/>
                                  </p:stCondLst>
                                  <p:childTnLst>
                                    <p:set>
                                      <p:cBhvr>
                                        <p:cTn id="76" dur="1" fill="hold">
                                          <p:stCondLst>
                                            <p:cond delay="0"/>
                                          </p:stCondLst>
                                        </p:cTn>
                                        <p:tgtEl>
                                          <p:spTgt spid="5"/>
                                        </p:tgtEl>
                                        <p:attrNameLst>
                                          <p:attrName>style.visibility</p:attrName>
                                        </p:attrNameLst>
                                      </p:cBhvr>
                                      <p:to>
                                        <p:strVal val="visible"/>
                                      </p:to>
                                    </p:set>
                                    <p:animEffect transition="in" filter="fade">
                                      <p:cBhvr>
                                        <p:cTn id="77" dur="500"/>
                                        <p:tgtEl>
                                          <p:spTgt spid="5"/>
                                        </p:tgtEl>
                                      </p:cBhvr>
                                    </p:animEffect>
                                  </p:childTnLst>
                                </p:cTn>
                              </p:par>
                              <p:par>
                                <p:cTn id="78" presetID="10" presetClass="entr" presetSubtype="0" fill="hold" grpId="0" nodeType="withEffect">
                                  <p:stCondLst>
                                    <p:cond delay="130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600"/>
                                        <p:tgtEl>
                                          <p:spTgt spid="21"/>
                                        </p:tgtEl>
                                      </p:cBhvr>
                                    </p:animEffect>
                                  </p:childTnLst>
                                </p:cTn>
                              </p:par>
                              <p:par>
                                <p:cTn id="81" presetID="10" presetClass="entr" presetSubtype="0" fill="hold" grpId="0" nodeType="withEffect">
                                  <p:stCondLst>
                                    <p:cond delay="1340"/>
                                  </p:stCondLst>
                                  <p:childTnLst>
                                    <p:set>
                                      <p:cBhvr>
                                        <p:cTn id="82" dur="1" fill="hold">
                                          <p:stCondLst>
                                            <p:cond delay="0"/>
                                          </p:stCondLst>
                                        </p:cTn>
                                        <p:tgtEl>
                                          <p:spTgt spid="6"/>
                                        </p:tgtEl>
                                        <p:attrNameLst>
                                          <p:attrName>style.visibility</p:attrName>
                                        </p:attrNameLst>
                                      </p:cBhvr>
                                      <p:to>
                                        <p:strVal val="visible"/>
                                      </p:to>
                                    </p:set>
                                    <p:animEffect transition="in" filter="fade">
                                      <p:cBhvr>
                                        <p:cTn id="8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1"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right.jpg"/>
          <p:cNvPicPr>
            <a:picLocks noChangeAspect="1"/>
          </p:cNvPicPr>
          <p:nvPr/>
        </p:nvPicPr>
        <p:blipFill>
          <a:blip r:embed="rId2"/>
          <a:srcRect l="1" r="1"/>
          <a:stretch>
            <a:fillRect/>
          </a:stretch>
        </p:blipFill>
        <p:spPr>
          <a:xfrm>
            <a:off x="0" y="0"/>
            <a:ext cx="12191695" cy="6858000"/>
          </a:xfrm>
          <a:prstGeom prst="rect">
            <a:avLst/>
          </a:prstGeom>
        </p:spPr>
      </p:pic>
      <p:pic>
        <p:nvPicPr>
          <p:cNvPr id="3" name="!!research" descr="research.png"/>
          <p:cNvPicPr>
            <a:picLocks noChangeAspect="1"/>
          </p:cNvPicPr>
          <p:nvPr/>
        </p:nvPicPr>
        <p:blipFill>
          <a:blip r:embed="rId3"/>
          <a:srcRect/>
          <a:stretch>
            <a:fillRect/>
          </a:stretch>
        </p:blipFill>
        <p:spPr>
          <a:xfrm>
            <a:off x="-3383280" y="2714240"/>
            <a:ext cx="2377440" cy="2207623"/>
          </a:xfrm>
          <a:prstGeom prst="rect">
            <a:avLst/>
          </a:prstGeom>
        </p:spPr>
      </p:pic>
      <p:pic>
        <p:nvPicPr>
          <p:cNvPr id="4" name="!!training" descr="training.png"/>
          <p:cNvPicPr>
            <a:picLocks noChangeAspect="1"/>
          </p:cNvPicPr>
          <p:nvPr/>
        </p:nvPicPr>
        <p:blipFill>
          <a:blip r:embed="rId4"/>
          <a:srcRect/>
          <a:stretch>
            <a:fillRect/>
          </a:stretch>
        </p:blipFill>
        <p:spPr>
          <a:xfrm>
            <a:off x="2468789" y="-3686560"/>
            <a:ext cx="2377440" cy="2207623"/>
          </a:xfrm>
          <a:prstGeom prst="rect">
            <a:avLst/>
          </a:prstGeom>
        </p:spPr>
      </p:pic>
      <p:pic>
        <p:nvPicPr>
          <p:cNvPr id="5" name="!!trace" descr="trace.png"/>
          <p:cNvPicPr>
            <a:picLocks noChangeAspect="1"/>
          </p:cNvPicPr>
          <p:nvPr/>
        </p:nvPicPr>
        <p:blipFill>
          <a:blip r:embed="rId5"/>
          <a:srcRect/>
          <a:stretch>
            <a:fillRect/>
          </a:stretch>
        </p:blipFill>
        <p:spPr>
          <a:xfrm>
            <a:off x="13197535" y="2714240"/>
            <a:ext cx="2377440" cy="2207623"/>
          </a:xfrm>
          <a:prstGeom prst="rect">
            <a:avLst/>
          </a:prstGeom>
        </p:spPr>
      </p:pic>
      <p:pic>
        <p:nvPicPr>
          <p:cNvPr id="6" name="!!iot" descr="iot.png"/>
          <p:cNvPicPr>
            <a:picLocks noChangeAspect="1"/>
          </p:cNvPicPr>
          <p:nvPr/>
        </p:nvPicPr>
        <p:blipFill>
          <a:blip r:embed="rId6"/>
          <a:srcRect/>
          <a:stretch>
            <a:fillRect/>
          </a:stretch>
        </p:blipFill>
        <p:spPr>
          <a:xfrm>
            <a:off x="7345467" y="7926320"/>
            <a:ext cx="2377440" cy="2207623"/>
          </a:xfrm>
          <a:prstGeom prst="rect">
            <a:avLst/>
          </a:prstGeom>
        </p:spPr>
      </p:pic>
      <p:pic>
        <p:nvPicPr>
          <p:cNvPr id="7" name="!!glow_core" descr="glow_7FC211_30_1.7.png"/>
          <p:cNvPicPr>
            <a:picLocks noChangeAspect="1"/>
          </p:cNvPicPr>
          <p:nvPr/>
        </p:nvPicPr>
        <p:blipFill>
          <a:blip r:embed="rId7"/>
          <a:stretch>
            <a:fillRect/>
          </a:stretch>
        </p:blipFill>
        <p:spPr>
          <a:xfrm>
            <a:off x="6933438" y="1979219"/>
            <a:ext cx="4512564" cy="4512564"/>
          </a:xfrm>
          <a:prstGeom prst="rect">
            <a:avLst/>
          </a:prstGeom>
        </p:spPr>
      </p:pic>
      <p:pic>
        <p:nvPicPr>
          <p:cNvPr id="8" name="!!core" descr="core.png"/>
          <p:cNvPicPr>
            <a:picLocks noChangeAspect="1"/>
          </p:cNvPicPr>
          <p:nvPr/>
        </p:nvPicPr>
        <p:blipFill>
          <a:blip r:embed="rId8"/>
          <a:srcRect/>
          <a:stretch>
            <a:fillRect/>
          </a:stretch>
        </p:blipFill>
        <p:spPr>
          <a:xfrm>
            <a:off x="7040880" y="1611153"/>
            <a:ext cx="4297680" cy="3990703"/>
          </a:xfrm>
          <a:prstGeom prst="rect">
            <a:avLst/>
          </a:prstGeom>
        </p:spPr>
      </p:pic>
      <p:pic>
        <p:nvPicPr>
          <p:cNvPr id="9" name="!!logo" descr="logo_stp.png"/>
          <p:cNvPicPr>
            <a:picLocks noChangeAspect="1"/>
          </p:cNvPicPr>
          <p:nvPr/>
        </p:nvPicPr>
        <p:blipFill>
          <a:blip r:embed="rId9"/>
          <a:stretch>
            <a:fillRect/>
          </a:stretch>
        </p:blipFill>
        <p:spPr>
          <a:xfrm>
            <a:off x="10024567" y="384048"/>
            <a:ext cx="420624" cy="420624"/>
          </a:xfrm>
          <a:prstGeom prst="rect">
            <a:avLst/>
          </a:prstGeom>
        </p:spPr>
      </p:pic>
      <p:sp>
        <p:nvSpPr>
          <p:cNvPr id="10"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1" name="TextBox 10"/>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02</a:t>
            </a:r>
          </a:p>
        </p:txBody>
      </p:sp>
      <p:sp>
        <p:nvSpPr>
          <p:cNvPr id="12" name="!!kicker"/>
          <p:cNvSpPr txBox="1"/>
          <p:nvPr/>
        </p:nvSpPr>
        <p:spPr>
          <a:xfrm>
            <a:off x="685800" y="502920"/>
            <a:ext cx="612648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VỀ VIỆN STP</a:t>
            </a:r>
          </a:p>
        </p:txBody>
      </p:sp>
      <p:sp>
        <p:nvSpPr>
          <p:cNvPr id="13" name="!!title"/>
          <p:cNvSpPr txBox="1"/>
          <p:nvPr/>
        </p:nvSpPr>
        <p:spPr>
          <a:xfrm>
            <a:off x="685800" y="850392"/>
            <a:ext cx="6126480" cy="926592"/>
          </a:xfrm>
          <a:prstGeom prst="rect">
            <a:avLst/>
          </a:prstGeom>
          <a:noFill/>
        </p:spPr>
        <p:txBody>
          <a:bodyPr wrap="square" lIns="0" rIns="0" tIns="0" bIns="0" anchor="t">
            <a:noAutofit/>
          </a:bodyPr>
          <a:lstStyle/>
          <a:p>
            <a:pPr algn="l">
              <a:lnSpc>
                <a:spcPct val="100000"/>
              </a:lnSpc>
              <a:spcAft>
                <a:spcPts val="0"/>
              </a:spcAft>
            </a:pPr>
            <a:r>
              <a:rPr sz="3000" b="0" i="0">
                <a:solidFill>
                  <a:srgbClr val="FFFFFF"/>
                </a:solidFill>
                <a:latin typeface="Be Vietnam Pro ExtraBold"/>
                <a:ea typeface="Be Vietnam Pro ExtraBold"/>
                <a:cs typeface="Be Vietnam Pro ExtraBold"/>
              </a:rPr>
              <a:t>Cầu nối tri thức giữa </a:t>
            </a:r>
            <a:r>
              <a:rPr sz="3000" b="0" i="0">
                <a:solidFill>
                  <a:srgbClr val="8FD11E"/>
                </a:solidFill>
                <a:latin typeface="Be Vietnam Pro ExtraBold"/>
                <a:ea typeface="Be Vietnam Pro ExtraBold"/>
                <a:cs typeface="Be Vietnam Pro ExtraBold"/>
              </a:rPr>
              <a:t>Nhà nước, doanh nghiệp và cộng đồng</a:t>
            </a:r>
          </a:p>
        </p:txBody>
      </p:sp>
      <p:sp>
        <p:nvSpPr>
          <p:cNvPr id="14" name="!!lead"/>
          <p:cNvSpPr txBox="1"/>
          <p:nvPr/>
        </p:nvSpPr>
        <p:spPr>
          <a:xfrm>
            <a:off x="685800" y="1868424"/>
            <a:ext cx="5852160" cy="838200"/>
          </a:xfrm>
          <a:prstGeom prst="rect">
            <a:avLst/>
          </a:prstGeom>
          <a:noFill/>
        </p:spPr>
        <p:txBody>
          <a:bodyPr wrap="square" lIns="0" rIns="0" tIns="0" bIns="0" anchor="t">
            <a:noAutofit/>
          </a:bodyPr>
          <a:lstStyle/>
          <a:p>
            <a:pPr algn="l">
              <a:lnSpc>
                <a:spcPct val="118000"/>
              </a:lnSpc>
              <a:spcAft>
                <a:spcPts val="0"/>
              </a:spcAft>
            </a:pPr>
            <a:r>
              <a:rPr sz="1600" b="0" i="0">
                <a:solidFill>
                  <a:srgbClr val="C9D8CE"/>
                </a:solidFill>
                <a:latin typeface="Be Vietnam Pro Light"/>
                <a:ea typeface="Be Vietnam Pro Light"/>
                <a:cs typeface="Be Vietnam Pro Light"/>
              </a:rPr>
              <a:t>Viện STP kết nối nguồn lực khoa học – giáo dục – công nghệ để biến tri thức thành giá trị thiết thực, đo đếm được cho từng địa phương, từng doanh nghiệp.</a:t>
            </a:r>
          </a:p>
        </p:txBody>
      </p:sp>
      <p:sp>
        <p:nvSpPr>
          <p:cNvPr id="15" name="Rounded Rectangle 14"/>
          <p:cNvSpPr/>
          <p:nvPr/>
        </p:nvSpPr>
        <p:spPr>
          <a:xfrm>
            <a:off x="685800" y="3575304"/>
            <a:ext cx="6035040" cy="749808"/>
          </a:xfrm>
          <a:prstGeom prst="roundRect">
            <a:avLst>
              <a:gd name="adj" fmla="val 19512"/>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6" name="Oval 15"/>
          <p:cNvSpPr/>
          <p:nvPr/>
        </p:nvSpPr>
        <p:spPr>
          <a:xfrm>
            <a:off x="877824" y="3703320"/>
            <a:ext cx="493776" cy="493776"/>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landmark_8FD11E.png"/>
          <p:cNvPicPr>
            <a:picLocks noChangeAspect="1"/>
          </p:cNvPicPr>
          <p:nvPr/>
        </p:nvPicPr>
        <p:blipFill>
          <a:blip r:embed="rId10"/>
          <a:stretch>
            <a:fillRect/>
          </a:stretch>
        </p:blipFill>
        <p:spPr>
          <a:xfrm>
            <a:off x="986455" y="3811951"/>
            <a:ext cx="276515" cy="276515"/>
          </a:xfrm>
          <a:prstGeom prst="rect">
            <a:avLst/>
          </a:prstGeom>
        </p:spPr>
      </p:pic>
      <p:sp>
        <p:nvSpPr>
          <p:cNvPr id="18" name="TextBox 17"/>
          <p:cNvSpPr txBox="1"/>
          <p:nvPr/>
        </p:nvSpPr>
        <p:spPr>
          <a:xfrm>
            <a:off x="1554480" y="3639312"/>
            <a:ext cx="5029200" cy="347472"/>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Trực thuộc VUSTA</a:t>
            </a:r>
          </a:p>
        </p:txBody>
      </p:sp>
      <p:sp>
        <p:nvSpPr>
          <p:cNvPr id="19" name="TextBox 18"/>
          <p:cNvSpPr txBox="1"/>
          <p:nvPr/>
        </p:nvSpPr>
        <p:spPr>
          <a:xfrm>
            <a:off x="1554480" y="3968496"/>
            <a:ext cx="5029200" cy="310896"/>
          </a:xfrm>
          <a:prstGeom prst="rect">
            <a:avLst/>
          </a:prstGeom>
          <a:noFill/>
        </p:spPr>
        <p:txBody>
          <a:bodyPr wrap="none" lIns="0" rIns="0" tIns="0" bIns="0" anchor="ctr">
            <a:noAutofit/>
          </a:bodyPr>
          <a:lstStyle/>
          <a:p>
            <a:pPr algn="l">
              <a:lnSpc>
                <a:spcPct val="115000"/>
              </a:lnSpc>
              <a:spcAft>
                <a:spcPts val="0"/>
              </a:spcAft>
            </a:pPr>
            <a:r>
              <a:rPr sz="1200" b="0" i="0">
                <a:solidFill>
                  <a:srgbClr val="C9D8CE"/>
                </a:solidFill>
                <a:latin typeface="Be Vietnam Pro"/>
                <a:ea typeface="Be Vietnam Pro"/>
                <a:cs typeface="Be Vietnam Pro"/>
              </a:rPr>
              <a:t>Liên hiệp các Hội Khoa học và Kỹ thuật Việt Nam</a:t>
            </a:r>
          </a:p>
        </p:txBody>
      </p:sp>
      <p:sp>
        <p:nvSpPr>
          <p:cNvPr id="20" name="Rounded Rectangle 19"/>
          <p:cNvSpPr/>
          <p:nvPr/>
        </p:nvSpPr>
        <p:spPr>
          <a:xfrm>
            <a:off x="685800" y="4471416"/>
            <a:ext cx="6035040" cy="749808"/>
          </a:xfrm>
          <a:prstGeom prst="roundRect">
            <a:avLst>
              <a:gd name="adj" fmla="val 19512"/>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Oval 20"/>
          <p:cNvSpPr/>
          <p:nvPr/>
        </p:nvSpPr>
        <p:spPr>
          <a:xfrm>
            <a:off x="877824" y="4599432"/>
            <a:ext cx="493776" cy="493776"/>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file-check_8FD11E.png"/>
          <p:cNvPicPr>
            <a:picLocks noChangeAspect="1"/>
          </p:cNvPicPr>
          <p:nvPr/>
        </p:nvPicPr>
        <p:blipFill>
          <a:blip r:embed="rId11"/>
          <a:stretch>
            <a:fillRect/>
          </a:stretch>
        </p:blipFill>
        <p:spPr>
          <a:xfrm>
            <a:off x="986455" y="4708063"/>
            <a:ext cx="276515" cy="276515"/>
          </a:xfrm>
          <a:prstGeom prst="rect">
            <a:avLst/>
          </a:prstGeom>
        </p:spPr>
      </p:pic>
      <p:sp>
        <p:nvSpPr>
          <p:cNvPr id="23" name="TextBox 22"/>
          <p:cNvSpPr txBox="1"/>
          <p:nvPr/>
        </p:nvSpPr>
        <p:spPr>
          <a:xfrm>
            <a:off x="1554480" y="4535424"/>
            <a:ext cx="5029200" cy="347472"/>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Pháp lý vững chắc</a:t>
            </a:r>
          </a:p>
        </p:txBody>
      </p:sp>
      <p:sp>
        <p:nvSpPr>
          <p:cNvPr id="24" name="TextBox 23"/>
          <p:cNvSpPr txBox="1"/>
          <p:nvPr/>
        </p:nvSpPr>
        <p:spPr>
          <a:xfrm>
            <a:off x="1554480" y="4864608"/>
            <a:ext cx="5029200" cy="310896"/>
          </a:xfrm>
          <a:prstGeom prst="rect">
            <a:avLst/>
          </a:prstGeom>
          <a:noFill/>
        </p:spPr>
        <p:txBody>
          <a:bodyPr wrap="none" lIns="0" rIns="0" tIns="0" bIns="0" anchor="ctr">
            <a:noAutofit/>
          </a:bodyPr>
          <a:lstStyle/>
          <a:p>
            <a:pPr algn="l">
              <a:lnSpc>
                <a:spcPct val="115000"/>
              </a:lnSpc>
              <a:spcAft>
                <a:spcPts val="0"/>
              </a:spcAft>
            </a:pPr>
            <a:r>
              <a:rPr sz="1200" b="0" i="0">
                <a:solidFill>
                  <a:srgbClr val="C9D8CE"/>
                </a:solidFill>
                <a:latin typeface="Be Vietnam Pro"/>
                <a:ea typeface="Be Vietnam Pro"/>
                <a:cs typeface="Be Vietnam Pro"/>
              </a:rPr>
              <a:t>Giấy chứng nhận hoạt động KH&amp;CN số 234/QĐ-LHHVN (2020)</a:t>
            </a:r>
          </a:p>
        </p:txBody>
      </p:sp>
      <p:sp>
        <p:nvSpPr>
          <p:cNvPr id="25" name="Rounded Rectangle 24"/>
          <p:cNvSpPr/>
          <p:nvPr/>
        </p:nvSpPr>
        <p:spPr>
          <a:xfrm>
            <a:off x="685800" y="5367528"/>
            <a:ext cx="6035040" cy="749808"/>
          </a:xfrm>
          <a:prstGeom prst="roundRect">
            <a:avLst>
              <a:gd name="adj" fmla="val 19512"/>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6" name="Oval 25"/>
          <p:cNvSpPr/>
          <p:nvPr/>
        </p:nvSpPr>
        <p:spPr>
          <a:xfrm>
            <a:off x="877824" y="5495544"/>
            <a:ext cx="493776" cy="493776"/>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map-pin_8FD11E.png"/>
          <p:cNvPicPr>
            <a:picLocks noChangeAspect="1"/>
          </p:cNvPicPr>
          <p:nvPr/>
        </p:nvPicPr>
        <p:blipFill>
          <a:blip r:embed="rId12"/>
          <a:stretch>
            <a:fillRect/>
          </a:stretch>
        </p:blipFill>
        <p:spPr>
          <a:xfrm>
            <a:off x="986455" y="5604175"/>
            <a:ext cx="276515" cy="276515"/>
          </a:xfrm>
          <a:prstGeom prst="rect">
            <a:avLst/>
          </a:prstGeom>
        </p:spPr>
      </p:pic>
      <p:sp>
        <p:nvSpPr>
          <p:cNvPr id="28" name="TextBox 27"/>
          <p:cNvSpPr txBox="1"/>
          <p:nvPr/>
        </p:nvSpPr>
        <p:spPr>
          <a:xfrm>
            <a:off x="1554480" y="5431536"/>
            <a:ext cx="5029200" cy="347472"/>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Hiện diện toàn quốc</a:t>
            </a:r>
          </a:p>
        </p:txBody>
      </p:sp>
      <p:sp>
        <p:nvSpPr>
          <p:cNvPr id="29" name="TextBox 28"/>
          <p:cNvSpPr txBox="1"/>
          <p:nvPr/>
        </p:nvSpPr>
        <p:spPr>
          <a:xfrm>
            <a:off x="1554480" y="5760720"/>
            <a:ext cx="5029200" cy="310896"/>
          </a:xfrm>
          <a:prstGeom prst="rect">
            <a:avLst/>
          </a:prstGeom>
          <a:noFill/>
        </p:spPr>
        <p:txBody>
          <a:bodyPr wrap="none" lIns="0" rIns="0" tIns="0" bIns="0" anchor="ctr">
            <a:noAutofit/>
          </a:bodyPr>
          <a:lstStyle/>
          <a:p>
            <a:pPr algn="l">
              <a:lnSpc>
                <a:spcPct val="115000"/>
              </a:lnSpc>
              <a:spcAft>
                <a:spcPts val="0"/>
              </a:spcAft>
            </a:pPr>
            <a:r>
              <a:rPr sz="1200" b="0" i="0">
                <a:solidFill>
                  <a:srgbClr val="C9D8CE"/>
                </a:solidFill>
                <a:latin typeface="Be Vietnam Pro"/>
                <a:ea typeface="Be Vietnam Pro"/>
                <a:cs typeface="Be Vietnam Pro"/>
              </a:rPr>
              <a:t>Hà Nội · Nha Trang · TP. Hồ Chí Minh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600"/>
                                        <p:tgtEl>
                                          <p:spTgt spid="12"/>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00"/>
                                        <p:tgtEl>
                                          <p:spTgt spid="13"/>
                                        </p:tgtEl>
                                      </p:cBhvr>
                                    </p:animEffect>
                                  </p:childTnLst>
                                </p:cTn>
                              </p:par>
                              <p:par>
                                <p:cTn id="20" presetID="10" presetClass="entr" presetSubtype="0" fill="hold" grpId="0" nodeType="withEffect">
                                  <p:stCondLst>
                                    <p:cond delay="4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600"/>
                                        <p:tgtEl>
                                          <p:spTgt spid="14"/>
                                        </p:tgtEl>
                                      </p:cBhvr>
                                    </p:animEffect>
                                  </p:childTnLst>
                                </p:cTn>
                              </p:par>
                              <p:par>
                                <p:cTn id="23" presetID="42" presetClass="entr" presetSubtype="0" fill="hold" grpId="0" nodeType="withEffect">
                                  <p:stCondLst>
                                    <p:cond delay="70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7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7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70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70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879"/>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879"/>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879"/>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879"/>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879"/>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1059"/>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1059"/>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1059"/>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6"/>
                                          </p:val>
                                        </p:tav>
                                        <p:tav tm="100000">
                                          <p:val>
                                            <p:strVal val="#ppt_y"/>
                                          </p:val>
                                        </p:tav>
                                      </p:tavLst>
                                    </p:anim>
                                  </p:childTnLst>
                                </p:cTn>
                              </p:par>
                              <p:par>
                                <p:cTn id="88" presetID="42" presetClass="entr" presetSubtype="0" fill="hold" grpId="0" nodeType="withEffect">
                                  <p:stCondLst>
                                    <p:cond delay="1059"/>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6"/>
                                          </p:val>
                                        </p:tav>
                                        <p:tav tm="100000">
                                          <p:val>
                                            <p:strVal val="#ppt_y"/>
                                          </p:val>
                                        </p:tav>
                                      </p:tavLst>
                                    </p:anim>
                                  </p:childTnLst>
                                </p:cTn>
                              </p:par>
                              <p:par>
                                <p:cTn id="93" presetID="42" presetClass="entr" presetSubtype="0" fill="hold" grpId="0" nodeType="withEffect">
                                  <p:stCondLst>
                                    <p:cond delay="1059"/>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center.jpg"/>
          <p:cNvPicPr>
            <a:picLocks noChangeAspect="1"/>
          </p:cNvPicPr>
          <p:nvPr/>
        </p:nvPicPr>
        <p:blipFill>
          <a:blip r:embed="rId2"/>
          <a:srcRect l="1" r="1"/>
          <a:stretch>
            <a:fillRect/>
          </a:stretch>
        </p:blipFill>
        <p:spPr>
          <a:xfrm>
            <a:off x="0" y="0"/>
            <a:ext cx="12191695" cy="6858000"/>
          </a:xfrm>
          <a:prstGeom prst="rect">
            <a:avLst/>
          </a:prstGeom>
        </p:spPr>
      </p:pic>
      <p:cxnSp>
        <p:nvCxnSpPr>
          <p:cNvPr id="3" name="!!link_core_research"/>
          <p:cNvCxnSpPr/>
          <p:nvPr/>
        </p:nvCxnSpPr>
        <p:spPr>
          <a:xfrm flipH="1">
            <a:off x="1816456" y="2240280"/>
            <a:ext cx="4279392" cy="1920240"/>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cxnSp>
        <p:nvCxnSpPr>
          <p:cNvPr id="4" name="!!link_core_training"/>
          <p:cNvCxnSpPr/>
          <p:nvPr/>
        </p:nvCxnSpPr>
        <p:spPr>
          <a:xfrm flipH="1">
            <a:off x="4669384" y="2240280"/>
            <a:ext cx="1426464" cy="1920240"/>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cxnSp>
        <p:nvCxnSpPr>
          <p:cNvPr id="5" name="!!link_core_trace"/>
          <p:cNvCxnSpPr/>
          <p:nvPr/>
        </p:nvCxnSpPr>
        <p:spPr>
          <a:xfrm>
            <a:off x="6095848" y="2240280"/>
            <a:ext cx="1426464" cy="1920240"/>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cxnSp>
        <p:nvCxnSpPr>
          <p:cNvPr id="6" name="!!link_core_iot"/>
          <p:cNvCxnSpPr/>
          <p:nvPr/>
        </p:nvCxnSpPr>
        <p:spPr>
          <a:xfrm>
            <a:off x="6095848" y="2240280"/>
            <a:ext cx="4279392" cy="1920240"/>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pic>
        <p:nvPicPr>
          <p:cNvPr id="7" name="!!glow_core" descr="glow_7FC211_30_1.7.png"/>
          <p:cNvPicPr>
            <a:picLocks noChangeAspect="1"/>
          </p:cNvPicPr>
          <p:nvPr/>
        </p:nvPicPr>
        <p:blipFill>
          <a:blip r:embed="rId3"/>
          <a:stretch>
            <a:fillRect/>
          </a:stretch>
        </p:blipFill>
        <p:spPr>
          <a:xfrm>
            <a:off x="4775683" y="1070991"/>
            <a:ext cx="2640330" cy="2640330"/>
          </a:xfrm>
          <a:prstGeom prst="rect">
            <a:avLst/>
          </a:prstGeom>
        </p:spPr>
      </p:pic>
      <p:pic>
        <p:nvPicPr>
          <p:cNvPr id="8" name="!!core" descr="core.png"/>
          <p:cNvPicPr>
            <a:picLocks noChangeAspect="1"/>
          </p:cNvPicPr>
          <p:nvPr/>
        </p:nvPicPr>
        <p:blipFill>
          <a:blip r:embed="rId4"/>
          <a:srcRect/>
          <a:stretch>
            <a:fillRect/>
          </a:stretch>
        </p:blipFill>
        <p:spPr>
          <a:xfrm>
            <a:off x="4838548" y="855633"/>
            <a:ext cx="2514600" cy="2334986"/>
          </a:xfrm>
          <a:prstGeom prst="rect">
            <a:avLst/>
          </a:prstGeom>
        </p:spPr>
      </p:pic>
      <p:pic>
        <p:nvPicPr>
          <p:cNvPr id="9" name="!!glow_research" descr="glow_7FC211_30_1.7.png"/>
          <p:cNvPicPr>
            <a:picLocks noChangeAspect="1"/>
          </p:cNvPicPr>
          <p:nvPr/>
        </p:nvPicPr>
        <p:blipFill>
          <a:blip r:embed="rId3"/>
          <a:stretch>
            <a:fillRect/>
          </a:stretch>
        </p:blipFill>
        <p:spPr>
          <a:xfrm>
            <a:off x="592303" y="3076270"/>
            <a:ext cx="2448306" cy="2448306"/>
          </a:xfrm>
          <a:prstGeom prst="rect">
            <a:avLst/>
          </a:prstGeom>
        </p:spPr>
      </p:pic>
      <p:pic>
        <p:nvPicPr>
          <p:cNvPr id="10" name="!!research" descr="research.png"/>
          <p:cNvPicPr>
            <a:picLocks noChangeAspect="1"/>
          </p:cNvPicPr>
          <p:nvPr/>
        </p:nvPicPr>
        <p:blipFill>
          <a:blip r:embed="rId5"/>
          <a:srcRect/>
          <a:stretch>
            <a:fillRect/>
          </a:stretch>
        </p:blipFill>
        <p:spPr>
          <a:xfrm>
            <a:off x="650596" y="2876575"/>
            <a:ext cx="2331720" cy="2165169"/>
          </a:xfrm>
          <a:prstGeom prst="rect">
            <a:avLst/>
          </a:prstGeom>
        </p:spPr>
      </p:pic>
      <p:pic>
        <p:nvPicPr>
          <p:cNvPr id="11" name="!!glow_training" descr="glow_7FC211_30_1.7.png"/>
          <p:cNvPicPr>
            <a:picLocks noChangeAspect="1"/>
          </p:cNvPicPr>
          <p:nvPr/>
        </p:nvPicPr>
        <p:blipFill>
          <a:blip r:embed="rId3"/>
          <a:stretch>
            <a:fillRect/>
          </a:stretch>
        </p:blipFill>
        <p:spPr>
          <a:xfrm>
            <a:off x="3445231" y="3076270"/>
            <a:ext cx="2448306" cy="2448306"/>
          </a:xfrm>
          <a:prstGeom prst="rect">
            <a:avLst/>
          </a:prstGeom>
        </p:spPr>
      </p:pic>
      <p:pic>
        <p:nvPicPr>
          <p:cNvPr id="12" name="!!training" descr="training.png"/>
          <p:cNvPicPr>
            <a:picLocks noChangeAspect="1"/>
          </p:cNvPicPr>
          <p:nvPr/>
        </p:nvPicPr>
        <p:blipFill>
          <a:blip r:embed="rId6"/>
          <a:srcRect/>
          <a:stretch>
            <a:fillRect/>
          </a:stretch>
        </p:blipFill>
        <p:spPr>
          <a:xfrm>
            <a:off x="3503524" y="2876575"/>
            <a:ext cx="2331720" cy="2165169"/>
          </a:xfrm>
          <a:prstGeom prst="rect">
            <a:avLst/>
          </a:prstGeom>
        </p:spPr>
      </p:pic>
      <p:pic>
        <p:nvPicPr>
          <p:cNvPr id="13" name="!!glow_trace" descr="glow_7FC211_30_1.7.png"/>
          <p:cNvPicPr>
            <a:picLocks noChangeAspect="1"/>
          </p:cNvPicPr>
          <p:nvPr/>
        </p:nvPicPr>
        <p:blipFill>
          <a:blip r:embed="rId3"/>
          <a:stretch>
            <a:fillRect/>
          </a:stretch>
        </p:blipFill>
        <p:spPr>
          <a:xfrm>
            <a:off x="6298159" y="3076270"/>
            <a:ext cx="2448306" cy="2448306"/>
          </a:xfrm>
          <a:prstGeom prst="rect">
            <a:avLst/>
          </a:prstGeom>
        </p:spPr>
      </p:pic>
      <p:pic>
        <p:nvPicPr>
          <p:cNvPr id="14" name="!!trace" descr="trace.png"/>
          <p:cNvPicPr>
            <a:picLocks noChangeAspect="1"/>
          </p:cNvPicPr>
          <p:nvPr/>
        </p:nvPicPr>
        <p:blipFill>
          <a:blip r:embed="rId7"/>
          <a:srcRect/>
          <a:stretch>
            <a:fillRect/>
          </a:stretch>
        </p:blipFill>
        <p:spPr>
          <a:xfrm>
            <a:off x="6356452" y="2876575"/>
            <a:ext cx="2331720" cy="2165169"/>
          </a:xfrm>
          <a:prstGeom prst="rect">
            <a:avLst/>
          </a:prstGeom>
        </p:spPr>
      </p:pic>
      <p:pic>
        <p:nvPicPr>
          <p:cNvPr id="15" name="!!glow_iot" descr="glow_7FC211_30_1.7.png"/>
          <p:cNvPicPr>
            <a:picLocks noChangeAspect="1"/>
          </p:cNvPicPr>
          <p:nvPr/>
        </p:nvPicPr>
        <p:blipFill>
          <a:blip r:embed="rId3"/>
          <a:stretch>
            <a:fillRect/>
          </a:stretch>
        </p:blipFill>
        <p:spPr>
          <a:xfrm>
            <a:off x="9151087" y="3076270"/>
            <a:ext cx="2448306" cy="2448306"/>
          </a:xfrm>
          <a:prstGeom prst="rect">
            <a:avLst/>
          </a:prstGeom>
        </p:spPr>
      </p:pic>
      <p:pic>
        <p:nvPicPr>
          <p:cNvPr id="16" name="!!iot" descr="iot.png"/>
          <p:cNvPicPr>
            <a:picLocks noChangeAspect="1"/>
          </p:cNvPicPr>
          <p:nvPr/>
        </p:nvPicPr>
        <p:blipFill>
          <a:blip r:embed="rId8"/>
          <a:srcRect/>
          <a:stretch>
            <a:fillRect/>
          </a:stretch>
        </p:blipFill>
        <p:spPr>
          <a:xfrm>
            <a:off x="9209380" y="2876575"/>
            <a:ext cx="2331720" cy="2165169"/>
          </a:xfrm>
          <a:prstGeom prst="rect">
            <a:avLst/>
          </a:prstGeom>
        </p:spPr>
      </p:pic>
      <p:sp>
        <p:nvSpPr>
          <p:cNvPr id="17" name="!!kicker"/>
          <p:cNvSpPr txBox="1"/>
          <p:nvPr/>
        </p:nvSpPr>
        <p:spPr>
          <a:xfrm>
            <a:off x="685800" y="502920"/>
            <a:ext cx="393192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HỆ SINH THÁI</a:t>
            </a:r>
          </a:p>
        </p:txBody>
      </p:sp>
      <p:sp>
        <p:nvSpPr>
          <p:cNvPr id="18" name="!!title"/>
          <p:cNvSpPr txBox="1"/>
          <p:nvPr/>
        </p:nvSpPr>
        <p:spPr>
          <a:xfrm>
            <a:off x="685800" y="850392"/>
            <a:ext cx="3931920" cy="983488"/>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Bốn trụ cột</a:t>
            </a:r>
          </a:p>
          <a:p>
            <a:pPr algn="l">
              <a:lnSpc>
                <a:spcPct val="100000"/>
              </a:lnSpc>
              <a:spcAft>
                <a:spcPts val="0"/>
              </a:spcAft>
            </a:pPr>
            <a:r>
              <a:rPr sz="3200" b="0" i="0">
                <a:solidFill>
                  <a:srgbClr val="8FD11E"/>
                </a:solidFill>
                <a:latin typeface="Be Vietnam Pro ExtraBold"/>
                <a:ea typeface="Be Vietnam Pro ExtraBold"/>
                <a:cs typeface="Be Vietnam Pro ExtraBold"/>
              </a:rPr>
              <a:t>một đầu mối</a:t>
            </a:r>
          </a:p>
        </p:txBody>
      </p:sp>
      <p:pic>
        <p:nvPicPr>
          <p:cNvPr id="19" name="!!logo" descr="logo_stp.png"/>
          <p:cNvPicPr>
            <a:picLocks noChangeAspect="1"/>
          </p:cNvPicPr>
          <p:nvPr/>
        </p:nvPicPr>
        <p:blipFill>
          <a:blip r:embed="rId9"/>
          <a:stretch>
            <a:fillRect/>
          </a:stretch>
        </p:blipFill>
        <p:spPr>
          <a:xfrm>
            <a:off x="10024567" y="384048"/>
            <a:ext cx="420624" cy="420624"/>
          </a:xfrm>
          <a:prstGeom prst="rect">
            <a:avLst/>
          </a:prstGeom>
        </p:spPr>
      </p:pic>
      <p:sp>
        <p:nvSpPr>
          <p:cNvPr id="20"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21" name="TextBox 20"/>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03</a:t>
            </a:r>
          </a:p>
        </p:txBody>
      </p:sp>
      <p:sp>
        <p:nvSpPr>
          <p:cNvPr id="22" name="TextBox 21"/>
          <p:cNvSpPr txBox="1"/>
          <p:nvPr/>
        </p:nvSpPr>
        <p:spPr>
          <a:xfrm>
            <a:off x="490576" y="5138928"/>
            <a:ext cx="2651760" cy="292608"/>
          </a:xfrm>
          <a:prstGeom prst="rect">
            <a:avLst/>
          </a:prstGeom>
          <a:noFill/>
        </p:spPr>
        <p:txBody>
          <a:bodyPr wrap="square" lIns="0" rIns="0" tIns="0" bIns="0" anchor="t">
            <a:noAutofit/>
          </a:bodyPr>
          <a:lstStyle/>
          <a:p>
            <a:pPr algn="ctr">
              <a:lnSpc>
                <a:spcPct val="115000"/>
              </a:lnSpc>
              <a:spcAft>
                <a:spcPts val="0"/>
              </a:spcAft>
            </a:pPr>
            <a:r>
              <a:rPr sz="1300" b="0" i="0">
                <a:solidFill>
                  <a:srgbClr val="8FD11E"/>
                </a:solidFill>
                <a:latin typeface="Be Vietnam Pro ExtraBold"/>
                <a:ea typeface="Be Vietnam Pro ExtraBold"/>
                <a:cs typeface="Be Vietnam Pro ExtraBold"/>
              </a:rPr>
              <a:t>01</a:t>
            </a:r>
          </a:p>
        </p:txBody>
      </p:sp>
      <p:sp>
        <p:nvSpPr>
          <p:cNvPr id="23" name="TextBox 22"/>
          <p:cNvSpPr txBox="1"/>
          <p:nvPr/>
        </p:nvSpPr>
        <p:spPr>
          <a:xfrm>
            <a:off x="490576" y="5413248"/>
            <a:ext cx="2651760" cy="384048"/>
          </a:xfrm>
          <a:prstGeom prst="rect">
            <a:avLst/>
          </a:prstGeom>
          <a:noFill/>
        </p:spPr>
        <p:txBody>
          <a:bodyPr wrap="square" lIns="0" rIns="0" tIns="0" bIns="0" anchor="ctr">
            <a:noAutofit/>
          </a:bodyPr>
          <a:lstStyle/>
          <a:p>
            <a:pPr algn="ctr">
              <a:lnSpc>
                <a:spcPct val="115000"/>
              </a:lnSpc>
              <a:spcAft>
                <a:spcPts val="0"/>
              </a:spcAft>
            </a:pPr>
            <a:r>
              <a:rPr sz="1600" b="0" i="0">
                <a:solidFill>
                  <a:srgbClr val="FFFFFF"/>
                </a:solidFill>
                <a:latin typeface="Be Vietnam Pro SemiBold"/>
                <a:ea typeface="Be Vietnam Pro SemiBold"/>
                <a:cs typeface="Be Vietnam Pro SemiBold"/>
              </a:rPr>
              <a:t>Nghiên cứu &amp; chuyển giao</a:t>
            </a:r>
          </a:p>
        </p:txBody>
      </p:sp>
      <p:sp>
        <p:nvSpPr>
          <p:cNvPr id="24" name="TextBox 23"/>
          <p:cNvSpPr txBox="1"/>
          <p:nvPr/>
        </p:nvSpPr>
        <p:spPr>
          <a:xfrm>
            <a:off x="490576" y="5797296"/>
            <a:ext cx="2651760" cy="685800"/>
          </a:xfrm>
          <a:prstGeom prst="rect">
            <a:avLst/>
          </a:prstGeom>
          <a:noFill/>
        </p:spPr>
        <p:txBody>
          <a:bodyPr wrap="square" lIns="0" rIns="0" tIns="0" bIns="0" anchor="t">
            <a:noAutofit/>
          </a:bodyPr>
          <a:lstStyle/>
          <a:p>
            <a:pPr algn="ctr">
              <a:lnSpc>
                <a:spcPct val="112000"/>
              </a:lnSpc>
              <a:spcAft>
                <a:spcPts val="0"/>
              </a:spcAft>
            </a:pPr>
            <a:r>
              <a:rPr sz="1200" b="0" i="0">
                <a:solidFill>
                  <a:srgbClr val="C9D8CE"/>
                </a:solidFill>
                <a:latin typeface="Be Vietnam Pro"/>
                <a:ea typeface="Be Vietnam Pro"/>
                <a:cs typeface="Be Vietnam Pro"/>
              </a:rPr>
              <a:t>Dữ liệu thực chứng, dự án KH&amp;CN, chuyển đổi số</a:t>
            </a:r>
          </a:p>
        </p:txBody>
      </p:sp>
      <p:sp>
        <p:nvSpPr>
          <p:cNvPr id="25" name="TextBox 24"/>
          <p:cNvSpPr txBox="1"/>
          <p:nvPr/>
        </p:nvSpPr>
        <p:spPr>
          <a:xfrm>
            <a:off x="3343504" y="5138928"/>
            <a:ext cx="2651760" cy="292608"/>
          </a:xfrm>
          <a:prstGeom prst="rect">
            <a:avLst/>
          </a:prstGeom>
          <a:noFill/>
        </p:spPr>
        <p:txBody>
          <a:bodyPr wrap="square" lIns="0" rIns="0" tIns="0" bIns="0" anchor="t">
            <a:noAutofit/>
          </a:bodyPr>
          <a:lstStyle/>
          <a:p>
            <a:pPr algn="ctr">
              <a:lnSpc>
                <a:spcPct val="115000"/>
              </a:lnSpc>
              <a:spcAft>
                <a:spcPts val="0"/>
              </a:spcAft>
            </a:pPr>
            <a:r>
              <a:rPr sz="1300" b="0" i="0">
                <a:solidFill>
                  <a:srgbClr val="8FD11E"/>
                </a:solidFill>
                <a:latin typeface="Be Vietnam Pro ExtraBold"/>
                <a:ea typeface="Be Vietnam Pro ExtraBold"/>
                <a:cs typeface="Be Vietnam Pro ExtraBold"/>
              </a:rPr>
              <a:t>02</a:t>
            </a:r>
          </a:p>
        </p:txBody>
      </p:sp>
      <p:sp>
        <p:nvSpPr>
          <p:cNvPr id="26" name="TextBox 25"/>
          <p:cNvSpPr txBox="1"/>
          <p:nvPr/>
        </p:nvSpPr>
        <p:spPr>
          <a:xfrm>
            <a:off x="3343504" y="5413248"/>
            <a:ext cx="2651760" cy="384048"/>
          </a:xfrm>
          <a:prstGeom prst="rect">
            <a:avLst/>
          </a:prstGeom>
          <a:noFill/>
        </p:spPr>
        <p:txBody>
          <a:bodyPr wrap="square" lIns="0" rIns="0" tIns="0" bIns="0" anchor="ctr">
            <a:noAutofit/>
          </a:bodyPr>
          <a:lstStyle/>
          <a:p>
            <a:pPr algn="ctr">
              <a:lnSpc>
                <a:spcPct val="115000"/>
              </a:lnSpc>
              <a:spcAft>
                <a:spcPts val="0"/>
              </a:spcAft>
            </a:pPr>
            <a:r>
              <a:rPr sz="1600" b="0" i="0">
                <a:solidFill>
                  <a:srgbClr val="FFFFFF"/>
                </a:solidFill>
                <a:latin typeface="Be Vietnam Pro SemiBold"/>
                <a:ea typeface="Be Vietnam Pro SemiBold"/>
                <a:cs typeface="Be Vietnam Pro SemiBold"/>
              </a:rPr>
              <a:t>Đào tạo &amp; chứng chỉ</a:t>
            </a:r>
          </a:p>
        </p:txBody>
      </p:sp>
      <p:sp>
        <p:nvSpPr>
          <p:cNvPr id="27" name="TextBox 26"/>
          <p:cNvSpPr txBox="1"/>
          <p:nvPr/>
        </p:nvSpPr>
        <p:spPr>
          <a:xfrm>
            <a:off x="3343504" y="5797296"/>
            <a:ext cx="2651760" cy="685800"/>
          </a:xfrm>
          <a:prstGeom prst="rect">
            <a:avLst/>
          </a:prstGeom>
          <a:noFill/>
        </p:spPr>
        <p:txBody>
          <a:bodyPr wrap="square" lIns="0" rIns="0" tIns="0" bIns="0" anchor="t">
            <a:noAutofit/>
          </a:bodyPr>
          <a:lstStyle/>
          <a:p>
            <a:pPr algn="ctr">
              <a:lnSpc>
                <a:spcPct val="112000"/>
              </a:lnSpc>
              <a:spcAft>
                <a:spcPts val="0"/>
              </a:spcAft>
            </a:pPr>
            <a:r>
              <a:rPr sz="1200" b="0" i="0">
                <a:solidFill>
                  <a:srgbClr val="C9D8CE"/>
                </a:solidFill>
                <a:latin typeface="Be Vietnam Pro"/>
                <a:ea typeface="Be Vietnam Pro"/>
                <a:cs typeface="Be Vietnam Pro"/>
              </a:rPr>
              <a:t>An toàn lao động, chứng chỉ nghiệp vụ, AI, khảo thí</a:t>
            </a:r>
          </a:p>
        </p:txBody>
      </p:sp>
      <p:sp>
        <p:nvSpPr>
          <p:cNvPr id="28" name="TextBox 27"/>
          <p:cNvSpPr txBox="1"/>
          <p:nvPr/>
        </p:nvSpPr>
        <p:spPr>
          <a:xfrm>
            <a:off x="6196432" y="5138928"/>
            <a:ext cx="2651760" cy="292608"/>
          </a:xfrm>
          <a:prstGeom prst="rect">
            <a:avLst/>
          </a:prstGeom>
          <a:noFill/>
        </p:spPr>
        <p:txBody>
          <a:bodyPr wrap="square" lIns="0" rIns="0" tIns="0" bIns="0" anchor="t">
            <a:noAutofit/>
          </a:bodyPr>
          <a:lstStyle/>
          <a:p>
            <a:pPr algn="ctr">
              <a:lnSpc>
                <a:spcPct val="115000"/>
              </a:lnSpc>
              <a:spcAft>
                <a:spcPts val="0"/>
              </a:spcAft>
            </a:pPr>
            <a:r>
              <a:rPr sz="1300" b="0" i="0">
                <a:solidFill>
                  <a:srgbClr val="8FD11E"/>
                </a:solidFill>
                <a:latin typeface="Be Vietnam Pro ExtraBold"/>
                <a:ea typeface="Be Vietnam Pro ExtraBold"/>
                <a:cs typeface="Be Vietnam Pro ExtraBold"/>
              </a:rPr>
              <a:t>03</a:t>
            </a:r>
          </a:p>
        </p:txBody>
      </p:sp>
      <p:sp>
        <p:nvSpPr>
          <p:cNvPr id="29" name="TextBox 28"/>
          <p:cNvSpPr txBox="1"/>
          <p:nvPr/>
        </p:nvSpPr>
        <p:spPr>
          <a:xfrm>
            <a:off x="6196432" y="5413248"/>
            <a:ext cx="2651760" cy="384048"/>
          </a:xfrm>
          <a:prstGeom prst="rect">
            <a:avLst/>
          </a:prstGeom>
          <a:noFill/>
        </p:spPr>
        <p:txBody>
          <a:bodyPr wrap="square" lIns="0" rIns="0" tIns="0" bIns="0" anchor="ctr">
            <a:noAutofit/>
          </a:bodyPr>
          <a:lstStyle/>
          <a:p>
            <a:pPr algn="ctr">
              <a:lnSpc>
                <a:spcPct val="115000"/>
              </a:lnSpc>
              <a:spcAft>
                <a:spcPts val="0"/>
              </a:spcAft>
            </a:pPr>
            <a:r>
              <a:rPr sz="1600" b="0" i="0">
                <a:solidFill>
                  <a:srgbClr val="FFFFFF"/>
                </a:solidFill>
                <a:latin typeface="Be Vietnam Pro SemiBold"/>
                <a:ea typeface="Be Vietnam Pro SemiBold"/>
                <a:cs typeface="Be Vietnam Pro SemiBold"/>
              </a:rPr>
              <a:t>Truy xuất nguồn gốc</a:t>
            </a:r>
          </a:p>
        </p:txBody>
      </p:sp>
      <p:sp>
        <p:nvSpPr>
          <p:cNvPr id="30" name="TextBox 29"/>
          <p:cNvSpPr txBox="1"/>
          <p:nvPr/>
        </p:nvSpPr>
        <p:spPr>
          <a:xfrm>
            <a:off x="6196432" y="5797296"/>
            <a:ext cx="2651760" cy="685800"/>
          </a:xfrm>
          <a:prstGeom prst="rect">
            <a:avLst/>
          </a:prstGeom>
          <a:noFill/>
        </p:spPr>
        <p:txBody>
          <a:bodyPr wrap="square" lIns="0" rIns="0" tIns="0" bIns="0" anchor="t">
            <a:noAutofit/>
          </a:bodyPr>
          <a:lstStyle/>
          <a:p>
            <a:pPr algn="ctr">
              <a:lnSpc>
                <a:spcPct val="112000"/>
              </a:lnSpc>
              <a:spcAft>
                <a:spcPts val="0"/>
              </a:spcAft>
            </a:pPr>
            <a:r>
              <a:rPr sz="1200" b="0" i="0">
                <a:solidFill>
                  <a:srgbClr val="C9D8CE"/>
                </a:solidFill>
                <a:latin typeface="Be Vietnam Pro"/>
                <a:ea typeface="Be Vietnam Pro"/>
                <a:cs typeface="Be Vietnam Pro"/>
              </a:rPr>
              <a:t>Chuẩn GS1, tem điện tử, bảo vệ thương hiệu</a:t>
            </a:r>
          </a:p>
        </p:txBody>
      </p:sp>
      <p:sp>
        <p:nvSpPr>
          <p:cNvPr id="31" name="TextBox 30"/>
          <p:cNvSpPr txBox="1"/>
          <p:nvPr/>
        </p:nvSpPr>
        <p:spPr>
          <a:xfrm>
            <a:off x="9049360" y="5138928"/>
            <a:ext cx="2651760" cy="292608"/>
          </a:xfrm>
          <a:prstGeom prst="rect">
            <a:avLst/>
          </a:prstGeom>
          <a:noFill/>
        </p:spPr>
        <p:txBody>
          <a:bodyPr wrap="square" lIns="0" rIns="0" tIns="0" bIns="0" anchor="t">
            <a:noAutofit/>
          </a:bodyPr>
          <a:lstStyle/>
          <a:p>
            <a:pPr algn="ctr">
              <a:lnSpc>
                <a:spcPct val="115000"/>
              </a:lnSpc>
              <a:spcAft>
                <a:spcPts val="0"/>
              </a:spcAft>
            </a:pPr>
            <a:r>
              <a:rPr sz="1300" b="0" i="0">
                <a:solidFill>
                  <a:srgbClr val="8FD11E"/>
                </a:solidFill>
                <a:latin typeface="Be Vietnam Pro ExtraBold"/>
                <a:ea typeface="Be Vietnam Pro ExtraBold"/>
                <a:cs typeface="Be Vietnam Pro ExtraBold"/>
              </a:rPr>
              <a:t>04</a:t>
            </a:r>
          </a:p>
        </p:txBody>
      </p:sp>
      <p:sp>
        <p:nvSpPr>
          <p:cNvPr id="32" name="TextBox 31"/>
          <p:cNvSpPr txBox="1"/>
          <p:nvPr/>
        </p:nvSpPr>
        <p:spPr>
          <a:xfrm>
            <a:off x="9049360" y="5413248"/>
            <a:ext cx="2651760" cy="384048"/>
          </a:xfrm>
          <a:prstGeom prst="rect">
            <a:avLst/>
          </a:prstGeom>
          <a:noFill/>
        </p:spPr>
        <p:txBody>
          <a:bodyPr wrap="square" lIns="0" rIns="0" tIns="0" bIns="0" anchor="ctr">
            <a:noAutofit/>
          </a:bodyPr>
          <a:lstStyle/>
          <a:p>
            <a:pPr algn="ctr">
              <a:lnSpc>
                <a:spcPct val="115000"/>
              </a:lnSpc>
              <a:spcAft>
                <a:spcPts val="0"/>
              </a:spcAft>
            </a:pPr>
            <a:r>
              <a:rPr sz="1600" b="0" i="0">
                <a:solidFill>
                  <a:srgbClr val="FFFFFF"/>
                </a:solidFill>
                <a:latin typeface="Be Vietnam Pro SemiBold"/>
                <a:ea typeface="Be Vietnam Pro SemiBold"/>
                <a:cs typeface="Be Vietnam Pro SemiBold"/>
              </a:rPr>
              <a:t>Nông nghiệp số IoT</a:t>
            </a:r>
          </a:p>
        </p:txBody>
      </p:sp>
      <p:sp>
        <p:nvSpPr>
          <p:cNvPr id="33" name="TextBox 32"/>
          <p:cNvSpPr txBox="1"/>
          <p:nvPr/>
        </p:nvSpPr>
        <p:spPr>
          <a:xfrm>
            <a:off x="9049360" y="5797296"/>
            <a:ext cx="2651760" cy="685800"/>
          </a:xfrm>
          <a:prstGeom prst="rect">
            <a:avLst/>
          </a:prstGeom>
          <a:noFill/>
        </p:spPr>
        <p:txBody>
          <a:bodyPr wrap="square" lIns="0" rIns="0" tIns="0" bIns="0" anchor="t">
            <a:noAutofit/>
          </a:bodyPr>
          <a:lstStyle/>
          <a:p>
            <a:pPr algn="ctr">
              <a:lnSpc>
                <a:spcPct val="112000"/>
              </a:lnSpc>
              <a:spcAft>
                <a:spcPts val="0"/>
              </a:spcAft>
            </a:pPr>
            <a:r>
              <a:rPr sz="1200" b="0" i="0">
                <a:solidFill>
                  <a:srgbClr val="C9D8CE"/>
                </a:solidFill>
                <a:latin typeface="Be Vietnam Pro"/>
                <a:ea typeface="Be Vietnam Pro"/>
                <a:cs typeface="Be Vietnam Pro"/>
              </a:rPr>
              <a:t>Cảm biến, LoRaWAN, AI &amp; Blockchain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22" presetClass="entr" presetSubtype="1" fill="hold" grpId="0" nodeType="withEffect">
                                  <p:stCondLst>
                                    <p:cond delay="90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400"/>
                                        <p:tgtEl>
                                          <p:spTgt spid="3"/>
                                        </p:tgtEl>
                                      </p:cBhvr>
                                    </p:animEffect>
                                  </p:childTnLst>
                                </p:cTn>
                              </p:par>
                              <p:par>
                                <p:cTn id="23" presetID="22" presetClass="entr" presetSubtype="1" fill="hold" grpId="0" nodeType="withEffect">
                                  <p:stCondLst>
                                    <p:cond delay="980"/>
                                  </p:stCondLst>
                                  <p:childTnLst>
                                    <p:set>
                                      <p:cBhvr>
                                        <p:cTn id="24" dur="1" fill="hold">
                                          <p:stCondLst>
                                            <p:cond delay="0"/>
                                          </p:stCondLst>
                                        </p:cTn>
                                        <p:tgtEl>
                                          <p:spTgt spid="4"/>
                                        </p:tgtEl>
                                        <p:attrNameLst>
                                          <p:attrName>style.visibility</p:attrName>
                                        </p:attrNameLst>
                                      </p:cBhvr>
                                      <p:to>
                                        <p:strVal val="visible"/>
                                      </p:to>
                                    </p:set>
                                    <p:animEffect transition="in" filter="wipe(up)">
                                      <p:cBhvr>
                                        <p:cTn id="25" dur="400"/>
                                        <p:tgtEl>
                                          <p:spTgt spid="4"/>
                                        </p:tgtEl>
                                      </p:cBhvr>
                                    </p:animEffect>
                                  </p:childTnLst>
                                </p:cTn>
                              </p:par>
                              <p:par>
                                <p:cTn id="26" presetID="42" presetClass="entr" presetSubtype="0" fill="hold" grpId="0" nodeType="withEffect">
                                  <p:stCondLst>
                                    <p:cond delay="100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450"/>
                                        <p:tgtEl>
                                          <p:spTgt spid="22"/>
                                        </p:tgtEl>
                                      </p:cBhvr>
                                    </p:animEffect>
                                    <p:anim calcmode="lin" valueType="num">
                                      <p:cBhvr additive="base">
                                        <p:cTn id="29" dur="450" fill="hold"/>
                                        <p:tgtEl>
                                          <p:spTgt spid="22"/>
                                        </p:tgtEl>
                                        <p:attrNameLst>
                                          <p:attrName>ppt_x</p:attrName>
                                        </p:attrNameLst>
                                      </p:cBhvr>
                                      <p:tavLst>
                                        <p:tav tm="0">
                                          <p:val>
                                            <p:strVal val="#ppt_x"/>
                                          </p:val>
                                        </p:tav>
                                        <p:tav tm="100000">
                                          <p:val>
                                            <p:strVal val="#ppt_x"/>
                                          </p:val>
                                        </p:tav>
                                      </p:tavLst>
                                    </p:anim>
                                    <p:anim calcmode="lin" valueType="num">
                                      <p:cBhvr additive="base">
                                        <p:cTn id="30" dur="450" fill="hold"/>
                                        <p:tgtEl>
                                          <p:spTgt spid="22"/>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100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450"/>
                                        <p:tgtEl>
                                          <p:spTgt spid="23"/>
                                        </p:tgtEl>
                                      </p:cBhvr>
                                    </p:animEffect>
                                    <p:anim calcmode="lin" valueType="num">
                                      <p:cBhvr additive="base">
                                        <p:cTn id="34" dur="450" fill="hold"/>
                                        <p:tgtEl>
                                          <p:spTgt spid="23"/>
                                        </p:tgtEl>
                                        <p:attrNameLst>
                                          <p:attrName>ppt_x</p:attrName>
                                        </p:attrNameLst>
                                      </p:cBhvr>
                                      <p:tavLst>
                                        <p:tav tm="0">
                                          <p:val>
                                            <p:strVal val="#ppt_x"/>
                                          </p:val>
                                        </p:tav>
                                        <p:tav tm="100000">
                                          <p:val>
                                            <p:strVal val="#ppt_x"/>
                                          </p:val>
                                        </p:tav>
                                      </p:tavLst>
                                    </p:anim>
                                    <p:anim calcmode="lin" valueType="num">
                                      <p:cBhvr additive="base">
                                        <p:cTn id="35" dur="450" fill="hold"/>
                                        <p:tgtEl>
                                          <p:spTgt spid="23"/>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100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anim calcmode="lin" valueType="num">
                                      <p:cBhvr additive="base">
                                        <p:cTn id="39" dur="450" fill="hold"/>
                                        <p:tgtEl>
                                          <p:spTgt spid="24"/>
                                        </p:tgtEl>
                                        <p:attrNameLst>
                                          <p:attrName>ppt_x</p:attrName>
                                        </p:attrNameLst>
                                      </p:cBhvr>
                                      <p:tavLst>
                                        <p:tav tm="0">
                                          <p:val>
                                            <p:strVal val="#ppt_x"/>
                                          </p:val>
                                        </p:tav>
                                        <p:tav tm="100000">
                                          <p:val>
                                            <p:strVal val="#ppt_x"/>
                                          </p:val>
                                        </p:tav>
                                      </p:tavLst>
                                    </p:anim>
                                    <p:anim calcmode="lin" valueType="num">
                                      <p:cBhvr additive="base">
                                        <p:cTn id="40" dur="450" fill="hold"/>
                                        <p:tgtEl>
                                          <p:spTgt spid="24"/>
                                        </p:tgtEl>
                                        <p:attrNameLst>
                                          <p:attrName>ppt_y</p:attrName>
                                        </p:attrNameLst>
                                      </p:cBhvr>
                                      <p:tavLst>
                                        <p:tav tm="0">
                                          <p:val>
                                            <p:strVal val="#ppt_y+.06"/>
                                          </p:val>
                                        </p:tav>
                                        <p:tav tm="100000">
                                          <p:val>
                                            <p:strVal val="#ppt_y"/>
                                          </p:val>
                                        </p:tav>
                                      </p:tavLst>
                                    </p:anim>
                                  </p:childTnLst>
                                </p:cTn>
                              </p:par>
                              <p:par>
                                <p:cTn id="41" presetID="22" presetClass="entr" presetSubtype="1" fill="hold" grpId="0" nodeType="withEffect">
                                  <p:stCondLst>
                                    <p:cond delay="106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400"/>
                                        <p:tgtEl>
                                          <p:spTgt spid="5"/>
                                        </p:tgtEl>
                                      </p:cBhvr>
                                    </p:animEffect>
                                  </p:childTnLst>
                                </p:cTn>
                              </p:par>
                              <p:par>
                                <p:cTn id="44" presetID="22" presetClass="entr" presetSubtype="1" fill="hold" grpId="0" nodeType="withEffect">
                                  <p:stCondLst>
                                    <p:cond delay="1140"/>
                                  </p:stCondLst>
                                  <p:childTnLst>
                                    <p:set>
                                      <p:cBhvr>
                                        <p:cTn id="45" dur="1" fill="hold">
                                          <p:stCondLst>
                                            <p:cond delay="0"/>
                                          </p:stCondLst>
                                        </p:cTn>
                                        <p:tgtEl>
                                          <p:spTgt spid="6"/>
                                        </p:tgtEl>
                                        <p:attrNameLst>
                                          <p:attrName>style.visibility</p:attrName>
                                        </p:attrNameLst>
                                      </p:cBhvr>
                                      <p:to>
                                        <p:strVal val="visible"/>
                                      </p:to>
                                    </p:set>
                                    <p:animEffect transition="in" filter="wipe(up)">
                                      <p:cBhvr>
                                        <p:cTn id="46" dur="400"/>
                                        <p:tgtEl>
                                          <p:spTgt spid="6"/>
                                        </p:tgtEl>
                                      </p:cBhvr>
                                    </p:animEffect>
                                  </p:childTnLst>
                                </p:cTn>
                              </p:par>
                              <p:par>
                                <p:cTn id="47" presetID="42" presetClass="entr" presetSubtype="0" fill="hold" grpId="0" nodeType="withEffect">
                                  <p:stCondLst>
                                    <p:cond delay="115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50"/>
                                        <p:tgtEl>
                                          <p:spTgt spid="25"/>
                                        </p:tgtEl>
                                      </p:cBhvr>
                                    </p:animEffect>
                                    <p:anim calcmode="lin" valueType="num">
                                      <p:cBhvr additive="base">
                                        <p:cTn id="50" dur="450" fill="hold"/>
                                        <p:tgtEl>
                                          <p:spTgt spid="25"/>
                                        </p:tgtEl>
                                        <p:attrNameLst>
                                          <p:attrName>ppt_x</p:attrName>
                                        </p:attrNameLst>
                                      </p:cBhvr>
                                      <p:tavLst>
                                        <p:tav tm="0">
                                          <p:val>
                                            <p:strVal val="#ppt_x"/>
                                          </p:val>
                                        </p:tav>
                                        <p:tav tm="100000">
                                          <p:val>
                                            <p:strVal val="#ppt_x"/>
                                          </p:val>
                                        </p:tav>
                                      </p:tavLst>
                                    </p:anim>
                                    <p:anim calcmode="lin" valueType="num">
                                      <p:cBhvr additive="base">
                                        <p:cTn id="51" dur="450" fill="hold"/>
                                        <p:tgtEl>
                                          <p:spTgt spid="25"/>
                                        </p:tgtEl>
                                        <p:attrNameLst>
                                          <p:attrName>ppt_y</p:attrName>
                                        </p:attrNameLst>
                                      </p:cBhvr>
                                      <p:tavLst>
                                        <p:tav tm="0">
                                          <p:val>
                                            <p:strVal val="#ppt_y+.06"/>
                                          </p:val>
                                        </p:tav>
                                        <p:tav tm="100000">
                                          <p:val>
                                            <p:strVal val="#ppt_y"/>
                                          </p:val>
                                        </p:tav>
                                      </p:tavLst>
                                    </p:anim>
                                  </p:childTnLst>
                                </p:cTn>
                              </p:par>
                              <p:par>
                                <p:cTn id="52" presetID="42" presetClass="entr" presetSubtype="0" fill="hold" grpId="0" nodeType="withEffect">
                                  <p:stCondLst>
                                    <p:cond delay="115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50"/>
                                        <p:tgtEl>
                                          <p:spTgt spid="26"/>
                                        </p:tgtEl>
                                      </p:cBhvr>
                                    </p:animEffect>
                                    <p:anim calcmode="lin" valueType="num">
                                      <p:cBhvr additive="base">
                                        <p:cTn id="55" dur="450" fill="hold"/>
                                        <p:tgtEl>
                                          <p:spTgt spid="26"/>
                                        </p:tgtEl>
                                        <p:attrNameLst>
                                          <p:attrName>ppt_x</p:attrName>
                                        </p:attrNameLst>
                                      </p:cBhvr>
                                      <p:tavLst>
                                        <p:tav tm="0">
                                          <p:val>
                                            <p:strVal val="#ppt_x"/>
                                          </p:val>
                                        </p:tav>
                                        <p:tav tm="100000">
                                          <p:val>
                                            <p:strVal val="#ppt_x"/>
                                          </p:val>
                                        </p:tav>
                                      </p:tavLst>
                                    </p:anim>
                                    <p:anim calcmode="lin" valueType="num">
                                      <p:cBhvr additive="base">
                                        <p:cTn id="56" dur="450" fill="hold"/>
                                        <p:tgtEl>
                                          <p:spTgt spid="26"/>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115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50"/>
                                        <p:tgtEl>
                                          <p:spTgt spid="27"/>
                                        </p:tgtEl>
                                      </p:cBhvr>
                                    </p:animEffect>
                                    <p:anim calcmode="lin" valueType="num">
                                      <p:cBhvr additive="base">
                                        <p:cTn id="60" dur="450" fill="hold"/>
                                        <p:tgtEl>
                                          <p:spTgt spid="27"/>
                                        </p:tgtEl>
                                        <p:attrNameLst>
                                          <p:attrName>ppt_x</p:attrName>
                                        </p:attrNameLst>
                                      </p:cBhvr>
                                      <p:tavLst>
                                        <p:tav tm="0">
                                          <p:val>
                                            <p:strVal val="#ppt_x"/>
                                          </p:val>
                                        </p:tav>
                                        <p:tav tm="100000">
                                          <p:val>
                                            <p:strVal val="#ppt_x"/>
                                          </p:val>
                                        </p:tav>
                                      </p:tavLst>
                                    </p:anim>
                                    <p:anim calcmode="lin" valueType="num">
                                      <p:cBhvr additive="base">
                                        <p:cTn id="61" dur="450" fill="hold"/>
                                        <p:tgtEl>
                                          <p:spTgt spid="27"/>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1299"/>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50"/>
                                        <p:tgtEl>
                                          <p:spTgt spid="28"/>
                                        </p:tgtEl>
                                      </p:cBhvr>
                                    </p:animEffect>
                                    <p:anim calcmode="lin" valueType="num">
                                      <p:cBhvr additive="base">
                                        <p:cTn id="65" dur="450" fill="hold"/>
                                        <p:tgtEl>
                                          <p:spTgt spid="28"/>
                                        </p:tgtEl>
                                        <p:attrNameLst>
                                          <p:attrName>ppt_x</p:attrName>
                                        </p:attrNameLst>
                                      </p:cBhvr>
                                      <p:tavLst>
                                        <p:tav tm="0">
                                          <p:val>
                                            <p:strVal val="#ppt_x"/>
                                          </p:val>
                                        </p:tav>
                                        <p:tav tm="100000">
                                          <p:val>
                                            <p:strVal val="#ppt_x"/>
                                          </p:val>
                                        </p:tav>
                                      </p:tavLst>
                                    </p:anim>
                                    <p:anim calcmode="lin" valueType="num">
                                      <p:cBhvr additive="base">
                                        <p:cTn id="66" dur="450" fill="hold"/>
                                        <p:tgtEl>
                                          <p:spTgt spid="28"/>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1299"/>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450"/>
                                        <p:tgtEl>
                                          <p:spTgt spid="29"/>
                                        </p:tgtEl>
                                      </p:cBhvr>
                                    </p:animEffect>
                                    <p:anim calcmode="lin" valueType="num">
                                      <p:cBhvr additive="base">
                                        <p:cTn id="70" dur="450" fill="hold"/>
                                        <p:tgtEl>
                                          <p:spTgt spid="29"/>
                                        </p:tgtEl>
                                        <p:attrNameLst>
                                          <p:attrName>ppt_x</p:attrName>
                                        </p:attrNameLst>
                                      </p:cBhvr>
                                      <p:tavLst>
                                        <p:tav tm="0">
                                          <p:val>
                                            <p:strVal val="#ppt_x"/>
                                          </p:val>
                                        </p:tav>
                                        <p:tav tm="100000">
                                          <p:val>
                                            <p:strVal val="#ppt_x"/>
                                          </p:val>
                                        </p:tav>
                                      </p:tavLst>
                                    </p:anim>
                                    <p:anim calcmode="lin" valueType="num">
                                      <p:cBhvr additive="base">
                                        <p:cTn id="71" dur="450" fill="hold"/>
                                        <p:tgtEl>
                                          <p:spTgt spid="29"/>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1299"/>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50"/>
                                        <p:tgtEl>
                                          <p:spTgt spid="30"/>
                                        </p:tgtEl>
                                      </p:cBhvr>
                                    </p:animEffect>
                                    <p:anim calcmode="lin" valueType="num">
                                      <p:cBhvr additive="base">
                                        <p:cTn id="75" dur="450" fill="hold"/>
                                        <p:tgtEl>
                                          <p:spTgt spid="30"/>
                                        </p:tgtEl>
                                        <p:attrNameLst>
                                          <p:attrName>ppt_x</p:attrName>
                                        </p:attrNameLst>
                                      </p:cBhvr>
                                      <p:tavLst>
                                        <p:tav tm="0">
                                          <p:val>
                                            <p:strVal val="#ppt_x"/>
                                          </p:val>
                                        </p:tav>
                                        <p:tav tm="100000">
                                          <p:val>
                                            <p:strVal val="#ppt_x"/>
                                          </p:val>
                                        </p:tav>
                                      </p:tavLst>
                                    </p:anim>
                                    <p:anim calcmode="lin" valueType="num">
                                      <p:cBhvr additive="base">
                                        <p:cTn id="76" dur="450" fill="hold"/>
                                        <p:tgtEl>
                                          <p:spTgt spid="30"/>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1449"/>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anim calcmode="lin" valueType="num">
                                      <p:cBhvr additive="base">
                                        <p:cTn id="80" dur="450" fill="hold"/>
                                        <p:tgtEl>
                                          <p:spTgt spid="31"/>
                                        </p:tgtEl>
                                        <p:attrNameLst>
                                          <p:attrName>ppt_x</p:attrName>
                                        </p:attrNameLst>
                                      </p:cBhvr>
                                      <p:tavLst>
                                        <p:tav tm="0">
                                          <p:val>
                                            <p:strVal val="#ppt_x"/>
                                          </p:val>
                                        </p:tav>
                                        <p:tav tm="100000">
                                          <p:val>
                                            <p:strVal val="#ppt_x"/>
                                          </p:val>
                                        </p:tav>
                                      </p:tavLst>
                                    </p:anim>
                                    <p:anim calcmode="lin" valueType="num">
                                      <p:cBhvr additive="base">
                                        <p:cTn id="81" dur="450" fill="hold"/>
                                        <p:tgtEl>
                                          <p:spTgt spid="31"/>
                                        </p:tgtEl>
                                        <p:attrNameLst>
                                          <p:attrName>ppt_y</p:attrName>
                                        </p:attrNameLst>
                                      </p:cBhvr>
                                      <p:tavLst>
                                        <p:tav tm="0">
                                          <p:val>
                                            <p:strVal val="#ppt_y+.06"/>
                                          </p:val>
                                        </p:tav>
                                        <p:tav tm="100000">
                                          <p:val>
                                            <p:strVal val="#ppt_y"/>
                                          </p:val>
                                        </p:tav>
                                      </p:tavLst>
                                    </p:anim>
                                  </p:childTnLst>
                                </p:cTn>
                              </p:par>
                              <p:par>
                                <p:cTn id="82" presetID="42" presetClass="entr" presetSubtype="0" fill="hold" grpId="0" nodeType="withEffect">
                                  <p:stCondLst>
                                    <p:cond delay="1449"/>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50"/>
                                        <p:tgtEl>
                                          <p:spTgt spid="32"/>
                                        </p:tgtEl>
                                      </p:cBhvr>
                                    </p:animEffect>
                                    <p:anim calcmode="lin" valueType="num">
                                      <p:cBhvr additive="base">
                                        <p:cTn id="85" dur="450" fill="hold"/>
                                        <p:tgtEl>
                                          <p:spTgt spid="32"/>
                                        </p:tgtEl>
                                        <p:attrNameLst>
                                          <p:attrName>ppt_x</p:attrName>
                                        </p:attrNameLst>
                                      </p:cBhvr>
                                      <p:tavLst>
                                        <p:tav tm="0">
                                          <p:val>
                                            <p:strVal val="#ppt_x"/>
                                          </p:val>
                                        </p:tav>
                                        <p:tav tm="100000">
                                          <p:val>
                                            <p:strVal val="#ppt_x"/>
                                          </p:val>
                                        </p:tav>
                                      </p:tavLst>
                                    </p:anim>
                                    <p:anim calcmode="lin" valueType="num">
                                      <p:cBhvr additive="base">
                                        <p:cTn id="86" dur="450" fill="hold"/>
                                        <p:tgtEl>
                                          <p:spTgt spid="32"/>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1449"/>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450"/>
                                        <p:tgtEl>
                                          <p:spTgt spid="33"/>
                                        </p:tgtEl>
                                      </p:cBhvr>
                                    </p:animEffect>
                                    <p:anim calcmode="lin" valueType="num">
                                      <p:cBhvr additive="base">
                                        <p:cTn id="90" dur="450" fill="hold"/>
                                        <p:tgtEl>
                                          <p:spTgt spid="33"/>
                                        </p:tgtEl>
                                        <p:attrNameLst>
                                          <p:attrName>ppt_x</p:attrName>
                                        </p:attrNameLst>
                                      </p:cBhvr>
                                      <p:tavLst>
                                        <p:tav tm="0">
                                          <p:val>
                                            <p:strVal val="#ppt_x"/>
                                          </p:val>
                                        </p:tav>
                                        <p:tav tm="100000">
                                          <p:val>
                                            <p:strVal val="#ppt_x"/>
                                          </p:val>
                                        </p:tav>
                                      </p:tavLst>
                                    </p:anim>
                                    <p:anim calcmode="lin" valueType="num">
                                      <p:cBhvr additive="base">
                                        <p:cTn id="91" dur="450" fill="hold"/>
                                        <p:tgtEl>
                                          <p:spTgt spid="3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17" grpId="0" animBg="1"/>
      <p:bldP spid="18"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righ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training" descr="training.png"/>
          <p:cNvPicPr>
            <a:picLocks noChangeAspect="1"/>
          </p:cNvPicPr>
          <p:nvPr/>
        </p:nvPicPr>
        <p:blipFill>
          <a:blip r:embed="rId4"/>
          <a:srcRect/>
          <a:stretch>
            <a:fillRect/>
          </a:stretch>
        </p:blipFill>
        <p:spPr>
          <a:xfrm>
            <a:off x="2468789" y="-3686560"/>
            <a:ext cx="2377440" cy="2207623"/>
          </a:xfrm>
          <a:prstGeom prst="rect">
            <a:avLst/>
          </a:prstGeom>
        </p:spPr>
      </p:pic>
      <p:pic>
        <p:nvPicPr>
          <p:cNvPr id="5" name="!!trace" descr="trace.png"/>
          <p:cNvPicPr>
            <a:picLocks noChangeAspect="1"/>
          </p:cNvPicPr>
          <p:nvPr/>
        </p:nvPicPr>
        <p:blipFill>
          <a:blip r:embed="rId5"/>
          <a:srcRect/>
          <a:stretch>
            <a:fillRect/>
          </a:stretch>
        </p:blipFill>
        <p:spPr>
          <a:xfrm>
            <a:off x="13197535" y="2714240"/>
            <a:ext cx="2377440" cy="2207623"/>
          </a:xfrm>
          <a:prstGeom prst="rect">
            <a:avLst/>
          </a:prstGeom>
        </p:spPr>
      </p:pic>
      <p:pic>
        <p:nvPicPr>
          <p:cNvPr id="6" name="!!iot" descr="iot.png"/>
          <p:cNvPicPr>
            <a:picLocks noChangeAspect="1"/>
          </p:cNvPicPr>
          <p:nvPr/>
        </p:nvPicPr>
        <p:blipFill>
          <a:blip r:embed="rId6"/>
          <a:srcRect/>
          <a:stretch>
            <a:fillRect/>
          </a:stretch>
        </p:blipFill>
        <p:spPr>
          <a:xfrm>
            <a:off x="7345467" y="7926320"/>
            <a:ext cx="2377440" cy="2207623"/>
          </a:xfrm>
          <a:prstGeom prst="rect">
            <a:avLst/>
          </a:prstGeom>
        </p:spPr>
      </p:pic>
      <p:pic>
        <p:nvPicPr>
          <p:cNvPr id="7" name="!!glow_research" descr="glow_7FC211_30_1.7.png"/>
          <p:cNvPicPr>
            <a:picLocks noChangeAspect="1"/>
          </p:cNvPicPr>
          <p:nvPr/>
        </p:nvPicPr>
        <p:blipFill>
          <a:blip r:embed="rId7"/>
          <a:stretch>
            <a:fillRect/>
          </a:stretch>
        </p:blipFill>
        <p:spPr>
          <a:xfrm>
            <a:off x="5159502" y="1253185"/>
            <a:ext cx="6048756" cy="6048756"/>
          </a:xfrm>
          <a:prstGeom prst="rect">
            <a:avLst/>
          </a:prstGeom>
        </p:spPr>
      </p:pic>
      <p:pic>
        <p:nvPicPr>
          <p:cNvPr id="8" name="!!research" descr="research.png"/>
          <p:cNvPicPr>
            <a:picLocks noChangeAspect="1"/>
          </p:cNvPicPr>
          <p:nvPr/>
        </p:nvPicPr>
        <p:blipFill>
          <a:blip r:embed="rId8"/>
          <a:srcRect/>
          <a:stretch>
            <a:fillRect/>
          </a:stretch>
        </p:blipFill>
        <p:spPr>
          <a:xfrm>
            <a:off x="5303520" y="759821"/>
            <a:ext cx="5760720" cy="5349240"/>
          </a:xfrm>
          <a:prstGeom prst="rect">
            <a:avLst/>
          </a:prstGeom>
        </p:spPr>
      </p:pic>
      <p:pic>
        <p:nvPicPr>
          <p:cNvPr id="9" name="!!logo" descr="logo_stp.png"/>
          <p:cNvPicPr>
            <a:picLocks noChangeAspect="1"/>
          </p:cNvPicPr>
          <p:nvPr/>
        </p:nvPicPr>
        <p:blipFill>
          <a:blip r:embed="rId9"/>
          <a:stretch>
            <a:fillRect/>
          </a:stretch>
        </p:blipFill>
        <p:spPr>
          <a:xfrm>
            <a:off x="10024567" y="384048"/>
            <a:ext cx="420624" cy="420624"/>
          </a:xfrm>
          <a:prstGeom prst="rect">
            <a:avLst/>
          </a:prstGeom>
        </p:spPr>
      </p:pic>
      <p:sp>
        <p:nvSpPr>
          <p:cNvPr id="10"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1" name="TextBox 10"/>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04</a:t>
            </a:r>
          </a:p>
        </p:txBody>
      </p:sp>
      <p:sp>
        <p:nvSpPr>
          <p:cNvPr id="12" name="!!bignum"/>
          <p:cNvSpPr txBox="1"/>
          <p:nvPr/>
        </p:nvSpPr>
        <p:spPr>
          <a:xfrm>
            <a:off x="640080" y="502920"/>
            <a:ext cx="4114800" cy="1737360"/>
          </a:xfrm>
          <a:prstGeom prst="rect">
            <a:avLst/>
          </a:prstGeom>
          <a:noFill/>
        </p:spPr>
        <p:txBody>
          <a:bodyPr wrap="none" lIns="0" rIns="0" tIns="0" bIns="0" anchor="t">
            <a:noAutofit/>
          </a:bodyPr>
          <a:lstStyle/>
          <a:p>
            <a:pPr algn="l">
              <a:lnSpc>
                <a:spcPct val="90000"/>
              </a:lnSpc>
              <a:spcAft>
                <a:spcPts val="0"/>
              </a:spcAft>
            </a:pPr>
            <a:r>
              <a:rPr sz="12000" b="0" i="0">
                <a:solidFill>
                  <a:srgbClr val="8FD11E"/>
                </a:solidFill>
                <a:latin typeface="Be Vietnam Pro Thin"/>
                <a:ea typeface="Be Vietnam Pro Thin"/>
                <a:cs typeface="Be Vietnam Pro Thin"/>
              </a:rPr>
              <a:t>01</a:t>
            </a:r>
          </a:p>
        </p:txBody>
      </p:sp>
      <p:sp>
        <p:nvSpPr>
          <p:cNvPr id="13" name="!!kicker"/>
          <p:cNvSpPr txBox="1"/>
          <p:nvPr/>
        </p:nvSpPr>
        <p:spPr>
          <a:xfrm>
            <a:off x="685800" y="2331720"/>
            <a:ext cx="50292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TRỤ CỘT 01</a:t>
            </a:r>
          </a:p>
        </p:txBody>
      </p:sp>
      <p:sp>
        <p:nvSpPr>
          <p:cNvPr id="14" name="!!title"/>
          <p:cNvSpPr txBox="1"/>
          <p:nvPr/>
        </p:nvSpPr>
        <p:spPr>
          <a:xfrm>
            <a:off x="685800" y="2697480"/>
            <a:ext cx="5120640" cy="1051560"/>
          </a:xfrm>
          <a:prstGeom prst="rect">
            <a:avLst/>
          </a:prstGeom>
          <a:noFill/>
        </p:spPr>
        <p:txBody>
          <a:bodyPr wrap="square" lIns="0" rIns="0" tIns="0" bIns="0" anchor="t">
            <a:noAutofit/>
          </a:bodyPr>
          <a:lstStyle/>
          <a:p>
            <a:pPr algn="l">
              <a:lnSpc>
                <a:spcPct val="98000"/>
              </a:lnSpc>
              <a:spcAft>
                <a:spcPts val="0"/>
              </a:spcAft>
            </a:pPr>
            <a:r>
              <a:rPr sz="3600" b="0" i="0">
                <a:solidFill>
                  <a:srgbClr val="FFFFFF"/>
                </a:solidFill>
                <a:latin typeface="Be Vietnam Pro ExtraBold"/>
                <a:ea typeface="Be Vietnam Pro ExtraBold"/>
                <a:cs typeface="Be Vietnam Pro ExtraBold"/>
              </a:rPr>
              <a:t>Nghiên cứu khoa học</a:t>
            </a:r>
          </a:p>
          <a:p>
            <a:pPr algn="l">
              <a:lnSpc>
                <a:spcPct val="98000"/>
              </a:lnSpc>
              <a:spcAft>
                <a:spcPts val="0"/>
              </a:spcAft>
            </a:pPr>
            <a:r>
              <a:rPr sz="3600" b="0" i="0">
                <a:solidFill>
                  <a:srgbClr val="FFFFFF"/>
                </a:solidFill>
                <a:latin typeface="Be Vietnam Pro ExtraBold"/>
                <a:ea typeface="Be Vietnam Pro ExtraBold"/>
                <a:cs typeface="Be Vietnam Pro ExtraBold"/>
              </a:rPr>
              <a:t>&amp; chuyển giao</a:t>
            </a:r>
          </a:p>
        </p:txBody>
      </p:sp>
      <p:sp>
        <p:nvSpPr>
          <p:cNvPr id="15" name="!!lead"/>
          <p:cNvSpPr txBox="1"/>
          <p:nvPr/>
        </p:nvSpPr>
        <p:spPr>
          <a:xfrm>
            <a:off x="685800" y="3886200"/>
            <a:ext cx="4572000" cy="1188720"/>
          </a:xfrm>
          <a:prstGeom prst="rect">
            <a:avLst/>
          </a:prstGeom>
          <a:noFill/>
        </p:spPr>
        <p:txBody>
          <a:bodyPr wrap="square" lIns="0" rIns="0" tIns="0" bIns="0" anchor="t">
            <a:noAutofit/>
          </a:bodyPr>
          <a:lstStyle/>
          <a:p>
            <a:pPr algn="l">
              <a:lnSpc>
                <a:spcPct val="120000"/>
              </a:lnSpc>
              <a:spcAft>
                <a:spcPts val="0"/>
              </a:spcAft>
            </a:pPr>
            <a:r>
              <a:rPr sz="1600" b="0" i="0">
                <a:solidFill>
                  <a:srgbClr val="C9D8CE"/>
                </a:solidFill>
                <a:latin typeface="Be Vietnam Pro Light"/>
                <a:ea typeface="Be Vietnam Pro Light"/>
                <a:cs typeface="Be Vietnam Pro Light"/>
              </a:rPr>
              <a:t>Từ </a:t>
            </a:r>
            <a:r>
              <a:rPr sz="1600" b="0" i="0">
                <a:solidFill>
                  <a:srgbClr val="8FD11E"/>
                </a:solidFill>
                <a:latin typeface="Be Vietnam Pro Medium"/>
                <a:ea typeface="Be Vietnam Pro Medium"/>
                <a:cs typeface="Be Vietnam Pro Medium"/>
              </a:rPr>
              <a:t>dữ liệu thực chứng</a:t>
            </a:r>
            <a:r>
              <a:rPr sz="1600" b="0" i="0">
                <a:solidFill>
                  <a:srgbClr val="C9D8CE"/>
                </a:solidFill>
                <a:latin typeface="Be Vietnam Pro Light"/>
                <a:ea typeface="Be Vietnam Pro Light"/>
                <a:cs typeface="Be Vietnam Pro Light"/>
              </a:rPr>
              <a:t> đến giải pháp ứng dụng cho địa phương và doanh nghiệp.</a:t>
            </a:r>
          </a:p>
        </p:txBody>
      </p:sp>
      <p:sp>
        <p:nvSpPr>
          <p:cNvPr id="16" name="Rounded Rectangle 15"/>
          <p:cNvSpPr/>
          <p:nvPr/>
        </p:nvSpPr>
        <p:spPr>
          <a:xfrm>
            <a:off x="685800" y="5760720"/>
            <a:ext cx="1961078"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7" name="TextBox 16"/>
          <p:cNvSpPr txBox="1"/>
          <p:nvPr/>
        </p:nvSpPr>
        <p:spPr>
          <a:xfrm>
            <a:off x="685800" y="5760720"/>
            <a:ext cx="1961078"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Khảo sát – đánh giá</a:t>
            </a:r>
          </a:p>
        </p:txBody>
      </p:sp>
      <p:sp>
        <p:nvSpPr>
          <p:cNvPr id="18" name="Rounded Rectangle 17"/>
          <p:cNvSpPr/>
          <p:nvPr/>
        </p:nvSpPr>
        <p:spPr>
          <a:xfrm>
            <a:off x="2784038" y="5760720"/>
            <a:ext cx="1478131"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TextBox 18"/>
          <p:cNvSpPr txBox="1"/>
          <p:nvPr/>
        </p:nvSpPr>
        <p:spPr>
          <a:xfrm>
            <a:off x="2784038" y="5760720"/>
            <a:ext cx="1478131"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Dự án KH&amp;CN</a:t>
            </a:r>
          </a:p>
        </p:txBody>
      </p:sp>
      <p:sp>
        <p:nvSpPr>
          <p:cNvPr id="20" name="Rounded Rectangle 19"/>
          <p:cNvSpPr/>
          <p:nvPr/>
        </p:nvSpPr>
        <p:spPr>
          <a:xfrm>
            <a:off x="4399330" y="5760720"/>
            <a:ext cx="1512411"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TextBox 20"/>
          <p:cNvSpPr txBox="1"/>
          <p:nvPr/>
        </p:nvSpPr>
        <p:spPr>
          <a:xfrm>
            <a:off x="4399330" y="5760720"/>
            <a:ext cx="1512411"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Chuyển đổi số</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800"/>
                                        <p:tgtEl>
                                          <p:spTgt spid="12"/>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42" presetClass="entr" presetSubtype="0" fill="hold" grpId="0" nodeType="withEffect">
                                  <p:stCondLst>
                                    <p:cond delay="6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800"/>
                                        <p:tgtEl>
                                          <p:spTgt spid="14"/>
                                        </p:tgtEl>
                                      </p:cBhvr>
                                    </p:animEffect>
                                    <p:anim calcmode="lin" valueType="num">
                                      <p:cBhvr additive="base">
                                        <p:cTn id="23" dur="800" fill="hold"/>
                                        <p:tgtEl>
                                          <p:spTgt spid="14"/>
                                        </p:tgtEl>
                                        <p:attrNameLst>
                                          <p:attrName>ppt_x</p:attrName>
                                        </p:attrNameLst>
                                      </p:cBhvr>
                                      <p:tavLst>
                                        <p:tav tm="0">
                                          <p:val>
                                            <p:strVal val="#ppt_x"/>
                                          </p:val>
                                        </p:tav>
                                        <p:tav tm="100000">
                                          <p:val>
                                            <p:strVal val="#ppt_x"/>
                                          </p:val>
                                        </p:tav>
                                      </p:tavLst>
                                    </p:anim>
                                    <p:anim calcmode="lin" valueType="num">
                                      <p:cBhvr additive="base">
                                        <p:cTn id="24" dur="800" fill="hold"/>
                                        <p:tgtEl>
                                          <p:spTgt spid="14"/>
                                        </p:tgtEl>
                                        <p:attrNameLst>
                                          <p:attrName>ppt_y</p:attrName>
                                        </p:attrNameLst>
                                      </p:cBhvr>
                                      <p:tavLst>
                                        <p:tav tm="0">
                                          <p:val>
                                            <p:strVal val="#ppt_y+.06"/>
                                          </p:val>
                                        </p:tav>
                                        <p:tav tm="100000">
                                          <p:val>
                                            <p:strVal val="#ppt_y"/>
                                          </p:val>
                                        </p:tav>
                                      </p:tavLst>
                                    </p:anim>
                                  </p:childTnLst>
                                </p:cTn>
                              </p:par>
                              <p:par>
                                <p:cTn id="25" presetID="10" presetClass="entr" presetSubtype="0" fill="hold" grpId="0" nodeType="withEffect">
                                  <p:stCondLst>
                                    <p:cond delay="100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600"/>
                                        <p:tgtEl>
                                          <p:spTgt spid="15"/>
                                        </p:tgtEl>
                                      </p:cBhvr>
                                    </p:animEffect>
                                  </p:childTnLst>
                                </p:cTn>
                              </p:par>
                              <p:par>
                                <p:cTn id="28" presetID="42" presetClass="entr" presetSubtype="0" fill="hold" grpId="0" nodeType="withEffect">
                                  <p:stCondLst>
                                    <p:cond delay="13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anim calcmode="lin" valueType="num">
                                      <p:cBhvr additive="base">
                                        <p:cTn id="31" dur="400" fill="hold"/>
                                        <p:tgtEl>
                                          <p:spTgt spid="16"/>
                                        </p:tgtEl>
                                        <p:attrNameLst>
                                          <p:attrName>ppt_x</p:attrName>
                                        </p:attrNameLst>
                                      </p:cBhvr>
                                      <p:tavLst>
                                        <p:tav tm="0">
                                          <p:val>
                                            <p:strVal val="#ppt_x"/>
                                          </p:val>
                                        </p:tav>
                                        <p:tav tm="100000">
                                          <p:val>
                                            <p:strVal val="#ppt_x"/>
                                          </p:val>
                                        </p:tav>
                                      </p:tavLst>
                                    </p:anim>
                                    <p:anim calcmode="lin" valueType="num">
                                      <p:cBhvr additive="base">
                                        <p:cTn id="32" dur="400" fill="hold"/>
                                        <p:tgtEl>
                                          <p:spTgt spid="16"/>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13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anim calcmode="lin" valueType="num">
                                      <p:cBhvr additive="base">
                                        <p:cTn id="36" dur="400" fill="hold"/>
                                        <p:tgtEl>
                                          <p:spTgt spid="17"/>
                                        </p:tgtEl>
                                        <p:attrNameLst>
                                          <p:attrName>ppt_x</p:attrName>
                                        </p:attrNameLst>
                                      </p:cBhvr>
                                      <p:tavLst>
                                        <p:tav tm="0">
                                          <p:val>
                                            <p:strVal val="#ppt_x"/>
                                          </p:val>
                                        </p:tav>
                                        <p:tav tm="100000">
                                          <p:val>
                                            <p:strVal val="#ppt_x"/>
                                          </p:val>
                                        </p:tav>
                                      </p:tavLst>
                                    </p:anim>
                                    <p:anim calcmode="lin" valueType="num">
                                      <p:cBhvr additive="base">
                                        <p:cTn id="37" dur="400" fill="hold"/>
                                        <p:tgtEl>
                                          <p:spTgt spid="17"/>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42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anim calcmode="lin" valueType="num">
                                      <p:cBhvr additive="base">
                                        <p:cTn id="41" dur="400" fill="hold"/>
                                        <p:tgtEl>
                                          <p:spTgt spid="18"/>
                                        </p:tgtEl>
                                        <p:attrNameLst>
                                          <p:attrName>ppt_x</p:attrName>
                                        </p:attrNameLst>
                                      </p:cBhvr>
                                      <p:tavLst>
                                        <p:tav tm="0">
                                          <p:val>
                                            <p:strVal val="#ppt_x"/>
                                          </p:val>
                                        </p:tav>
                                        <p:tav tm="100000">
                                          <p:val>
                                            <p:strVal val="#ppt_x"/>
                                          </p:val>
                                        </p:tav>
                                      </p:tavLst>
                                    </p:anim>
                                    <p:anim calcmode="lin" valueType="num">
                                      <p:cBhvr additive="base">
                                        <p:cTn id="42" dur="400" fill="hold"/>
                                        <p:tgtEl>
                                          <p:spTgt spid="18"/>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42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anim calcmode="lin" valueType="num">
                                      <p:cBhvr additive="base">
                                        <p:cTn id="46" dur="400" fill="hold"/>
                                        <p:tgtEl>
                                          <p:spTgt spid="19"/>
                                        </p:tgtEl>
                                        <p:attrNameLst>
                                          <p:attrName>ppt_x</p:attrName>
                                        </p:attrNameLst>
                                      </p:cBhvr>
                                      <p:tavLst>
                                        <p:tav tm="0">
                                          <p:val>
                                            <p:strVal val="#ppt_x"/>
                                          </p:val>
                                        </p:tav>
                                        <p:tav tm="100000">
                                          <p:val>
                                            <p:strVal val="#ppt_x"/>
                                          </p:val>
                                        </p:tav>
                                      </p:tavLst>
                                    </p:anim>
                                    <p:anim calcmode="lin" valueType="num">
                                      <p:cBhvr additive="base">
                                        <p:cTn id="47" dur="400" fill="hold"/>
                                        <p:tgtEl>
                                          <p:spTgt spid="19"/>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154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anim calcmode="lin" valueType="num">
                                      <p:cBhvr additive="base">
                                        <p:cTn id="51" dur="400" fill="hold"/>
                                        <p:tgtEl>
                                          <p:spTgt spid="20"/>
                                        </p:tgtEl>
                                        <p:attrNameLst>
                                          <p:attrName>ppt_x</p:attrName>
                                        </p:attrNameLst>
                                      </p:cBhvr>
                                      <p:tavLst>
                                        <p:tav tm="0">
                                          <p:val>
                                            <p:strVal val="#ppt_x"/>
                                          </p:val>
                                        </p:tav>
                                        <p:tav tm="100000">
                                          <p:val>
                                            <p:strVal val="#ppt_x"/>
                                          </p:val>
                                        </p:tav>
                                      </p:tavLst>
                                    </p:anim>
                                    <p:anim calcmode="lin" valueType="num">
                                      <p:cBhvr additive="base">
                                        <p:cTn id="52" dur="400" fill="hold"/>
                                        <p:tgtEl>
                                          <p:spTgt spid="20"/>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154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00"/>
                                        <p:tgtEl>
                                          <p:spTgt spid="21"/>
                                        </p:tgtEl>
                                      </p:cBhvr>
                                    </p:animEffect>
                                    <p:anim calcmode="lin" valueType="num">
                                      <p:cBhvr additive="base">
                                        <p:cTn id="56" dur="400" fill="hold"/>
                                        <p:tgtEl>
                                          <p:spTgt spid="21"/>
                                        </p:tgtEl>
                                        <p:attrNameLst>
                                          <p:attrName>ppt_x</p:attrName>
                                        </p:attrNameLst>
                                      </p:cBhvr>
                                      <p:tavLst>
                                        <p:tav tm="0">
                                          <p:val>
                                            <p:strVal val="#ppt_x"/>
                                          </p:val>
                                        </p:tav>
                                        <p:tav tm="100000">
                                          <p:val>
                                            <p:strVal val="#ppt_x"/>
                                          </p:val>
                                        </p:tav>
                                      </p:tavLst>
                                    </p:anim>
                                    <p:anim calcmode="lin" valueType="num">
                                      <p:cBhvr additive="base">
                                        <p:cTn id="57" dur="400" fill="hold"/>
                                        <p:tgtEl>
                                          <p:spTgt spid="2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center.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training" descr="training.png"/>
          <p:cNvPicPr>
            <a:picLocks noChangeAspect="1"/>
          </p:cNvPicPr>
          <p:nvPr/>
        </p:nvPicPr>
        <p:blipFill>
          <a:blip r:embed="rId4"/>
          <a:srcRect/>
          <a:stretch>
            <a:fillRect/>
          </a:stretch>
        </p:blipFill>
        <p:spPr>
          <a:xfrm>
            <a:off x="2468789" y="-3686560"/>
            <a:ext cx="2377440" cy="2207623"/>
          </a:xfrm>
          <a:prstGeom prst="rect">
            <a:avLst/>
          </a:prstGeom>
        </p:spPr>
      </p:pic>
      <p:pic>
        <p:nvPicPr>
          <p:cNvPr id="5" name="!!trace" descr="trace.png"/>
          <p:cNvPicPr>
            <a:picLocks noChangeAspect="1"/>
          </p:cNvPicPr>
          <p:nvPr/>
        </p:nvPicPr>
        <p:blipFill>
          <a:blip r:embed="rId5"/>
          <a:srcRect/>
          <a:stretch>
            <a:fillRect/>
          </a:stretch>
        </p:blipFill>
        <p:spPr>
          <a:xfrm>
            <a:off x="13197535" y="2714240"/>
            <a:ext cx="2377440" cy="2207623"/>
          </a:xfrm>
          <a:prstGeom prst="rect">
            <a:avLst/>
          </a:prstGeom>
        </p:spPr>
      </p:pic>
      <p:pic>
        <p:nvPicPr>
          <p:cNvPr id="6" name="!!iot" descr="iot.png"/>
          <p:cNvPicPr>
            <a:picLocks noChangeAspect="1"/>
          </p:cNvPicPr>
          <p:nvPr/>
        </p:nvPicPr>
        <p:blipFill>
          <a:blip r:embed="rId6"/>
          <a:srcRect/>
          <a:stretch>
            <a:fillRect/>
          </a:stretch>
        </p:blipFill>
        <p:spPr>
          <a:xfrm>
            <a:off x="7345467" y="7926320"/>
            <a:ext cx="2377440" cy="2207623"/>
          </a:xfrm>
          <a:prstGeom prst="rect">
            <a:avLst/>
          </a:prstGeom>
        </p:spPr>
      </p:pic>
      <p:pic>
        <p:nvPicPr>
          <p:cNvPr id="7" name="!!glow_research" descr="glow_7FC211_30_1.7.png"/>
          <p:cNvPicPr>
            <a:picLocks noChangeAspect="1"/>
          </p:cNvPicPr>
          <p:nvPr/>
        </p:nvPicPr>
        <p:blipFill>
          <a:blip r:embed="rId7"/>
          <a:stretch>
            <a:fillRect/>
          </a:stretch>
        </p:blipFill>
        <p:spPr>
          <a:xfrm>
            <a:off x="9041130" y="445770"/>
            <a:ext cx="2400300" cy="2400300"/>
          </a:xfrm>
          <a:prstGeom prst="rect">
            <a:avLst/>
          </a:prstGeom>
        </p:spPr>
      </p:pic>
      <p:pic>
        <p:nvPicPr>
          <p:cNvPr id="8" name="!!research" descr="research.png"/>
          <p:cNvPicPr>
            <a:picLocks noChangeAspect="1"/>
          </p:cNvPicPr>
          <p:nvPr/>
        </p:nvPicPr>
        <p:blipFill>
          <a:blip r:embed="rId8"/>
          <a:srcRect/>
          <a:stretch>
            <a:fillRect/>
          </a:stretch>
        </p:blipFill>
        <p:spPr>
          <a:xfrm>
            <a:off x="9098280" y="249990"/>
            <a:ext cx="2286000" cy="2122714"/>
          </a:xfrm>
          <a:prstGeom prst="rect">
            <a:avLst/>
          </a:prstGeom>
        </p:spPr>
      </p:pic>
      <p:sp>
        <p:nvSpPr>
          <p:cNvPr id="9" name="TextBox 8"/>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05</a:t>
            </a:r>
          </a:p>
        </p:txBody>
      </p:sp>
      <p:sp>
        <p:nvSpPr>
          <p:cNvPr id="10" name="!!kicker"/>
          <p:cNvSpPr txBox="1"/>
          <p:nvPr/>
        </p:nvSpPr>
        <p:spPr>
          <a:xfrm>
            <a:off x="685800" y="502920"/>
            <a:ext cx="768096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NGHIÊN CỨU &amp; CHUYỂN GIAO</a:t>
            </a:r>
          </a:p>
        </p:txBody>
      </p:sp>
      <p:sp>
        <p:nvSpPr>
          <p:cNvPr id="11" name="!!title"/>
          <p:cNvSpPr txBox="1"/>
          <p:nvPr/>
        </p:nvSpPr>
        <p:spPr>
          <a:xfrm>
            <a:off x="685800" y="850392"/>
            <a:ext cx="7680960" cy="528320"/>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Đồng hành </a:t>
            </a:r>
            <a:r>
              <a:rPr sz="3200" b="0" i="0">
                <a:solidFill>
                  <a:srgbClr val="8FD11E"/>
                </a:solidFill>
                <a:latin typeface="Be Vietnam Pro ExtraBold"/>
                <a:ea typeface="Be Vietnam Pro ExtraBold"/>
                <a:cs typeface="Be Vietnam Pro ExtraBold"/>
              </a:rPr>
              <a:t>trọn vòng đời</a:t>
            </a:r>
            <a:r>
              <a:rPr sz="3200" b="0" i="0">
                <a:solidFill>
                  <a:srgbClr val="FFFFFF"/>
                </a:solidFill>
                <a:latin typeface="Be Vietnam Pro ExtraBold"/>
                <a:ea typeface="Be Vietnam Pro ExtraBold"/>
                <a:cs typeface="Be Vietnam Pro ExtraBold"/>
              </a:rPr>
              <a:t> dự án</a:t>
            </a:r>
          </a:p>
        </p:txBody>
      </p:sp>
      <p:cxnSp>
        <p:nvCxnSpPr>
          <p:cNvPr id="12" name="!!rail"/>
          <p:cNvCxnSpPr/>
          <p:nvPr/>
        </p:nvCxnSpPr>
        <p:spPr>
          <a:xfrm>
            <a:off x="2175472" y="3285776"/>
            <a:ext cx="7840751" cy="0"/>
          </a:xfrm>
          <a:prstGeom prst="line">
            <a:avLst/>
          </a:prstGeom>
          <a:ln w="31750">
            <a:solidFill>
              <a:srgbClr val="7FC211">
                <a:alpha val="80000"/>
              </a:srgbClr>
            </a:solidFill>
          </a:ln>
          <a:effectLst>
            <a:glow rad="91440">
              <a:srgbClr val="7FC211">
                <a:alpha val="40000"/>
              </a:srgbClr>
            </a:glow>
          </a:effectLst>
        </p:spPr>
        <p:style>
          <a:lnRef idx="2">
            <a:schemeClr val="accent1"/>
          </a:lnRef>
          <a:fillRef idx="0">
            <a:schemeClr val="accent1"/>
          </a:fillRef>
          <a:effectRef idx="0">
            <a:schemeClr val="accent1"/>
          </a:effectRef>
          <a:fontRef idx="minor">
            <a:schemeClr val="tx1"/>
          </a:fontRef>
        </p:style>
      </p:cxnSp>
      <p:sp>
        <p:nvSpPr>
          <p:cNvPr id="13" name="Oval 12"/>
          <p:cNvSpPr/>
          <p:nvPr/>
        </p:nvSpPr>
        <p:spPr>
          <a:xfrm>
            <a:off x="1828000" y="2938304"/>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01</a:t>
            </a:r>
          </a:p>
        </p:txBody>
      </p:sp>
      <p:sp>
        <p:nvSpPr>
          <p:cNvPr id="14" name="TextBox 13"/>
          <p:cNvSpPr txBox="1"/>
          <p:nvPr/>
        </p:nvSpPr>
        <p:spPr>
          <a:xfrm>
            <a:off x="978408" y="3834416"/>
            <a:ext cx="2394128"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Khảo sát &amp; đánh giá</a:t>
            </a:r>
          </a:p>
        </p:txBody>
      </p:sp>
      <p:sp>
        <p:nvSpPr>
          <p:cNvPr id="15" name="TextBox 14"/>
          <p:cNvSpPr txBox="1"/>
          <p:nvPr/>
        </p:nvSpPr>
        <p:spPr>
          <a:xfrm>
            <a:off x="1051560" y="4289711"/>
            <a:ext cx="2247824"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Cùng Sở, ban, ngành nhận diện bài toán; dữ liệu thực chứng cho chính sách.</a:t>
            </a:r>
          </a:p>
        </p:txBody>
      </p:sp>
      <p:sp>
        <p:nvSpPr>
          <p:cNvPr id="16" name="Oval 15"/>
          <p:cNvSpPr/>
          <p:nvPr/>
        </p:nvSpPr>
        <p:spPr>
          <a:xfrm>
            <a:off x="4441584" y="2938304"/>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02</a:t>
            </a:r>
          </a:p>
        </p:txBody>
      </p:sp>
      <p:sp>
        <p:nvSpPr>
          <p:cNvPr id="17" name="TextBox 16"/>
          <p:cNvSpPr txBox="1"/>
          <p:nvPr/>
        </p:nvSpPr>
        <p:spPr>
          <a:xfrm>
            <a:off x="3591992" y="3834416"/>
            <a:ext cx="2394128"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Tư vấn &amp; lập dự án</a:t>
            </a:r>
          </a:p>
        </p:txBody>
      </p:sp>
      <p:sp>
        <p:nvSpPr>
          <p:cNvPr id="18" name="TextBox 17"/>
          <p:cNvSpPr txBox="1"/>
          <p:nvPr/>
        </p:nvSpPr>
        <p:spPr>
          <a:xfrm>
            <a:off x="3665144" y="4289711"/>
            <a:ext cx="2247824"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Dự án KH&amp;CN trọng điểm, bám sát định hướng phát triển kinh tế – xã hội.</a:t>
            </a:r>
          </a:p>
        </p:txBody>
      </p:sp>
      <p:sp>
        <p:nvSpPr>
          <p:cNvPr id="19" name="Oval 18"/>
          <p:cNvSpPr/>
          <p:nvPr/>
        </p:nvSpPr>
        <p:spPr>
          <a:xfrm>
            <a:off x="7055168" y="2938304"/>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03</a:t>
            </a:r>
          </a:p>
        </p:txBody>
      </p:sp>
      <p:sp>
        <p:nvSpPr>
          <p:cNvPr id="20" name="TextBox 19"/>
          <p:cNvSpPr txBox="1"/>
          <p:nvPr/>
        </p:nvSpPr>
        <p:spPr>
          <a:xfrm>
            <a:off x="6205576" y="3834416"/>
            <a:ext cx="2394128"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Công bố khoa học</a:t>
            </a:r>
          </a:p>
        </p:txBody>
      </p:sp>
      <p:sp>
        <p:nvSpPr>
          <p:cNvPr id="21" name="TextBox 20"/>
          <p:cNvSpPr txBox="1"/>
          <p:nvPr/>
        </p:nvSpPr>
        <p:spPr>
          <a:xfrm>
            <a:off x="6278728" y="4289711"/>
            <a:ext cx="2247824"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Hỗ trợ công bố kết quả trên tạp chí uy tín trong và ngoài nước.</a:t>
            </a:r>
          </a:p>
        </p:txBody>
      </p:sp>
      <p:sp>
        <p:nvSpPr>
          <p:cNvPr id="22" name="Oval 21"/>
          <p:cNvSpPr/>
          <p:nvPr/>
        </p:nvSpPr>
        <p:spPr>
          <a:xfrm>
            <a:off x="9668751" y="2938304"/>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04</a:t>
            </a:r>
          </a:p>
        </p:txBody>
      </p:sp>
      <p:sp>
        <p:nvSpPr>
          <p:cNvPr id="23" name="TextBox 22"/>
          <p:cNvSpPr txBox="1"/>
          <p:nvPr/>
        </p:nvSpPr>
        <p:spPr>
          <a:xfrm>
            <a:off x="8819159" y="3834416"/>
            <a:ext cx="2394128"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Chuyển giao ứng dụng</a:t>
            </a:r>
          </a:p>
        </p:txBody>
      </p:sp>
      <p:sp>
        <p:nvSpPr>
          <p:cNvPr id="24" name="TextBox 23"/>
          <p:cNvSpPr txBox="1"/>
          <p:nvPr/>
        </p:nvSpPr>
        <p:spPr>
          <a:xfrm>
            <a:off x="8892311" y="4289711"/>
            <a:ext cx="2247824"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Đưa kết quả thành giải pháp quản lý, công nghệ dùng ngay.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22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22" presetClass="entr" presetSubtype="8" fill="hold" grpId="0"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900"/>
                                        <p:tgtEl>
                                          <p:spTgt spid="12"/>
                                        </p:tgtEl>
                                      </p:cBhvr>
                                    </p:animEffect>
                                  </p:childTnLst>
                                </p:cTn>
                              </p:par>
                              <p:par>
                                <p:cTn id="17" presetID="53" presetClass="entr" presetSubtype="16" fill="hold" grpId="0" nodeType="withEffect">
                                  <p:stCondLst>
                                    <p:cond delay="70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450" fill="hold"/>
                                        <p:tgtEl>
                                          <p:spTgt spid="13"/>
                                        </p:tgtEl>
                                        <p:attrNameLst>
                                          <p:attrName>ppt_w</p:attrName>
                                        </p:attrNameLst>
                                      </p:cBhvr>
                                      <p:tavLst>
                                        <p:tav tm="0">
                                          <p:val>
                                            <p:strVal val="#ppt_w*0.7"/>
                                          </p:val>
                                        </p:tav>
                                        <p:tav tm="100000">
                                          <p:val>
                                            <p:strVal val="#ppt_w"/>
                                          </p:val>
                                        </p:tav>
                                      </p:tavLst>
                                    </p:anim>
                                    <p:anim calcmode="lin" valueType="num">
                                      <p:cBhvr additive="base">
                                        <p:cTn id="20" dur="450" fill="hold"/>
                                        <p:tgtEl>
                                          <p:spTgt spid="13"/>
                                        </p:tgtEl>
                                        <p:attrNameLst>
                                          <p:attrName>ppt_h</p:attrName>
                                        </p:attrNameLst>
                                      </p:cBhvr>
                                      <p:tavLst>
                                        <p:tav tm="0">
                                          <p:val>
                                            <p:strVal val="#ppt_h*0.7"/>
                                          </p:val>
                                        </p:tav>
                                        <p:tav tm="100000">
                                          <p:val>
                                            <p:strVal val="#ppt_h"/>
                                          </p:val>
                                        </p:tav>
                                      </p:tavLst>
                                    </p:anim>
                                    <p:animEffect transition="in" filter="fade">
                                      <p:cBhvr>
                                        <p:cTn id="21" dur="450"/>
                                        <p:tgtEl>
                                          <p:spTgt spid="13"/>
                                        </p:tgtEl>
                                      </p:cBhvr>
                                    </p:animEffect>
                                  </p:childTnLst>
                                </p:cTn>
                              </p:par>
                              <p:par>
                                <p:cTn id="22" presetID="53" presetClass="entr" presetSubtype="16" fill="hold" grpId="0" nodeType="withEffect">
                                  <p:stCondLst>
                                    <p:cond delay="70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450" fill="hold"/>
                                        <p:tgtEl>
                                          <p:spTgt spid="14"/>
                                        </p:tgtEl>
                                        <p:attrNameLst>
                                          <p:attrName>ppt_w</p:attrName>
                                        </p:attrNameLst>
                                      </p:cBhvr>
                                      <p:tavLst>
                                        <p:tav tm="0">
                                          <p:val>
                                            <p:strVal val="#ppt_w*0.7"/>
                                          </p:val>
                                        </p:tav>
                                        <p:tav tm="100000">
                                          <p:val>
                                            <p:strVal val="#ppt_w"/>
                                          </p:val>
                                        </p:tav>
                                      </p:tavLst>
                                    </p:anim>
                                    <p:anim calcmode="lin" valueType="num">
                                      <p:cBhvr additive="base">
                                        <p:cTn id="25" dur="450" fill="hold"/>
                                        <p:tgtEl>
                                          <p:spTgt spid="14"/>
                                        </p:tgtEl>
                                        <p:attrNameLst>
                                          <p:attrName>ppt_h</p:attrName>
                                        </p:attrNameLst>
                                      </p:cBhvr>
                                      <p:tavLst>
                                        <p:tav tm="0">
                                          <p:val>
                                            <p:strVal val="#ppt_h*0.7"/>
                                          </p:val>
                                        </p:tav>
                                        <p:tav tm="100000">
                                          <p:val>
                                            <p:strVal val="#ppt_h"/>
                                          </p:val>
                                        </p:tav>
                                      </p:tavLst>
                                    </p:anim>
                                    <p:animEffect transition="in" filter="fade">
                                      <p:cBhvr>
                                        <p:cTn id="26" dur="450"/>
                                        <p:tgtEl>
                                          <p:spTgt spid="14"/>
                                        </p:tgtEl>
                                      </p:cBhvr>
                                    </p:animEffect>
                                  </p:childTnLst>
                                </p:cTn>
                              </p:par>
                              <p:par>
                                <p:cTn id="27" presetID="53" presetClass="entr" presetSubtype="16" fill="hold" grpId="0" nodeType="withEffect">
                                  <p:stCondLst>
                                    <p:cond delay="70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450" fill="hold"/>
                                        <p:tgtEl>
                                          <p:spTgt spid="15"/>
                                        </p:tgtEl>
                                        <p:attrNameLst>
                                          <p:attrName>ppt_w</p:attrName>
                                        </p:attrNameLst>
                                      </p:cBhvr>
                                      <p:tavLst>
                                        <p:tav tm="0">
                                          <p:val>
                                            <p:strVal val="#ppt_w*0.7"/>
                                          </p:val>
                                        </p:tav>
                                        <p:tav tm="100000">
                                          <p:val>
                                            <p:strVal val="#ppt_w"/>
                                          </p:val>
                                        </p:tav>
                                      </p:tavLst>
                                    </p:anim>
                                    <p:anim calcmode="lin" valueType="num">
                                      <p:cBhvr additive="base">
                                        <p:cTn id="30" dur="450" fill="hold"/>
                                        <p:tgtEl>
                                          <p:spTgt spid="15"/>
                                        </p:tgtEl>
                                        <p:attrNameLst>
                                          <p:attrName>ppt_h</p:attrName>
                                        </p:attrNameLst>
                                      </p:cBhvr>
                                      <p:tavLst>
                                        <p:tav tm="0">
                                          <p:val>
                                            <p:strVal val="#ppt_h*0.7"/>
                                          </p:val>
                                        </p:tav>
                                        <p:tav tm="100000">
                                          <p:val>
                                            <p:strVal val="#ppt_h"/>
                                          </p:val>
                                        </p:tav>
                                      </p:tavLst>
                                    </p:anim>
                                    <p:animEffect transition="in" filter="fade">
                                      <p:cBhvr>
                                        <p:cTn id="31" dur="450"/>
                                        <p:tgtEl>
                                          <p:spTgt spid="15"/>
                                        </p:tgtEl>
                                      </p:cBhvr>
                                    </p:animEffect>
                                  </p:childTnLst>
                                </p:cTn>
                              </p:par>
                              <p:par>
                                <p:cTn id="32" presetID="53" presetClass="entr" presetSubtype="16" fill="hold" grpId="0" nodeType="withEffect">
                                  <p:stCondLst>
                                    <p:cond delay="919"/>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450" fill="hold"/>
                                        <p:tgtEl>
                                          <p:spTgt spid="16"/>
                                        </p:tgtEl>
                                        <p:attrNameLst>
                                          <p:attrName>ppt_w</p:attrName>
                                        </p:attrNameLst>
                                      </p:cBhvr>
                                      <p:tavLst>
                                        <p:tav tm="0">
                                          <p:val>
                                            <p:strVal val="#ppt_w*0.7"/>
                                          </p:val>
                                        </p:tav>
                                        <p:tav tm="100000">
                                          <p:val>
                                            <p:strVal val="#ppt_w"/>
                                          </p:val>
                                        </p:tav>
                                      </p:tavLst>
                                    </p:anim>
                                    <p:anim calcmode="lin" valueType="num">
                                      <p:cBhvr additive="base">
                                        <p:cTn id="35" dur="450" fill="hold"/>
                                        <p:tgtEl>
                                          <p:spTgt spid="16"/>
                                        </p:tgtEl>
                                        <p:attrNameLst>
                                          <p:attrName>ppt_h</p:attrName>
                                        </p:attrNameLst>
                                      </p:cBhvr>
                                      <p:tavLst>
                                        <p:tav tm="0">
                                          <p:val>
                                            <p:strVal val="#ppt_h*0.7"/>
                                          </p:val>
                                        </p:tav>
                                        <p:tav tm="100000">
                                          <p:val>
                                            <p:strVal val="#ppt_h"/>
                                          </p:val>
                                        </p:tav>
                                      </p:tavLst>
                                    </p:anim>
                                    <p:animEffect transition="in" filter="fade">
                                      <p:cBhvr>
                                        <p:cTn id="36" dur="450"/>
                                        <p:tgtEl>
                                          <p:spTgt spid="16"/>
                                        </p:tgtEl>
                                      </p:cBhvr>
                                    </p:animEffect>
                                  </p:childTnLst>
                                </p:cTn>
                              </p:par>
                              <p:par>
                                <p:cTn id="37" presetID="53" presetClass="entr" presetSubtype="16" fill="hold" grpId="0" nodeType="withEffect">
                                  <p:stCondLst>
                                    <p:cond delay="919"/>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450" fill="hold"/>
                                        <p:tgtEl>
                                          <p:spTgt spid="17"/>
                                        </p:tgtEl>
                                        <p:attrNameLst>
                                          <p:attrName>ppt_w</p:attrName>
                                        </p:attrNameLst>
                                      </p:cBhvr>
                                      <p:tavLst>
                                        <p:tav tm="0">
                                          <p:val>
                                            <p:strVal val="#ppt_w*0.7"/>
                                          </p:val>
                                        </p:tav>
                                        <p:tav tm="100000">
                                          <p:val>
                                            <p:strVal val="#ppt_w"/>
                                          </p:val>
                                        </p:tav>
                                      </p:tavLst>
                                    </p:anim>
                                    <p:anim calcmode="lin" valueType="num">
                                      <p:cBhvr additive="base">
                                        <p:cTn id="40" dur="450" fill="hold"/>
                                        <p:tgtEl>
                                          <p:spTgt spid="17"/>
                                        </p:tgtEl>
                                        <p:attrNameLst>
                                          <p:attrName>ppt_h</p:attrName>
                                        </p:attrNameLst>
                                      </p:cBhvr>
                                      <p:tavLst>
                                        <p:tav tm="0">
                                          <p:val>
                                            <p:strVal val="#ppt_h*0.7"/>
                                          </p:val>
                                        </p:tav>
                                        <p:tav tm="100000">
                                          <p:val>
                                            <p:strVal val="#ppt_h"/>
                                          </p:val>
                                        </p:tav>
                                      </p:tavLst>
                                    </p:anim>
                                    <p:animEffect transition="in" filter="fade">
                                      <p:cBhvr>
                                        <p:cTn id="41" dur="450"/>
                                        <p:tgtEl>
                                          <p:spTgt spid="17"/>
                                        </p:tgtEl>
                                      </p:cBhvr>
                                    </p:animEffect>
                                  </p:childTnLst>
                                </p:cTn>
                              </p:par>
                              <p:par>
                                <p:cTn id="42" presetID="53" presetClass="entr" presetSubtype="16" fill="hold" grpId="0" nodeType="withEffect">
                                  <p:stCondLst>
                                    <p:cond delay="919"/>
                                  </p:stCondLst>
                                  <p:childTnLst>
                                    <p:set>
                                      <p:cBhvr>
                                        <p:cTn id="43" dur="1" fill="hold">
                                          <p:stCondLst>
                                            <p:cond delay="0"/>
                                          </p:stCondLst>
                                        </p:cTn>
                                        <p:tgtEl>
                                          <p:spTgt spid="18"/>
                                        </p:tgtEl>
                                        <p:attrNameLst>
                                          <p:attrName>style.visibility</p:attrName>
                                        </p:attrNameLst>
                                      </p:cBhvr>
                                      <p:to>
                                        <p:strVal val="visible"/>
                                      </p:to>
                                    </p:set>
                                    <p:anim calcmode="lin" valueType="num">
                                      <p:cBhvr additive="base">
                                        <p:cTn id="44" dur="450" fill="hold"/>
                                        <p:tgtEl>
                                          <p:spTgt spid="18"/>
                                        </p:tgtEl>
                                        <p:attrNameLst>
                                          <p:attrName>ppt_w</p:attrName>
                                        </p:attrNameLst>
                                      </p:cBhvr>
                                      <p:tavLst>
                                        <p:tav tm="0">
                                          <p:val>
                                            <p:strVal val="#ppt_w*0.7"/>
                                          </p:val>
                                        </p:tav>
                                        <p:tav tm="100000">
                                          <p:val>
                                            <p:strVal val="#ppt_w"/>
                                          </p:val>
                                        </p:tav>
                                      </p:tavLst>
                                    </p:anim>
                                    <p:anim calcmode="lin" valueType="num">
                                      <p:cBhvr additive="base">
                                        <p:cTn id="45" dur="450" fill="hold"/>
                                        <p:tgtEl>
                                          <p:spTgt spid="18"/>
                                        </p:tgtEl>
                                        <p:attrNameLst>
                                          <p:attrName>ppt_h</p:attrName>
                                        </p:attrNameLst>
                                      </p:cBhvr>
                                      <p:tavLst>
                                        <p:tav tm="0">
                                          <p:val>
                                            <p:strVal val="#ppt_h*0.7"/>
                                          </p:val>
                                        </p:tav>
                                        <p:tav tm="100000">
                                          <p:val>
                                            <p:strVal val="#ppt_h"/>
                                          </p:val>
                                        </p:tav>
                                      </p:tavLst>
                                    </p:anim>
                                    <p:animEffect transition="in" filter="fade">
                                      <p:cBhvr>
                                        <p:cTn id="46" dur="450"/>
                                        <p:tgtEl>
                                          <p:spTgt spid="18"/>
                                        </p:tgtEl>
                                      </p:cBhvr>
                                    </p:animEffect>
                                  </p:childTnLst>
                                </p:cTn>
                              </p:par>
                              <p:par>
                                <p:cTn id="47" presetID="53" presetClass="entr" presetSubtype="16" fill="hold" grpId="0" nodeType="withEffect">
                                  <p:stCondLst>
                                    <p:cond delay="114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450" fill="hold"/>
                                        <p:tgtEl>
                                          <p:spTgt spid="19"/>
                                        </p:tgtEl>
                                        <p:attrNameLst>
                                          <p:attrName>ppt_w</p:attrName>
                                        </p:attrNameLst>
                                      </p:cBhvr>
                                      <p:tavLst>
                                        <p:tav tm="0">
                                          <p:val>
                                            <p:strVal val="#ppt_w*0.7"/>
                                          </p:val>
                                        </p:tav>
                                        <p:tav tm="100000">
                                          <p:val>
                                            <p:strVal val="#ppt_w"/>
                                          </p:val>
                                        </p:tav>
                                      </p:tavLst>
                                    </p:anim>
                                    <p:anim calcmode="lin" valueType="num">
                                      <p:cBhvr additive="base">
                                        <p:cTn id="50" dur="450" fill="hold"/>
                                        <p:tgtEl>
                                          <p:spTgt spid="19"/>
                                        </p:tgtEl>
                                        <p:attrNameLst>
                                          <p:attrName>ppt_h</p:attrName>
                                        </p:attrNameLst>
                                      </p:cBhvr>
                                      <p:tavLst>
                                        <p:tav tm="0">
                                          <p:val>
                                            <p:strVal val="#ppt_h*0.7"/>
                                          </p:val>
                                        </p:tav>
                                        <p:tav tm="100000">
                                          <p:val>
                                            <p:strVal val="#ppt_h"/>
                                          </p:val>
                                        </p:tav>
                                      </p:tavLst>
                                    </p:anim>
                                    <p:animEffect transition="in" filter="fade">
                                      <p:cBhvr>
                                        <p:cTn id="51" dur="450"/>
                                        <p:tgtEl>
                                          <p:spTgt spid="19"/>
                                        </p:tgtEl>
                                      </p:cBhvr>
                                    </p:animEffect>
                                  </p:childTnLst>
                                </p:cTn>
                              </p:par>
                              <p:par>
                                <p:cTn id="52" presetID="53" presetClass="entr" presetSubtype="16" fill="hold" grpId="0" nodeType="withEffect">
                                  <p:stCondLst>
                                    <p:cond delay="1140"/>
                                  </p:stCondLst>
                                  <p:childTnLst>
                                    <p:set>
                                      <p:cBhvr>
                                        <p:cTn id="53" dur="1" fill="hold">
                                          <p:stCondLst>
                                            <p:cond delay="0"/>
                                          </p:stCondLst>
                                        </p:cTn>
                                        <p:tgtEl>
                                          <p:spTgt spid="20"/>
                                        </p:tgtEl>
                                        <p:attrNameLst>
                                          <p:attrName>style.visibility</p:attrName>
                                        </p:attrNameLst>
                                      </p:cBhvr>
                                      <p:to>
                                        <p:strVal val="visible"/>
                                      </p:to>
                                    </p:set>
                                    <p:anim calcmode="lin" valueType="num">
                                      <p:cBhvr additive="base">
                                        <p:cTn id="54" dur="450" fill="hold"/>
                                        <p:tgtEl>
                                          <p:spTgt spid="20"/>
                                        </p:tgtEl>
                                        <p:attrNameLst>
                                          <p:attrName>ppt_w</p:attrName>
                                        </p:attrNameLst>
                                      </p:cBhvr>
                                      <p:tavLst>
                                        <p:tav tm="0">
                                          <p:val>
                                            <p:strVal val="#ppt_w*0.7"/>
                                          </p:val>
                                        </p:tav>
                                        <p:tav tm="100000">
                                          <p:val>
                                            <p:strVal val="#ppt_w"/>
                                          </p:val>
                                        </p:tav>
                                      </p:tavLst>
                                    </p:anim>
                                    <p:anim calcmode="lin" valueType="num">
                                      <p:cBhvr additive="base">
                                        <p:cTn id="55" dur="450" fill="hold"/>
                                        <p:tgtEl>
                                          <p:spTgt spid="20"/>
                                        </p:tgtEl>
                                        <p:attrNameLst>
                                          <p:attrName>ppt_h</p:attrName>
                                        </p:attrNameLst>
                                      </p:cBhvr>
                                      <p:tavLst>
                                        <p:tav tm="0">
                                          <p:val>
                                            <p:strVal val="#ppt_h*0.7"/>
                                          </p:val>
                                        </p:tav>
                                        <p:tav tm="100000">
                                          <p:val>
                                            <p:strVal val="#ppt_h"/>
                                          </p:val>
                                        </p:tav>
                                      </p:tavLst>
                                    </p:anim>
                                    <p:animEffect transition="in" filter="fade">
                                      <p:cBhvr>
                                        <p:cTn id="56" dur="450"/>
                                        <p:tgtEl>
                                          <p:spTgt spid="20"/>
                                        </p:tgtEl>
                                      </p:cBhvr>
                                    </p:animEffect>
                                  </p:childTnLst>
                                </p:cTn>
                              </p:par>
                              <p:par>
                                <p:cTn id="57" presetID="53" presetClass="entr" presetSubtype="16" fill="hold" grpId="0" nodeType="withEffect">
                                  <p:stCondLst>
                                    <p:cond delay="114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450" fill="hold"/>
                                        <p:tgtEl>
                                          <p:spTgt spid="21"/>
                                        </p:tgtEl>
                                        <p:attrNameLst>
                                          <p:attrName>ppt_w</p:attrName>
                                        </p:attrNameLst>
                                      </p:cBhvr>
                                      <p:tavLst>
                                        <p:tav tm="0">
                                          <p:val>
                                            <p:strVal val="#ppt_w*0.7"/>
                                          </p:val>
                                        </p:tav>
                                        <p:tav tm="100000">
                                          <p:val>
                                            <p:strVal val="#ppt_w"/>
                                          </p:val>
                                        </p:tav>
                                      </p:tavLst>
                                    </p:anim>
                                    <p:anim calcmode="lin" valueType="num">
                                      <p:cBhvr additive="base">
                                        <p:cTn id="60" dur="450" fill="hold"/>
                                        <p:tgtEl>
                                          <p:spTgt spid="21"/>
                                        </p:tgtEl>
                                        <p:attrNameLst>
                                          <p:attrName>ppt_h</p:attrName>
                                        </p:attrNameLst>
                                      </p:cBhvr>
                                      <p:tavLst>
                                        <p:tav tm="0">
                                          <p:val>
                                            <p:strVal val="#ppt_h*0.7"/>
                                          </p:val>
                                        </p:tav>
                                        <p:tav tm="100000">
                                          <p:val>
                                            <p:strVal val="#ppt_h"/>
                                          </p:val>
                                        </p:tav>
                                      </p:tavLst>
                                    </p:anim>
                                    <p:animEffect transition="in" filter="fade">
                                      <p:cBhvr>
                                        <p:cTn id="61" dur="450"/>
                                        <p:tgtEl>
                                          <p:spTgt spid="21"/>
                                        </p:tgtEl>
                                      </p:cBhvr>
                                    </p:animEffect>
                                  </p:childTnLst>
                                </p:cTn>
                              </p:par>
                              <p:par>
                                <p:cTn id="62" presetID="53" presetClass="entr" presetSubtype="16" fill="hold" grpId="0" nodeType="withEffect">
                                  <p:stCondLst>
                                    <p:cond delay="1359"/>
                                  </p:stCondLst>
                                  <p:childTnLst>
                                    <p:set>
                                      <p:cBhvr>
                                        <p:cTn id="63" dur="1" fill="hold">
                                          <p:stCondLst>
                                            <p:cond delay="0"/>
                                          </p:stCondLst>
                                        </p:cTn>
                                        <p:tgtEl>
                                          <p:spTgt spid="22"/>
                                        </p:tgtEl>
                                        <p:attrNameLst>
                                          <p:attrName>style.visibility</p:attrName>
                                        </p:attrNameLst>
                                      </p:cBhvr>
                                      <p:to>
                                        <p:strVal val="visible"/>
                                      </p:to>
                                    </p:set>
                                    <p:anim calcmode="lin" valueType="num">
                                      <p:cBhvr additive="base">
                                        <p:cTn id="64" dur="450" fill="hold"/>
                                        <p:tgtEl>
                                          <p:spTgt spid="22"/>
                                        </p:tgtEl>
                                        <p:attrNameLst>
                                          <p:attrName>ppt_w</p:attrName>
                                        </p:attrNameLst>
                                      </p:cBhvr>
                                      <p:tavLst>
                                        <p:tav tm="0">
                                          <p:val>
                                            <p:strVal val="#ppt_w*0.7"/>
                                          </p:val>
                                        </p:tav>
                                        <p:tav tm="100000">
                                          <p:val>
                                            <p:strVal val="#ppt_w"/>
                                          </p:val>
                                        </p:tav>
                                      </p:tavLst>
                                    </p:anim>
                                    <p:anim calcmode="lin" valueType="num">
                                      <p:cBhvr additive="base">
                                        <p:cTn id="65" dur="450" fill="hold"/>
                                        <p:tgtEl>
                                          <p:spTgt spid="22"/>
                                        </p:tgtEl>
                                        <p:attrNameLst>
                                          <p:attrName>ppt_h</p:attrName>
                                        </p:attrNameLst>
                                      </p:cBhvr>
                                      <p:tavLst>
                                        <p:tav tm="0">
                                          <p:val>
                                            <p:strVal val="#ppt_h*0.7"/>
                                          </p:val>
                                        </p:tav>
                                        <p:tav tm="100000">
                                          <p:val>
                                            <p:strVal val="#ppt_h"/>
                                          </p:val>
                                        </p:tav>
                                      </p:tavLst>
                                    </p:anim>
                                    <p:animEffect transition="in" filter="fade">
                                      <p:cBhvr>
                                        <p:cTn id="66" dur="450"/>
                                        <p:tgtEl>
                                          <p:spTgt spid="22"/>
                                        </p:tgtEl>
                                      </p:cBhvr>
                                    </p:animEffect>
                                  </p:childTnLst>
                                </p:cTn>
                              </p:par>
                              <p:par>
                                <p:cTn id="67" presetID="53" presetClass="entr" presetSubtype="16" fill="hold" grpId="0" nodeType="withEffect">
                                  <p:stCondLst>
                                    <p:cond delay="1359"/>
                                  </p:stCondLst>
                                  <p:childTnLst>
                                    <p:set>
                                      <p:cBhvr>
                                        <p:cTn id="68" dur="1" fill="hold">
                                          <p:stCondLst>
                                            <p:cond delay="0"/>
                                          </p:stCondLst>
                                        </p:cTn>
                                        <p:tgtEl>
                                          <p:spTgt spid="23"/>
                                        </p:tgtEl>
                                        <p:attrNameLst>
                                          <p:attrName>style.visibility</p:attrName>
                                        </p:attrNameLst>
                                      </p:cBhvr>
                                      <p:to>
                                        <p:strVal val="visible"/>
                                      </p:to>
                                    </p:set>
                                    <p:anim calcmode="lin" valueType="num">
                                      <p:cBhvr additive="base">
                                        <p:cTn id="69" dur="450" fill="hold"/>
                                        <p:tgtEl>
                                          <p:spTgt spid="23"/>
                                        </p:tgtEl>
                                        <p:attrNameLst>
                                          <p:attrName>ppt_w</p:attrName>
                                        </p:attrNameLst>
                                      </p:cBhvr>
                                      <p:tavLst>
                                        <p:tav tm="0">
                                          <p:val>
                                            <p:strVal val="#ppt_w*0.7"/>
                                          </p:val>
                                        </p:tav>
                                        <p:tav tm="100000">
                                          <p:val>
                                            <p:strVal val="#ppt_w"/>
                                          </p:val>
                                        </p:tav>
                                      </p:tavLst>
                                    </p:anim>
                                    <p:anim calcmode="lin" valueType="num">
                                      <p:cBhvr additive="base">
                                        <p:cTn id="70" dur="450" fill="hold"/>
                                        <p:tgtEl>
                                          <p:spTgt spid="23"/>
                                        </p:tgtEl>
                                        <p:attrNameLst>
                                          <p:attrName>ppt_h</p:attrName>
                                        </p:attrNameLst>
                                      </p:cBhvr>
                                      <p:tavLst>
                                        <p:tav tm="0">
                                          <p:val>
                                            <p:strVal val="#ppt_h*0.7"/>
                                          </p:val>
                                        </p:tav>
                                        <p:tav tm="100000">
                                          <p:val>
                                            <p:strVal val="#ppt_h"/>
                                          </p:val>
                                        </p:tav>
                                      </p:tavLst>
                                    </p:anim>
                                    <p:animEffect transition="in" filter="fade">
                                      <p:cBhvr>
                                        <p:cTn id="71" dur="450"/>
                                        <p:tgtEl>
                                          <p:spTgt spid="23"/>
                                        </p:tgtEl>
                                      </p:cBhvr>
                                    </p:animEffect>
                                  </p:childTnLst>
                                </p:cTn>
                              </p:par>
                              <p:par>
                                <p:cTn id="72" presetID="53" presetClass="entr" presetSubtype="16" fill="hold" grpId="0" nodeType="withEffect">
                                  <p:stCondLst>
                                    <p:cond delay="1359"/>
                                  </p:stCondLst>
                                  <p:childTnLst>
                                    <p:set>
                                      <p:cBhvr>
                                        <p:cTn id="73" dur="1" fill="hold">
                                          <p:stCondLst>
                                            <p:cond delay="0"/>
                                          </p:stCondLst>
                                        </p:cTn>
                                        <p:tgtEl>
                                          <p:spTgt spid="24"/>
                                        </p:tgtEl>
                                        <p:attrNameLst>
                                          <p:attrName>style.visibility</p:attrName>
                                        </p:attrNameLst>
                                      </p:cBhvr>
                                      <p:to>
                                        <p:strVal val="visible"/>
                                      </p:to>
                                    </p:set>
                                    <p:anim calcmode="lin" valueType="num">
                                      <p:cBhvr additive="base">
                                        <p:cTn id="74" dur="450" fill="hold"/>
                                        <p:tgtEl>
                                          <p:spTgt spid="24"/>
                                        </p:tgtEl>
                                        <p:attrNameLst>
                                          <p:attrName>ppt_w</p:attrName>
                                        </p:attrNameLst>
                                      </p:cBhvr>
                                      <p:tavLst>
                                        <p:tav tm="0">
                                          <p:val>
                                            <p:strVal val="#ppt_w*0.7"/>
                                          </p:val>
                                        </p:tav>
                                        <p:tav tm="100000">
                                          <p:val>
                                            <p:strVal val="#ppt_w"/>
                                          </p:val>
                                        </p:tav>
                                      </p:tavLst>
                                    </p:anim>
                                    <p:anim calcmode="lin" valueType="num">
                                      <p:cBhvr additive="base">
                                        <p:cTn id="75" dur="450" fill="hold"/>
                                        <p:tgtEl>
                                          <p:spTgt spid="24"/>
                                        </p:tgtEl>
                                        <p:attrNameLst>
                                          <p:attrName>ppt_h</p:attrName>
                                        </p:attrNameLst>
                                      </p:cBhvr>
                                      <p:tavLst>
                                        <p:tav tm="0">
                                          <p:val>
                                            <p:strVal val="#ppt_h*0.7"/>
                                          </p:val>
                                        </p:tav>
                                        <p:tav tm="100000">
                                          <p:val>
                                            <p:strVal val="#ppt_h"/>
                                          </p:val>
                                        </p:tav>
                                      </p:tavLst>
                                    </p:anim>
                                    <p:animEffect transition="in" filter="fade">
                                      <p:cBhvr>
                                        <p:cTn id="76"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righ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pic>
        <p:nvPicPr>
          <p:cNvPr id="8" name="Picture 7" descr="glow_7FC211_28_1.7.png"/>
          <p:cNvPicPr>
            <a:picLocks noChangeAspect="1"/>
          </p:cNvPicPr>
          <p:nvPr/>
        </p:nvPicPr>
        <p:blipFill>
          <a:blip r:embed="rId8"/>
          <a:stretch>
            <a:fillRect/>
          </a:stretch>
        </p:blipFill>
        <p:spPr>
          <a:xfrm>
            <a:off x="7020306" y="1853946"/>
            <a:ext cx="4704588" cy="4704588"/>
          </a:xfrm>
          <a:prstGeom prst="rect">
            <a:avLst/>
          </a:prstGeom>
        </p:spPr>
      </p:pic>
      <p:pic>
        <p:nvPicPr>
          <p:cNvPr id="9" name="!!aux_digital" descr="digital.png"/>
          <p:cNvPicPr>
            <a:picLocks noChangeAspect="1"/>
          </p:cNvPicPr>
          <p:nvPr/>
        </p:nvPicPr>
        <p:blipFill>
          <a:blip r:embed="rId9"/>
          <a:srcRect/>
          <a:stretch>
            <a:fillRect/>
          </a:stretch>
        </p:blipFill>
        <p:spPr>
          <a:xfrm>
            <a:off x="7132320" y="1739052"/>
            <a:ext cx="4480560" cy="4160520"/>
          </a:xfrm>
          <a:prstGeom prst="rect">
            <a:avLst/>
          </a:prstGeom>
        </p:spPr>
      </p:pic>
      <p:pic>
        <p:nvPicPr>
          <p:cNvPr id="10" name="!!logo" descr="logo_stp.png"/>
          <p:cNvPicPr>
            <a:picLocks noChangeAspect="1"/>
          </p:cNvPicPr>
          <p:nvPr/>
        </p:nvPicPr>
        <p:blipFill>
          <a:blip r:embed="rId10"/>
          <a:stretch>
            <a:fillRect/>
          </a:stretch>
        </p:blipFill>
        <p:spPr>
          <a:xfrm>
            <a:off x="10024567" y="384048"/>
            <a:ext cx="420624" cy="420624"/>
          </a:xfrm>
          <a:prstGeom prst="rect">
            <a:avLst/>
          </a:prstGeom>
        </p:spPr>
      </p:pic>
      <p:sp>
        <p:nvSpPr>
          <p:cNvPr id="11"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2" name="TextBox 11"/>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06</a:t>
            </a:r>
          </a:p>
        </p:txBody>
      </p:sp>
      <p:sp>
        <p:nvSpPr>
          <p:cNvPr id="13" name="!!kicker"/>
          <p:cNvSpPr txBox="1"/>
          <p:nvPr/>
        </p:nvSpPr>
        <p:spPr>
          <a:xfrm>
            <a:off x="685800" y="502920"/>
            <a:ext cx="676656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CHUYỂN ĐỔI SỐ DOANH NGHIỆP</a:t>
            </a:r>
          </a:p>
        </p:txBody>
      </p:sp>
      <p:sp>
        <p:nvSpPr>
          <p:cNvPr id="14" name="!!title"/>
          <p:cNvSpPr txBox="1"/>
          <p:nvPr/>
        </p:nvSpPr>
        <p:spPr>
          <a:xfrm>
            <a:off x="685800" y="850392"/>
            <a:ext cx="6766560" cy="983488"/>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Không chỉ tư vấn — </a:t>
            </a:r>
            <a:r>
              <a:rPr sz="3200" b="0" i="0">
                <a:solidFill>
                  <a:srgbClr val="8FD11E"/>
                </a:solidFill>
                <a:latin typeface="Be Vietnam Pro ExtraBold"/>
                <a:ea typeface="Be Vietnam Pro ExtraBold"/>
                <a:cs typeface="Be Vietnam Pro ExtraBold"/>
              </a:rPr>
              <a:t>trực tiếp triển khai</a:t>
            </a:r>
          </a:p>
        </p:txBody>
      </p:sp>
      <p:sp>
        <p:nvSpPr>
          <p:cNvPr id="15" name="Rounded Rectangle 14"/>
          <p:cNvSpPr/>
          <p:nvPr/>
        </p:nvSpPr>
        <p:spPr>
          <a:xfrm>
            <a:off x="685800" y="2194560"/>
            <a:ext cx="3223260" cy="1783080"/>
          </a:xfrm>
          <a:prstGeom prst="roundRect">
            <a:avLst>
              <a:gd name="adj" fmla="val 8205"/>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6" name="Oval 15"/>
          <p:cNvSpPr/>
          <p:nvPr/>
        </p:nvSpPr>
        <p:spPr>
          <a:xfrm>
            <a:off x="877824" y="2386584"/>
            <a:ext cx="530352" cy="530352"/>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search_8FD11E.png"/>
          <p:cNvPicPr>
            <a:picLocks noChangeAspect="1"/>
          </p:cNvPicPr>
          <p:nvPr/>
        </p:nvPicPr>
        <p:blipFill>
          <a:blip r:embed="rId11"/>
          <a:stretch>
            <a:fillRect/>
          </a:stretch>
        </p:blipFill>
        <p:spPr>
          <a:xfrm>
            <a:off x="994501" y="2503261"/>
            <a:ext cx="296997" cy="296997"/>
          </a:xfrm>
          <a:prstGeom prst="rect">
            <a:avLst/>
          </a:prstGeom>
        </p:spPr>
      </p:pic>
      <p:sp>
        <p:nvSpPr>
          <p:cNvPr id="18" name="TextBox 17"/>
          <p:cNvSpPr txBox="1"/>
          <p:nvPr/>
        </p:nvSpPr>
        <p:spPr>
          <a:xfrm>
            <a:off x="1554480" y="2377440"/>
            <a:ext cx="2217420" cy="548640"/>
          </a:xfrm>
          <a:prstGeom prst="rect">
            <a:avLst/>
          </a:prstGeom>
          <a:noFill/>
        </p:spPr>
        <p:txBody>
          <a:bodyPr wrap="square" lIns="0" rIns="0" tIns="0" bIns="0" anchor="ctr">
            <a:noAutofit/>
          </a:bodyPr>
          <a:lstStyle/>
          <a:p>
            <a:pPr algn="l">
              <a:lnSpc>
                <a:spcPct val="100000"/>
              </a:lnSpc>
              <a:spcAft>
                <a:spcPts val="0"/>
              </a:spcAft>
            </a:pPr>
            <a:r>
              <a:rPr sz="1450" b="0" i="0">
                <a:solidFill>
                  <a:srgbClr val="FFFFFF"/>
                </a:solidFill>
                <a:latin typeface="Be Vietnam Pro SemiBold"/>
                <a:ea typeface="Be Vietnam Pro SemiBold"/>
                <a:cs typeface="Be Vietnam Pro SemiBold"/>
              </a:rPr>
              <a:t>Khảo sát &amp; chẩn đoán</a:t>
            </a:r>
          </a:p>
        </p:txBody>
      </p:sp>
      <p:sp>
        <p:nvSpPr>
          <p:cNvPr id="19" name="TextBox 18"/>
          <p:cNvSpPr txBox="1"/>
          <p:nvPr/>
        </p:nvSpPr>
        <p:spPr>
          <a:xfrm>
            <a:off x="941832" y="3035808"/>
            <a:ext cx="2766060" cy="914400"/>
          </a:xfrm>
          <a:prstGeom prst="rect">
            <a:avLst/>
          </a:prstGeom>
          <a:noFill/>
        </p:spPr>
        <p:txBody>
          <a:bodyPr wrap="square" lIns="0" rIns="0" tIns="0" bIns="0" anchor="t">
            <a:noAutofit/>
          </a:bodyPr>
          <a:lstStyle/>
          <a:p>
            <a:pPr algn="l">
              <a:lnSpc>
                <a:spcPct val="115000"/>
              </a:lnSpc>
              <a:spcAft>
                <a:spcPts val="0"/>
              </a:spcAft>
            </a:pPr>
            <a:r>
              <a:rPr sz="1250" b="0" i="0">
                <a:solidFill>
                  <a:srgbClr val="C9D8CE"/>
                </a:solidFill>
                <a:latin typeface="Be Vietnam Pro"/>
                <a:ea typeface="Be Vietnam Pro"/>
                <a:cs typeface="Be Vietnam Pro"/>
              </a:rPr>
              <a:t>Đo mức độ trưởng thành số, thiết kế lộ trình phù hợp, tránh lãng phí.</a:t>
            </a:r>
          </a:p>
        </p:txBody>
      </p:sp>
      <p:sp>
        <p:nvSpPr>
          <p:cNvPr id="20" name="Rounded Rectangle 19"/>
          <p:cNvSpPr/>
          <p:nvPr/>
        </p:nvSpPr>
        <p:spPr>
          <a:xfrm>
            <a:off x="4137660" y="2194560"/>
            <a:ext cx="3223260" cy="1783080"/>
          </a:xfrm>
          <a:prstGeom prst="roundRect">
            <a:avLst>
              <a:gd name="adj" fmla="val 8205"/>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Oval 20"/>
          <p:cNvSpPr/>
          <p:nvPr/>
        </p:nvSpPr>
        <p:spPr>
          <a:xfrm>
            <a:off x="4329684" y="2386584"/>
            <a:ext cx="530352" cy="530352"/>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cpu_8FD11E.png"/>
          <p:cNvPicPr>
            <a:picLocks noChangeAspect="1"/>
          </p:cNvPicPr>
          <p:nvPr/>
        </p:nvPicPr>
        <p:blipFill>
          <a:blip r:embed="rId12"/>
          <a:stretch>
            <a:fillRect/>
          </a:stretch>
        </p:blipFill>
        <p:spPr>
          <a:xfrm>
            <a:off x="4446361" y="2503261"/>
            <a:ext cx="296997" cy="296997"/>
          </a:xfrm>
          <a:prstGeom prst="rect">
            <a:avLst/>
          </a:prstGeom>
        </p:spPr>
      </p:pic>
      <p:sp>
        <p:nvSpPr>
          <p:cNvPr id="23" name="TextBox 22"/>
          <p:cNvSpPr txBox="1"/>
          <p:nvPr/>
        </p:nvSpPr>
        <p:spPr>
          <a:xfrm>
            <a:off x="5006340" y="2377440"/>
            <a:ext cx="2217420" cy="548640"/>
          </a:xfrm>
          <a:prstGeom prst="rect">
            <a:avLst/>
          </a:prstGeom>
          <a:noFill/>
        </p:spPr>
        <p:txBody>
          <a:bodyPr wrap="square" lIns="0" rIns="0" tIns="0" bIns="0" anchor="ctr">
            <a:noAutofit/>
          </a:bodyPr>
          <a:lstStyle/>
          <a:p>
            <a:pPr algn="l">
              <a:lnSpc>
                <a:spcPct val="100000"/>
              </a:lnSpc>
              <a:spcAft>
                <a:spcPts val="0"/>
              </a:spcAft>
            </a:pPr>
            <a:r>
              <a:rPr sz="1550" b="0" i="0">
                <a:solidFill>
                  <a:srgbClr val="FFFFFF"/>
                </a:solidFill>
                <a:latin typeface="Be Vietnam Pro SemiBold"/>
                <a:ea typeface="Be Vietnam Pro SemiBold"/>
                <a:cs typeface="Be Vietnam Pro SemiBold"/>
              </a:rPr>
              <a:t>Phát triển giải pháp</a:t>
            </a:r>
          </a:p>
        </p:txBody>
      </p:sp>
      <p:sp>
        <p:nvSpPr>
          <p:cNvPr id="24" name="TextBox 23"/>
          <p:cNvSpPr txBox="1"/>
          <p:nvPr/>
        </p:nvSpPr>
        <p:spPr>
          <a:xfrm>
            <a:off x="4393692" y="3035808"/>
            <a:ext cx="2766060" cy="914400"/>
          </a:xfrm>
          <a:prstGeom prst="rect">
            <a:avLst/>
          </a:prstGeom>
          <a:noFill/>
        </p:spPr>
        <p:txBody>
          <a:bodyPr wrap="square" lIns="0" rIns="0" tIns="0" bIns="0" anchor="t">
            <a:noAutofit/>
          </a:bodyPr>
          <a:lstStyle/>
          <a:p>
            <a:pPr algn="l">
              <a:lnSpc>
                <a:spcPct val="115000"/>
              </a:lnSpc>
              <a:spcAft>
                <a:spcPts val="0"/>
              </a:spcAft>
            </a:pPr>
            <a:r>
              <a:rPr sz="1250" b="0" i="0">
                <a:solidFill>
                  <a:srgbClr val="C9D8CE"/>
                </a:solidFill>
                <a:latin typeface="Be Vietnam Pro"/>
                <a:ea typeface="Be Vietnam Pro"/>
                <a:cs typeface="Be Vietnam Pro"/>
              </a:rPr>
              <a:t>Phần mềm quản lý, tự động hóa quy trình, dashboard điều hành.</a:t>
            </a:r>
          </a:p>
        </p:txBody>
      </p:sp>
      <p:sp>
        <p:nvSpPr>
          <p:cNvPr id="25" name="Rounded Rectangle 24"/>
          <p:cNvSpPr/>
          <p:nvPr/>
        </p:nvSpPr>
        <p:spPr>
          <a:xfrm>
            <a:off x="685800" y="4160520"/>
            <a:ext cx="3223260" cy="1783080"/>
          </a:xfrm>
          <a:prstGeom prst="roundRect">
            <a:avLst>
              <a:gd name="adj" fmla="val 8205"/>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6" name="Oval 25"/>
          <p:cNvSpPr/>
          <p:nvPr/>
        </p:nvSpPr>
        <p:spPr>
          <a:xfrm>
            <a:off x="877824" y="4352544"/>
            <a:ext cx="530352" cy="530352"/>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bot_8FD11E.png"/>
          <p:cNvPicPr>
            <a:picLocks noChangeAspect="1"/>
          </p:cNvPicPr>
          <p:nvPr/>
        </p:nvPicPr>
        <p:blipFill>
          <a:blip r:embed="rId13"/>
          <a:stretch>
            <a:fillRect/>
          </a:stretch>
        </p:blipFill>
        <p:spPr>
          <a:xfrm>
            <a:off x="994501" y="4469221"/>
            <a:ext cx="296997" cy="296997"/>
          </a:xfrm>
          <a:prstGeom prst="rect">
            <a:avLst/>
          </a:prstGeom>
        </p:spPr>
      </p:pic>
      <p:sp>
        <p:nvSpPr>
          <p:cNvPr id="28" name="TextBox 27"/>
          <p:cNvSpPr txBox="1"/>
          <p:nvPr/>
        </p:nvSpPr>
        <p:spPr>
          <a:xfrm>
            <a:off x="1554480" y="4343400"/>
            <a:ext cx="2217420" cy="548640"/>
          </a:xfrm>
          <a:prstGeom prst="rect">
            <a:avLst/>
          </a:prstGeom>
          <a:noFill/>
        </p:spPr>
        <p:txBody>
          <a:bodyPr wrap="square" lIns="0" rIns="0" tIns="0" bIns="0" anchor="ctr">
            <a:noAutofit/>
          </a:bodyPr>
          <a:lstStyle/>
          <a:p>
            <a:pPr algn="l">
              <a:lnSpc>
                <a:spcPct val="100000"/>
              </a:lnSpc>
              <a:spcAft>
                <a:spcPts val="0"/>
              </a:spcAft>
            </a:pPr>
            <a:r>
              <a:rPr sz="1350" b="0" i="0">
                <a:solidFill>
                  <a:srgbClr val="FFFFFF"/>
                </a:solidFill>
                <a:latin typeface="Be Vietnam Pro SemiBold"/>
                <a:ea typeface="Be Vietnam Pro SemiBold"/>
                <a:cs typeface="Be Vietnam Pro SemiBold"/>
              </a:rPr>
              <a:t>Giải pháp AI đa thể thức</a:t>
            </a:r>
          </a:p>
        </p:txBody>
      </p:sp>
      <p:sp>
        <p:nvSpPr>
          <p:cNvPr id="29" name="TextBox 28"/>
          <p:cNvSpPr txBox="1"/>
          <p:nvPr/>
        </p:nvSpPr>
        <p:spPr>
          <a:xfrm>
            <a:off x="941832" y="5001768"/>
            <a:ext cx="2766060" cy="914400"/>
          </a:xfrm>
          <a:prstGeom prst="rect">
            <a:avLst/>
          </a:prstGeom>
          <a:noFill/>
        </p:spPr>
        <p:txBody>
          <a:bodyPr wrap="square" lIns="0" rIns="0" tIns="0" bIns="0" anchor="t">
            <a:noAutofit/>
          </a:bodyPr>
          <a:lstStyle/>
          <a:p>
            <a:pPr algn="l">
              <a:lnSpc>
                <a:spcPct val="115000"/>
              </a:lnSpc>
              <a:spcAft>
                <a:spcPts val="0"/>
              </a:spcAft>
            </a:pPr>
            <a:r>
              <a:rPr sz="1250" b="0" i="0">
                <a:solidFill>
                  <a:srgbClr val="C9D8CE"/>
                </a:solidFill>
                <a:latin typeface="Be Vietnam Pro"/>
                <a:ea typeface="Be Vietnam Pro"/>
                <a:cs typeface="Be Vietnam Pro"/>
              </a:rPr>
              <a:t>May đo theo đặc thù kinh doanh và quản lý nhà nước.</a:t>
            </a:r>
          </a:p>
        </p:txBody>
      </p:sp>
      <p:sp>
        <p:nvSpPr>
          <p:cNvPr id="30" name="Rounded Rectangle 29"/>
          <p:cNvSpPr/>
          <p:nvPr/>
        </p:nvSpPr>
        <p:spPr>
          <a:xfrm>
            <a:off x="4137660" y="4160520"/>
            <a:ext cx="3223260" cy="1783080"/>
          </a:xfrm>
          <a:prstGeom prst="roundRect">
            <a:avLst>
              <a:gd name="adj" fmla="val 8205"/>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1" name="Oval 30"/>
          <p:cNvSpPr/>
          <p:nvPr/>
        </p:nvSpPr>
        <p:spPr>
          <a:xfrm>
            <a:off x="4329684" y="4352544"/>
            <a:ext cx="530352" cy="530352"/>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handshake_8FD11E.png"/>
          <p:cNvPicPr>
            <a:picLocks noChangeAspect="1"/>
          </p:cNvPicPr>
          <p:nvPr/>
        </p:nvPicPr>
        <p:blipFill>
          <a:blip r:embed="rId14"/>
          <a:stretch>
            <a:fillRect/>
          </a:stretch>
        </p:blipFill>
        <p:spPr>
          <a:xfrm>
            <a:off x="4446361" y="4469221"/>
            <a:ext cx="296997" cy="296997"/>
          </a:xfrm>
          <a:prstGeom prst="rect">
            <a:avLst/>
          </a:prstGeom>
        </p:spPr>
      </p:pic>
      <p:sp>
        <p:nvSpPr>
          <p:cNvPr id="33" name="TextBox 32"/>
          <p:cNvSpPr txBox="1"/>
          <p:nvPr/>
        </p:nvSpPr>
        <p:spPr>
          <a:xfrm>
            <a:off x="5006340" y="4343400"/>
            <a:ext cx="2217420" cy="548640"/>
          </a:xfrm>
          <a:prstGeom prst="rect">
            <a:avLst/>
          </a:prstGeom>
          <a:noFill/>
        </p:spPr>
        <p:txBody>
          <a:bodyPr wrap="square" lIns="0" rIns="0" tIns="0" bIns="0" anchor="ctr">
            <a:noAutofit/>
          </a:bodyPr>
          <a:lstStyle/>
          <a:p>
            <a:pPr algn="l">
              <a:lnSpc>
                <a:spcPct val="100000"/>
              </a:lnSpc>
              <a:spcAft>
                <a:spcPts val="0"/>
              </a:spcAft>
            </a:pPr>
            <a:r>
              <a:rPr sz="1350" b="0" i="0">
                <a:solidFill>
                  <a:srgbClr val="FFFFFF"/>
                </a:solidFill>
                <a:latin typeface="Be Vietnam Pro SemiBold"/>
                <a:ea typeface="Be Vietnam Pro SemiBold"/>
                <a:cs typeface="Be Vietnam Pro SemiBold"/>
              </a:rPr>
              <a:t>Chuyển giao &amp; đồng hành</a:t>
            </a:r>
          </a:p>
        </p:txBody>
      </p:sp>
      <p:sp>
        <p:nvSpPr>
          <p:cNvPr id="34" name="TextBox 33"/>
          <p:cNvSpPr txBox="1"/>
          <p:nvPr/>
        </p:nvSpPr>
        <p:spPr>
          <a:xfrm>
            <a:off x="4393692" y="5001768"/>
            <a:ext cx="2766060" cy="914400"/>
          </a:xfrm>
          <a:prstGeom prst="rect">
            <a:avLst/>
          </a:prstGeom>
          <a:noFill/>
        </p:spPr>
        <p:txBody>
          <a:bodyPr wrap="square" lIns="0" rIns="0" tIns="0" bIns="0" anchor="t">
            <a:noAutofit/>
          </a:bodyPr>
          <a:lstStyle/>
          <a:p>
            <a:pPr algn="l">
              <a:lnSpc>
                <a:spcPct val="115000"/>
              </a:lnSpc>
              <a:spcAft>
                <a:spcPts val="0"/>
              </a:spcAft>
            </a:pPr>
            <a:r>
              <a:rPr sz="1250" b="0" i="0">
                <a:solidFill>
                  <a:srgbClr val="C9D8CE"/>
                </a:solidFill>
                <a:latin typeface="Be Vietnam Pro"/>
                <a:ea typeface="Be Vietnam Pro"/>
                <a:cs typeface="Be Vietnam Pro"/>
              </a:rPr>
              <a:t>Tư vấn thẩm định giá, hội nghị – hội thảo khoa học công nghệ.</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53" presetClass="entr" presetSubtype="16" fill="hold" grpId="0" nodeType="withEffect">
                                  <p:stCondLst>
                                    <p:cond delay="2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800" fill="hold"/>
                                        <p:tgtEl>
                                          <p:spTgt spid="8"/>
                                        </p:tgtEl>
                                        <p:attrNameLst>
                                          <p:attrName>ppt_w</p:attrName>
                                        </p:attrNameLst>
                                      </p:cBhvr>
                                      <p:tavLst>
                                        <p:tav tm="0">
                                          <p:val>
                                            <p:strVal val="#ppt_w*0.7"/>
                                          </p:val>
                                        </p:tav>
                                        <p:tav tm="100000">
                                          <p:val>
                                            <p:strVal val="#ppt_w"/>
                                          </p:val>
                                        </p:tav>
                                      </p:tavLst>
                                    </p:anim>
                                    <p:anim calcmode="lin" valueType="num">
                                      <p:cBhvr additive="base">
                                        <p:cTn id="20" dur="800" fill="hold"/>
                                        <p:tgtEl>
                                          <p:spTgt spid="8"/>
                                        </p:tgtEl>
                                        <p:attrNameLst>
                                          <p:attrName>ppt_h</p:attrName>
                                        </p:attrNameLst>
                                      </p:cBhvr>
                                      <p:tavLst>
                                        <p:tav tm="0">
                                          <p:val>
                                            <p:strVal val="#ppt_h*0.7"/>
                                          </p:val>
                                        </p:tav>
                                        <p:tav tm="100000">
                                          <p:val>
                                            <p:strVal val="#ppt_h"/>
                                          </p:val>
                                        </p:tav>
                                      </p:tavLst>
                                    </p:anim>
                                    <p:animEffect transition="in" filter="fade">
                                      <p:cBhvr>
                                        <p:cTn id="21" dur="800"/>
                                        <p:tgtEl>
                                          <p:spTgt spid="8"/>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53" presetClass="entr" presetSubtype="16" fill="hold" grpId="0" nodeType="withEffect">
                                  <p:stCondLst>
                                    <p:cond delay="30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800" fill="hold"/>
                                        <p:tgtEl>
                                          <p:spTgt spid="9"/>
                                        </p:tgtEl>
                                        <p:attrNameLst>
                                          <p:attrName>ppt_w</p:attrName>
                                        </p:attrNameLst>
                                      </p:cBhvr>
                                      <p:tavLst>
                                        <p:tav tm="0">
                                          <p:val>
                                            <p:strVal val="#ppt_w*0.7"/>
                                          </p:val>
                                        </p:tav>
                                        <p:tav tm="100000">
                                          <p:val>
                                            <p:strVal val="#ppt_w"/>
                                          </p:val>
                                        </p:tav>
                                      </p:tavLst>
                                    </p:anim>
                                    <p:anim calcmode="lin" valueType="num">
                                      <p:cBhvr additive="base">
                                        <p:cTn id="28" dur="800" fill="hold"/>
                                        <p:tgtEl>
                                          <p:spTgt spid="9"/>
                                        </p:tgtEl>
                                        <p:attrNameLst>
                                          <p:attrName>ppt_h</p:attrName>
                                        </p:attrNameLst>
                                      </p:cBhvr>
                                      <p:tavLst>
                                        <p:tav tm="0">
                                          <p:val>
                                            <p:strVal val="#ppt_h*0.7"/>
                                          </p:val>
                                        </p:tav>
                                        <p:tav tm="100000">
                                          <p:val>
                                            <p:strVal val="#ppt_h"/>
                                          </p:val>
                                        </p:tav>
                                      </p:tavLst>
                                    </p:anim>
                                    <p:animEffect transition="in" filter="fade">
                                      <p:cBhvr>
                                        <p:cTn id="29" dur="800"/>
                                        <p:tgtEl>
                                          <p:spTgt spid="9"/>
                                        </p:tgtEl>
                                      </p:cBhvr>
                                    </p:animEffect>
                                  </p:childTnLst>
                                </p:cTn>
                              </p:par>
                              <p:par>
                                <p:cTn id="30" presetID="42" presetClass="entr" presetSubtype="0" fill="hold" grpId="0" nodeType="withEffect">
                                  <p:stCondLst>
                                    <p:cond delay="70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50"/>
                                        <p:tgtEl>
                                          <p:spTgt spid="15"/>
                                        </p:tgtEl>
                                      </p:cBhvr>
                                    </p:animEffect>
                                    <p:anim calcmode="lin" valueType="num">
                                      <p:cBhvr additive="base">
                                        <p:cTn id="33" dur="450" fill="hold"/>
                                        <p:tgtEl>
                                          <p:spTgt spid="15"/>
                                        </p:tgtEl>
                                        <p:attrNameLst>
                                          <p:attrName>ppt_x</p:attrName>
                                        </p:attrNameLst>
                                      </p:cBhvr>
                                      <p:tavLst>
                                        <p:tav tm="0">
                                          <p:val>
                                            <p:strVal val="#ppt_x"/>
                                          </p:val>
                                        </p:tav>
                                        <p:tav tm="100000">
                                          <p:val>
                                            <p:strVal val="#ppt_x"/>
                                          </p:val>
                                        </p:tav>
                                      </p:tavLst>
                                    </p:anim>
                                    <p:anim calcmode="lin" valueType="num">
                                      <p:cBhvr additive="base">
                                        <p:cTn id="34" dur="450" fill="hold"/>
                                        <p:tgtEl>
                                          <p:spTgt spid="15"/>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7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anim calcmode="lin" valueType="num">
                                      <p:cBhvr additive="base">
                                        <p:cTn id="38" dur="450" fill="hold"/>
                                        <p:tgtEl>
                                          <p:spTgt spid="16"/>
                                        </p:tgtEl>
                                        <p:attrNameLst>
                                          <p:attrName>ppt_x</p:attrName>
                                        </p:attrNameLst>
                                      </p:cBhvr>
                                      <p:tavLst>
                                        <p:tav tm="0">
                                          <p:val>
                                            <p:strVal val="#ppt_x"/>
                                          </p:val>
                                        </p:tav>
                                        <p:tav tm="100000">
                                          <p:val>
                                            <p:strVal val="#ppt_x"/>
                                          </p:val>
                                        </p:tav>
                                      </p:tavLst>
                                    </p:anim>
                                    <p:anim calcmode="lin" valueType="num">
                                      <p:cBhvr additive="base">
                                        <p:cTn id="39" dur="450" fill="hold"/>
                                        <p:tgtEl>
                                          <p:spTgt spid="16"/>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70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anim calcmode="lin" valueType="num">
                                      <p:cBhvr additive="base">
                                        <p:cTn id="43" dur="450" fill="hold"/>
                                        <p:tgtEl>
                                          <p:spTgt spid="17"/>
                                        </p:tgtEl>
                                        <p:attrNameLst>
                                          <p:attrName>ppt_x</p:attrName>
                                        </p:attrNameLst>
                                      </p:cBhvr>
                                      <p:tavLst>
                                        <p:tav tm="0">
                                          <p:val>
                                            <p:strVal val="#ppt_x"/>
                                          </p:val>
                                        </p:tav>
                                        <p:tav tm="100000">
                                          <p:val>
                                            <p:strVal val="#ppt_x"/>
                                          </p:val>
                                        </p:tav>
                                      </p:tavLst>
                                    </p:anim>
                                    <p:anim calcmode="lin" valueType="num">
                                      <p:cBhvr additive="base">
                                        <p:cTn id="44" dur="450" fill="hold"/>
                                        <p:tgtEl>
                                          <p:spTgt spid="17"/>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70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anim calcmode="lin" valueType="num">
                                      <p:cBhvr additive="base">
                                        <p:cTn id="48" dur="450" fill="hold"/>
                                        <p:tgtEl>
                                          <p:spTgt spid="18"/>
                                        </p:tgtEl>
                                        <p:attrNameLst>
                                          <p:attrName>ppt_x</p:attrName>
                                        </p:attrNameLst>
                                      </p:cBhvr>
                                      <p:tavLst>
                                        <p:tav tm="0">
                                          <p:val>
                                            <p:strVal val="#ppt_x"/>
                                          </p:val>
                                        </p:tav>
                                        <p:tav tm="100000">
                                          <p:val>
                                            <p:strVal val="#ppt_x"/>
                                          </p:val>
                                        </p:tav>
                                      </p:tavLst>
                                    </p:anim>
                                    <p:anim calcmode="lin" valueType="num">
                                      <p:cBhvr additive="base">
                                        <p:cTn id="49" dur="450" fill="hold"/>
                                        <p:tgtEl>
                                          <p:spTgt spid="18"/>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7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anim calcmode="lin" valueType="num">
                                      <p:cBhvr additive="base">
                                        <p:cTn id="53" dur="450" fill="hold"/>
                                        <p:tgtEl>
                                          <p:spTgt spid="19"/>
                                        </p:tgtEl>
                                        <p:attrNameLst>
                                          <p:attrName>ppt_x</p:attrName>
                                        </p:attrNameLst>
                                      </p:cBhvr>
                                      <p:tavLst>
                                        <p:tav tm="0">
                                          <p:val>
                                            <p:strVal val="#ppt_x"/>
                                          </p:val>
                                        </p:tav>
                                        <p:tav tm="100000">
                                          <p:val>
                                            <p:strVal val="#ppt_x"/>
                                          </p:val>
                                        </p:tav>
                                      </p:tavLst>
                                    </p:anim>
                                    <p:anim calcmode="lin" valueType="num">
                                      <p:cBhvr additive="base">
                                        <p:cTn id="54" dur="450" fill="hold"/>
                                        <p:tgtEl>
                                          <p:spTgt spid="19"/>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8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anim calcmode="lin" valueType="num">
                                      <p:cBhvr additive="base">
                                        <p:cTn id="58" dur="450" fill="hold"/>
                                        <p:tgtEl>
                                          <p:spTgt spid="20"/>
                                        </p:tgtEl>
                                        <p:attrNameLst>
                                          <p:attrName>ppt_x</p:attrName>
                                        </p:attrNameLst>
                                      </p:cBhvr>
                                      <p:tavLst>
                                        <p:tav tm="0">
                                          <p:val>
                                            <p:strVal val="#ppt_x"/>
                                          </p:val>
                                        </p:tav>
                                        <p:tav tm="100000">
                                          <p:val>
                                            <p:strVal val="#ppt_x"/>
                                          </p:val>
                                        </p:tav>
                                      </p:tavLst>
                                    </p:anim>
                                    <p:anim calcmode="lin" valueType="num">
                                      <p:cBhvr additive="base">
                                        <p:cTn id="59" dur="450" fill="hold"/>
                                        <p:tgtEl>
                                          <p:spTgt spid="20"/>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85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450"/>
                                        <p:tgtEl>
                                          <p:spTgt spid="21"/>
                                        </p:tgtEl>
                                      </p:cBhvr>
                                    </p:animEffect>
                                    <p:anim calcmode="lin" valueType="num">
                                      <p:cBhvr additive="base">
                                        <p:cTn id="63" dur="450" fill="hold"/>
                                        <p:tgtEl>
                                          <p:spTgt spid="21"/>
                                        </p:tgtEl>
                                        <p:attrNameLst>
                                          <p:attrName>ppt_x</p:attrName>
                                        </p:attrNameLst>
                                      </p:cBhvr>
                                      <p:tavLst>
                                        <p:tav tm="0">
                                          <p:val>
                                            <p:strVal val="#ppt_x"/>
                                          </p:val>
                                        </p:tav>
                                        <p:tav tm="100000">
                                          <p:val>
                                            <p:strVal val="#ppt_x"/>
                                          </p:val>
                                        </p:tav>
                                      </p:tavLst>
                                    </p:anim>
                                    <p:anim calcmode="lin" valueType="num">
                                      <p:cBhvr additive="base">
                                        <p:cTn id="64" dur="450" fill="hold"/>
                                        <p:tgtEl>
                                          <p:spTgt spid="21"/>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85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anim calcmode="lin" valueType="num">
                                      <p:cBhvr additive="base">
                                        <p:cTn id="68" dur="450" fill="hold"/>
                                        <p:tgtEl>
                                          <p:spTgt spid="22"/>
                                        </p:tgtEl>
                                        <p:attrNameLst>
                                          <p:attrName>ppt_x</p:attrName>
                                        </p:attrNameLst>
                                      </p:cBhvr>
                                      <p:tavLst>
                                        <p:tav tm="0">
                                          <p:val>
                                            <p:strVal val="#ppt_x"/>
                                          </p:val>
                                        </p:tav>
                                        <p:tav tm="100000">
                                          <p:val>
                                            <p:strVal val="#ppt_x"/>
                                          </p:val>
                                        </p:tav>
                                      </p:tavLst>
                                    </p:anim>
                                    <p:anim calcmode="lin" valueType="num">
                                      <p:cBhvr additive="base">
                                        <p:cTn id="69" dur="450" fill="hold"/>
                                        <p:tgtEl>
                                          <p:spTgt spid="22"/>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85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450"/>
                                        <p:tgtEl>
                                          <p:spTgt spid="23"/>
                                        </p:tgtEl>
                                      </p:cBhvr>
                                    </p:animEffect>
                                    <p:anim calcmode="lin" valueType="num">
                                      <p:cBhvr additive="base">
                                        <p:cTn id="73" dur="450" fill="hold"/>
                                        <p:tgtEl>
                                          <p:spTgt spid="23"/>
                                        </p:tgtEl>
                                        <p:attrNameLst>
                                          <p:attrName>ppt_x</p:attrName>
                                        </p:attrNameLst>
                                      </p:cBhvr>
                                      <p:tavLst>
                                        <p:tav tm="0">
                                          <p:val>
                                            <p:strVal val="#ppt_x"/>
                                          </p:val>
                                        </p:tav>
                                        <p:tav tm="100000">
                                          <p:val>
                                            <p:strVal val="#ppt_x"/>
                                          </p:val>
                                        </p:tav>
                                      </p:tavLst>
                                    </p:anim>
                                    <p:anim calcmode="lin" valueType="num">
                                      <p:cBhvr additive="base">
                                        <p:cTn id="74" dur="450" fill="hold"/>
                                        <p:tgtEl>
                                          <p:spTgt spid="23"/>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85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450"/>
                                        <p:tgtEl>
                                          <p:spTgt spid="24"/>
                                        </p:tgtEl>
                                      </p:cBhvr>
                                    </p:animEffect>
                                    <p:anim calcmode="lin" valueType="num">
                                      <p:cBhvr additive="base">
                                        <p:cTn id="78" dur="450" fill="hold"/>
                                        <p:tgtEl>
                                          <p:spTgt spid="24"/>
                                        </p:tgtEl>
                                        <p:attrNameLst>
                                          <p:attrName>ppt_x</p:attrName>
                                        </p:attrNameLst>
                                      </p:cBhvr>
                                      <p:tavLst>
                                        <p:tav tm="0">
                                          <p:val>
                                            <p:strVal val="#ppt_x"/>
                                          </p:val>
                                        </p:tav>
                                        <p:tav tm="100000">
                                          <p:val>
                                            <p:strVal val="#ppt_x"/>
                                          </p:val>
                                        </p:tav>
                                      </p:tavLst>
                                    </p:anim>
                                    <p:anim calcmode="lin" valueType="num">
                                      <p:cBhvr additive="base">
                                        <p:cTn id="79" dur="450" fill="hold"/>
                                        <p:tgtEl>
                                          <p:spTgt spid="24"/>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100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450"/>
                                        <p:tgtEl>
                                          <p:spTgt spid="25"/>
                                        </p:tgtEl>
                                      </p:cBhvr>
                                    </p:animEffect>
                                    <p:anim calcmode="lin" valueType="num">
                                      <p:cBhvr additive="base">
                                        <p:cTn id="83" dur="450" fill="hold"/>
                                        <p:tgtEl>
                                          <p:spTgt spid="25"/>
                                        </p:tgtEl>
                                        <p:attrNameLst>
                                          <p:attrName>ppt_x</p:attrName>
                                        </p:attrNameLst>
                                      </p:cBhvr>
                                      <p:tavLst>
                                        <p:tav tm="0">
                                          <p:val>
                                            <p:strVal val="#ppt_x"/>
                                          </p:val>
                                        </p:tav>
                                        <p:tav tm="100000">
                                          <p:val>
                                            <p:strVal val="#ppt_x"/>
                                          </p:val>
                                        </p:tav>
                                      </p:tavLst>
                                    </p:anim>
                                    <p:anim calcmode="lin" valueType="num">
                                      <p:cBhvr additive="base">
                                        <p:cTn id="84" dur="450" fill="hold"/>
                                        <p:tgtEl>
                                          <p:spTgt spid="25"/>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100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450"/>
                                        <p:tgtEl>
                                          <p:spTgt spid="26"/>
                                        </p:tgtEl>
                                      </p:cBhvr>
                                    </p:animEffect>
                                    <p:anim calcmode="lin" valueType="num">
                                      <p:cBhvr additive="base">
                                        <p:cTn id="88" dur="450" fill="hold"/>
                                        <p:tgtEl>
                                          <p:spTgt spid="26"/>
                                        </p:tgtEl>
                                        <p:attrNameLst>
                                          <p:attrName>ppt_x</p:attrName>
                                        </p:attrNameLst>
                                      </p:cBhvr>
                                      <p:tavLst>
                                        <p:tav tm="0">
                                          <p:val>
                                            <p:strVal val="#ppt_x"/>
                                          </p:val>
                                        </p:tav>
                                        <p:tav tm="100000">
                                          <p:val>
                                            <p:strVal val="#ppt_x"/>
                                          </p:val>
                                        </p:tav>
                                      </p:tavLst>
                                    </p:anim>
                                    <p:anim calcmode="lin" valueType="num">
                                      <p:cBhvr additive="base">
                                        <p:cTn id="89" dur="450" fill="hold"/>
                                        <p:tgtEl>
                                          <p:spTgt spid="26"/>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100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450"/>
                                        <p:tgtEl>
                                          <p:spTgt spid="27"/>
                                        </p:tgtEl>
                                      </p:cBhvr>
                                    </p:animEffect>
                                    <p:anim calcmode="lin" valueType="num">
                                      <p:cBhvr additive="base">
                                        <p:cTn id="93" dur="450" fill="hold"/>
                                        <p:tgtEl>
                                          <p:spTgt spid="27"/>
                                        </p:tgtEl>
                                        <p:attrNameLst>
                                          <p:attrName>ppt_x</p:attrName>
                                        </p:attrNameLst>
                                      </p:cBhvr>
                                      <p:tavLst>
                                        <p:tav tm="0">
                                          <p:val>
                                            <p:strVal val="#ppt_x"/>
                                          </p:val>
                                        </p:tav>
                                        <p:tav tm="100000">
                                          <p:val>
                                            <p:strVal val="#ppt_x"/>
                                          </p:val>
                                        </p:tav>
                                      </p:tavLst>
                                    </p:anim>
                                    <p:anim calcmode="lin" valueType="num">
                                      <p:cBhvr additive="base">
                                        <p:cTn id="94" dur="450" fill="hold"/>
                                        <p:tgtEl>
                                          <p:spTgt spid="27"/>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1000"/>
                                  </p:stCondLst>
                                  <p:childTnLst>
                                    <p:set>
                                      <p:cBhvr>
                                        <p:cTn id="96" dur="1" fill="hold">
                                          <p:stCondLst>
                                            <p:cond delay="0"/>
                                          </p:stCondLst>
                                        </p:cTn>
                                        <p:tgtEl>
                                          <p:spTgt spid="28"/>
                                        </p:tgtEl>
                                        <p:attrNameLst>
                                          <p:attrName>style.visibility</p:attrName>
                                        </p:attrNameLst>
                                      </p:cBhvr>
                                      <p:to>
                                        <p:strVal val="visible"/>
                                      </p:to>
                                    </p:set>
                                    <p:animEffect transition="in" filter="fade">
                                      <p:cBhvr>
                                        <p:cTn id="97" dur="450"/>
                                        <p:tgtEl>
                                          <p:spTgt spid="28"/>
                                        </p:tgtEl>
                                      </p:cBhvr>
                                    </p:animEffect>
                                    <p:anim calcmode="lin" valueType="num">
                                      <p:cBhvr additive="base">
                                        <p:cTn id="98" dur="450" fill="hold"/>
                                        <p:tgtEl>
                                          <p:spTgt spid="28"/>
                                        </p:tgtEl>
                                        <p:attrNameLst>
                                          <p:attrName>ppt_x</p:attrName>
                                        </p:attrNameLst>
                                      </p:cBhvr>
                                      <p:tavLst>
                                        <p:tav tm="0">
                                          <p:val>
                                            <p:strVal val="#ppt_x"/>
                                          </p:val>
                                        </p:tav>
                                        <p:tav tm="100000">
                                          <p:val>
                                            <p:strVal val="#ppt_x"/>
                                          </p:val>
                                        </p:tav>
                                      </p:tavLst>
                                    </p:anim>
                                    <p:anim calcmode="lin" valueType="num">
                                      <p:cBhvr additive="base">
                                        <p:cTn id="99" dur="450" fill="hold"/>
                                        <p:tgtEl>
                                          <p:spTgt spid="28"/>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100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450"/>
                                        <p:tgtEl>
                                          <p:spTgt spid="29"/>
                                        </p:tgtEl>
                                      </p:cBhvr>
                                    </p:animEffect>
                                    <p:anim calcmode="lin" valueType="num">
                                      <p:cBhvr additive="base">
                                        <p:cTn id="103" dur="450" fill="hold"/>
                                        <p:tgtEl>
                                          <p:spTgt spid="29"/>
                                        </p:tgtEl>
                                        <p:attrNameLst>
                                          <p:attrName>ppt_x</p:attrName>
                                        </p:attrNameLst>
                                      </p:cBhvr>
                                      <p:tavLst>
                                        <p:tav tm="0">
                                          <p:val>
                                            <p:strVal val="#ppt_x"/>
                                          </p:val>
                                        </p:tav>
                                        <p:tav tm="100000">
                                          <p:val>
                                            <p:strVal val="#ppt_x"/>
                                          </p:val>
                                        </p:tav>
                                      </p:tavLst>
                                    </p:anim>
                                    <p:anim calcmode="lin" valueType="num">
                                      <p:cBhvr additive="base">
                                        <p:cTn id="104" dur="450" fill="hold"/>
                                        <p:tgtEl>
                                          <p:spTgt spid="29"/>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115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450"/>
                                        <p:tgtEl>
                                          <p:spTgt spid="30"/>
                                        </p:tgtEl>
                                      </p:cBhvr>
                                    </p:animEffect>
                                    <p:anim calcmode="lin" valueType="num">
                                      <p:cBhvr additive="base">
                                        <p:cTn id="108" dur="450" fill="hold"/>
                                        <p:tgtEl>
                                          <p:spTgt spid="30"/>
                                        </p:tgtEl>
                                        <p:attrNameLst>
                                          <p:attrName>ppt_x</p:attrName>
                                        </p:attrNameLst>
                                      </p:cBhvr>
                                      <p:tavLst>
                                        <p:tav tm="0">
                                          <p:val>
                                            <p:strVal val="#ppt_x"/>
                                          </p:val>
                                        </p:tav>
                                        <p:tav tm="100000">
                                          <p:val>
                                            <p:strVal val="#ppt_x"/>
                                          </p:val>
                                        </p:tav>
                                      </p:tavLst>
                                    </p:anim>
                                    <p:anim calcmode="lin" valueType="num">
                                      <p:cBhvr additive="base">
                                        <p:cTn id="109" dur="450" fill="hold"/>
                                        <p:tgtEl>
                                          <p:spTgt spid="30"/>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115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450"/>
                                        <p:tgtEl>
                                          <p:spTgt spid="31"/>
                                        </p:tgtEl>
                                      </p:cBhvr>
                                    </p:animEffect>
                                    <p:anim calcmode="lin" valueType="num">
                                      <p:cBhvr additive="base">
                                        <p:cTn id="113" dur="450" fill="hold"/>
                                        <p:tgtEl>
                                          <p:spTgt spid="31"/>
                                        </p:tgtEl>
                                        <p:attrNameLst>
                                          <p:attrName>ppt_x</p:attrName>
                                        </p:attrNameLst>
                                      </p:cBhvr>
                                      <p:tavLst>
                                        <p:tav tm="0">
                                          <p:val>
                                            <p:strVal val="#ppt_x"/>
                                          </p:val>
                                        </p:tav>
                                        <p:tav tm="100000">
                                          <p:val>
                                            <p:strVal val="#ppt_x"/>
                                          </p:val>
                                        </p:tav>
                                      </p:tavLst>
                                    </p:anim>
                                    <p:anim calcmode="lin" valueType="num">
                                      <p:cBhvr additive="base">
                                        <p:cTn id="114" dur="450" fill="hold"/>
                                        <p:tgtEl>
                                          <p:spTgt spid="31"/>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1150"/>
                                  </p:stCondLst>
                                  <p:childTnLst>
                                    <p:set>
                                      <p:cBhvr>
                                        <p:cTn id="116" dur="1" fill="hold">
                                          <p:stCondLst>
                                            <p:cond delay="0"/>
                                          </p:stCondLst>
                                        </p:cTn>
                                        <p:tgtEl>
                                          <p:spTgt spid="32"/>
                                        </p:tgtEl>
                                        <p:attrNameLst>
                                          <p:attrName>style.visibility</p:attrName>
                                        </p:attrNameLst>
                                      </p:cBhvr>
                                      <p:to>
                                        <p:strVal val="visible"/>
                                      </p:to>
                                    </p:set>
                                    <p:animEffect transition="in" filter="fade">
                                      <p:cBhvr>
                                        <p:cTn id="117" dur="450"/>
                                        <p:tgtEl>
                                          <p:spTgt spid="32"/>
                                        </p:tgtEl>
                                      </p:cBhvr>
                                    </p:animEffect>
                                    <p:anim calcmode="lin" valueType="num">
                                      <p:cBhvr additive="base">
                                        <p:cTn id="118" dur="450" fill="hold"/>
                                        <p:tgtEl>
                                          <p:spTgt spid="32"/>
                                        </p:tgtEl>
                                        <p:attrNameLst>
                                          <p:attrName>ppt_x</p:attrName>
                                        </p:attrNameLst>
                                      </p:cBhvr>
                                      <p:tavLst>
                                        <p:tav tm="0">
                                          <p:val>
                                            <p:strVal val="#ppt_x"/>
                                          </p:val>
                                        </p:tav>
                                        <p:tav tm="100000">
                                          <p:val>
                                            <p:strVal val="#ppt_x"/>
                                          </p:val>
                                        </p:tav>
                                      </p:tavLst>
                                    </p:anim>
                                    <p:anim calcmode="lin" valueType="num">
                                      <p:cBhvr additive="base">
                                        <p:cTn id="119" dur="450" fill="hold"/>
                                        <p:tgtEl>
                                          <p:spTgt spid="32"/>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115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450"/>
                                        <p:tgtEl>
                                          <p:spTgt spid="33"/>
                                        </p:tgtEl>
                                      </p:cBhvr>
                                    </p:animEffect>
                                    <p:anim calcmode="lin" valueType="num">
                                      <p:cBhvr additive="base">
                                        <p:cTn id="123" dur="450" fill="hold"/>
                                        <p:tgtEl>
                                          <p:spTgt spid="33"/>
                                        </p:tgtEl>
                                        <p:attrNameLst>
                                          <p:attrName>ppt_x</p:attrName>
                                        </p:attrNameLst>
                                      </p:cBhvr>
                                      <p:tavLst>
                                        <p:tav tm="0">
                                          <p:val>
                                            <p:strVal val="#ppt_x"/>
                                          </p:val>
                                        </p:tav>
                                        <p:tav tm="100000">
                                          <p:val>
                                            <p:strVal val="#ppt_x"/>
                                          </p:val>
                                        </p:tav>
                                      </p:tavLst>
                                    </p:anim>
                                    <p:anim calcmode="lin" valueType="num">
                                      <p:cBhvr additive="base">
                                        <p:cTn id="124" dur="450" fill="hold"/>
                                        <p:tgtEl>
                                          <p:spTgt spid="33"/>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1150"/>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450"/>
                                        <p:tgtEl>
                                          <p:spTgt spid="34"/>
                                        </p:tgtEl>
                                      </p:cBhvr>
                                    </p:animEffect>
                                    <p:anim calcmode="lin" valueType="num">
                                      <p:cBhvr additive="base">
                                        <p:cTn id="128" dur="450" fill="hold"/>
                                        <p:tgtEl>
                                          <p:spTgt spid="34"/>
                                        </p:tgtEl>
                                        <p:attrNameLst>
                                          <p:attrName>ppt_x</p:attrName>
                                        </p:attrNameLst>
                                      </p:cBhvr>
                                      <p:tavLst>
                                        <p:tav tm="0">
                                          <p:val>
                                            <p:strVal val="#ppt_x"/>
                                          </p:val>
                                        </p:tav>
                                        <p:tav tm="100000">
                                          <p:val>
                                            <p:strVal val="#ppt_x"/>
                                          </p:val>
                                        </p:tav>
                                      </p:tavLst>
                                    </p:anim>
                                    <p:anim calcmode="lin" valueType="num">
                                      <p:cBhvr additive="base">
                                        <p:cTn id="129" dur="450" fill="hold"/>
                                        <p:tgtEl>
                                          <p:spTgt spid="3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lef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ce" descr="trace.png"/>
          <p:cNvPicPr>
            <a:picLocks noChangeAspect="1"/>
          </p:cNvPicPr>
          <p:nvPr/>
        </p:nvPicPr>
        <p:blipFill>
          <a:blip r:embed="rId5"/>
          <a:srcRect/>
          <a:stretch>
            <a:fillRect/>
          </a:stretch>
        </p:blipFill>
        <p:spPr>
          <a:xfrm>
            <a:off x="13197535" y="2714240"/>
            <a:ext cx="2377440" cy="2207623"/>
          </a:xfrm>
          <a:prstGeom prst="rect">
            <a:avLst/>
          </a:prstGeom>
        </p:spPr>
      </p:pic>
      <p:pic>
        <p:nvPicPr>
          <p:cNvPr id="6" name="!!iot" descr="iot.png"/>
          <p:cNvPicPr>
            <a:picLocks noChangeAspect="1"/>
          </p:cNvPicPr>
          <p:nvPr/>
        </p:nvPicPr>
        <p:blipFill>
          <a:blip r:embed="rId6"/>
          <a:srcRect/>
          <a:stretch>
            <a:fillRect/>
          </a:stretch>
        </p:blipFill>
        <p:spPr>
          <a:xfrm>
            <a:off x="7345467" y="7926320"/>
            <a:ext cx="2377440" cy="2207623"/>
          </a:xfrm>
          <a:prstGeom prst="rect">
            <a:avLst/>
          </a:prstGeom>
        </p:spPr>
      </p:pic>
      <p:pic>
        <p:nvPicPr>
          <p:cNvPr id="7" name="!!glow_training" descr="glow_7FC211_30_1.7.png"/>
          <p:cNvPicPr>
            <a:picLocks noChangeAspect="1"/>
          </p:cNvPicPr>
          <p:nvPr/>
        </p:nvPicPr>
        <p:blipFill>
          <a:blip r:embed="rId7"/>
          <a:stretch>
            <a:fillRect/>
          </a:stretch>
        </p:blipFill>
        <p:spPr>
          <a:xfrm>
            <a:off x="5159502" y="1253185"/>
            <a:ext cx="6048756" cy="6048756"/>
          </a:xfrm>
          <a:prstGeom prst="rect">
            <a:avLst/>
          </a:prstGeom>
        </p:spPr>
      </p:pic>
      <p:pic>
        <p:nvPicPr>
          <p:cNvPr id="8" name="!!training" descr="training.png"/>
          <p:cNvPicPr>
            <a:picLocks noChangeAspect="1"/>
          </p:cNvPicPr>
          <p:nvPr/>
        </p:nvPicPr>
        <p:blipFill>
          <a:blip r:embed="rId8"/>
          <a:srcRect/>
          <a:stretch>
            <a:fillRect/>
          </a:stretch>
        </p:blipFill>
        <p:spPr>
          <a:xfrm>
            <a:off x="5303520" y="759821"/>
            <a:ext cx="5760720" cy="5349240"/>
          </a:xfrm>
          <a:prstGeom prst="rect">
            <a:avLst/>
          </a:prstGeom>
        </p:spPr>
      </p:pic>
      <p:pic>
        <p:nvPicPr>
          <p:cNvPr id="9" name="!!logo" descr="logo_stp.png"/>
          <p:cNvPicPr>
            <a:picLocks noChangeAspect="1"/>
          </p:cNvPicPr>
          <p:nvPr/>
        </p:nvPicPr>
        <p:blipFill>
          <a:blip r:embed="rId9"/>
          <a:stretch>
            <a:fillRect/>
          </a:stretch>
        </p:blipFill>
        <p:spPr>
          <a:xfrm>
            <a:off x="10024567" y="384048"/>
            <a:ext cx="420624" cy="420624"/>
          </a:xfrm>
          <a:prstGeom prst="rect">
            <a:avLst/>
          </a:prstGeom>
        </p:spPr>
      </p:pic>
      <p:sp>
        <p:nvSpPr>
          <p:cNvPr id="10"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1" name="TextBox 10"/>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07</a:t>
            </a:r>
          </a:p>
        </p:txBody>
      </p:sp>
      <p:sp>
        <p:nvSpPr>
          <p:cNvPr id="12" name="!!bignum"/>
          <p:cNvSpPr txBox="1"/>
          <p:nvPr/>
        </p:nvSpPr>
        <p:spPr>
          <a:xfrm>
            <a:off x="640080" y="502920"/>
            <a:ext cx="4114800" cy="1737360"/>
          </a:xfrm>
          <a:prstGeom prst="rect">
            <a:avLst/>
          </a:prstGeom>
          <a:noFill/>
        </p:spPr>
        <p:txBody>
          <a:bodyPr wrap="none" lIns="0" rIns="0" tIns="0" bIns="0" anchor="t">
            <a:noAutofit/>
          </a:bodyPr>
          <a:lstStyle/>
          <a:p>
            <a:pPr algn="l">
              <a:lnSpc>
                <a:spcPct val="90000"/>
              </a:lnSpc>
              <a:spcAft>
                <a:spcPts val="0"/>
              </a:spcAft>
            </a:pPr>
            <a:r>
              <a:rPr sz="12000" b="0" i="0">
                <a:solidFill>
                  <a:srgbClr val="8FD11E"/>
                </a:solidFill>
                <a:latin typeface="Be Vietnam Pro Thin"/>
                <a:ea typeface="Be Vietnam Pro Thin"/>
                <a:cs typeface="Be Vietnam Pro Thin"/>
              </a:rPr>
              <a:t>02</a:t>
            </a:r>
          </a:p>
        </p:txBody>
      </p:sp>
      <p:sp>
        <p:nvSpPr>
          <p:cNvPr id="13" name="!!kicker"/>
          <p:cNvSpPr txBox="1"/>
          <p:nvPr/>
        </p:nvSpPr>
        <p:spPr>
          <a:xfrm>
            <a:off x="685800" y="2331720"/>
            <a:ext cx="50292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TRỤ CỘT 02</a:t>
            </a:r>
          </a:p>
        </p:txBody>
      </p:sp>
      <p:sp>
        <p:nvSpPr>
          <p:cNvPr id="14" name="!!title"/>
          <p:cNvSpPr txBox="1"/>
          <p:nvPr/>
        </p:nvSpPr>
        <p:spPr>
          <a:xfrm>
            <a:off x="685800" y="2697480"/>
            <a:ext cx="5120640" cy="1211580"/>
          </a:xfrm>
          <a:prstGeom prst="rect">
            <a:avLst/>
          </a:prstGeom>
          <a:noFill/>
        </p:spPr>
        <p:txBody>
          <a:bodyPr wrap="square" lIns="0" rIns="0" tIns="0" bIns="0" anchor="t">
            <a:noAutofit/>
          </a:bodyPr>
          <a:lstStyle/>
          <a:p>
            <a:pPr algn="l">
              <a:lnSpc>
                <a:spcPct val="98000"/>
              </a:lnSpc>
              <a:spcAft>
                <a:spcPts val="0"/>
              </a:spcAft>
            </a:pPr>
            <a:r>
              <a:rPr sz="4200" b="0" i="0">
                <a:solidFill>
                  <a:srgbClr val="FFFFFF"/>
                </a:solidFill>
                <a:latin typeface="Be Vietnam Pro ExtraBold"/>
                <a:ea typeface="Be Vietnam Pro ExtraBold"/>
                <a:cs typeface="Be Vietnam Pro ExtraBold"/>
              </a:rPr>
              <a:t>Đào tạo</a:t>
            </a:r>
          </a:p>
          <a:p>
            <a:pPr algn="l">
              <a:lnSpc>
                <a:spcPct val="98000"/>
              </a:lnSpc>
              <a:spcAft>
                <a:spcPts val="0"/>
              </a:spcAft>
            </a:pPr>
            <a:r>
              <a:rPr sz="4200" b="0" i="0">
                <a:solidFill>
                  <a:srgbClr val="FFFFFF"/>
                </a:solidFill>
                <a:latin typeface="Be Vietnam Pro ExtraBold"/>
                <a:ea typeface="Be Vietnam Pro ExtraBold"/>
                <a:cs typeface="Be Vietnam Pro ExtraBold"/>
              </a:rPr>
              <a:t>&amp; cấp chứng chỉ</a:t>
            </a:r>
          </a:p>
        </p:txBody>
      </p:sp>
      <p:sp>
        <p:nvSpPr>
          <p:cNvPr id="15" name="!!lead"/>
          <p:cNvSpPr txBox="1"/>
          <p:nvPr/>
        </p:nvSpPr>
        <p:spPr>
          <a:xfrm>
            <a:off x="685800" y="4046220"/>
            <a:ext cx="4572000" cy="1188720"/>
          </a:xfrm>
          <a:prstGeom prst="rect">
            <a:avLst/>
          </a:prstGeom>
          <a:noFill/>
        </p:spPr>
        <p:txBody>
          <a:bodyPr wrap="square" lIns="0" rIns="0" tIns="0" bIns="0" anchor="t">
            <a:noAutofit/>
          </a:bodyPr>
          <a:lstStyle/>
          <a:p>
            <a:pPr algn="l">
              <a:lnSpc>
                <a:spcPct val="120000"/>
              </a:lnSpc>
              <a:spcAft>
                <a:spcPts val="0"/>
              </a:spcAft>
            </a:pPr>
            <a:r>
              <a:rPr sz="1600" b="0" i="0">
                <a:solidFill>
                  <a:srgbClr val="C9D8CE"/>
                </a:solidFill>
                <a:latin typeface="Be Vietnam Pro Light"/>
                <a:ea typeface="Be Vietnam Pro Light"/>
                <a:cs typeface="Be Vietnam Pro Light"/>
              </a:rPr>
              <a:t>Nâng tầm nguồn nhân lực — </a:t>
            </a:r>
            <a:r>
              <a:rPr sz="1600" b="0" i="0">
                <a:solidFill>
                  <a:srgbClr val="8FD11E"/>
                </a:solidFill>
                <a:latin typeface="Be Vietnam Pro Medium"/>
                <a:ea typeface="Be Vietnam Pro Medium"/>
                <a:cs typeface="Be Vietnam Pro Medium"/>
              </a:rPr>
              <a:t>học đến đâu, làm được đến đó</a:t>
            </a:r>
            <a:r>
              <a:rPr sz="1600" b="0" i="0">
                <a:solidFill>
                  <a:srgbClr val="C9D8CE"/>
                </a:solidFill>
                <a:latin typeface="Be Vietnam Pro Light"/>
                <a:ea typeface="Be Vietnam Pro Light"/>
                <a:cs typeface="Be Vietnam Pro Light"/>
              </a:rPr>
              <a:t>.</a:t>
            </a:r>
          </a:p>
        </p:txBody>
      </p:sp>
      <p:sp>
        <p:nvSpPr>
          <p:cNvPr id="16" name="Rounded Rectangle 15"/>
          <p:cNvSpPr/>
          <p:nvPr/>
        </p:nvSpPr>
        <p:spPr>
          <a:xfrm>
            <a:off x="685800" y="5760720"/>
            <a:ext cx="1742986"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7" name="TextBox 16"/>
          <p:cNvSpPr txBox="1"/>
          <p:nvPr/>
        </p:nvSpPr>
        <p:spPr>
          <a:xfrm>
            <a:off x="685800" y="5760720"/>
            <a:ext cx="1742986"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An toàn lao động</a:t>
            </a:r>
          </a:p>
        </p:txBody>
      </p:sp>
      <p:sp>
        <p:nvSpPr>
          <p:cNvPr id="18" name="Rounded Rectangle 17"/>
          <p:cNvSpPr/>
          <p:nvPr/>
        </p:nvSpPr>
        <p:spPr>
          <a:xfrm>
            <a:off x="2565946" y="5760720"/>
            <a:ext cx="1974046"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TextBox 18"/>
          <p:cNvSpPr txBox="1"/>
          <p:nvPr/>
        </p:nvSpPr>
        <p:spPr>
          <a:xfrm>
            <a:off x="2565946" y="5760720"/>
            <a:ext cx="1974046"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Chứng chỉ nghiệp vụ</a:t>
            </a:r>
          </a:p>
        </p:txBody>
      </p:sp>
      <p:sp>
        <p:nvSpPr>
          <p:cNvPr id="20" name="Rounded Rectangle 19"/>
          <p:cNvSpPr/>
          <p:nvPr/>
        </p:nvSpPr>
        <p:spPr>
          <a:xfrm>
            <a:off x="4677152" y="5760720"/>
            <a:ext cx="1360319"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TextBox 20"/>
          <p:cNvSpPr txBox="1"/>
          <p:nvPr/>
        </p:nvSpPr>
        <p:spPr>
          <a:xfrm>
            <a:off x="4677152" y="5760720"/>
            <a:ext cx="1360319"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Ứng dụng AI</a:t>
            </a:r>
          </a:p>
        </p:txBody>
      </p:sp>
      <p:sp>
        <p:nvSpPr>
          <p:cNvPr id="22" name="Rounded Rectangle 21"/>
          <p:cNvSpPr/>
          <p:nvPr/>
        </p:nvSpPr>
        <p:spPr>
          <a:xfrm>
            <a:off x="6174631" y="5760720"/>
            <a:ext cx="1085404"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3" name="TextBox 22"/>
          <p:cNvSpPr txBox="1"/>
          <p:nvPr/>
        </p:nvSpPr>
        <p:spPr>
          <a:xfrm>
            <a:off x="6174631" y="5760720"/>
            <a:ext cx="1085404"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Khảo thí</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800"/>
                                        <p:tgtEl>
                                          <p:spTgt spid="12"/>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42" presetClass="entr" presetSubtype="0" fill="hold" grpId="0" nodeType="withEffect">
                                  <p:stCondLst>
                                    <p:cond delay="6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800"/>
                                        <p:tgtEl>
                                          <p:spTgt spid="14"/>
                                        </p:tgtEl>
                                      </p:cBhvr>
                                    </p:animEffect>
                                    <p:anim calcmode="lin" valueType="num">
                                      <p:cBhvr additive="base">
                                        <p:cTn id="23" dur="800" fill="hold"/>
                                        <p:tgtEl>
                                          <p:spTgt spid="14"/>
                                        </p:tgtEl>
                                        <p:attrNameLst>
                                          <p:attrName>ppt_x</p:attrName>
                                        </p:attrNameLst>
                                      </p:cBhvr>
                                      <p:tavLst>
                                        <p:tav tm="0">
                                          <p:val>
                                            <p:strVal val="#ppt_x"/>
                                          </p:val>
                                        </p:tav>
                                        <p:tav tm="100000">
                                          <p:val>
                                            <p:strVal val="#ppt_x"/>
                                          </p:val>
                                        </p:tav>
                                      </p:tavLst>
                                    </p:anim>
                                    <p:anim calcmode="lin" valueType="num">
                                      <p:cBhvr additive="base">
                                        <p:cTn id="24" dur="800" fill="hold"/>
                                        <p:tgtEl>
                                          <p:spTgt spid="14"/>
                                        </p:tgtEl>
                                        <p:attrNameLst>
                                          <p:attrName>ppt_y</p:attrName>
                                        </p:attrNameLst>
                                      </p:cBhvr>
                                      <p:tavLst>
                                        <p:tav tm="0">
                                          <p:val>
                                            <p:strVal val="#ppt_y+.06"/>
                                          </p:val>
                                        </p:tav>
                                        <p:tav tm="100000">
                                          <p:val>
                                            <p:strVal val="#ppt_y"/>
                                          </p:val>
                                        </p:tav>
                                      </p:tavLst>
                                    </p:anim>
                                  </p:childTnLst>
                                </p:cTn>
                              </p:par>
                              <p:par>
                                <p:cTn id="25" presetID="10" presetClass="entr" presetSubtype="0" fill="hold" grpId="0" nodeType="withEffect">
                                  <p:stCondLst>
                                    <p:cond delay="100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600"/>
                                        <p:tgtEl>
                                          <p:spTgt spid="15"/>
                                        </p:tgtEl>
                                      </p:cBhvr>
                                    </p:animEffect>
                                  </p:childTnLst>
                                </p:cTn>
                              </p:par>
                              <p:par>
                                <p:cTn id="28" presetID="42" presetClass="entr" presetSubtype="0" fill="hold" grpId="0" nodeType="withEffect">
                                  <p:stCondLst>
                                    <p:cond delay="13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anim calcmode="lin" valueType="num">
                                      <p:cBhvr additive="base">
                                        <p:cTn id="31" dur="400" fill="hold"/>
                                        <p:tgtEl>
                                          <p:spTgt spid="16"/>
                                        </p:tgtEl>
                                        <p:attrNameLst>
                                          <p:attrName>ppt_x</p:attrName>
                                        </p:attrNameLst>
                                      </p:cBhvr>
                                      <p:tavLst>
                                        <p:tav tm="0">
                                          <p:val>
                                            <p:strVal val="#ppt_x"/>
                                          </p:val>
                                        </p:tav>
                                        <p:tav tm="100000">
                                          <p:val>
                                            <p:strVal val="#ppt_x"/>
                                          </p:val>
                                        </p:tav>
                                      </p:tavLst>
                                    </p:anim>
                                    <p:anim calcmode="lin" valueType="num">
                                      <p:cBhvr additive="base">
                                        <p:cTn id="32" dur="400" fill="hold"/>
                                        <p:tgtEl>
                                          <p:spTgt spid="16"/>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13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anim calcmode="lin" valueType="num">
                                      <p:cBhvr additive="base">
                                        <p:cTn id="36" dur="400" fill="hold"/>
                                        <p:tgtEl>
                                          <p:spTgt spid="17"/>
                                        </p:tgtEl>
                                        <p:attrNameLst>
                                          <p:attrName>ppt_x</p:attrName>
                                        </p:attrNameLst>
                                      </p:cBhvr>
                                      <p:tavLst>
                                        <p:tav tm="0">
                                          <p:val>
                                            <p:strVal val="#ppt_x"/>
                                          </p:val>
                                        </p:tav>
                                        <p:tav tm="100000">
                                          <p:val>
                                            <p:strVal val="#ppt_x"/>
                                          </p:val>
                                        </p:tav>
                                      </p:tavLst>
                                    </p:anim>
                                    <p:anim calcmode="lin" valueType="num">
                                      <p:cBhvr additive="base">
                                        <p:cTn id="37" dur="400" fill="hold"/>
                                        <p:tgtEl>
                                          <p:spTgt spid="17"/>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42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anim calcmode="lin" valueType="num">
                                      <p:cBhvr additive="base">
                                        <p:cTn id="41" dur="400" fill="hold"/>
                                        <p:tgtEl>
                                          <p:spTgt spid="18"/>
                                        </p:tgtEl>
                                        <p:attrNameLst>
                                          <p:attrName>ppt_x</p:attrName>
                                        </p:attrNameLst>
                                      </p:cBhvr>
                                      <p:tavLst>
                                        <p:tav tm="0">
                                          <p:val>
                                            <p:strVal val="#ppt_x"/>
                                          </p:val>
                                        </p:tav>
                                        <p:tav tm="100000">
                                          <p:val>
                                            <p:strVal val="#ppt_x"/>
                                          </p:val>
                                        </p:tav>
                                      </p:tavLst>
                                    </p:anim>
                                    <p:anim calcmode="lin" valueType="num">
                                      <p:cBhvr additive="base">
                                        <p:cTn id="42" dur="400" fill="hold"/>
                                        <p:tgtEl>
                                          <p:spTgt spid="18"/>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42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anim calcmode="lin" valueType="num">
                                      <p:cBhvr additive="base">
                                        <p:cTn id="46" dur="400" fill="hold"/>
                                        <p:tgtEl>
                                          <p:spTgt spid="19"/>
                                        </p:tgtEl>
                                        <p:attrNameLst>
                                          <p:attrName>ppt_x</p:attrName>
                                        </p:attrNameLst>
                                      </p:cBhvr>
                                      <p:tavLst>
                                        <p:tav tm="0">
                                          <p:val>
                                            <p:strVal val="#ppt_x"/>
                                          </p:val>
                                        </p:tav>
                                        <p:tav tm="100000">
                                          <p:val>
                                            <p:strVal val="#ppt_x"/>
                                          </p:val>
                                        </p:tav>
                                      </p:tavLst>
                                    </p:anim>
                                    <p:anim calcmode="lin" valueType="num">
                                      <p:cBhvr additive="base">
                                        <p:cTn id="47" dur="400" fill="hold"/>
                                        <p:tgtEl>
                                          <p:spTgt spid="19"/>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154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anim calcmode="lin" valueType="num">
                                      <p:cBhvr additive="base">
                                        <p:cTn id="51" dur="400" fill="hold"/>
                                        <p:tgtEl>
                                          <p:spTgt spid="20"/>
                                        </p:tgtEl>
                                        <p:attrNameLst>
                                          <p:attrName>ppt_x</p:attrName>
                                        </p:attrNameLst>
                                      </p:cBhvr>
                                      <p:tavLst>
                                        <p:tav tm="0">
                                          <p:val>
                                            <p:strVal val="#ppt_x"/>
                                          </p:val>
                                        </p:tav>
                                        <p:tav tm="100000">
                                          <p:val>
                                            <p:strVal val="#ppt_x"/>
                                          </p:val>
                                        </p:tav>
                                      </p:tavLst>
                                    </p:anim>
                                    <p:anim calcmode="lin" valueType="num">
                                      <p:cBhvr additive="base">
                                        <p:cTn id="52" dur="400" fill="hold"/>
                                        <p:tgtEl>
                                          <p:spTgt spid="20"/>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154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00"/>
                                        <p:tgtEl>
                                          <p:spTgt spid="21"/>
                                        </p:tgtEl>
                                      </p:cBhvr>
                                    </p:animEffect>
                                    <p:anim calcmode="lin" valueType="num">
                                      <p:cBhvr additive="base">
                                        <p:cTn id="56" dur="400" fill="hold"/>
                                        <p:tgtEl>
                                          <p:spTgt spid="21"/>
                                        </p:tgtEl>
                                        <p:attrNameLst>
                                          <p:attrName>ppt_x</p:attrName>
                                        </p:attrNameLst>
                                      </p:cBhvr>
                                      <p:tavLst>
                                        <p:tav tm="0">
                                          <p:val>
                                            <p:strVal val="#ppt_x"/>
                                          </p:val>
                                        </p:tav>
                                        <p:tav tm="100000">
                                          <p:val>
                                            <p:strVal val="#ppt_x"/>
                                          </p:val>
                                        </p:tav>
                                      </p:tavLst>
                                    </p:anim>
                                    <p:anim calcmode="lin" valueType="num">
                                      <p:cBhvr additive="base">
                                        <p:cTn id="57" dur="400" fill="hold"/>
                                        <p:tgtEl>
                                          <p:spTgt spid="21"/>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166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00"/>
                                        <p:tgtEl>
                                          <p:spTgt spid="22"/>
                                        </p:tgtEl>
                                      </p:cBhvr>
                                    </p:animEffect>
                                    <p:anim calcmode="lin" valueType="num">
                                      <p:cBhvr additive="base">
                                        <p:cTn id="61" dur="400" fill="hold"/>
                                        <p:tgtEl>
                                          <p:spTgt spid="22"/>
                                        </p:tgtEl>
                                        <p:attrNameLst>
                                          <p:attrName>ppt_x</p:attrName>
                                        </p:attrNameLst>
                                      </p:cBhvr>
                                      <p:tavLst>
                                        <p:tav tm="0">
                                          <p:val>
                                            <p:strVal val="#ppt_x"/>
                                          </p:val>
                                        </p:tav>
                                        <p:tav tm="100000">
                                          <p:val>
                                            <p:strVal val="#ppt_x"/>
                                          </p:val>
                                        </p:tav>
                                      </p:tavLst>
                                    </p:anim>
                                    <p:anim calcmode="lin" valueType="num">
                                      <p:cBhvr additive="base">
                                        <p:cTn id="62" dur="400" fill="hold"/>
                                        <p:tgtEl>
                                          <p:spTgt spid="22"/>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166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00"/>
                                        <p:tgtEl>
                                          <p:spTgt spid="23"/>
                                        </p:tgtEl>
                                      </p:cBhvr>
                                    </p:animEffect>
                                    <p:anim calcmode="lin" valueType="num">
                                      <p:cBhvr additive="base">
                                        <p:cTn id="66" dur="400" fill="hold"/>
                                        <p:tgtEl>
                                          <p:spTgt spid="23"/>
                                        </p:tgtEl>
                                        <p:attrNameLst>
                                          <p:attrName>ppt_x</p:attrName>
                                        </p:attrNameLst>
                                      </p:cBhvr>
                                      <p:tavLst>
                                        <p:tav tm="0">
                                          <p:val>
                                            <p:strVal val="#ppt_x"/>
                                          </p:val>
                                        </p:tav>
                                        <p:tav tm="100000">
                                          <p:val>
                                            <p:strVal val="#ppt_x"/>
                                          </p:val>
                                        </p:tav>
                                      </p:tavLst>
                                    </p:anim>
                                    <p:anim calcmode="lin" valueType="num">
                                      <p:cBhvr additive="base">
                                        <p:cTn id="67" dur="400" fill="hold"/>
                                        <p:tgtEl>
                                          <p:spTgt spid="2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lef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pic>
        <p:nvPicPr>
          <p:cNvPr id="8" name="!!logo" descr="logo_stp.png"/>
          <p:cNvPicPr>
            <a:picLocks noChangeAspect="1"/>
          </p:cNvPicPr>
          <p:nvPr/>
        </p:nvPicPr>
        <p:blipFill>
          <a:blip r:embed="rId8"/>
          <a:stretch>
            <a:fillRect/>
          </a:stretch>
        </p:blipFill>
        <p:spPr>
          <a:xfrm>
            <a:off x="10024567" y="384048"/>
            <a:ext cx="420624" cy="420624"/>
          </a:xfrm>
          <a:prstGeom prst="rect">
            <a:avLst/>
          </a:prstGeom>
        </p:spPr>
      </p:pic>
      <p:sp>
        <p:nvSpPr>
          <p:cNvPr id="9"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0" name="TextBox 9"/>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08</a:t>
            </a:r>
          </a:p>
        </p:txBody>
      </p:sp>
      <p:sp>
        <p:nvSpPr>
          <p:cNvPr id="11" name="!!kicker"/>
          <p:cNvSpPr txBox="1"/>
          <p:nvPr/>
        </p:nvSpPr>
        <p:spPr>
          <a:xfrm>
            <a:off x="685800" y="502920"/>
            <a:ext cx="466344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HUẤN LUYỆN AN TOÀN, VỆ SINH LAO ĐỘNG</a:t>
            </a:r>
          </a:p>
        </p:txBody>
      </p:sp>
      <p:sp>
        <p:nvSpPr>
          <p:cNvPr id="12" name="!!title"/>
          <p:cNvSpPr txBox="1"/>
          <p:nvPr/>
        </p:nvSpPr>
        <p:spPr>
          <a:xfrm>
            <a:off x="685800" y="850392"/>
            <a:ext cx="4663440" cy="926592"/>
          </a:xfrm>
          <a:prstGeom prst="rect">
            <a:avLst/>
          </a:prstGeom>
          <a:noFill/>
        </p:spPr>
        <p:txBody>
          <a:bodyPr wrap="square" lIns="0" rIns="0" tIns="0" bIns="0" anchor="t">
            <a:noAutofit/>
          </a:bodyPr>
          <a:lstStyle/>
          <a:p>
            <a:pPr algn="l">
              <a:lnSpc>
                <a:spcPct val="100000"/>
              </a:lnSpc>
              <a:spcAft>
                <a:spcPts val="0"/>
              </a:spcAft>
            </a:pPr>
            <a:r>
              <a:rPr sz="3000" b="0" i="0">
                <a:solidFill>
                  <a:srgbClr val="FFFFFF"/>
                </a:solidFill>
                <a:latin typeface="Be Vietnam Pro ExtraBold"/>
                <a:ea typeface="Be Vietnam Pro ExtraBold"/>
                <a:cs typeface="Be Vietnam Pro ExtraBold"/>
              </a:rPr>
              <a:t>Đủ </a:t>
            </a:r>
            <a:r>
              <a:rPr sz="3000" b="0" i="0">
                <a:solidFill>
                  <a:srgbClr val="8FD11E"/>
                </a:solidFill>
                <a:latin typeface="Be Vietnam Pro ExtraBold"/>
                <a:ea typeface="Be Vietnam Pro ExtraBold"/>
                <a:cs typeface="Be Vietnam Pro ExtraBold"/>
              </a:rPr>
              <a:t>6 nhóm đối tượng</a:t>
            </a:r>
            <a:r>
              <a:rPr sz="3000" b="0" i="0">
                <a:solidFill>
                  <a:srgbClr val="FFFFFF"/>
                </a:solidFill>
                <a:latin typeface="Be Vietnam Pro ExtraBold"/>
                <a:ea typeface="Be Vietnam Pro ExtraBold"/>
                <a:cs typeface="Be Vietnam Pro ExtraBold"/>
              </a:rPr>
              <a:t>, đúng quy định</a:t>
            </a:r>
          </a:p>
        </p:txBody>
      </p:sp>
      <p:sp>
        <p:nvSpPr>
          <p:cNvPr id="13" name="!!lead"/>
          <p:cNvSpPr txBox="1"/>
          <p:nvPr/>
        </p:nvSpPr>
        <p:spPr>
          <a:xfrm>
            <a:off x="685800" y="1868424"/>
            <a:ext cx="4572000" cy="574040"/>
          </a:xfrm>
          <a:prstGeom prst="rect">
            <a:avLst/>
          </a:prstGeom>
          <a:noFill/>
        </p:spPr>
        <p:txBody>
          <a:bodyPr wrap="square" lIns="0" rIns="0" tIns="0" bIns="0" anchor="t">
            <a:noAutofit/>
          </a:bodyPr>
          <a:lstStyle/>
          <a:p>
            <a:pPr algn="l">
              <a:lnSpc>
                <a:spcPct val="118000"/>
              </a:lnSpc>
              <a:spcAft>
                <a:spcPts val="0"/>
              </a:spcAft>
            </a:pPr>
            <a:r>
              <a:rPr sz="1600" b="0" i="0">
                <a:solidFill>
                  <a:srgbClr val="C9D8CE"/>
                </a:solidFill>
                <a:latin typeface="Be Vietnam Pro Light"/>
                <a:ea typeface="Be Vietnam Pro Light"/>
                <a:cs typeface="Be Vietnam Pro Light"/>
              </a:rPr>
              <a:t>Theo Nghị định 44/2016 và 140/2018; lý thuyết gắn thực hành ngay tại doanh nghiệp.</a:t>
            </a:r>
          </a:p>
        </p:txBody>
      </p:sp>
      <p:sp>
        <p:nvSpPr>
          <p:cNvPr id="14" name="Rounded Rectangle 13"/>
          <p:cNvSpPr/>
          <p:nvPr/>
        </p:nvSpPr>
        <p:spPr>
          <a:xfrm>
            <a:off x="685800" y="3017520"/>
            <a:ext cx="2286000" cy="411480"/>
          </a:xfrm>
          <a:prstGeom prst="roundRect">
            <a:avLst>
              <a:gd name="adj" fmla="val 26666"/>
            </a:avLst>
          </a:prstGeom>
          <a:solidFill>
            <a:srgbClr val="FFFFFF">
              <a:alpha val="7000"/>
            </a:srgbClr>
          </a:solidFill>
          <a:ln w="9525">
            <a:solidFill>
              <a:srgbClr val="FFFFFF">
                <a:alpha val="20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TextBox 14"/>
          <p:cNvSpPr txBox="1"/>
          <p:nvPr/>
        </p:nvSpPr>
        <p:spPr>
          <a:xfrm>
            <a:off x="822960" y="3017520"/>
            <a:ext cx="2103120" cy="411480"/>
          </a:xfrm>
          <a:prstGeom prst="rect">
            <a:avLst/>
          </a:prstGeom>
          <a:noFill/>
        </p:spPr>
        <p:txBody>
          <a:bodyPr wrap="none" lIns="0" rIns="0" tIns="0" bIns="0" anchor="ctr">
            <a:noAutofit/>
          </a:bodyPr>
          <a:lstStyle/>
          <a:p>
            <a:pPr algn="l">
              <a:lnSpc>
                <a:spcPct val="115000"/>
              </a:lnSpc>
              <a:spcAft>
                <a:spcPts val="0"/>
              </a:spcAft>
            </a:pPr>
            <a:r>
              <a:rPr sz="1150" b="0" i="0">
                <a:solidFill>
                  <a:srgbClr val="8FD11E"/>
                </a:solidFill>
                <a:latin typeface="Be Vietnam Pro SemiBold"/>
                <a:ea typeface="Be Vietnam Pro SemiBold"/>
                <a:cs typeface="Be Vietnam Pro SemiBold"/>
              </a:rPr>
              <a:t>Nhóm 1</a:t>
            </a:r>
            <a:r>
              <a:rPr sz="1150" b="0" i="0">
                <a:solidFill>
                  <a:srgbClr val="FFFFFF"/>
                </a:solidFill>
                <a:latin typeface="Be Vietnam Pro Medium"/>
                <a:ea typeface="Be Vietnam Pro Medium"/>
                <a:cs typeface="Be Vietnam Pro Medium"/>
              </a:rPr>
              <a:t> · Quản lý, chỉ huy</a:t>
            </a:r>
          </a:p>
        </p:txBody>
      </p:sp>
      <p:sp>
        <p:nvSpPr>
          <p:cNvPr id="16" name="Rounded Rectangle 15"/>
          <p:cNvSpPr/>
          <p:nvPr/>
        </p:nvSpPr>
        <p:spPr>
          <a:xfrm>
            <a:off x="3081528" y="3017520"/>
            <a:ext cx="2286000" cy="411480"/>
          </a:xfrm>
          <a:prstGeom prst="roundRect">
            <a:avLst>
              <a:gd name="adj" fmla="val 26666"/>
            </a:avLst>
          </a:prstGeom>
          <a:solidFill>
            <a:srgbClr val="FFFFFF">
              <a:alpha val="7000"/>
            </a:srgbClr>
          </a:solidFill>
          <a:ln w="9525">
            <a:solidFill>
              <a:srgbClr val="FFFFFF">
                <a:alpha val="20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7" name="TextBox 16"/>
          <p:cNvSpPr txBox="1"/>
          <p:nvPr/>
        </p:nvSpPr>
        <p:spPr>
          <a:xfrm>
            <a:off x="3218688" y="3017520"/>
            <a:ext cx="2103120" cy="411480"/>
          </a:xfrm>
          <a:prstGeom prst="rect">
            <a:avLst/>
          </a:prstGeom>
          <a:noFill/>
        </p:spPr>
        <p:txBody>
          <a:bodyPr wrap="none" lIns="0" rIns="0" tIns="0" bIns="0" anchor="ctr">
            <a:noAutofit/>
          </a:bodyPr>
          <a:lstStyle/>
          <a:p>
            <a:pPr algn="l">
              <a:lnSpc>
                <a:spcPct val="115000"/>
              </a:lnSpc>
              <a:spcAft>
                <a:spcPts val="0"/>
              </a:spcAft>
            </a:pPr>
            <a:r>
              <a:rPr sz="1150" b="0" i="0">
                <a:solidFill>
                  <a:srgbClr val="8FD11E"/>
                </a:solidFill>
                <a:latin typeface="Be Vietnam Pro SemiBold"/>
                <a:ea typeface="Be Vietnam Pro SemiBold"/>
                <a:cs typeface="Be Vietnam Pro SemiBold"/>
              </a:rPr>
              <a:t>Nhóm 2</a:t>
            </a:r>
            <a:r>
              <a:rPr sz="1150" b="0" i="0">
                <a:solidFill>
                  <a:srgbClr val="FFFFFF"/>
                </a:solidFill>
                <a:latin typeface="Be Vietnam Pro Medium"/>
                <a:ea typeface="Be Vietnam Pro Medium"/>
                <a:cs typeface="Be Vietnam Pro Medium"/>
              </a:rPr>
              <a:t> · Cán bộ ATVSLĐ</a:t>
            </a:r>
          </a:p>
        </p:txBody>
      </p:sp>
      <p:sp>
        <p:nvSpPr>
          <p:cNvPr id="18" name="Rounded Rectangle 17"/>
          <p:cNvSpPr/>
          <p:nvPr/>
        </p:nvSpPr>
        <p:spPr>
          <a:xfrm>
            <a:off x="685800" y="3520440"/>
            <a:ext cx="2286000" cy="411480"/>
          </a:xfrm>
          <a:prstGeom prst="roundRect">
            <a:avLst>
              <a:gd name="adj" fmla="val 26666"/>
            </a:avLst>
          </a:prstGeom>
          <a:solidFill>
            <a:srgbClr val="FFFFFF">
              <a:alpha val="7000"/>
            </a:srgbClr>
          </a:solidFill>
          <a:ln w="9525">
            <a:solidFill>
              <a:srgbClr val="FFFFFF">
                <a:alpha val="20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TextBox 18"/>
          <p:cNvSpPr txBox="1"/>
          <p:nvPr/>
        </p:nvSpPr>
        <p:spPr>
          <a:xfrm>
            <a:off x="822960" y="3520440"/>
            <a:ext cx="2103120" cy="411480"/>
          </a:xfrm>
          <a:prstGeom prst="rect">
            <a:avLst/>
          </a:prstGeom>
          <a:noFill/>
        </p:spPr>
        <p:txBody>
          <a:bodyPr wrap="none" lIns="0" rIns="0" tIns="0" bIns="0" anchor="ctr">
            <a:noAutofit/>
          </a:bodyPr>
          <a:lstStyle/>
          <a:p>
            <a:pPr algn="l">
              <a:lnSpc>
                <a:spcPct val="115000"/>
              </a:lnSpc>
              <a:spcAft>
                <a:spcPts val="0"/>
              </a:spcAft>
            </a:pPr>
            <a:r>
              <a:rPr sz="1150" b="0" i="0">
                <a:solidFill>
                  <a:srgbClr val="8FD11E"/>
                </a:solidFill>
                <a:latin typeface="Be Vietnam Pro SemiBold"/>
                <a:ea typeface="Be Vietnam Pro SemiBold"/>
                <a:cs typeface="Be Vietnam Pro SemiBold"/>
              </a:rPr>
              <a:t>Nhóm 3</a:t>
            </a:r>
            <a:r>
              <a:rPr sz="1150" b="0" i="0">
                <a:solidFill>
                  <a:srgbClr val="FFFFFF"/>
                </a:solidFill>
                <a:latin typeface="Be Vietnam Pro Medium"/>
                <a:ea typeface="Be Vietnam Pro Medium"/>
                <a:cs typeface="Be Vietnam Pro Medium"/>
              </a:rPr>
              <a:t> · Việc nghiêm ngặt</a:t>
            </a:r>
          </a:p>
        </p:txBody>
      </p:sp>
      <p:sp>
        <p:nvSpPr>
          <p:cNvPr id="20" name="Rounded Rectangle 19"/>
          <p:cNvSpPr/>
          <p:nvPr/>
        </p:nvSpPr>
        <p:spPr>
          <a:xfrm>
            <a:off x="3081528" y="3520440"/>
            <a:ext cx="2286000" cy="411480"/>
          </a:xfrm>
          <a:prstGeom prst="roundRect">
            <a:avLst>
              <a:gd name="adj" fmla="val 26666"/>
            </a:avLst>
          </a:prstGeom>
          <a:solidFill>
            <a:srgbClr val="FFFFFF">
              <a:alpha val="7000"/>
            </a:srgbClr>
          </a:solidFill>
          <a:ln w="9525">
            <a:solidFill>
              <a:srgbClr val="FFFFFF">
                <a:alpha val="20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TextBox 20"/>
          <p:cNvSpPr txBox="1"/>
          <p:nvPr/>
        </p:nvSpPr>
        <p:spPr>
          <a:xfrm>
            <a:off x="3218688" y="3520440"/>
            <a:ext cx="2103120" cy="411480"/>
          </a:xfrm>
          <a:prstGeom prst="rect">
            <a:avLst/>
          </a:prstGeom>
          <a:noFill/>
        </p:spPr>
        <p:txBody>
          <a:bodyPr wrap="none" lIns="0" rIns="0" tIns="0" bIns="0" anchor="ctr">
            <a:noAutofit/>
          </a:bodyPr>
          <a:lstStyle/>
          <a:p>
            <a:pPr algn="l">
              <a:lnSpc>
                <a:spcPct val="115000"/>
              </a:lnSpc>
              <a:spcAft>
                <a:spcPts val="0"/>
              </a:spcAft>
            </a:pPr>
            <a:r>
              <a:rPr sz="1150" b="0" i="0">
                <a:solidFill>
                  <a:srgbClr val="8FD11E"/>
                </a:solidFill>
                <a:latin typeface="Be Vietnam Pro SemiBold"/>
                <a:ea typeface="Be Vietnam Pro SemiBold"/>
                <a:cs typeface="Be Vietnam Pro SemiBold"/>
              </a:rPr>
              <a:t>Nhóm 4</a:t>
            </a:r>
            <a:r>
              <a:rPr sz="1150" b="0" i="0">
                <a:solidFill>
                  <a:srgbClr val="FFFFFF"/>
                </a:solidFill>
                <a:latin typeface="Be Vietnam Pro Medium"/>
                <a:ea typeface="Be Vietnam Pro Medium"/>
                <a:cs typeface="Be Vietnam Pro Medium"/>
              </a:rPr>
              <a:t> · Người lao động</a:t>
            </a:r>
          </a:p>
        </p:txBody>
      </p:sp>
      <p:sp>
        <p:nvSpPr>
          <p:cNvPr id="22" name="Rounded Rectangle 21"/>
          <p:cNvSpPr/>
          <p:nvPr/>
        </p:nvSpPr>
        <p:spPr>
          <a:xfrm>
            <a:off x="685800" y="4023360"/>
            <a:ext cx="2286000" cy="411480"/>
          </a:xfrm>
          <a:prstGeom prst="roundRect">
            <a:avLst>
              <a:gd name="adj" fmla="val 26666"/>
            </a:avLst>
          </a:prstGeom>
          <a:solidFill>
            <a:srgbClr val="FFFFFF">
              <a:alpha val="7000"/>
            </a:srgbClr>
          </a:solidFill>
          <a:ln w="9525">
            <a:solidFill>
              <a:srgbClr val="FFFFFF">
                <a:alpha val="20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3" name="TextBox 22"/>
          <p:cNvSpPr txBox="1"/>
          <p:nvPr/>
        </p:nvSpPr>
        <p:spPr>
          <a:xfrm>
            <a:off x="822960" y="4023360"/>
            <a:ext cx="2103120" cy="411480"/>
          </a:xfrm>
          <a:prstGeom prst="rect">
            <a:avLst/>
          </a:prstGeom>
          <a:noFill/>
        </p:spPr>
        <p:txBody>
          <a:bodyPr wrap="none" lIns="0" rIns="0" tIns="0" bIns="0" anchor="ctr">
            <a:noAutofit/>
          </a:bodyPr>
          <a:lstStyle/>
          <a:p>
            <a:pPr algn="l">
              <a:lnSpc>
                <a:spcPct val="115000"/>
              </a:lnSpc>
              <a:spcAft>
                <a:spcPts val="0"/>
              </a:spcAft>
            </a:pPr>
            <a:r>
              <a:rPr sz="1150" b="0" i="0">
                <a:solidFill>
                  <a:srgbClr val="8FD11E"/>
                </a:solidFill>
                <a:latin typeface="Be Vietnam Pro SemiBold"/>
                <a:ea typeface="Be Vietnam Pro SemiBold"/>
                <a:cs typeface="Be Vietnam Pro SemiBold"/>
              </a:rPr>
              <a:t>Nhóm 5</a:t>
            </a:r>
            <a:r>
              <a:rPr sz="1150" b="0" i="0">
                <a:solidFill>
                  <a:srgbClr val="FFFFFF"/>
                </a:solidFill>
                <a:latin typeface="Be Vietnam Pro Medium"/>
                <a:ea typeface="Be Vietnam Pro Medium"/>
                <a:cs typeface="Be Vietnam Pro Medium"/>
              </a:rPr>
              <a:t> · Công tác y tế</a:t>
            </a:r>
          </a:p>
        </p:txBody>
      </p:sp>
      <p:sp>
        <p:nvSpPr>
          <p:cNvPr id="24" name="Rounded Rectangle 23"/>
          <p:cNvSpPr/>
          <p:nvPr/>
        </p:nvSpPr>
        <p:spPr>
          <a:xfrm>
            <a:off x="3081528" y="4023360"/>
            <a:ext cx="2286000" cy="411480"/>
          </a:xfrm>
          <a:prstGeom prst="roundRect">
            <a:avLst>
              <a:gd name="adj" fmla="val 26666"/>
            </a:avLst>
          </a:prstGeom>
          <a:solidFill>
            <a:srgbClr val="FFFFFF">
              <a:alpha val="7000"/>
            </a:srgbClr>
          </a:solidFill>
          <a:ln w="9525">
            <a:solidFill>
              <a:srgbClr val="FFFFFF">
                <a:alpha val="20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TextBox 24"/>
          <p:cNvSpPr txBox="1"/>
          <p:nvPr/>
        </p:nvSpPr>
        <p:spPr>
          <a:xfrm>
            <a:off x="3218688" y="4023360"/>
            <a:ext cx="2103120" cy="411480"/>
          </a:xfrm>
          <a:prstGeom prst="rect">
            <a:avLst/>
          </a:prstGeom>
          <a:noFill/>
        </p:spPr>
        <p:txBody>
          <a:bodyPr wrap="none" lIns="0" rIns="0" tIns="0" bIns="0" anchor="ctr">
            <a:noAutofit/>
          </a:bodyPr>
          <a:lstStyle/>
          <a:p>
            <a:pPr algn="l">
              <a:lnSpc>
                <a:spcPct val="115000"/>
              </a:lnSpc>
              <a:spcAft>
                <a:spcPts val="0"/>
              </a:spcAft>
            </a:pPr>
            <a:r>
              <a:rPr sz="1050" b="0" i="0">
                <a:solidFill>
                  <a:srgbClr val="8FD11E"/>
                </a:solidFill>
                <a:latin typeface="Be Vietnam Pro SemiBold"/>
                <a:ea typeface="Be Vietnam Pro SemiBold"/>
                <a:cs typeface="Be Vietnam Pro SemiBold"/>
              </a:rPr>
              <a:t>Nhóm 6</a:t>
            </a:r>
            <a:r>
              <a:rPr sz="1050" b="0" i="0">
                <a:solidFill>
                  <a:srgbClr val="FFFFFF"/>
                </a:solidFill>
                <a:latin typeface="Be Vietnam Pro Medium"/>
                <a:ea typeface="Be Vietnam Pro Medium"/>
                <a:cs typeface="Be Vietnam Pro Medium"/>
              </a:rPr>
              <a:t> · An toàn vệ sinh viên</a:t>
            </a:r>
          </a:p>
        </p:txBody>
      </p:sp>
      <p:sp>
        <p:nvSpPr>
          <p:cNvPr id="26" name="TextBox 25"/>
          <p:cNvSpPr txBox="1"/>
          <p:nvPr/>
        </p:nvSpPr>
        <p:spPr>
          <a:xfrm>
            <a:off x="685800" y="5943600"/>
            <a:ext cx="4663440" cy="457200"/>
          </a:xfrm>
          <a:prstGeom prst="rect">
            <a:avLst/>
          </a:prstGeom>
          <a:noFill/>
        </p:spPr>
        <p:txBody>
          <a:bodyPr wrap="square" lIns="0" rIns="0" tIns="0" bIns="0" anchor="t">
            <a:noAutofit/>
          </a:bodyPr>
          <a:lstStyle/>
          <a:p>
            <a:pPr algn="l">
              <a:lnSpc>
                <a:spcPct val="115000"/>
              </a:lnSpc>
              <a:spcAft>
                <a:spcPts val="0"/>
              </a:spcAft>
            </a:pPr>
            <a:r>
              <a:rPr sz="1150" b="0" i="0">
                <a:solidFill>
                  <a:srgbClr val="7E9A88"/>
                </a:solidFill>
                <a:latin typeface="Be Vietnam Pro"/>
                <a:ea typeface="Be Vietnam Pro"/>
                <a:cs typeface="Be Vietnam Pro"/>
              </a:rPr>
              <a:t>Triển khai cùng Công ty CP Kỹ thuật Hàng hải DAKO — đơn vị huấn luyện theo giấy phép.</a:t>
            </a:r>
          </a:p>
        </p:txBody>
      </p:sp>
      <p:pic>
        <p:nvPicPr>
          <p:cNvPr id="27" name="Picture 26" descr="client_130.jpg"/>
          <p:cNvPicPr>
            <a:picLocks noChangeAspect="1"/>
          </p:cNvPicPr>
          <p:nvPr/>
        </p:nvPicPr>
        <p:blipFill>
          <a:blip r:embed="rId9"/>
          <a:srcRect t="3810" b="3810"/>
          <a:stretch>
            <a:fillRect/>
          </a:stretch>
        </p:blipFill>
        <p:spPr>
          <a:xfrm>
            <a:off x="5532120" y="868680"/>
            <a:ext cx="3930512" cy="3072384"/>
          </a:xfrm>
          <a:prstGeom prst="roundRect">
            <a:avLst>
              <a:gd name="adj" fmla="val 4761"/>
            </a:avLst>
          </a:prstGeom>
          <a:ln w="9525">
            <a:solidFill>
              <a:srgbClr val="8FD11E">
                <a:alpha val="45000"/>
              </a:srgbClr>
            </a:solidFill>
          </a:ln>
        </p:spPr>
      </p:pic>
      <p:sp>
        <p:nvSpPr>
          <p:cNvPr id="28" name="Round Same Side Corner Rectangle 27"/>
          <p:cNvSpPr/>
          <p:nvPr/>
        </p:nvSpPr>
        <p:spPr>
          <a:xfrm rot="10800000">
            <a:off x="5532120" y="3026664"/>
            <a:ext cx="3930512"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9" name="TextBox 28"/>
          <p:cNvSpPr txBox="1"/>
          <p:nvPr/>
        </p:nvSpPr>
        <p:spPr>
          <a:xfrm>
            <a:off x="5696712" y="3465576"/>
            <a:ext cx="3601328" cy="384048"/>
          </a:xfrm>
          <a:prstGeom prst="rect">
            <a:avLst/>
          </a:prstGeom>
          <a:noFill/>
        </p:spPr>
        <p:txBody>
          <a:bodyPr wrap="none" lIns="0" rIns="0" tIns="0" bIns="0" anchor="ctr">
            <a:noAutofit/>
          </a:bodyPr>
          <a:lstStyle/>
          <a:p>
            <a:pPr algn="l">
              <a:lnSpc>
                <a:spcPct val="115000"/>
              </a:lnSpc>
              <a:spcAft>
                <a:spcPts val="0"/>
              </a:spcAft>
            </a:pPr>
            <a:r>
              <a:rPr sz="1150" b="0" i="0">
                <a:solidFill>
                  <a:srgbClr val="FFFFFF"/>
                </a:solidFill>
                <a:latin typeface="Be Vietnam Pro SemiBold"/>
                <a:ea typeface="Be Vietnam Pro SemiBold"/>
                <a:cs typeface="Be Vietnam Pro SemiBold"/>
              </a:rPr>
              <a:t>Hogetsu Việt Nam</a:t>
            </a:r>
          </a:p>
        </p:txBody>
      </p:sp>
      <p:pic>
        <p:nvPicPr>
          <p:cNvPr id="30" name="Picture 29" descr="client_131.jpg"/>
          <p:cNvPicPr>
            <a:picLocks noChangeAspect="1"/>
          </p:cNvPicPr>
          <p:nvPr/>
        </p:nvPicPr>
        <p:blipFill>
          <a:blip r:embed="rId10"/>
          <a:srcRect l="18590" r="18590"/>
          <a:stretch>
            <a:fillRect/>
          </a:stretch>
        </p:blipFill>
        <p:spPr>
          <a:xfrm>
            <a:off x="9590648" y="868680"/>
            <a:ext cx="2281007" cy="3072384"/>
          </a:xfrm>
          <a:prstGeom prst="roundRect">
            <a:avLst>
              <a:gd name="adj" fmla="val 6414"/>
            </a:avLst>
          </a:prstGeom>
          <a:ln w="9525">
            <a:solidFill>
              <a:srgbClr val="8FD11E">
                <a:alpha val="45000"/>
              </a:srgbClr>
            </a:solidFill>
          </a:ln>
        </p:spPr>
      </p:pic>
      <p:sp>
        <p:nvSpPr>
          <p:cNvPr id="31" name="Round Same Side Corner Rectangle 30"/>
          <p:cNvSpPr/>
          <p:nvPr/>
        </p:nvSpPr>
        <p:spPr>
          <a:xfrm rot="10800000">
            <a:off x="9590648" y="3026664"/>
            <a:ext cx="2281007"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2" name="TextBox 31"/>
          <p:cNvSpPr txBox="1"/>
          <p:nvPr/>
        </p:nvSpPr>
        <p:spPr>
          <a:xfrm>
            <a:off x="9755240" y="3465576"/>
            <a:ext cx="1951823" cy="384048"/>
          </a:xfrm>
          <a:prstGeom prst="rect">
            <a:avLst/>
          </a:prstGeom>
          <a:noFill/>
        </p:spPr>
        <p:txBody>
          <a:bodyPr wrap="none" lIns="0" rIns="0" tIns="0" bIns="0" anchor="ctr">
            <a:noAutofit/>
          </a:bodyPr>
          <a:lstStyle/>
          <a:p>
            <a:pPr algn="l">
              <a:lnSpc>
                <a:spcPct val="115000"/>
              </a:lnSpc>
              <a:spcAft>
                <a:spcPts val="0"/>
              </a:spcAft>
            </a:pPr>
            <a:r>
              <a:rPr sz="1150" b="0" i="0">
                <a:solidFill>
                  <a:srgbClr val="FFFFFF"/>
                </a:solidFill>
                <a:latin typeface="Be Vietnam Pro SemiBold"/>
                <a:ea typeface="Be Vietnam Pro SemiBold"/>
                <a:cs typeface="Be Vietnam Pro SemiBold"/>
              </a:rPr>
              <a:t>Thang máy Pacific</a:t>
            </a:r>
          </a:p>
        </p:txBody>
      </p:sp>
      <p:pic>
        <p:nvPicPr>
          <p:cNvPr id="33" name="Picture 32" descr="client_128.jpg"/>
          <p:cNvPicPr>
            <a:picLocks noChangeAspect="1"/>
          </p:cNvPicPr>
          <p:nvPr/>
        </p:nvPicPr>
        <p:blipFill>
          <a:blip r:embed="rId11"/>
          <a:srcRect l="12470" r="12470"/>
          <a:stretch>
            <a:fillRect/>
          </a:stretch>
        </p:blipFill>
        <p:spPr>
          <a:xfrm>
            <a:off x="5532120" y="4069080"/>
            <a:ext cx="2027834" cy="2286000"/>
          </a:xfrm>
          <a:prstGeom prst="roundRect">
            <a:avLst>
              <a:gd name="adj" fmla="val 7214"/>
            </a:avLst>
          </a:prstGeom>
          <a:ln w="9525">
            <a:solidFill>
              <a:srgbClr val="8FD11E">
                <a:alpha val="45000"/>
              </a:srgbClr>
            </a:solidFill>
          </a:ln>
        </p:spPr>
      </p:pic>
      <p:sp>
        <p:nvSpPr>
          <p:cNvPr id="34" name="Round Same Side Corner Rectangle 33"/>
          <p:cNvSpPr/>
          <p:nvPr/>
        </p:nvSpPr>
        <p:spPr>
          <a:xfrm rot="10800000">
            <a:off x="5532120" y="5440680"/>
            <a:ext cx="2027834"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5" name="TextBox 34"/>
          <p:cNvSpPr txBox="1"/>
          <p:nvPr/>
        </p:nvSpPr>
        <p:spPr>
          <a:xfrm>
            <a:off x="5696712" y="5879592"/>
            <a:ext cx="1698650" cy="384048"/>
          </a:xfrm>
          <a:prstGeom prst="rect">
            <a:avLst/>
          </a:prstGeom>
          <a:noFill/>
        </p:spPr>
        <p:txBody>
          <a:bodyPr wrap="none" lIns="0" rIns="0" tIns="0" bIns="0" anchor="ctr">
            <a:noAutofit/>
          </a:bodyPr>
          <a:lstStyle/>
          <a:p>
            <a:pPr algn="l">
              <a:lnSpc>
                <a:spcPct val="115000"/>
              </a:lnSpc>
              <a:spcAft>
                <a:spcPts val="0"/>
              </a:spcAft>
            </a:pPr>
            <a:r>
              <a:rPr sz="1150" b="0" i="0">
                <a:solidFill>
                  <a:srgbClr val="FFFFFF"/>
                </a:solidFill>
                <a:latin typeface="Be Vietnam Pro SemiBold"/>
                <a:ea typeface="Be Vietnam Pro SemiBold"/>
                <a:cs typeface="Be Vietnam Pro SemiBold"/>
              </a:rPr>
              <a:t>Asanka</a:t>
            </a:r>
          </a:p>
        </p:txBody>
      </p:sp>
      <p:pic>
        <p:nvPicPr>
          <p:cNvPr id="36" name="Picture 35" descr="client_132.jpg"/>
          <p:cNvPicPr>
            <a:picLocks noChangeAspect="1"/>
          </p:cNvPicPr>
          <p:nvPr/>
        </p:nvPicPr>
        <p:blipFill>
          <a:blip r:embed="rId12"/>
          <a:srcRect l="12470" r="12470"/>
          <a:stretch>
            <a:fillRect/>
          </a:stretch>
        </p:blipFill>
        <p:spPr>
          <a:xfrm>
            <a:off x="7687970" y="4069080"/>
            <a:ext cx="2027834" cy="2286000"/>
          </a:xfrm>
          <a:prstGeom prst="roundRect">
            <a:avLst>
              <a:gd name="adj" fmla="val 7214"/>
            </a:avLst>
          </a:prstGeom>
          <a:ln w="9525">
            <a:solidFill>
              <a:srgbClr val="8FD11E">
                <a:alpha val="45000"/>
              </a:srgbClr>
            </a:solidFill>
          </a:ln>
        </p:spPr>
      </p:pic>
      <p:sp>
        <p:nvSpPr>
          <p:cNvPr id="37" name="Round Same Side Corner Rectangle 36"/>
          <p:cNvSpPr/>
          <p:nvPr/>
        </p:nvSpPr>
        <p:spPr>
          <a:xfrm rot="10800000">
            <a:off x="7687970" y="5440680"/>
            <a:ext cx="2027834"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8" name="TextBox 37"/>
          <p:cNvSpPr txBox="1"/>
          <p:nvPr/>
        </p:nvSpPr>
        <p:spPr>
          <a:xfrm>
            <a:off x="7852562" y="5879592"/>
            <a:ext cx="1698650" cy="384048"/>
          </a:xfrm>
          <a:prstGeom prst="rect">
            <a:avLst/>
          </a:prstGeom>
          <a:noFill/>
        </p:spPr>
        <p:txBody>
          <a:bodyPr wrap="none" lIns="0" rIns="0" tIns="0" bIns="0" anchor="ctr">
            <a:noAutofit/>
          </a:bodyPr>
          <a:lstStyle/>
          <a:p>
            <a:pPr algn="l">
              <a:lnSpc>
                <a:spcPct val="115000"/>
              </a:lnSpc>
              <a:spcAft>
                <a:spcPts val="0"/>
              </a:spcAft>
            </a:pPr>
            <a:r>
              <a:rPr sz="1150" b="0" i="0">
                <a:solidFill>
                  <a:srgbClr val="FFFFFF"/>
                </a:solidFill>
                <a:latin typeface="Be Vietnam Pro SemiBold"/>
                <a:ea typeface="Be Vietnam Pro SemiBold"/>
                <a:cs typeface="Be Vietnam Pro SemiBold"/>
              </a:rPr>
              <a:t>HT Vina</a:t>
            </a:r>
          </a:p>
        </p:txBody>
      </p:sp>
      <p:pic>
        <p:nvPicPr>
          <p:cNvPr id="39" name="Picture 38" descr="client_135.jpg"/>
          <p:cNvPicPr>
            <a:picLocks noChangeAspect="1"/>
          </p:cNvPicPr>
          <p:nvPr/>
        </p:nvPicPr>
        <p:blipFill>
          <a:blip r:embed="rId13"/>
          <a:srcRect l="12470" r="12470"/>
          <a:stretch>
            <a:fillRect/>
          </a:stretch>
        </p:blipFill>
        <p:spPr>
          <a:xfrm>
            <a:off x="9843821" y="4069080"/>
            <a:ext cx="2027834" cy="2286000"/>
          </a:xfrm>
          <a:prstGeom prst="roundRect">
            <a:avLst>
              <a:gd name="adj" fmla="val 7214"/>
            </a:avLst>
          </a:prstGeom>
          <a:ln w="9525">
            <a:solidFill>
              <a:srgbClr val="8FD11E">
                <a:alpha val="45000"/>
              </a:srgbClr>
            </a:solidFill>
          </a:ln>
        </p:spPr>
      </p:pic>
      <p:sp>
        <p:nvSpPr>
          <p:cNvPr id="40" name="Round Same Side Corner Rectangle 39"/>
          <p:cNvSpPr/>
          <p:nvPr/>
        </p:nvSpPr>
        <p:spPr>
          <a:xfrm rot="10800000">
            <a:off x="9843821" y="5440680"/>
            <a:ext cx="2027834"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41" name="TextBox 40"/>
          <p:cNvSpPr txBox="1"/>
          <p:nvPr/>
        </p:nvSpPr>
        <p:spPr>
          <a:xfrm>
            <a:off x="10008413" y="5879592"/>
            <a:ext cx="1698650" cy="384048"/>
          </a:xfrm>
          <a:prstGeom prst="rect">
            <a:avLst/>
          </a:prstGeom>
          <a:noFill/>
        </p:spPr>
        <p:txBody>
          <a:bodyPr wrap="none" lIns="0" rIns="0" tIns="0" bIns="0" anchor="ctr">
            <a:noAutofit/>
          </a:bodyPr>
          <a:lstStyle/>
          <a:p>
            <a:pPr algn="l">
              <a:lnSpc>
                <a:spcPct val="115000"/>
              </a:lnSpc>
              <a:spcAft>
                <a:spcPts val="0"/>
              </a:spcAft>
            </a:pPr>
            <a:r>
              <a:rPr sz="1150" b="0" i="0">
                <a:solidFill>
                  <a:srgbClr val="FFFFFF"/>
                </a:solidFill>
                <a:latin typeface="Be Vietnam Pro SemiBold"/>
                <a:ea typeface="Be Vietnam Pro SemiBold"/>
                <a:cs typeface="Be Vietnam Pro SemiBold"/>
              </a:rPr>
              <a:t>P.Dussmann Việt Nam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22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53" presetClass="entr" presetSubtype="16" fill="hold" grpId="0" nodeType="withEffect">
                                  <p:stCondLst>
                                    <p:cond delay="30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ppt_w</p:attrName>
                                        </p:attrNameLst>
                                      </p:cBhvr>
                                      <p:tavLst>
                                        <p:tav tm="0">
                                          <p:val>
                                            <p:strVal val="#ppt_w*0.7"/>
                                          </p:val>
                                        </p:tav>
                                        <p:tav tm="100000">
                                          <p:val>
                                            <p:strVal val="#ppt_w"/>
                                          </p:val>
                                        </p:tav>
                                      </p:tavLst>
                                    </p:anim>
                                    <p:anim calcmode="lin" valueType="num">
                                      <p:cBhvr additive="base">
                                        <p:cTn id="23" dur="500" fill="hold"/>
                                        <p:tgtEl>
                                          <p:spTgt spid="27"/>
                                        </p:tgtEl>
                                        <p:attrNameLst>
                                          <p:attrName>ppt_h</p:attrName>
                                        </p:attrNameLst>
                                      </p:cBhvr>
                                      <p:tavLst>
                                        <p:tav tm="0">
                                          <p:val>
                                            <p:strVal val="#ppt_h*0.7"/>
                                          </p:val>
                                        </p:tav>
                                        <p:tav tm="100000">
                                          <p:val>
                                            <p:strVal val="#ppt_h"/>
                                          </p:val>
                                        </p:tav>
                                      </p:tavLst>
                                    </p:anim>
                                    <p:animEffect transition="in" filter="fade">
                                      <p:cBhvr>
                                        <p:cTn id="24" dur="500"/>
                                        <p:tgtEl>
                                          <p:spTgt spid="27"/>
                                        </p:tgtEl>
                                      </p:cBhvr>
                                    </p:animEffect>
                                  </p:childTnLst>
                                </p:cTn>
                              </p:par>
                              <p:par>
                                <p:cTn id="25" presetID="53" presetClass="entr" presetSubtype="16" fill="hold" grpId="0" nodeType="withEffect">
                                  <p:stCondLst>
                                    <p:cond delay="30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ppt_w</p:attrName>
                                        </p:attrNameLst>
                                      </p:cBhvr>
                                      <p:tavLst>
                                        <p:tav tm="0">
                                          <p:val>
                                            <p:strVal val="#ppt_w*0.7"/>
                                          </p:val>
                                        </p:tav>
                                        <p:tav tm="100000">
                                          <p:val>
                                            <p:strVal val="#ppt_w"/>
                                          </p:val>
                                        </p:tav>
                                      </p:tavLst>
                                    </p:anim>
                                    <p:anim calcmode="lin" valueType="num">
                                      <p:cBhvr additive="base">
                                        <p:cTn id="28" dur="500" fill="hold"/>
                                        <p:tgtEl>
                                          <p:spTgt spid="28"/>
                                        </p:tgtEl>
                                        <p:attrNameLst>
                                          <p:attrName>ppt_h</p:attrName>
                                        </p:attrNameLst>
                                      </p:cBhvr>
                                      <p:tavLst>
                                        <p:tav tm="0">
                                          <p:val>
                                            <p:strVal val="#ppt_h*0.7"/>
                                          </p:val>
                                        </p:tav>
                                        <p:tav tm="100000">
                                          <p:val>
                                            <p:strVal val="#ppt_h"/>
                                          </p:val>
                                        </p:tav>
                                      </p:tavLst>
                                    </p:anim>
                                    <p:animEffect transition="in" filter="fade">
                                      <p:cBhvr>
                                        <p:cTn id="29" dur="500"/>
                                        <p:tgtEl>
                                          <p:spTgt spid="28"/>
                                        </p:tgtEl>
                                      </p:cBhvr>
                                    </p:animEffect>
                                  </p:childTnLst>
                                </p:cTn>
                              </p:par>
                              <p:par>
                                <p:cTn id="30" presetID="53" presetClass="entr" presetSubtype="16" fill="hold" grpId="0" nodeType="withEffect">
                                  <p:stCondLst>
                                    <p:cond delay="300"/>
                                  </p:stCondLst>
                                  <p:childTnLst>
                                    <p:set>
                                      <p:cBhvr>
                                        <p:cTn id="31" dur="1" fill="hold">
                                          <p:stCondLst>
                                            <p:cond delay="0"/>
                                          </p:stCondLst>
                                        </p:cTn>
                                        <p:tgtEl>
                                          <p:spTgt spid="29"/>
                                        </p:tgtEl>
                                        <p:attrNameLst>
                                          <p:attrName>style.visibility</p:attrName>
                                        </p:attrNameLst>
                                      </p:cBhvr>
                                      <p:to>
                                        <p:strVal val="visible"/>
                                      </p:to>
                                    </p:set>
                                    <p:anim calcmode="lin" valueType="num">
                                      <p:cBhvr additive="base">
                                        <p:cTn id="32" dur="500" fill="hold"/>
                                        <p:tgtEl>
                                          <p:spTgt spid="29"/>
                                        </p:tgtEl>
                                        <p:attrNameLst>
                                          <p:attrName>ppt_w</p:attrName>
                                        </p:attrNameLst>
                                      </p:cBhvr>
                                      <p:tavLst>
                                        <p:tav tm="0">
                                          <p:val>
                                            <p:strVal val="#ppt_w*0.7"/>
                                          </p:val>
                                        </p:tav>
                                        <p:tav tm="100000">
                                          <p:val>
                                            <p:strVal val="#ppt_w"/>
                                          </p:val>
                                        </p:tav>
                                      </p:tavLst>
                                    </p:anim>
                                    <p:anim calcmode="lin" valueType="num">
                                      <p:cBhvr additive="base">
                                        <p:cTn id="33" dur="500" fill="hold"/>
                                        <p:tgtEl>
                                          <p:spTgt spid="29"/>
                                        </p:tgtEl>
                                        <p:attrNameLst>
                                          <p:attrName>ppt_h</p:attrName>
                                        </p:attrNameLst>
                                      </p:cBhvr>
                                      <p:tavLst>
                                        <p:tav tm="0">
                                          <p:val>
                                            <p:strVal val="#ppt_h*0.7"/>
                                          </p:val>
                                        </p:tav>
                                        <p:tav tm="100000">
                                          <p:val>
                                            <p:strVal val="#ppt_h"/>
                                          </p:val>
                                        </p:tav>
                                      </p:tavLst>
                                    </p:anim>
                                    <p:animEffect transition="in" filter="fade">
                                      <p:cBhvr>
                                        <p:cTn id="34" dur="500"/>
                                        <p:tgtEl>
                                          <p:spTgt spid="29"/>
                                        </p:tgtEl>
                                      </p:cBhvr>
                                    </p:animEffect>
                                  </p:childTnLst>
                                </p:cTn>
                              </p:par>
                              <p:par>
                                <p:cTn id="35" presetID="10" presetClass="entr" presetSubtype="0" fill="hold" grpId="0" nodeType="withEffect">
                                  <p:stCondLst>
                                    <p:cond delay="339"/>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53" presetClass="entr" presetSubtype="16" fill="hold" grpId="0" nodeType="withEffect">
                                  <p:stCondLst>
                                    <p:cond delay="420"/>
                                  </p:stCondLst>
                                  <p:childTnLst>
                                    <p:set>
                                      <p:cBhvr>
                                        <p:cTn id="39" dur="1" fill="hold">
                                          <p:stCondLst>
                                            <p:cond delay="0"/>
                                          </p:stCondLst>
                                        </p:cTn>
                                        <p:tgtEl>
                                          <p:spTgt spid="30"/>
                                        </p:tgtEl>
                                        <p:attrNameLst>
                                          <p:attrName>style.visibility</p:attrName>
                                        </p:attrNameLst>
                                      </p:cBhvr>
                                      <p:to>
                                        <p:strVal val="visible"/>
                                      </p:to>
                                    </p:set>
                                    <p:anim calcmode="lin" valueType="num">
                                      <p:cBhvr additive="base">
                                        <p:cTn id="40" dur="500" fill="hold"/>
                                        <p:tgtEl>
                                          <p:spTgt spid="30"/>
                                        </p:tgtEl>
                                        <p:attrNameLst>
                                          <p:attrName>ppt_w</p:attrName>
                                        </p:attrNameLst>
                                      </p:cBhvr>
                                      <p:tavLst>
                                        <p:tav tm="0">
                                          <p:val>
                                            <p:strVal val="#ppt_w*0.7"/>
                                          </p:val>
                                        </p:tav>
                                        <p:tav tm="100000">
                                          <p:val>
                                            <p:strVal val="#ppt_w"/>
                                          </p:val>
                                        </p:tav>
                                      </p:tavLst>
                                    </p:anim>
                                    <p:anim calcmode="lin" valueType="num">
                                      <p:cBhvr additive="base">
                                        <p:cTn id="41" dur="500" fill="hold"/>
                                        <p:tgtEl>
                                          <p:spTgt spid="30"/>
                                        </p:tgtEl>
                                        <p:attrNameLst>
                                          <p:attrName>ppt_h</p:attrName>
                                        </p:attrNameLst>
                                      </p:cBhvr>
                                      <p:tavLst>
                                        <p:tav tm="0">
                                          <p:val>
                                            <p:strVal val="#ppt_h*0.7"/>
                                          </p:val>
                                        </p:tav>
                                        <p:tav tm="100000">
                                          <p:val>
                                            <p:strVal val="#ppt_h"/>
                                          </p:val>
                                        </p:tav>
                                      </p:tavLst>
                                    </p:anim>
                                    <p:animEffect transition="in" filter="fade">
                                      <p:cBhvr>
                                        <p:cTn id="42" dur="500"/>
                                        <p:tgtEl>
                                          <p:spTgt spid="30"/>
                                        </p:tgtEl>
                                      </p:cBhvr>
                                    </p:animEffect>
                                  </p:childTnLst>
                                </p:cTn>
                              </p:par>
                              <p:par>
                                <p:cTn id="43" presetID="53" presetClass="entr" presetSubtype="16" fill="hold" grpId="0" nodeType="withEffect">
                                  <p:stCondLst>
                                    <p:cond delay="420"/>
                                  </p:stCondLst>
                                  <p:childTnLst>
                                    <p:set>
                                      <p:cBhvr>
                                        <p:cTn id="44" dur="1" fill="hold">
                                          <p:stCondLst>
                                            <p:cond delay="0"/>
                                          </p:stCondLst>
                                        </p:cTn>
                                        <p:tgtEl>
                                          <p:spTgt spid="31"/>
                                        </p:tgtEl>
                                        <p:attrNameLst>
                                          <p:attrName>style.visibility</p:attrName>
                                        </p:attrNameLst>
                                      </p:cBhvr>
                                      <p:to>
                                        <p:strVal val="visible"/>
                                      </p:to>
                                    </p:set>
                                    <p:anim calcmode="lin" valueType="num">
                                      <p:cBhvr additive="base">
                                        <p:cTn id="45" dur="500" fill="hold"/>
                                        <p:tgtEl>
                                          <p:spTgt spid="31"/>
                                        </p:tgtEl>
                                        <p:attrNameLst>
                                          <p:attrName>ppt_w</p:attrName>
                                        </p:attrNameLst>
                                      </p:cBhvr>
                                      <p:tavLst>
                                        <p:tav tm="0">
                                          <p:val>
                                            <p:strVal val="#ppt_w*0.7"/>
                                          </p:val>
                                        </p:tav>
                                        <p:tav tm="100000">
                                          <p:val>
                                            <p:strVal val="#ppt_w"/>
                                          </p:val>
                                        </p:tav>
                                      </p:tavLst>
                                    </p:anim>
                                    <p:anim calcmode="lin" valueType="num">
                                      <p:cBhvr additive="base">
                                        <p:cTn id="46" dur="500" fill="hold"/>
                                        <p:tgtEl>
                                          <p:spTgt spid="31"/>
                                        </p:tgtEl>
                                        <p:attrNameLst>
                                          <p:attrName>ppt_h</p:attrName>
                                        </p:attrNameLst>
                                      </p:cBhvr>
                                      <p:tavLst>
                                        <p:tav tm="0">
                                          <p:val>
                                            <p:strVal val="#ppt_h*0.7"/>
                                          </p:val>
                                        </p:tav>
                                        <p:tav tm="100000">
                                          <p:val>
                                            <p:strVal val="#ppt_h"/>
                                          </p:val>
                                        </p:tav>
                                      </p:tavLst>
                                    </p:anim>
                                    <p:animEffect transition="in" filter="fade">
                                      <p:cBhvr>
                                        <p:cTn id="47" dur="500"/>
                                        <p:tgtEl>
                                          <p:spTgt spid="31"/>
                                        </p:tgtEl>
                                      </p:cBhvr>
                                    </p:animEffect>
                                  </p:childTnLst>
                                </p:cTn>
                              </p:par>
                              <p:par>
                                <p:cTn id="48" presetID="53" presetClass="entr" presetSubtype="16" fill="hold" grpId="0" nodeType="withEffect">
                                  <p:stCondLst>
                                    <p:cond delay="420"/>
                                  </p:stCondLst>
                                  <p:childTnLst>
                                    <p:set>
                                      <p:cBhvr>
                                        <p:cTn id="49" dur="1" fill="hold">
                                          <p:stCondLst>
                                            <p:cond delay="0"/>
                                          </p:stCondLst>
                                        </p:cTn>
                                        <p:tgtEl>
                                          <p:spTgt spid="32"/>
                                        </p:tgtEl>
                                        <p:attrNameLst>
                                          <p:attrName>style.visibility</p:attrName>
                                        </p:attrNameLst>
                                      </p:cBhvr>
                                      <p:to>
                                        <p:strVal val="visible"/>
                                      </p:to>
                                    </p:set>
                                    <p:anim calcmode="lin" valueType="num">
                                      <p:cBhvr additive="base">
                                        <p:cTn id="50" dur="500" fill="hold"/>
                                        <p:tgtEl>
                                          <p:spTgt spid="32"/>
                                        </p:tgtEl>
                                        <p:attrNameLst>
                                          <p:attrName>ppt_w</p:attrName>
                                        </p:attrNameLst>
                                      </p:cBhvr>
                                      <p:tavLst>
                                        <p:tav tm="0">
                                          <p:val>
                                            <p:strVal val="#ppt_w*0.7"/>
                                          </p:val>
                                        </p:tav>
                                        <p:tav tm="100000">
                                          <p:val>
                                            <p:strVal val="#ppt_w"/>
                                          </p:val>
                                        </p:tav>
                                      </p:tavLst>
                                    </p:anim>
                                    <p:anim calcmode="lin" valueType="num">
                                      <p:cBhvr additive="base">
                                        <p:cTn id="51" dur="500" fill="hold"/>
                                        <p:tgtEl>
                                          <p:spTgt spid="32"/>
                                        </p:tgtEl>
                                        <p:attrNameLst>
                                          <p:attrName>ppt_h</p:attrName>
                                        </p:attrNameLst>
                                      </p:cBhvr>
                                      <p:tavLst>
                                        <p:tav tm="0">
                                          <p:val>
                                            <p:strVal val="#ppt_h*0.7"/>
                                          </p:val>
                                        </p:tav>
                                        <p:tav tm="100000">
                                          <p:val>
                                            <p:strVal val="#ppt_h"/>
                                          </p:val>
                                        </p:tav>
                                      </p:tavLst>
                                    </p:anim>
                                    <p:animEffect transition="in" filter="fade">
                                      <p:cBhvr>
                                        <p:cTn id="52" dur="500"/>
                                        <p:tgtEl>
                                          <p:spTgt spid="32"/>
                                        </p:tgtEl>
                                      </p:cBhvr>
                                    </p:animEffect>
                                  </p:childTnLst>
                                </p:cTn>
                              </p:par>
                              <p:par>
                                <p:cTn id="53" presetID="53" presetClass="entr" presetSubtype="16" fill="hold" grpId="0" nodeType="withEffect">
                                  <p:stCondLst>
                                    <p:cond delay="540"/>
                                  </p:stCondLst>
                                  <p:childTnLst>
                                    <p:set>
                                      <p:cBhvr>
                                        <p:cTn id="54" dur="1" fill="hold">
                                          <p:stCondLst>
                                            <p:cond delay="0"/>
                                          </p:stCondLst>
                                        </p:cTn>
                                        <p:tgtEl>
                                          <p:spTgt spid="33"/>
                                        </p:tgtEl>
                                        <p:attrNameLst>
                                          <p:attrName>style.visibility</p:attrName>
                                        </p:attrNameLst>
                                      </p:cBhvr>
                                      <p:to>
                                        <p:strVal val="visible"/>
                                      </p:to>
                                    </p:set>
                                    <p:anim calcmode="lin" valueType="num">
                                      <p:cBhvr additive="base">
                                        <p:cTn id="55" dur="500" fill="hold"/>
                                        <p:tgtEl>
                                          <p:spTgt spid="33"/>
                                        </p:tgtEl>
                                        <p:attrNameLst>
                                          <p:attrName>ppt_w</p:attrName>
                                        </p:attrNameLst>
                                      </p:cBhvr>
                                      <p:tavLst>
                                        <p:tav tm="0">
                                          <p:val>
                                            <p:strVal val="#ppt_w*0.7"/>
                                          </p:val>
                                        </p:tav>
                                        <p:tav tm="100000">
                                          <p:val>
                                            <p:strVal val="#ppt_w"/>
                                          </p:val>
                                        </p:tav>
                                      </p:tavLst>
                                    </p:anim>
                                    <p:anim calcmode="lin" valueType="num">
                                      <p:cBhvr additive="base">
                                        <p:cTn id="56" dur="500" fill="hold"/>
                                        <p:tgtEl>
                                          <p:spTgt spid="33"/>
                                        </p:tgtEl>
                                        <p:attrNameLst>
                                          <p:attrName>ppt_h</p:attrName>
                                        </p:attrNameLst>
                                      </p:cBhvr>
                                      <p:tavLst>
                                        <p:tav tm="0">
                                          <p:val>
                                            <p:strVal val="#ppt_h*0.7"/>
                                          </p:val>
                                        </p:tav>
                                        <p:tav tm="100000">
                                          <p:val>
                                            <p:strVal val="#ppt_h"/>
                                          </p:val>
                                        </p:tav>
                                      </p:tavLst>
                                    </p:anim>
                                    <p:animEffect transition="in" filter="fade">
                                      <p:cBhvr>
                                        <p:cTn id="57" dur="500"/>
                                        <p:tgtEl>
                                          <p:spTgt spid="33"/>
                                        </p:tgtEl>
                                      </p:cBhvr>
                                    </p:animEffect>
                                  </p:childTnLst>
                                </p:cTn>
                              </p:par>
                              <p:par>
                                <p:cTn id="58" presetID="53" presetClass="entr" presetSubtype="16" fill="hold" grpId="0" nodeType="withEffect">
                                  <p:stCondLst>
                                    <p:cond delay="540"/>
                                  </p:stCondLst>
                                  <p:childTnLst>
                                    <p:set>
                                      <p:cBhvr>
                                        <p:cTn id="59" dur="1" fill="hold">
                                          <p:stCondLst>
                                            <p:cond delay="0"/>
                                          </p:stCondLst>
                                        </p:cTn>
                                        <p:tgtEl>
                                          <p:spTgt spid="34"/>
                                        </p:tgtEl>
                                        <p:attrNameLst>
                                          <p:attrName>style.visibility</p:attrName>
                                        </p:attrNameLst>
                                      </p:cBhvr>
                                      <p:to>
                                        <p:strVal val="visible"/>
                                      </p:to>
                                    </p:set>
                                    <p:anim calcmode="lin" valueType="num">
                                      <p:cBhvr additive="base">
                                        <p:cTn id="60" dur="500" fill="hold"/>
                                        <p:tgtEl>
                                          <p:spTgt spid="34"/>
                                        </p:tgtEl>
                                        <p:attrNameLst>
                                          <p:attrName>ppt_w</p:attrName>
                                        </p:attrNameLst>
                                      </p:cBhvr>
                                      <p:tavLst>
                                        <p:tav tm="0">
                                          <p:val>
                                            <p:strVal val="#ppt_w*0.7"/>
                                          </p:val>
                                        </p:tav>
                                        <p:tav tm="100000">
                                          <p:val>
                                            <p:strVal val="#ppt_w"/>
                                          </p:val>
                                        </p:tav>
                                      </p:tavLst>
                                    </p:anim>
                                    <p:anim calcmode="lin" valueType="num">
                                      <p:cBhvr additive="base">
                                        <p:cTn id="61" dur="500" fill="hold"/>
                                        <p:tgtEl>
                                          <p:spTgt spid="34"/>
                                        </p:tgtEl>
                                        <p:attrNameLst>
                                          <p:attrName>ppt_h</p:attrName>
                                        </p:attrNameLst>
                                      </p:cBhvr>
                                      <p:tavLst>
                                        <p:tav tm="0">
                                          <p:val>
                                            <p:strVal val="#ppt_h*0.7"/>
                                          </p:val>
                                        </p:tav>
                                        <p:tav tm="100000">
                                          <p:val>
                                            <p:strVal val="#ppt_h"/>
                                          </p:val>
                                        </p:tav>
                                      </p:tavLst>
                                    </p:anim>
                                    <p:animEffect transition="in" filter="fade">
                                      <p:cBhvr>
                                        <p:cTn id="62" dur="500"/>
                                        <p:tgtEl>
                                          <p:spTgt spid="34"/>
                                        </p:tgtEl>
                                      </p:cBhvr>
                                    </p:animEffect>
                                  </p:childTnLst>
                                </p:cTn>
                              </p:par>
                              <p:par>
                                <p:cTn id="63" presetID="53" presetClass="entr" presetSubtype="16" fill="hold" grpId="0" nodeType="withEffect">
                                  <p:stCondLst>
                                    <p:cond delay="540"/>
                                  </p:stCondLst>
                                  <p:childTnLst>
                                    <p:set>
                                      <p:cBhvr>
                                        <p:cTn id="64" dur="1" fill="hold">
                                          <p:stCondLst>
                                            <p:cond delay="0"/>
                                          </p:stCondLst>
                                        </p:cTn>
                                        <p:tgtEl>
                                          <p:spTgt spid="35"/>
                                        </p:tgtEl>
                                        <p:attrNameLst>
                                          <p:attrName>style.visibility</p:attrName>
                                        </p:attrNameLst>
                                      </p:cBhvr>
                                      <p:to>
                                        <p:strVal val="visible"/>
                                      </p:to>
                                    </p:set>
                                    <p:anim calcmode="lin" valueType="num">
                                      <p:cBhvr additive="base">
                                        <p:cTn id="65" dur="500" fill="hold"/>
                                        <p:tgtEl>
                                          <p:spTgt spid="35"/>
                                        </p:tgtEl>
                                        <p:attrNameLst>
                                          <p:attrName>ppt_w</p:attrName>
                                        </p:attrNameLst>
                                      </p:cBhvr>
                                      <p:tavLst>
                                        <p:tav tm="0">
                                          <p:val>
                                            <p:strVal val="#ppt_w*0.7"/>
                                          </p:val>
                                        </p:tav>
                                        <p:tav tm="100000">
                                          <p:val>
                                            <p:strVal val="#ppt_w"/>
                                          </p:val>
                                        </p:tav>
                                      </p:tavLst>
                                    </p:anim>
                                    <p:anim calcmode="lin" valueType="num">
                                      <p:cBhvr additive="base">
                                        <p:cTn id="66" dur="500" fill="hold"/>
                                        <p:tgtEl>
                                          <p:spTgt spid="35"/>
                                        </p:tgtEl>
                                        <p:attrNameLst>
                                          <p:attrName>ppt_h</p:attrName>
                                        </p:attrNameLst>
                                      </p:cBhvr>
                                      <p:tavLst>
                                        <p:tav tm="0">
                                          <p:val>
                                            <p:strVal val="#ppt_h*0.7"/>
                                          </p:val>
                                        </p:tav>
                                        <p:tav tm="100000">
                                          <p:val>
                                            <p:strVal val="#ppt_h"/>
                                          </p:val>
                                        </p:tav>
                                      </p:tavLst>
                                    </p:anim>
                                    <p:animEffect transition="in" filter="fade">
                                      <p:cBhvr>
                                        <p:cTn id="67" dur="500"/>
                                        <p:tgtEl>
                                          <p:spTgt spid="35"/>
                                        </p:tgtEl>
                                      </p:cBhvr>
                                    </p:animEffect>
                                  </p:childTnLst>
                                </p:cTn>
                              </p:par>
                              <p:par>
                                <p:cTn id="68" presetID="10" presetClass="entr" presetSubtype="0" fill="hold" grpId="0" nodeType="withEffect">
                                  <p:stCondLst>
                                    <p:cond delay="60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350"/>
                                        <p:tgtEl>
                                          <p:spTgt spid="14"/>
                                        </p:tgtEl>
                                      </p:cBhvr>
                                    </p:animEffect>
                                  </p:childTnLst>
                                </p:cTn>
                              </p:par>
                              <p:par>
                                <p:cTn id="71" presetID="10" presetClass="entr" presetSubtype="0" fill="hold" grpId="0" nodeType="withEffect">
                                  <p:stCondLst>
                                    <p:cond delay="60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350"/>
                                        <p:tgtEl>
                                          <p:spTgt spid="15"/>
                                        </p:tgtEl>
                                      </p:cBhvr>
                                    </p:animEffect>
                                  </p:childTnLst>
                                </p:cTn>
                              </p:par>
                              <p:par>
                                <p:cTn id="74" presetID="10" presetClass="entr" presetSubtype="0" fill="hold" grpId="0" nodeType="withEffect">
                                  <p:stCondLst>
                                    <p:cond delay="659"/>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350"/>
                                        <p:tgtEl>
                                          <p:spTgt spid="16"/>
                                        </p:tgtEl>
                                      </p:cBhvr>
                                    </p:animEffect>
                                  </p:childTnLst>
                                </p:cTn>
                              </p:par>
                              <p:par>
                                <p:cTn id="77" presetID="10" presetClass="entr" presetSubtype="0" fill="hold" grpId="0" nodeType="withEffect">
                                  <p:stCondLst>
                                    <p:cond delay="659"/>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350"/>
                                        <p:tgtEl>
                                          <p:spTgt spid="17"/>
                                        </p:tgtEl>
                                      </p:cBhvr>
                                    </p:animEffect>
                                  </p:childTnLst>
                                </p:cTn>
                              </p:par>
                              <p:par>
                                <p:cTn id="80" presetID="53" presetClass="entr" presetSubtype="16" fill="hold" grpId="0" nodeType="withEffect">
                                  <p:stCondLst>
                                    <p:cond delay="660"/>
                                  </p:stCondLst>
                                  <p:childTnLst>
                                    <p:set>
                                      <p:cBhvr>
                                        <p:cTn id="81" dur="1" fill="hold">
                                          <p:stCondLst>
                                            <p:cond delay="0"/>
                                          </p:stCondLst>
                                        </p:cTn>
                                        <p:tgtEl>
                                          <p:spTgt spid="36"/>
                                        </p:tgtEl>
                                        <p:attrNameLst>
                                          <p:attrName>style.visibility</p:attrName>
                                        </p:attrNameLst>
                                      </p:cBhvr>
                                      <p:to>
                                        <p:strVal val="visible"/>
                                      </p:to>
                                    </p:set>
                                    <p:anim calcmode="lin" valueType="num">
                                      <p:cBhvr additive="base">
                                        <p:cTn id="82" dur="500" fill="hold"/>
                                        <p:tgtEl>
                                          <p:spTgt spid="36"/>
                                        </p:tgtEl>
                                        <p:attrNameLst>
                                          <p:attrName>ppt_w</p:attrName>
                                        </p:attrNameLst>
                                      </p:cBhvr>
                                      <p:tavLst>
                                        <p:tav tm="0">
                                          <p:val>
                                            <p:strVal val="#ppt_w*0.7"/>
                                          </p:val>
                                        </p:tav>
                                        <p:tav tm="100000">
                                          <p:val>
                                            <p:strVal val="#ppt_w"/>
                                          </p:val>
                                        </p:tav>
                                      </p:tavLst>
                                    </p:anim>
                                    <p:anim calcmode="lin" valueType="num">
                                      <p:cBhvr additive="base">
                                        <p:cTn id="83" dur="500" fill="hold"/>
                                        <p:tgtEl>
                                          <p:spTgt spid="36"/>
                                        </p:tgtEl>
                                        <p:attrNameLst>
                                          <p:attrName>ppt_h</p:attrName>
                                        </p:attrNameLst>
                                      </p:cBhvr>
                                      <p:tavLst>
                                        <p:tav tm="0">
                                          <p:val>
                                            <p:strVal val="#ppt_h*0.7"/>
                                          </p:val>
                                        </p:tav>
                                        <p:tav tm="100000">
                                          <p:val>
                                            <p:strVal val="#ppt_h"/>
                                          </p:val>
                                        </p:tav>
                                      </p:tavLst>
                                    </p:anim>
                                    <p:animEffect transition="in" filter="fade">
                                      <p:cBhvr>
                                        <p:cTn id="84" dur="500"/>
                                        <p:tgtEl>
                                          <p:spTgt spid="36"/>
                                        </p:tgtEl>
                                      </p:cBhvr>
                                    </p:animEffect>
                                  </p:childTnLst>
                                </p:cTn>
                              </p:par>
                              <p:par>
                                <p:cTn id="85" presetID="53" presetClass="entr" presetSubtype="16" fill="hold" grpId="0" nodeType="withEffect">
                                  <p:stCondLst>
                                    <p:cond delay="660"/>
                                  </p:stCondLst>
                                  <p:childTnLst>
                                    <p:set>
                                      <p:cBhvr>
                                        <p:cTn id="86" dur="1" fill="hold">
                                          <p:stCondLst>
                                            <p:cond delay="0"/>
                                          </p:stCondLst>
                                        </p:cTn>
                                        <p:tgtEl>
                                          <p:spTgt spid="37"/>
                                        </p:tgtEl>
                                        <p:attrNameLst>
                                          <p:attrName>style.visibility</p:attrName>
                                        </p:attrNameLst>
                                      </p:cBhvr>
                                      <p:to>
                                        <p:strVal val="visible"/>
                                      </p:to>
                                    </p:set>
                                    <p:anim calcmode="lin" valueType="num">
                                      <p:cBhvr additive="base">
                                        <p:cTn id="87" dur="500" fill="hold"/>
                                        <p:tgtEl>
                                          <p:spTgt spid="37"/>
                                        </p:tgtEl>
                                        <p:attrNameLst>
                                          <p:attrName>ppt_w</p:attrName>
                                        </p:attrNameLst>
                                      </p:cBhvr>
                                      <p:tavLst>
                                        <p:tav tm="0">
                                          <p:val>
                                            <p:strVal val="#ppt_w*0.7"/>
                                          </p:val>
                                        </p:tav>
                                        <p:tav tm="100000">
                                          <p:val>
                                            <p:strVal val="#ppt_w"/>
                                          </p:val>
                                        </p:tav>
                                      </p:tavLst>
                                    </p:anim>
                                    <p:anim calcmode="lin" valueType="num">
                                      <p:cBhvr additive="base">
                                        <p:cTn id="88" dur="500" fill="hold"/>
                                        <p:tgtEl>
                                          <p:spTgt spid="37"/>
                                        </p:tgtEl>
                                        <p:attrNameLst>
                                          <p:attrName>ppt_h</p:attrName>
                                        </p:attrNameLst>
                                      </p:cBhvr>
                                      <p:tavLst>
                                        <p:tav tm="0">
                                          <p:val>
                                            <p:strVal val="#ppt_h*0.7"/>
                                          </p:val>
                                        </p:tav>
                                        <p:tav tm="100000">
                                          <p:val>
                                            <p:strVal val="#ppt_h"/>
                                          </p:val>
                                        </p:tav>
                                      </p:tavLst>
                                    </p:anim>
                                    <p:animEffect transition="in" filter="fade">
                                      <p:cBhvr>
                                        <p:cTn id="89" dur="500"/>
                                        <p:tgtEl>
                                          <p:spTgt spid="37"/>
                                        </p:tgtEl>
                                      </p:cBhvr>
                                    </p:animEffect>
                                  </p:childTnLst>
                                </p:cTn>
                              </p:par>
                              <p:par>
                                <p:cTn id="90" presetID="53" presetClass="entr" presetSubtype="16" fill="hold" grpId="0" nodeType="withEffect">
                                  <p:stCondLst>
                                    <p:cond delay="660"/>
                                  </p:stCondLst>
                                  <p:childTnLst>
                                    <p:set>
                                      <p:cBhvr>
                                        <p:cTn id="91" dur="1" fill="hold">
                                          <p:stCondLst>
                                            <p:cond delay="0"/>
                                          </p:stCondLst>
                                        </p:cTn>
                                        <p:tgtEl>
                                          <p:spTgt spid="38"/>
                                        </p:tgtEl>
                                        <p:attrNameLst>
                                          <p:attrName>style.visibility</p:attrName>
                                        </p:attrNameLst>
                                      </p:cBhvr>
                                      <p:to>
                                        <p:strVal val="visible"/>
                                      </p:to>
                                    </p:set>
                                    <p:anim calcmode="lin" valueType="num">
                                      <p:cBhvr additive="base">
                                        <p:cTn id="92" dur="500" fill="hold"/>
                                        <p:tgtEl>
                                          <p:spTgt spid="38"/>
                                        </p:tgtEl>
                                        <p:attrNameLst>
                                          <p:attrName>ppt_w</p:attrName>
                                        </p:attrNameLst>
                                      </p:cBhvr>
                                      <p:tavLst>
                                        <p:tav tm="0">
                                          <p:val>
                                            <p:strVal val="#ppt_w*0.7"/>
                                          </p:val>
                                        </p:tav>
                                        <p:tav tm="100000">
                                          <p:val>
                                            <p:strVal val="#ppt_w"/>
                                          </p:val>
                                        </p:tav>
                                      </p:tavLst>
                                    </p:anim>
                                    <p:anim calcmode="lin" valueType="num">
                                      <p:cBhvr additive="base">
                                        <p:cTn id="93" dur="500" fill="hold"/>
                                        <p:tgtEl>
                                          <p:spTgt spid="38"/>
                                        </p:tgtEl>
                                        <p:attrNameLst>
                                          <p:attrName>ppt_h</p:attrName>
                                        </p:attrNameLst>
                                      </p:cBhvr>
                                      <p:tavLst>
                                        <p:tav tm="0">
                                          <p:val>
                                            <p:strVal val="#ppt_h*0.7"/>
                                          </p:val>
                                        </p:tav>
                                        <p:tav tm="100000">
                                          <p:val>
                                            <p:strVal val="#ppt_h"/>
                                          </p:val>
                                        </p:tav>
                                      </p:tavLst>
                                    </p:anim>
                                    <p:animEffect transition="in" filter="fade">
                                      <p:cBhvr>
                                        <p:cTn id="94" dur="500"/>
                                        <p:tgtEl>
                                          <p:spTgt spid="38"/>
                                        </p:tgtEl>
                                      </p:cBhvr>
                                    </p:animEffect>
                                  </p:childTnLst>
                                </p:cTn>
                              </p:par>
                              <p:par>
                                <p:cTn id="95" presetID="10" presetClass="entr" presetSubtype="0" fill="hold" grpId="0" nodeType="withEffect">
                                  <p:stCondLst>
                                    <p:cond delay="72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350"/>
                                        <p:tgtEl>
                                          <p:spTgt spid="18"/>
                                        </p:tgtEl>
                                      </p:cBhvr>
                                    </p:animEffect>
                                  </p:childTnLst>
                                </p:cTn>
                              </p:par>
                              <p:par>
                                <p:cTn id="98" presetID="10" presetClass="entr" presetSubtype="0" fill="hold" grpId="0" nodeType="withEffect">
                                  <p:stCondLst>
                                    <p:cond delay="720"/>
                                  </p:stCondLst>
                                  <p:childTnLst>
                                    <p:set>
                                      <p:cBhvr>
                                        <p:cTn id="99" dur="1" fill="hold">
                                          <p:stCondLst>
                                            <p:cond delay="0"/>
                                          </p:stCondLst>
                                        </p:cTn>
                                        <p:tgtEl>
                                          <p:spTgt spid="19"/>
                                        </p:tgtEl>
                                        <p:attrNameLst>
                                          <p:attrName>style.visibility</p:attrName>
                                        </p:attrNameLst>
                                      </p:cBhvr>
                                      <p:to>
                                        <p:strVal val="visible"/>
                                      </p:to>
                                    </p:set>
                                    <p:animEffect transition="in" filter="fade">
                                      <p:cBhvr>
                                        <p:cTn id="100" dur="350"/>
                                        <p:tgtEl>
                                          <p:spTgt spid="19"/>
                                        </p:tgtEl>
                                      </p:cBhvr>
                                    </p:animEffect>
                                  </p:childTnLst>
                                </p:cTn>
                              </p:par>
                              <p:par>
                                <p:cTn id="101" presetID="10" presetClass="entr" presetSubtype="0" fill="hold" grpId="0" nodeType="withEffect">
                                  <p:stCondLst>
                                    <p:cond delay="780"/>
                                  </p:stCondLst>
                                  <p:childTnLst>
                                    <p:set>
                                      <p:cBhvr>
                                        <p:cTn id="102" dur="1" fill="hold">
                                          <p:stCondLst>
                                            <p:cond delay="0"/>
                                          </p:stCondLst>
                                        </p:cTn>
                                        <p:tgtEl>
                                          <p:spTgt spid="20"/>
                                        </p:tgtEl>
                                        <p:attrNameLst>
                                          <p:attrName>style.visibility</p:attrName>
                                        </p:attrNameLst>
                                      </p:cBhvr>
                                      <p:to>
                                        <p:strVal val="visible"/>
                                      </p:to>
                                    </p:set>
                                    <p:animEffect transition="in" filter="fade">
                                      <p:cBhvr>
                                        <p:cTn id="103" dur="350"/>
                                        <p:tgtEl>
                                          <p:spTgt spid="20"/>
                                        </p:tgtEl>
                                      </p:cBhvr>
                                    </p:animEffect>
                                  </p:childTnLst>
                                </p:cTn>
                              </p:par>
                              <p:par>
                                <p:cTn id="104" presetID="10" presetClass="entr" presetSubtype="0" fill="hold" grpId="0" nodeType="withEffect">
                                  <p:stCondLst>
                                    <p:cond delay="78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350"/>
                                        <p:tgtEl>
                                          <p:spTgt spid="21"/>
                                        </p:tgtEl>
                                      </p:cBhvr>
                                    </p:animEffect>
                                  </p:childTnLst>
                                </p:cTn>
                              </p:par>
                              <p:par>
                                <p:cTn id="107" presetID="53" presetClass="entr" presetSubtype="16" fill="hold" grpId="0" nodeType="withEffect">
                                  <p:stCondLst>
                                    <p:cond delay="780"/>
                                  </p:stCondLst>
                                  <p:childTnLst>
                                    <p:set>
                                      <p:cBhvr>
                                        <p:cTn id="108" dur="1" fill="hold">
                                          <p:stCondLst>
                                            <p:cond delay="0"/>
                                          </p:stCondLst>
                                        </p:cTn>
                                        <p:tgtEl>
                                          <p:spTgt spid="39"/>
                                        </p:tgtEl>
                                        <p:attrNameLst>
                                          <p:attrName>style.visibility</p:attrName>
                                        </p:attrNameLst>
                                      </p:cBhvr>
                                      <p:to>
                                        <p:strVal val="visible"/>
                                      </p:to>
                                    </p:set>
                                    <p:anim calcmode="lin" valueType="num">
                                      <p:cBhvr additive="base">
                                        <p:cTn id="109" dur="500" fill="hold"/>
                                        <p:tgtEl>
                                          <p:spTgt spid="39"/>
                                        </p:tgtEl>
                                        <p:attrNameLst>
                                          <p:attrName>ppt_w</p:attrName>
                                        </p:attrNameLst>
                                      </p:cBhvr>
                                      <p:tavLst>
                                        <p:tav tm="0">
                                          <p:val>
                                            <p:strVal val="#ppt_w*0.7"/>
                                          </p:val>
                                        </p:tav>
                                        <p:tav tm="100000">
                                          <p:val>
                                            <p:strVal val="#ppt_w"/>
                                          </p:val>
                                        </p:tav>
                                      </p:tavLst>
                                    </p:anim>
                                    <p:anim calcmode="lin" valueType="num">
                                      <p:cBhvr additive="base">
                                        <p:cTn id="110" dur="500" fill="hold"/>
                                        <p:tgtEl>
                                          <p:spTgt spid="39"/>
                                        </p:tgtEl>
                                        <p:attrNameLst>
                                          <p:attrName>ppt_h</p:attrName>
                                        </p:attrNameLst>
                                      </p:cBhvr>
                                      <p:tavLst>
                                        <p:tav tm="0">
                                          <p:val>
                                            <p:strVal val="#ppt_h*0.7"/>
                                          </p:val>
                                        </p:tav>
                                        <p:tav tm="100000">
                                          <p:val>
                                            <p:strVal val="#ppt_h"/>
                                          </p:val>
                                        </p:tav>
                                      </p:tavLst>
                                    </p:anim>
                                    <p:animEffect transition="in" filter="fade">
                                      <p:cBhvr>
                                        <p:cTn id="111" dur="500"/>
                                        <p:tgtEl>
                                          <p:spTgt spid="39"/>
                                        </p:tgtEl>
                                      </p:cBhvr>
                                    </p:animEffect>
                                  </p:childTnLst>
                                </p:cTn>
                              </p:par>
                              <p:par>
                                <p:cTn id="112" presetID="53" presetClass="entr" presetSubtype="16" fill="hold" grpId="0" nodeType="withEffect">
                                  <p:stCondLst>
                                    <p:cond delay="780"/>
                                  </p:stCondLst>
                                  <p:childTnLst>
                                    <p:set>
                                      <p:cBhvr>
                                        <p:cTn id="113" dur="1" fill="hold">
                                          <p:stCondLst>
                                            <p:cond delay="0"/>
                                          </p:stCondLst>
                                        </p:cTn>
                                        <p:tgtEl>
                                          <p:spTgt spid="40"/>
                                        </p:tgtEl>
                                        <p:attrNameLst>
                                          <p:attrName>style.visibility</p:attrName>
                                        </p:attrNameLst>
                                      </p:cBhvr>
                                      <p:to>
                                        <p:strVal val="visible"/>
                                      </p:to>
                                    </p:set>
                                    <p:anim calcmode="lin" valueType="num">
                                      <p:cBhvr additive="base">
                                        <p:cTn id="114" dur="500" fill="hold"/>
                                        <p:tgtEl>
                                          <p:spTgt spid="40"/>
                                        </p:tgtEl>
                                        <p:attrNameLst>
                                          <p:attrName>ppt_w</p:attrName>
                                        </p:attrNameLst>
                                      </p:cBhvr>
                                      <p:tavLst>
                                        <p:tav tm="0">
                                          <p:val>
                                            <p:strVal val="#ppt_w*0.7"/>
                                          </p:val>
                                        </p:tav>
                                        <p:tav tm="100000">
                                          <p:val>
                                            <p:strVal val="#ppt_w"/>
                                          </p:val>
                                        </p:tav>
                                      </p:tavLst>
                                    </p:anim>
                                    <p:anim calcmode="lin" valueType="num">
                                      <p:cBhvr additive="base">
                                        <p:cTn id="115" dur="500" fill="hold"/>
                                        <p:tgtEl>
                                          <p:spTgt spid="40"/>
                                        </p:tgtEl>
                                        <p:attrNameLst>
                                          <p:attrName>ppt_h</p:attrName>
                                        </p:attrNameLst>
                                      </p:cBhvr>
                                      <p:tavLst>
                                        <p:tav tm="0">
                                          <p:val>
                                            <p:strVal val="#ppt_h*0.7"/>
                                          </p:val>
                                        </p:tav>
                                        <p:tav tm="100000">
                                          <p:val>
                                            <p:strVal val="#ppt_h"/>
                                          </p:val>
                                        </p:tav>
                                      </p:tavLst>
                                    </p:anim>
                                    <p:animEffect transition="in" filter="fade">
                                      <p:cBhvr>
                                        <p:cTn id="116" dur="500"/>
                                        <p:tgtEl>
                                          <p:spTgt spid="40"/>
                                        </p:tgtEl>
                                      </p:cBhvr>
                                    </p:animEffect>
                                  </p:childTnLst>
                                </p:cTn>
                              </p:par>
                              <p:par>
                                <p:cTn id="117" presetID="53" presetClass="entr" presetSubtype="16" fill="hold" grpId="0" nodeType="withEffect">
                                  <p:stCondLst>
                                    <p:cond delay="780"/>
                                  </p:stCondLst>
                                  <p:childTnLst>
                                    <p:set>
                                      <p:cBhvr>
                                        <p:cTn id="118" dur="1" fill="hold">
                                          <p:stCondLst>
                                            <p:cond delay="0"/>
                                          </p:stCondLst>
                                        </p:cTn>
                                        <p:tgtEl>
                                          <p:spTgt spid="41"/>
                                        </p:tgtEl>
                                        <p:attrNameLst>
                                          <p:attrName>style.visibility</p:attrName>
                                        </p:attrNameLst>
                                      </p:cBhvr>
                                      <p:to>
                                        <p:strVal val="visible"/>
                                      </p:to>
                                    </p:set>
                                    <p:anim calcmode="lin" valueType="num">
                                      <p:cBhvr additive="base">
                                        <p:cTn id="119" dur="500" fill="hold"/>
                                        <p:tgtEl>
                                          <p:spTgt spid="41"/>
                                        </p:tgtEl>
                                        <p:attrNameLst>
                                          <p:attrName>ppt_w</p:attrName>
                                        </p:attrNameLst>
                                      </p:cBhvr>
                                      <p:tavLst>
                                        <p:tav tm="0">
                                          <p:val>
                                            <p:strVal val="#ppt_w*0.7"/>
                                          </p:val>
                                        </p:tav>
                                        <p:tav tm="100000">
                                          <p:val>
                                            <p:strVal val="#ppt_w"/>
                                          </p:val>
                                        </p:tav>
                                      </p:tavLst>
                                    </p:anim>
                                    <p:anim calcmode="lin" valueType="num">
                                      <p:cBhvr additive="base">
                                        <p:cTn id="120" dur="500" fill="hold"/>
                                        <p:tgtEl>
                                          <p:spTgt spid="41"/>
                                        </p:tgtEl>
                                        <p:attrNameLst>
                                          <p:attrName>ppt_h</p:attrName>
                                        </p:attrNameLst>
                                      </p:cBhvr>
                                      <p:tavLst>
                                        <p:tav tm="0">
                                          <p:val>
                                            <p:strVal val="#ppt_h*0.7"/>
                                          </p:val>
                                        </p:tav>
                                        <p:tav tm="100000">
                                          <p:val>
                                            <p:strVal val="#ppt_h"/>
                                          </p:val>
                                        </p:tav>
                                      </p:tavLst>
                                    </p:anim>
                                    <p:animEffect transition="in" filter="fade">
                                      <p:cBhvr>
                                        <p:cTn id="121" dur="500"/>
                                        <p:tgtEl>
                                          <p:spTgt spid="41"/>
                                        </p:tgtEl>
                                      </p:cBhvr>
                                    </p:animEffect>
                                  </p:childTnLst>
                                </p:cTn>
                              </p:par>
                              <p:par>
                                <p:cTn id="122" presetID="10" presetClass="entr" presetSubtype="0" fill="hold" grpId="0" nodeType="withEffect">
                                  <p:stCondLst>
                                    <p:cond delay="840"/>
                                  </p:stCondLst>
                                  <p:childTnLst>
                                    <p:set>
                                      <p:cBhvr>
                                        <p:cTn id="123" dur="1" fill="hold">
                                          <p:stCondLst>
                                            <p:cond delay="0"/>
                                          </p:stCondLst>
                                        </p:cTn>
                                        <p:tgtEl>
                                          <p:spTgt spid="22"/>
                                        </p:tgtEl>
                                        <p:attrNameLst>
                                          <p:attrName>style.visibility</p:attrName>
                                        </p:attrNameLst>
                                      </p:cBhvr>
                                      <p:to>
                                        <p:strVal val="visible"/>
                                      </p:to>
                                    </p:set>
                                    <p:animEffect transition="in" filter="fade">
                                      <p:cBhvr>
                                        <p:cTn id="124" dur="350"/>
                                        <p:tgtEl>
                                          <p:spTgt spid="22"/>
                                        </p:tgtEl>
                                      </p:cBhvr>
                                    </p:animEffect>
                                  </p:childTnLst>
                                </p:cTn>
                              </p:par>
                              <p:par>
                                <p:cTn id="125" presetID="10" presetClass="entr" presetSubtype="0" fill="hold" grpId="0" nodeType="withEffect">
                                  <p:stCondLst>
                                    <p:cond delay="840"/>
                                  </p:stCondLst>
                                  <p:childTnLst>
                                    <p:set>
                                      <p:cBhvr>
                                        <p:cTn id="126" dur="1" fill="hold">
                                          <p:stCondLst>
                                            <p:cond delay="0"/>
                                          </p:stCondLst>
                                        </p:cTn>
                                        <p:tgtEl>
                                          <p:spTgt spid="23"/>
                                        </p:tgtEl>
                                        <p:attrNameLst>
                                          <p:attrName>style.visibility</p:attrName>
                                        </p:attrNameLst>
                                      </p:cBhvr>
                                      <p:to>
                                        <p:strVal val="visible"/>
                                      </p:to>
                                    </p:set>
                                    <p:animEffect transition="in" filter="fade">
                                      <p:cBhvr>
                                        <p:cTn id="127" dur="350"/>
                                        <p:tgtEl>
                                          <p:spTgt spid="23"/>
                                        </p:tgtEl>
                                      </p:cBhvr>
                                    </p:animEffect>
                                  </p:childTnLst>
                                </p:cTn>
                              </p:par>
                              <p:par>
                                <p:cTn id="128" presetID="10" presetClass="entr" presetSubtype="0" fill="hold" grpId="0" nodeType="withEffect">
                                  <p:stCondLst>
                                    <p:cond delay="900"/>
                                  </p:stCondLst>
                                  <p:childTnLst>
                                    <p:set>
                                      <p:cBhvr>
                                        <p:cTn id="129" dur="1" fill="hold">
                                          <p:stCondLst>
                                            <p:cond delay="0"/>
                                          </p:stCondLst>
                                        </p:cTn>
                                        <p:tgtEl>
                                          <p:spTgt spid="24"/>
                                        </p:tgtEl>
                                        <p:attrNameLst>
                                          <p:attrName>style.visibility</p:attrName>
                                        </p:attrNameLst>
                                      </p:cBhvr>
                                      <p:to>
                                        <p:strVal val="visible"/>
                                      </p:to>
                                    </p:set>
                                    <p:animEffect transition="in" filter="fade">
                                      <p:cBhvr>
                                        <p:cTn id="130" dur="350"/>
                                        <p:tgtEl>
                                          <p:spTgt spid="24"/>
                                        </p:tgtEl>
                                      </p:cBhvr>
                                    </p:animEffect>
                                  </p:childTnLst>
                                </p:cTn>
                              </p:par>
                              <p:par>
                                <p:cTn id="131" presetID="10" presetClass="entr" presetSubtype="0" fill="hold" grpId="0" nodeType="withEffect">
                                  <p:stCondLst>
                                    <p:cond delay="900"/>
                                  </p:stCondLst>
                                  <p:childTnLst>
                                    <p:set>
                                      <p:cBhvr>
                                        <p:cTn id="132" dur="1" fill="hold">
                                          <p:stCondLst>
                                            <p:cond delay="0"/>
                                          </p:stCondLst>
                                        </p:cTn>
                                        <p:tgtEl>
                                          <p:spTgt spid="25"/>
                                        </p:tgtEl>
                                        <p:attrNameLst>
                                          <p:attrName>style.visibility</p:attrName>
                                        </p:attrNameLst>
                                      </p:cBhvr>
                                      <p:to>
                                        <p:strVal val="visible"/>
                                      </p:to>
                                    </p:set>
                                    <p:animEffect transition="in" filter="fade">
                                      <p:cBhvr>
                                        <p:cTn id="133" dur="350"/>
                                        <p:tgtEl>
                                          <p:spTgt spid="25"/>
                                        </p:tgtEl>
                                      </p:cBhvr>
                                    </p:animEffect>
                                  </p:childTnLst>
                                </p:cTn>
                              </p:par>
                              <p:par>
                                <p:cTn id="134" presetID="10" presetClass="entr" presetSubtype="0" fill="hold" grpId="0" nodeType="withEffect">
                                  <p:stCondLst>
                                    <p:cond delay="1200"/>
                                  </p:stCondLst>
                                  <p:childTnLst>
                                    <p:set>
                                      <p:cBhvr>
                                        <p:cTn id="135" dur="1" fill="hold">
                                          <p:stCondLst>
                                            <p:cond delay="0"/>
                                          </p:stCondLst>
                                        </p:cTn>
                                        <p:tgtEl>
                                          <p:spTgt spid="26"/>
                                        </p:tgtEl>
                                        <p:attrNameLst>
                                          <p:attrName>style.visibility</p:attrName>
                                        </p:attrNameLst>
                                      </p:cBhvr>
                                      <p:to>
                                        <p:strVal val="visible"/>
                                      </p:to>
                                    </p:set>
                                    <p:animEffect transition="in" filter="fade">
                                      <p:cBhvr>
                                        <p:cTn id="136"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28" grpId="0" animBg="1"/>
      <p:bldP spid="29" grpId="0" animBg="1"/>
      <p:bldP spid="13" grpId="0" animBg="1"/>
      <p:bldP spid="31" grpId="0" animBg="1"/>
      <p:bldP spid="32" grpId="0" animBg="1"/>
      <p:bldP spid="34" grpId="0" animBg="1"/>
      <p:bldP spid="35" grpId="0" animBg="1"/>
      <p:bldP spid="14" grpId="0" animBg="1"/>
      <p:bldP spid="15" grpId="0" animBg="1"/>
      <p:bldP spid="16" grpId="0" animBg="1"/>
      <p:bldP spid="17" grpId="0" animBg="1"/>
      <p:bldP spid="37" grpId="0" animBg="1"/>
      <p:bldP spid="38" grpId="0" animBg="1"/>
      <p:bldP spid="18" grpId="0" animBg="1"/>
      <p:bldP spid="19" grpId="0" animBg="1"/>
      <p:bldP spid="20" grpId="0" animBg="1"/>
      <p:bldP spid="21" grpId="0" animBg="1"/>
      <p:bldP spid="40" grpId="0" animBg="1"/>
      <p:bldP spid="41" grpId="0" animBg="1"/>
      <p:bldP spid="22" grpId="0" animBg="1"/>
      <p:bldP spid="23" grpId="0" animBg="1"/>
      <p:bldP spid="24" grpId="0" animBg="1"/>
      <p:bldP spid="25" grpId="0" animBg="1"/>
      <p:bldP spid="2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lef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pic>
        <p:nvPicPr>
          <p:cNvPr id="8" name="!!logo" descr="logo_stp.png"/>
          <p:cNvPicPr>
            <a:picLocks noChangeAspect="1"/>
          </p:cNvPicPr>
          <p:nvPr/>
        </p:nvPicPr>
        <p:blipFill>
          <a:blip r:embed="rId8"/>
          <a:stretch>
            <a:fillRect/>
          </a:stretch>
        </p:blipFill>
        <p:spPr>
          <a:xfrm>
            <a:off x="10024567" y="384048"/>
            <a:ext cx="420624" cy="420624"/>
          </a:xfrm>
          <a:prstGeom prst="rect">
            <a:avLst/>
          </a:prstGeom>
        </p:spPr>
      </p:pic>
      <p:sp>
        <p:nvSpPr>
          <p:cNvPr id="9"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0" name="TextBox 9"/>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09</a:t>
            </a:r>
          </a:p>
        </p:txBody>
      </p:sp>
      <p:sp>
        <p:nvSpPr>
          <p:cNvPr id="11" name="!!kicker"/>
          <p:cNvSpPr txBox="1"/>
          <p:nvPr/>
        </p:nvSpPr>
        <p:spPr>
          <a:xfrm>
            <a:off x="685800" y="502920"/>
            <a:ext cx="100584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SỐ HÓA QUẢN LÝ ATVSLĐ</a:t>
            </a:r>
          </a:p>
        </p:txBody>
      </p:sp>
      <p:sp>
        <p:nvSpPr>
          <p:cNvPr id="12" name="!!title"/>
          <p:cNvSpPr txBox="1"/>
          <p:nvPr/>
        </p:nvSpPr>
        <p:spPr>
          <a:xfrm>
            <a:off x="685800" y="850392"/>
            <a:ext cx="10058400" cy="983488"/>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Khóa học kết thúc sau vài ngày — </a:t>
            </a:r>
            <a:r>
              <a:rPr sz="3200" b="0" i="0">
                <a:solidFill>
                  <a:srgbClr val="8FD11E"/>
                </a:solidFill>
                <a:latin typeface="Be Vietnam Pro ExtraBold"/>
                <a:ea typeface="Be Vietnam Pro ExtraBold"/>
                <a:cs typeface="Be Vietnam Pro ExtraBold"/>
              </a:rPr>
              <a:t>an toàn cần quản lý mỗi ngày</a:t>
            </a:r>
          </a:p>
        </p:txBody>
      </p:sp>
      <p:pic>
        <p:nvPicPr>
          <p:cNvPr id="13" name="Picture 12" descr="glow_7FC211_26_1.7.png"/>
          <p:cNvPicPr>
            <a:picLocks noChangeAspect="1"/>
          </p:cNvPicPr>
          <p:nvPr/>
        </p:nvPicPr>
        <p:blipFill>
          <a:blip r:embed="rId9"/>
          <a:stretch>
            <a:fillRect/>
          </a:stretch>
        </p:blipFill>
        <p:spPr>
          <a:xfrm>
            <a:off x="498348" y="1606169"/>
            <a:ext cx="5678424" cy="5678424"/>
          </a:xfrm>
          <a:prstGeom prst="rect">
            <a:avLst/>
          </a:prstGeom>
        </p:spPr>
      </p:pic>
      <p:pic>
        <p:nvPicPr>
          <p:cNvPr id="14" name="!!aux_laptop" descr="laptop.png"/>
          <p:cNvPicPr>
            <a:picLocks noChangeAspect="1"/>
          </p:cNvPicPr>
          <p:nvPr/>
        </p:nvPicPr>
        <p:blipFill>
          <a:blip r:embed="rId10"/>
          <a:srcRect/>
          <a:stretch>
            <a:fillRect/>
          </a:stretch>
        </p:blipFill>
        <p:spPr>
          <a:xfrm>
            <a:off x="182880" y="1842770"/>
            <a:ext cx="6309360" cy="4732020"/>
          </a:xfrm>
          <a:prstGeom prst="rect">
            <a:avLst/>
          </a:prstGeom>
        </p:spPr>
      </p:pic>
      <p:sp>
        <p:nvSpPr>
          <p:cNvPr id="15" name="Rounded Rectangle 14"/>
          <p:cNvSpPr/>
          <p:nvPr/>
        </p:nvSpPr>
        <p:spPr>
          <a:xfrm>
            <a:off x="6766560" y="2011680"/>
            <a:ext cx="4739335" cy="950976"/>
          </a:xfrm>
          <a:prstGeom prst="roundRect">
            <a:avLst>
              <a:gd name="adj" fmla="val 15384"/>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6" name="Oval 15"/>
          <p:cNvSpPr/>
          <p:nvPr/>
        </p:nvSpPr>
        <p:spPr>
          <a:xfrm>
            <a:off x="6967728" y="2231136"/>
            <a:ext cx="512064" cy="512064"/>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layout-dashboard_8FD11E.png"/>
          <p:cNvPicPr>
            <a:picLocks noChangeAspect="1"/>
          </p:cNvPicPr>
          <p:nvPr/>
        </p:nvPicPr>
        <p:blipFill>
          <a:blip r:embed="rId11"/>
          <a:stretch>
            <a:fillRect/>
          </a:stretch>
        </p:blipFill>
        <p:spPr>
          <a:xfrm>
            <a:off x="7080382" y="2343790"/>
            <a:ext cx="286756" cy="286756"/>
          </a:xfrm>
          <a:prstGeom prst="rect">
            <a:avLst/>
          </a:prstGeom>
        </p:spPr>
      </p:pic>
      <p:sp>
        <p:nvSpPr>
          <p:cNvPr id="18" name="TextBox 17"/>
          <p:cNvSpPr txBox="1"/>
          <p:nvPr/>
        </p:nvSpPr>
        <p:spPr>
          <a:xfrm>
            <a:off x="7635240" y="2139696"/>
            <a:ext cx="3733495" cy="365760"/>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Dashboard tuân thủ real-time</a:t>
            </a:r>
          </a:p>
        </p:txBody>
      </p:sp>
      <p:sp>
        <p:nvSpPr>
          <p:cNvPr id="19" name="TextBox 18"/>
          <p:cNvSpPr txBox="1"/>
          <p:nvPr/>
        </p:nvSpPr>
        <p:spPr>
          <a:xfrm>
            <a:off x="7635240" y="2514600"/>
            <a:ext cx="3733495" cy="402336"/>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Lãnh đạo nắm tỷ lệ huấn luyện, rủi ro theo thời gian thực.</a:t>
            </a:r>
          </a:p>
        </p:txBody>
      </p:sp>
      <p:sp>
        <p:nvSpPr>
          <p:cNvPr id="20" name="Rounded Rectangle 19"/>
          <p:cNvSpPr/>
          <p:nvPr/>
        </p:nvSpPr>
        <p:spPr>
          <a:xfrm>
            <a:off x="6766560" y="3127248"/>
            <a:ext cx="4739335" cy="950976"/>
          </a:xfrm>
          <a:prstGeom prst="roundRect">
            <a:avLst>
              <a:gd name="adj" fmla="val 15384"/>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Oval 20"/>
          <p:cNvSpPr/>
          <p:nvPr/>
        </p:nvSpPr>
        <p:spPr>
          <a:xfrm>
            <a:off x="6967728" y="3346704"/>
            <a:ext cx="512064" cy="512064"/>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bell-ring_8FD11E.png"/>
          <p:cNvPicPr>
            <a:picLocks noChangeAspect="1"/>
          </p:cNvPicPr>
          <p:nvPr/>
        </p:nvPicPr>
        <p:blipFill>
          <a:blip r:embed="rId12"/>
          <a:stretch>
            <a:fillRect/>
          </a:stretch>
        </p:blipFill>
        <p:spPr>
          <a:xfrm>
            <a:off x="7080382" y="3459358"/>
            <a:ext cx="286756" cy="286756"/>
          </a:xfrm>
          <a:prstGeom prst="rect">
            <a:avLst/>
          </a:prstGeom>
        </p:spPr>
      </p:pic>
      <p:sp>
        <p:nvSpPr>
          <p:cNvPr id="23" name="TextBox 22"/>
          <p:cNvSpPr txBox="1"/>
          <p:nvPr/>
        </p:nvSpPr>
        <p:spPr>
          <a:xfrm>
            <a:off x="7635240" y="3255264"/>
            <a:ext cx="3733495" cy="365760"/>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Cảnh báo tự động</a:t>
            </a:r>
          </a:p>
        </p:txBody>
      </p:sp>
      <p:sp>
        <p:nvSpPr>
          <p:cNvPr id="24" name="TextBox 23"/>
          <p:cNvSpPr txBox="1"/>
          <p:nvPr/>
        </p:nvSpPr>
        <p:spPr>
          <a:xfrm>
            <a:off x="7635240" y="3630168"/>
            <a:ext cx="3733495" cy="402336"/>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Chứng chỉ sắp hết hạn trước 30 ngày, thiết bị đến hạn kiểm định.</a:t>
            </a:r>
          </a:p>
        </p:txBody>
      </p:sp>
      <p:sp>
        <p:nvSpPr>
          <p:cNvPr id="25" name="Rounded Rectangle 24"/>
          <p:cNvSpPr/>
          <p:nvPr/>
        </p:nvSpPr>
        <p:spPr>
          <a:xfrm>
            <a:off x="6766560" y="4242816"/>
            <a:ext cx="4739335" cy="950976"/>
          </a:xfrm>
          <a:prstGeom prst="roundRect">
            <a:avLst>
              <a:gd name="adj" fmla="val 15384"/>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6" name="Oval 25"/>
          <p:cNvSpPr/>
          <p:nvPr/>
        </p:nvSpPr>
        <p:spPr>
          <a:xfrm>
            <a:off x="6967728" y="4462272"/>
            <a:ext cx="512064" cy="512064"/>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qr-code_8FD11E.png"/>
          <p:cNvPicPr>
            <a:picLocks noChangeAspect="1"/>
          </p:cNvPicPr>
          <p:nvPr/>
        </p:nvPicPr>
        <p:blipFill>
          <a:blip r:embed="rId13"/>
          <a:stretch>
            <a:fillRect/>
          </a:stretch>
        </p:blipFill>
        <p:spPr>
          <a:xfrm>
            <a:off x="7080382" y="4574926"/>
            <a:ext cx="286756" cy="286756"/>
          </a:xfrm>
          <a:prstGeom prst="rect">
            <a:avLst/>
          </a:prstGeom>
        </p:spPr>
      </p:pic>
      <p:sp>
        <p:nvSpPr>
          <p:cNvPr id="28" name="TextBox 27"/>
          <p:cNvSpPr txBox="1"/>
          <p:nvPr/>
        </p:nvSpPr>
        <p:spPr>
          <a:xfrm>
            <a:off x="7635240" y="4370832"/>
            <a:ext cx="3733495" cy="365760"/>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Tra cứu chứng chỉ 24/7</a:t>
            </a:r>
          </a:p>
        </p:txBody>
      </p:sp>
      <p:sp>
        <p:nvSpPr>
          <p:cNvPr id="29" name="TextBox 28"/>
          <p:cNvSpPr txBox="1"/>
          <p:nvPr/>
        </p:nvSpPr>
        <p:spPr>
          <a:xfrm>
            <a:off x="7635240" y="4745736"/>
            <a:ext cx="3733495" cy="402336"/>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Theo mã chứng chỉ hoặc số CCCD, chống giả mạo.</a:t>
            </a:r>
          </a:p>
        </p:txBody>
      </p:sp>
      <p:sp>
        <p:nvSpPr>
          <p:cNvPr id="30" name="Rounded Rectangle 29"/>
          <p:cNvSpPr/>
          <p:nvPr/>
        </p:nvSpPr>
        <p:spPr>
          <a:xfrm>
            <a:off x="6766560" y="5358384"/>
            <a:ext cx="4739335" cy="950976"/>
          </a:xfrm>
          <a:prstGeom prst="roundRect">
            <a:avLst>
              <a:gd name="adj" fmla="val 15384"/>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1" name="Oval 30"/>
          <p:cNvSpPr/>
          <p:nvPr/>
        </p:nvSpPr>
        <p:spPr>
          <a:xfrm>
            <a:off x="6967728" y="5577840"/>
            <a:ext cx="512064" cy="512064"/>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gift_8FD11E.png"/>
          <p:cNvPicPr>
            <a:picLocks noChangeAspect="1"/>
          </p:cNvPicPr>
          <p:nvPr/>
        </p:nvPicPr>
        <p:blipFill>
          <a:blip r:embed="rId14"/>
          <a:stretch>
            <a:fillRect/>
          </a:stretch>
        </p:blipFill>
        <p:spPr>
          <a:xfrm>
            <a:off x="7080382" y="5690494"/>
            <a:ext cx="286756" cy="286756"/>
          </a:xfrm>
          <a:prstGeom prst="rect">
            <a:avLst/>
          </a:prstGeom>
        </p:spPr>
      </p:pic>
      <p:sp>
        <p:nvSpPr>
          <p:cNvPr id="33" name="TextBox 32"/>
          <p:cNvSpPr txBox="1"/>
          <p:nvPr/>
        </p:nvSpPr>
        <p:spPr>
          <a:xfrm>
            <a:off x="7635240" y="5486400"/>
            <a:ext cx="3733495" cy="365760"/>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Không phải mua phần mềm</a:t>
            </a:r>
          </a:p>
        </p:txBody>
      </p:sp>
      <p:sp>
        <p:nvSpPr>
          <p:cNvPr id="34" name="TextBox 33"/>
          <p:cNvSpPr txBox="1"/>
          <p:nvPr/>
        </p:nvSpPr>
        <p:spPr>
          <a:xfrm>
            <a:off x="7635240" y="5861304"/>
            <a:ext cx="3733495" cy="402336"/>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Ký hợp đồng đào tạo là có tài khoản quản lý riêng.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00"/>
                                        <p:tgtEl>
                                          <p:spTgt spid="13"/>
                                        </p:tgtEl>
                                      </p:cBhvr>
                                    </p:animEffect>
                                  </p:childTnLst>
                                </p:cTn>
                              </p:par>
                              <p:par>
                                <p:cTn id="20" presetID="10" presetClass="entr" presetSubtype="0" fill="hold" grpId="0" nodeType="withEffect">
                                  <p:stCondLst>
                                    <p:cond delay="22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42" presetClass="entr" presetSubtype="0" fill="hold" grpId="0" nodeType="withEffect">
                                  <p:stCondLst>
                                    <p:cond delay="30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800"/>
                                        <p:tgtEl>
                                          <p:spTgt spid="14"/>
                                        </p:tgtEl>
                                      </p:cBhvr>
                                    </p:animEffect>
                                    <p:anim calcmode="lin" valueType="num">
                                      <p:cBhvr additive="base">
                                        <p:cTn id="26" dur="800" fill="hold"/>
                                        <p:tgtEl>
                                          <p:spTgt spid="14"/>
                                        </p:tgtEl>
                                        <p:attrNameLst>
                                          <p:attrName>ppt_x</p:attrName>
                                        </p:attrNameLst>
                                      </p:cBhvr>
                                      <p:tavLst>
                                        <p:tav tm="0">
                                          <p:val>
                                            <p:strVal val="#ppt_x"/>
                                          </p:val>
                                        </p:tav>
                                        <p:tav tm="100000">
                                          <p:val>
                                            <p:strVal val="#ppt_x"/>
                                          </p:val>
                                        </p:tav>
                                      </p:tavLst>
                                    </p:anim>
                                    <p:anim calcmode="lin" valueType="num">
                                      <p:cBhvr additive="base">
                                        <p:cTn id="27" dur="800" fill="hold"/>
                                        <p:tgtEl>
                                          <p:spTgt spid="14"/>
                                        </p:tgtEl>
                                        <p:attrNameLst>
                                          <p:attrName>ppt_y</p:attrName>
                                        </p:attrNameLst>
                                      </p:cBhvr>
                                      <p:tavLst>
                                        <p:tav tm="0">
                                          <p:val>
                                            <p:strVal val="#ppt_y+.06"/>
                                          </p:val>
                                        </p:tav>
                                        <p:tav tm="100000">
                                          <p:val>
                                            <p:strVal val="#ppt_y"/>
                                          </p:val>
                                        </p:tav>
                                      </p:tavLst>
                                    </p:anim>
                                  </p:childTnLst>
                                </p:cTn>
                              </p:par>
                              <p:par>
                                <p:cTn id="28" presetID="2" presetClass="entr" presetSubtype="2" fill="hold" grpId="0" nodeType="withEffect">
                                  <p:stCondLst>
                                    <p:cond delay="70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450" fill="hold"/>
                                        <p:tgtEl>
                                          <p:spTgt spid="15"/>
                                        </p:tgtEl>
                                        <p:attrNameLst>
                                          <p:attrName>ppt_x</p:attrName>
                                        </p:attrNameLst>
                                      </p:cBhvr>
                                      <p:tavLst>
                                        <p:tav tm="0">
                                          <p:val>
                                            <p:strVal val="1+#ppt_w/2"/>
                                          </p:val>
                                        </p:tav>
                                        <p:tav tm="100000">
                                          <p:val>
                                            <p:strVal val="#ppt_x"/>
                                          </p:val>
                                        </p:tav>
                                      </p:tavLst>
                                    </p:anim>
                                    <p:anim calcmode="lin" valueType="num">
                                      <p:cBhvr additive="base">
                                        <p:cTn id="31" dur="450" fill="hold"/>
                                        <p:tgtEl>
                                          <p:spTgt spid="15"/>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70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450" fill="hold"/>
                                        <p:tgtEl>
                                          <p:spTgt spid="16"/>
                                        </p:tgtEl>
                                        <p:attrNameLst>
                                          <p:attrName>ppt_x</p:attrName>
                                        </p:attrNameLst>
                                      </p:cBhvr>
                                      <p:tavLst>
                                        <p:tav tm="0">
                                          <p:val>
                                            <p:strVal val="1+#ppt_w/2"/>
                                          </p:val>
                                        </p:tav>
                                        <p:tav tm="100000">
                                          <p:val>
                                            <p:strVal val="#ppt_x"/>
                                          </p:val>
                                        </p:tav>
                                      </p:tavLst>
                                    </p:anim>
                                    <p:anim calcmode="lin" valueType="num">
                                      <p:cBhvr additive="base">
                                        <p:cTn id="35" dur="450" fill="hold"/>
                                        <p:tgtEl>
                                          <p:spTgt spid="16"/>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70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450" fill="hold"/>
                                        <p:tgtEl>
                                          <p:spTgt spid="17"/>
                                        </p:tgtEl>
                                        <p:attrNameLst>
                                          <p:attrName>ppt_x</p:attrName>
                                        </p:attrNameLst>
                                      </p:cBhvr>
                                      <p:tavLst>
                                        <p:tav tm="0">
                                          <p:val>
                                            <p:strVal val="1+#ppt_w/2"/>
                                          </p:val>
                                        </p:tav>
                                        <p:tav tm="100000">
                                          <p:val>
                                            <p:strVal val="#ppt_x"/>
                                          </p:val>
                                        </p:tav>
                                      </p:tavLst>
                                    </p:anim>
                                    <p:anim calcmode="lin" valueType="num">
                                      <p:cBhvr additive="base">
                                        <p:cTn id="39" dur="450" fill="hold"/>
                                        <p:tgtEl>
                                          <p:spTgt spid="17"/>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70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450" fill="hold"/>
                                        <p:tgtEl>
                                          <p:spTgt spid="18"/>
                                        </p:tgtEl>
                                        <p:attrNameLst>
                                          <p:attrName>ppt_x</p:attrName>
                                        </p:attrNameLst>
                                      </p:cBhvr>
                                      <p:tavLst>
                                        <p:tav tm="0">
                                          <p:val>
                                            <p:strVal val="1+#ppt_w/2"/>
                                          </p:val>
                                        </p:tav>
                                        <p:tav tm="100000">
                                          <p:val>
                                            <p:strVal val="#ppt_x"/>
                                          </p:val>
                                        </p:tav>
                                      </p:tavLst>
                                    </p:anim>
                                    <p:anim calcmode="lin" valueType="num">
                                      <p:cBhvr additive="base">
                                        <p:cTn id="43" dur="450" fill="hold"/>
                                        <p:tgtEl>
                                          <p:spTgt spid="18"/>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70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450" fill="hold"/>
                                        <p:tgtEl>
                                          <p:spTgt spid="19"/>
                                        </p:tgtEl>
                                        <p:attrNameLst>
                                          <p:attrName>ppt_x</p:attrName>
                                        </p:attrNameLst>
                                      </p:cBhvr>
                                      <p:tavLst>
                                        <p:tav tm="0">
                                          <p:val>
                                            <p:strVal val="1+#ppt_w/2"/>
                                          </p:val>
                                        </p:tav>
                                        <p:tav tm="100000">
                                          <p:val>
                                            <p:strVal val="#ppt_x"/>
                                          </p:val>
                                        </p:tav>
                                      </p:tavLst>
                                    </p:anim>
                                    <p:anim calcmode="lin" valueType="num">
                                      <p:cBhvr additive="base">
                                        <p:cTn id="47" dur="450" fill="hold"/>
                                        <p:tgtEl>
                                          <p:spTgt spid="19"/>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850"/>
                                  </p:stCondLst>
                                  <p:childTnLst>
                                    <p:set>
                                      <p:cBhvr>
                                        <p:cTn id="49" dur="1" fill="hold">
                                          <p:stCondLst>
                                            <p:cond delay="0"/>
                                          </p:stCondLst>
                                        </p:cTn>
                                        <p:tgtEl>
                                          <p:spTgt spid="20"/>
                                        </p:tgtEl>
                                        <p:attrNameLst>
                                          <p:attrName>style.visibility</p:attrName>
                                        </p:attrNameLst>
                                      </p:cBhvr>
                                      <p:to>
                                        <p:strVal val="visible"/>
                                      </p:to>
                                    </p:set>
                                    <p:anim calcmode="lin" valueType="num">
                                      <p:cBhvr additive="base">
                                        <p:cTn id="50" dur="450" fill="hold"/>
                                        <p:tgtEl>
                                          <p:spTgt spid="20"/>
                                        </p:tgtEl>
                                        <p:attrNameLst>
                                          <p:attrName>ppt_x</p:attrName>
                                        </p:attrNameLst>
                                      </p:cBhvr>
                                      <p:tavLst>
                                        <p:tav tm="0">
                                          <p:val>
                                            <p:strVal val="1+#ppt_w/2"/>
                                          </p:val>
                                        </p:tav>
                                        <p:tav tm="100000">
                                          <p:val>
                                            <p:strVal val="#ppt_x"/>
                                          </p:val>
                                        </p:tav>
                                      </p:tavLst>
                                    </p:anim>
                                    <p:anim calcmode="lin" valueType="num">
                                      <p:cBhvr additive="base">
                                        <p:cTn id="51" dur="450" fill="hold"/>
                                        <p:tgtEl>
                                          <p:spTgt spid="20"/>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850"/>
                                  </p:stCondLst>
                                  <p:childTnLst>
                                    <p:set>
                                      <p:cBhvr>
                                        <p:cTn id="53" dur="1" fill="hold">
                                          <p:stCondLst>
                                            <p:cond delay="0"/>
                                          </p:stCondLst>
                                        </p:cTn>
                                        <p:tgtEl>
                                          <p:spTgt spid="21"/>
                                        </p:tgtEl>
                                        <p:attrNameLst>
                                          <p:attrName>style.visibility</p:attrName>
                                        </p:attrNameLst>
                                      </p:cBhvr>
                                      <p:to>
                                        <p:strVal val="visible"/>
                                      </p:to>
                                    </p:set>
                                    <p:anim calcmode="lin" valueType="num">
                                      <p:cBhvr additive="base">
                                        <p:cTn id="54" dur="450" fill="hold"/>
                                        <p:tgtEl>
                                          <p:spTgt spid="21"/>
                                        </p:tgtEl>
                                        <p:attrNameLst>
                                          <p:attrName>ppt_x</p:attrName>
                                        </p:attrNameLst>
                                      </p:cBhvr>
                                      <p:tavLst>
                                        <p:tav tm="0">
                                          <p:val>
                                            <p:strVal val="1+#ppt_w/2"/>
                                          </p:val>
                                        </p:tav>
                                        <p:tav tm="100000">
                                          <p:val>
                                            <p:strVal val="#ppt_x"/>
                                          </p:val>
                                        </p:tav>
                                      </p:tavLst>
                                    </p:anim>
                                    <p:anim calcmode="lin" valueType="num">
                                      <p:cBhvr additive="base">
                                        <p:cTn id="55" dur="450" fill="hold"/>
                                        <p:tgtEl>
                                          <p:spTgt spid="21"/>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850"/>
                                  </p:stCondLst>
                                  <p:childTnLst>
                                    <p:set>
                                      <p:cBhvr>
                                        <p:cTn id="57" dur="1" fill="hold">
                                          <p:stCondLst>
                                            <p:cond delay="0"/>
                                          </p:stCondLst>
                                        </p:cTn>
                                        <p:tgtEl>
                                          <p:spTgt spid="22"/>
                                        </p:tgtEl>
                                        <p:attrNameLst>
                                          <p:attrName>style.visibility</p:attrName>
                                        </p:attrNameLst>
                                      </p:cBhvr>
                                      <p:to>
                                        <p:strVal val="visible"/>
                                      </p:to>
                                    </p:set>
                                    <p:anim calcmode="lin" valueType="num">
                                      <p:cBhvr additive="base">
                                        <p:cTn id="58" dur="450" fill="hold"/>
                                        <p:tgtEl>
                                          <p:spTgt spid="22"/>
                                        </p:tgtEl>
                                        <p:attrNameLst>
                                          <p:attrName>ppt_x</p:attrName>
                                        </p:attrNameLst>
                                      </p:cBhvr>
                                      <p:tavLst>
                                        <p:tav tm="0">
                                          <p:val>
                                            <p:strVal val="1+#ppt_w/2"/>
                                          </p:val>
                                        </p:tav>
                                        <p:tav tm="100000">
                                          <p:val>
                                            <p:strVal val="#ppt_x"/>
                                          </p:val>
                                        </p:tav>
                                      </p:tavLst>
                                    </p:anim>
                                    <p:anim calcmode="lin" valueType="num">
                                      <p:cBhvr additive="base">
                                        <p:cTn id="59" dur="450" fill="hold"/>
                                        <p:tgtEl>
                                          <p:spTgt spid="22"/>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85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450" fill="hold"/>
                                        <p:tgtEl>
                                          <p:spTgt spid="23"/>
                                        </p:tgtEl>
                                        <p:attrNameLst>
                                          <p:attrName>ppt_x</p:attrName>
                                        </p:attrNameLst>
                                      </p:cBhvr>
                                      <p:tavLst>
                                        <p:tav tm="0">
                                          <p:val>
                                            <p:strVal val="1+#ppt_w/2"/>
                                          </p:val>
                                        </p:tav>
                                        <p:tav tm="100000">
                                          <p:val>
                                            <p:strVal val="#ppt_x"/>
                                          </p:val>
                                        </p:tav>
                                      </p:tavLst>
                                    </p:anim>
                                    <p:anim calcmode="lin" valueType="num">
                                      <p:cBhvr additive="base">
                                        <p:cTn id="63" dur="450" fill="hold"/>
                                        <p:tgtEl>
                                          <p:spTgt spid="23"/>
                                        </p:tgtEl>
                                        <p:attrNameLst>
                                          <p:attrName>ppt_y</p:attrName>
                                        </p:attrNameLst>
                                      </p:cBhvr>
                                      <p:tavLst>
                                        <p:tav tm="0">
                                          <p:val>
                                            <p:strVal val="#ppt_y"/>
                                          </p:val>
                                        </p:tav>
                                        <p:tav tm="100000">
                                          <p:val>
                                            <p:strVal val="#ppt_y"/>
                                          </p:val>
                                        </p:tav>
                                      </p:tavLst>
                                    </p:anim>
                                  </p:childTnLst>
                                </p:cTn>
                              </p:par>
                              <p:par>
                                <p:cTn id="64" presetID="2" presetClass="entr" presetSubtype="2" fill="hold" grpId="0" nodeType="withEffect">
                                  <p:stCondLst>
                                    <p:cond delay="85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450" fill="hold"/>
                                        <p:tgtEl>
                                          <p:spTgt spid="24"/>
                                        </p:tgtEl>
                                        <p:attrNameLst>
                                          <p:attrName>ppt_x</p:attrName>
                                        </p:attrNameLst>
                                      </p:cBhvr>
                                      <p:tavLst>
                                        <p:tav tm="0">
                                          <p:val>
                                            <p:strVal val="1+#ppt_w/2"/>
                                          </p:val>
                                        </p:tav>
                                        <p:tav tm="100000">
                                          <p:val>
                                            <p:strVal val="#ppt_x"/>
                                          </p:val>
                                        </p:tav>
                                      </p:tavLst>
                                    </p:anim>
                                    <p:anim calcmode="lin" valueType="num">
                                      <p:cBhvr additive="base">
                                        <p:cTn id="67" dur="450" fill="hold"/>
                                        <p:tgtEl>
                                          <p:spTgt spid="24"/>
                                        </p:tgtEl>
                                        <p:attrNameLst>
                                          <p:attrName>ppt_y</p:attrName>
                                        </p:attrNameLst>
                                      </p:cBhvr>
                                      <p:tavLst>
                                        <p:tav tm="0">
                                          <p:val>
                                            <p:strVal val="#ppt_y"/>
                                          </p:val>
                                        </p:tav>
                                        <p:tav tm="100000">
                                          <p:val>
                                            <p:strVal val="#ppt_y"/>
                                          </p:val>
                                        </p:tav>
                                      </p:tavLst>
                                    </p:anim>
                                  </p:childTnLst>
                                </p:cTn>
                              </p:par>
                              <p:par>
                                <p:cTn id="68" presetID="2" presetClass="entr" presetSubtype="2" fill="hold" grpId="0" nodeType="withEffect">
                                  <p:stCondLst>
                                    <p:cond delay="100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450" fill="hold"/>
                                        <p:tgtEl>
                                          <p:spTgt spid="25"/>
                                        </p:tgtEl>
                                        <p:attrNameLst>
                                          <p:attrName>ppt_x</p:attrName>
                                        </p:attrNameLst>
                                      </p:cBhvr>
                                      <p:tavLst>
                                        <p:tav tm="0">
                                          <p:val>
                                            <p:strVal val="1+#ppt_w/2"/>
                                          </p:val>
                                        </p:tav>
                                        <p:tav tm="100000">
                                          <p:val>
                                            <p:strVal val="#ppt_x"/>
                                          </p:val>
                                        </p:tav>
                                      </p:tavLst>
                                    </p:anim>
                                    <p:anim calcmode="lin" valueType="num">
                                      <p:cBhvr additive="base">
                                        <p:cTn id="71" dur="450" fill="hold"/>
                                        <p:tgtEl>
                                          <p:spTgt spid="25"/>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100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450" fill="hold"/>
                                        <p:tgtEl>
                                          <p:spTgt spid="26"/>
                                        </p:tgtEl>
                                        <p:attrNameLst>
                                          <p:attrName>ppt_x</p:attrName>
                                        </p:attrNameLst>
                                      </p:cBhvr>
                                      <p:tavLst>
                                        <p:tav tm="0">
                                          <p:val>
                                            <p:strVal val="1+#ppt_w/2"/>
                                          </p:val>
                                        </p:tav>
                                        <p:tav tm="100000">
                                          <p:val>
                                            <p:strVal val="#ppt_x"/>
                                          </p:val>
                                        </p:tav>
                                      </p:tavLst>
                                    </p:anim>
                                    <p:anim calcmode="lin" valueType="num">
                                      <p:cBhvr additive="base">
                                        <p:cTn id="75" dur="450" fill="hold"/>
                                        <p:tgtEl>
                                          <p:spTgt spid="26"/>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100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450" fill="hold"/>
                                        <p:tgtEl>
                                          <p:spTgt spid="27"/>
                                        </p:tgtEl>
                                        <p:attrNameLst>
                                          <p:attrName>ppt_x</p:attrName>
                                        </p:attrNameLst>
                                      </p:cBhvr>
                                      <p:tavLst>
                                        <p:tav tm="0">
                                          <p:val>
                                            <p:strVal val="1+#ppt_w/2"/>
                                          </p:val>
                                        </p:tav>
                                        <p:tav tm="100000">
                                          <p:val>
                                            <p:strVal val="#ppt_x"/>
                                          </p:val>
                                        </p:tav>
                                      </p:tavLst>
                                    </p:anim>
                                    <p:anim calcmode="lin" valueType="num">
                                      <p:cBhvr additive="base">
                                        <p:cTn id="79" dur="450" fill="hold"/>
                                        <p:tgtEl>
                                          <p:spTgt spid="27"/>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100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450" fill="hold"/>
                                        <p:tgtEl>
                                          <p:spTgt spid="28"/>
                                        </p:tgtEl>
                                        <p:attrNameLst>
                                          <p:attrName>ppt_x</p:attrName>
                                        </p:attrNameLst>
                                      </p:cBhvr>
                                      <p:tavLst>
                                        <p:tav tm="0">
                                          <p:val>
                                            <p:strVal val="1+#ppt_w/2"/>
                                          </p:val>
                                        </p:tav>
                                        <p:tav tm="100000">
                                          <p:val>
                                            <p:strVal val="#ppt_x"/>
                                          </p:val>
                                        </p:tav>
                                      </p:tavLst>
                                    </p:anim>
                                    <p:anim calcmode="lin" valueType="num">
                                      <p:cBhvr additive="base">
                                        <p:cTn id="83" dur="450" fill="hold"/>
                                        <p:tgtEl>
                                          <p:spTgt spid="28"/>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stCondLst>
                                    <p:cond delay="1000"/>
                                  </p:stCondLst>
                                  <p:childTnLst>
                                    <p:set>
                                      <p:cBhvr>
                                        <p:cTn id="85" dur="1" fill="hold">
                                          <p:stCondLst>
                                            <p:cond delay="0"/>
                                          </p:stCondLst>
                                        </p:cTn>
                                        <p:tgtEl>
                                          <p:spTgt spid="29"/>
                                        </p:tgtEl>
                                        <p:attrNameLst>
                                          <p:attrName>style.visibility</p:attrName>
                                        </p:attrNameLst>
                                      </p:cBhvr>
                                      <p:to>
                                        <p:strVal val="visible"/>
                                      </p:to>
                                    </p:set>
                                    <p:anim calcmode="lin" valueType="num">
                                      <p:cBhvr additive="base">
                                        <p:cTn id="86" dur="450" fill="hold"/>
                                        <p:tgtEl>
                                          <p:spTgt spid="29"/>
                                        </p:tgtEl>
                                        <p:attrNameLst>
                                          <p:attrName>ppt_x</p:attrName>
                                        </p:attrNameLst>
                                      </p:cBhvr>
                                      <p:tavLst>
                                        <p:tav tm="0">
                                          <p:val>
                                            <p:strVal val="1+#ppt_w/2"/>
                                          </p:val>
                                        </p:tav>
                                        <p:tav tm="100000">
                                          <p:val>
                                            <p:strVal val="#ppt_x"/>
                                          </p:val>
                                        </p:tav>
                                      </p:tavLst>
                                    </p:anim>
                                    <p:anim calcmode="lin" valueType="num">
                                      <p:cBhvr additive="base">
                                        <p:cTn id="87" dur="450" fill="hold"/>
                                        <p:tgtEl>
                                          <p:spTgt spid="29"/>
                                        </p:tgtEl>
                                        <p:attrNameLst>
                                          <p:attrName>ppt_y</p:attrName>
                                        </p:attrNameLst>
                                      </p:cBhvr>
                                      <p:tavLst>
                                        <p:tav tm="0">
                                          <p:val>
                                            <p:strVal val="#ppt_y"/>
                                          </p:val>
                                        </p:tav>
                                        <p:tav tm="100000">
                                          <p:val>
                                            <p:strVal val="#ppt_y"/>
                                          </p:val>
                                        </p:tav>
                                      </p:tavLst>
                                    </p:anim>
                                  </p:childTnLst>
                                </p:cTn>
                              </p:par>
                              <p:par>
                                <p:cTn id="88" presetID="2" presetClass="entr" presetSubtype="2" fill="hold" grpId="0" nodeType="withEffect">
                                  <p:stCondLst>
                                    <p:cond delay="115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450" fill="hold"/>
                                        <p:tgtEl>
                                          <p:spTgt spid="30"/>
                                        </p:tgtEl>
                                        <p:attrNameLst>
                                          <p:attrName>ppt_x</p:attrName>
                                        </p:attrNameLst>
                                      </p:cBhvr>
                                      <p:tavLst>
                                        <p:tav tm="0">
                                          <p:val>
                                            <p:strVal val="1+#ppt_w/2"/>
                                          </p:val>
                                        </p:tav>
                                        <p:tav tm="100000">
                                          <p:val>
                                            <p:strVal val="#ppt_x"/>
                                          </p:val>
                                        </p:tav>
                                      </p:tavLst>
                                    </p:anim>
                                    <p:anim calcmode="lin" valueType="num">
                                      <p:cBhvr additive="base">
                                        <p:cTn id="91" dur="450" fill="hold"/>
                                        <p:tgtEl>
                                          <p:spTgt spid="30"/>
                                        </p:tgtEl>
                                        <p:attrNameLst>
                                          <p:attrName>ppt_y</p:attrName>
                                        </p:attrNameLst>
                                      </p:cBhvr>
                                      <p:tavLst>
                                        <p:tav tm="0">
                                          <p:val>
                                            <p:strVal val="#ppt_y"/>
                                          </p:val>
                                        </p:tav>
                                        <p:tav tm="100000">
                                          <p:val>
                                            <p:strVal val="#ppt_y"/>
                                          </p:val>
                                        </p:tav>
                                      </p:tavLst>
                                    </p:anim>
                                  </p:childTnLst>
                                </p:cTn>
                              </p:par>
                              <p:par>
                                <p:cTn id="92" presetID="2" presetClass="entr" presetSubtype="2" fill="hold" grpId="0" nodeType="withEffect">
                                  <p:stCondLst>
                                    <p:cond delay="1150"/>
                                  </p:stCondLst>
                                  <p:childTnLst>
                                    <p:set>
                                      <p:cBhvr>
                                        <p:cTn id="93" dur="1" fill="hold">
                                          <p:stCondLst>
                                            <p:cond delay="0"/>
                                          </p:stCondLst>
                                        </p:cTn>
                                        <p:tgtEl>
                                          <p:spTgt spid="31"/>
                                        </p:tgtEl>
                                        <p:attrNameLst>
                                          <p:attrName>style.visibility</p:attrName>
                                        </p:attrNameLst>
                                      </p:cBhvr>
                                      <p:to>
                                        <p:strVal val="visible"/>
                                      </p:to>
                                    </p:set>
                                    <p:anim calcmode="lin" valueType="num">
                                      <p:cBhvr additive="base">
                                        <p:cTn id="94" dur="450" fill="hold"/>
                                        <p:tgtEl>
                                          <p:spTgt spid="31"/>
                                        </p:tgtEl>
                                        <p:attrNameLst>
                                          <p:attrName>ppt_x</p:attrName>
                                        </p:attrNameLst>
                                      </p:cBhvr>
                                      <p:tavLst>
                                        <p:tav tm="0">
                                          <p:val>
                                            <p:strVal val="1+#ppt_w/2"/>
                                          </p:val>
                                        </p:tav>
                                        <p:tav tm="100000">
                                          <p:val>
                                            <p:strVal val="#ppt_x"/>
                                          </p:val>
                                        </p:tav>
                                      </p:tavLst>
                                    </p:anim>
                                    <p:anim calcmode="lin" valueType="num">
                                      <p:cBhvr additive="base">
                                        <p:cTn id="95" dur="450" fill="hold"/>
                                        <p:tgtEl>
                                          <p:spTgt spid="31"/>
                                        </p:tgtEl>
                                        <p:attrNameLst>
                                          <p:attrName>ppt_y</p:attrName>
                                        </p:attrNameLst>
                                      </p:cBhvr>
                                      <p:tavLst>
                                        <p:tav tm="0">
                                          <p:val>
                                            <p:strVal val="#ppt_y"/>
                                          </p:val>
                                        </p:tav>
                                        <p:tav tm="100000">
                                          <p:val>
                                            <p:strVal val="#ppt_y"/>
                                          </p:val>
                                        </p:tav>
                                      </p:tavLst>
                                    </p:anim>
                                  </p:childTnLst>
                                </p:cTn>
                              </p:par>
                              <p:par>
                                <p:cTn id="96" presetID="2" presetClass="entr" presetSubtype="2" fill="hold" grpId="0" nodeType="withEffect">
                                  <p:stCondLst>
                                    <p:cond delay="1150"/>
                                  </p:stCondLst>
                                  <p:childTnLst>
                                    <p:set>
                                      <p:cBhvr>
                                        <p:cTn id="97" dur="1" fill="hold">
                                          <p:stCondLst>
                                            <p:cond delay="0"/>
                                          </p:stCondLst>
                                        </p:cTn>
                                        <p:tgtEl>
                                          <p:spTgt spid="32"/>
                                        </p:tgtEl>
                                        <p:attrNameLst>
                                          <p:attrName>style.visibility</p:attrName>
                                        </p:attrNameLst>
                                      </p:cBhvr>
                                      <p:to>
                                        <p:strVal val="visible"/>
                                      </p:to>
                                    </p:set>
                                    <p:anim calcmode="lin" valueType="num">
                                      <p:cBhvr additive="base">
                                        <p:cTn id="98" dur="450" fill="hold"/>
                                        <p:tgtEl>
                                          <p:spTgt spid="32"/>
                                        </p:tgtEl>
                                        <p:attrNameLst>
                                          <p:attrName>ppt_x</p:attrName>
                                        </p:attrNameLst>
                                      </p:cBhvr>
                                      <p:tavLst>
                                        <p:tav tm="0">
                                          <p:val>
                                            <p:strVal val="1+#ppt_w/2"/>
                                          </p:val>
                                        </p:tav>
                                        <p:tav tm="100000">
                                          <p:val>
                                            <p:strVal val="#ppt_x"/>
                                          </p:val>
                                        </p:tav>
                                      </p:tavLst>
                                    </p:anim>
                                    <p:anim calcmode="lin" valueType="num">
                                      <p:cBhvr additive="base">
                                        <p:cTn id="99" dur="450" fill="hold"/>
                                        <p:tgtEl>
                                          <p:spTgt spid="32"/>
                                        </p:tgtEl>
                                        <p:attrNameLst>
                                          <p:attrName>ppt_y</p:attrName>
                                        </p:attrNameLst>
                                      </p:cBhvr>
                                      <p:tavLst>
                                        <p:tav tm="0">
                                          <p:val>
                                            <p:strVal val="#ppt_y"/>
                                          </p:val>
                                        </p:tav>
                                        <p:tav tm="100000">
                                          <p:val>
                                            <p:strVal val="#ppt_y"/>
                                          </p:val>
                                        </p:tav>
                                      </p:tavLst>
                                    </p:anim>
                                  </p:childTnLst>
                                </p:cTn>
                              </p:par>
                              <p:par>
                                <p:cTn id="100" presetID="2" presetClass="entr" presetSubtype="2" fill="hold" grpId="0" nodeType="withEffect">
                                  <p:stCondLst>
                                    <p:cond delay="1150"/>
                                  </p:stCondLst>
                                  <p:childTnLst>
                                    <p:set>
                                      <p:cBhvr>
                                        <p:cTn id="101" dur="1" fill="hold">
                                          <p:stCondLst>
                                            <p:cond delay="0"/>
                                          </p:stCondLst>
                                        </p:cTn>
                                        <p:tgtEl>
                                          <p:spTgt spid="33"/>
                                        </p:tgtEl>
                                        <p:attrNameLst>
                                          <p:attrName>style.visibility</p:attrName>
                                        </p:attrNameLst>
                                      </p:cBhvr>
                                      <p:to>
                                        <p:strVal val="visible"/>
                                      </p:to>
                                    </p:set>
                                    <p:anim calcmode="lin" valueType="num">
                                      <p:cBhvr additive="base">
                                        <p:cTn id="102" dur="450" fill="hold"/>
                                        <p:tgtEl>
                                          <p:spTgt spid="33"/>
                                        </p:tgtEl>
                                        <p:attrNameLst>
                                          <p:attrName>ppt_x</p:attrName>
                                        </p:attrNameLst>
                                      </p:cBhvr>
                                      <p:tavLst>
                                        <p:tav tm="0">
                                          <p:val>
                                            <p:strVal val="1+#ppt_w/2"/>
                                          </p:val>
                                        </p:tav>
                                        <p:tav tm="100000">
                                          <p:val>
                                            <p:strVal val="#ppt_x"/>
                                          </p:val>
                                        </p:tav>
                                      </p:tavLst>
                                    </p:anim>
                                    <p:anim calcmode="lin" valueType="num">
                                      <p:cBhvr additive="base">
                                        <p:cTn id="103" dur="450" fill="hold"/>
                                        <p:tgtEl>
                                          <p:spTgt spid="33"/>
                                        </p:tgtEl>
                                        <p:attrNameLst>
                                          <p:attrName>ppt_y</p:attrName>
                                        </p:attrNameLst>
                                      </p:cBhvr>
                                      <p:tavLst>
                                        <p:tav tm="0">
                                          <p:val>
                                            <p:strVal val="#ppt_y"/>
                                          </p:val>
                                        </p:tav>
                                        <p:tav tm="100000">
                                          <p:val>
                                            <p:strVal val="#ppt_y"/>
                                          </p:val>
                                        </p:tav>
                                      </p:tavLst>
                                    </p:anim>
                                  </p:childTnLst>
                                </p:cTn>
                              </p:par>
                              <p:par>
                                <p:cTn id="104" presetID="2" presetClass="entr" presetSubtype="2" fill="hold" grpId="0" nodeType="withEffect">
                                  <p:stCondLst>
                                    <p:cond delay="1150"/>
                                  </p:stCondLst>
                                  <p:childTnLst>
                                    <p:set>
                                      <p:cBhvr>
                                        <p:cTn id="105" dur="1" fill="hold">
                                          <p:stCondLst>
                                            <p:cond delay="0"/>
                                          </p:stCondLst>
                                        </p:cTn>
                                        <p:tgtEl>
                                          <p:spTgt spid="34"/>
                                        </p:tgtEl>
                                        <p:attrNameLst>
                                          <p:attrName>style.visibility</p:attrName>
                                        </p:attrNameLst>
                                      </p:cBhvr>
                                      <p:to>
                                        <p:strVal val="visible"/>
                                      </p:to>
                                    </p:set>
                                    <p:anim calcmode="lin" valueType="num">
                                      <p:cBhvr additive="base">
                                        <p:cTn id="106" dur="450" fill="hold"/>
                                        <p:tgtEl>
                                          <p:spTgt spid="34"/>
                                        </p:tgtEl>
                                        <p:attrNameLst>
                                          <p:attrName>ppt_x</p:attrName>
                                        </p:attrNameLst>
                                      </p:cBhvr>
                                      <p:tavLst>
                                        <p:tav tm="0">
                                          <p:val>
                                            <p:strVal val="1+#ppt_w/2"/>
                                          </p:val>
                                        </p:tav>
                                        <p:tav tm="100000">
                                          <p:val>
                                            <p:strVal val="#ppt_x"/>
                                          </p:val>
                                        </p:tav>
                                      </p:tavLst>
                                    </p:anim>
                                    <p:anim calcmode="lin" valueType="num">
                                      <p:cBhvr additive="base">
                                        <p:cTn id="107" dur="45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righ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pic>
        <p:nvPicPr>
          <p:cNvPr id="8" name="Picture 7" descr="glow_7FC211_28_1.7.png"/>
          <p:cNvPicPr>
            <a:picLocks noChangeAspect="1"/>
          </p:cNvPicPr>
          <p:nvPr/>
        </p:nvPicPr>
        <p:blipFill>
          <a:blip r:embed="rId8"/>
          <a:stretch>
            <a:fillRect/>
          </a:stretch>
        </p:blipFill>
        <p:spPr>
          <a:xfrm>
            <a:off x="7020306" y="1853946"/>
            <a:ext cx="4704588" cy="4704588"/>
          </a:xfrm>
          <a:prstGeom prst="rect">
            <a:avLst/>
          </a:prstGeom>
        </p:spPr>
      </p:pic>
      <p:pic>
        <p:nvPicPr>
          <p:cNvPr id="9" name="!!aux_ai" descr="ai.png"/>
          <p:cNvPicPr>
            <a:picLocks noChangeAspect="1"/>
          </p:cNvPicPr>
          <p:nvPr/>
        </p:nvPicPr>
        <p:blipFill>
          <a:blip r:embed="rId9"/>
          <a:srcRect/>
          <a:stretch>
            <a:fillRect/>
          </a:stretch>
        </p:blipFill>
        <p:spPr>
          <a:xfrm>
            <a:off x="7132320" y="1739052"/>
            <a:ext cx="4480560" cy="4160520"/>
          </a:xfrm>
          <a:prstGeom prst="rect">
            <a:avLst/>
          </a:prstGeom>
        </p:spPr>
      </p:pic>
      <p:pic>
        <p:nvPicPr>
          <p:cNvPr id="10" name="!!logo" descr="logo_stp.png"/>
          <p:cNvPicPr>
            <a:picLocks noChangeAspect="1"/>
          </p:cNvPicPr>
          <p:nvPr/>
        </p:nvPicPr>
        <p:blipFill>
          <a:blip r:embed="rId10"/>
          <a:stretch>
            <a:fillRect/>
          </a:stretch>
        </p:blipFill>
        <p:spPr>
          <a:xfrm>
            <a:off x="10024567" y="384048"/>
            <a:ext cx="420624" cy="420624"/>
          </a:xfrm>
          <a:prstGeom prst="rect">
            <a:avLst/>
          </a:prstGeom>
        </p:spPr>
      </p:pic>
      <p:sp>
        <p:nvSpPr>
          <p:cNvPr id="11"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2" name="TextBox 11"/>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10</a:t>
            </a:r>
          </a:p>
        </p:txBody>
      </p:sp>
      <p:sp>
        <p:nvSpPr>
          <p:cNvPr id="13" name="!!kicker"/>
          <p:cNvSpPr txBox="1"/>
          <p:nvPr/>
        </p:nvSpPr>
        <p:spPr>
          <a:xfrm>
            <a:off x="685800" y="502920"/>
            <a:ext cx="676656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ĐÀO TẠO ỨNG DỤNG AI</a:t>
            </a:r>
          </a:p>
        </p:txBody>
      </p:sp>
      <p:sp>
        <p:nvSpPr>
          <p:cNvPr id="14" name="!!title"/>
          <p:cNvSpPr txBox="1"/>
          <p:nvPr/>
        </p:nvSpPr>
        <p:spPr>
          <a:xfrm>
            <a:off x="685800" y="850392"/>
            <a:ext cx="6766560" cy="983488"/>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AI </a:t>
            </a:r>
            <a:r>
              <a:rPr sz="3200" b="0" i="0">
                <a:solidFill>
                  <a:srgbClr val="8FD11E"/>
                </a:solidFill>
                <a:latin typeface="Be Vietnam Pro ExtraBold"/>
                <a:ea typeface="Be Vietnam Pro ExtraBold"/>
                <a:cs typeface="Be Vietnam Pro ExtraBold"/>
              </a:rPr>
              <a:t>may đo</a:t>
            </a:r>
            <a:r>
              <a:rPr sz="3200" b="0" i="0">
                <a:solidFill>
                  <a:srgbClr val="FFFFFF"/>
                </a:solidFill>
                <a:latin typeface="Be Vietnam Pro ExtraBold"/>
                <a:ea typeface="Be Vietnam Pro ExtraBold"/>
                <a:cs typeface="Be Vietnam Pro ExtraBold"/>
              </a:rPr>
              <a:t> theo nghiệp vụ từng đơn vị</a:t>
            </a:r>
          </a:p>
        </p:txBody>
      </p:sp>
      <p:sp>
        <p:nvSpPr>
          <p:cNvPr id="15" name="TextBox 14"/>
          <p:cNvSpPr txBox="1"/>
          <p:nvPr/>
        </p:nvSpPr>
        <p:spPr>
          <a:xfrm>
            <a:off x="685800" y="1925320"/>
            <a:ext cx="2103120" cy="868680"/>
          </a:xfrm>
          <a:prstGeom prst="rect">
            <a:avLst/>
          </a:prstGeom>
          <a:noFill/>
        </p:spPr>
        <p:txBody>
          <a:bodyPr wrap="none" lIns="0" rIns="0" tIns="0" bIns="0" anchor="ctr">
            <a:noAutofit/>
          </a:bodyPr>
          <a:lstStyle/>
          <a:p>
            <a:pPr algn="l">
              <a:lnSpc>
                <a:spcPct val="115000"/>
              </a:lnSpc>
              <a:spcAft>
                <a:spcPts val="0"/>
              </a:spcAft>
            </a:pPr>
            <a:r>
              <a:rPr sz="5200" b="0" i="0">
                <a:solidFill>
                  <a:srgbClr val="8FD11E"/>
                </a:solidFill>
                <a:latin typeface="Be Vietnam Pro Black"/>
                <a:ea typeface="Be Vietnam Pro Black"/>
                <a:cs typeface="Be Vietnam Pro Black"/>
              </a:rPr>
              <a:t>30%</a:t>
            </a:r>
          </a:p>
        </p:txBody>
      </p:sp>
      <p:sp>
        <p:nvSpPr>
          <p:cNvPr id="16" name="TextBox 15"/>
          <p:cNvSpPr txBox="1"/>
          <p:nvPr/>
        </p:nvSpPr>
        <p:spPr>
          <a:xfrm>
            <a:off x="685800" y="2794000"/>
            <a:ext cx="2103120" cy="365760"/>
          </a:xfrm>
          <a:prstGeom prst="rect">
            <a:avLst/>
          </a:prstGeom>
          <a:noFill/>
        </p:spPr>
        <p:txBody>
          <a:bodyPr wrap="square" lIns="0" rIns="0" tIns="0" bIns="0" anchor="t">
            <a:noAutofit/>
          </a:bodyPr>
          <a:lstStyle/>
          <a:p>
            <a:pPr algn="l">
              <a:lnSpc>
                <a:spcPct val="115000"/>
              </a:lnSpc>
              <a:spcAft>
                <a:spcPts val="0"/>
              </a:spcAft>
            </a:pPr>
            <a:r>
              <a:rPr sz="1250" b="0" i="0">
                <a:solidFill>
                  <a:srgbClr val="C9D8CE"/>
                </a:solidFill>
                <a:latin typeface="Be Vietnam Pro Medium"/>
                <a:ea typeface="Be Vietnam Pro Medium"/>
                <a:cs typeface="Be Vietnam Pro Medium"/>
              </a:rPr>
              <a:t>kiến thức nền tảng</a:t>
            </a:r>
          </a:p>
        </p:txBody>
      </p:sp>
      <p:sp>
        <p:nvSpPr>
          <p:cNvPr id="17" name="TextBox 16"/>
          <p:cNvSpPr txBox="1"/>
          <p:nvPr/>
        </p:nvSpPr>
        <p:spPr>
          <a:xfrm>
            <a:off x="2926080" y="1925320"/>
            <a:ext cx="2103120" cy="868680"/>
          </a:xfrm>
          <a:prstGeom prst="rect">
            <a:avLst/>
          </a:prstGeom>
          <a:noFill/>
        </p:spPr>
        <p:txBody>
          <a:bodyPr wrap="none" lIns="0" rIns="0" tIns="0" bIns="0" anchor="ctr">
            <a:noAutofit/>
          </a:bodyPr>
          <a:lstStyle/>
          <a:p>
            <a:pPr algn="l">
              <a:lnSpc>
                <a:spcPct val="115000"/>
              </a:lnSpc>
              <a:spcAft>
                <a:spcPts val="0"/>
              </a:spcAft>
            </a:pPr>
            <a:r>
              <a:rPr sz="5200" b="0" i="0">
                <a:solidFill>
                  <a:srgbClr val="8FD11E"/>
                </a:solidFill>
                <a:latin typeface="Be Vietnam Pro Black"/>
                <a:ea typeface="Be Vietnam Pro Black"/>
                <a:cs typeface="Be Vietnam Pro Black"/>
              </a:rPr>
              <a:t>70%</a:t>
            </a:r>
          </a:p>
        </p:txBody>
      </p:sp>
      <p:sp>
        <p:nvSpPr>
          <p:cNvPr id="18" name="TextBox 17"/>
          <p:cNvSpPr txBox="1"/>
          <p:nvPr/>
        </p:nvSpPr>
        <p:spPr>
          <a:xfrm>
            <a:off x="2926080" y="2794000"/>
            <a:ext cx="2103120" cy="365760"/>
          </a:xfrm>
          <a:prstGeom prst="rect">
            <a:avLst/>
          </a:prstGeom>
          <a:noFill/>
        </p:spPr>
        <p:txBody>
          <a:bodyPr wrap="square" lIns="0" rIns="0" tIns="0" bIns="0" anchor="t">
            <a:noAutofit/>
          </a:bodyPr>
          <a:lstStyle/>
          <a:p>
            <a:pPr algn="l">
              <a:lnSpc>
                <a:spcPct val="115000"/>
              </a:lnSpc>
              <a:spcAft>
                <a:spcPts val="0"/>
              </a:spcAft>
            </a:pPr>
            <a:r>
              <a:rPr sz="1250" b="0" i="0">
                <a:solidFill>
                  <a:srgbClr val="C9D8CE"/>
                </a:solidFill>
                <a:latin typeface="Be Vietnam Pro Medium"/>
                <a:ea typeface="Be Vietnam Pro Medium"/>
                <a:cs typeface="Be Vietnam Pro Medium"/>
              </a:rPr>
              <a:t>thực hành trên việc thật</a:t>
            </a:r>
          </a:p>
        </p:txBody>
      </p:sp>
      <p:sp>
        <p:nvSpPr>
          <p:cNvPr id="19" name="Rounded Rectangle 18"/>
          <p:cNvSpPr/>
          <p:nvPr/>
        </p:nvSpPr>
        <p:spPr>
          <a:xfrm>
            <a:off x="685800" y="3388360"/>
            <a:ext cx="3223260" cy="1414780"/>
          </a:xfrm>
          <a:prstGeom prst="roundRect">
            <a:avLst>
              <a:gd name="adj" fmla="val 10341"/>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0" name="Oval 19"/>
          <p:cNvSpPr/>
          <p:nvPr/>
        </p:nvSpPr>
        <p:spPr>
          <a:xfrm>
            <a:off x="877824" y="3580384"/>
            <a:ext cx="530352" cy="530352"/>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landmark_8FD11E.png"/>
          <p:cNvPicPr>
            <a:picLocks noChangeAspect="1"/>
          </p:cNvPicPr>
          <p:nvPr/>
        </p:nvPicPr>
        <p:blipFill>
          <a:blip r:embed="rId11"/>
          <a:stretch>
            <a:fillRect/>
          </a:stretch>
        </p:blipFill>
        <p:spPr>
          <a:xfrm>
            <a:off x="994501" y="3697061"/>
            <a:ext cx="296997" cy="296997"/>
          </a:xfrm>
          <a:prstGeom prst="rect">
            <a:avLst/>
          </a:prstGeom>
        </p:spPr>
      </p:pic>
      <p:sp>
        <p:nvSpPr>
          <p:cNvPr id="22" name="TextBox 21"/>
          <p:cNvSpPr txBox="1"/>
          <p:nvPr/>
        </p:nvSpPr>
        <p:spPr>
          <a:xfrm>
            <a:off x="1554480" y="3571240"/>
            <a:ext cx="2217420" cy="548640"/>
          </a:xfrm>
          <a:prstGeom prst="rect">
            <a:avLst/>
          </a:prstGeom>
          <a:noFill/>
        </p:spPr>
        <p:txBody>
          <a:bodyPr wrap="square" lIns="0" rIns="0" tIns="0" bIns="0" anchor="ctr">
            <a:noAutofit/>
          </a:bodyPr>
          <a:lstStyle/>
          <a:p>
            <a:pPr algn="l">
              <a:lnSpc>
                <a:spcPct val="100000"/>
              </a:lnSpc>
              <a:spcAft>
                <a:spcPts val="0"/>
              </a:spcAft>
            </a:pPr>
            <a:r>
              <a:rPr sz="1550" b="0" i="0">
                <a:solidFill>
                  <a:srgbClr val="FFFFFF"/>
                </a:solidFill>
                <a:latin typeface="Be Vietnam Pro SemiBold"/>
                <a:ea typeface="Be Vietnam Pro SemiBold"/>
                <a:cs typeface="Be Vietnam Pro SemiBold"/>
              </a:rPr>
              <a:t>Cơ quan nhà nước</a:t>
            </a:r>
          </a:p>
        </p:txBody>
      </p:sp>
      <p:sp>
        <p:nvSpPr>
          <p:cNvPr id="23" name="TextBox 22"/>
          <p:cNvSpPr txBox="1"/>
          <p:nvPr/>
        </p:nvSpPr>
        <p:spPr>
          <a:xfrm>
            <a:off x="941832" y="4229608"/>
            <a:ext cx="2766060" cy="546100"/>
          </a:xfrm>
          <a:prstGeom prst="rect">
            <a:avLst/>
          </a:prstGeom>
          <a:noFill/>
        </p:spPr>
        <p:txBody>
          <a:bodyPr wrap="square" lIns="0" rIns="0" tIns="0" bIns="0" anchor="t">
            <a:noAutofit/>
          </a:bodyPr>
          <a:lstStyle/>
          <a:p>
            <a:pPr algn="l">
              <a:lnSpc>
                <a:spcPct val="115000"/>
              </a:lnSpc>
              <a:spcAft>
                <a:spcPts val="0"/>
              </a:spcAft>
            </a:pPr>
            <a:r>
              <a:rPr sz="1250" b="0" i="0">
                <a:solidFill>
                  <a:srgbClr val="C9D8CE"/>
                </a:solidFill>
                <a:latin typeface="Be Vietnam Pro"/>
                <a:ea typeface="Be Vietnam Pro"/>
                <a:cs typeface="Be Vietnam Pro"/>
              </a:rPr>
              <a:t>Văn bản đúng NĐ 30/2020, tóm tắt, tổng hợp báo cáo.</a:t>
            </a:r>
          </a:p>
        </p:txBody>
      </p:sp>
      <p:sp>
        <p:nvSpPr>
          <p:cNvPr id="24" name="Rounded Rectangle 23"/>
          <p:cNvSpPr/>
          <p:nvPr/>
        </p:nvSpPr>
        <p:spPr>
          <a:xfrm>
            <a:off x="4137660" y="3388360"/>
            <a:ext cx="3223260" cy="1414780"/>
          </a:xfrm>
          <a:prstGeom prst="roundRect">
            <a:avLst>
              <a:gd name="adj" fmla="val 10341"/>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Oval 24"/>
          <p:cNvSpPr/>
          <p:nvPr/>
        </p:nvSpPr>
        <p:spPr>
          <a:xfrm>
            <a:off x="4329684" y="3580384"/>
            <a:ext cx="530352" cy="530352"/>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building-2_8FD11E.png"/>
          <p:cNvPicPr>
            <a:picLocks noChangeAspect="1"/>
          </p:cNvPicPr>
          <p:nvPr/>
        </p:nvPicPr>
        <p:blipFill>
          <a:blip r:embed="rId12"/>
          <a:stretch>
            <a:fillRect/>
          </a:stretch>
        </p:blipFill>
        <p:spPr>
          <a:xfrm>
            <a:off x="4446361" y="3697061"/>
            <a:ext cx="296997" cy="296997"/>
          </a:xfrm>
          <a:prstGeom prst="rect">
            <a:avLst/>
          </a:prstGeom>
        </p:spPr>
      </p:pic>
      <p:sp>
        <p:nvSpPr>
          <p:cNvPr id="27" name="TextBox 26"/>
          <p:cNvSpPr txBox="1"/>
          <p:nvPr/>
        </p:nvSpPr>
        <p:spPr>
          <a:xfrm>
            <a:off x="5006340" y="3571240"/>
            <a:ext cx="2217420" cy="548640"/>
          </a:xfrm>
          <a:prstGeom prst="rect">
            <a:avLst/>
          </a:prstGeom>
          <a:noFill/>
        </p:spPr>
        <p:txBody>
          <a:bodyPr wrap="square" lIns="0" rIns="0" tIns="0" bIns="0" anchor="ctr">
            <a:noAutofit/>
          </a:bodyPr>
          <a:lstStyle/>
          <a:p>
            <a:pPr algn="l">
              <a:lnSpc>
                <a:spcPct val="100000"/>
              </a:lnSpc>
              <a:spcAft>
                <a:spcPts val="0"/>
              </a:spcAft>
            </a:pPr>
            <a:r>
              <a:rPr sz="1550" b="0" i="0">
                <a:solidFill>
                  <a:srgbClr val="FFFFFF"/>
                </a:solidFill>
                <a:latin typeface="Be Vietnam Pro SemiBold"/>
                <a:ea typeface="Be Vietnam Pro SemiBold"/>
                <a:cs typeface="Be Vietnam Pro SemiBold"/>
              </a:rPr>
              <a:t>Doanh nghiệp</a:t>
            </a:r>
          </a:p>
        </p:txBody>
      </p:sp>
      <p:sp>
        <p:nvSpPr>
          <p:cNvPr id="28" name="TextBox 27"/>
          <p:cNvSpPr txBox="1"/>
          <p:nvPr/>
        </p:nvSpPr>
        <p:spPr>
          <a:xfrm>
            <a:off x="4393692" y="4229608"/>
            <a:ext cx="2766060" cy="546100"/>
          </a:xfrm>
          <a:prstGeom prst="rect">
            <a:avLst/>
          </a:prstGeom>
          <a:noFill/>
        </p:spPr>
        <p:txBody>
          <a:bodyPr wrap="square" lIns="0" rIns="0" tIns="0" bIns="0" anchor="t">
            <a:noAutofit/>
          </a:bodyPr>
          <a:lstStyle/>
          <a:p>
            <a:pPr algn="l">
              <a:lnSpc>
                <a:spcPct val="115000"/>
              </a:lnSpc>
              <a:spcAft>
                <a:spcPts val="0"/>
              </a:spcAft>
            </a:pPr>
            <a:r>
              <a:rPr sz="1250" b="0" i="0">
                <a:solidFill>
                  <a:srgbClr val="C9D8CE"/>
                </a:solidFill>
                <a:latin typeface="Be Vietnam Pro"/>
                <a:ea typeface="Be Vietnam Pro"/>
                <a:cs typeface="Be Vietnam Pro"/>
              </a:rPr>
              <a:t>Lãnh đạo, marketing, nhân sự, sản xuất, bán hàng.</a:t>
            </a:r>
          </a:p>
        </p:txBody>
      </p:sp>
      <p:sp>
        <p:nvSpPr>
          <p:cNvPr id="29" name="Rounded Rectangle 28"/>
          <p:cNvSpPr/>
          <p:nvPr/>
        </p:nvSpPr>
        <p:spPr>
          <a:xfrm>
            <a:off x="685800" y="4986020"/>
            <a:ext cx="3223260" cy="1414780"/>
          </a:xfrm>
          <a:prstGeom prst="roundRect">
            <a:avLst>
              <a:gd name="adj" fmla="val 10341"/>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0" name="Oval 29"/>
          <p:cNvSpPr/>
          <p:nvPr/>
        </p:nvSpPr>
        <p:spPr>
          <a:xfrm>
            <a:off x="877824" y="5178044"/>
            <a:ext cx="530352" cy="530352"/>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graduation-cap_8FD11E.png"/>
          <p:cNvPicPr>
            <a:picLocks noChangeAspect="1"/>
          </p:cNvPicPr>
          <p:nvPr/>
        </p:nvPicPr>
        <p:blipFill>
          <a:blip r:embed="rId13"/>
          <a:stretch>
            <a:fillRect/>
          </a:stretch>
        </p:blipFill>
        <p:spPr>
          <a:xfrm>
            <a:off x="994501" y="5294721"/>
            <a:ext cx="296997" cy="296997"/>
          </a:xfrm>
          <a:prstGeom prst="rect">
            <a:avLst/>
          </a:prstGeom>
        </p:spPr>
      </p:pic>
      <p:sp>
        <p:nvSpPr>
          <p:cNvPr id="32" name="TextBox 31"/>
          <p:cNvSpPr txBox="1"/>
          <p:nvPr/>
        </p:nvSpPr>
        <p:spPr>
          <a:xfrm>
            <a:off x="1554480" y="5168900"/>
            <a:ext cx="2217420" cy="548640"/>
          </a:xfrm>
          <a:prstGeom prst="rect">
            <a:avLst/>
          </a:prstGeom>
          <a:noFill/>
        </p:spPr>
        <p:txBody>
          <a:bodyPr wrap="square" lIns="0" rIns="0" tIns="0" bIns="0" anchor="ctr">
            <a:noAutofit/>
          </a:bodyPr>
          <a:lstStyle/>
          <a:p>
            <a:pPr algn="l">
              <a:lnSpc>
                <a:spcPct val="100000"/>
              </a:lnSpc>
              <a:spcAft>
                <a:spcPts val="0"/>
              </a:spcAft>
            </a:pPr>
            <a:r>
              <a:rPr sz="1550" b="0" i="0">
                <a:solidFill>
                  <a:srgbClr val="FFFFFF"/>
                </a:solidFill>
                <a:latin typeface="Be Vietnam Pro SemiBold"/>
                <a:ea typeface="Be Vietnam Pro SemiBold"/>
                <a:cs typeface="Be Vietnam Pro SemiBold"/>
              </a:rPr>
              <a:t>Giáo dục</a:t>
            </a:r>
          </a:p>
        </p:txBody>
      </p:sp>
      <p:sp>
        <p:nvSpPr>
          <p:cNvPr id="33" name="TextBox 32"/>
          <p:cNvSpPr txBox="1"/>
          <p:nvPr/>
        </p:nvSpPr>
        <p:spPr>
          <a:xfrm>
            <a:off x="941832" y="5827268"/>
            <a:ext cx="2766060" cy="546100"/>
          </a:xfrm>
          <a:prstGeom prst="rect">
            <a:avLst/>
          </a:prstGeom>
          <a:noFill/>
        </p:spPr>
        <p:txBody>
          <a:bodyPr wrap="square" lIns="0" rIns="0" tIns="0" bIns="0" anchor="t">
            <a:noAutofit/>
          </a:bodyPr>
          <a:lstStyle/>
          <a:p>
            <a:pPr algn="l">
              <a:lnSpc>
                <a:spcPct val="115000"/>
              </a:lnSpc>
              <a:spcAft>
                <a:spcPts val="0"/>
              </a:spcAft>
            </a:pPr>
            <a:r>
              <a:rPr sz="1250" b="0" i="0">
                <a:solidFill>
                  <a:srgbClr val="C9D8CE"/>
                </a:solidFill>
                <a:latin typeface="Be Vietnam Pro"/>
                <a:ea typeface="Be Vietnam Pro"/>
                <a:cs typeface="Be Vietnam Pro"/>
              </a:rPr>
              <a:t>Chuẩn hóa năng lực số cho giáo viên, giảng viên.</a:t>
            </a:r>
          </a:p>
        </p:txBody>
      </p:sp>
      <p:sp>
        <p:nvSpPr>
          <p:cNvPr id="34" name="Rounded Rectangle 33"/>
          <p:cNvSpPr/>
          <p:nvPr/>
        </p:nvSpPr>
        <p:spPr>
          <a:xfrm>
            <a:off x="4137660" y="4986020"/>
            <a:ext cx="3223260" cy="1414780"/>
          </a:xfrm>
          <a:prstGeom prst="roundRect">
            <a:avLst>
              <a:gd name="adj" fmla="val 10341"/>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5" name="Oval 34"/>
          <p:cNvSpPr/>
          <p:nvPr/>
        </p:nvSpPr>
        <p:spPr>
          <a:xfrm>
            <a:off x="4329684" y="5178044"/>
            <a:ext cx="530352" cy="530352"/>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shield-check_8FD11E.png"/>
          <p:cNvPicPr>
            <a:picLocks noChangeAspect="1"/>
          </p:cNvPicPr>
          <p:nvPr/>
        </p:nvPicPr>
        <p:blipFill>
          <a:blip r:embed="rId14"/>
          <a:stretch>
            <a:fillRect/>
          </a:stretch>
        </p:blipFill>
        <p:spPr>
          <a:xfrm>
            <a:off x="4446361" y="5294721"/>
            <a:ext cx="296997" cy="296997"/>
          </a:xfrm>
          <a:prstGeom prst="rect">
            <a:avLst/>
          </a:prstGeom>
        </p:spPr>
      </p:pic>
      <p:sp>
        <p:nvSpPr>
          <p:cNvPr id="37" name="TextBox 36"/>
          <p:cNvSpPr txBox="1"/>
          <p:nvPr/>
        </p:nvSpPr>
        <p:spPr>
          <a:xfrm>
            <a:off x="5006340" y="5168900"/>
            <a:ext cx="2217420" cy="548640"/>
          </a:xfrm>
          <a:prstGeom prst="rect">
            <a:avLst/>
          </a:prstGeom>
          <a:noFill/>
        </p:spPr>
        <p:txBody>
          <a:bodyPr wrap="square" lIns="0" rIns="0" tIns="0" bIns="0" anchor="ctr">
            <a:noAutofit/>
          </a:bodyPr>
          <a:lstStyle/>
          <a:p>
            <a:pPr algn="l">
              <a:lnSpc>
                <a:spcPct val="100000"/>
              </a:lnSpc>
              <a:spcAft>
                <a:spcPts val="0"/>
              </a:spcAft>
            </a:pPr>
            <a:r>
              <a:rPr sz="1450" b="0" i="0">
                <a:solidFill>
                  <a:srgbClr val="FFFFFF"/>
                </a:solidFill>
                <a:latin typeface="Be Vietnam Pro SemiBold"/>
                <a:ea typeface="Be Vietnam Pro SemiBold"/>
                <a:cs typeface="Be Vietnam Pro SemiBold"/>
              </a:rPr>
              <a:t>An toàn, đúng quy định</a:t>
            </a:r>
          </a:p>
        </p:txBody>
      </p:sp>
      <p:sp>
        <p:nvSpPr>
          <p:cNvPr id="38" name="TextBox 37"/>
          <p:cNvSpPr txBox="1"/>
          <p:nvPr/>
        </p:nvSpPr>
        <p:spPr>
          <a:xfrm>
            <a:off x="4393692" y="5827268"/>
            <a:ext cx="2766060" cy="546100"/>
          </a:xfrm>
          <a:prstGeom prst="rect">
            <a:avLst/>
          </a:prstGeom>
          <a:noFill/>
        </p:spPr>
        <p:txBody>
          <a:bodyPr wrap="square" lIns="0" rIns="0" tIns="0" bIns="0" anchor="t">
            <a:noAutofit/>
          </a:bodyPr>
          <a:lstStyle/>
          <a:p>
            <a:pPr algn="l">
              <a:lnSpc>
                <a:spcPct val="115000"/>
              </a:lnSpc>
              <a:spcAft>
                <a:spcPts val="0"/>
              </a:spcAft>
            </a:pPr>
            <a:r>
              <a:rPr sz="1250" b="0" i="0">
                <a:solidFill>
                  <a:srgbClr val="C9D8CE"/>
                </a:solidFill>
                <a:latin typeface="Be Vietnam Pro"/>
                <a:ea typeface="Be Vietnam Pro"/>
                <a:cs typeface="Be Vietnam Pro"/>
              </a:rPr>
              <a:t>Bảo vệ dữ liệu, kiểm chứng trước khi dùng.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53" presetClass="entr" presetSubtype="16" fill="hold" grpId="0" nodeType="withEffect">
                                  <p:stCondLst>
                                    <p:cond delay="2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800" fill="hold"/>
                                        <p:tgtEl>
                                          <p:spTgt spid="8"/>
                                        </p:tgtEl>
                                        <p:attrNameLst>
                                          <p:attrName>ppt_w</p:attrName>
                                        </p:attrNameLst>
                                      </p:cBhvr>
                                      <p:tavLst>
                                        <p:tav tm="0">
                                          <p:val>
                                            <p:strVal val="#ppt_w*0.7"/>
                                          </p:val>
                                        </p:tav>
                                        <p:tav tm="100000">
                                          <p:val>
                                            <p:strVal val="#ppt_w"/>
                                          </p:val>
                                        </p:tav>
                                      </p:tavLst>
                                    </p:anim>
                                    <p:anim calcmode="lin" valueType="num">
                                      <p:cBhvr additive="base">
                                        <p:cTn id="20" dur="800" fill="hold"/>
                                        <p:tgtEl>
                                          <p:spTgt spid="8"/>
                                        </p:tgtEl>
                                        <p:attrNameLst>
                                          <p:attrName>ppt_h</p:attrName>
                                        </p:attrNameLst>
                                      </p:cBhvr>
                                      <p:tavLst>
                                        <p:tav tm="0">
                                          <p:val>
                                            <p:strVal val="#ppt_h*0.7"/>
                                          </p:val>
                                        </p:tav>
                                        <p:tav tm="100000">
                                          <p:val>
                                            <p:strVal val="#ppt_h"/>
                                          </p:val>
                                        </p:tav>
                                      </p:tavLst>
                                    </p:anim>
                                    <p:animEffect transition="in" filter="fade">
                                      <p:cBhvr>
                                        <p:cTn id="21" dur="800"/>
                                        <p:tgtEl>
                                          <p:spTgt spid="8"/>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53" presetClass="entr" presetSubtype="16" fill="hold" grpId="0" nodeType="withEffect">
                                  <p:stCondLst>
                                    <p:cond delay="30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800" fill="hold"/>
                                        <p:tgtEl>
                                          <p:spTgt spid="9"/>
                                        </p:tgtEl>
                                        <p:attrNameLst>
                                          <p:attrName>ppt_w</p:attrName>
                                        </p:attrNameLst>
                                      </p:cBhvr>
                                      <p:tavLst>
                                        <p:tav tm="0">
                                          <p:val>
                                            <p:strVal val="#ppt_w*0.7"/>
                                          </p:val>
                                        </p:tav>
                                        <p:tav tm="100000">
                                          <p:val>
                                            <p:strVal val="#ppt_w"/>
                                          </p:val>
                                        </p:tav>
                                      </p:tavLst>
                                    </p:anim>
                                    <p:anim calcmode="lin" valueType="num">
                                      <p:cBhvr additive="base">
                                        <p:cTn id="28" dur="800" fill="hold"/>
                                        <p:tgtEl>
                                          <p:spTgt spid="9"/>
                                        </p:tgtEl>
                                        <p:attrNameLst>
                                          <p:attrName>ppt_h</p:attrName>
                                        </p:attrNameLst>
                                      </p:cBhvr>
                                      <p:tavLst>
                                        <p:tav tm="0">
                                          <p:val>
                                            <p:strVal val="#ppt_h*0.7"/>
                                          </p:val>
                                        </p:tav>
                                        <p:tav tm="100000">
                                          <p:val>
                                            <p:strVal val="#ppt_h"/>
                                          </p:val>
                                        </p:tav>
                                      </p:tavLst>
                                    </p:anim>
                                    <p:animEffect transition="in" filter="fade">
                                      <p:cBhvr>
                                        <p:cTn id="29" dur="800"/>
                                        <p:tgtEl>
                                          <p:spTgt spid="9"/>
                                        </p:tgtEl>
                                      </p:cBhvr>
                                    </p:animEffect>
                                  </p:childTnLst>
                                </p:cTn>
                              </p:par>
                              <p:par>
                                <p:cTn id="30" presetID="53" presetClass="entr" presetSubtype="16" fill="hold" grpId="0" nodeType="withEffect">
                                  <p:stCondLst>
                                    <p:cond delay="60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450" fill="hold"/>
                                        <p:tgtEl>
                                          <p:spTgt spid="15"/>
                                        </p:tgtEl>
                                        <p:attrNameLst>
                                          <p:attrName>ppt_w</p:attrName>
                                        </p:attrNameLst>
                                      </p:cBhvr>
                                      <p:tavLst>
                                        <p:tav tm="0">
                                          <p:val>
                                            <p:strVal val="#ppt_w*0.7"/>
                                          </p:val>
                                        </p:tav>
                                        <p:tav tm="100000">
                                          <p:val>
                                            <p:strVal val="#ppt_w"/>
                                          </p:val>
                                        </p:tav>
                                      </p:tavLst>
                                    </p:anim>
                                    <p:anim calcmode="lin" valueType="num">
                                      <p:cBhvr additive="base">
                                        <p:cTn id="33" dur="450" fill="hold"/>
                                        <p:tgtEl>
                                          <p:spTgt spid="15"/>
                                        </p:tgtEl>
                                        <p:attrNameLst>
                                          <p:attrName>ppt_h</p:attrName>
                                        </p:attrNameLst>
                                      </p:cBhvr>
                                      <p:tavLst>
                                        <p:tav tm="0">
                                          <p:val>
                                            <p:strVal val="#ppt_h*0.7"/>
                                          </p:val>
                                        </p:tav>
                                        <p:tav tm="100000">
                                          <p:val>
                                            <p:strVal val="#ppt_h"/>
                                          </p:val>
                                        </p:tav>
                                      </p:tavLst>
                                    </p:anim>
                                    <p:animEffect transition="in" filter="fade">
                                      <p:cBhvr>
                                        <p:cTn id="34" dur="450"/>
                                        <p:tgtEl>
                                          <p:spTgt spid="15"/>
                                        </p:tgtEl>
                                      </p:cBhvr>
                                    </p:animEffect>
                                  </p:childTnLst>
                                </p:cTn>
                              </p:par>
                              <p:par>
                                <p:cTn id="35" presetID="53" presetClass="entr" presetSubtype="16" fill="hold" grpId="0" nodeType="withEffect">
                                  <p:stCondLst>
                                    <p:cond delay="60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450" fill="hold"/>
                                        <p:tgtEl>
                                          <p:spTgt spid="16"/>
                                        </p:tgtEl>
                                        <p:attrNameLst>
                                          <p:attrName>ppt_w</p:attrName>
                                        </p:attrNameLst>
                                      </p:cBhvr>
                                      <p:tavLst>
                                        <p:tav tm="0">
                                          <p:val>
                                            <p:strVal val="#ppt_w*0.7"/>
                                          </p:val>
                                        </p:tav>
                                        <p:tav tm="100000">
                                          <p:val>
                                            <p:strVal val="#ppt_w"/>
                                          </p:val>
                                        </p:tav>
                                      </p:tavLst>
                                    </p:anim>
                                    <p:anim calcmode="lin" valueType="num">
                                      <p:cBhvr additive="base">
                                        <p:cTn id="38" dur="450" fill="hold"/>
                                        <p:tgtEl>
                                          <p:spTgt spid="16"/>
                                        </p:tgtEl>
                                        <p:attrNameLst>
                                          <p:attrName>ppt_h</p:attrName>
                                        </p:attrNameLst>
                                      </p:cBhvr>
                                      <p:tavLst>
                                        <p:tav tm="0">
                                          <p:val>
                                            <p:strVal val="#ppt_h*0.7"/>
                                          </p:val>
                                        </p:tav>
                                        <p:tav tm="100000">
                                          <p:val>
                                            <p:strVal val="#ppt_h"/>
                                          </p:val>
                                        </p:tav>
                                      </p:tavLst>
                                    </p:anim>
                                    <p:animEffect transition="in" filter="fade">
                                      <p:cBhvr>
                                        <p:cTn id="39" dur="450"/>
                                        <p:tgtEl>
                                          <p:spTgt spid="16"/>
                                        </p:tgtEl>
                                      </p:cBhvr>
                                    </p:animEffect>
                                  </p:childTnLst>
                                </p:cTn>
                              </p:par>
                              <p:par>
                                <p:cTn id="40" presetID="42" presetClass="entr" presetSubtype="0" fill="hold" grpId="0" nodeType="withEffect">
                                  <p:stCondLst>
                                    <p:cond delay="70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anim calcmode="lin" valueType="num">
                                      <p:cBhvr additive="base">
                                        <p:cTn id="43" dur="450" fill="hold"/>
                                        <p:tgtEl>
                                          <p:spTgt spid="19"/>
                                        </p:tgtEl>
                                        <p:attrNameLst>
                                          <p:attrName>ppt_x</p:attrName>
                                        </p:attrNameLst>
                                      </p:cBhvr>
                                      <p:tavLst>
                                        <p:tav tm="0">
                                          <p:val>
                                            <p:strVal val="#ppt_x"/>
                                          </p:val>
                                        </p:tav>
                                        <p:tav tm="100000">
                                          <p:val>
                                            <p:strVal val="#ppt_x"/>
                                          </p:val>
                                        </p:tav>
                                      </p:tavLst>
                                    </p:anim>
                                    <p:anim calcmode="lin" valueType="num">
                                      <p:cBhvr additive="base">
                                        <p:cTn id="44" dur="450" fill="hold"/>
                                        <p:tgtEl>
                                          <p:spTgt spid="19"/>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70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anim calcmode="lin" valueType="num">
                                      <p:cBhvr additive="base">
                                        <p:cTn id="48" dur="450" fill="hold"/>
                                        <p:tgtEl>
                                          <p:spTgt spid="20"/>
                                        </p:tgtEl>
                                        <p:attrNameLst>
                                          <p:attrName>ppt_x</p:attrName>
                                        </p:attrNameLst>
                                      </p:cBhvr>
                                      <p:tavLst>
                                        <p:tav tm="0">
                                          <p:val>
                                            <p:strVal val="#ppt_x"/>
                                          </p:val>
                                        </p:tav>
                                        <p:tav tm="100000">
                                          <p:val>
                                            <p:strVal val="#ppt_x"/>
                                          </p:val>
                                        </p:tav>
                                      </p:tavLst>
                                    </p:anim>
                                    <p:anim calcmode="lin" valueType="num">
                                      <p:cBhvr additive="base">
                                        <p:cTn id="49" dur="450" fill="hold"/>
                                        <p:tgtEl>
                                          <p:spTgt spid="20"/>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70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anim calcmode="lin" valueType="num">
                                      <p:cBhvr additive="base">
                                        <p:cTn id="53" dur="450" fill="hold"/>
                                        <p:tgtEl>
                                          <p:spTgt spid="21"/>
                                        </p:tgtEl>
                                        <p:attrNameLst>
                                          <p:attrName>ppt_x</p:attrName>
                                        </p:attrNameLst>
                                      </p:cBhvr>
                                      <p:tavLst>
                                        <p:tav tm="0">
                                          <p:val>
                                            <p:strVal val="#ppt_x"/>
                                          </p:val>
                                        </p:tav>
                                        <p:tav tm="100000">
                                          <p:val>
                                            <p:strVal val="#ppt_x"/>
                                          </p:val>
                                        </p:tav>
                                      </p:tavLst>
                                    </p:anim>
                                    <p:anim calcmode="lin" valueType="num">
                                      <p:cBhvr additive="base">
                                        <p:cTn id="54" dur="450" fill="hold"/>
                                        <p:tgtEl>
                                          <p:spTgt spid="21"/>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70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50"/>
                                        <p:tgtEl>
                                          <p:spTgt spid="22"/>
                                        </p:tgtEl>
                                      </p:cBhvr>
                                    </p:animEffect>
                                    <p:anim calcmode="lin" valueType="num">
                                      <p:cBhvr additive="base">
                                        <p:cTn id="58" dur="450" fill="hold"/>
                                        <p:tgtEl>
                                          <p:spTgt spid="22"/>
                                        </p:tgtEl>
                                        <p:attrNameLst>
                                          <p:attrName>ppt_x</p:attrName>
                                        </p:attrNameLst>
                                      </p:cBhvr>
                                      <p:tavLst>
                                        <p:tav tm="0">
                                          <p:val>
                                            <p:strVal val="#ppt_x"/>
                                          </p:val>
                                        </p:tav>
                                        <p:tav tm="100000">
                                          <p:val>
                                            <p:strVal val="#ppt_x"/>
                                          </p:val>
                                        </p:tav>
                                      </p:tavLst>
                                    </p:anim>
                                    <p:anim calcmode="lin" valueType="num">
                                      <p:cBhvr additive="base">
                                        <p:cTn id="59" dur="450" fill="hold"/>
                                        <p:tgtEl>
                                          <p:spTgt spid="22"/>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70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anim calcmode="lin" valueType="num">
                                      <p:cBhvr additive="base">
                                        <p:cTn id="63" dur="450" fill="hold"/>
                                        <p:tgtEl>
                                          <p:spTgt spid="23"/>
                                        </p:tgtEl>
                                        <p:attrNameLst>
                                          <p:attrName>ppt_x</p:attrName>
                                        </p:attrNameLst>
                                      </p:cBhvr>
                                      <p:tavLst>
                                        <p:tav tm="0">
                                          <p:val>
                                            <p:strVal val="#ppt_x"/>
                                          </p:val>
                                        </p:tav>
                                        <p:tav tm="100000">
                                          <p:val>
                                            <p:strVal val="#ppt_x"/>
                                          </p:val>
                                        </p:tav>
                                      </p:tavLst>
                                    </p:anim>
                                    <p:anim calcmode="lin" valueType="num">
                                      <p:cBhvr additive="base">
                                        <p:cTn id="64" dur="450" fill="hold"/>
                                        <p:tgtEl>
                                          <p:spTgt spid="23"/>
                                        </p:tgtEl>
                                        <p:attrNameLst>
                                          <p:attrName>ppt_y</p:attrName>
                                        </p:attrNameLst>
                                      </p:cBhvr>
                                      <p:tavLst>
                                        <p:tav tm="0">
                                          <p:val>
                                            <p:strVal val="#ppt_y+.06"/>
                                          </p:val>
                                        </p:tav>
                                        <p:tav tm="100000">
                                          <p:val>
                                            <p:strVal val="#ppt_y"/>
                                          </p:val>
                                        </p:tav>
                                      </p:tavLst>
                                    </p:anim>
                                  </p:childTnLst>
                                </p:cTn>
                              </p:par>
                              <p:par>
                                <p:cTn id="65" presetID="53" presetClass="entr" presetSubtype="16" fill="hold" grpId="0" nodeType="withEffect">
                                  <p:stCondLst>
                                    <p:cond delay="75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450" fill="hold"/>
                                        <p:tgtEl>
                                          <p:spTgt spid="17"/>
                                        </p:tgtEl>
                                        <p:attrNameLst>
                                          <p:attrName>ppt_w</p:attrName>
                                        </p:attrNameLst>
                                      </p:cBhvr>
                                      <p:tavLst>
                                        <p:tav tm="0">
                                          <p:val>
                                            <p:strVal val="#ppt_w*0.7"/>
                                          </p:val>
                                        </p:tav>
                                        <p:tav tm="100000">
                                          <p:val>
                                            <p:strVal val="#ppt_w"/>
                                          </p:val>
                                        </p:tav>
                                      </p:tavLst>
                                    </p:anim>
                                    <p:anim calcmode="lin" valueType="num">
                                      <p:cBhvr additive="base">
                                        <p:cTn id="68" dur="450" fill="hold"/>
                                        <p:tgtEl>
                                          <p:spTgt spid="17"/>
                                        </p:tgtEl>
                                        <p:attrNameLst>
                                          <p:attrName>ppt_h</p:attrName>
                                        </p:attrNameLst>
                                      </p:cBhvr>
                                      <p:tavLst>
                                        <p:tav tm="0">
                                          <p:val>
                                            <p:strVal val="#ppt_h*0.7"/>
                                          </p:val>
                                        </p:tav>
                                        <p:tav tm="100000">
                                          <p:val>
                                            <p:strVal val="#ppt_h"/>
                                          </p:val>
                                        </p:tav>
                                      </p:tavLst>
                                    </p:anim>
                                    <p:animEffect transition="in" filter="fade">
                                      <p:cBhvr>
                                        <p:cTn id="69" dur="450"/>
                                        <p:tgtEl>
                                          <p:spTgt spid="17"/>
                                        </p:tgtEl>
                                      </p:cBhvr>
                                    </p:animEffect>
                                  </p:childTnLst>
                                </p:cTn>
                              </p:par>
                              <p:par>
                                <p:cTn id="70" presetID="53" presetClass="entr" presetSubtype="16" fill="hold" grpId="0" nodeType="withEffect">
                                  <p:stCondLst>
                                    <p:cond delay="75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450" fill="hold"/>
                                        <p:tgtEl>
                                          <p:spTgt spid="18"/>
                                        </p:tgtEl>
                                        <p:attrNameLst>
                                          <p:attrName>ppt_w</p:attrName>
                                        </p:attrNameLst>
                                      </p:cBhvr>
                                      <p:tavLst>
                                        <p:tav tm="0">
                                          <p:val>
                                            <p:strVal val="#ppt_w*0.7"/>
                                          </p:val>
                                        </p:tav>
                                        <p:tav tm="100000">
                                          <p:val>
                                            <p:strVal val="#ppt_w"/>
                                          </p:val>
                                        </p:tav>
                                      </p:tavLst>
                                    </p:anim>
                                    <p:anim calcmode="lin" valueType="num">
                                      <p:cBhvr additive="base">
                                        <p:cTn id="73" dur="450" fill="hold"/>
                                        <p:tgtEl>
                                          <p:spTgt spid="18"/>
                                        </p:tgtEl>
                                        <p:attrNameLst>
                                          <p:attrName>ppt_h</p:attrName>
                                        </p:attrNameLst>
                                      </p:cBhvr>
                                      <p:tavLst>
                                        <p:tav tm="0">
                                          <p:val>
                                            <p:strVal val="#ppt_h*0.7"/>
                                          </p:val>
                                        </p:tav>
                                        <p:tav tm="100000">
                                          <p:val>
                                            <p:strVal val="#ppt_h"/>
                                          </p:val>
                                        </p:tav>
                                      </p:tavLst>
                                    </p:anim>
                                    <p:animEffect transition="in" filter="fade">
                                      <p:cBhvr>
                                        <p:cTn id="74" dur="450"/>
                                        <p:tgtEl>
                                          <p:spTgt spid="18"/>
                                        </p:tgtEl>
                                      </p:cBhvr>
                                    </p:animEffect>
                                  </p:childTnLst>
                                </p:cTn>
                              </p:par>
                              <p:par>
                                <p:cTn id="75" presetID="42" presetClass="entr" presetSubtype="0" fill="hold" grpId="0" nodeType="withEffect">
                                  <p:stCondLst>
                                    <p:cond delay="85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450"/>
                                        <p:tgtEl>
                                          <p:spTgt spid="24"/>
                                        </p:tgtEl>
                                      </p:cBhvr>
                                    </p:animEffect>
                                    <p:anim calcmode="lin" valueType="num">
                                      <p:cBhvr additive="base">
                                        <p:cTn id="78" dur="450" fill="hold"/>
                                        <p:tgtEl>
                                          <p:spTgt spid="24"/>
                                        </p:tgtEl>
                                        <p:attrNameLst>
                                          <p:attrName>ppt_x</p:attrName>
                                        </p:attrNameLst>
                                      </p:cBhvr>
                                      <p:tavLst>
                                        <p:tav tm="0">
                                          <p:val>
                                            <p:strVal val="#ppt_x"/>
                                          </p:val>
                                        </p:tav>
                                        <p:tav tm="100000">
                                          <p:val>
                                            <p:strVal val="#ppt_x"/>
                                          </p:val>
                                        </p:tav>
                                      </p:tavLst>
                                    </p:anim>
                                    <p:anim calcmode="lin" valueType="num">
                                      <p:cBhvr additive="base">
                                        <p:cTn id="79" dur="450" fill="hold"/>
                                        <p:tgtEl>
                                          <p:spTgt spid="24"/>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85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450"/>
                                        <p:tgtEl>
                                          <p:spTgt spid="25"/>
                                        </p:tgtEl>
                                      </p:cBhvr>
                                    </p:animEffect>
                                    <p:anim calcmode="lin" valueType="num">
                                      <p:cBhvr additive="base">
                                        <p:cTn id="83" dur="450" fill="hold"/>
                                        <p:tgtEl>
                                          <p:spTgt spid="25"/>
                                        </p:tgtEl>
                                        <p:attrNameLst>
                                          <p:attrName>ppt_x</p:attrName>
                                        </p:attrNameLst>
                                      </p:cBhvr>
                                      <p:tavLst>
                                        <p:tav tm="0">
                                          <p:val>
                                            <p:strVal val="#ppt_x"/>
                                          </p:val>
                                        </p:tav>
                                        <p:tav tm="100000">
                                          <p:val>
                                            <p:strVal val="#ppt_x"/>
                                          </p:val>
                                        </p:tav>
                                      </p:tavLst>
                                    </p:anim>
                                    <p:anim calcmode="lin" valueType="num">
                                      <p:cBhvr additive="base">
                                        <p:cTn id="84" dur="450" fill="hold"/>
                                        <p:tgtEl>
                                          <p:spTgt spid="25"/>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85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450"/>
                                        <p:tgtEl>
                                          <p:spTgt spid="26"/>
                                        </p:tgtEl>
                                      </p:cBhvr>
                                    </p:animEffect>
                                    <p:anim calcmode="lin" valueType="num">
                                      <p:cBhvr additive="base">
                                        <p:cTn id="88" dur="450" fill="hold"/>
                                        <p:tgtEl>
                                          <p:spTgt spid="26"/>
                                        </p:tgtEl>
                                        <p:attrNameLst>
                                          <p:attrName>ppt_x</p:attrName>
                                        </p:attrNameLst>
                                      </p:cBhvr>
                                      <p:tavLst>
                                        <p:tav tm="0">
                                          <p:val>
                                            <p:strVal val="#ppt_x"/>
                                          </p:val>
                                        </p:tav>
                                        <p:tav tm="100000">
                                          <p:val>
                                            <p:strVal val="#ppt_x"/>
                                          </p:val>
                                        </p:tav>
                                      </p:tavLst>
                                    </p:anim>
                                    <p:anim calcmode="lin" valueType="num">
                                      <p:cBhvr additive="base">
                                        <p:cTn id="89" dur="450" fill="hold"/>
                                        <p:tgtEl>
                                          <p:spTgt spid="26"/>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85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450"/>
                                        <p:tgtEl>
                                          <p:spTgt spid="27"/>
                                        </p:tgtEl>
                                      </p:cBhvr>
                                    </p:animEffect>
                                    <p:anim calcmode="lin" valueType="num">
                                      <p:cBhvr additive="base">
                                        <p:cTn id="93" dur="450" fill="hold"/>
                                        <p:tgtEl>
                                          <p:spTgt spid="27"/>
                                        </p:tgtEl>
                                        <p:attrNameLst>
                                          <p:attrName>ppt_x</p:attrName>
                                        </p:attrNameLst>
                                      </p:cBhvr>
                                      <p:tavLst>
                                        <p:tav tm="0">
                                          <p:val>
                                            <p:strVal val="#ppt_x"/>
                                          </p:val>
                                        </p:tav>
                                        <p:tav tm="100000">
                                          <p:val>
                                            <p:strVal val="#ppt_x"/>
                                          </p:val>
                                        </p:tav>
                                      </p:tavLst>
                                    </p:anim>
                                    <p:anim calcmode="lin" valueType="num">
                                      <p:cBhvr additive="base">
                                        <p:cTn id="94" dur="450" fill="hold"/>
                                        <p:tgtEl>
                                          <p:spTgt spid="27"/>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850"/>
                                  </p:stCondLst>
                                  <p:childTnLst>
                                    <p:set>
                                      <p:cBhvr>
                                        <p:cTn id="96" dur="1" fill="hold">
                                          <p:stCondLst>
                                            <p:cond delay="0"/>
                                          </p:stCondLst>
                                        </p:cTn>
                                        <p:tgtEl>
                                          <p:spTgt spid="28"/>
                                        </p:tgtEl>
                                        <p:attrNameLst>
                                          <p:attrName>style.visibility</p:attrName>
                                        </p:attrNameLst>
                                      </p:cBhvr>
                                      <p:to>
                                        <p:strVal val="visible"/>
                                      </p:to>
                                    </p:set>
                                    <p:animEffect transition="in" filter="fade">
                                      <p:cBhvr>
                                        <p:cTn id="97" dur="450"/>
                                        <p:tgtEl>
                                          <p:spTgt spid="28"/>
                                        </p:tgtEl>
                                      </p:cBhvr>
                                    </p:animEffect>
                                    <p:anim calcmode="lin" valueType="num">
                                      <p:cBhvr additive="base">
                                        <p:cTn id="98" dur="450" fill="hold"/>
                                        <p:tgtEl>
                                          <p:spTgt spid="28"/>
                                        </p:tgtEl>
                                        <p:attrNameLst>
                                          <p:attrName>ppt_x</p:attrName>
                                        </p:attrNameLst>
                                      </p:cBhvr>
                                      <p:tavLst>
                                        <p:tav tm="0">
                                          <p:val>
                                            <p:strVal val="#ppt_x"/>
                                          </p:val>
                                        </p:tav>
                                        <p:tav tm="100000">
                                          <p:val>
                                            <p:strVal val="#ppt_x"/>
                                          </p:val>
                                        </p:tav>
                                      </p:tavLst>
                                    </p:anim>
                                    <p:anim calcmode="lin" valueType="num">
                                      <p:cBhvr additive="base">
                                        <p:cTn id="99" dur="450" fill="hold"/>
                                        <p:tgtEl>
                                          <p:spTgt spid="28"/>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100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450"/>
                                        <p:tgtEl>
                                          <p:spTgt spid="29"/>
                                        </p:tgtEl>
                                      </p:cBhvr>
                                    </p:animEffect>
                                    <p:anim calcmode="lin" valueType="num">
                                      <p:cBhvr additive="base">
                                        <p:cTn id="103" dur="450" fill="hold"/>
                                        <p:tgtEl>
                                          <p:spTgt spid="29"/>
                                        </p:tgtEl>
                                        <p:attrNameLst>
                                          <p:attrName>ppt_x</p:attrName>
                                        </p:attrNameLst>
                                      </p:cBhvr>
                                      <p:tavLst>
                                        <p:tav tm="0">
                                          <p:val>
                                            <p:strVal val="#ppt_x"/>
                                          </p:val>
                                        </p:tav>
                                        <p:tav tm="100000">
                                          <p:val>
                                            <p:strVal val="#ppt_x"/>
                                          </p:val>
                                        </p:tav>
                                      </p:tavLst>
                                    </p:anim>
                                    <p:anim calcmode="lin" valueType="num">
                                      <p:cBhvr additive="base">
                                        <p:cTn id="104" dur="450" fill="hold"/>
                                        <p:tgtEl>
                                          <p:spTgt spid="29"/>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100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450"/>
                                        <p:tgtEl>
                                          <p:spTgt spid="30"/>
                                        </p:tgtEl>
                                      </p:cBhvr>
                                    </p:animEffect>
                                    <p:anim calcmode="lin" valueType="num">
                                      <p:cBhvr additive="base">
                                        <p:cTn id="108" dur="450" fill="hold"/>
                                        <p:tgtEl>
                                          <p:spTgt spid="30"/>
                                        </p:tgtEl>
                                        <p:attrNameLst>
                                          <p:attrName>ppt_x</p:attrName>
                                        </p:attrNameLst>
                                      </p:cBhvr>
                                      <p:tavLst>
                                        <p:tav tm="0">
                                          <p:val>
                                            <p:strVal val="#ppt_x"/>
                                          </p:val>
                                        </p:tav>
                                        <p:tav tm="100000">
                                          <p:val>
                                            <p:strVal val="#ppt_x"/>
                                          </p:val>
                                        </p:tav>
                                      </p:tavLst>
                                    </p:anim>
                                    <p:anim calcmode="lin" valueType="num">
                                      <p:cBhvr additive="base">
                                        <p:cTn id="109" dur="450" fill="hold"/>
                                        <p:tgtEl>
                                          <p:spTgt spid="30"/>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100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450"/>
                                        <p:tgtEl>
                                          <p:spTgt spid="31"/>
                                        </p:tgtEl>
                                      </p:cBhvr>
                                    </p:animEffect>
                                    <p:anim calcmode="lin" valueType="num">
                                      <p:cBhvr additive="base">
                                        <p:cTn id="113" dur="450" fill="hold"/>
                                        <p:tgtEl>
                                          <p:spTgt spid="31"/>
                                        </p:tgtEl>
                                        <p:attrNameLst>
                                          <p:attrName>ppt_x</p:attrName>
                                        </p:attrNameLst>
                                      </p:cBhvr>
                                      <p:tavLst>
                                        <p:tav tm="0">
                                          <p:val>
                                            <p:strVal val="#ppt_x"/>
                                          </p:val>
                                        </p:tav>
                                        <p:tav tm="100000">
                                          <p:val>
                                            <p:strVal val="#ppt_x"/>
                                          </p:val>
                                        </p:tav>
                                      </p:tavLst>
                                    </p:anim>
                                    <p:anim calcmode="lin" valueType="num">
                                      <p:cBhvr additive="base">
                                        <p:cTn id="114" dur="450" fill="hold"/>
                                        <p:tgtEl>
                                          <p:spTgt spid="31"/>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1000"/>
                                  </p:stCondLst>
                                  <p:childTnLst>
                                    <p:set>
                                      <p:cBhvr>
                                        <p:cTn id="116" dur="1" fill="hold">
                                          <p:stCondLst>
                                            <p:cond delay="0"/>
                                          </p:stCondLst>
                                        </p:cTn>
                                        <p:tgtEl>
                                          <p:spTgt spid="32"/>
                                        </p:tgtEl>
                                        <p:attrNameLst>
                                          <p:attrName>style.visibility</p:attrName>
                                        </p:attrNameLst>
                                      </p:cBhvr>
                                      <p:to>
                                        <p:strVal val="visible"/>
                                      </p:to>
                                    </p:set>
                                    <p:animEffect transition="in" filter="fade">
                                      <p:cBhvr>
                                        <p:cTn id="117" dur="450"/>
                                        <p:tgtEl>
                                          <p:spTgt spid="32"/>
                                        </p:tgtEl>
                                      </p:cBhvr>
                                    </p:animEffect>
                                    <p:anim calcmode="lin" valueType="num">
                                      <p:cBhvr additive="base">
                                        <p:cTn id="118" dur="450" fill="hold"/>
                                        <p:tgtEl>
                                          <p:spTgt spid="32"/>
                                        </p:tgtEl>
                                        <p:attrNameLst>
                                          <p:attrName>ppt_x</p:attrName>
                                        </p:attrNameLst>
                                      </p:cBhvr>
                                      <p:tavLst>
                                        <p:tav tm="0">
                                          <p:val>
                                            <p:strVal val="#ppt_x"/>
                                          </p:val>
                                        </p:tav>
                                        <p:tav tm="100000">
                                          <p:val>
                                            <p:strVal val="#ppt_x"/>
                                          </p:val>
                                        </p:tav>
                                      </p:tavLst>
                                    </p:anim>
                                    <p:anim calcmode="lin" valueType="num">
                                      <p:cBhvr additive="base">
                                        <p:cTn id="119" dur="450" fill="hold"/>
                                        <p:tgtEl>
                                          <p:spTgt spid="32"/>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100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450"/>
                                        <p:tgtEl>
                                          <p:spTgt spid="33"/>
                                        </p:tgtEl>
                                      </p:cBhvr>
                                    </p:animEffect>
                                    <p:anim calcmode="lin" valueType="num">
                                      <p:cBhvr additive="base">
                                        <p:cTn id="123" dur="450" fill="hold"/>
                                        <p:tgtEl>
                                          <p:spTgt spid="33"/>
                                        </p:tgtEl>
                                        <p:attrNameLst>
                                          <p:attrName>ppt_x</p:attrName>
                                        </p:attrNameLst>
                                      </p:cBhvr>
                                      <p:tavLst>
                                        <p:tav tm="0">
                                          <p:val>
                                            <p:strVal val="#ppt_x"/>
                                          </p:val>
                                        </p:tav>
                                        <p:tav tm="100000">
                                          <p:val>
                                            <p:strVal val="#ppt_x"/>
                                          </p:val>
                                        </p:tav>
                                      </p:tavLst>
                                    </p:anim>
                                    <p:anim calcmode="lin" valueType="num">
                                      <p:cBhvr additive="base">
                                        <p:cTn id="124" dur="450" fill="hold"/>
                                        <p:tgtEl>
                                          <p:spTgt spid="33"/>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1150"/>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450"/>
                                        <p:tgtEl>
                                          <p:spTgt spid="34"/>
                                        </p:tgtEl>
                                      </p:cBhvr>
                                    </p:animEffect>
                                    <p:anim calcmode="lin" valueType="num">
                                      <p:cBhvr additive="base">
                                        <p:cTn id="128" dur="450" fill="hold"/>
                                        <p:tgtEl>
                                          <p:spTgt spid="34"/>
                                        </p:tgtEl>
                                        <p:attrNameLst>
                                          <p:attrName>ppt_x</p:attrName>
                                        </p:attrNameLst>
                                      </p:cBhvr>
                                      <p:tavLst>
                                        <p:tav tm="0">
                                          <p:val>
                                            <p:strVal val="#ppt_x"/>
                                          </p:val>
                                        </p:tav>
                                        <p:tav tm="100000">
                                          <p:val>
                                            <p:strVal val="#ppt_x"/>
                                          </p:val>
                                        </p:tav>
                                      </p:tavLst>
                                    </p:anim>
                                    <p:anim calcmode="lin" valueType="num">
                                      <p:cBhvr additive="base">
                                        <p:cTn id="129" dur="450" fill="hold"/>
                                        <p:tgtEl>
                                          <p:spTgt spid="34"/>
                                        </p:tgtEl>
                                        <p:attrNameLst>
                                          <p:attrName>ppt_y</p:attrName>
                                        </p:attrNameLst>
                                      </p:cBhvr>
                                      <p:tavLst>
                                        <p:tav tm="0">
                                          <p:val>
                                            <p:strVal val="#ppt_y+.06"/>
                                          </p:val>
                                        </p:tav>
                                        <p:tav tm="100000">
                                          <p:val>
                                            <p:strVal val="#ppt_y"/>
                                          </p:val>
                                        </p:tav>
                                      </p:tavLst>
                                    </p:anim>
                                  </p:childTnLst>
                                </p:cTn>
                              </p:par>
                              <p:par>
                                <p:cTn id="130" presetID="42" presetClass="entr" presetSubtype="0" fill="hold" grpId="0" nodeType="withEffect">
                                  <p:stCondLst>
                                    <p:cond delay="1150"/>
                                  </p:stCondLst>
                                  <p:childTnLst>
                                    <p:set>
                                      <p:cBhvr>
                                        <p:cTn id="131" dur="1" fill="hold">
                                          <p:stCondLst>
                                            <p:cond delay="0"/>
                                          </p:stCondLst>
                                        </p:cTn>
                                        <p:tgtEl>
                                          <p:spTgt spid="35"/>
                                        </p:tgtEl>
                                        <p:attrNameLst>
                                          <p:attrName>style.visibility</p:attrName>
                                        </p:attrNameLst>
                                      </p:cBhvr>
                                      <p:to>
                                        <p:strVal val="visible"/>
                                      </p:to>
                                    </p:set>
                                    <p:animEffect transition="in" filter="fade">
                                      <p:cBhvr>
                                        <p:cTn id="132" dur="450"/>
                                        <p:tgtEl>
                                          <p:spTgt spid="35"/>
                                        </p:tgtEl>
                                      </p:cBhvr>
                                    </p:animEffect>
                                    <p:anim calcmode="lin" valueType="num">
                                      <p:cBhvr additive="base">
                                        <p:cTn id="133" dur="450" fill="hold"/>
                                        <p:tgtEl>
                                          <p:spTgt spid="35"/>
                                        </p:tgtEl>
                                        <p:attrNameLst>
                                          <p:attrName>ppt_x</p:attrName>
                                        </p:attrNameLst>
                                      </p:cBhvr>
                                      <p:tavLst>
                                        <p:tav tm="0">
                                          <p:val>
                                            <p:strVal val="#ppt_x"/>
                                          </p:val>
                                        </p:tav>
                                        <p:tav tm="100000">
                                          <p:val>
                                            <p:strVal val="#ppt_x"/>
                                          </p:val>
                                        </p:tav>
                                      </p:tavLst>
                                    </p:anim>
                                    <p:anim calcmode="lin" valueType="num">
                                      <p:cBhvr additive="base">
                                        <p:cTn id="134" dur="450" fill="hold"/>
                                        <p:tgtEl>
                                          <p:spTgt spid="35"/>
                                        </p:tgtEl>
                                        <p:attrNameLst>
                                          <p:attrName>ppt_y</p:attrName>
                                        </p:attrNameLst>
                                      </p:cBhvr>
                                      <p:tavLst>
                                        <p:tav tm="0">
                                          <p:val>
                                            <p:strVal val="#ppt_y+.06"/>
                                          </p:val>
                                        </p:tav>
                                        <p:tav tm="100000">
                                          <p:val>
                                            <p:strVal val="#ppt_y"/>
                                          </p:val>
                                        </p:tav>
                                      </p:tavLst>
                                    </p:anim>
                                  </p:childTnLst>
                                </p:cTn>
                              </p:par>
                              <p:par>
                                <p:cTn id="135" presetID="42" presetClass="entr" presetSubtype="0" fill="hold" grpId="0" nodeType="withEffect">
                                  <p:stCondLst>
                                    <p:cond delay="1150"/>
                                  </p:stCondLst>
                                  <p:childTnLst>
                                    <p:set>
                                      <p:cBhvr>
                                        <p:cTn id="136" dur="1" fill="hold">
                                          <p:stCondLst>
                                            <p:cond delay="0"/>
                                          </p:stCondLst>
                                        </p:cTn>
                                        <p:tgtEl>
                                          <p:spTgt spid="36"/>
                                        </p:tgtEl>
                                        <p:attrNameLst>
                                          <p:attrName>style.visibility</p:attrName>
                                        </p:attrNameLst>
                                      </p:cBhvr>
                                      <p:to>
                                        <p:strVal val="visible"/>
                                      </p:to>
                                    </p:set>
                                    <p:animEffect transition="in" filter="fade">
                                      <p:cBhvr>
                                        <p:cTn id="137" dur="450"/>
                                        <p:tgtEl>
                                          <p:spTgt spid="36"/>
                                        </p:tgtEl>
                                      </p:cBhvr>
                                    </p:animEffect>
                                    <p:anim calcmode="lin" valueType="num">
                                      <p:cBhvr additive="base">
                                        <p:cTn id="138" dur="450" fill="hold"/>
                                        <p:tgtEl>
                                          <p:spTgt spid="36"/>
                                        </p:tgtEl>
                                        <p:attrNameLst>
                                          <p:attrName>ppt_x</p:attrName>
                                        </p:attrNameLst>
                                      </p:cBhvr>
                                      <p:tavLst>
                                        <p:tav tm="0">
                                          <p:val>
                                            <p:strVal val="#ppt_x"/>
                                          </p:val>
                                        </p:tav>
                                        <p:tav tm="100000">
                                          <p:val>
                                            <p:strVal val="#ppt_x"/>
                                          </p:val>
                                        </p:tav>
                                      </p:tavLst>
                                    </p:anim>
                                    <p:anim calcmode="lin" valueType="num">
                                      <p:cBhvr additive="base">
                                        <p:cTn id="139" dur="450" fill="hold"/>
                                        <p:tgtEl>
                                          <p:spTgt spid="36"/>
                                        </p:tgtEl>
                                        <p:attrNameLst>
                                          <p:attrName>ppt_y</p:attrName>
                                        </p:attrNameLst>
                                      </p:cBhvr>
                                      <p:tavLst>
                                        <p:tav tm="0">
                                          <p:val>
                                            <p:strVal val="#ppt_y+.06"/>
                                          </p:val>
                                        </p:tav>
                                        <p:tav tm="100000">
                                          <p:val>
                                            <p:strVal val="#ppt_y"/>
                                          </p:val>
                                        </p:tav>
                                      </p:tavLst>
                                    </p:anim>
                                  </p:childTnLst>
                                </p:cTn>
                              </p:par>
                              <p:par>
                                <p:cTn id="140" presetID="42" presetClass="entr" presetSubtype="0" fill="hold" grpId="0" nodeType="withEffect">
                                  <p:stCondLst>
                                    <p:cond delay="115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450"/>
                                        <p:tgtEl>
                                          <p:spTgt spid="37"/>
                                        </p:tgtEl>
                                      </p:cBhvr>
                                    </p:animEffect>
                                    <p:anim calcmode="lin" valueType="num">
                                      <p:cBhvr additive="base">
                                        <p:cTn id="143" dur="450" fill="hold"/>
                                        <p:tgtEl>
                                          <p:spTgt spid="37"/>
                                        </p:tgtEl>
                                        <p:attrNameLst>
                                          <p:attrName>ppt_x</p:attrName>
                                        </p:attrNameLst>
                                      </p:cBhvr>
                                      <p:tavLst>
                                        <p:tav tm="0">
                                          <p:val>
                                            <p:strVal val="#ppt_x"/>
                                          </p:val>
                                        </p:tav>
                                        <p:tav tm="100000">
                                          <p:val>
                                            <p:strVal val="#ppt_x"/>
                                          </p:val>
                                        </p:tav>
                                      </p:tavLst>
                                    </p:anim>
                                    <p:anim calcmode="lin" valueType="num">
                                      <p:cBhvr additive="base">
                                        <p:cTn id="144" dur="450" fill="hold"/>
                                        <p:tgtEl>
                                          <p:spTgt spid="37"/>
                                        </p:tgtEl>
                                        <p:attrNameLst>
                                          <p:attrName>ppt_y</p:attrName>
                                        </p:attrNameLst>
                                      </p:cBhvr>
                                      <p:tavLst>
                                        <p:tav tm="0">
                                          <p:val>
                                            <p:strVal val="#ppt_y+.06"/>
                                          </p:val>
                                        </p:tav>
                                        <p:tav tm="100000">
                                          <p:val>
                                            <p:strVal val="#ppt_y"/>
                                          </p:val>
                                        </p:tav>
                                      </p:tavLst>
                                    </p:anim>
                                  </p:childTnLst>
                                </p:cTn>
                              </p:par>
                              <p:par>
                                <p:cTn id="145" presetID="42" presetClass="entr" presetSubtype="0" fill="hold" grpId="0" nodeType="withEffect">
                                  <p:stCondLst>
                                    <p:cond delay="1150"/>
                                  </p:stCondLst>
                                  <p:childTnLst>
                                    <p:set>
                                      <p:cBhvr>
                                        <p:cTn id="146" dur="1" fill="hold">
                                          <p:stCondLst>
                                            <p:cond delay="0"/>
                                          </p:stCondLst>
                                        </p:cTn>
                                        <p:tgtEl>
                                          <p:spTgt spid="38"/>
                                        </p:tgtEl>
                                        <p:attrNameLst>
                                          <p:attrName>style.visibility</p:attrName>
                                        </p:attrNameLst>
                                      </p:cBhvr>
                                      <p:to>
                                        <p:strVal val="visible"/>
                                      </p:to>
                                    </p:set>
                                    <p:animEffect transition="in" filter="fade">
                                      <p:cBhvr>
                                        <p:cTn id="147" dur="450"/>
                                        <p:tgtEl>
                                          <p:spTgt spid="38"/>
                                        </p:tgtEl>
                                      </p:cBhvr>
                                    </p:animEffect>
                                    <p:anim calcmode="lin" valueType="num">
                                      <p:cBhvr additive="base">
                                        <p:cTn id="148" dur="450" fill="hold"/>
                                        <p:tgtEl>
                                          <p:spTgt spid="38"/>
                                        </p:tgtEl>
                                        <p:attrNameLst>
                                          <p:attrName>ppt_x</p:attrName>
                                        </p:attrNameLst>
                                      </p:cBhvr>
                                      <p:tavLst>
                                        <p:tav tm="0">
                                          <p:val>
                                            <p:strVal val="#ppt_x"/>
                                          </p:val>
                                        </p:tav>
                                        <p:tav tm="100000">
                                          <p:val>
                                            <p:strVal val="#ppt_x"/>
                                          </p:val>
                                        </p:tav>
                                      </p:tavLst>
                                    </p:anim>
                                    <p:anim calcmode="lin" valueType="num">
                                      <p:cBhvr additive="base">
                                        <p:cTn id="149" dur="450" fill="hold"/>
                                        <p:tgtEl>
                                          <p:spTgt spid="3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9" grpId="0" animBg="1"/>
      <p:bldP spid="20" grpId="0" animBg="1"/>
      <p:bldP spid="22" grpId="0" animBg="1"/>
      <p:bldP spid="23" grpId="0" animBg="1"/>
      <p:bldP spid="17" grpId="0" animBg="1"/>
      <p:bldP spid="18"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lef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pic>
        <p:nvPicPr>
          <p:cNvPr id="8" name="!!photo" descr="soft_exam_room.png"/>
          <p:cNvPicPr>
            <a:picLocks noChangeAspect="1"/>
          </p:cNvPicPr>
          <p:nvPr/>
        </p:nvPicPr>
        <p:blipFill>
          <a:blip r:embed="rId8"/>
          <a:srcRect t="37" b="37"/>
          <a:stretch>
            <a:fillRect/>
          </a:stretch>
        </p:blipFill>
        <p:spPr>
          <a:xfrm>
            <a:off x="6156655" y="0"/>
            <a:ext cx="6035040" cy="6858000"/>
          </a:xfrm>
          <a:prstGeom prst="rect">
            <a:avLst/>
          </a:prstGeom>
        </p:spPr>
      </p:pic>
      <p:pic>
        <p:nvPicPr>
          <p:cNvPr id="9" name="!!logo" descr="logo_stp.png"/>
          <p:cNvPicPr>
            <a:picLocks noChangeAspect="1"/>
          </p:cNvPicPr>
          <p:nvPr/>
        </p:nvPicPr>
        <p:blipFill>
          <a:blip r:embed="rId9"/>
          <a:stretch>
            <a:fillRect/>
          </a:stretch>
        </p:blipFill>
        <p:spPr>
          <a:xfrm>
            <a:off x="10024567" y="384048"/>
            <a:ext cx="420624" cy="420624"/>
          </a:xfrm>
          <a:prstGeom prst="rect">
            <a:avLst/>
          </a:prstGeom>
        </p:spPr>
      </p:pic>
      <p:sp>
        <p:nvSpPr>
          <p:cNvPr id="10"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1" name="TextBox 10"/>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11</a:t>
            </a:r>
          </a:p>
        </p:txBody>
      </p:sp>
      <p:sp>
        <p:nvSpPr>
          <p:cNvPr id="12" name="!!kicker"/>
          <p:cNvSpPr txBox="1"/>
          <p:nvPr/>
        </p:nvSpPr>
        <p:spPr>
          <a:xfrm>
            <a:off x="685800" y="502920"/>
            <a:ext cx="566928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KHẢO THÍ &amp; TUYỂN SINH</a:t>
            </a:r>
          </a:p>
        </p:txBody>
      </p:sp>
      <p:sp>
        <p:nvSpPr>
          <p:cNvPr id="13" name="!!title"/>
          <p:cNvSpPr txBox="1"/>
          <p:nvPr/>
        </p:nvSpPr>
        <p:spPr>
          <a:xfrm>
            <a:off x="685800" y="850392"/>
            <a:ext cx="5669280" cy="983488"/>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Trung tâm khảo thí </a:t>
            </a:r>
            <a:r>
              <a:rPr sz="3200" b="0" i="0">
                <a:solidFill>
                  <a:srgbClr val="8FD11E"/>
                </a:solidFill>
                <a:latin typeface="Be Vietnam Pro ExtraBold"/>
                <a:ea typeface="Be Vietnam Pro ExtraBold"/>
                <a:cs typeface="Be Vietnam Pro ExtraBold"/>
              </a:rPr>
              <a:t>chuẩn Cambridge</a:t>
            </a:r>
          </a:p>
        </p:txBody>
      </p:sp>
      <p:sp>
        <p:nvSpPr>
          <p:cNvPr id="14" name="!!lead"/>
          <p:cNvSpPr txBox="1"/>
          <p:nvPr/>
        </p:nvSpPr>
        <p:spPr>
          <a:xfrm>
            <a:off x="685800" y="1925320"/>
            <a:ext cx="5486400" cy="309880"/>
          </a:xfrm>
          <a:prstGeom prst="rect">
            <a:avLst/>
          </a:prstGeom>
          <a:noFill/>
        </p:spPr>
        <p:txBody>
          <a:bodyPr wrap="square" lIns="0" rIns="0" tIns="0" bIns="0" anchor="t">
            <a:noAutofit/>
          </a:bodyPr>
          <a:lstStyle/>
          <a:p>
            <a:pPr algn="l">
              <a:lnSpc>
                <a:spcPct val="118000"/>
              </a:lnSpc>
              <a:spcAft>
                <a:spcPts val="0"/>
              </a:spcAft>
            </a:pPr>
            <a:r>
              <a:rPr sz="1600" b="0" i="0">
                <a:solidFill>
                  <a:srgbClr val="C9D8CE"/>
                </a:solidFill>
                <a:latin typeface="Be Vietnam Pro Light"/>
                <a:ea typeface="Be Vietnam Pro Light"/>
                <a:cs typeface="Be Vietnam Pro Light"/>
              </a:rPr>
              <a:t>Đầu mối tuyển sinh chính quy từ Sơ cấp đến Tiến sĩ.</a:t>
            </a:r>
          </a:p>
        </p:txBody>
      </p:sp>
      <p:sp>
        <p:nvSpPr>
          <p:cNvPr id="15" name="TextBox 14"/>
          <p:cNvSpPr txBox="1"/>
          <p:nvPr/>
        </p:nvSpPr>
        <p:spPr>
          <a:xfrm>
            <a:off x="685800" y="3154680"/>
            <a:ext cx="2194560" cy="960120"/>
          </a:xfrm>
          <a:prstGeom prst="rect">
            <a:avLst/>
          </a:prstGeom>
          <a:noFill/>
        </p:spPr>
        <p:txBody>
          <a:bodyPr wrap="none" lIns="0" rIns="0" tIns="0" bIns="0" anchor="ctr">
            <a:noAutofit/>
          </a:bodyPr>
          <a:lstStyle/>
          <a:p>
            <a:pPr algn="l"/>
            <a:r>
              <a:rPr sz="5800" b="0" i="0">
                <a:solidFill>
                  <a:srgbClr val="8FD11E"/>
                </a:solidFill>
                <a:latin typeface="Be Vietnam Pro Black"/>
                <a:ea typeface="Be Vietnam Pro Black"/>
                <a:cs typeface="Be Vietnam Pro Black"/>
              </a:rPr>
              <a:t>250</a:t>
            </a:r>
            <a:r>
              <a:rPr sz="2800" b="0" i="0">
                <a:solidFill>
                  <a:srgbClr val="8FD11E"/>
                </a:solidFill>
                <a:latin typeface="Be Vietnam Pro Black"/>
                <a:ea typeface="Be Vietnam Pro Black"/>
                <a:cs typeface="Be Vietnam Pro Black"/>
              </a:rPr>
              <a:t/>
            </a:r>
          </a:p>
        </p:txBody>
      </p:sp>
      <p:cxnSp>
        <p:nvCxnSpPr>
          <p:cNvPr id="16" name="Connector 15"/>
          <p:cNvCxnSpPr/>
          <p:nvPr/>
        </p:nvCxnSpPr>
        <p:spPr>
          <a:xfrm>
            <a:off x="685800" y="4160520"/>
            <a:ext cx="5486400" cy="0"/>
          </a:xfrm>
          <a:prstGeom prst="line">
            <a:avLst/>
          </a:prstGeom>
          <a:ln w="12700">
            <a:solidFill>
              <a:srgbClr val="2E5A40"/>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3017520" y="3154680"/>
            <a:ext cx="3200400" cy="960120"/>
          </a:xfrm>
          <a:prstGeom prst="rect">
            <a:avLst/>
          </a:prstGeom>
          <a:noFill/>
        </p:spPr>
        <p:txBody>
          <a:bodyPr wrap="square" lIns="0" rIns="0" tIns="0" bIns="0" anchor="ctr">
            <a:noAutofit/>
          </a:bodyPr>
          <a:lstStyle/>
          <a:p>
            <a:pPr algn="l">
              <a:lnSpc>
                <a:spcPct val="115000"/>
              </a:lnSpc>
              <a:spcAft>
                <a:spcPts val="0"/>
              </a:spcAft>
            </a:pPr>
            <a:r>
              <a:rPr sz="1500" b="0" i="0">
                <a:solidFill>
                  <a:srgbClr val="C9D8CE"/>
                </a:solidFill>
                <a:latin typeface="Be Vietnam Pro Medium"/>
                <a:ea typeface="Be Vietnam Pro Medium"/>
                <a:cs typeface="Be Vietnam Pro Medium"/>
              </a:rPr>
              <a:t>thí sinh mỗi ca tại phòng thi máy tính</a:t>
            </a:r>
          </a:p>
        </p:txBody>
      </p:sp>
      <p:sp>
        <p:nvSpPr>
          <p:cNvPr id="18" name="TextBox 17"/>
          <p:cNvSpPr txBox="1"/>
          <p:nvPr/>
        </p:nvSpPr>
        <p:spPr>
          <a:xfrm>
            <a:off x="685800" y="4206240"/>
            <a:ext cx="2194560" cy="960120"/>
          </a:xfrm>
          <a:prstGeom prst="rect">
            <a:avLst/>
          </a:prstGeom>
          <a:noFill/>
        </p:spPr>
        <p:txBody>
          <a:bodyPr wrap="none" lIns="0" rIns="0" tIns="0" bIns="0" anchor="ctr">
            <a:noAutofit/>
          </a:bodyPr>
          <a:lstStyle/>
          <a:p>
            <a:pPr algn="l"/>
            <a:r>
              <a:rPr sz="5800" b="0" i="0">
                <a:solidFill>
                  <a:srgbClr val="8FD11E"/>
                </a:solidFill>
                <a:latin typeface="Be Vietnam Pro Black"/>
                <a:ea typeface="Be Vietnam Pro Black"/>
                <a:cs typeface="Be Vietnam Pro Black"/>
              </a:rPr>
              <a:t>10</a:t>
            </a:r>
            <a:r>
              <a:rPr sz="2800" b="0" i="0">
                <a:solidFill>
                  <a:srgbClr val="8FD11E"/>
                </a:solidFill>
                <a:latin typeface="Be Vietnam Pro Black"/>
                <a:ea typeface="Be Vietnam Pro Black"/>
                <a:cs typeface="Be Vietnam Pro Black"/>
              </a:rPr>
              <a:t/>
            </a:r>
          </a:p>
        </p:txBody>
      </p:sp>
      <p:cxnSp>
        <p:nvCxnSpPr>
          <p:cNvPr id="19" name="Connector 18"/>
          <p:cNvCxnSpPr/>
          <p:nvPr/>
        </p:nvCxnSpPr>
        <p:spPr>
          <a:xfrm>
            <a:off x="685800" y="5212080"/>
            <a:ext cx="5486400" cy="0"/>
          </a:xfrm>
          <a:prstGeom prst="line">
            <a:avLst/>
          </a:prstGeom>
          <a:ln w="12700">
            <a:solidFill>
              <a:srgbClr val="2E5A40"/>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3017520" y="4206240"/>
            <a:ext cx="3200400" cy="960120"/>
          </a:xfrm>
          <a:prstGeom prst="rect">
            <a:avLst/>
          </a:prstGeom>
          <a:noFill/>
        </p:spPr>
        <p:txBody>
          <a:bodyPr wrap="square" lIns="0" rIns="0" tIns="0" bIns="0" anchor="ctr">
            <a:noAutofit/>
          </a:bodyPr>
          <a:lstStyle/>
          <a:p>
            <a:pPr algn="l">
              <a:lnSpc>
                <a:spcPct val="115000"/>
              </a:lnSpc>
              <a:spcAft>
                <a:spcPts val="0"/>
              </a:spcAft>
            </a:pPr>
            <a:r>
              <a:rPr sz="1500" b="0" i="0">
                <a:solidFill>
                  <a:srgbClr val="C9D8CE"/>
                </a:solidFill>
                <a:latin typeface="Be Vietnam Pro Medium"/>
                <a:ea typeface="Be Vietnam Pro Medium"/>
                <a:cs typeface="Be Vietnam Pro Medium"/>
              </a:rPr>
              <a:t>chứng chỉ Cambridge: Starters → Proficiency</a:t>
            </a:r>
          </a:p>
        </p:txBody>
      </p:sp>
      <p:sp>
        <p:nvSpPr>
          <p:cNvPr id="21" name="TextBox 20"/>
          <p:cNvSpPr txBox="1"/>
          <p:nvPr/>
        </p:nvSpPr>
        <p:spPr>
          <a:xfrm>
            <a:off x="685800" y="5257800"/>
            <a:ext cx="2194560" cy="960120"/>
          </a:xfrm>
          <a:prstGeom prst="rect">
            <a:avLst/>
          </a:prstGeom>
          <a:noFill/>
        </p:spPr>
        <p:txBody>
          <a:bodyPr wrap="none" lIns="0" rIns="0" tIns="0" bIns="0" anchor="ctr">
            <a:noAutofit/>
          </a:bodyPr>
          <a:lstStyle/>
          <a:p>
            <a:pPr algn="l"/>
            <a:r>
              <a:rPr sz="5800" b="0" i="0">
                <a:solidFill>
                  <a:srgbClr val="8FD11E"/>
                </a:solidFill>
                <a:latin typeface="Be Vietnam Pro Black"/>
                <a:ea typeface="Be Vietnam Pro Black"/>
                <a:cs typeface="Be Vietnam Pro Black"/>
              </a:rPr>
              <a:t>6</a:t>
            </a:r>
            <a:r>
              <a:rPr sz="2800" b="0" i="0">
                <a:solidFill>
                  <a:srgbClr val="8FD11E"/>
                </a:solidFill>
                <a:latin typeface="Be Vietnam Pro Black"/>
                <a:ea typeface="Be Vietnam Pro Black"/>
                <a:cs typeface="Be Vietnam Pro Black"/>
              </a:rPr>
              <a:t/>
            </a:r>
          </a:p>
        </p:txBody>
      </p:sp>
      <p:cxnSp>
        <p:nvCxnSpPr>
          <p:cNvPr id="22" name="Connector 21"/>
          <p:cNvCxnSpPr/>
          <p:nvPr/>
        </p:nvCxnSpPr>
        <p:spPr>
          <a:xfrm>
            <a:off x="685800" y="6263640"/>
            <a:ext cx="5486400" cy="0"/>
          </a:xfrm>
          <a:prstGeom prst="line">
            <a:avLst/>
          </a:prstGeom>
          <a:ln w="12700">
            <a:solidFill>
              <a:srgbClr val="2E5A40"/>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3017520" y="5257800"/>
            <a:ext cx="3200400" cy="960120"/>
          </a:xfrm>
          <a:prstGeom prst="rect">
            <a:avLst/>
          </a:prstGeom>
          <a:noFill/>
        </p:spPr>
        <p:txBody>
          <a:bodyPr wrap="square" lIns="0" rIns="0" tIns="0" bIns="0" anchor="ctr">
            <a:noAutofit/>
          </a:bodyPr>
          <a:lstStyle/>
          <a:p>
            <a:pPr algn="l">
              <a:lnSpc>
                <a:spcPct val="115000"/>
              </a:lnSpc>
              <a:spcAft>
                <a:spcPts val="0"/>
              </a:spcAft>
            </a:pPr>
            <a:r>
              <a:rPr sz="1500" b="0" i="0">
                <a:solidFill>
                  <a:srgbClr val="C9D8CE"/>
                </a:solidFill>
                <a:latin typeface="Be Vietnam Pro Medium"/>
                <a:ea typeface="Be Vietnam Pro Medium"/>
                <a:cs typeface="Be Vietnam Pro Medium"/>
              </a:rPr>
              <a:t>bậc tuyển sinh liên kết, Sơ cấp → Tiến sĩ</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8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32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44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42" presetClass="entr" presetSubtype="0" fill="hold" grpId="0" nodeType="withEffect">
                                  <p:stCondLst>
                                    <p:cond delay="60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60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60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anim calcmode="lin" valueType="num">
                                      <p:cBhvr additive="base">
                                        <p:cTn id="39" dur="500" fill="hold"/>
                                        <p:tgtEl>
                                          <p:spTgt spid="17"/>
                                        </p:tgtEl>
                                        <p:attrNameLst>
                                          <p:attrName>ppt_x</p:attrName>
                                        </p:attrNameLst>
                                      </p:cBhvr>
                                      <p:tavLst>
                                        <p:tav tm="0">
                                          <p:val>
                                            <p:strVal val="#ppt_x"/>
                                          </p:val>
                                        </p:tav>
                                        <p:tav tm="100000">
                                          <p:val>
                                            <p:strVal val="#ppt_x"/>
                                          </p:val>
                                        </p:tav>
                                      </p:tavLst>
                                    </p:anim>
                                    <p:anim calcmode="lin" valueType="num">
                                      <p:cBhvr additive="base">
                                        <p:cTn id="40" dur="500" fill="hold"/>
                                        <p:tgtEl>
                                          <p:spTgt spid="17"/>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80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anim calcmode="lin" valueType="num">
                                      <p:cBhvr additive="base">
                                        <p:cTn id="44" dur="500" fill="hold"/>
                                        <p:tgtEl>
                                          <p:spTgt spid="18"/>
                                        </p:tgtEl>
                                        <p:attrNameLst>
                                          <p:attrName>ppt_x</p:attrName>
                                        </p:attrNameLst>
                                      </p:cBhvr>
                                      <p:tavLst>
                                        <p:tav tm="0">
                                          <p:val>
                                            <p:strVal val="#ppt_x"/>
                                          </p:val>
                                        </p:tav>
                                        <p:tav tm="100000">
                                          <p:val>
                                            <p:strVal val="#ppt_x"/>
                                          </p:val>
                                        </p:tav>
                                      </p:tavLst>
                                    </p:anim>
                                    <p:anim calcmode="lin" valueType="num">
                                      <p:cBhvr additive="base">
                                        <p:cTn id="45" dur="500" fill="hold"/>
                                        <p:tgtEl>
                                          <p:spTgt spid="18"/>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80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anim calcmode="lin" valueType="num">
                                      <p:cBhvr additive="base">
                                        <p:cTn id="49" dur="500" fill="hold"/>
                                        <p:tgtEl>
                                          <p:spTgt spid="19"/>
                                        </p:tgtEl>
                                        <p:attrNameLst>
                                          <p:attrName>ppt_x</p:attrName>
                                        </p:attrNameLst>
                                      </p:cBhvr>
                                      <p:tavLst>
                                        <p:tav tm="0">
                                          <p:val>
                                            <p:strVal val="#ppt_x"/>
                                          </p:val>
                                        </p:tav>
                                        <p:tav tm="100000">
                                          <p:val>
                                            <p:strVal val="#ppt_x"/>
                                          </p:val>
                                        </p:tav>
                                      </p:tavLst>
                                    </p:anim>
                                    <p:anim calcmode="lin" valueType="num">
                                      <p:cBhvr additive="base">
                                        <p:cTn id="50" dur="500" fill="hold"/>
                                        <p:tgtEl>
                                          <p:spTgt spid="19"/>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80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anim calcmode="lin" valueType="num">
                                      <p:cBhvr additive="base">
                                        <p:cTn id="54" dur="500" fill="hold"/>
                                        <p:tgtEl>
                                          <p:spTgt spid="20"/>
                                        </p:tgtEl>
                                        <p:attrNameLst>
                                          <p:attrName>ppt_x</p:attrName>
                                        </p:attrNameLst>
                                      </p:cBhvr>
                                      <p:tavLst>
                                        <p:tav tm="0">
                                          <p:val>
                                            <p:strVal val="#ppt_x"/>
                                          </p:val>
                                        </p:tav>
                                        <p:tav tm="100000">
                                          <p:val>
                                            <p:strVal val="#ppt_x"/>
                                          </p:val>
                                        </p:tav>
                                      </p:tavLst>
                                    </p:anim>
                                    <p:anim calcmode="lin" valueType="num">
                                      <p:cBhvr additive="base">
                                        <p:cTn id="55" dur="500" fill="hold"/>
                                        <p:tgtEl>
                                          <p:spTgt spid="20"/>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10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anim calcmode="lin" valueType="num">
                                      <p:cBhvr additive="base">
                                        <p:cTn id="59" dur="500" fill="hold"/>
                                        <p:tgtEl>
                                          <p:spTgt spid="21"/>
                                        </p:tgtEl>
                                        <p:attrNameLst>
                                          <p:attrName>ppt_x</p:attrName>
                                        </p:attrNameLst>
                                      </p:cBhvr>
                                      <p:tavLst>
                                        <p:tav tm="0">
                                          <p:val>
                                            <p:strVal val="#ppt_x"/>
                                          </p:val>
                                        </p:tav>
                                        <p:tav tm="100000">
                                          <p:val>
                                            <p:strVal val="#ppt_x"/>
                                          </p:val>
                                        </p:tav>
                                      </p:tavLst>
                                    </p:anim>
                                    <p:anim calcmode="lin" valueType="num">
                                      <p:cBhvr additive="base">
                                        <p:cTn id="60" dur="500" fill="hold"/>
                                        <p:tgtEl>
                                          <p:spTgt spid="21"/>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100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anim calcmode="lin" valueType="num">
                                      <p:cBhvr additive="base">
                                        <p:cTn id="64" dur="500" fill="hold"/>
                                        <p:tgtEl>
                                          <p:spTgt spid="22"/>
                                        </p:tgtEl>
                                        <p:attrNameLst>
                                          <p:attrName>ppt_x</p:attrName>
                                        </p:attrNameLst>
                                      </p:cBhvr>
                                      <p:tavLst>
                                        <p:tav tm="0">
                                          <p:val>
                                            <p:strVal val="#ppt_x"/>
                                          </p:val>
                                        </p:tav>
                                        <p:tav tm="100000">
                                          <p:val>
                                            <p:strVal val="#ppt_x"/>
                                          </p:val>
                                        </p:tav>
                                      </p:tavLst>
                                    </p:anim>
                                    <p:anim calcmode="lin" valueType="num">
                                      <p:cBhvr additive="base">
                                        <p:cTn id="65" dur="500" fill="hold"/>
                                        <p:tgtEl>
                                          <p:spTgt spid="22"/>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100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anim calcmode="lin" valueType="num">
                                      <p:cBhvr additive="base">
                                        <p:cTn id="69" dur="500" fill="hold"/>
                                        <p:tgtEl>
                                          <p:spTgt spid="23"/>
                                        </p:tgtEl>
                                        <p:attrNameLst>
                                          <p:attrName>ppt_x</p:attrName>
                                        </p:attrNameLst>
                                      </p:cBhvr>
                                      <p:tavLst>
                                        <p:tav tm="0">
                                          <p:val>
                                            <p:strVal val="#ppt_x"/>
                                          </p:val>
                                        </p:tav>
                                        <p:tav tm="100000">
                                          <p:val>
                                            <p:strVal val="#ppt_x"/>
                                          </p:val>
                                        </p:tav>
                                      </p:tavLst>
                                    </p:anim>
                                    <p:anim calcmode="lin" valueType="num">
                                      <p:cBhvr additive="base">
                                        <p:cTn id="70" dur="500" fill="hold"/>
                                        <p:tgtEl>
                                          <p:spTgt spid="2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7" grpId="0" animBg="1"/>
      <p:bldP spid="18" grpId="0" animBg="1"/>
      <p:bldP spid="20" grpId="0" animBg="1"/>
      <p:bldP spid="21" grpId="0" animBg="1"/>
      <p:bldP spid="2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righ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iot" descr="iot.png"/>
          <p:cNvPicPr>
            <a:picLocks noChangeAspect="1"/>
          </p:cNvPicPr>
          <p:nvPr/>
        </p:nvPicPr>
        <p:blipFill>
          <a:blip r:embed="rId6"/>
          <a:srcRect/>
          <a:stretch>
            <a:fillRect/>
          </a:stretch>
        </p:blipFill>
        <p:spPr>
          <a:xfrm>
            <a:off x="7345467" y="7926320"/>
            <a:ext cx="2377440" cy="2207623"/>
          </a:xfrm>
          <a:prstGeom prst="rect">
            <a:avLst/>
          </a:prstGeom>
        </p:spPr>
      </p:pic>
      <p:pic>
        <p:nvPicPr>
          <p:cNvPr id="7" name="!!glow_trace" descr="glow_7FC211_30_1.7.png"/>
          <p:cNvPicPr>
            <a:picLocks noChangeAspect="1"/>
          </p:cNvPicPr>
          <p:nvPr/>
        </p:nvPicPr>
        <p:blipFill>
          <a:blip r:embed="rId7"/>
          <a:stretch>
            <a:fillRect/>
          </a:stretch>
        </p:blipFill>
        <p:spPr>
          <a:xfrm>
            <a:off x="5159502" y="1253185"/>
            <a:ext cx="6048756" cy="6048756"/>
          </a:xfrm>
          <a:prstGeom prst="rect">
            <a:avLst/>
          </a:prstGeom>
        </p:spPr>
      </p:pic>
      <p:pic>
        <p:nvPicPr>
          <p:cNvPr id="8" name="!!trace" descr="trace.png"/>
          <p:cNvPicPr>
            <a:picLocks noChangeAspect="1"/>
          </p:cNvPicPr>
          <p:nvPr/>
        </p:nvPicPr>
        <p:blipFill>
          <a:blip r:embed="rId8"/>
          <a:srcRect/>
          <a:stretch>
            <a:fillRect/>
          </a:stretch>
        </p:blipFill>
        <p:spPr>
          <a:xfrm>
            <a:off x="5303520" y="759821"/>
            <a:ext cx="5760720" cy="5349240"/>
          </a:xfrm>
          <a:prstGeom prst="rect">
            <a:avLst/>
          </a:prstGeom>
        </p:spPr>
      </p:pic>
      <p:pic>
        <p:nvPicPr>
          <p:cNvPr id="9" name="!!logo" descr="logo_stp.png"/>
          <p:cNvPicPr>
            <a:picLocks noChangeAspect="1"/>
          </p:cNvPicPr>
          <p:nvPr/>
        </p:nvPicPr>
        <p:blipFill>
          <a:blip r:embed="rId9"/>
          <a:stretch>
            <a:fillRect/>
          </a:stretch>
        </p:blipFill>
        <p:spPr>
          <a:xfrm>
            <a:off x="10024567" y="384048"/>
            <a:ext cx="420624" cy="420624"/>
          </a:xfrm>
          <a:prstGeom prst="rect">
            <a:avLst/>
          </a:prstGeom>
        </p:spPr>
      </p:pic>
      <p:sp>
        <p:nvSpPr>
          <p:cNvPr id="10"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1" name="TextBox 10"/>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12</a:t>
            </a:r>
          </a:p>
        </p:txBody>
      </p:sp>
      <p:sp>
        <p:nvSpPr>
          <p:cNvPr id="12" name="!!bignum"/>
          <p:cNvSpPr txBox="1"/>
          <p:nvPr/>
        </p:nvSpPr>
        <p:spPr>
          <a:xfrm>
            <a:off x="640080" y="502920"/>
            <a:ext cx="4114800" cy="1737360"/>
          </a:xfrm>
          <a:prstGeom prst="rect">
            <a:avLst/>
          </a:prstGeom>
          <a:noFill/>
        </p:spPr>
        <p:txBody>
          <a:bodyPr wrap="none" lIns="0" rIns="0" tIns="0" bIns="0" anchor="t">
            <a:noAutofit/>
          </a:bodyPr>
          <a:lstStyle/>
          <a:p>
            <a:pPr algn="l">
              <a:lnSpc>
                <a:spcPct val="90000"/>
              </a:lnSpc>
              <a:spcAft>
                <a:spcPts val="0"/>
              </a:spcAft>
            </a:pPr>
            <a:r>
              <a:rPr sz="12000" b="0" i="0">
                <a:solidFill>
                  <a:srgbClr val="8FD11E"/>
                </a:solidFill>
                <a:latin typeface="Be Vietnam Pro Thin"/>
                <a:ea typeface="Be Vietnam Pro Thin"/>
                <a:cs typeface="Be Vietnam Pro Thin"/>
              </a:rPr>
              <a:t>03</a:t>
            </a:r>
          </a:p>
        </p:txBody>
      </p:sp>
      <p:sp>
        <p:nvSpPr>
          <p:cNvPr id="13" name="!!kicker"/>
          <p:cNvSpPr txBox="1"/>
          <p:nvPr/>
        </p:nvSpPr>
        <p:spPr>
          <a:xfrm>
            <a:off x="685800" y="2331720"/>
            <a:ext cx="50292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TRỤ CỘT 03</a:t>
            </a:r>
          </a:p>
        </p:txBody>
      </p:sp>
      <p:sp>
        <p:nvSpPr>
          <p:cNvPr id="14" name="!!title"/>
          <p:cNvSpPr txBox="1"/>
          <p:nvPr/>
        </p:nvSpPr>
        <p:spPr>
          <a:xfrm>
            <a:off x="685800" y="2697480"/>
            <a:ext cx="5120640" cy="1051560"/>
          </a:xfrm>
          <a:prstGeom prst="rect">
            <a:avLst/>
          </a:prstGeom>
          <a:noFill/>
        </p:spPr>
        <p:txBody>
          <a:bodyPr wrap="square" lIns="0" rIns="0" tIns="0" bIns="0" anchor="t">
            <a:noAutofit/>
          </a:bodyPr>
          <a:lstStyle/>
          <a:p>
            <a:pPr algn="l">
              <a:lnSpc>
                <a:spcPct val="98000"/>
              </a:lnSpc>
              <a:spcAft>
                <a:spcPts val="0"/>
              </a:spcAft>
            </a:pPr>
            <a:r>
              <a:rPr sz="3600" b="0" i="0">
                <a:solidFill>
                  <a:srgbClr val="FFFFFF"/>
                </a:solidFill>
                <a:latin typeface="Be Vietnam Pro ExtraBold"/>
                <a:ea typeface="Be Vietnam Pro ExtraBold"/>
                <a:cs typeface="Be Vietnam Pro ExtraBold"/>
              </a:rPr>
              <a:t>Truy xuất nguồn gốc</a:t>
            </a:r>
          </a:p>
          <a:p>
            <a:pPr algn="l">
              <a:lnSpc>
                <a:spcPct val="98000"/>
              </a:lnSpc>
              <a:spcAft>
                <a:spcPts val="0"/>
              </a:spcAft>
            </a:pPr>
            <a:r>
              <a:rPr sz="3600" b="0" i="0">
                <a:solidFill>
                  <a:srgbClr val="FFFFFF"/>
                </a:solidFill>
                <a:latin typeface="Be Vietnam Pro ExtraBold"/>
                <a:ea typeface="Be Vietnam Pro ExtraBold"/>
                <a:cs typeface="Be Vietnam Pro ExtraBold"/>
              </a:rPr>
              <a:t>chuẩn GS1</a:t>
            </a:r>
          </a:p>
        </p:txBody>
      </p:sp>
      <p:sp>
        <p:nvSpPr>
          <p:cNvPr id="15" name="!!lead"/>
          <p:cNvSpPr txBox="1"/>
          <p:nvPr/>
        </p:nvSpPr>
        <p:spPr>
          <a:xfrm>
            <a:off x="685800" y="3886200"/>
            <a:ext cx="4572000" cy="1188720"/>
          </a:xfrm>
          <a:prstGeom prst="rect">
            <a:avLst/>
          </a:prstGeom>
          <a:noFill/>
        </p:spPr>
        <p:txBody>
          <a:bodyPr wrap="square" lIns="0" rIns="0" tIns="0" bIns="0" anchor="t">
            <a:noAutofit/>
          </a:bodyPr>
          <a:lstStyle/>
          <a:p>
            <a:pPr algn="l">
              <a:lnSpc>
                <a:spcPct val="120000"/>
              </a:lnSpc>
              <a:spcAft>
                <a:spcPts val="0"/>
              </a:spcAft>
            </a:pPr>
            <a:r>
              <a:rPr sz="1600" b="0" i="0">
                <a:solidFill>
                  <a:srgbClr val="C9D8CE"/>
                </a:solidFill>
                <a:latin typeface="Be Vietnam Pro Light"/>
                <a:ea typeface="Be Vietnam Pro Light"/>
                <a:cs typeface="Be Vietnam Pro Light"/>
              </a:rPr>
              <a:t>Minh bạch chuỗi giá trị — </a:t>
            </a:r>
            <a:r>
              <a:rPr sz="1600" b="0" i="0">
                <a:solidFill>
                  <a:srgbClr val="8FD11E"/>
                </a:solidFill>
                <a:latin typeface="Be Vietnam Pro Medium"/>
                <a:ea typeface="Be Vietnam Pro Medium"/>
                <a:cs typeface="Be Vietnam Pro Medium"/>
              </a:rPr>
              <a:t>bảo vệ thương hiệu</a:t>
            </a:r>
            <a:r>
              <a:rPr sz="1600" b="0" i="0">
                <a:solidFill>
                  <a:srgbClr val="C9D8CE"/>
                </a:solidFill>
                <a:latin typeface="Be Vietnam Pro Light"/>
                <a:ea typeface="Be Vietnam Pro Light"/>
                <a:cs typeface="Be Vietnam Pro Light"/>
              </a:rPr>
              <a:t> sản phẩm địa phương.</a:t>
            </a:r>
          </a:p>
        </p:txBody>
      </p:sp>
      <p:sp>
        <p:nvSpPr>
          <p:cNvPr id="16" name="Rounded Rectangle 15"/>
          <p:cNvSpPr/>
          <p:nvPr/>
        </p:nvSpPr>
        <p:spPr>
          <a:xfrm>
            <a:off x="685800" y="5760720"/>
            <a:ext cx="1434693"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7" name="TextBox 16"/>
          <p:cNvSpPr txBox="1"/>
          <p:nvPr/>
        </p:nvSpPr>
        <p:spPr>
          <a:xfrm>
            <a:off x="685800" y="5760720"/>
            <a:ext cx="1434693"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HLHT TRACE</a:t>
            </a:r>
          </a:p>
        </p:txBody>
      </p:sp>
      <p:sp>
        <p:nvSpPr>
          <p:cNvPr id="18" name="Rounded Rectangle 17"/>
          <p:cNvSpPr/>
          <p:nvPr/>
        </p:nvSpPr>
        <p:spPr>
          <a:xfrm>
            <a:off x="2257653" y="5760720"/>
            <a:ext cx="1329075"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TextBox 18"/>
          <p:cNvSpPr txBox="1"/>
          <p:nvPr/>
        </p:nvSpPr>
        <p:spPr>
          <a:xfrm>
            <a:off x="2257653" y="5760720"/>
            <a:ext cx="1329075"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Tem điện tử</a:t>
            </a:r>
          </a:p>
        </p:txBody>
      </p:sp>
      <p:sp>
        <p:nvSpPr>
          <p:cNvPr id="20" name="Rounded Rectangle 19"/>
          <p:cNvSpPr/>
          <p:nvPr/>
        </p:nvSpPr>
        <p:spPr>
          <a:xfrm>
            <a:off x="3723888" y="5760720"/>
            <a:ext cx="1417310"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TextBox 20"/>
          <p:cNvSpPr txBox="1"/>
          <p:nvPr/>
        </p:nvSpPr>
        <p:spPr>
          <a:xfrm>
            <a:off x="3723888" y="5760720"/>
            <a:ext cx="1417310"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Chống giả AI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800"/>
                                        <p:tgtEl>
                                          <p:spTgt spid="12"/>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42" presetClass="entr" presetSubtype="0" fill="hold" grpId="0" nodeType="withEffect">
                                  <p:stCondLst>
                                    <p:cond delay="6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800"/>
                                        <p:tgtEl>
                                          <p:spTgt spid="14"/>
                                        </p:tgtEl>
                                      </p:cBhvr>
                                    </p:animEffect>
                                    <p:anim calcmode="lin" valueType="num">
                                      <p:cBhvr additive="base">
                                        <p:cTn id="23" dur="800" fill="hold"/>
                                        <p:tgtEl>
                                          <p:spTgt spid="14"/>
                                        </p:tgtEl>
                                        <p:attrNameLst>
                                          <p:attrName>ppt_x</p:attrName>
                                        </p:attrNameLst>
                                      </p:cBhvr>
                                      <p:tavLst>
                                        <p:tav tm="0">
                                          <p:val>
                                            <p:strVal val="#ppt_x"/>
                                          </p:val>
                                        </p:tav>
                                        <p:tav tm="100000">
                                          <p:val>
                                            <p:strVal val="#ppt_x"/>
                                          </p:val>
                                        </p:tav>
                                      </p:tavLst>
                                    </p:anim>
                                    <p:anim calcmode="lin" valueType="num">
                                      <p:cBhvr additive="base">
                                        <p:cTn id="24" dur="800" fill="hold"/>
                                        <p:tgtEl>
                                          <p:spTgt spid="14"/>
                                        </p:tgtEl>
                                        <p:attrNameLst>
                                          <p:attrName>ppt_y</p:attrName>
                                        </p:attrNameLst>
                                      </p:cBhvr>
                                      <p:tavLst>
                                        <p:tav tm="0">
                                          <p:val>
                                            <p:strVal val="#ppt_y+.06"/>
                                          </p:val>
                                        </p:tav>
                                        <p:tav tm="100000">
                                          <p:val>
                                            <p:strVal val="#ppt_y"/>
                                          </p:val>
                                        </p:tav>
                                      </p:tavLst>
                                    </p:anim>
                                  </p:childTnLst>
                                </p:cTn>
                              </p:par>
                              <p:par>
                                <p:cTn id="25" presetID="10" presetClass="entr" presetSubtype="0" fill="hold" grpId="0" nodeType="withEffect">
                                  <p:stCondLst>
                                    <p:cond delay="100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600"/>
                                        <p:tgtEl>
                                          <p:spTgt spid="15"/>
                                        </p:tgtEl>
                                      </p:cBhvr>
                                    </p:animEffect>
                                  </p:childTnLst>
                                </p:cTn>
                              </p:par>
                              <p:par>
                                <p:cTn id="28" presetID="42" presetClass="entr" presetSubtype="0" fill="hold" grpId="0" nodeType="withEffect">
                                  <p:stCondLst>
                                    <p:cond delay="13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anim calcmode="lin" valueType="num">
                                      <p:cBhvr additive="base">
                                        <p:cTn id="31" dur="400" fill="hold"/>
                                        <p:tgtEl>
                                          <p:spTgt spid="16"/>
                                        </p:tgtEl>
                                        <p:attrNameLst>
                                          <p:attrName>ppt_x</p:attrName>
                                        </p:attrNameLst>
                                      </p:cBhvr>
                                      <p:tavLst>
                                        <p:tav tm="0">
                                          <p:val>
                                            <p:strVal val="#ppt_x"/>
                                          </p:val>
                                        </p:tav>
                                        <p:tav tm="100000">
                                          <p:val>
                                            <p:strVal val="#ppt_x"/>
                                          </p:val>
                                        </p:tav>
                                      </p:tavLst>
                                    </p:anim>
                                    <p:anim calcmode="lin" valueType="num">
                                      <p:cBhvr additive="base">
                                        <p:cTn id="32" dur="400" fill="hold"/>
                                        <p:tgtEl>
                                          <p:spTgt spid="16"/>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13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anim calcmode="lin" valueType="num">
                                      <p:cBhvr additive="base">
                                        <p:cTn id="36" dur="400" fill="hold"/>
                                        <p:tgtEl>
                                          <p:spTgt spid="17"/>
                                        </p:tgtEl>
                                        <p:attrNameLst>
                                          <p:attrName>ppt_x</p:attrName>
                                        </p:attrNameLst>
                                      </p:cBhvr>
                                      <p:tavLst>
                                        <p:tav tm="0">
                                          <p:val>
                                            <p:strVal val="#ppt_x"/>
                                          </p:val>
                                        </p:tav>
                                        <p:tav tm="100000">
                                          <p:val>
                                            <p:strVal val="#ppt_x"/>
                                          </p:val>
                                        </p:tav>
                                      </p:tavLst>
                                    </p:anim>
                                    <p:anim calcmode="lin" valueType="num">
                                      <p:cBhvr additive="base">
                                        <p:cTn id="37" dur="400" fill="hold"/>
                                        <p:tgtEl>
                                          <p:spTgt spid="17"/>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42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anim calcmode="lin" valueType="num">
                                      <p:cBhvr additive="base">
                                        <p:cTn id="41" dur="400" fill="hold"/>
                                        <p:tgtEl>
                                          <p:spTgt spid="18"/>
                                        </p:tgtEl>
                                        <p:attrNameLst>
                                          <p:attrName>ppt_x</p:attrName>
                                        </p:attrNameLst>
                                      </p:cBhvr>
                                      <p:tavLst>
                                        <p:tav tm="0">
                                          <p:val>
                                            <p:strVal val="#ppt_x"/>
                                          </p:val>
                                        </p:tav>
                                        <p:tav tm="100000">
                                          <p:val>
                                            <p:strVal val="#ppt_x"/>
                                          </p:val>
                                        </p:tav>
                                      </p:tavLst>
                                    </p:anim>
                                    <p:anim calcmode="lin" valueType="num">
                                      <p:cBhvr additive="base">
                                        <p:cTn id="42" dur="400" fill="hold"/>
                                        <p:tgtEl>
                                          <p:spTgt spid="18"/>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42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anim calcmode="lin" valueType="num">
                                      <p:cBhvr additive="base">
                                        <p:cTn id="46" dur="400" fill="hold"/>
                                        <p:tgtEl>
                                          <p:spTgt spid="19"/>
                                        </p:tgtEl>
                                        <p:attrNameLst>
                                          <p:attrName>ppt_x</p:attrName>
                                        </p:attrNameLst>
                                      </p:cBhvr>
                                      <p:tavLst>
                                        <p:tav tm="0">
                                          <p:val>
                                            <p:strVal val="#ppt_x"/>
                                          </p:val>
                                        </p:tav>
                                        <p:tav tm="100000">
                                          <p:val>
                                            <p:strVal val="#ppt_x"/>
                                          </p:val>
                                        </p:tav>
                                      </p:tavLst>
                                    </p:anim>
                                    <p:anim calcmode="lin" valueType="num">
                                      <p:cBhvr additive="base">
                                        <p:cTn id="47" dur="400" fill="hold"/>
                                        <p:tgtEl>
                                          <p:spTgt spid="19"/>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154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anim calcmode="lin" valueType="num">
                                      <p:cBhvr additive="base">
                                        <p:cTn id="51" dur="400" fill="hold"/>
                                        <p:tgtEl>
                                          <p:spTgt spid="20"/>
                                        </p:tgtEl>
                                        <p:attrNameLst>
                                          <p:attrName>ppt_x</p:attrName>
                                        </p:attrNameLst>
                                      </p:cBhvr>
                                      <p:tavLst>
                                        <p:tav tm="0">
                                          <p:val>
                                            <p:strVal val="#ppt_x"/>
                                          </p:val>
                                        </p:tav>
                                        <p:tav tm="100000">
                                          <p:val>
                                            <p:strVal val="#ppt_x"/>
                                          </p:val>
                                        </p:tav>
                                      </p:tavLst>
                                    </p:anim>
                                    <p:anim calcmode="lin" valueType="num">
                                      <p:cBhvr additive="base">
                                        <p:cTn id="52" dur="400" fill="hold"/>
                                        <p:tgtEl>
                                          <p:spTgt spid="20"/>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154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00"/>
                                        <p:tgtEl>
                                          <p:spTgt spid="21"/>
                                        </p:tgtEl>
                                      </p:cBhvr>
                                    </p:animEffect>
                                    <p:anim calcmode="lin" valueType="num">
                                      <p:cBhvr additive="base">
                                        <p:cTn id="56" dur="400" fill="hold"/>
                                        <p:tgtEl>
                                          <p:spTgt spid="21"/>
                                        </p:tgtEl>
                                        <p:attrNameLst>
                                          <p:attrName>ppt_x</p:attrName>
                                        </p:attrNameLst>
                                      </p:cBhvr>
                                      <p:tavLst>
                                        <p:tav tm="0">
                                          <p:val>
                                            <p:strVal val="#ppt_x"/>
                                          </p:val>
                                        </p:tav>
                                        <p:tav tm="100000">
                                          <p:val>
                                            <p:strVal val="#ppt_x"/>
                                          </p:val>
                                        </p:tav>
                                      </p:tavLst>
                                    </p:anim>
                                    <p:anim calcmode="lin" valueType="num">
                                      <p:cBhvr additive="base">
                                        <p:cTn id="57" dur="400" fill="hold"/>
                                        <p:tgtEl>
                                          <p:spTgt spid="2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center.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iot" descr="iot.png"/>
          <p:cNvPicPr>
            <a:picLocks noChangeAspect="1"/>
          </p:cNvPicPr>
          <p:nvPr/>
        </p:nvPicPr>
        <p:blipFill>
          <a:blip r:embed="rId6"/>
          <a:srcRect/>
          <a:stretch>
            <a:fillRect/>
          </a:stretch>
        </p:blipFill>
        <p:spPr>
          <a:xfrm>
            <a:off x="7345467" y="7926320"/>
            <a:ext cx="2377440" cy="2207623"/>
          </a:xfrm>
          <a:prstGeom prst="rect">
            <a:avLst/>
          </a:prstGeom>
        </p:spPr>
      </p:pic>
      <p:pic>
        <p:nvPicPr>
          <p:cNvPr id="7" name="!!glow_trace" descr="glow_7FC211_30_1.7.png"/>
          <p:cNvPicPr>
            <a:picLocks noChangeAspect="1"/>
          </p:cNvPicPr>
          <p:nvPr/>
        </p:nvPicPr>
        <p:blipFill>
          <a:blip r:embed="rId7"/>
          <a:stretch>
            <a:fillRect/>
          </a:stretch>
        </p:blipFill>
        <p:spPr>
          <a:xfrm>
            <a:off x="9041130" y="445770"/>
            <a:ext cx="2400300" cy="2400300"/>
          </a:xfrm>
          <a:prstGeom prst="rect">
            <a:avLst/>
          </a:prstGeom>
        </p:spPr>
      </p:pic>
      <p:pic>
        <p:nvPicPr>
          <p:cNvPr id="8" name="!!trace" descr="trace.png"/>
          <p:cNvPicPr>
            <a:picLocks noChangeAspect="1"/>
          </p:cNvPicPr>
          <p:nvPr/>
        </p:nvPicPr>
        <p:blipFill>
          <a:blip r:embed="rId8"/>
          <a:srcRect/>
          <a:stretch>
            <a:fillRect/>
          </a:stretch>
        </p:blipFill>
        <p:spPr>
          <a:xfrm>
            <a:off x="9098280" y="249990"/>
            <a:ext cx="2286000" cy="2122714"/>
          </a:xfrm>
          <a:prstGeom prst="rect">
            <a:avLst/>
          </a:prstGeom>
        </p:spPr>
      </p:pic>
      <p:sp>
        <p:nvSpPr>
          <p:cNvPr id="9" name="TextBox 8"/>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13</a:t>
            </a:r>
          </a:p>
        </p:txBody>
      </p:sp>
      <p:sp>
        <p:nvSpPr>
          <p:cNvPr id="10" name="!!kicker"/>
          <p:cNvSpPr txBox="1"/>
          <p:nvPr/>
        </p:nvSpPr>
        <p:spPr>
          <a:xfrm>
            <a:off x="685800" y="502920"/>
            <a:ext cx="768096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TRUY XUẤT NGUỒN GỐC</a:t>
            </a:r>
          </a:p>
        </p:txBody>
      </p:sp>
      <p:sp>
        <p:nvSpPr>
          <p:cNvPr id="11" name="!!title"/>
          <p:cNvSpPr txBox="1"/>
          <p:nvPr/>
        </p:nvSpPr>
        <p:spPr>
          <a:xfrm>
            <a:off x="685800" y="850392"/>
            <a:ext cx="7680960" cy="528320"/>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Ba bước đến </a:t>
            </a:r>
            <a:r>
              <a:rPr sz="3200" b="0" i="0">
                <a:solidFill>
                  <a:srgbClr val="8FD11E"/>
                </a:solidFill>
                <a:latin typeface="Be Vietnam Pro ExtraBold"/>
                <a:ea typeface="Be Vietnam Pro ExtraBold"/>
                <a:cs typeface="Be Vietnam Pro ExtraBold"/>
              </a:rPr>
              <a:t>thị trường minh bạch</a:t>
            </a:r>
          </a:p>
        </p:txBody>
      </p:sp>
      <p:sp>
        <p:nvSpPr>
          <p:cNvPr id="12" name="!!lead"/>
          <p:cNvSpPr txBox="1"/>
          <p:nvPr/>
        </p:nvSpPr>
        <p:spPr>
          <a:xfrm>
            <a:off x="685800" y="1470152"/>
            <a:ext cx="7498080" cy="309880"/>
          </a:xfrm>
          <a:prstGeom prst="rect">
            <a:avLst/>
          </a:prstGeom>
          <a:noFill/>
        </p:spPr>
        <p:txBody>
          <a:bodyPr wrap="square" lIns="0" rIns="0" tIns="0" bIns="0" anchor="t">
            <a:noAutofit/>
          </a:bodyPr>
          <a:lstStyle/>
          <a:p>
            <a:pPr algn="l">
              <a:lnSpc>
                <a:spcPct val="118000"/>
              </a:lnSpc>
              <a:spcAft>
                <a:spcPts val="0"/>
              </a:spcAft>
            </a:pPr>
            <a:r>
              <a:rPr sz="1600" b="0" i="0">
                <a:solidFill>
                  <a:srgbClr val="C9D8CE"/>
                </a:solidFill>
                <a:latin typeface="Be Vietnam Pro Light"/>
                <a:ea typeface="Be Vietnam Pro Light"/>
                <a:cs typeface="Be Vietnam Pro Light"/>
              </a:rPr>
              <a:t>Tuân thủ Thông tư 02/2024/TT-BKHCN và Nghị định 37/2026/NĐ-CP.</a:t>
            </a:r>
          </a:p>
        </p:txBody>
      </p:sp>
      <p:cxnSp>
        <p:nvCxnSpPr>
          <p:cNvPr id="13" name="!!rail"/>
          <p:cNvCxnSpPr/>
          <p:nvPr/>
        </p:nvCxnSpPr>
        <p:spPr>
          <a:xfrm>
            <a:off x="2611069" y="3296412"/>
            <a:ext cx="6969557" cy="0"/>
          </a:xfrm>
          <a:prstGeom prst="line">
            <a:avLst/>
          </a:prstGeom>
          <a:ln w="31750">
            <a:solidFill>
              <a:srgbClr val="7FC211">
                <a:alpha val="80000"/>
              </a:srgbClr>
            </a:solidFill>
          </a:ln>
          <a:effectLst>
            <a:glow rad="91440">
              <a:srgbClr val="7FC211">
                <a:alpha val="40000"/>
              </a:srgbClr>
            </a:glow>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2263597" y="2948940"/>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01</a:t>
            </a:r>
          </a:p>
        </p:txBody>
      </p:sp>
      <p:sp>
        <p:nvSpPr>
          <p:cNvPr id="15" name="TextBox 14"/>
          <p:cNvSpPr txBox="1"/>
          <p:nvPr/>
        </p:nvSpPr>
        <p:spPr>
          <a:xfrm>
            <a:off x="978408" y="3845052"/>
            <a:ext cx="3265322"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Khởi tạo dữ liệu</a:t>
            </a:r>
          </a:p>
        </p:txBody>
      </p:sp>
      <p:sp>
        <p:nvSpPr>
          <p:cNvPr id="16" name="TextBox 15"/>
          <p:cNvSpPr txBox="1"/>
          <p:nvPr/>
        </p:nvSpPr>
        <p:spPr>
          <a:xfrm>
            <a:off x="1051560" y="4300347"/>
            <a:ext cx="3119018"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Hồ sơ điện tử cho từng lô sản phẩm, kê khai ngay trên điện thoại.</a:t>
            </a:r>
          </a:p>
        </p:txBody>
      </p:sp>
      <p:sp>
        <p:nvSpPr>
          <p:cNvPr id="17" name="Oval 16"/>
          <p:cNvSpPr/>
          <p:nvPr/>
        </p:nvSpPr>
        <p:spPr>
          <a:xfrm>
            <a:off x="5748376" y="2948940"/>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02</a:t>
            </a:r>
          </a:p>
        </p:txBody>
      </p:sp>
      <p:sp>
        <p:nvSpPr>
          <p:cNvPr id="18" name="TextBox 17"/>
          <p:cNvSpPr txBox="1"/>
          <p:nvPr/>
        </p:nvSpPr>
        <p:spPr>
          <a:xfrm>
            <a:off x="4463186" y="3845052"/>
            <a:ext cx="3265322"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Đồng bộ hệ thống</a:t>
            </a:r>
          </a:p>
        </p:txBody>
      </p:sp>
      <p:sp>
        <p:nvSpPr>
          <p:cNvPr id="19" name="TextBox 18"/>
          <p:cNvSpPr txBox="1"/>
          <p:nvPr/>
        </p:nvSpPr>
        <p:spPr>
          <a:xfrm>
            <a:off x="4536338" y="4300347"/>
            <a:ext cx="3119018"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Kết nối HLHT TRACE với Cổng thông tin truy xuất nguồn gốc quốc gia.</a:t>
            </a:r>
          </a:p>
        </p:txBody>
      </p:sp>
      <p:sp>
        <p:nvSpPr>
          <p:cNvPr id="20" name="Oval 19"/>
          <p:cNvSpPr/>
          <p:nvPr/>
        </p:nvSpPr>
        <p:spPr>
          <a:xfrm>
            <a:off x="9233154" y="2948940"/>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03</a:t>
            </a:r>
          </a:p>
        </p:txBody>
      </p:sp>
      <p:sp>
        <p:nvSpPr>
          <p:cNvPr id="21" name="TextBox 20"/>
          <p:cNvSpPr txBox="1"/>
          <p:nvPr/>
        </p:nvSpPr>
        <p:spPr>
          <a:xfrm>
            <a:off x="7947965" y="3845052"/>
            <a:ext cx="3265322"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Tiếp cận thị trường</a:t>
            </a:r>
          </a:p>
        </p:txBody>
      </p:sp>
      <p:sp>
        <p:nvSpPr>
          <p:cNvPr id="22" name="TextBox 21"/>
          <p:cNvSpPr txBox="1"/>
          <p:nvPr/>
        </p:nvSpPr>
        <p:spPr>
          <a:xfrm>
            <a:off x="8021117" y="4300347"/>
            <a:ext cx="3119018"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Gia tăng niềm tin người tiêu dùng, đủ điều kiện xuất khẩu.</a:t>
            </a:r>
          </a:p>
        </p:txBody>
      </p:sp>
      <p:sp>
        <p:nvSpPr>
          <p:cNvPr id="23" name="TextBox 22"/>
          <p:cNvSpPr txBox="1"/>
          <p:nvPr/>
        </p:nvSpPr>
        <p:spPr>
          <a:xfrm>
            <a:off x="685800" y="5833872"/>
            <a:ext cx="2743200" cy="384048"/>
          </a:xfrm>
          <a:prstGeom prst="rect">
            <a:avLst/>
          </a:prstGeom>
          <a:noFill/>
        </p:spPr>
        <p:txBody>
          <a:bodyPr wrap="none" lIns="0" rIns="0" tIns="0" bIns="0" anchor="ctr">
            <a:noAutofit/>
          </a:bodyPr>
          <a:lstStyle/>
          <a:p>
            <a:pPr algn="l">
              <a:lnSpc>
                <a:spcPct val="115000"/>
              </a:lnSpc>
              <a:spcAft>
                <a:spcPts val="0"/>
              </a:spcAft>
            </a:pPr>
            <a:r>
              <a:rPr sz="1200" b="0" i="0">
                <a:solidFill>
                  <a:srgbClr val="8FD11E"/>
                </a:solidFill>
                <a:latin typeface="Be Vietnam Pro SemiBold"/>
                <a:ea typeface="Be Vietnam Pro SemiBold"/>
                <a:cs typeface="Be Vietnam Pro SemiBold"/>
              </a:rPr>
              <a:t>Giải pháp tem:</a:t>
            </a:r>
          </a:p>
        </p:txBody>
      </p:sp>
      <p:sp>
        <p:nvSpPr>
          <p:cNvPr id="24" name="Rounded Rectangle 23"/>
          <p:cNvSpPr/>
          <p:nvPr/>
        </p:nvSpPr>
        <p:spPr>
          <a:xfrm>
            <a:off x="2072829" y="5833872"/>
            <a:ext cx="1329075"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TextBox 24"/>
          <p:cNvSpPr txBox="1"/>
          <p:nvPr/>
        </p:nvSpPr>
        <p:spPr>
          <a:xfrm>
            <a:off x="2072829" y="5833872"/>
            <a:ext cx="1329075"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Tem điện tử</a:t>
            </a:r>
          </a:p>
        </p:txBody>
      </p:sp>
      <p:sp>
        <p:nvSpPr>
          <p:cNvPr id="26" name="Rounded Rectangle 25"/>
          <p:cNvSpPr/>
          <p:nvPr/>
        </p:nvSpPr>
        <p:spPr>
          <a:xfrm>
            <a:off x="3539063" y="5833872"/>
            <a:ext cx="1220728"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7" name="TextBox 26"/>
          <p:cNvSpPr txBox="1"/>
          <p:nvPr/>
        </p:nvSpPr>
        <p:spPr>
          <a:xfrm>
            <a:off x="3539063" y="5833872"/>
            <a:ext cx="1220728"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Tem vật lý</a:t>
            </a:r>
          </a:p>
        </p:txBody>
      </p:sp>
      <p:sp>
        <p:nvSpPr>
          <p:cNvPr id="28" name="Rounded Rectangle 27"/>
          <p:cNvSpPr/>
          <p:nvPr/>
        </p:nvSpPr>
        <p:spPr>
          <a:xfrm>
            <a:off x="4896951" y="5833872"/>
            <a:ext cx="1320066"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9" name="TextBox 28"/>
          <p:cNvSpPr txBox="1"/>
          <p:nvPr/>
        </p:nvSpPr>
        <p:spPr>
          <a:xfrm>
            <a:off x="4896951" y="5833872"/>
            <a:ext cx="1320066"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Hộ chiếu số</a:t>
            </a:r>
          </a:p>
        </p:txBody>
      </p:sp>
      <p:sp>
        <p:nvSpPr>
          <p:cNvPr id="30" name="Rounded Rectangle 29"/>
          <p:cNvSpPr/>
          <p:nvPr/>
        </p:nvSpPr>
        <p:spPr>
          <a:xfrm>
            <a:off x="6354177" y="5833872"/>
            <a:ext cx="1552932"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1" name="TextBox 30"/>
          <p:cNvSpPr txBox="1"/>
          <p:nvPr/>
        </p:nvSpPr>
        <p:spPr>
          <a:xfrm>
            <a:off x="6354177" y="5833872"/>
            <a:ext cx="1552932"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Tem chống giả</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22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339"/>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22" presetClass="entr" presetSubtype="8" fill="hold" grpId="0" nodeType="withEffect">
                                  <p:stCondLst>
                                    <p:cond delay="50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900"/>
                                        <p:tgtEl>
                                          <p:spTgt spid="13"/>
                                        </p:tgtEl>
                                      </p:cBhvr>
                                    </p:animEffect>
                                  </p:childTnLst>
                                </p:cTn>
                              </p:par>
                              <p:par>
                                <p:cTn id="20" presetID="53" presetClass="entr" presetSubtype="16" fill="hold" grpId="0" nodeType="withEffect">
                                  <p:stCondLst>
                                    <p:cond delay="70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450" fill="hold"/>
                                        <p:tgtEl>
                                          <p:spTgt spid="14"/>
                                        </p:tgtEl>
                                        <p:attrNameLst>
                                          <p:attrName>ppt_w</p:attrName>
                                        </p:attrNameLst>
                                      </p:cBhvr>
                                      <p:tavLst>
                                        <p:tav tm="0">
                                          <p:val>
                                            <p:strVal val="#ppt_w*0.7"/>
                                          </p:val>
                                        </p:tav>
                                        <p:tav tm="100000">
                                          <p:val>
                                            <p:strVal val="#ppt_w"/>
                                          </p:val>
                                        </p:tav>
                                      </p:tavLst>
                                    </p:anim>
                                    <p:anim calcmode="lin" valueType="num">
                                      <p:cBhvr additive="base">
                                        <p:cTn id="23" dur="450" fill="hold"/>
                                        <p:tgtEl>
                                          <p:spTgt spid="14"/>
                                        </p:tgtEl>
                                        <p:attrNameLst>
                                          <p:attrName>ppt_h</p:attrName>
                                        </p:attrNameLst>
                                      </p:cBhvr>
                                      <p:tavLst>
                                        <p:tav tm="0">
                                          <p:val>
                                            <p:strVal val="#ppt_h*0.7"/>
                                          </p:val>
                                        </p:tav>
                                        <p:tav tm="100000">
                                          <p:val>
                                            <p:strVal val="#ppt_h"/>
                                          </p:val>
                                        </p:tav>
                                      </p:tavLst>
                                    </p:anim>
                                    <p:animEffect transition="in" filter="fade">
                                      <p:cBhvr>
                                        <p:cTn id="24" dur="450"/>
                                        <p:tgtEl>
                                          <p:spTgt spid="14"/>
                                        </p:tgtEl>
                                      </p:cBhvr>
                                    </p:animEffect>
                                  </p:childTnLst>
                                </p:cTn>
                              </p:par>
                              <p:par>
                                <p:cTn id="25" presetID="53" presetClass="entr" presetSubtype="16" fill="hold" grpId="0" nodeType="withEffect">
                                  <p:stCondLst>
                                    <p:cond delay="70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450" fill="hold"/>
                                        <p:tgtEl>
                                          <p:spTgt spid="15"/>
                                        </p:tgtEl>
                                        <p:attrNameLst>
                                          <p:attrName>ppt_w</p:attrName>
                                        </p:attrNameLst>
                                      </p:cBhvr>
                                      <p:tavLst>
                                        <p:tav tm="0">
                                          <p:val>
                                            <p:strVal val="#ppt_w*0.7"/>
                                          </p:val>
                                        </p:tav>
                                        <p:tav tm="100000">
                                          <p:val>
                                            <p:strVal val="#ppt_w"/>
                                          </p:val>
                                        </p:tav>
                                      </p:tavLst>
                                    </p:anim>
                                    <p:anim calcmode="lin" valueType="num">
                                      <p:cBhvr additive="base">
                                        <p:cTn id="28" dur="450" fill="hold"/>
                                        <p:tgtEl>
                                          <p:spTgt spid="15"/>
                                        </p:tgtEl>
                                        <p:attrNameLst>
                                          <p:attrName>ppt_h</p:attrName>
                                        </p:attrNameLst>
                                      </p:cBhvr>
                                      <p:tavLst>
                                        <p:tav tm="0">
                                          <p:val>
                                            <p:strVal val="#ppt_h*0.7"/>
                                          </p:val>
                                        </p:tav>
                                        <p:tav tm="100000">
                                          <p:val>
                                            <p:strVal val="#ppt_h"/>
                                          </p:val>
                                        </p:tav>
                                      </p:tavLst>
                                    </p:anim>
                                    <p:animEffect transition="in" filter="fade">
                                      <p:cBhvr>
                                        <p:cTn id="29" dur="450"/>
                                        <p:tgtEl>
                                          <p:spTgt spid="15"/>
                                        </p:tgtEl>
                                      </p:cBhvr>
                                    </p:animEffect>
                                  </p:childTnLst>
                                </p:cTn>
                              </p:par>
                              <p:par>
                                <p:cTn id="30" presetID="53" presetClass="entr" presetSubtype="16" fill="hold" grpId="0" nodeType="withEffect">
                                  <p:stCondLst>
                                    <p:cond delay="70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450" fill="hold"/>
                                        <p:tgtEl>
                                          <p:spTgt spid="16"/>
                                        </p:tgtEl>
                                        <p:attrNameLst>
                                          <p:attrName>ppt_w</p:attrName>
                                        </p:attrNameLst>
                                      </p:cBhvr>
                                      <p:tavLst>
                                        <p:tav tm="0">
                                          <p:val>
                                            <p:strVal val="#ppt_w*0.7"/>
                                          </p:val>
                                        </p:tav>
                                        <p:tav tm="100000">
                                          <p:val>
                                            <p:strVal val="#ppt_w"/>
                                          </p:val>
                                        </p:tav>
                                      </p:tavLst>
                                    </p:anim>
                                    <p:anim calcmode="lin" valueType="num">
                                      <p:cBhvr additive="base">
                                        <p:cTn id="33" dur="450" fill="hold"/>
                                        <p:tgtEl>
                                          <p:spTgt spid="16"/>
                                        </p:tgtEl>
                                        <p:attrNameLst>
                                          <p:attrName>ppt_h</p:attrName>
                                        </p:attrNameLst>
                                      </p:cBhvr>
                                      <p:tavLst>
                                        <p:tav tm="0">
                                          <p:val>
                                            <p:strVal val="#ppt_h*0.7"/>
                                          </p:val>
                                        </p:tav>
                                        <p:tav tm="100000">
                                          <p:val>
                                            <p:strVal val="#ppt_h"/>
                                          </p:val>
                                        </p:tav>
                                      </p:tavLst>
                                    </p:anim>
                                    <p:animEffect transition="in" filter="fade">
                                      <p:cBhvr>
                                        <p:cTn id="34" dur="450"/>
                                        <p:tgtEl>
                                          <p:spTgt spid="16"/>
                                        </p:tgtEl>
                                      </p:cBhvr>
                                    </p:animEffect>
                                  </p:childTnLst>
                                </p:cTn>
                              </p:par>
                              <p:par>
                                <p:cTn id="35" presetID="53" presetClass="entr" presetSubtype="16" fill="hold" grpId="0" nodeType="withEffect">
                                  <p:stCondLst>
                                    <p:cond delay="919"/>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450" fill="hold"/>
                                        <p:tgtEl>
                                          <p:spTgt spid="17"/>
                                        </p:tgtEl>
                                        <p:attrNameLst>
                                          <p:attrName>ppt_w</p:attrName>
                                        </p:attrNameLst>
                                      </p:cBhvr>
                                      <p:tavLst>
                                        <p:tav tm="0">
                                          <p:val>
                                            <p:strVal val="#ppt_w*0.7"/>
                                          </p:val>
                                        </p:tav>
                                        <p:tav tm="100000">
                                          <p:val>
                                            <p:strVal val="#ppt_w"/>
                                          </p:val>
                                        </p:tav>
                                      </p:tavLst>
                                    </p:anim>
                                    <p:anim calcmode="lin" valueType="num">
                                      <p:cBhvr additive="base">
                                        <p:cTn id="38" dur="450" fill="hold"/>
                                        <p:tgtEl>
                                          <p:spTgt spid="17"/>
                                        </p:tgtEl>
                                        <p:attrNameLst>
                                          <p:attrName>ppt_h</p:attrName>
                                        </p:attrNameLst>
                                      </p:cBhvr>
                                      <p:tavLst>
                                        <p:tav tm="0">
                                          <p:val>
                                            <p:strVal val="#ppt_h*0.7"/>
                                          </p:val>
                                        </p:tav>
                                        <p:tav tm="100000">
                                          <p:val>
                                            <p:strVal val="#ppt_h"/>
                                          </p:val>
                                        </p:tav>
                                      </p:tavLst>
                                    </p:anim>
                                    <p:animEffect transition="in" filter="fade">
                                      <p:cBhvr>
                                        <p:cTn id="39" dur="450"/>
                                        <p:tgtEl>
                                          <p:spTgt spid="17"/>
                                        </p:tgtEl>
                                      </p:cBhvr>
                                    </p:animEffect>
                                  </p:childTnLst>
                                </p:cTn>
                              </p:par>
                              <p:par>
                                <p:cTn id="40" presetID="53" presetClass="entr" presetSubtype="16" fill="hold" grpId="0" nodeType="withEffect">
                                  <p:stCondLst>
                                    <p:cond delay="919"/>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450" fill="hold"/>
                                        <p:tgtEl>
                                          <p:spTgt spid="18"/>
                                        </p:tgtEl>
                                        <p:attrNameLst>
                                          <p:attrName>ppt_w</p:attrName>
                                        </p:attrNameLst>
                                      </p:cBhvr>
                                      <p:tavLst>
                                        <p:tav tm="0">
                                          <p:val>
                                            <p:strVal val="#ppt_w*0.7"/>
                                          </p:val>
                                        </p:tav>
                                        <p:tav tm="100000">
                                          <p:val>
                                            <p:strVal val="#ppt_w"/>
                                          </p:val>
                                        </p:tav>
                                      </p:tavLst>
                                    </p:anim>
                                    <p:anim calcmode="lin" valueType="num">
                                      <p:cBhvr additive="base">
                                        <p:cTn id="43" dur="450" fill="hold"/>
                                        <p:tgtEl>
                                          <p:spTgt spid="18"/>
                                        </p:tgtEl>
                                        <p:attrNameLst>
                                          <p:attrName>ppt_h</p:attrName>
                                        </p:attrNameLst>
                                      </p:cBhvr>
                                      <p:tavLst>
                                        <p:tav tm="0">
                                          <p:val>
                                            <p:strVal val="#ppt_h*0.7"/>
                                          </p:val>
                                        </p:tav>
                                        <p:tav tm="100000">
                                          <p:val>
                                            <p:strVal val="#ppt_h"/>
                                          </p:val>
                                        </p:tav>
                                      </p:tavLst>
                                    </p:anim>
                                    <p:animEffect transition="in" filter="fade">
                                      <p:cBhvr>
                                        <p:cTn id="44" dur="450"/>
                                        <p:tgtEl>
                                          <p:spTgt spid="18"/>
                                        </p:tgtEl>
                                      </p:cBhvr>
                                    </p:animEffect>
                                  </p:childTnLst>
                                </p:cTn>
                              </p:par>
                              <p:par>
                                <p:cTn id="45" presetID="53" presetClass="entr" presetSubtype="16" fill="hold" grpId="0" nodeType="withEffect">
                                  <p:stCondLst>
                                    <p:cond delay="919"/>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450" fill="hold"/>
                                        <p:tgtEl>
                                          <p:spTgt spid="19"/>
                                        </p:tgtEl>
                                        <p:attrNameLst>
                                          <p:attrName>ppt_w</p:attrName>
                                        </p:attrNameLst>
                                      </p:cBhvr>
                                      <p:tavLst>
                                        <p:tav tm="0">
                                          <p:val>
                                            <p:strVal val="#ppt_w*0.7"/>
                                          </p:val>
                                        </p:tav>
                                        <p:tav tm="100000">
                                          <p:val>
                                            <p:strVal val="#ppt_w"/>
                                          </p:val>
                                        </p:tav>
                                      </p:tavLst>
                                    </p:anim>
                                    <p:anim calcmode="lin" valueType="num">
                                      <p:cBhvr additive="base">
                                        <p:cTn id="48" dur="450" fill="hold"/>
                                        <p:tgtEl>
                                          <p:spTgt spid="19"/>
                                        </p:tgtEl>
                                        <p:attrNameLst>
                                          <p:attrName>ppt_h</p:attrName>
                                        </p:attrNameLst>
                                      </p:cBhvr>
                                      <p:tavLst>
                                        <p:tav tm="0">
                                          <p:val>
                                            <p:strVal val="#ppt_h*0.7"/>
                                          </p:val>
                                        </p:tav>
                                        <p:tav tm="100000">
                                          <p:val>
                                            <p:strVal val="#ppt_h"/>
                                          </p:val>
                                        </p:tav>
                                      </p:tavLst>
                                    </p:anim>
                                    <p:animEffect transition="in" filter="fade">
                                      <p:cBhvr>
                                        <p:cTn id="49" dur="450"/>
                                        <p:tgtEl>
                                          <p:spTgt spid="19"/>
                                        </p:tgtEl>
                                      </p:cBhvr>
                                    </p:animEffect>
                                  </p:childTnLst>
                                </p:cTn>
                              </p:par>
                              <p:par>
                                <p:cTn id="50" presetID="53" presetClass="entr" presetSubtype="16" fill="hold" grpId="0" nodeType="withEffect">
                                  <p:stCondLst>
                                    <p:cond delay="1140"/>
                                  </p:stCondLst>
                                  <p:childTnLst>
                                    <p:set>
                                      <p:cBhvr>
                                        <p:cTn id="51" dur="1" fill="hold">
                                          <p:stCondLst>
                                            <p:cond delay="0"/>
                                          </p:stCondLst>
                                        </p:cTn>
                                        <p:tgtEl>
                                          <p:spTgt spid="20"/>
                                        </p:tgtEl>
                                        <p:attrNameLst>
                                          <p:attrName>style.visibility</p:attrName>
                                        </p:attrNameLst>
                                      </p:cBhvr>
                                      <p:to>
                                        <p:strVal val="visible"/>
                                      </p:to>
                                    </p:set>
                                    <p:anim calcmode="lin" valueType="num">
                                      <p:cBhvr additive="base">
                                        <p:cTn id="52" dur="450" fill="hold"/>
                                        <p:tgtEl>
                                          <p:spTgt spid="20"/>
                                        </p:tgtEl>
                                        <p:attrNameLst>
                                          <p:attrName>ppt_w</p:attrName>
                                        </p:attrNameLst>
                                      </p:cBhvr>
                                      <p:tavLst>
                                        <p:tav tm="0">
                                          <p:val>
                                            <p:strVal val="#ppt_w*0.7"/>
                                          </p:val>
                                        </p:tav>
                                        <p:tav tm="100000">
                                          <p:val>
                                            <p:strVal val="#ppt_w"/>
                                          </p:val>
                                        </p:tav>
                                      </p:tavLst>
                                    </p:anim>
                                    <p:anim calcmode="lin" valueType="num">
                                      <p:cBhvr additive="base">
                                        <p:cTn id="53" dur="450" fill="hold"/>
                                        <p:tgtEl>
                                          <p:spTgt spid="20"/>
                                        </p:tgtEl>
                                        <p:attrNameLst>
                                          <p:attrName>ppt_h</p:attrName>
                                        </p:attrNameLst>
                                      </p:cBhvr>
                                      <p:tavLst>
                                        <p:tav tm="0">
                                          <p:val>
                                            <p:strVal val="#ppt_h*0.7"/>
                                          </p:val>
                                        </p:tav>
                                        <p:tav tm="100000">
                                          <p:val>
                                            <p:strVal val="#ppt_h"/>
                                          </p:val>
                                        </p:tav>
                                      </p:tavLst>
                                    </p:anim>
                                    <p:animEffect transition="in" filter="fade">
                                      <p:cBhvr>
                                        <p:cTn id="54" dur="450"/>
                                        <p:tgtEl>
                                          <p:spTgt spid="20"/>
                                        </p:tgtEl>
                                      </p:cBhvr>
                                    </p:animEffect>
                                  </p:childTnLst>
                                </p:cTn>
                              </p:par>
                              <p:par>
                                <p:cTn id="55" presetID="53" presetClass="entr" presetSubtype="16" fill="hold" grpId="0" nodeType="withEffect">
                                  <p:stCondLst>
                                    <p:cond delay="1140"/>
                                  </p:stCondLst>
                                  <p:childTnLst>
                                    <p:set>
                                      <p:cBhvr>
                                        <p:cTn id="56" dur="1" fill="hold">
                                          <p:stCondLst>
                                            <p:cond delay="0"/>
                                          </p:stCondLst>
                                        </p:cTn>
                                        <p:tgtEl>
                                          <p:spTgt spid="21"/>
                                        </p:tgtEl>
                                        <p:attrNameLst>
                                          <p:attrName>style.visibility</p:attrName>
                                        </p:attrNameLst>
                                      </p:cBhvr>
                                      <p:to>
                                        <p:strVal val="visible"/>
                                      </p:to>
                                    </p:set>
                                    <p:anim calcmode="lin" valueType="num">
                                      <p:cBhvr additive="base">
                                        <p:cTn id="57" dur="450" fill="hold"/>
                                        <p:tgtEl>
                                          <p:spTgt spid="21"/>
                                        </p:tgtEl>
                                        <p:attrNameLst>
                                          <p:attrName>ppt_w</p:attrName>
                                        </p:attrNameLst>
                                      </p:cBhvr>
                                      <p:tavLst>
                                        <p:tav tm="0">
                                          <p:val>
                                            <p:strVal val="#ppt_w*0.7"/>
                                          </p:val>
                                        </p:tav>
                                        <p:tav tm="100000">
                                          <p:val>
                                            <p:strVal val="#ppt_w"/>
                                          </p:val>
                                        </p:tav>
                                      </p:tavLst>
                                    </p:anim>
                                    <p:anim calcmode="lin" valueType="num">
                                      <p:cBhvr additive="base">
                                        <p:cTn id="58" dur="450" fill="hold"/>
                                        <p:tgtEl>
                                          <p:spTgt spid="21"/>
                                        </p:tgtEl>
                                        <p:attrNameLst>
                                          <p:attrName>ppt_h</p:attrName>
                                        </p:attrNameLst>
                                      </p:cBhvr>
                                      <p:tavLst>
                                        <p:tav tm="0">
                                          <p:val>
                                            <p:strVal val="#ppt_h*0.7"/>
                                          </p:val>
                                        </p:tav>
                                        <p:tav tm="100000">
                                          <p:val>
                                            <p:strVal val="#ppt_h"/>
                                          </p:val>
                                        </p:tav>
                                      </p:tavLst>
                                    </p:anim>
                                    <p:animEffect transition="in" filter="fade">
                                      <p:cBhvr>
                                        <p:cTn id="59" dur="450"/>
                                        <p:tgtEl>
                                          <p:spTgt spid="21"/>
                                        </p:tgtEl>
                                      </p:cBhvr>
                                    </p:animEffect>
                                  </p:childTnLst>
                                </p:cTn>
                              </p:par>
                              <p:par>
                                <p:cTn id="60" presetID="53" presetClass="entr" presetSubtype="16" fill="hold" grpId="0" nodeType="withEffect">
                                  <p:stCondLst>
                                    <p:cond delay="1140"/>
                                  </p:stCondLst>
                                  <p:childTnLst>
                                    <p:set>
                                      <p:cBhvr>
                                        <p:cTn id="61" dur="1" fill="hold">
                                          <p:stCondLst>
                                            <p:cond delay="0"/>
                                          </p:stCondLst>
                                        </p:cTn>
                                        <p:tgtEl>
                                          <p:spTgt spid="22"/>
                                        </p:tgtEl>
                                        <p:attrNameLst>
                                          <p:attrName>style.visibility</p:attrName>
                                        </p:attrNameLst>
                                      </p:cBhvr>
                                      <p:to>
                                        <p:strVal val="visible"/>
                                      </p:to>
                                    </p:set>
                                    <p:anim calcmode="lin" valueType="num">
                                      <p:cBhvr additive="base">
                                        <p:cTn id="62" dur="450" fill="hold"/>
                                        <p:tgtEl>
                                          <p:spTgt spid="22"/>
                                        </p:tgtEl>
                                        <p:attrNameLst>
                                          <p:attrName>ppt_w</p:attrName>
                                        </p:attrNameLst>
                                      </p:cBhvr>
                                      <p:tavLst>
                                        <p:tav tm="0">
                                          <p:val>
                                            <p:strVal val="#ppt_w*0.7"/>
                                          </p:val>
                                        </p:tav>
                                        <p:tav tm="100000">
                                          <p:val>
                                            <p:strVal val="#ppt_w"/>
                                          </p:val>
                                        </p:tav>
                                      </p:tavLst>
                                    </p:anim>
                                    <p:anim calcmode="lin" valueType="num">
                                      <p:cBhvr additive="base">
                                        <p:cTn id="63" dur="450" fill="hold"/>
                                        <p:tgtEl>
                                          <p:spTgt spid="22"/>
                                        </p:tgtEl>
                                        <p:attrNameLst>
                                          <p:attrName>ppt_h</p:attrName>
                                        </p:attrNameLst>
                                      </p:cBhvr>
                                      <p:tavLst>
                                        <p:tav tm="0">
                                          <p:val>
                                            <p:strVal val="#ppt_h*0.7"/>
                                          </p:val>
                                        </p:tav>
                                        <p:tav tm="100000">
                                          <p:val>
                                            <p:strVal val="#ppt_h"/>
                                          </p:val>
                                        </p:tav>
                                      </p:tavLst>
                                    </p:anim>
                                    <p:animEffect transition="in" filter="fade">
                                      <p:cBhvr>
                                        <p:cTn id="64" dur="450"/>
                                        <p:tgtEl>
                                          <p:spTgt spid="22"/>
                                        </p:tgtEl>
                                      </p:cBhvr>
                                    </p:animEffect>
                                  </p:childTnLst>
                                </p:cTn>
                              </p:par>
                              <p:par>
                                <p:cTn id="65" presetID="10" presetClass="entr" presetSubtype="0" fill="hold" grpId="0" nodeType="withEffect">
                                  <p:stCondLst>
                                    <p:cond delay="1359"/>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144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par>
                                <p:cTn id="71" presetID="10" presetClass="entr" presetSubtype="0" fill="hold" grpId="0" nodeType="withEffect">
                                  <p:stCondLst>
                                    <p:cond delay="144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00"/>
                                        <p:tgtEl>
                                          <p:spTgt spid="25"/>
                                        </p:tgtEl>
                                      </p:cBhvr>
                                    </p:animEffect>
                                  </p:childTnLst>
                                </p:cTn>
                              </p:par>
                              <p:par>
                                <p:cTn id="74" presetID="10" presetClass="entr" presetSubtype="0" fill="hold" grpId="0" nodeType="withEffect">
                                  <p:stCondLst>
                                    <p:cond delay="152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00"/>
                                        <p:tgtEl>
                                          <p:spTgt spid="26"/>
                                        </p:tgtEl>
                                      </p:cBhvr>
                                    </p:animEffect>
                                  </p:childTnLst>
                                </p:cTn>
                              </p:par>
                              <p:par>
                                <p:cTn id="77" presetID="10" presetClass="entr" presetSubtype="0" fill="hold" grpId="0" nodeType="withEffect">
                                  <p:stCondLst>
                                    <p:cond delay="152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00"/>
                                        <p:tgtEl>
                                          <p:spTgt spid="27"/>
                                        </p:tgtEl>
                                      </p:cBhvr>
                                    </p:animEffect>
                                  </p:childTnLst>
                                </p:cTn>
                              </p:par>
                              <p:par>
                                <p:cTn id="80" presetID="10" presetClass="entr" presetSubtype="0" fill="hold" grpId="0" nodeType="withEffect">
                                  <p:stCondLst>
                                    <p:cond delay="160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00"/>
                                        <p:tgtEl>
                                          <p:spTgt spid="28"/>
                                        </p:tgtEl>
                                      </p:cBhvr>
                                    </p:animEffect>
                                  </p:childTnLst>
                                </p:cTn>
                              </p:par>
                              <p:par>
                                <p:cTn id="83" presetID="10" presetClass="entr" presetSubtype="0" fill="hold" grpId="0" nodeType="withEffect">
                                  <p:stCondLst>
                                    <p:cond delay="160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00"/>
                                        <p:tgtEl>
                                          <p:spTgt spid="29"/>
                                        </p:tgtEl>
                                      </p:cBhvr>
                                    </p:animEffect>
                                  </p:childTnLst>
                                </p:cTn>
                              </p:par>
                              <p:par>
                                <p:cTn id="86" presetID="10" presetClass="entr" presetSubtype="0" fill="hold" grpId="0" nodeType="withEffect">
                                  <p:stCondLst>
                                    <p:cond delay="168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00"/>
                                        <p:tgtEl>
                                          <p:spTgt spid="30"/>
                                        </p:tgtEl>
                                      </p:cBhvr>
                                    </p:animEffect>
                                  </p:childTnLst>
                                </p:cTn>
                              </p:par>
                              <p:par>
                                <p:cTn id="89" presetID="10" presetClass="entr" presetSubtype="0" fill="hold" grpId="0" nodeType="withEffect">
                                  <p:stCondLst>
                                    <p:cond delay="168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lef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pic>
        <p:nvPicPr>
          <p:cNvPr id="8" name="!!logo" descr="logo_stp.png"/>
          <p:cNvPicPr>
            <a:picLocks noChangeAspect="1"/>
          </p:cNvPicPr>
          <p:nvPr/>
        </p:nvPicPr>
        <p:blipFill>
          <a:blip r:embed="rId8"/>
          <a:stretch>
            <a:fillRect/>
          </a:stretch>
        </p:blipFill>
        <p:spPr>
          <a:xfrm>
            <a:off x="10024567" y="384048"/>
            <a:ext cx="420624" cy="420624"/>
          </a:xfrm>
          <a:prstGeom prst="rect">
            <a:avLst/>
          </a:prstGeom>
        </p:spPr>
      </p:pic>
      <p:sp>
        <p:nvSpPr>
          <p:cNvPr id="9"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0" name="TextBox 9"/>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14</a:t>
            </a:r>
          </a:p>
        </p:txBody>
      </p:sp>
      <p:sp>
        <p:nvSpPr>
          <p:cNvPr id="11" name="!!kicker"/>
          <p:cNvSpPr txBox="1"/>
          <p:nvPr/>
        </p:nvSpPr>
        <p:spPr>
          <a:xfrm>
            <a:off x="685800" y="502920"/>
            <a:ext cx="100584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TRẢI NGHIỆM NGƯỜI TIÊU DÙNG</a:t>
            </a:r>
          </a:p>
        </p:txBody>
      </p:sp>
      <p:sp>
        <p:nvSpPr>
          <p:cNvPr id="12" name="!!title"/>
          <p:cNvSpPr txBox="1"/>
          <p:nvPr/>
        </p:nvSpPr>
        <p:spPr>
          <a:xfrm>
            <a:off x="685800" y="850392"/>
            <a:ext cx="10058400" cy="528320"/>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Minh bạch </a:t>
            </a:r>
            <a:r>
              <a:rPr sz="3200" b="0" i="0">
                <a:solidFill>
                  <a:srgbClr val="8FD11E"/>
                </a:solidFill>
                <a:latin typeface="Be Vietnam Pro ExtraBold"/>
                <a:ea typeface="Be Vietnam Pro ExtraBold"/>
                <a:cs typeface="Be Vietnam Pro ExtraBold"/>
              </a:rPr>
              <a:t>trong tầm tay</a:t>
            </a:r>
          </a:p>
        </p:txBody>
      </p:sp>
      <p:pic>
        <p:nvPicPr>
          <p:cNvPr id="13" name="Picture 12" descr="glow_7FC211_26_1.7.png"/>
          <p:cNvPicPr>
            <a:picLocks noChangeAspect="1"/>
          </p:cNvPicPr>
          <p:nvPr/>
        </p:nvPicPr>
        <p:blipFill>
          <a:blip r:embed="rId9"/>
          <a:stretch>
            <a:fillRect/>
          </a:stretch>
        </p:blipFill>
        <p:spPr>
          <a:xfrm>
            <a:off x="6651521" y="2082722"/>
            <a:ext cx="4557932" cy="4557932"/>
          </a:xfrm>
          <a:prstGeom prst="rect">
            <a:avLst/>
          </a:prstGeom>
        </p:spPr>
      </p:pic>
      <p:pic>
        <p:nvPicPr>
          <p:cNvPr id="14" name="!!aux_phone" descr="phone.png"/>
          <p:cNvPicPr>
            <a:picLocks noChangeAspect="1"/>
          </p:cNvPicPr>
          <p:nvPr/>
        </p:nvPicPr>
        <p:blipFill>
          <a:blip r:embed="rId10"/>
          <a:srcRect/>
          <a:stretch>
            <a:fillRect/>
          </a:stretch>
        </p:blipFill>
        <p:spPr>
          <a:xfrm>
            <a:off x="7031349" y="1645920"/>
            <a:ext cx="3798277" cy="4937760"/>
          </a:xfrm>
          <a:prstGeom prst="rect">
            <a:avLst/>
          </a:prstGeom>
        </p:spPr>
      </p:pic>
      <p:sp>
        <p:nvSpPr>
          <p:cNvPr id="15" name="Rounded Rectangle 14"/>
          <p:cNvSpPr/>
          <p:nvPr/>
        </p:nvSpPr>
        <p:spPr>
          <a:xfrm>
            <a:off x="685800" y="2011680"/>
            <a:ext cx="4800600" cy="950976"/>
          </a:xfrm>
          <a:prstGeom prst="roundRect">
            <a:avLst>
              <a:gd name="adj" fmla="val 15384"/>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6" name="Oval 15"/>
          <p:cNvSpPr/>
          <p:nvPr/>
        </p:nvSpPr>
        <p:spPr>
          <a:xfrm>
            <a:off x="886968" y="2231136"/>
            <a:ext cx="512064" cy="512064"/>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scan-line_8FD11E.png"/>
          <p:cNvPicPr>
            <a:picLocks noChangeAspect="1"/>
          </p:cNvPicPr>
          <p:nvPr/>
        </p:nvPicPr>
        <p:blipFill>
          <a:blip r:embed="rId11"/>
          <a:stretch>
            <a:fillRect/>
          </a:stretch>
        </p:blipFill>
        <p:spPr>
          <a:xfrm>
            <a:off x="999622" y="2343790"/>
            <a:ext cx="286756" cy="286756"/>
          </a:xfrm>
          <a:prstGeom prst="rect">
            <a:avLst/>
          </a:prstGeom>
        </p:spPr>
      </p:pic>
      <p:sp>
        <p:nvSpPr>
          <p:cNvPr id="18" name="TextBox 17"/>
          <p:cNvSpPr txBox="1"/>
          <p:nvPr/>
        </p:nvSpPr>
        <p:spPr>
          <a:xfrm>
            <a:off x="1554480" y="2139696"/>
            <a:ext cx="3794760" cy="365760"/>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Quét bằng camera thường</a:t>
            </a:r>
          </a:p>
        </p:txBody>
      </p:sp>
      <p:sp>
        <p:nvSpPr>
          <p:cNvPr id="19" name="TextBox 18"/>
          <p:cNvSpPr txBox="1"/>
          <p:nvPr/>
        </p:nvSpPr>
        <p:spPr>
          <a:xfrm>
            <a:off x="1554480" y="2514600"/>
            <a:ext cx="3794760" cy="402336"/>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Không cần tải ứng dụng, xem ngay hành trình sản phẩm.</a:t>
            </a:r>
          </a:p>
        </p:txBody>
      </p:sp>
      <p:sp>
        <p:nvSpPr>
          <p:cNvPr id="20" name="Rounded Rectangle 19"/>
          <p:cNvSpPr/>
          <p:nvPr/>
        </p:nvSpPr>
        <p:spPr>
          <a:xfrm>
            <a:off x="685800" y="3127248"/>
            <a:ext cx="4800600" cy="950976"/>
          </a:xfrm>
          <a:prstGeom prst="roundRect">
            <a:avLst>
              <a:gd name="adj" fmla="val 15384"/>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Oval 20"/>
          <p:cNvSpPr/>
          <p:nvPr/>
        </p:nvSpPr>
        <p:spPr>
          <a:xfrm>
            <a:off x="886968" y="3346704"/>
            <a:ext cx="512064" cy="512064"/>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badge-check_8FD11E.png"/>
          <p:cNvPicPr>
            <a:picLocks noChangeAspect="1"/>
          </p:cNvPicPr>
          <p:nvPr/>
        </p:nvPicPr>
        <p:blipFill>
          <a:blip r:embed="rId12"/>
          <a:stretch>
            <a:fillRect/>
          </a:stretch>
        </p:blipFill>
        <p:spPr>
          <a:xfrm>
            <a:off x="999622" y="3459358"/>
            <a:ext cx="286756" cy="286756"/>
          </a:xfrm>
          <a:prstGeom prst="rect">
            <a:avLst/>
          </a:prstGeom>
        </p:spPr>
      </p:pic>
      <p:sp>
        <p:nvSpPr>
          <p:cNvPr id="23" name="TextBox 22"/>
          <p:cNvSpPr txBox="1"/>
          <p:nvPr/>
        </p:nvSpPr>
        <p:spPr>
          <a:xfrm>
            <a:off x="1554480" y="3255264"/>
            <a:ext cx="3794760" cy="365760"/>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Dấu tích “Đã xác thực”</a:t>
            </a:r>
          </a:p>
        </p:txBody>
      </p:sp>
      <p:sp>
        <p:nvSpPr>
          <p:cNvPr id="24" name="TextBox 23"/>
          <p:cNvSpPr txBox="1"/>
          <p:nvPr/>
        </p:nvSpPr>
        <p:spPr>
          <a:xfrm>
            <a:off x="1554480" y="3630168"/>
            <a:ext cx="3794760" cy="402336"/>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Thông tin doanh nghiệp, sản phẩm được kiểm chứng.</a:t>
            </a:r>
          </a:p>
        </p:txBody>
      </p:sp>
      <p:sp>
        <p:nvSpPr>
          <p:cNvPr id="25" name="Rounded Rectangle 24"/>
          <p:cNvSpPr/>
          <p:nvPr/>
        </p:nvSpPr>
        <p:spPr>
          <a:xfrm>
            <a:off x="685800" y="4242816"/>
            <a:ext cx="4800600" cy="950976"/>
          </a:xfrm>
          <a:prstGeom prst="roundRect">
            <a:avLst>
              <a:gd name="adj" fmla="val 15384"/>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6" name="Oval 25"/>
          <p:cNvSpPr/>
          <p:nvPr/>
        </p:nvSpPr>
        <p:spPr>
          <a:xfrm>
            <a:off x="886968" y="4462272"/>
            <a:ext cx="512064" cy="512064"/>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map_8FD11E.png"/>
          <p:cNvPicPr>
            <a:picLocks noChangeAspect="1"/>
          </p:cNvPicPr>
          <p:nvPr/>
        </p:nvPicPr>
        <p:blipFill>
          <a:blip r:embed="rId13"/>
          <a:stretch>
            <a:fillRect/>
          </a:stretch>
        </p:blipFill>
        <p:spPr>
          <a:xfrm>
            <a:off x="999622" y="4574926"/>
            <a:ext cx="286756" cy="286756"/>
          </a:xfrm>
          <a:prstGeom prst="rect">
            <a:avLst/>
          </a:prstGeom>
        </p:spPr>
      </p:pic>
      <p:sp>
        <p:nvSpPr>
          <p:cNvPr id="28" name="TextBox 27"/>
          <p:cNvSpPr txBox="1"/>
          <p:nvPr/>
        </p:nvSpPr>
        <p:spPr>
          <a:xfrm>
            <a:off x="1554480" y="4370832"/>
            <a:ext cx="3794760" cy="365760"/>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Bản đồ vùng trồng</a:t>
            </a:r>
          </a:p>
        </p:txBody>
      </p:sp>
      <p:sp>
        <p:nvSpPr>
          <p:cNvPr id="29" name="TextBox 28"/>
          <p:cNvSpPr txBox="1"/>
          <p:nvPr/>
        </p:nvSpPr>
        <p:spPr>
          <a:xfrm>
            <a:off x="1554480" y="4745736"/>
            <a:ext cx="3794760" cy="402336"/>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Tọa độ vùng nguyên liệu, cơ sở sản xuất trên bản đồ số.</a:t>
            </a:r>
          </a:p>
        </p:txBody>
      </p:sp>
      <p:sp>
        <p:nvSpPr>
          <p:cNvPr id="30" name="Rounded Rectangle 29"/>
          <p:cNvSpPr/>
          <p:nvPr/>
        </p:nvSpPr>
        <p:spPr>
          <a:xfrm>
            <a:off x="685800" y="5358384"/>
            <a:ext cx="4800600" cy="950976"/>
          </a:xfrm>
          <a:prstGeom prst="roundRect">
            <a:avLst>
              <a:gd name="adj" fmla="val 15384"/>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1" name="Oval 30"/>
          <p:cNvSpPr/>
          <p:nvPr/>
        </p:nvSpPr>
        <p:spPr>
          <a:xfrm>
            <a:off x="886968" y="5577840"/>
            <a:ext cx="512064" cy="512064"/>
          </a:xfrm>
          <a:prstGeom prst="ellipse">
            <a:avLst/>
          </a:prstGeom>
          <a:solidFill>
            <a:srgbClr val="8FD11E">
              <a:alpha val="12000"/>
            </a:srgbClr>
          </a:solidFill>
          <a:ln w="15875">
            <a:solidFill>
              <a:srgbClr val="8FD1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shield-check_8FD11E.png"/>
          <p:cNvPicPr>
            <a:picLocks noChangeAspect="1"/>
          </p:cNvPicPr>
          <p:nvPr/>
        </p:nvPicPr>
        <p:blipFill>
          <a:blip r:embed="rId14"/>
          <a:stretch>
            <a:fillRect/>
          </a:stretch>
        </p:blipFill>
        <p:spPr>
          <a:xfrm>
            <a:off x="999622" y="5690494"/>
            <a:ext cx="286756" cy="286756"/>
          </a:xfrm>
          <a:prstGeom prst="rect">
            <a:avLst/>
          </a:prstGeom>
        </p:spPr>
      </p:pic>
      <p:sp>
        <p:nvSpPr>
          <p:cNvPr id="33" name="TextBox 32"/>
          <p:cNvSpPr txBox="1"/>
          <p:nvPr/>
        </p:nvSpPr>
        <p:spPr>
          <a:xfrm>
            <a:off x="1554480" y="5486400"/>
            <a:ext cx="3794760" cy="365760"/>
          </a:xfrm>
          <a:prstGeom prst="rect">
            <a:avLst/>
          </a:prstGeom>
          <a:noFill/>
        </p:spPr>
        <p:txBody>
          <a:bodyPr wrap="square" lIns="0" rIns="0" tIns="0" bIns="0" anchor="ctr">
            <a:noAutofit/>
          </a:bodyPr>
          <a:lstStyle/>
          <a:p>
            <a:pPr algn="l">
              <a:lnSpc>
                <a:spcPct val="115000"/>
              </a:lnSpc>
              <a:spcAft>
                <a:spcPts val="0"/>
              </a:spcAft>
            </a:pPr>
            <a:r>
              <a:rPr sz="1500" b="0" i="0">
                <a:solidFill>
                  <a:srgbClr val="FFFFFF"/>
                </a:solidFill>
                <a:latin typeface="Be Vietnam Pro SemiBold"/>
                <a:ea typeface="Be Vietnam Pro SemiBold"/>
                <a:cs typeface="Be Vietnam Pro SemiBold"/>
              </a:rPr>
              <a:t>Tháp điều khiển chống giả AI</a:t>
            </a:r>
          </a:p>
        </p:txBody>
      </p:sp>
      <p:sp>
        <p:nvSpPr>
          <p:cNvPr id="34" name="TextBox 33"/>
          <p:cNvSpPr txBox="1"/>
          <p:nvPr/>
        </p:nvSpPr>
        <p:spPr>
          <a:xfrm>
            <a:off x="1554480" y="5861304"/>
            <a:ext cx="3794760" cy="402336"/>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Tự khóa mã khi một serial bị quét bất thường.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00"/>
                                        <p:tgtEl>
                                          <p:spTgt spid="13"/>
                                        </p:tgtEl>
                                      </p:cBhvr>
                                    </p:animEffect>
                                  </p:childTnLst>
                                </p:cTn>
                              </p:par>
                              <p:par>
                                <p:cTn id="20" presetID="10" presetClass="entr" presetSubtype="0" fill="hold" grpId="0" nodeType="withEffect">
                                  <p:stCondLst>
                                    <p:cond delay="22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2" presetClass="entr" presetSubtype="2" fill="hold" grpId="0" nodeType="withEffect">
                                  <p:stCondLst>
                                    <p:cond delay="30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800" fill="hold"/>
                                        <p:tgtEl>
                                          <p:spTgt spid="14"/>
                                        </p:tgtEl>
                                        <p:attrNameLst>
                                          <p:attrName>ppt_x</p:attrName>
                                        </p:attrNameLst>
                                      </p:cBhvr>
                                      <p:tavLst>
                                        <p:tav tm="0">
                                          <p:val>
                                            <p:strVal val="1+#ppt_w/2"/>
                                          </p:val>
                                        </p:tav>
                                        <p:tav tm="100000">
                                          <p:val>
                                            <p:strVal val="#ppt_x"/>
                                          </p:val>
                                        </p:tav>
                                      </p:tavLst>
                                    </p:anim>
                                    <p:anim calcmode="lin" valueType="num">
                                      <p:cBhvr additive="base">
                                        <p:cTn id="26" dur="800" fill="hold"/>
                                        <p:tgtEl>
                                          <p:spTgt spid="14"/>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70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450" fill="hold"/>
                                        <p:tgtEl>
                                          <p:spTgt spid="15"/>
                                        </p:tgtEl>
                                        <p:attrNameLst>
                                          <p:attrName>ppt_x</p:attrName>
                                        </p:attrNameLst>
                                      </p:cBhvr>
                                      <p:tavLst>
                                        <p:tav tm="0">
                                          <p:val>
                                            <p:strVal val="0-#ppt_w/2"/>
                                          </p:val>
                                        </p:tav>
                                        <p:tav tm="100000">
                                          <p:val>
                                            <p:strVal val="#ppt_x"/>
                                          </p:val>
                                        </p:tav>
                                      </p:tavLst>
                                    </p:anim>
                                    <p:anim calcmode="lin" valueType="num">
                                      <p:cBhvr additive="base">
                                        <p:cTn id="30" dur="450" fill="hold"/>
                                        <p:tgtEl>
                                          <p:spTgt spid="15"/>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70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450" fill="hold"/>
                                        <p:tgtEl>
                                          <p:spTgt spid="16"/>
                                        </p:tgtEl>
                                        <p:attrNameLst>
                                          <p:attrName>ppt_x</p:attrName>
                                        </p:attrNameLst>
                                      </p:cBhvr>
                                      <p:tavLst>
                                        <p:tav tm="0">
                                          <p:val>
                                            <p:strVal val="0-#ppt_w/2"/>
                                          </p:val>
                                        </p:tav>
                                        <p:tav tm="100000">
                                          <p:val>
                                            <p:strVal val="#ppt_x"/>
                                          </p:val>
                                        </p:tav>
                                      </p:tavLst>
                                    </p:anim>
                                    <p:anim calcmode="lin" valueType="num">
                                      <p:cBhvr additive="base">
                                        <p:cTn id="34" dur="450" fill="hold"/>
                                        <p:tgtEl>
                                          <p:spTgt spid="16"/>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70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450" fill="hold"/>
                                        <p:tgtEl>
                                          <p:spTgt spid="17"/>
                                        </p:tgtEl>
                                        <p:attrNameLst>
                                          <p:attrName>ppt_x</p:attrName>
                                        </p:attrNameLst>
                                      </p:cBhvr>
                                      <p:tavLst>
                                        <p:tav tm="0">
                                          <p:val>
                                            <p:strVal val="0-#ppt_w/2"/>
                                          </p:val>
                                        </p:tav>
                                        <p:tav tm="100000">
                                          <p:val>
                                            <p:strVal val="#ppt_x"/>
                                          </p:val>
                                        </p:tav>
                                      </p:tavLst>
                                    </p:anim>
                                    <p:anim calcmode="lin" valueType="num">
                                      <p:cBhvr additive="base">
                                        <p:cTn id="38" dur="450" fill="hold"/>
                                        <p:tgtEl>
                                          <p:spTgt spid="17"/>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70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450" fill="hold"/>
                                        <p:tgtEl>
                                          <p:spTgt spid="18"/>
                                        </p:tgtEl>
                                        <p:attrNameLst>
                                          <p:attrName>ppt_x</p:attrName>
                                        </p:attrNameLst>
                                      </p:cBhvr>
                                      <p:tavLst>
                                        <p:tav tm="0">
                                          <p:val>
                                            <p:strVal val="0-#ppt_w/2"/>
                                          </p:val>
                                        </p:tav>
                                        <p:tav tm="100000">
                                          <p:val>
                                            <p:strVal val="#ppt_x"/>
                                          </p:val>
                                        </p:tav>
                                      </p:tavLst>
                                    </p:anim>
                                    <p:anim calcmode="lin" valueType="num">
                                      <p:cBhvr additive="base">
                                        <p:cTn id="42" dur="450" fill="hold"/>
                                        <p:tgtEl>
                                          <p:spTgt spid="18"/>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70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450" fill="hold"/>
                                        <p:tgtEl>
                                          <p:spTgt spid="19"/>
                                        </p:tgtEl>
                                        <p:attrNameLst>
                                          <p:attrName>ppt_x</p:attrName>
                                        </p:attrNameLst>
                                      </p:cBhvr>
                                      <p:tavLst>
                                        <p:tav tm="0">
                                          <p:val>
                                            <p:strVal val="0-#ppt_w/2"/>
                                          </p:val>
                                        </p:tav>
                                        <p:tav tm="100000">
                                          <p:val>
                                            <p:strVal val="#ppt_x"/>
                                          </p:val>
                                        </p:tav>
                                      </p:tavLst>
                                    </p:anim>
                                    <p:anim calcmode="lin" valueType="num">
                                      <p:cBhvr additive="base">
                                        <p:cTn id="46" dur="450" fill="hold"/>
                                        <p:tgtEl>
                                          <p:spTgt spid="19"/>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85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450" fill="hold"/>
                                        <p:tgtEl>
                                          <p:spTgt spid="20"/>
                                        </p:tgtEl>
                                        <p:attrNameLst>
                                          <p:attrName>ppt_x</p:attrName>
                                        </p:attrNameLst>
                                      </p:cBhvr>
                                      <p:tavLst>
                                        <p:tav tm="0">
                                          <p:val>
                                            <p:strVal val="0-#ppt_w/2"/>
                                          </p:val>
                                        </p:tav>
                                        <p:tav tm="100000">
                                          <p:val>
                                            <p:strVal val="#ppt_x"/>
                                          </p:val>
                                        </p:tav>
                                      </p:tavLst>
                                    </p:anim>
                                    <p:anim calcmode="lin" valueType="num">
                                      <p:cBhvr additive="base">
                                        <p:cTn id="50" dur="450" fill="hold"/>
                                        <p:tgtEl>
                                          <p:spTgt spid="20"/>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85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450" fill="hold"/>
                                        <p:tgtEl>
                                          <p:spTgt spid="21"/>
                                        </p:tgtEl>
                                        <p:attrNameLst>
                                          <p:attrName>ppt_x</p:attrName>
                                        </p:attrNameLst>
                                      </p:cBhvr>
                                      <p:tavLst>
                                        <p:tav tm="0">
                                          <p:val>
                                            <p:strVal val="0-#ppt_w/2"/>
                                          </p:val>
                                        </p:tav>
                                        <p:tav tm="100000">
                                          <p:val>
                                            <p:strVal val="#ppt_x"/>
                                          </p:val>
                                        </p:tav>
                                      </p:tavLst>
                                    </p:anim>
                                    <p:anim calcmode="lin" valueType="num">
                                      <p:cBhvr additive="base">
                                        <p:cTn id="54" dur="450" fill="hold"/>
                                        <p:tgtEl>
                                          <p:spTgt spid="21"/>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850"/>
                                  </p:stCondLst>
                                  <p:childTnLst>
                                    <p:set>
                                      <p:cBhvr>
                                        <p:cTn id="56" dur="1" fill="hold">
                                          <p:stCondLst>
                                            <p:cond delay="0"/>
                                          </p:stCondLst>
                                        </p:cTn>
                                        <p:tgtEl>
                                          <p:spTgt spid="22"/>
                                        </p:tgtEl>
                                        <p:attrNameLst>
                                          <p:attrName>style.visibility</p:attrName>
                                        </p:attrNameLst>
                                      </p:cBhvr>
                                      <p:to>
                                        <p:strVal val="visible"/>
                                      </p:to>
                                    </p:set>
                                    <p:anim calcmode="lin" valueType="num">
                                      <p:cBhvr additive="base">
                                        <p:cTn id="57" dur="450" fill="hold"/>
                                        <p:tgtEl>
                                          <p:spTgt spid="22"/>
                                        </p:tgtEl>
                                        <p:attrNameLst>
                                          <p:attrName>ppt_x</p:attrName>
                                        </p:attrNameLst>
                                      </p:cBhvr>
                                      <p:tavLst>
                                        <p:tav tm="0">
                                          <p:val>
                                            <p:strVal val="0-#ppt_w/2"/>
                                          </p:val>
                                        </p:tav>
                                        <p:tav tm="100000">
                                          <p:val>
                                            <p:strVal val="#ppt_x"/>
                                          </p:val>
                                        </p:tav>
                                      </p:tavLst>
                                    </p:anim>
                                    <p:anim calcmode="lin" valueType="num">
                                      <p:cBhvr additive="base">
                                        <p:cTn id="58" dur="450" fill="hold"/>
                                        <p:tgtEl>
                                          <p:spTgt spid="22"/>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850"/>
                                  </p:stCondLst>
                                  <p:childTnLst>
                                    <p:set>
                                      <p:cBhvr>
                                        <p:cTn id="60" dur="1" fill="hold">
                                          <p:stCondLst>
                                            <p:cond delay="0"/>
                                          </p:stCondLst>
                                        </p:cTn>
                                        <p:tgtEl>
                                          <p:spTgt spid="23"/>
                                        </p:tgtEl>
                                        <p:attrNameLst>
                                          <p:attrName>style.visibility</p:attrName>
                                        </p:attrNameLst>
                                      </p:cBhvr>
                                      <p:to>
                                        <p:strVal val="visible"/>
                                      </p:to>
                                    </p:set>
                                    <p:anim calcmode="lin" valueType="num">
                                      <p:cBhvr additive="base">
                                        <p:cTn id="61" dur="450" fill="hold"/>
                                        <p:tgtEl>
                                          <p:spTgt spid="23"/>
                                        </p:tgtEl>
                                        <p:attrNameLst>
                                          <p:attrName>ppt_x</p:attrName>
                                        </p:attrNameLst>
                                      </p:cBhvr>
                                      <p:tavLst>
                                        <p:tav tm="0">
                                          <p:val>
                                            <p:strVal val="0-#ppt_w/2"/>
                                          </p:val>
                                        </p:tav>
                                        <p:tav tm="100000">
                                          <p:val>
                                            <p:strVal val="#ppt_x"/>
                                          </p:val>
                                        </p:tav>
                                      </p:tavLst>
                                    </p:anim>
                                    <p:anim calcmode="lin" valueType="num">
                                      <p:cBhvr additive="base">
                                        <p:cTn id="62" dur="450" fill="hold"/>
                                        <p:tgtEl>
                                          <p:spTgt spid="23"/>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85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450" fill="hold"/>
                                        <p:tgtEl>
                                          <p:spTgt spid="24"/>
                                        </p:tgtEl>
                                        <p:attrNameLst>
                                          <p:attrName>ppt_x</p:attrName>
                                        </p:attrNameLst>
                                      </p:cBhvr>
                                      <p:tavLst>
                                        <p:tav tm="0">
                                          <p:val>
                                            <p:strVal val="0-#ppt_w/2"/>
                                          </p:val>
                                        </p:tav>
                                        <p:tav tm="100000">
                                          <p:val>
                                            <p:strVal val="#ppt_x"/>
                                          </p:val>
                                        </p:tav>
                                      </p:tavLst>
                                    </p:anim>
                                    <p:anim calcmode="lin" valueType="num">
                                      <p:cBhvr additive="base">
                                        <p:cTn id="66" dur="450" fill="hold"/>
                                        <p:tgtEl>
                                          <p:spTgt spid="24"/>
                                        </p:tgtEl>
                                        <p:attrNameLst>
                                          <p:attrName>ppt_y</p:attrName>
                                        </p:attrNameLst>
                                      </p:cBhvr>
                                      <p:tavLst>
                                        <p:tav tm="0">
                                          <p:val>
                                            <p:strVal val="#ppt_y"/>
                                          </p:val>
                                        </p:tav>
                                        <p:tav tm="100000">
                                          <p:val>
                                            <p:strVal val="#ppt_y"/>
                                          </p:val>
                                        </p:tav>
                                      </p:tavLst>
                                    </p:anim>
                                  </p:childTnLst>
                                </p:cTn>
                              </p:par>
                              <p:par>
                                <p:cTn id="67" presetID="2" presetClass="entr" presetSubtype="8" fill="hold" grpId="0" nodeType="withEffect">
                                  <p:stCondLst>
                                    <p:cond delay="1000"/>
                                  </p:stCondLst>
                                  <p:childTnLst>
                                    <p:set>
                                      <p:cBhvr>
                                        <p:cTn id="68" dur="1" fill="hold">
                                          <p:stCondLst>
                                            <p:cond delay="0"/>
                                          </p:stCondLst>
                                        </p:cTn>
                                        <p:tgtEl>
                                          <p:spTgt spid="25"/>
                                        </p:tgtEl>
                                        <p:attrNameLst>
                                          <p:attrName>style.visibility</p:attrName>
                                        </p:attrNameLst>
                                      </p:cBhvr>
                                      <p:to>
                                        <p:strVal val="visible"/>
                                      </p:to>
                                    </p:set>
                                    <p:anim calcmode="lin" valueType="num">
                                      <p:cBhvr additive="base">
                                        <p:cTn id="69" dur="450" fill="hold"/>
                                        <p:tgtEl>
                                          <p:spTgt spid="25"/>
                                        </p:tgtEl>
                                        <p:attrNameLst>
                                          <p:attrName>ppt_x</p:attrName>
                                        </p:attrNameLst>
                                      </p:cBhvr>
                                      <p:tavLst>
                                        <p:tav tm="0">
                                          <p:val>
                                            <p:strVal val="0-#ppt_w/2"/>
                                          </p:val>
                                        </p:tav>
                                        <p:tav tm="100000">
                                          <p:val>
                                            <p:strVal val="#ppt_x"/>
                                          </p:val>
                                        </p:tav>
                                      </p:tavLst>
                                    </p:anim>
                                    <p:anim calcmode="lin" valueType="num">
                                      <p:cBhvr additive="base">
                                        <p:cTn id="70" dur="450" fill="hold"/>
                                        <p:tgtEl>
                                          <p:spTgt spid="25"/>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1000"/>
                                  </p:stCondLst>
                                  <p:childTnLst>
                                    <p:set>
                                      <p:cBhvr>
                                        <p:cTn id="72" dur="1" fill="hold">
                                          <p:stCondLst>
                                            <p:cond delay="0"/>
                                          </p:stCondLst>
                                        </p:cTn>
                                        <p:tgtEl>
                                          <p:spTgt spid="26"/>
                                        </p:tgtEl>
                                        <p:attrNameLst>
                                          <p:attrName>style.visibility</p:attrName>
                                        </p:attrNameLst>
                                      </p:cBhvr>
                                      <p:to>
                                        <p:strVal val="visible"/>
                                      </p:to>
                                    </p:set>
                                    <p:anim calcmode="lin" valueType="num">
                                      <p:cBhvr additive="base">
                                        <p:cTn id="73" dur="450" fill="hold"/>
                                        <p:tgtEl>
                                          <p:spTgt spid="26"/>
                                        </p:tgtEl>
                                        <p:attrNameLst>
                                          <p:attrName>ppt_x</p:attrName>
                                        </p:attrNameLst>
                                      </p:cBhvr>
                                      <p:tavLst>
                                        <p:tav tm="0">
                                          <p:val>
                                            <p:strVal val="0-#ppt_w/2"/>
                                          </p:val>
                                        </p:tav>
                                        <p:tav tm="100000">
                                          <p:val>
                                            <p:strVal val="#ppt_x"/>
                                          </p:val>
                                        </p:tav>
                                      </p:tavLst>
                                    </p:anim>
                                    <p:anim calcmode="lin" valueType="num">
                                      <p:cBhvr additive="base">
                                        <p:cTn id="74" dur="450" fill="hold"/>
                                        <p:tgtEl>
                                          <p:spTgt spid="26"/>
                                        </p:tgtEl>
                                        <p:attrNameLst>
                                          <p:attrName>ppt_y</p:attrName>
                                        </p:attrNameLst>
                                      </p:cBhvr>
                                      <p:tavLst>
                                        <p:tav tm="0">
                                          <p:val>
                                            <p:strVal val="#ppt_y"/>
                                          </p:val>
                                        </p:tav>
                                        <p:tav tm="100000">
                                          <p:val>
                                            <p:strVal val="#ppt_y"/>
                                          </p:val>
                                        </p:tav>
                                      </p:tavLst>
                                    </p:anim>
                                  </p:childTnLst>
                                </p:cTn>
                              </p:par>
                              <p:par>
                                <p:cTn id="75" presetID="2" presetClass="entr" presetSubtype="8" fill="hold" grpId="0" nodeType="withEffect">
                                  <p:stCondLst>
                                    <p:cond delay="1000"/>
                                  </p:stCondLst>
                                  <p:childTnLst>
                                    <p:set>
                                      <p:cBhvr>
                                        <p:cTn id="76" dur="1" fill="hold">
                                          <p:stCondLst>
                                            <p:cond delay="0"/>
                                          </p:stCondLst>
                                        </p:cTn>
                                        <p:tgtEl>
                                          <p:spTgt spid="27"/>
                                        </p:tgtEl>
                                        <p:attrNameLst>
                                          <p:attrName>style.visibility</p:attrName>
                                        </p:attrNameLst>
                                      </p:cBhvr>
                                      <p:to>
                                        <p:strVal val="visible"/>
                                      </p:to>
                                    </p:set>
                                    <p:anim calcmode="lin" valueType="num">
                                      <p:cBhvr additive="base">
                                        <p:cTn id="77" dur="450" fill="hold"/>
                                        <p:tgtEl>
                                          <p:spTgt spid="27"/>
                                        </p:tgtEl>
                                        <p:attrNameLst>
                                          <p:attrName>ppt_x</p:attrName>
                                        </p:attrNameLst>
                                      </p:cBhvr>
                                      <p:tavLst>
                                        <p:tav tm="0">
                                          <p:val>
                                            <p:strVal val="0-#ppt_w/2"/>
                                          </p:val>
                                        </p:tav>
                                        <p:tav tm="100000">
                                          <p:val>
                                            <p:strVal val="#ppt_x"/>
                                          </p:val>
                                        </p:tav>
                                      </p:tavLst>
                                    </p:anim>
                                    <p:anim calcmode="lin" valueType="num">
                                      <p:cBhvr additive="base">
                                        <p:cTn id="78" dur="450" fill="hold"/>
                                        <p:tgtEl>
                                          <p:spTgt spid="27"/>
                                        </p:tgtEl>
                                        <p:attrNameLst>
                                          <p:attrName>ppt_y</p:attrName>
                                        </p:attrNameLst>
                                      </p:cBhvr>
                                      <p:tavLst>
                                        <p:tav tm="0">
                                          <p:val>
                                            <p:strVal val="#ppt_y"/>
                                          </p:val>
                                        </p:tav>
                                        <p:tav tm="100000">
                                          <p:val>
                                            <p:strVal val="#ppt_y"/>
                                          </p:val>
                                        </p:tav>
                                      </p:tavLst>
                                    </p:anim>
                                  </p:childTnLst>
                                </p:cTn>
                              </p:par>
                              <p:par>
                                <p:cTn id="79" presetID="2" presetClass="entr" presetSubtype="8" fill="hold" grpId="0" nodeType="withEffect">
                                  <p:stCondLst>
                                    <p:cond delay="1000"/>
                                  </p:stCondLst>
                                  <p:childTnLst>
                                    <p:set>
                                      <p:cBhvr>
                                        <p:cTn id="80" dur="1" fill="hold">
                                          <p:stCondLst>
                                            <p:cond delay="0"/>
                                          </p:stCondLst>
                                        </p:cTn>
                                        <p:tgtEl>
                                          <p:spTgt spid="28"/>
                                        </p:tgtEl>
                                        <p:attrNameLst>
                                          <p:attrName>style.visibility</p:attrName>
                                        </p:attrNameLst>
                                      </p:cBhvr>
                                      <p:to>
                                        <p:strVal val="visible"/>
                                      </p:to>
                                    </p:set>
                                    <p:anim calcmode="lin" valueType="num">
                                      <p:cBhvr additive="base">
                                        <p:cTn id="81" dur="450" fill="hold"/>
                                        <p:tgtEl>
                                          <p:spTgt spid="28"/>
                                        </p:tgtEl>
                                        <p:attrNameLst>
                                          <p:attrName>ppt_x</p:attrName>
                                        </p:attrNameLst>
                                      </p:cBhvr>
                                      <p:tavLst>
                                        <p:tav tm="0">
                                          <p:val>
                                            <p:strVal val="0-#ppt_w/2"/>
                                          </p:val>
                                        </p:tav>
                                        <p:tav tm="100000">
                                          <p:val>
                                            <p:strVal val="#ppt_x"/>
                                          </p:val>
                                        </p:tav>
                                      </p:tavLst>
                                    </p:anim>
                                    <p:anim calcmode="lin" valueType="num">
                                      <p:cBhvr additive="base">
                                        <p:cTn id="82" dur="450" fill="hold"/>
                                        <p:tgtEl>
                                          <p:spTgt spid="28"/>
                                        </p:tgtEl>
                                        <p:attrNameLst>
                                          <p:attrName>ppt_y</p:attrName>
                                        </p:attrNameLst>
                                      </p:cBhvr>
                                      <p:tavLst>
                                        <p:tav tm="0">
                                          <p:val>
                                            <p:strVal val="#ppt_y"/>
                                          </p:val>
                                        </p:tav>
                                        <p:tav tm="100000">
                                          <p:val>
                                            <p:strVal val="#ppt_y"/>
                                          </p:val>
                                        </p:tav>
                                      </p:tavLst>
                                    </p:anim>
                                  </p:childTnLst>
                                </p:cTn>
                              </p:par>
                              <p:par>
                                <p:cTn id="83" presetID="2" presetClass="entr" presetSubtype="8" fill="hold" grpId="0" nodeType="withEffect">
                                  <p:stCondLst>
                                    <p:cond delay="1000"/>
                                  </p:stCondLst>
                                  <p:childTnLst>
                                    <p:set>
                                      <p:cBhvr>
                                        <p:cTn id="84" dur="1" fill="hold">
                                          <p:stCondLst>
                                            <p:cond delay="0"/>
                                          </p:stCondLst>
                                        </p:cTn>
                                        <p:tgtEl>
                                          <p:spTgt spid="29"/>
                                        </p:tgtEl>
                                        <p:attrNameLst>
                                          <p:attrName>style.visibility</p:attrName>
                                        </p:attrNameLst>
                                      </p:cBhvr>
                                      <p:to>
                                        <p:strVal val="visible"/>
                                      </p:to>
                                    </p:set>
                                    <p:anim calcmode="lin" valueType="num">
                                      <p:cBhvr additive="base">
                                        <p:cTn id="85" dur="450" fill="hold"/>
                                        <p:tgtEl>
                                          <p:spTgt spid="29"/>
                                        </p:tgtEl>
                                        <p:attrNameLst>
                                          <p:attrName>ppt_x</p:attrName>
                                        </p:attrNameLst>
                                      </p:cBhvr>
                                      <p:tavLst>
                                        <p:tav tm="0">
                                          <p:val>
                                            <p:strVal val="0-#ppt_w/2"/>
                                          </p:val>
                                        </p:tav>
                                        <p:tav tm="100000">
                                          <p:val>
                                            <p:strVal val="#ppt_x"/>
                                          </p:val>
                                        </p:tav>
                                      </p:tavLst>
                                    </p:anim>
                                    <p:anim calcmode="lin" valueType="num">
                                      <p:cBhvr additive="base">
                                        <p:cTn id="86" dur="450" fill="hold"/>
                                        <p:tgtEl>
                                          <p:spTgt spid="29"/>
                                        </p:tgtEl>
                                        <p:attrNameLst>
                                          <p:attrName>ppt_y</p:attrName>
                                        </p:attrNameLst>
                                      </p:cBhvr>
                                      <p:tavLst>
                                        <p:tav tm="0">
                                          <p:val>
                                            <p:strVal val="#ppt_y"/>
                                          </p:val>
                                        </p:tav>
                                        <p:tav tm="100000">
                                          <p:val>
                                            <p:strVal val="#ppt_y"/>
                                          </p:val>
                                        </p:tav>
                                      </p:tavLst>
                                    </p:anim>
                                  </p:childTnLst>
                                </p:cTn>
                              </p:par>
                              <p:par>
                                <p:cTn id="87" presetID="2" presetClass="entr" presetSubtype="8" fill="hold" grpId="0" nodeType="withEffect">
                                  <p:stCondLst>
                                    <p:cond delay="1150"/>
                                  </p:stCondLst>
                                  <p:childTnLst>
                                    <p:set>
                                      <p:cBhvr>
                                        <p:cTn id="88" dur="1" fill="hold">
                                          <p:stCondLst>
                                            <p:cond delay="0"/>
                                          </p:stCondLst>
                                        </p:cTn>
                                        <p:tgtEl>
                                          <p:spTgt spid="30"/>
                                        </p:tgtEl>
                                        <p:attrNameLst>
                                          <p:attrName>style.visibility</p:attrName>
                                        </p:attrNameLst>
                                      </p:cBhvr>
                                      <p:to>
                                        <p:strVal val="visible"/>
                                      </p:to>
                                    </p:set>
                                    <p:anim calcmode="lin" valueType="num">
                                      <p:cBhvr additive="base">
                                        <p:cTn id="89" dur="450" fill="hold"/>
                                        <p:tgtEl>
                                          <p:spTgt spid="30"/>
                                        </p:tgtEl>
                                        <p:attrNameLst>
                                          <p:attrName>ppt_x</p:attrName>
                                        </p:attrNameLst>
                                      </p:cBhvr>
                                      <p:tavLst>
                                        <p:tav tm="0">
                                          <p:val>
                                            <p:strVal val="0-#ppt_w/2"/>
                                          </p:val>
                                        </p:tav>
                                        <p:tav tm="100000">
                                          <p:val>
                                            <p:strVal val="#ppt_x"/>
                                          </p:val>
                                        </p:tav>
                                      </p:tavLst>
                                    </p:anim>
                                    <p:anim calcmode="lin" valueType="num">
                                      <p:cBhvr additive="base">
                                        <p:cTn id="90" dur="450" fill="hold"/>
                                        <p:tgtEl>
                                          <p:spTgt spid="30"/>
                                        </p:tgtEl>
                                        <p:attrNameLst>
                                          <p:attrName>ppt_y</p:attrName>
                                        </p:attrNameLst>
                                      </p:cBhvr>
                                      <p:tavLst>
                                        <p:tav tm="0">
                                          <p:val>
                                            <p:strVal val="#ppt_y"/>
                                          </p:val>
                                        </p:tav>
                                        <p:tav tm="100000">
                                          <p:val>
                                            <p:strVal val="#ppt_y"/>
                                          </p:val>
                                        </p:tav>
                                      </p:tavLst>
                                    </p:anim>
                                  </p:childTnLst>
                                </p:cTn>
                              </p:par>
                              <p:par>
                                <p:cTn id="91" presetID="2" presetClass="entr" presetSubtype="8" fill="hold" grpId="0" nodeType="withEffect">
                                  <p:stCondLst>
                                    <p:cond delay="1150"/>
                                  </p:stCondLst>
                                  <p:childTnLst>
                                    <p:set>
                                      <p:cBhvr>
                                        <p:cTn id="92" dur="1" fill="hold">
                                          <p:stCondLst>
                                            <p:cond delay="0"/>
                                          </p:stCondLst>
                                        </p:cTn>
                                        <p:tgtEl>
                                          <p:spTgt spid="31"/>
                                        </p:tgtEl>
                                        <p:attrNameLst>
                                          <p:attrName>style.visibility</p:attrName>
                                        </p:attrNameLst>
                                      </p:cBhvr>
                                      <p:to>
                                        <p:strVal val="visible"/>
                                      </p:to>
                                    </p:set>
                                    <p:anim calcmode="lin" valueType="num">
                                      <p:cBhvr additive="base">
                                        <p:cTn id="93" dur="450" fill="hold"/>
                                        <p:tgtEl>
                                          <p:spTgt spid="31"/>
                                        </p:tgtEl>
                                        <p:attrNameLst>
                                          <p:attrName>ppt_x</p:attrName>
                                        </p:attrNameLst>
                                      </p:cBhvr>
                                      <p:tavLst>
                                        <p:tav tm="0">
                                          <p:val>
                                            <p:strVal val="0-#ppt_w/2"/>
                                          </p:val>
                                        </p:tav>
                                        <p:tav tm="100000">
                                          <p:val>
                                            <p:strVal val="#ppt_x"/>
                                          </p:val>
                                        </p:tav>
                                      </p:tavLst>
                                    </p:anim>
                                    <p:anim calcmode="lin" valueType="num">
                                      <p:cBhvr additive="base">
                                        <p:cTn id="94" dur="450" fill="hold"/>
                                        <p:tgtEl>
                                          <p:spTgt spid="31"/>
                                        </p:tgtEl>
                                        <p:attrNameLst>
                                          <p:attrName>ppt_y</p:attrName>
                                        </p:attrNameLst>
                                      </p:cBhvr>
                                      <p:tavLst>
                                        <p:tav tm="0">
                                          <p:val>
                                            <p:strVal val="#ppt_y"/>
                                          </p:val>
                                        </p:tav>
                                        <p:tav tm="100000">
                                          <p:val>
                                            <p:strVal val="#ppt_y"/>
                                          </p:val>
                                        </p:tav>
                                      </p:tavLst>
                                    </p:anim>
                                  </p:childTnLst>
                                </p:cTn>
                              </p:par>
                              <p:par>
                                <p:cTn id="95" presetID="2" presetClass="entr" presetSubtype="8" fill="hold" grpId="0" nodeType="withEffect">
                                  <p:stCondLst>
                                    <p:cond delay="1150"/>
                                  </p:stCondLst>
                                  <p:childTnLst>
                                    <p:set>
                                      <p:cBhvr>
                                        <p:cTn id="96" dur="1" fill="hold">
                                          <p:stCondLst>
                                            <p:cond delay="0"/>
                                          </p:stCondLst>
                                        </p:cTn>
                                        <p:tgtEl>
                                          <p:spTgt spid="32"/>
                                        </p:tgtEl>
                                        <p:attrNameLst>
                                          <p:attrName>style.visibility</p:attrName>
                                        </p:attrNameLst>
                                      </p:cBhvr>
                                      <p:to>
                                        <p:strVal val="visible"/>
                                      </p:to>
                                    </p:set>
                                    <p:anim calcmode="lin" valueType="num">
                                      <p:cBhvr additive="base">
                                        <p:cTn id="97" dur="450" fill="hold"/>
                                        <p:tgtEl>
                                          <p:spTgt spid="32"/>
                                        </p:tgtEl>
                                        <p:attrNameLst>
                                          <p:attrName>ppt_x</p:attrName>
                                        </p:attrNameLst>
                                      </p:cBhvr>
                                      <p:tavLst>
                                        <p:tav tm="0">
                                          <p:val>
                                            <p:strVal val="0-#ppt_w/2"/>
                                          </p:val>
                                        </p:tav>
                                        <p:tav tm="100000">
                                          <p:val>
                                            <p:strVal val="#ppt_x"/>
                                          </p:val>
                                        </p:tav>
                                      </p:tavLst>
                                    </p:anim>
                                    <p:anim calcmode="lin" valueType="num">
                                      <p:cBhvr additive="base">
                                        <p:cTn id="98" dur="450" fill="hold"/>
                                        <p:tgtEl>
                                          <p:spTgt spid="32"/>
                                        </p:tgtEl>
                                        <p:attrNameLst>
                                          <p:attrName>ppt_y</p:attrName>
                                        </p:attrNameLst>
                                      </p:cBhvr>
                                      <p:tavLst>
                                        <p:tav tm="0">
                                          <p:val>
                                            <p:strVal val="#ppt_y"/>
                                          </p:val>
                                        </p:tav>
                                        <p:tav tm="100000">
                                          <p:val>
                                            <p:strVal val="#ppt_y"/>
                                          </p:val>
                                        </p:tav>
                                      </p:tavLst>
                                    </p:anim>
                                  </p:childTnLst>
                                </p:cTn>
                              </p:par>
                              <p:par>
                                <p:cTn id="99" presetID="2" presetClass="entr" presetSubtype="8" fill="hold" grpId="0" nodeType="withEffect">
                                  <p:stCondLst>
                                    <p:cond delay="1150"/>
                                  </p:stCondLst>
                                  <p:childTnLst>
                                    <p:set>
                                      <p:cBhvr>
                                        <p:cTn id="100" dur="1" fill="hold">
                                          <p:stCondLst>
                                            <p:cond delay="0"/>
                                          </p:stCondLst>
                                        </p:cTn>
                                        <p:tgtEl>
                                          <p:spTgt spid="33"/>
                                        </p:tgtEl>
                                        <p:attrNameLst>
                                          <p:attrName>style.visibility</p:attrName>
                                        </p:attrNameLst>
                                      </p:cBhvr>
                                      <p:to>
                                        <p:strVal val="visible"/>
                                      </p:to>
                                    </p:set>
                                    <p:anim calcmode="lin" valueType="num">
                                      <p:cBhvr additive="base">
                                        <p:cTn id="101" dur="450" fill="hold"/>
                                        <p:tgtEl>
                                          <p:spTgt spid="33"/>
                                        </p:tgtEl>
                                        <p:attrNameLst>
                                          <p:attrName>ppt_x</p:attrName>
                                        </p:attrNameLst>
                                      </p:cBhvr>
                                      <p:tavLst>
                                        <p:tav tm="0">
                                          <p:val>
                                            <p:strVal val="0-#ppt_w/2"/>
                                          </p:val>
                                        </p:tav>
                                        <p:tav tm="100000">
                                          <p:val>
                                            <p:strVal val="#ppt_x"/>
                                          </p:val>
                                        </p:tav>
                                      </p:tavLst>
                                    </p:anim>
                                    <p:anim calcmode="lin" valueType="num">
                                      <p:cBhvr additive="base">
                                        <p:cTn id="102" dur="450" fill="hold"/>
                                        <p:tgtEl>
                                          <p:spTgt spid="33"/>
                                        </p:tgtEl>
                                        <p:attrNameLst>
                                          <p:attrName>ppt_y</p:attrName>
                                        </p:attrNameLst>
                                      </p:cBhvr>
                                      <p:tavLst>
                                        <p:tav tm="0">
                                          <p:val>
                                            <p:strVal val="#ppt_y"/>
                                          </p:val>
                                        </p:tav>
                                        <p:tav tm="100000">
                                          <p:val>
                                            <p:strVal val="#ppt_y"/>
                                          </p:val>
                                        </p:tav>
                                      </p:tavLst>
                                    </p:anim>
                                  </p:childTnLst>
                                </p:cTn>
                              </p:par>
                              <p:par>
                                <p:cTn id="103" presetID="2" presetClass="entr" presetSubtype="8" fill="hold" grpId="0" nodeType="withEffect">
                                  <p:stCondLst>
                                    <p:cond delay="1150"/>
                                  </p:stCondLst>
                                  <p:childTnLst>
                                    <p:set>
                                      <p:cBhvr>
                                        <p:cTn id="104" dur="1" fill="hold">
                                          <p:stCondLst>
                                            <p:cond delay="0"/>
                                          </p:stCondLst>
                                        </p:cTn>
                                        <p:tgtEl>
                                          <p:spTgt spid="34"/>
                                        </p:tgtEl>
                                        <p:attrNameLst>
                                          <p:attrName>style.visibility</p:attrName>
                                        </p:attrNameLst>
                                      </p:cBhvr>
                                      <p:to>
                                        <p:strVal val="visible"/>
                                      </p:to>
                                    </p:set>
                                    <p:anim calcmode="lin" valueType="num">
                                      <p:cBhvr additive="base">
                                        <p:cTn id="105" dur="450" fill="hold"/>
                                        <p:tgtEl>
                                          <p:spTgt spid="34"/>
                                        </p:tgtEl>
                                        <p:attrNameLst>
                                          <p:attrName>ppt_x</p:attrName>
                                        </p:attrNameLst>
                                      </p:cBhvr>
                                      <p:tavLst>
                                        <p:tav tm="0">
                                          <p:val>
                                            <p:strVal val="0-#ppt_w/2"/>
                                          </p:val>
                                        </p:tav>
                                        <p:tav tm="100000">
                                          <p:val>
                                            <p:strVal val="#ppt_x"/>
                                          </p:val>
                                        </p:tav>
                                      </p:tavLst>
                                    </p:anim>
                                    <p:anim calcmode="lin" valueType="num">
                                      <p:cBhvr additive="base">
                                        <p:cTn id="106" dur="45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center.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pic>
        <p:nvPicPr>
          <p:cNvPr id="8" name="!!logo" descr="logo_stp.png"/>
          <p:cNvPicPr>
            <a:picLocks noChangeAspect="1"/>
          </p:cNvPicPr>
          <p:nvPr/>
        </p:nvPicPr>
        <p:blipFill>
          <a:blip r:embed="rId8"/>
          <a:stretch>
            <a:fillRect/>
          </a:stretch>
        </p:blipFill>
        <p:spPr>
          <a:xfrm>
            <a:off x="10024567" y="384048"/>
            <a:ext cx="420624" cy="420624"/>
          </a:xfrm>
          <a:prstGeom prst="rect">
            <a:avLst/>
          </a:prstGeom>
        </p:spPr>
      </p:pic>
      <p:sp>
        <p:nvSpPr>
          <p:cNvPr id="9"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0" name="TextBox 9"/>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15</a:t>
            </a:r>
          </a:p>
        </p:txBody>
      </p:sp>
      <p:sp>
        <p:nvSpPr>
          <p:cNvPr id="11" name="!!kicker"/>
          <p:cNvSpPr txBox="1"/>
          <p:nvPr/>
        </p:nvSpPr>
        <p:spPr>
          <a:xfrm>
            <a:off x="685800" y="502920"/>
            <a:ext cx="91440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LĨNH VỰC ÁP DỤNG</a:t>
            </a:r>
          </a:p>
        </p:txBody>
      </p:sp>
      <p:sp>
        <p:nvSpPr>
          <p:cNvPr id="12" name="!!title"/>
          <p:cNvSpPr txBox="1"/>
          <p:nvPr/>
        </p:nvSpPr>
        <p:spPr>
          <a:xfrm>
            <a:off x="685800" y="850392"/>
            <a:ext cx="9144000" cy="528320"/>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Một nền tảng — </a:t>
            </a:r>
            <a:r>
              <a:rPr sz="3200" b="0" i="0">
                <a:solidFill>
                  <a:srgbClr val="8FD11E"/>
                </a:solidFill>
                <a:latin typeface="Be Vietnam Pro ExtraBold"/>
                <a:ea typeface="Be Vietnam Pro ExtraBold"/>
                <a:cs typeface="Be Vietnam Pro ExtraBold"/>
              </a:rPr>
              <a:t>mọi ngành hàng</a:t>
            </a:r>
          </a:p>
        </p:txBody>
      </p:sp>
      <p:pic>
        <p:nvPicPr>
          <p:cNvPr id="13" name="Picture 12" descr="6bff01cbd438a9e7.jpg"/>
          <p:cNvPicPr>
            <a:picLocks noChangeAspect="1"/>
          </p:cNvPicPr>
          <p:nvPr/>
        </p:nvPicPr>
        <p:blipFill>
          <a:blip r:embed="rId9"/>
          <a:srcRect t="3842" b="3842"/>
          <a:stretch>
            <a:fillRect/>
          </a:stretch>
        </p:blipFill>
        <p:spPr>
          <a:xfrm>
            <a:off x="685800" y="1965960"/>
            <a:ext cx="3496970" cy="2112264"/>
          </a:xfrm>
          <a:prstGeom prst="roundRect">
            <a:avLst>
              <a:gd name="adj" fmla="val 6926"/>
            </a:avLst>
          </a:prstGeom>
          <a:ln w="9525">
            <a:solidFill>
              <a:srgbClr val="8FD11E">
                <a:alpha val="45000"/>
              </a:srgbClr>
            </a:solidFill>
          </a:ln>
        </p:spPr>
      </p:pic>
      <p:sp>
        <p:nvSpPr>
          <p:cNvPr id="14" name="Round Same Side Corner Rectangle 13"/>
          <p:cNvSpPr/>
          <p:nvPr/>
        </p:nvSpPr>
        <p:spPr>
          <a:xfrm rot="10800000">
            <a:off x="685800" y="3163824"/>
            <a:ext cx="349697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TextBox 14"/>
          <p:cNvSpPr txBox="1"/>
          <p:nvPr/>
        </p:nvSpPr>
        <p:spPr>
          <a:xfrm>
            <a:off x="850392" y="3602736"/>
            <a:ext cx="3167786" cy="384048"/>
          </a:xfrm>
          <a:prstGeom prst="rect">
            <a:avLst/>
          </a:prstGeom>
          <a:noFill/>
        </p:spPr>
        <p:txBody>
          <a:bodyPr wrap="none" lIns="0" rIns="0" tIns="0" bIns="0" anchor="ctr">
            <a:noAutofit/>
          </a:bodyPr>
          <a:lstStyle/>
          <a:p>
            <a:pPr algn="l">
              <a:lnSpc>
                <a:spcPct val="115000"/>
              </a:lnSpc>
              <a:spcAft>
                <a:spcPts val="0"/>
              </a:spcAft>
            </a:pPr>
            <a:r>
              <a:rPr sz="1400" b="0" i="0">
                <a:solidFill>
                  <a:srgbClr val="FFFFFF"/>
                </a:solidFill>
                <a:latin typeface="Be Vietnam Pro SemiBold"/>
                <a:ea typeface="Be Vietnam Pro SemiBold"/>
                <a:cs typeface="Be Vietnam Pro SemiBold"/>
              </a:rPr>
              <a:t>Thủy sản</a:t>
            </a:r>
          </a:p>
        </p:txBody>
      </p:sp>
      <p:pic>
        <p:nvPicPr>
          <p:cNvPr id="16" name="Picture 15" descr="coffee_harvest.jpg"/>
          <p:cNvPicPr>
            <a:picLocks noChangeAspect="1"/>
          </p:cNvPicPr>
          <p:nvPr/>
        </p:nvPicPr>
        <p:blipFill>
          <a:blip r:embed="rId10"/>
          <a:srcRect t="9593" b="9593"/>
          <a:stretch>
            <a:fillRect/>
          </a:stretch>
        </p:blipFill>
        <p:spPr>
          <a:xfrm>
            <a:off x="4347362" y="1965960"/>
            <a:ext cx="3496970" cy="2112264"/>
          </a:xfrm>
          <a:prstGeom prst="roundRect">
            <a:avLst>
              <a:gd name="adj" fmla="val 6926"/>
            </a:avLst>
          </a:prstGeom>
          <a:ln w="9525">
            <a:solidFill>
              <a:srgbClr val="8FD11E">
                <a:alpha val="45000"/>
              </a:srgbClr>
            </a:solidFill>
          </a:ln>
        </p:spPr>
      </p:pic>
      <p:sp>
        <p:nvSpPr>
          <p:cNvPr id="17" name="Round Same Side Corner Rectangle 16"/>
          <p:cNvSpPr/>
          <p:nvPr/>
        </p:nvSpPr>
        <p:spPr>
          <a:xfrm rot="10800000">
            <a:off x="4347362" y="3163824"/>
            <a:ext cx="349697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8" name="TextBox 17"/>
          <p:cNvSpPr txBox="1"/>
          <p:nvPr/>
        </p:nvSpPr>
        <p:spPr>
          <a:xfrm>
            <a:off x="4511954" y="3602736"/>
            <a:ext cx="3167786" cy="384048"/>
          </a:xfrm>
          <a:prstGeom prst="rect">
            <a:avLst/>
          </a:prstGeom>
          <a:noFill/>
        </p:spPr>
        <p:txBody>
          <a:bodyPr wrap="none" lIns="0" rIns="0" tIns="0" bIns="0" anchor="ctr">
            <a:noAutofit/>
          </a:bodyPr>
          <a:lstStyle/>
          <a:p>
            <a:pPr algn="l">
              <a:lnSpc>
                <a:spcPct val="115000"/>
              </a:lnSpc>
              <a:spcAft>
                <a:spcPts val="0"/>
              </a:spcAft>
            </a:pPr>
            <a:r>
              <a:rPr sz="1400" b="0" i="0">
                <a:solidFill>
                  <a:srgbClr val="FFFFFF"/>
                </a:solidFill>
                <a:latin typeface="Be Vietnam Pro SemiBold"/>
                <a:ea typeface="Be Vietnam Pro SemiBold"/>
                <a:cs typeface="Be Vietnam Pro SemiBold"/>
              </a:rPr>
              <a:t>Nông sản</a:t>
            </a:r>
          </a:p>
        </p:txBody>
      </p:sp>
      <p:pic>
        <p:nvPicPr>
          <p:cNvPr id="19" name="Picture 18" descr="9dccf45b7dbfe493.jpg"/>
          <p:cNvPicPr>
            <a:picLocks noChangeAspect="1"/>
          </p:cNvPicPr>
          <p:nvPr/>
        </p:nvPicPr>
        <p:blipFill>
          <a:blip r:embed="rId11"/>
          <a:srcRect t="7047" b="7047"/>
          <a:stretch>
            <a:fillRect/>
          </a:stretch>
        </p:blipFill>
        <p:spPr>
          <a:xfrm>
            <a:off x="8008925" y="1965960"/>
            <a:ext cx="3496970" cy="2112264"/>
          </a:xfrm>
          <a:prstGeom prst="roundRect">
            <a:avLst>
              <a:gd name="adj" fmla="val 6926"/>
            </a:avLst>
          </a:prstGeom>
          <a:ln w="9525">
            <a:solidFill>
              <a:srgbClr val="8FD11E">
                <a:alpha val="45000"/>
              </a:srgbClr>
            </a:solidFill>
          </a:ln>
        </p:spPr>
      </p:pic>
      <p:sp>
        <p:nvSpPr>
          <p:cNvPr id="20" name="Round Same Side Corner Rectangle 19"/>
          <p:cNvSpPr/>
          <p:nvPr/>
        </p:nvSpPr>
        <p:spPr>
          <a:xfrm rot="10800000">
            <a:off x="8008925" y="3163824"/>
            <a:ext cx="349697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TextBox 20"/>
          <p:cNvSpPr txBox="1"/>
          <p:nvPr/>
        </p:nvSpPr>
        <p:spPr>
          <a:xfrm>
            <a:off x="8173517" y="3602736"/>
            <a:ext cx="3167786" cy="384048"/>
          </a:xfrm>
          <a:prstGeom prst="rect">
            <a:avLst/>
          </a:prstGeom>
          <a:noFill/>
        </p:spPr>
        <p:txBody>
          <a:bodyPr wrap="none" lIns="0" rIns="0" tIns="0" bIns="0" anchor="ctr">
            <a:noAutofit/>
          </a:bodyPr>
          <a:lstStyle/>
          <a:p>
            <a:pPr algn="l">
              <a:lnSpc>
                <a:spcPct val="115000"/>
              </a:lnSpc>
              <a:spcAft>
                <a:spcPts val="0"/>
              </a:spcAft>
            </a:pPr>
            <a:r>
              <a:rPr sz="1400" b="0" i="0">
                <a:solidFill>
                  <a:srgbClr val="FFFFFF"/>
                </a:solidFill>
                <a:latin typeface="Be Vietnam Pro SemiBold"/>
                <a:ea typeface="Be Vietnam Pro SemiBold"/>
                <a:cs typeface="Be Vietnam Pro SemiBold"/>
              </a:rPr>
              <a:t>Thực phẩm</a:t>
            </a:r>
          </a:p>
        </p:txBody>
      </p:sp>
      <p:pic>
        <p:nvPicPr>
          <p:cNvPr id="22" name="Picture 21" descr="4bd3837a5811c377.jpg"/>
          <p:cNvPicPr>
            <a:picLocks noChangeAspect="1"/>
          </p:cNvPicPr>
          <p:nvPr/>
        </p:nvPicPr>
        <p:blipFill>
          <a:blip r:embed="rId12"/>
          <a:srcRect l="3923" r="3923"/>
          <a:stretch>
            <a:fillRect/>
          </a:stretch>
        </p:blipFill>
        <p:spPr>
          <a:xfrm>
            <a:off x="685800" y="4242816"/>
            <a:ext cx="3496970" cy="2112264"/>
          </a:xfrm>
          <a:prstGeom prst="roundRect">
            <a:avLst>
              <a:gd name="adj" fmla="val 6926"/>
            </a:avLst>
          </a:prstGeom>
          <a:ln w="9525">
            <a:solidFill>
              <a:srgbClr val="8FD11E">
                <a:alpha val="45000"/>
              </a:srgbClr>
            </a:solidFill>
          </a:ln>
        </p:spPr>
      </p:pic>
      <p:sp>
        <p:nvSpPr>
          <p:cNvPr id="23" name="Round Same Side Corner Rectangle 22"/>
          <p:cNvSpPr/>
          <p:nvPr/>
        </p:nvSpPr>
        <p:spPr>
          <a:xfrm rot="10800000">
            <a:off x="685800" y="5440680"/>
            <a:ext cx="349697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4" name="TextBox 23"/>
          <p:cNvSpPr txBox="1"/>
          <p:nvPr/>
        </p:nvSpPr>
        <p:spPr>
          <a:xfrm>
            <a:off x="850392" y="5879592"/>
            <a:ext cx="3167786" cy="384048"/>
          </a:xfrm>
          <a:prstGeom prst="rect">
            <a:avLst/>
          </a:prstGeom>
          <a:noFill/>
        </p:spPr>
        <p:txBody>
          <a:bodyPr wrap="none" lIns="0" rIns="0" tIns="0" bIns="0" anchor="ctr">
            <a:noAutofit/>
          </a:bodyPr>
          <a:lstStyle/>
          <a:p>
            <a:pPr algn="l">
              <a:lnSpc>
                <a:spcPct val="115000"/>
              </a:lnSpc>
              <a:spcAft>
                <a:spcPts val="0"/>
              </a:spcAft>
            </a:pPr>
            <a:r>
              <a:rPr sz="1400" b="0" i="0">
                <a:solidFill>
                  <a:srgbClr val="FFFFFF"/>
                </a:solidFill>
                <a:latin typeface="Be Vietnam Pro SemiBold"/>
                <a:ea typeface="Be Vietnam Pro SemiBold"/>
                <a:cs typeface="Be Vietnam Pro SemiBold"/>
              </a:rPr>
              <a:t>Dược phẩm</a:t>
            </a:r>
          </a:p>
        </p:txBody>
      </p:sp>
      <p:pic>
        <p:nvPicPr>
          <p:cNvPr id="25" name="Picture 24" descr="2fb758af358ea115.jpg"/>
          <p:cNvPicPr>
            <a:picLocks noChangeAspect="1"/>
          </p:cNvPicPr>
          <p:nvPr/>
        </p:nvPicPr>
        <p:blipFill>
          <a:blip r:embed="rId13"/>
          <a:srcRect t="4720" b="4720"/>
          <a:stretch>
            <a:fillRect/>
          </a:stretch>
        </p:blipFill>
        <p:spPr>
          <a:xfrm>
            <a:off x="4347362" y="4242816"/>
            <a:ext cx="3496970" cy="2112264"/>
          </a:xfrm>
          <a:prstGeom prst="roundRect">
            <a:avLst>
              <a:gd name="adj" fmla="val 6926"/>
            </a:avLst>
          </a:prstGeom>
          <a:ln w="9525">
            <a:solidFill>
              <a:srgbClr val="8FD11E">
                <a:alpha val="45000"/>
              </a:srgbClr>
            </a:solidFill>
          </a:ln>
        </p:spPr>
      </p:pic>
      <p:sp>
        <p:nvSpPr>
          <p:cNvPr id="26" name="Round Same Side Corner Rectangle 25"/>
          <p:cNvSpPr/>
          <p:nvPr/>
        </p:nvSpPr>
        <p:spPr>
          <a:xfrm rot="10800000">
            <a:off x="4347362" y="5440680"/>
            <a:ext cx="349697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7" name="TextBox 26"/>
          <p:cNvSpPr txBox="1"/>
          <p:nvPr/>
        </p:nvSpPr>
        <p:spPr>
          <a:xfrm>
            <a:off x="4511954" y="5879592"/>
            <a:ext cx="3167786" cy="384048"/>
          </a:xfrm>
          <a:prstGeom prst="rect">
            <a:avLst/>
          </a:prstGeom>
          <a:noFill/>
        </p:spPr>
        <p:txBody>
          <a:bodyPr wrap="none" lIns="0" rIns="0" tIns="0" bIns="0" anchor="ctr">
            <a:noAutofit/>
          </a:bodyPr>
          <a:lstStyle/>
          <a:p>
            <a:pPr algn="l">
              <a:lnSpc>
                <a:spcPct val="115000"/>
              </a:lnSpc>
              <a:spcAft>
                <a:spcPts val="0"/>
              </a:spcAft>
            </a:pPr>
            <a:r>
              <a:rPr sz="1400" b="0" i="0">
                <a:solidFill>
                  <a:srgbClr val="FFFFFF"/>
                </a:solidFill>
                <a:latin typeface="Be Vietnam Pro SemiBold"/>
                <a:ea typeface="Be Vietnam Pro SemiBold"/>
                <a:cs typeface="Be Vietnam Pro SemiBold"/>
              </a:rPr>
              <a:t>Hàng tiêu dùng</a:t>
            </a:r>
          </a:p>
        </p:txBody>
      </p:sp>
      <p:pic>
        <p:nvPicPr>
          <p:cNvPr id="28" name="Picture 27" descr="2067dfd164cd8e64.jpg"/>
          <p:cNvPicPr>
            <a:picLocks noChangeAspect="1"/>
          </p:cNvPicPr>
          <p:nvPr/>
        </p:nvPicPr>
        <p:blipFill>
          <a:blip r:embed="rId14"/>
          <a:srcRect t="17349" b="37349"/>
          <a:stretch>
            <a:fillRect/>
          </a:stretch>
        </p:blipFill>
        <p:spPr>
          <a:xfrm>
            <a:off x="8008925" y="4242816"/>
            <a:ext cx="3496970" cy="2112264"/>
          </a:xfrm>
          <a:prstGeom prst="roundRect">
            <a:avLst>
              <a:gd name="adj" fmla="val 6926"/>
            </a:avLst>
          </a:prstGeom>
          <a:ln w="9525">
            <a:solidFill>
              <a:srgbClr val="8FD11E">
                <a:alpha val="45000"/>
              </a:srgbClr>
            </a:solidFill>
          </a:ln>
        </p:spPr>
      </p:pic>
      <p:sp>
        <p:nvSpPr>
          <p:cNvPr id="29" name="Round Same Side Corner Rectangle 28"/>
          <p:cNvSpPr/>
          <p:nvPr/>
        </p:nvSpPr>
        <p:spPr>
          <a:xfrm rot="10800000">
            <a:off x="8008925" y="5440680"/>
            <a:ext cx="349697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0" name="TextBox 29"/>
          <p:cNvSpPr txBox="1"/>
          <p:nvPr/>
        </p:nvSpPr>
        <p:spPr>
          <a:xfrm>
            <a:off x="8173517" y="5879592"/>
            <a:ext cx="3167786" cy="384048"/>
          </a:xfrm>
          <a:prstGeom prst="rect">
            <a:avLst/>
          </a:prstGeom>
          <a:noFill/>
        </p:spPr>
        <p:txBody>
          <a:bodyPr wrap="none" lIns="0" rIns="0" tIns="0" bIns="0" anchor="ctr">
            <a:noAutofit/>
          </a:bodyPr>
          <a:lstStyle/>
          <a:p>
            <a:pPr algn="l">
              <a:lnSpc>
                <a:spcPct val="115000"/>
              </a:lnSpc>
              <a:spcAft>
                <a:spcPts val="0"/>
              </a:spcAft>
            </a:pPr>
            <a:r>
              <a:rPr sz="1400" b="0" i="0">
                <a:solidFill>
                  <a:srgbClr val="FFFFFF"/>
                </a:solidFill>
                <a:latin typeface="Be Vietnam Pro SemiBold"/>
                <a:ea typeface="Be Vietnam Pro SemiBold"/>
                <a:cs typeface="Be Vietnam Pro SemiBold"/>
              </a:rPr>
              <a:t>Công nghiệp chế biến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22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53" presetClass="entr" presetSubtype="16" fill="hold" grpId="0" nodeType="withEffect">
                                  <p:stCondLst>
                                    <p:cond delay="40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450" fill="hold"/>
                                        <p:tgtEl>
                                          <p:spTgt spid="13"/>
                                        </p:tgtEl>
                                        <p:attrNameLst>
                                          <p:attrName>ppt_w</p:attrName>
                                        </p:attrNameLst>
                                      </p:cBhvr>
                                      <p:tavLst>
                                        <p:tav tm="0">
                                          <p:val>
                                            <p:strVal val="#ppt_w*0.7"/>
                                          </p:val>
                                        </p:tav>
                                        <p:tav tm="100000">
                                          <p:val>
                                            <p:strVal val="#ppt_w"/>
                                          </p:val>
                                        </p:tav>
                                      </p:tavLst>
                                    </p:anim>
                                    <p:anim calcmode="lin" valueType="num">
                                      <p:cBhvr additive="base">
                                        <p:cTn id="23" dur="450" fill="hold"/>
                                        <p:tgtEl>
                                          <p:spTgt spid="13"/>
                                        </p:tgtEl>
                                        <p:attrNameLst>
                                          <p:attrName>ppt_h</p:attrName>
                                        </p:attrNameLst>
                                      </p:cBhvr>
                                      <p:tavLst>
                                        <p:tav tm="0">
                                          <p:val>
                                            <p:strVal val="#ppt_h*0.7"/>
                                          </p:val>
                                        </p:tav>
                                        <p:tav tm="100000">
                                          <p:val>
                                            <p:strVal val="#ppt_h"/>
                                          </p:val>
                                        </p:tav>
                                      </p:tavLst>
                                    </p:anim>
                                    <p:animEffect transition="in" filter="fade">
                                      <p:cBhvr>
                                        <p:cTn id="24" dur="450"/>
                                        <p:tgtEl>
                                          <p:spTgt spid="13"/>
                                        </p:tgtEl>
                                      </p:cBhvr>
                                    </p:animEffect>
                                  </p:childTnLst>
                                </p:cTn>
                              </p:par>
                              <p:par>
                                <p:cTn id="25" presetID="53" presetClass="entr" presetSubtype="16" fill="hold" grpId="0" nodeType="withEffect">
                                  <p:stCondLst>
                                    <p:cond delay="40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450" fill="hold"/>
                                        <p:tgtEl>
                                          <p:spTgt spid="14"/>
                                        </p:tgtEl>
                                        <p:attrNameLst>
                                          <p:attrName>ppt_w</p:attrName>
                                        </p:attrNameLst>
                                      </p:cBhvr>
                                      <p:tavLst>
                                        <p:tav tm="0">
                                          <p:val>
                                            <p:strVal val="#ppt_w*0.7"/>
                                          </p:val>
                                        </p:tav>
                                        <p:tav tm="100000">
                                          <p:val>
                                            <p:strVal val="#ppt_w"/>
                                          </p:val>
                                        </p:tav>
                                      </p:tavLst>
                                    </p:anim>
                                    <p:anim calcmode="lin" valueType="num">
                                      <p:cBhvr additive="base">
                                        <p:cTn id="28" dur="450" fill="hold"/>
                                        <p:tgtEl>
                                          <p:spTgt spid="14"/>
                                        </p:tgtEl>
                                        <p:attrNameLst>
                                          <p:attrName>ppt_h</p:attrName>
                                        </p:attrNameLst>
                                      </p:cBhvr>
                                      <p:tavLst>
                                        <p:tav tm="0">
                                          <p:val>
                                            <p:strVal val="#ppt_h*0.7"/>
                                          </p:val>
                                        </p:tav>
                                        <p:tav tm="100000">
                                          <p:val>
                                            <p:strVal val="#ppt_h"/>
                                          </p:val>
                                        </p:tav>
                                      </p:tavLst>
                                    </p:anim>
                                    <p:animEffect transition="in" filter="fade">
                                      <p:cBhvr>
                                        <p:cTn id="29" dur="450"/>
                                        <p:tgtEl>
                                          <p:spTgt spid="14"/>
                                        </p:tgtEl>
                                      </p:cBhvr>
                                    </p:animEffect>
                                  </p:childTnLst>
                                </p:cTn>
                              </p:par>
                              <p:par>
                                <p:cTn id="30" presetID="53" presetClass="entr" presetSubtype="16" fill="hold" grpId="0" nodeType="withEffect">
                                  <p:stCondLst>
                                    <p:cond delay="40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450" fill="hold"/>
                                        <p:tgtEl>
                                          <p:spTgt spid="15"/>
                                        </p:tgtEl>
                                        <p:attrNameLst>
                                          <p:attrName>ppt_w</p:attrName>
                                        </p:attrNameLst>
                                      </p:cBhvr>
                                      <p:tavLst>
                                        <p:tav tm="0">
                                          <p:val>
                                            <p:strVal val="#ppt_w*0.7"/>
                                          </p:val>
                                        </p:tav>
                                        <p:tav tm="100000">
                                          <p:val>
                                            <p:strVal val="#ppt_w"/>
                                          </p:val>
                                        </p:tav>
                                      </p:tavLst>
                                    </p:anim>
                                    <p:anim calcmode="lin" valueType="num">
                                      <p:cBhvr additive="base">
                                        <p:cTn id="33" dur="450" fill="hold"/>
                                        <p:tgtEl>
                                          <p:spTgt spid="15"/>
                                        </p:tgtEl>
                                        <p:attrNameLst>
                                          <p:attrName>ppt_h</p:attrName>
                                        </p:attrNameLst>
                                      </p:cBhvr>
                                      <p:tavLst>
                                        <p:tav tm="0">
                                          <p:val>
                                            <p:strVal val="#ppt_h*0.7"/>
                                          </p:val>
                                        </p:tav>
                                        <p:tav tm="100000">
                                          <p:val>
                                            <p:strVal val="#ppt_h"/>
                                          </p:val>
                                        </p:tav>
                                      </p:tavLst>
                                    </p:anim>
                                    <p:animEffect transition="in" filter="fade">
                                      <p:cBhvr>
                                        <p:cTn id="34" dur="450"/>
                                        <p:tgtEl>
                                          <p:spTgt spid="15"/>
                                        </p:tgtEl>
                                      </p:cBhvr>
                                    </p:animEffect>
                                  </p:childTnLst>
                                </p:cTn>
                              </p:par>
                              <p:par>
                                <p:cTn id="35" presetID="53" presetClass="entr" presetSubtype="16" fill="hold" grpId="0" nodeType="withEffect">
                                  <p:stCondLst>
                                    <p:cond delay="50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450" fill="hold"/>
                                        <p:tgtEl>
                                          <p:spTgt spid="16"/>
                                        </p:tgtEl>
                                        <p:attrNameLst>
                                          <p:attrName>ppt_w</p:attrName>
                                        </p:attrNameLst>
                                      </p:cBhvr>
                                      <p:tavLst>
                                        <p:tav tm="0">
                                          <p:val>
                                            <p:strVal val="#ppt_w*0.7"/>
                                          </p:val>
                                        </p:tav>
                                        <p:tav tm="100000">
                                          <p:val>
                                            <p:strVal val="#ppt_w"/>
                                          </p:val>
                                        </p:tav>
                                      </p:tavLst>
                                    </p:anim>
                                    <p:anim calcmode="lin" valueType="num">
                                      <p:cBhvr additive="base">
                                        <p:cTn id="38" dur="450" fill="hold"/>
                                        <p:tgtEl>
                                          <p:spTgt spid="16"/>
                                        </p:tgtEl>
                                        <p:attrNameLst>
                                          <p:attrName>ppt_h</p:attrName>
                                        </p:attrNameLst>
                                      </p:cBhvr>
                                      <p:tavLst>
                                        <p:tav tm="0">
                                          <p:val>
                                            <p:strVal val="#ppt_h*0.7"/>
                                          </p:val>
                                        </p:tav>
                                        <p:tav tm="100000">
                                          <p:val>
                                            <p:strVal val="#ppt_h"/>
                                          </p:val>
                                        </p:tav>
                                      </p:tavLst>
                                    </p:anim>
                                    <p:animEffect transition="in" filter="fade">
                                      <p:cBhvr>
                                        <p:cTn id="39" dur="450"/>
                                        <p:tgtEl>
                                          <p:spTgt spid="16"/>
                                        </p:tgtEl>
                                      </p:cBhvr>
                                    </p:animEffect>
                                  </p:childTnLst>
                                </p:cTn>
                              </p:par>
                              <p:par>
                                <p:cTn id="40" presetID="53" presetClass="entr" presetSubtype="16" fill="hold" grpId="0" nodeType="withEffect">
                                  <p:stCondLst>
                                    <p:cond delay="50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450" fill="hold"/>
                                        <p:tgtEl>
                                          <p:spTgt spid="17"/>
                                        </p:tgtEl>
                                        <p:attrNameLst>
                                          <p:attrName>ppt_w</p:attrName>
                                        </p:attrNameLst>
                                      </p:cBhvr>
                                      <p:tavLst>
                                        <p:tav tm="0">
                                          <p:val>
                                            <p:strVal val="#ppt_w*0.7"/>
                                          </p:val>
                                        </p:tav>
                                        <p:tav tm="100000">
                                          <p:val>
                                            <p:strVal val="#ppt_w"/>
                                          </p:val>
                                        </p:tav>
                                      </p:tavLst>
                                    </p:anim>
                                    <p:anim calcmode="lin" valueType="num">
                                      <p:cBhvr additive="base">
                                        <p:cTn id="43" dur="450" fill="hold"/>
                                        <p:tgtEl>
                                          <p:spTgt spid="17"/>
                                        </p:tgtEl>
                                        <p:attrNameLst>
                                          <p:attrName>ppt_h</p:attrName>
                                        </p:attrNameLst>
                                      </p:cBhvr>
                                      <p:tavLst>
                                        <p:tav tm="0">
                                          <p:val>
                                            <p:strVal val="#ppt_h*0.7"/>
                                          </p:val>
                                        </p:tav>
                                        <p:tav tm="100000">
                                          <p:val>
                                            <p:strVal val="#ppt_h"/>
                                          </p:val>
                                        </p:tav>
                                      </p:tavLst>
                                    </p:anim>
                                    <p:animEffect transition="in" filter="fade">
                                      <p:cBhvr>
                                        <p:cTn id="44" dur="450"/>
                                        <p:tgtEl>
                                          <p:spTgt spid="17"/>
                                        </p:tgtEl>
                                      </p:cBhvr>
                                    </p:animEffect>
                                  </p:childTnLst>
                                </p:cTn>
                              </p:par>
                              <p:par>
                                <p:cTn id="45" presetID="53" presetClass="entr" presetSubtype="16" fill="hold" grpId="0" nodeType="withEffect">
                                  <p:stCondLst>
                                    <p:cond delay="50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450" fill="hold"/>
                                        <p:tgtEl>
                                          <p:spTgt spid="18"/>
                                        </p:tgtEl>
                                        <p:attrNameLst>
                                          <p:attrName>ppt_w</p:attrName>
                                        </p:attrNameLst>
                                      </p:cBhvr>
                                      <p:tavLst>
                                        <p:tav tm="0">
                                          <p:val>
                                            <p:strVal val="#ppt_w*0.7"/>
                                          </p:val>
                                        </p:tav>
                                        <p:tav tm="100000">
                                          <p:val>
                                            <p:strVal val="#ppt_w"/>
                                          </p:val>
                                        </p:tav>
                                      </p:tavLst>
                                    </p:anim>
                                    <p:anim calcmode="lin" valueType="num">
                                      <p:cBhvr additive="base">
                                        <p:cTn id="48" dur="450" fill="hold"/>
                                        <p:tgtEl>
                                          <p:spTgt spid="18"/>
                                        </p:tgtEl>
                                        <p:attrNameLst>
                                          <p:attrName>ppt_h</p:attrName>
                                        </p:attrNameLst>
                                      </p:cBhvr>
                                      <p:tavLst>
                                        <p:tav tm="0">
                                          <p:val>
                                            <p:strVal val="#ppt_h*0.7"/>
                                          </p:val>
                                        </p:tav>
                                        <p:tav tm="100000">
                                          <p:val>
                                            <p:strVal val="#ppt_h"/>
                                          </p:val>
                                        </p:tav>
                                      </p:tavLst>
                                    </p:anim>
                                    <p:animEffect transition="in" filter="fade">
                                      <p:cBhvr>
                                        <p:cTn id="49" dur="450"/>
                                        <p:tgtEl>
                                          <p:spTgt spid="18"/>
                                        </p:tgtEl>
                                      </p:cBhvr>
                                    </p:animEffect>
                                  </p:childTnLst>
                                </p:cTn>
                              </p:par>
                              <p:par>
                                <p:cTn id="50" presetID="53" presetClass="entr" presetSubtype="16" fill="hold" grpId="0" nodeType="withEffect">
                                  <p:stCondLst>
                                    <p:cond delay="60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450" fill="hold"/>
                                        <p:tgtEl>
                                          <p:spTgt spid="19"/>
                                        </p:tgtEl>
                                        <p:attrNameLst>
                                          <p:attrName>ppt_w</p:attrName>
                                        </p:attrNameLst>
                                      </p:cBhvr>
                                      <p:tavLst>
                                        <p:tav tm="0">
                                          <p:val>
                                            <p:strVal val="#ppt_w*0.7"/>
                                          </p:val>
                                        </p:tav>
                                        <p:tav tm="100000">
                                          <p:val>
                                            <p:strVal val="#ppt_w"/>
                                          </p:val>
                                        </p:tav>
                                      </p:tavLst>
                                    </p:anim>
                                    <p:anim calcmode="lin" valueType="num">
                                      <p:cBhvr additive="base">
                                        <p:cTn id="53" dur="450" fill="hold"/>
                                        <p:tgtEl>
                                          <p:spTgt spid="19"/>
                                        </p:tgtEl>
                                        <p:attrNameLst>
                                          <p:attrName>ppt_h</p:attrName>
                                        </p:attrNameLst>
                                      </p:cBhvr>
                                      <p:tavLst>
                                        <p:tav tm="0">
                                          <p:val>
                                            <p:strVal val="#ppt_h*0.7"/>
                                          </p:val>
                                        </p:tav>
                                        <p:tav tm="100000">
                                          <p:val>
                                            <p:strVal val="#ppt_h"/>
                                          </p:val>
                                        </p:tav>
                                      </p:tavLst>
                                    </p:anim>
                                    <p:animEffect transition="in" filter="fade">
                                      <p:cBhvr>
                                        <p:cTn id="54" dur="450"/>
                                        <p:tgtEl>
                                          <p:spTgt spid="19"/>
                                        </p:tgtEl>
                                      </p:cBhvr>
                                    </p:animEffect>
                                  </p:childTnLst>
                                </p:cTn>
                              </p:par>
                              <p:par>
                                <p:cTn id="55" presetID="53" presetClass="entr" presetSubtype="16" fill="hold" grpId="0" nodeType="withEffect">
                                  <p:stCondLst>
                                    <p:cond delay="60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450" fill="hold"/>
                                        <p:tgtEl>
                                          <p:spTgt spid="20"/>
                                        </p:tgtEl>
                                        <p:attrNameLst>
                                          <p:attrName>ppt_w</p:attrName>
                                        </p:attrNameLst>
                                      </p:cBhvr>
                                      <p:tavLst>
                                        <p:tav tm="0">
                                          <p:val>
                                            <p:strVal val="#ppt_w*0.7"/>
                                          </p:val>
                                        </p:tav>
                                        <p:tav tm="100000">
                                          <p:val>
                                            <p:strVal val="#ppt_w"/>
                                          </p:val>
                                        </p:tav>
                                      </p:tavLst>
                                    </p:anim>
                                    <p:anim calcmode="lin" valueType="num">
                                      <p:cBhvr additive="base">
                                        <p:cTn id="58" dur="450" fill="hold"/>
                                        <p:tgtEl>
                                          <p:spTgt spid="20"/>
                                        </p:tgtEl>
                                        <p:attrNameLst>
                                          <p:attrName>ppt_h</p:attrName>
                                        </p:attrNameLst>
                                      </p:cBhvr>
                                      <p:tavLst>
                                        <p:tav tm="0">
                                          <p:val>
                                            <p:strVal val="#ppt_h*0.7"/>
                                          </p:val>
                                        </p:tav>
                                        <p:tav tm="100000">
                                          <p:val>
                                            <p:strVal val="#ppt_h"/>
                                          </p:val>
                                        </p:tav>
                                      </p:tavLst>
                                    </p:anim>
                                    <p:animEffect transition="in" filter="fade">
                                      <p:cBhvr>
                                        <p:cTn id="59" dur="450"/>
                                        <p:tgtEl>
                                          <p:spTgt spid="20"/>
                                        </p:tgtEl>
                                      </p:cBhvr>
                                    </p:animEffect>
                                  </p:childTnLst>
                                </p:cTn>
                              </p:par>
                              <p:par>
                                <p:cTn id="60" presetID="53" presetClass="entr" presetSubtype="16" fill="hold" grpId="0" nodeType="withEffect">
                                  <p:stCondLst>
                                    <p:cond delay="600"/>
                                  </p:stCondLst>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450" fill="hold"/>
                                        <p:tgtEl>
                                          <p:spTgt spid="21"/>
                                        </p:tgtEl>
                                        <p:attrNameLst>
                                          <p:attrName>ppt_w</p:attrName>
                                        </p:attrNameLst>
                                      </p:cBhvr>
                                      <p:tavLst>
                                        <p:tav tm="0">
                                          <p:val>
                                            <p:strVal val="#ppt_w*0.7"/>
                                          </p:val>
                                        </p:tav>
                                        <p:tav tm="100000">
                                          <p:val>
                                            <p:strVal val="#ppt_w"/>
                                          </p:val>
                                        </p:tav>
                                      </p:tavLst>
                                    </p:anim>
                                    <p:anim calcmode="lin" valueType="num">
                                      <p:cBhvr additive="base">
                                        <p:cTn id="63" dur="450" fill="hold"/>
                                        <p:tgtEl>
                                          <p:spTgt spid="21"/>
                                        </p:tgtEl>
                                        <p:attrNameLst>
                                          <p:attrName>ppt_h</p:attrName>
                                        </p:attrNameLst>
                                      </p:cBhvr>
                                      <p:tavLst>
                                        <p:tav tm="0">
                                          <p:val>
                                            <p:strVal val="#ppt_h*0.7"/>
                                          </p:val>
                                        </p:tav>
                                        <p:tav tm="100000">
                                          <p:val>
                                            <p:strVal val="#ppt_h"/>
                                          </p:val>
                                        </p:tav>
                                      </p:tavLst>
                                    </p:anim>
                                    <p:animEffect transition="in" filter="fade">
                                      <p:cBhvr>
                                        <p:cTn id="64" dur="450"/>
                                        <p:tgtEl>
                                          <p:spTgt spid="21"/>
                                        </p:tgtEl>
                                      </p:cBhvr>
                                    </p:animEffect>
                                  </p:childTnLst>
                                </p:cTn>
                              </p:par>
                              <p:par>
                                <p:cTn id="65" presetID="53" presetClass="entr" presetSubtype="16" fill="hold" grpId="0" nodeType="withEffect">
                                  <p:stCondLst>
                                    <p:cond delay="70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450" fill="hold"/>
                                        <p:tgtEl>
                                          <p:spTgt spid="22"/>
                                        </p:tgtEl>
                                        <p:attrNameLst>
                                          <p:attrName>ppt_w</p:attrName>
                                        </p:attrNameLst>
                                      </p:cBhvr>
                                      <p:tavLst>
                                        <p:tav tm="0">
                                          <p:val>
                                            <p:strVal val="#ppt_w*0.7"/>
                                          </p:val>
                                        </p:tav>
                                        <p:tav tm="100000">
                                          <p:val>
                                            <p:strVal val="#ppt_w"/>
                                          </p:val>
                                        </p:tav>
                                      </p:tavLst>
                                    </p:anim>
                                    <p:anim calcmode="lin" valueType="num">
                                      <p:cBhvr additive="base">
                                        <p:cTn id="68" dur="450" fill="hold"/>
                                        <p:tgtEl>
                                          <p:spTgt spid="22"/>
                                        </p:tgtEl>
                                        <p:attrNameLst>
                                          <p:attrName>ppt_h</p:attrName>
                                        </p:attrNameLst>
                                      </p:cBhvr>
                                      <p:tavLst>
                                        <p:tav tm="0">
                                          <p:val>
                                            <p:strVal val="#ppt_h*0.7"/>
                                          </p:val>
                                        </p:tav>
                                        <p:tav tm="100000">
                                          <p:val>
                                            <p:strVal val="#ppt_h"/>
                                          </p:val>
                                        </p:tav>
                                      </p:tavLst>
                                    </p:anim>
                                    <p:animEffect transition="in" filter="fade">
                                      <p:cBhvr>
                                        <p:cTn id="69" dur="450"/>
                                        <p:tgtEl>
                                          <p:spTgt spid="22"/>
                                        </p:tgtEl>
                                      </p:cBhvr>
                                    </p:animEffect>
                                  </p:childTnLst>
                                </p:cTn>
                              </p:par>
                              <p:par>
                                <p:cTn id="70" presetID="53" presetClass="entr" presetSubtype="16" fill="hold" grpId="0" nodeType="withEffect">
                                  <p:stCondLst>
                                    <p:cond delay="70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450" fill="hold"/>
                                        <p:tgtEl>
                                          <p:spTgt spid="23"/>
                                        </p:tgtEl>
                                        <p:attrNameLst>
                                          <p:attrName>ppt_w</p:attrName>
                                        </p:attrNameLst>
                                      </p:cBhvr>
                                      <p:tavLst>
                                        <p:tav tm="0">
                                          <p:val>
                                            <p:strVal val="#ppt_w*0.7"/>
                                          </p:val>
                                        </p:tav>
                                        <p:tav tm="100000">
                                          <p:val>
                                            <p:strVal val="#ppt_w"/>
                                          </p:val>
                                        </p:tav>
                                      </p:tavLst>
                                    </p:anim>
                                    <p:anim calcmode="lin" valueType="num">
                                      <p:cBhvr additive="base">
                                        <p:cTn id="73" dur="450" fill="hold"/>
                                        <p:tgtEl>
                                          <p:spTgt spid="23"/>
                                        </p:tgtEl>
                                        <p:attrNameLst>
                                          <p:attrName>ppt_h</p:attrName>
                                        </p:attrNameLst>
                                      </p:cBhvr>
                                      <p:tavLst>
                                        <p:tav tm="0">
                                          <p:val>
                                            <p:strVal val="#ppt_h*0.7"/>
                                          </p:val>
                                        </p:tav>
                                        <p:tav tm="100000">
                                          <p:val>
                                            <p:strVal val="#ppt_h"/>
                                          </p:val>
                                        </p:tav>
                                      </p:tavLst>
                                    </p:anim>
                                    <p:animEffect transition="in" filter="fade">
                                      <p:cBhvr>
                                        <p:cTn id="74" dur="450"/>
                                        <p:tgtEl>
                                          <p:spTgt spid="23"/>
                                        </p:tgtEl>
                                      </p:cBhvr>
                                    </p:animEffect>
                                  </p:childTnLst>
                                </p:cTn>
                              </p:par>
                              <p:par>
                                <p:cTn id="75" presetID="53" presetClass="entr" presetSubtype="16" fill="hold" grpId="0" nodeType="withEffect">
                                  <p:stCondLst>
                                    <p:cond delay="70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450" fill="hold"/>
                                        <p:tgtEl>
                                          <p:spTgt spid="24"/>
                                        </p:tgtEl>
                                        <p:attrNameLst>
                                          <p:attrName>ppt_w</p:attrName>
                                        </p:attrNameLst>
                                      </p:cBhvr>
                                      <p:tavLst>
                                        <p:tav tm="0">
                                          <p:val>
                                            <p:strVal val="#ppt_w*0.7"/>
                                          </p:val>
                                        </p:tav>
                                        <p:tav tm="100000">
                                          <p:val>
                                            <p:strVal val="#ppt_w"/>
                                          </p:val>
                                        </p:tav>
                                      </p:tavLst>
                                    </p:anim>
                                    <p:anim calcmode="lin" valueType="num">
                                      <p:cBhvr additive="base">
                                        <p:cTn id="78" dur="450" fill="hold"/>
                                        <p:tgtEl>
                                          <p:spTgt spid="24"/>
                                        </p:tgtEl>
                                        <p:attrNameLst>
                                          <p:attrName>ppt_h</p:attrName>
                                        </p:attrNameLst>
                                      </p:cBhvr>
                                      <p:tavLst>
                                        <p:tav tm="0">
                                          <p:val>
                                            <p:strVal val="#ppt_h*0.7"/>
                                          </p:val>
                                        </p:tav>
                                        <p:tav tm="100000">
                                          <p:val>
                                            <p:strVal val="#ppt_h"/>
                                          </p:val>
                                        </p:tav>
                                      </p:tavLst>
                                    </p:anim>
                                    <p:animEffect transition="in" filter="fade">
                                      <p:cBhvr>
                                        <p:cTn id="79" dur="450"/>
                                        <p:tgtEl>
                                          <p:spTgt spid="24"/>
                                        </p:tgtEl>
                                      </p:cBhvr>
                                    </p:animEffect>
                                  </p:childTnLst>
                                </p:cTn>
                              </p:par>
                              <p:par>
                                <p:cTn id="80" presetID="53" presetClass="entr" presetSubtype="16" fill="hold" grpId="0" nodeType="withEffect">
                                  <p:stCondLst>
                                    <p:cond delay="799"/>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450" fill="hold"/>
                                        <p:tgtEl>
                                          <p:spTgt spid="25"/>
                                        </p:tgtEl>
                                        <p:attrNameLst>
                                          <p:attrName>ppt_w</p:attrName>
                                        </p:attrNameLst>
                                      </p:cBhvr>
                                      <p:tavLst>
                                        <p:tav tm="0">
                                          <p:val>
                                            <p:strVal val="#ppt_w*0.7"/>
                                          </p:val>
                                        </p:tav>
                                        <p:tav tm="100000">
                                          <p:val>
                                            <p:strVal val="#ppt_w"/>
                                          </p:val>
                                        </p:tav>
                                      </p:tavLst>
                                    </p:anim>
                                    <p:anim calcmode="lin" valueType="num">
                                      <p:cBhvr additive="base">
                                        <p:cTn id="83" dur="450" fill="hold"/>
                                        <p:tgtEl>
                                          <p:spTgt spid="25"/>
                                        </p:tgtEl>
                                        <p:attrNameLst>
                                          <p:attrName>ppt_h</p:attrName>
                                        </p:attrNameLst>
                                      </p:cBhvr>
                                      <p:tavLst>
                                        <p:tav tm="0">
                                          <p:val>
                                            <p:strVal val="#ppt_h*0.7"/>
                                          </p:val>
                                        </p:tav>
                                        <p:tav tm="100000">
                                          <p:val>
                                            <p:strVal val="#ppt_h"/>
                                          </p:val>
                                        </p:tav>
                                      </p:tavLst>
                                    </p:anim>
                                    <p:animEffect transition="in" filter="fade">
                                      <p:cBhvr>
                                        <p:cTn id="84" dur="450"/>
                                        <p:tgtEl>
                                          <p:spTgt spid="25"/>
                                        </p:tgtEl>
                                      </p:cBhvr>
                                    </p:animEffect>
                                  </p:childTnLst>
                                </p:cTn>
                              </p:par>
                              <p:par>
                                <p:cTn id="85" presetID="53" presetClass="entr" presetSubtype="16" fill="hold" grpId="0" nodeType="withEffect">
                                  <p:stCondLst>
                                    <p:cond delay="799"/>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450" fill="hold"/>
                                        <p:tgtEl>
                                          <p:spTgt spid="26"/>
                                        </p:tgtEl>
                                        <p:attrNameLst>
                                          <p:attrName>ppt_w</p:attrName>
                                        </p:attrNameLst>
                                      </p:cBhvr>
                                      <p:tavLst>
                                        <p:tav tm="0">
                                          <p:val>
                                            <p:strVal val="#ppt_w*0.7"/>
                                          </p:val>
                                        </p:tav>
                                        <p:tav tm="100000">
                                          <p:val>
                                            <p:strVal val="#ppt_w"/>
                                          </p:val>
                                        </p:tav>
                                      </p:tavLst>
                                    </p:anim>
                                    <p:anim calcmode="lin" valueType="num">
                                      <p:cBhvr additive="base">
                                        <p:cTn id="88" dur="450" fill="hold"/>
                                        <p:tgtEl>
                                          <p:spTgt spid="26"/>
                                        </p:tgtEl>
                                        <p:attrNameLst>
                                          <p:attrName>ppt_h</p:attrName>
                                        </p:attrNameLst>
                                      </p:cBhvr>
                                      <p:tavLst>
                                        <p:tav tm="0">
                                          <p:val>
                                            <p:strVal val="#ppt_h*0.7"/>
                                          </p:val>
                                        </p:tav>
                                        <p:tav tm="100000">
                                          <p:val>
                                            <p:strVal val="#ppt_h"/>
                                          </p:val>
                                        </p:tav>
                                      </p:tavLst>
                                    </p:anim>
                                    <p:animEffect transition="in" filter="fade">
                                      <p:cBhvr>
                                        <p:cTn id="89" dur="450"/>
                                        <p:tgtEl>
                                          <p:spTgt spid="26"/>
                                        </p:tgtEl>
                                      </p:cBhvr>
                                    </p:animEffect>
                                  </p:childTnLst>
                                </p:cTn>
                              </p:par>
                              <p:par>
                                <p:cTn id="90" presetID="53" presetClass="entr" presetSubtype="16" fill="hold" grpId="0" nodeType="withEffect">
                                  <p:stCondLst>
                                    <p:cond delay="799"/>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450" fill="hold"/>
                                        <p:tgtEl>
                                          <p:spTgt spid="27"/>
                                        </p:tgtEl>
                                        <p:attrNameLst>
                                          <p:attrName>ppt_w</p:attrName>
                                        </p:attrNameLst>
                                      </p:cBhvr>
                                      <p:tavLst>
                                        <p:tav tm="0">
                                          <p:val>
                                            <p:strVal val="#ppt_w*0.7"/>
                                          </p:val>
                                        </p:tav>
                                        <p:tav tm="100000">
                                          <p:val>
                                            <p:strVal val="#ppt_w"/>
                                          </p:val>
                                        </p:tav>
                                      </p:tavLst>
                                    </p:anim>
                                    <p:anim calcmode="lin" valueType="num">
                                      <p:cBhvr additive="base">
                                        <p:cTn id="93" dur="450" fill="hold"/>
                                        <p:tgtEl>
                                          <p:spTgt spid="27"/>
                                        </p:tgtEl>
                                        <p:attrNameLst>
                                          <p:attrName>ppt_h</p:attrName>
                                        </p:attrNameLst>
                                      </p:cBhvr>
                                      <p:tavLst>
                                        <p:tav tm="0">
                                          <p:val>
                                            <p:strVal val="#ppt_h*0.7"/>
                                          </p:val>
                                        </p:tav>
                                        <p:tav tm="100000">
                                          <p:val>
                                            <p:strVal val="#ppt_h"/>
                                          </p:val>
                                        </p:tav>
                                      </p:tavLst>
                                    </p:anim>
                                    <p:animEffect transition="in" filter="fade">
                                      <p:cBhvr>
                                        <p:cTn id="94" dur="450"/>
                                        <p:tgtEl>
                                          <p:spTgt spid="27"/>
                                        </p:tgtEl>
                                      </p:cBhvr>
                                    </p:animEffect>
                                  </p:childTnLst>
                                </p:cTn>
                              </p:par>
                              <p:par>
                                <p:cTn id="95" presetID="53" presetClass="entr" presetSubtype="16" fill="hold" grpId="0" nodeType="withEffect">
                                  <p:stCondLst>
                                    <p:cond delay="899"/>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450" fill="hold"/>
                                        <p:tgtEl>
                                          <p:spTgt spid="28"/>
                                        </p:tgtEl>
                                        <p:attrNameLst>
                                          <p:attrName>ppt_w</p:attrName>
                                        </p:attrNameLst>
                                      </p:cBhvr>
                                      <p:tavLst>
                                        <p:tav tm="0">
                                          <p:val>
                                            <p:strVal val="#ppt_w*0.7"/>
                                          </p:val>
                                        </p:tav>
                                        <p:tav tm="100000">
                                          <p:val>
                                            <p:strVal val="#ppt_w"/>
                                          </p:val>
                                        </p:tav>
                                      </p:tavLst>
                                    </p:anim>
                                    <p:anim calcmode="lin" valueType="num">
                                      <p:cBhvr additive="base">
                                        <p:cTn id="98" dur="450" fill="hold"/>
                                        <p:tgtEl>
                                          <p:spTgt spid="28"/>
                                        </p:tgtEl>
                                        <p:attrNameLst>
                                          <p:attrName>ppt_h</p:attrName>
                                        </p:attrNameLst>
                                      </p:cBhvr>
                                      <p:tavLst>
                                        <p:tav tm="0">
                                          <p:val>
                                            <p:strVal val="#ppt_h*0.7"/>
                                          </p:val>
                                        </p:tav>
                                        <p:tav tm="100000">
                                          <p:val>
                                            <p:strVal val="#ppt_h"/>
                                          </p:val>
                                        </p:tav>
                                      </p:tavLst>
                                    </p:anim>
                                    <p:animEffect transition="in" filter="fade">
                                      <p:cBhvr>
                                        <p:cTn id="99" dur="450"/>
                                        <p:tgtEl>
                                          <p:spTgt spid="28"/>
                                        </p:tgtEl>
                                      </p:cBhvr>
                                    </p:animEffect>
                                  </p:childTnLst>
                                </p:cTn>
                              </p:par>
                              <p:par>
                                <p:cTn id="100" presetID="53" presetClass="entr" presetSubtype="16" fill="hold" grpId="0" nodeType="withEffect">
                                  <p:stCondLst>
                                    <p:cond delay="899"/>
                                  </p:stCondLst>
                                  <p:childTnLst>
                                    <p:set>
                                      <p:cBhvr>
                                        <p:cTn id="101" dur="1" fill="hold">
                                          <p:stCondLst>
                                            <p:cond delay="0"/>
                                          </p:stCondLst>
                                        </p:cTn>
                                        <p:tgtEl>
                                          <p:spTgt spid="29"/>
                                        </p:tgtEl>
                                        <p:attrNameLst>
                                          <p:attrName>style.visibility</p:attrName>
                                        </p:attrNameLst>
                                      </p:cBhvr>
                                      <p:to>
                                        <p:strVal val="visible"/>
                                      </p:to>
                                    </p:set>
                                    <p:anim calcmode="lin" valueType="num">
                                      <p:cBhvr additive="base">
                                        <p:cTn id="102" dur="450" fill="hold"/>
                                        <p:tgtEl>
                                          <p:spTgt spid="29"/>
                                        </p:tgtEl>
                                        <p:attrNameLst>
                                          <p:attrName>ppt_w</p:attrName>
                                        </p:attrNameLst>
                                      </p:cBhvr>
                                      <p:tavLst>
                                        <p:tav tm="0">
                                          <p:val>
                                            <p:strVal val="#ppt_w*0.7"/>
                                          </p:val>
                                        </p:tav>
                                        <p:tav tm="100000">
                                          <p:val>
                                            <p:strVal val="#ppt_w"/>
                                          </p:val>
                                        </p:tav>
                                      </p:tavLst>
                                    </p:anim>
                                    <p:anim calcmode="lin" valueType="num">
                                      <p:cBhvr additive="base">
                                        <p:cTn id="103" dur="450" fill="hold"/>
                                        <p:tgtEl>
                                          <p:spTgt spid="29"/>
                                        </p:tgtEl>
                                        <p:attrNameLst>
                                          <p:attrName>ppt_h</p:attrName>
                                        </p:attrNameLst>
                                      </p:cBhvr>
                                      <p:tavLst>
                                        <p:tav tm="0">
                                          <p:val>
                                            <p:strVal val="#ppt_h*0.7"/>
                                          </p:val>
                                        </p:tav>
                                        <p:tav tm="100000">
                                          <p:val>
                                            <p:strVal val="#ppt_h"/>
                                          </p:val>
                                        </p:tav>
                                      </p:tavLst>
                                    </p:anim>
                                    <p:animEffect transition="in" filter="fade">
                                      <p:cBhvr>
                                        <p:cTn id="104" dur="450"/>
                                        <p:tgtEl>
                                          <p:spTgt spid="29"/>
                                        </p:tgtEl>
                                      </p:cBhvr>
                                    </p:animEffect>
                                  </p:childTnLst>
                                </p:cTn>
                              </p:par>
                              <p:par>
                                <p:cTn id="105" presetID="53" presetClass="entr" presetSubtype="16" fill="hold" grpId="0" nodeType="withEffect">
                                  <p:stCondLst>
                                    <p:cond delay="899"/>
                                  </p:stCondLst>
                                  <p:childTnLst>
                                    <p:set>
                                      <p:cBhvr>
                                        <p:cTn id="106" dur="1" fill="hold">
                                          <p:stCondLst>
                                            <p:cond delay="0"/>
                                          </p:stCondLst>
                                        </p:cTn>
                                        <p:tgtEl>
                                          <p:spTgt spid="30"/>
                                        </p:tgtEl>
                                        <p:attrNameLst>
                                          <p:attrName>style.visibility</p:attrName>
                                        </p:attrNameLst>
                                      </p:cBhvr>
                                      <p:to>
                                        <p:strVal val="visible"/>
                                      </p:to>
                                    </p:set>
                                    <p:anim calcmode="lin" valueType="num">
                                      <p:cBhvr additive="base">
                                        <p:cTn id="107" dur="450" fill="hold"/>
                                        <p:tgtEl>
                                          <p:spTgt spid="30"/>
                                        </p:tgtEl>
                                        <p:attrNameLst>
                                          <p:attrName>ppt_w</p:attrName>
                                        </p:attrNameLst>
                                      </p:cBhvr>
                                      <p:tavLst>
                                        <p:tav tm="0">
                                          <p:val>
                                            <p:strVal val="#ppt_w*0.7"/>
                                          </p:val>
                                        </p:tav>
                                        <p:tav tm="100000">
                                          <p:val>
                                            <p:strVal val="#ppt_w"/>
                                          </p:val>
                                        </p:tav>
                                      </p:tavLst>
                                    </p:anim>
                                    <p:anim calcmode="lin" valueType="num">
                                      <p:cBhvr additive="base">
                                        <p:cTn id="108" dur="450" fill="hold"/>
                                        <p:tgtEl>
                                          <p:spTgt spid="30"/>
                                        </p:tgtEl>
                                        <p:attrNameLst>
                                          <p:attrName>ppt_h</p:attrName>
                                        </p:attrNameLst>
                                      </p:cBhvr>
                                      <p:tavLst>
                                        <p:tav tm="0">
                                          <p:val>
                                            <p:strVal val="#ppt_h*0.7"/>
                                          </p:val>
                                        </p:tav>
                                        <p:tav tm="100000">
                                          <p:val>
                                            <p:strVal val="#ppt_h"/>
                                          </p:val>
                                        </p:tav>
                                      </p:tavLst>
                                    </p:anim>
                                    <p:animEffect transition="in" filter="fade">
                                      <p:cBhvr>
                                        <p:cTn id="109"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lef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glow_iot" descr="glow_7FC211_30_1.7.png"/>
          <p:cNvPicPr>
            <a:picLocks noChangeAspect="1"/>
          </p:cNvPicPr>
          <p:nvPr/>
        </p:nvPicPr>
        <p:blipFill>
          <a:blip r:embed="rId7"/>
          <a:stretch>
            <a:fillRect/>
          </a:stretch>
        </p:blipFill>
        <p:spPr>
          <a:xfrm>
            <a:off x="5159502" y="1253185"/>
            <a:ext cx="6048756" cy="6048756"/>
          </a:xfrm>
          <a:prstGeom prst="rect">
            <a:avLst/>
          </a:prstGeom>
        </p:spPr>
      </p:pic>
      <p:pic>
        <p:nvPicPr>
          <p:cNvPr id="8" name="!!iot" descr="iot.png"/>
          <p:cNvPicPr>
            <a:picLocks noChangeAspect="1"/>
          </p:cNvPicPr>
          <p:nvPr/>
        </p:nvPicPr>
        <p:blipFill>
          <a:blip r:embed="rId8"/>
          <a:srcRect/>
          <a:stretch>
            <a:fillRect/>
          </a:stretch>
        </p:blipFill>
        <p:spPr>
          <a:xfrm>
            <a:off x="5303520" y="759821"/>
            <a:ext cx="5760720" cy="5349240"/>
          </a:xfrm>
          <a:prstGeom prst="rect">
            <a:avLst/>
          </a:prstGeom>
        </p:spPr>
      </p:pic>
      <p:pic>
        <p:nvPicPr>
          <p:cNvPr id="9" name="!!logo" descr="logo_stp.png"/>
          <p:cNvPicPr>
            <a:picLocks noChangeAspect="1"/>
          </p:cNvPicPr>
          <p:nvPr/>
        </p:nvPicPr>
        <p:blipFill>
          <a:blip r:embed="rId9"/>
          <a:stretch>
            <a:fillRect/>
          </a:stretch>
        </p:blipFill>
        <p:spPr>
          <a:xfrm>
            <a:off x="10024567" y="384048"/>
            <a:ext cx="420624" cy="420624"/>
          </a:xfrm>
          <a:prstGeom prst="rect">
            <a:avLst/>
          </a:prstGeom>
        </p:spPr>
      </p:pic>
      <p:sp>
        <p:nvSpPr>
          <p:cNvPr id="10"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1" name="TextBox 10"/>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16</a:t>
            </a:r>
          </a:p>
        </p:txBody>
      </p:sp>
      <p:sp>
        <p:nvSpPr>
          <p:cNvPr id="12" name="!!bignum"/>
          <p:cNvSpPr txBox="1"/>
          <p:nvPr/>
        </p:nvSpPr>
        <p:spPr>
          <a:xfrm>
            <a:off x="640080" y="502920"/>
            <a:ext cx="4114800" cy="1737360"/>
          </a:xfrm>
          <a:prstGeom prst="rect">
            <a:avLst/>
          </a:prstGeom>
          <a:noFill/>
        </p:spPr>
        <p:txBody>
          <a:bodyPr wrap="none" lIns="0" rIns="0" tIns="0" bIns="0" anchor="t">
            <a:noAutofit/>
          </a:bodyPr>
          <a:lstStyle/>
          <a:p>
            <a:pPr algn="l">
              <a:lnSpc>
                <a:spcPct val="90000"/>
              </a:lnSpc>
              <a:spcAft>
                <a:spcPts val="0"/>
              </a:spcAft>
            </a:pPr>
            <a:r>
              <a:rPr sz="12000" b="0" i="0">
                <a:solidFill>
                  <a:srgbClr val="8FD11E"/>
                </a:solidFill>
                <a:latin typeface="Be Vietnam Pro Thin"/>
                <a:ea typeface="Be Vietnam Pro Thin"/>
                <a:cs typeface="Be Vietnam Pro Thin"/>
              </a:rPr>
              <a:t>04</a:t>
            </a:r>
          </a:p>
        </p:txBody>
      </p:sp>
      <p:sp>
        <p:nvSpPr>
          <p:cNvPr id="13" name="!!kicker"/>
          <p:cNvSpPr txBox="1"/>
          <p:nvPr/>
        </p:nvSpPr>
        <p:spPr>
          <a:xfrm>
            <a:off x="685800" y="2331720"/>
            <a:ext cx="50292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TRỤ CỘT 04</a:t>
            </a:r>
          </a:p>
        </p:txBody>
      </p:sp>
      <p:sp>
        <p:nvSpPr>
          <p:cNvPr id="14" name="!!title"/>
          <p:cNvSpPr txBox="1"/>
          <p:nvPr/>
        </p:nvSpPr>
        <p:spPr>
          <a:xfrm>
            <a:off x="685800" y="2697480"/>
            <a:ext cx="5120640" cy="918210"/>
          </a:xfrm>
          <a:prstGeom prst="rect">
            <a:avLst/>
          </a:prstGeom>
          <a:noFill/>
        </p:spPr>
        <p:txBody>
          <a:bodyPr wrap="square" lIns="0" rIns="0" tIns="0" bIns="0" anchor="t">
            <a:noAutofit/>
          </a:bodyPr>
          <a:lstStyle/>
          <a:p>
            <a:pPr algn="l">
              <a:lnSpc>
                <a:spcPct val="98000"/>
              </a:lnSpc>
              <a:spcAft>
                <a:spcPts val="0"/>
              </a:spcAft>
            </a:pPr>
            <a:r>
              <a:rPr sz="3100" b="0" i="0">
                <a:solidFill>
                  <a:srgbClr val="FFFFFF"/>
                </a:solidFill>
                <a:latin typeface="Be Vietnam Pro ExtraBold"/>
                <a:ea typeface="Be Vietnam Pro ExtraBold"/>
                <a:cs typeface="Be Vietnam Pro ExtraBold"/>
              </a:rPr>
              <a:t>Nông nghiệp thông minh</a:t>
            </a:r>
          </a:p>
          <a:p>
            <a:pPr algn="l">
              <a:lnSpc>
                <a:spcPct val="98000"/>
              </a:lnSpc>
              <a:spcAft>
                <a:spcPts val="0"/>
              </a:spcAft>
            </a:pPr>
            <a:r>
              <a:rPr sz="3100" b="0" i="0">
                <a:solidFill>
                  <a:srgbClr val="FFFFFF"/>
                </a:solidFill>
                <a:latin typeface="Be Vietnam Pro ExtraBold"/>
                <a:ea typeface="Be Vietnam Pro ExtraBold"/>
                <a:cs typeface="Be Vietnam Pro ExtraBold"/>
              </a:rPr>
              <a:t>BOM IoT</a:t>
            </a:r>
          </a:p>
        </p:txBody>
      </p:sp>
      <p:sp>
        <p:nvSpPr>
          <p:cNvPr id="15" name="!!lead"/>
          <p:cNvSpPr txBox="1"/>
          <p:nvPr/>
        </p:nvSpPr>
        <p:spPr>
          <a:xfrm>
            <a:off x="685800" y="3752850"/>
            <a:ext cx="4572000" cy="1188720"/>
          </a:xfrm>
          <a:prstGeom prst="rect">
            <a:avLst/>
          </a:prstGeom>
          <a:noFill/>
        </p:spPr>
        <p:txBody>
          <a:bodyPr wrap="square" lIns="0" rIns="0" tIns="0" bIns="0" anchor="t">
            <a:noAutofit/>
          </a:bodyPr>
          <a:lstStyle/>
          <a:p>
            <a:pPr algn="l">
              <a:lnSpc>
                <a:spcPct val="120000"/>
              </a:lnSpc>
              <a:spcAft>
                <a:spcPts val="0"/>
              </a:spcAft>
            </a:pPr>
            <a:r>
              <a:rPr sz="1600" b="0" i="0">
                <a:solidFill>
                  <a:srgbClr val="C9D8CE"/>
                </a:solidFill>
                <a:latin typeface="Be Vietnam Pro Light"/>
                <a:ea typeface="Be Vietnam Pro Light"/>
                <a:cs typeface="Be Vietnam Pro Light"/>
              </a:rPr>
              <a:t>Chạm vào dữ liệu — </a:t>
            </a:r>
            <a:r>
              <a:rPr sz="1600" b="0" i="0">
                <a:solidFill>
                  <a:srgbClr val="8FD11E"/>
                </a:solidFill>
                <a:latin typeface="Be Vietnam Pro Medium"/>
                <a:ea typeface="Be Vietnam Pro Medium"/>
                <a:cs typeface="Be Vietnam Pro Medium"/>
              </a:rPr>
              <a:t>dẫn đầu nghề nông</a:t>
            </a:r>
            <a:r>
              <a:rPr sz="1600" b="0" i="0">
                <a:solidFill>
                  <a:srgbClr val="C9D8CE"/>
                </a:solidFill>
                <a:latin typeface="Be Vietnam Pro Light"/>
                <a:ea typeface="Be Vietnam Pro Light"/>
                <a:cs typeface="Be Vietnam Pro Light"/>
              </a:rPr>
              <a:t>. Đại diện giải pháp BOM Software (LATOI Australia) tại Việt Nam.</a:t>
            </a:r>
          </a:p>
        </p:txBody>
      </p:sp>
      <p:sp>
        <p:nvSpPr>
          <p:cNvPr id="16" name="Rounded Rectangle 15"/>
          <p:cNvSpPr/>
          <p:nvPr/>
        </p:nvSpPr>
        <p:spPr>
          <a:xfrm>
            <a:off x="685800" y="5760720"/>
            <a:ext cx="1848753"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7" name="TextBox 16"/>
          <p:cNvSpPr txBox="1"/>
          <p:nvPr/>
        </p:nvSpPr>
        <p:spPr>
          <a:xfrm>
            <a:off x="685800" y="5760720"/>
            <a:ext cx="1848753"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Cảm biến 9 trong 1</a:t>
            </a:r>
          </a:p>
        </p:txBody>
      </p:sp>
      <p:sp>
        <p:nvSpPr>
          <p:cNvPr id="18" name="Rounded Rectangle 17"/>
          <p:cNvSpPr/>
          <p:nvPr/>
        </p:nvSpPr>
        <p:spPr>
          <a:xfrm>
            <a:off x="2671713" y="5760720"/>
            <a:ext cx="1661319"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TextBox 18"/>
          <p:cNvSpPr txBox="1"/>
          <p:nvPr/>
        </p:nvSpPr>
        <p:spPr>
          <a:xfrm>
            <a:off x="2671713" y="5760720"/>
            <a:ext cx="1661319"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LoRaWAN 15 km</a:t>
            </a:r>
          </a:p>
        </p:txBody>
      </p:sp>
      <p:sp>
        <p:nvSpPr>
          <p:cNvPr id="20" name="Rounded Rectangle 19"/>
          <p:cNvSpPr/>
          <p:nvPr/>
        </p:nvSpPr>
        <p:spPr>
          <a:xfrm>
            <a:off x="4470192" y="5760720"/>
            <a:ext cx="1622901" cy="384048"/>
          </a:xfrm>
          <a:prstGeom prst="roundRect">
            <a:avLst>
              <a:gd name="adj" fmla="val 50000"/>
            </a:avLst>
          </a:prstGeom>
          <a:solidFill>
            <a:srgbClr val="FFFFFF">
              <a:alpha val="8000"/>
            </a:srgbClr>
          </a:solidFill>
          <a:ln w="9525">
            <a:solidFill>
              <a:srgbClr val="FFFFFF">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TextBox 20"/>
          <p:cNvSpPr txBox="1"/>
          <p:nvPr/>
        </p:nvSpPr>
        <p:spPr>
          <a:xfrm>
            <a:off x="4470192" y="5760720"/>
            <a:ext cx="1622901" cy="384048"/>
          </a:xfrm>
          <a:prstGeom prst="rect">
            <a:avLst/>
          </a:prstGeom>
          <a:noFill/>
        </p:spPr>
        <p:txBody>
          <a:bodyPr wrap="none" lIns="0" rIns="0" tIns="0" bIns="0" anchor="ctr">
            <a:noAutofit/>
          </a:bodyPr>
          <a:lstStyle/>
          <a:p>
            <a:pPr algn="ctr">
              <a:lnSpc>
                <a:spcPct val="115000"/>
              </a:lnSpc>
              <a:spcAft>
                <a:spcPts val="0"/>
              </a:spcAft>
            </a:pPr>
            <a:r>
              <a:rPr sz="1200" b="0" i="0">
                <a:solidFill>
                  <a:srgbClr val="FFFFFF"/>
                </a:solidFill>
                <a:latin typeface="Be Vietnam Pro Medium"/>
                <a:ea typeface="Be Vietnam Pro Medium"/>
                <a:cs typeface="Be Vietnam Pro Medium"/>
              </a:rPr>
              <a:t>AI GreenDoctor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800"/>
                                        <p:tgtEl>
                                          <p:spTgt spid="12"/>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42" presetClass="entr" presetSubtype="0" fill="hold" grpId="0" nodeType="withEffect">
                                  <p:stCondLst>
                                    <p:cond delay="6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800"/>
                                        <p:tgtEl>
                                          <p:spTgt spid="14"/>
                                        </p:tgtEl>
                                      </p:cBhvr>
                                    </p:animEffect>
                                    <p:anim calcmode="lin" valueType="num">
                                      <p:cBhvr additive="base">
                                        <p:cTn id="23" dur="800" fill="hold"/>
                                        <p:tgtEl>
                                          <p:spTgt spid="14"/>
                                        </p:tgtEl>
                                        <p:attrNameLst>
                                          <p:attrName>ppt_x</p:attrName>
                                        </p:attrNameLst>
                                      </p:cBhvr>
                                      <p:tavLst>
                                        <p:tav tm="0">
                                          <p:val>
                                            <p:strVal val="#ppt_x"/>
                                          </p:val>
                                        </p:tav>
                                        <p:tav tm="100000">
                                          <p:val>
                                            <p:strVal val="#ppt_x"/>
                                          </p:val>
                                        </p:tav>
                                      </p:tavLst>
                                    </p:anim>
                                    <p:anim calcmode="lin" valueType="num">
                                      <p:cBhvr additive="base">
                                        <p:cTn id="24" dur="800" fill="hold"/>
                                        <p:tgtEl>
                                          <p:spTgt spid="14"/>
                                        </p:tgtEl>
                                        <p:attrNameLst>
                                          <p:attrName>ppt_y</p:attrName>
                                        </p:attrNameLst>
                                      </p:cBhvr>
                                      <p:tavLst>
                                        <p:tav tm="0">
                                          <p:val>
                                            <p:strVal val="#ppt_y+.06"/>
                                          </p:val>
                                        </p:tav>
                                        <p:tav tm="100000">
                                          <p:val>
                                            <p:strVal val="#ppt_y"/>
                                          </p:val>
                                        </p:tav>
                                      </p:tavLst>
                                    </p:anim>
                                  </p:childTnLst>
                                </p:cTn>
                              </p:par>
                              <p:par>
                                <p:cTn id="25" presetID="10" presetClass="entr" presetSubtype="0" fill="hold" grpId="0" nodeType="withEffect">
                                  <p:stCondLst>
                                    <p:cond delay="100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600"/>
                                        <p:tgtEl>
                                          <p:spTgt spid="15"/>
                                        </p:tgtEl>
                                      </p:cBhvr>
                                    </p:animEffect>
                                  </p:childTnLst>
                                </p:cTn>
                              </p:par>
                              <p:par>
                                <p:cTn id="28" presetID="42" presetClass="entr" presetSubtype="0" fill="hold" grpId="0" nodeType="withEffect">
                                  <p:stCondLst>
                                    <p:cond delay="13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anim calcmode="lin" valueType="num">
                                      <p:cBhvr additive="base">
                                        <p:cTn id="31" dur="400" fill="hold"/>
                                        <p:tgtEl>
                                          <p:spTgt spid="16"/>
                                        </p:tgtEl>
                                        <p:attrNameLst>
                                          <p:attrName>ppt_x</p:attrName>
                                        </p:attrNameLst>
                                      </p:cBhvr>
                                      <p:tavLst>
                                        <p:tav tm="0">
                                          <p:val>
                                            <p:strVal val="#ppt_x"/>
                                          </p:val>
                                        </p:tav>
                                        <p:tav tm="100000">
                                          <p:val>
                                            <p:strVal val="#ppt_x"/>
                                          </p:val>
                                        </p:tav>
                                      </p:tavLst>
                                    </p:anim>
                                    <p:anim calcmode="lin" valueType="num">
                                      <p:cBhvr additive="base">
                                        <p:cTn id="32" dur="400" fill="hold"/>
                                        <p:tgtEl>
                                          <p:spTgt spid="16"/>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13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anim calcmode="lin" valueType="num">
                                      <p:cBhvr additive="base">
                                        <p:cTn id="36" dur="400" fill="hold"/>
                                        <p:tgtEl>
                                          <p:spTgt spid="17"/>
                                        </p:tgtEl>
                                        <p:attrNameLst>
                                          <p:attrName>ppt_x</p:attrName>
                                        </p:attrNameLst>
                                      </p:cBhvr>
                                      <p:tavLst>
                                        <p:tav tm="0">
                                          <p:val>
                                            <p:strVal val="#ppt_x"/>
                                          </p:val>
                                        </p:tav>
                                        <p:tav tm="100000">
                                          <p:val>
                                            <p:strVal val="#ppt_x"/>
                                          </p:val>
                                        </p:tav>
                                      </p:tavLst>
                                    </p:anim>
                                    <p:anim calcmode="lin" valueType="num">
                                      <p:cBhvr additive="base">
                                        <p:cTn id="37" dur="400" fill="hold"/>
                                        <p:tgtEl>
                                          <p:spTgt spid="17"/>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42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anim calcmode="lin" valueType="num">
                                      <p:cBhvr additive="base">
                                        <p:cTn id="41" dur="400" fill="hold"/>
                                        <p:tgtEl>
                                          <p:spTgt spid="18"/>
                                        </p:tgtEl>
                                        <p:attrNameLst>
                                          <p:attrName>ppt_x</p:attrName>
                                        </p:attrNameLst>
                                      </p:cBhvr>
                                      <p:tavLst>
                                        <p:tav tm="0">
                                          <p:val>
                                            <p:strVal val="#ppt_x"/>
                                          </p:val>
                                        </p:tav>
                                        <p:tav tm="100000">
                                          <p:val>
                                            <p:strVal val="#ppt_x"/>
                                          </p:val>
                                        </p:tav>
                                      </p:tavLst>
                                    </p:anim>
                                    <p:anim calcmode="lin" valueType="num">
                                      <p:cBhvr additive="base">
                                        <p:cTn id="42" dur="400" fill="hold"/>
                                        <p:tgtEl>
                                          <p:spTgt spid="18"/>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42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anim calcmode="lin" valueType="num">
                                      <p:cBhvr additive="base">
                                        <p:cTn id="46" dur="400" fill="hold"/>
                                        <p:tgtEl>
                                          <p:spTgt spid="19"/>
                                        </p:tgtEl>
                                        <p:attrNameLst>
                                          <p:attrName>ppt_x</p:attrName>
                                        </p:attrNameLst>
                                      </p:cBhvr>
                                      <p:tavLst>
                                        <p:tav tm="0">
                                          <p:val>
                                            <p:strVal val="#ppt_x"/>
                                          </p:val>
                                        </p:tav>
                                        <p:tav tm="100000">
                                          <p:val>
                                            <p:strVal val="#ppt_x"/>
                                          </p:val>
                                        </p:tav>
                                      </p:tavLst>
                                    </p:anim>
                                    <p:anim calcmode="lin" valueType="num">
                                      <p:cBhvr additive="base">
                                        <p:cTn id="47" dur="400" fill="hold"/>
                                        <p:tgtEl>
                                          <p:spTgt spid="19"/>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154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anim calcmode="lin" valueType="num">
                                      <p:cBhvr additive="base">
                                        <p:cTn id="51" dur="400" fill="hold"/>
                                        <p:tgtEl>
                                          <p:spTgt spid="20"/>
                                        </p:tgtEl>
                                        <p:attrNameLst>
                                          <p:attrName>ppt_x</p:attrName>
                                        </p:attrNameLst>
                                      </p:cBhvr>
                                      <p:tavLst>
                                        <p:tav tm="0">
                                          <p:val>
                                            <p:strVal val="#ppt_x"/>
                                          </p:val>
                                        </p:tav>
                                        <p:tav tm="100000">
                                          <p:val>
                                            <p:strVal val="#ppt_x"/>
                                          </p:val>
                                        </p:tav>
                                      </p:tavLst>
                                    </p:anim>
                                    <p:anim calcmode="lin" valueType="num">
                                      <p:cBhvr additive="base">
                                        <p:cTn id="52" dur="400" fill="hold"/>
                                        <p:tgtEl>
                                          <p:spTgt spid="20"/>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154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00"/>
                                        <p:tgtEl>
                                          <p:spTgt spid="21"/>
                                        </p:tgtEl>
                                      </p:cBhvr>
                                    </p:animEffect>
                                    <p:anim calcmode="lin" valueType="num">
                                      <p:cBhvr additive="base">
                                        <p:cTn id="56" dur="400" fill="hold"/>
                                        <p:tgtEl>
                                          <p:spTgt spid="21"/>
                                        </p:tgtEl>
                                        <p:attrNameLst>
                                          <p:attrName>ppt_x</p:attrName>
                                        </p:attrNameLst>
                                      </p:cBhvr>
                                      <p:tavLst>
                                        <p:tav tm="0">
                                          <p:val>
                                            <p:strVal val="#ppt_x"/>
                                          </p:val>
                                        </p:tav>
                                        <p:tav tm="100000">
                                          <p:val>
                                            <p:strVal val="#ppt_x"/>
                                          </p:val>
                                        </p:tav>
                                      </p:tavLst>
                                    </p:anim>
                                    <p:anim calcmode="lin" valueType="num">
                                      <p:cBhvr additive="base">
                                        <p:cTn id="57" dur="400" fill="hold"/>
                                        <p:tgtEl>
                                          <p:spTgt spid="2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center.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glow_iot" descr="glow_7FC211_30_1.7.png"/>
          <p:cNvPicPr>
            <a:picLocks noChangeAspect="1"/>
          </p:cNvPicPr>
          <p:nvPr/>
        </p:nvPicPr>
        <p:blipFill>
          <a:blip r:embed="rId7"/>
          <a:stretch>
            <a:fillRect/>
          </a:stretch>
        </p:blipFill>
        <p:spPr>
          <a:xfrm>
            <a:off x="9041130" y="445770"/>
            <a:ext cx="2400300" cy="2400300"/>
          </a:xfrm>
          <a:prstGeom prst="rect">
            <a:avLst/>
          </a:prstGeom>
        </p:spPr>
      </p:pic>
      <p:pic>
        <p:nvPicPr>
          <p:cNvPr id="8" name="!!iot" descr="iot.png"/>
          <p:cNvPicPr>
            <a:picLocks noChangeAspect="1"/>
          </p:cNvPicPr>
          <p:nvPr/>
        </p:nvPicPr>
        <p:blipFill>
          <a:blip r:embed="rId8"/>
          <a:srcRect/>
          <a:stretch>
            <a:fillRect/>
          </a:stretch>
        </p:blipFill>
        <p:spPr>
          <a:xfrm>
            <a:off x="9098280" y="249990"/>
            <a:ext cx="2286000" cy="2122714"/>
          </a:xfrm>
          <a:prstGeom prst="rect">
            <a:avLst/>
          </a:prstGeom>
        </p:spPr>
      </p:pic>
      <p:sp>
        <p:nvSpPr>
          <p:cNvPr id="9" name="TextBox 8"/>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17</a:t>
            </a:r>
          </a:p>
        </p:txBody>
      </p:sp>
      <p:sp>
        <p:nvSpPr>
          <p:cNvPr id="10" name="!!kicker"/>
          <p:cNvSpPr txBox="1"/>
          <p:nvPr/>
        </p:nvSpPr>
        <p:spPr>
          <a:xfrm>
            <a:off x="685800" y="502920"/>
            <a:ext cx="768096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KIẾN TRÚC HỆ THỐNG</a:t>
            </a:r>
          </a:p>
        </p:txBody>
      </p:sp>
      <p:sp>
        <p:nvSpPr>
          <p:cNvPr id="11" name="!!title"/>
          <p:cNvSpPr txBox="1"/>
          <p:nvPr/>
        </p:nvSpPr>
        <p:spPr>
          <a:xfrm>
            <a:off x="685800" y="850392"/>
            <a:ext cx="7680960" cy="528320"/>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Từ cánh đồng đến </a:t>
            </a:r>
            <a:r>
              <a:rPr sz="3200" b="0" i="0">
                <a:solidFill>
                  <a:srgbClr val="8FD11E"/>
                </a:solidFill>
                <a:latin typeface="Be Vietnam Pro ExtraBold"/>
                <a:ea typeface="Be Vietnam Pro ExtraBold"/>
                <a:cs typeface="Be Vietnam Pro ExtraBold"/>
              </a:rPr>
              <a:t>quyết định</a:t>
            </a:r>
          </a:p>
        </p:txBody>
      </p:sp>
      <p:cxnSp>
        <p:nvCxnSpPr>
          <p:cNvPr id="12" name="!!rail"/>
          <p:cNvCxnSpPr/>
          <p:nvPr/>
        </p:nvCxnSpPr>
        <p:spPr>
          <a:xfrm>
            <a:off x="2175472" y="3285776"/>
            <a:ext cx="7840751" cy="0"/>
          </a:xfrm>
          <a:prstGeom prst="line">
            <a:avLst/>
          </a:prstGeom>
          <a:ln w="31750">
            <a:solidFill>
              <a:srgbClr val="7FC211">
                <a:alpha val="80000"/>
              </a:srgbClr>
            </a:solidFill>
          </a:ln>
          <a:effectLst>
            <a:glow rad="91440">
              <a:srgbClr val="7FC211">
                <a:alpha val="40000"/>
              </a:srgbClr>
            </a:glow>
          </a:effectLst>
        </p:spPr>
        <p:style>
          <a:lnRef idx="2">
            <a:schemeClr val="accent1"/>
          </a:lnRef>
          <a:fillRef idx="0">
            <a:schemeClr val="accent1"/>
          </a:fillRef>
          <a:effectRef idx="0">
            <a:schemeClr val="accent1"/>
          </a:effectRef>
          <a:fontRef idx="minor">
            <a:schemeClr val="tx1"/>
          </a:fontRef>
        </p:style>
      </p:cxnSp>
      <p:sp>
        <p:nvSpPr>
          <p:cNvPr id="13" name="Oval 12"/>
          <p:cNvSpPr/>
          <p:nvPr/>
        </p:nvSpPr>
        <p:spPr>
          <a:xfrm>
            <a:off x="1828000" y="2938304"/>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01</a:t>
            </a:r>
          </a:p>
        </p:txBody>
      </p:sp>
      <p:sp>
        <p:nvSpPr>
          <p:cNvPr id="14" name="TextBox 13"/>
          <p:cNvSpPr txBox="1"/>
          <p:nvPr/>
        </p:nvSpPr>
        <p:spPr>
          <a:xfrm>
            <a:off x="978408" y="3834416"/>
            <a:ext cx="2394128"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Cảm biến 9 trong 1</a:t>
            </a:r>
          </a:p>
        </p:txBody>
      </p:sp>
      <p:sp>
        <p:nvSpPr>
          <p:cNvPr id="15" name="TextBox 14"/>
          <p:cNvSpPr txBox="1"/>
          <p:nvPr/>
        </p:nvSpPr>
        <p:spPr>
          <a:xfrm>
            <a:off x="1051560" y="4289711"/>
            <a:ext cx="2247824"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Nhiệt độ, độ ẩm, pH, EC, N-P-K, độ mặn, TDS — đo ngay tại nguồn.</a:t>
            </a:r>
          </a:p>
        </p:txBody>
      </p:sp>
      <p:sp>
        <p:nvSpPr>
          <p:cNvPr id="16" name="Oval 15"/>
          <p:cNvSpPr/>
          <p:nvPr/>
        </p:nvSpPr>
        <p:spPr>
          <a:xfrm>
            <a:off x="4441584" y="2938304"/>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02</a:t>
            </a:r>
          </a:p>
        </p:txBody>
      </p:sp>
      <p:sp>
        <p:nvSpPr>
          <p:cNvPr id="17" name="TextBox 16"/>
          <p:cNvSpPr txBox="1"/>
          <p:nvPr/>
        </p:nvSpPr>
        <p:spPr>
          <a:xfrm>
            <a:off x="3591992" y="3834416"/>
            <a:ext cx="2394128"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LoRaWAN tầm xa</a:t>
            </a:r>
          </a:p>
        </p:txBody>
      </p:sp>
      <p:sp>
        <p:nvSpPr>
          <p:cNvPr id="18" name="TextBox 17"/>
          <p:cNvSpPr txBox="1"/>
          <p:nvPr/>
        </p:nvSpPr>
        <p:spPr>
          <a:xfrm>
            <a:off x="3665144" y="4289711"/>
            <a:ext cx="2247824"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Phủ sóng đến 15 km, năng lượng mặt trời, không kéo dây điện.</a:t>
            </a:r>
          </a:p>
        </p:txBody>
      </p:sp>
      <p:sp>
        <p:nvSpPr>
          <p:cNvPr id="19" name="Oval 18"/>
          <p:cNvSpPr/>
          <p:nvPr/>
        </p:nvSpPr>
        <p:spPr>
          <a:xfrm>
            <a:off x="7055168" y="2938304"/>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03</a:t>
            </a:r>
          </a:p>
        </p:txBody>
      </p:sp>
      <p:sp>
        <p:nvSpPr>
          <p:cNvPr id="20" name="TextBox 19"/>
          <p:cNvSpPr txBox="1"/>
          <p:nvPr/>
        </p:nvSpPr>
        <p:spPr>
          <a:xfrm>
            <a:off x="6205576" y="3834416"/>
            <a:ext cx="2394128"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Cloud &amp; App 24/7</a:t>
            </a:r>
          </a:p>
        </p:txBody>
      </p:sp>
      <p:sp>
        <p:nvSpPr>
          <p:cNvPr id="21" name="TextBox 20"/>
          <p:cNvSpPr txBox="1"/>
          <p:nvPr/>
        </p:nvSpPr>
        <p:spPr>
          <a:xfrm>
            <a:off x="6278728" y="4289711"/>
            <a:ext cx="2247824"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Giám sát trên web, Android, iOS; cảnh báo SMS khi vượt ngưỡng.</a:t>
            </a:r>
          </a:p>
        </p:txBody>
      </p:sp>
      <p:sp>
        <p:nvSpPr>
          <p:cNvPr id="22" name="Oval 21"/>
          <p:cNvSpPr/>
          <p:nvPr/>
        </p:nvSpPr>
        <p:spPr>
          <a:xfrm>
            <a:off x="9668751" y="2938304"/>
            <a:ext cx="694944" cy="694944"/>
          </a:xfrm>
          <a:prstGeom prst="ellipse">
            <a:avLst/>
          </a:prstGeom>
          <a:solidFill>
            <a:srgbClr val="04120C"/>
          </a:solidFill>
          <a:ln w="28575">
            <a:solidFill>
              <a:srgbClr val="8FD11E"/>
            </a:solidFill>
          </a:ln>
          <a:effectLst>
            <a:glow rad="109728">
              <a:srgbClr val="7FC211">
                <a:alpha val="40000"/>
              </a:srgbClr>
            </a:glow>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500" b="0" i="0">
                <a:solidFill>
                  <a:srgbClr val="8FD11E"/>
                </a:solidFill>
                <a:latin typeface="Be Vietnam Pro ExtraBold"/>
                <a:ea typeface="Be Vietnam Pro ExtraBold"/>
                <a:cs typeface="Be Vietnam Pro ExtraBold"/>
              </a:rPr>
              <a:t>04</a:t>
            </a:r>
          </a:p>
        </p:txBody>
      </p:sp>
      <p:sp>
        <p:nvSpPr>
          <p:cNvPr id="23" name="TextBox 22"/>
          <p:cNvSpPr txBox="1"/>
          <p:nvPr/>
        </p:nvSpPr>
        <p:spPr>
          <a:xfrm>
            <a:off x="8819159" y="3834416"/>
            <a:ext cx="2394128" cy="685800"/>
          </a:xfrm>
          <a:prstGeom prst="rect">
            <a:avLst/>
          </a:prstGeom>
          <a:noFill/>
        </p:spPr>
        <p:txBody>
          <a:bodyPr wrap="square" lIns="0" rIns="0" tIns="0" bIns="0" anchor="t">
            <a:noAutofit/>
          </a:bodyPr>
          <a:lstStyle/>
          <a:p>
            <a:pPr algn="ctr">
              <a:lnSpc>
                <a:spcPct val="100000"/>
              </a:lnSpc>
              <a:spcAft>
                <a:spcPts val="0"/>
              </a:spcAft>
            </a:pPr>
            <a:r>
              <a:rPr sz="1700" b="0" i="0">
                <a:solidFill>
                  <a:srgbClr val="FFFFFF"/>
                </a:solidFill>
                <a:latin typeface="Be Vietnam Pro SemiBold"/>
                <a:ea typeface="Be Vietnam Pro SemiBold"/>
                <a:cs typeface="Be Vietnam Pro SemiBold"/>
              </a:rPr>
              <a:t>AI &amp; Blockchain</a:t>
            </a:r>
          </a:p>
        </p:txBody>
      </p:sp>
      <p:sp>
        <p:nvSpPr>
          <p:cNvPr id="24" name="TextBox 23"/>
          <p:cNvSpPr txBox="1"/>
          <p:nvPr/>
        </p:nvSpPr>
        <p:spPr>
          <a:xfrm>
            <a:off x="8892311" y="4289711"/>
            <a:ext cx="2247824" cy="1463040"/>
          </a:xfrm>
          <a:prstGeom prst="rect">
            <a:avLst/>
          </a:prstGeom>
          <a:noFill/>
        </p:spPr>
        <p:txBody>
          <a:bodyPr wrap="square" lIns="0" rIns="0" tIns="0" bIns="0" anchor="t">
            <a:noAutofit/>
          </a:bodyPr>
          <a:lstStyle/>
          <a:p>
            <a:pPr algn="ctr">
              <a:lnSpc>
                <a:spcPct val="118000"/>
              </a:lnSpc>
              <a:spcAft>
                <a:spcPts val="0"/>
              </a:spcAft>
            </a:pPr>
            <a:r>
              <a:rPr sz="1350" b="0" i="0">
                <a:solidFill>
                  <a:srgbClr val="C9D8CE"/>
                </a:solidFill>
                <a:latin typeface="Be Vietnam Pro"/>
                <a:ea typeface="Be Vietnam Pro"/>
                <a:cs typeface="Be Vietnam Pro"/>
              </a:rPr>
              <a:t>Chẩn đoán sâu bệnh, phát hiện phân bón giả; dữ liệu không thể sửa.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22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22" presetClass="entr" presetSubtype="8" fill="hold" grpId="0" nodeType="withEffect">
                                  <p:stCondLst>
                                    <p:cond delay="50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900"/>
                                        <p:tgtEl>
                                          <p:spTgt spid="12"/>
                                        </p:tgtEl>
                                      </p:cBhvr>
                                    </p:animEffect>
                                  </p:childTnLst>
                                </p:cTn>
                              </p:par>
                              <p:par>
                                <p:cTn id="17" presetID="53" presetClass="entr" presetSubtype="16" fill="hold" grpId="0" nodeType="withEffect">
                                  <p:stCondLst>
                                    <p:cond delay="70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450" fill="hold"/>
                                        <p:tgtEl>
                                          <p:spTgt spid="13"/>
                                        </p:tgtEl>
                                        <p:attrNameLst>
                                          <p:attrName>ppt_w</p:attrName>
                                        </p:attrNameLst>
                                      </p:cBhvr>
                                      <p:tavLst>
                                        <p:tav tm="0">
                                          <p:val>
                                            <p:strVal val="#ppt_w*0.7"/>
                                          </p:val>
                                        </p:tav>
                                        <p:tav tm="100000">
                                          <p:val>
                                            <p:strVal val="#ppt_w"/>
                                          </p:val>
                                        </p:tav>
                                      </p:tavLst>
                                    </p:anim>
                                    <p:anim calcmode="lin" valueType="num">
                                      <p:cBhvr additive="base">
                                        <p:cTn id="20" dur="450" fill="hold"/>
                                        <p:tgtEl>
                                          <p:spTgt spid="13"/>
                                        </p:tgtEl>
                                        <p:attrNameLst>
                                          <p:attrName>ppt_h</p:attrName>
                                        </p:attrNameLst>
                                      </p:cBhvr>
                                      <p:tavLst>
                                        <p:tav tm="0">
                                          <p:val>
                                            <p:strVal val="#ppt_h*0.7"/>
                                          </p:val>
                                        </p:tav>
                                        <p:tav tm="100000">
                                          <p:val>
                                            <p:strVal val="#ppt_h"/>
                                          </p:val>
                                        </p:tav>
                                      </p:tavLst>
                                    </p:anim>
                                    <p:animEffect transition="in" filter="fade">
                                      <p:cBhvr>
                                        <p:cTn id="21" dur="450"/>
                                        <p:tgtEl>
                                          <p:spTgt spid="13"/>
                                        </p:tgtEl>
                                      </p:cBhvr>
                                    </p:animEffect>
                                  </p:childTnLst>
                                </p:cTn>
                              </p:par>
                              <p:par>
                                <p:cTn id="22" presetID="53" presetClass="entr" presetSubtype="16" fill="hold" grpId="0" nodeType="withEffect">
                                  <p:stCondLst>
                                    <p:cond delay="70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450" fill="hold"/>
                                        <p:tgtEl>
                                          <p:spTgt spid="14"/>
                                        </p:tgtEl>
                                        <p:attrNameLst>
                                          <p:attrName>ppt_w</p:attrName>
                                        </p:attrNameLst>
                                      </p:cBhvr>
                                      <p:tavLst>
                                        <p:tav tm="0">
                                          <p:val>
                                            <p:strVal val="#ppt_w*0.7"/>
                                          </p:val>
                                        </p:tav>
                                        <p:tav tm="100000">
                                          <p:val>
                                            <p:strVal val="#ppt_w"/>
                                          </p:val>
                                        </p:tav>
                                      </p:tavLst>
                                    </p:anim>
                                    <p:anim calcmode="lin" valueType="num">
                                      <p:cBhvr additive="base">
                                        <p:cTn id="25" dur="450" fill="hold"/>
                                        <p:tgtEl>
                                          <p:spTgt spid="14"/>
                                        </p:tgtEl>
                                        <p:attrNameLst>
                                          <p:attrName>ppt_h</p:attrName>
                                        </p:attrNameLst>
                                      </p:cBhvr>
                                      <p:tavLst>
                                        <p:tav tm="0">
                                          <p:val>
                                            <p:strVal val="#ppt_h*0.7"/>
                                          </p:val>
                                        </p:tav>
                                        <p:tav tm="100000">
                                          <p:val>
                                            <p:strVal val="#ppt_h"/>
                                          </p:val>
                                        </p:tav>
                                      </p:tavLst>
                                    </p:anim>
                                    <p:animEffect transition="in" filter="fade">
                                      <p:cBhvr>
                                        <p:cTn id="26" dur="450"/>
                                        <p:tgtEl>
                                          <p:spTgt spid="14"/>
                                        </p:tgtEl>
                                      </p:cBhvr>
                                    </p:animEffect>
                                  </p:childTnLst>
                                </p:cTn>
                              </p:par>
                              <p:par>
                                <p:cTn id="27" presetID="53" presetClass="entr" presetSubtype="16" fill="hold" grpId="0" nodeType="withEffect">
                                  <p:stCondLst>
                                    <p:cond delay="70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450" fill="hold"/>
                                        <p:tgtEl>
                                          <p:spTgt spid="15"/>
                                        </p:tgtEl>
                                        <p:attrNameLst>
                                          <p:attrName>ppt_w</p:attrName>
                                        </p:attrNameLst>
                                      </p:cBhvr>
                                      <p:tavLst>
                                        <p:tav tm="0">
                                          <p:val>
                                            <p:strVal val="#ppt_w*0.7"/>
                                          </p:val>
                                        </p:tav>
                                        <p:tav tm="100000">
                                          <p:val>
                                            <p:strVal val="#ppt_w"/>
                                          </p:val>
                                        </p:tav>
                                      </p:tavLst>
                                    </p:anim>
                                    <p:anim calcmode="lin" valueType="num">
                                      <p:cBhvr additive="base">
                                        <p:cTn id="30" dur="450" fill="hold"/>
                                        <p:tgtEl>
                                          <p:spTgt spid="15"/>
                                        </p:tgtEl>
                                        <p:attrNameLst>
                                          <p:attrName>ppt_h</p:attrName>
                                        </p:attrNameLst>
                                      </p:cBhvr>
                                      <p:tavLst>
                                        <p:tav tm="0">
                                          <p:val>
                                            <p:strVal val="#ppt_h*0.7"/>
                                          </p:val>
                                        </p:tav>
                                        <p:tav tm="100000">
                                          <p:val>
                                            <p:strVal val="#ppt_h"/>
                                          </p:val>
                                        </p:tav>
                                      </p:tavLst>
                                    </p:anim>
                                    <p:animEffect transition="in" filter="fade">
                                      <p:cBhvr>
                                        <p:cTn id="31" dur="450"/>
                                        <p:tgtEl>
                                          <p:spTgt spid="15"/>
                                        </p:tgtEl>
                                      </p:cBhvr>
                                    </p:animEffect>
                                  </p:childTnLst>
                                </p:cTn>
                              </p:par>
                              <p:par>
                                <p:cTn id="32" presetID="53" presetClass="entr" presetSubtype="16" fill="hold" grpId="0" nodeType="withEffect">
                                  <p:stCondLst>
                                    <p:cond delay="919"/>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450" fill="hold"/>
                                        <p:tgtEl>
                                          <p:spTgt spid="16"/>
                                        </p:tgtEl>
                                        <p:attrNameLst>
                                          <p:attrName>ppt_w</p:attrName>
                                        </p:attrNameLst>
                                      </p:cBhvr>
                                      <p:tavLst>
                                        <p:tav tm="0">
                                          <p:val>
                                            <p:strVal val="#ppt_w*0.7"/>
                                          </p:val>
                                        </p:tav>
                                        <p:tav tm="100000">
                                          <p:val>
                                            <p:strVal val="#ppt_w"/>
                                          </p:val>
                                        </p:tav>
                                      </p:tavLst>
                                    </p:anim>
                                    <p:anim calcmode="lin" valueType="num">
                                      <p:cBhvr additive="base">
                                        <p:cTn id="35" dur="450" fill="hold"/>
                                        <p:tgtEl>
                                          <p:spTgt spid="16"/>
                                        </p:tgtEl>
                                        <p:attrNameLst>
                                          <p:attrName>ppt_h</p:attrName>
                                        </p:attrNameLst>
                                      </p:cBhvr>
                                      <p:tavLst>
                                        <p:tav tm="0">
                                          <p:val>
                                            <p:strVal val="#ppt_h*0.7"/>
                                          </p:val>
                                        </p:tav>
                                        <p:tav tm="100000">
                                          <p:val>
                                            <p:strVal val="#ppt_h"/>
                                          </p:val>
                                        </p:tav>
                                      </p:tavLst>
                                    </p:anim>
                                    <p:animEffect transition="in" filter="fade">
                                      <p:cBhvr>
                                        <p:cTn id="36" dur="450"/>
                                        <p:tgtEl>
                                          <p:spTgt spid="16"/>
                                        </p:tgtEl>
                                      </p:cBhvr>
                                    </p:animEffect>
                                  </p:childTnLst>
                                </p:cTn>
                              </p:par>
                              <p:par>
                                <p:cTn id="37" presetID="53" presetClass="entr" presetSubtype="16" fill="hold" grpId="0" nodeType="withEffect">
                                  <p:stCondLst>
                                    <p:cond delay="919"/>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450" fill="hold"/>
                                        <p:tgtEl>
                                          <p:spTgt spid="17"/>
                                        </p:tgtEl>
                                        <p:attrNameLst>
                                          <p:attrName>ppt_w</p:attrName>
                                        </p:attrNameLst>
                                      </p:cBhvr>
                                      <p:tavLst>
                                        <p:tav tm="0">
                                          <p:val>
                                            <p:strVal val="#ppt_w*0.7"/>
                                          </p:val>
                                        </p:tav>
                                        <p:tav tm="100000">
                                          <p:val>
                                            <p:strVal val="#ppt_w"/>
                                          </p:val>
                                        </p:tav>
                                      </p:tavLst>
                                    </p:anim>
                                    <p:anim calcmode="lin" valueType="num">
                                      <p:cBhvr additive="base">
                                        <p:cTn id="40" dur="450" fill="hold"/>
                                        <p:tgtEl>
                                          <p:spTgt spid="17"/>
                                        </p:tgtEl>
                                        <p:attrNameLst>
                                          <p:attrName>ppt_h</p:attrName>
                                        </p:attrNameLst>
                                      </p:cBhvr>
                                      <p:tavLst>
                                        <p:tav tm="0">
                                          <p:val>
                                            <p:strVal val="#ppt_h*0.7"/>
                                          </p:val>
                                        </p:tav>
                                        <p:tav tm="100000">
                                          <p:val>
                                            <p:strVal val="#ppt_h"/>
                                          </p:val>
                                        </p:tav>
                                      </p:tavLst>
                                    </p:anim>
                                    <p:animEffect transition="in" filter="fade">
                                      <p:cBhvr>
                                        <p:cTn id="41" dur="450"/>
                                        <p:tgtEl>
                                          <p:spTgt spid="17"/>
                                        </p:tgtEl>
                                      </p:cBhvr>
                                    </p:animEffect>
                                  </p:childTnLst>
                                </p:cTn>
                              </p:par>
                              <p:par>
                                <p:cTn id="42" presetID="53" presetClass="entr" presetSubtype="16" fill="hold" grpId="0" nodeType="withEffect">
                                  <p:stCondLst>
                                    <p:cond delay="919"/>
                                  </p:stCondLst>
                                  <p:childTnLst>
                                    <p:set>
                                      <p:cBhvr>
                                        <p:cTn id="43" dur="1" fill="hold">
                                          <p:stCondLst>
                                            <p:cond delay="0"/>
                                          </p:stCondLst>
                                        </p:cTn>
                                        <p:tgtEl>
                                          <p:spTgt spid="18"/>
                                        </p:tgtEl>
                                        <p:attrNameLst>
                                          <p:attrName>style.visibility</p:attrName>
                                        </p:attrNameLst>
                                      </p:cBhvr>
                                      <p:to>
                                        <p:strVal val="visible"/>
                                      </p:to>
                                    </p:set>
                                    <p:anim calcmode="lin" valueType="num">
                                      <p:cBhvr additive="base">
                                        <p:cTn id="44" dur="450" fill="hold"/>
                                        <p:tgtEl>
                                          <p:spTgt spid="18"/>
                                        </p:tgtEl>
                                        <p:attrNameLst>
                                          <p:attrName>ppt_w</p:attrName>
                                        </p:attrNameLst>
                                      </p:cBhvr>
                                      <p:tavLst>
                                        <p:tav tm="0">
                                          <p:val>
                                            <p:strVal val="#ppt_w*0.7"/>
                                          </p:val>
                                        </p:tav>
                                        <p:tav tm="100000">
                                          <p:val>
                                            <p:strVal val="#ppt_w"/>
                                          </p:val>
                                        </p:tav>
                                      </p:tavLst>
                                    </p:anim>
                                    <p:anim calcmode="lin" valueType="num">
                                      <p:cBhvr additive="base">
                                        <p:cTn id="45" dur="450" fill="hold"/>
                                        <p:tgtEl>
                                          <p:spTgt spid="18"/>
                                        </p:tgtEl>
                                        <p:attrNameLst>
                                          <p:attrName>ppt_h</p:attrName>
                                        </p:attrNameLst>
                                      </p:cBhvr>
                                      <p:tavLst>
                                        <p:tav tm="0">
                                          <p:val>
                                            <p:strVal val="#ppt_h*0.7"/>
                                          </p:val>
                                        </p:tav>
                                        <p:tav tm="100000">
                                          <p:val>
                                            <p:strVal val="#ppt_h"/>
                                          </p:val>
                                        </p:tav>
                                      </p:tavLst>
                                    </p:anim>
                                    <p:animEffect transition="in" filter="fade">
                                      <p:cBhvr>
                                        <p:cTn id="46" dur="450"/>
                                        <p:tgtEl>
                                          <p:spTgt spid="18"/>
                                        </p:tgtEl>
                                      </p:cBhvr>
                                    </p:animEffect>
                                  </p:childTnLst>
                                </p:cTn>
                              </p:par>
                              <p:par>
                                <p:cTn id="47" presetID="53" presetClass="entr" presetSubtype="16" fill="hold" grpId="0" nodeType="withEffect">
                                  <p:stCondLst>
                                    <p:cond delay="114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450" fill="hold"/>
                                        <p:tgtEl>
                                          <p:spTgt spid="19"/>
                                        </p:tgtEl>
                                        <p:attrNameLst>
                                          <p:attrName>ppt_w</p:attrName>
                                        </p:attrNameLst>
                                      </p:cBhvr>
                                      <p:tavLst>
                                        <p:tav tm="0">
                                          <p:val>
                                            <p:strVal val="#ppt_w*0.7"/>
                                          </p:val>
                                        </p:tav>
                                        <p:tav tm="100000">
                                          <p:val>
                                            <p:strVal val="#ppt_w"/>
                                          </p:val>
                                        </p:tav>
                                      </p:tavLst>
                                    </p:anim>
                                    <p:anim calcmode="lin" valueType="num">
                                      <p:cBhvr additive="base">
                                        <p:cTn id="50" dur="450" fill="hold"/>
                                        <p:tgtEl>
                                          <p:spTgt spid="19"/>
                                        </p:tgtEl>
                                        <p:attrNameLst>
                                          <p:attrName>ppt_h</p:attrName>
                                        </p:attrNameLst>
                                      </p:cBhvr>
                                      <p:tavLst>
                                        <p:tav tm="0">
                                          <p:val>
                                            <p:strVal val="#ppt_h*0.7"/>
                                          </p:val>
                                        </p:tav>
                                        <p:tav tm="100000">
                                          <p:val>
                                            <p:strVal val="#ppt_h"/>
                                          </p:val>
                                        </p:tav>
                                      </p:tavLst>
                                    </p:anim>
                                    <p:animEffect transition="in" filter="fade">
                                      <p:cBhvr>
                                        <p:cTn id="51" dur="450"/>
                                        <p:tgtEl>
                                          <p:spTgt spid="19"/>
                                        </p:tgtEl>
                                      </p:cBhvr>
                                    </p:animEffect>
                                  </p:childTnLst>
                                </p:cTn>
                              </p:par>
                              <p:par>
                                <p:cTn id="52" presetID="53" presetClass="entr" presetSubtype="16" fill="hold" grpId="0" nodeType="withEffect">
                                  <p:stCondLst>
                                    <p:cond delay="1140"/>
                                  </p:stCondLst>
                                  <p:childTnLst>
                                    <p:set>
                                      <p:cBhvr>
                                        <p:cTn id="53" dur="1" fill="hold">
                                          <p:stCondLst>
                                            <p:cond delay="0"/>
                                          </p:stCondLst>
                                        </p:cTn>
                                        <p:tgtEl>
                                          <p:spTgt spid="20"/>
                                        </p:tgtEl>
                                        <p:attrNameLst>
                                          <p:attrName>style.visibility</p:attrName>
                                        </p:attrNameLst>
                                      </p:cBhvr>
                                      <p:to>
                                        <p:strVal val="visible"/>
                                      </p:to>
                                    </p:set>
                                    <p:anim calcmode="lin" valueType="num">
                                      <p:cBhvr additive="base">
                                        <p:cTn id="54" dur="450" fill="hold"/>
                                        <p:tgtEl>
                                          <p:spTgt spid="20"/>
                                        </p:tgtEl>
                                        <p:attrNameLst>
                                          <p:attrName>ppt_w</p:attrName>
                                        </p:attrNameLst>
                                      </p:cBhvr>
                                      <p:tavLst>
                                        <p:tav tm="0">
                                          <p:val>
                                            <p:strVal val="#ppt_w*0.7"/>
                                          </p:val>
                                        </p:tav>
                                        <p:tav tm="100000">
                                          <p:val>
                                            <p:strVal val="#ppt_w"/>
                                          </p:val>
                                        </p:tav>
                                      </p:tavLst>
                                    </p:anim>
                                    <p:anim calcmode="lin" valueType="num">
                                      <p:cBhvr additive="base">
                                        <p:cTn id="55" dur="450" fill="hold"/>
                                        <p:tgtEl>
                                          <p:spTgt spid="20"/>
                                        </p:tgtEl>
                                        <p:attrNameLst>
                                          <p:attrName>ppt_h</p:attrName>
                                        </p:attrNameLst>
                                      </p:cBhvr>
                                      <p:tavLst>
                                        <p:tav tm="0">
                                          <p:val>
                                            <p:strVal val="#ppt_h*0.7"/>
                                          </p:val>
                                        </p:tav>
                                        <p:tav tm="100000">
                                          <p:val>
                                            <p:strVal val="#ppt_h"/>
                                          </p:val>
                                        </p:tav>
                                      </p:tavLst>
                                    </p:anim>
                                    <p:animEffect transition="in" filter="fade">
                                      <p:cBhvr>
                                        <p:cTn id="56" dur="450"/>
                                        <p:tgtEl>
                                          <p:spTgt spid="20"/>
                                        </p:tgtEl>
                                      </p:cBhvr>
                                    </p:animEffect>
                                  </p:childTnLst>
                                </p:cTn>
                              </p:par>
                              <p:par>
                                <p:cTn id="57" presetID="53" presetClass="entr" presetSubtype="16" fill="hold" grpId="0" nodeType="withEffect">
                                  <p:stCondLst>
                                    <p:cond delay="114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450" fill="hold"/>
                                        <p:tgtEl>
                                          <p:spTgt spid="21"/>
                                        </p:tgtEl>
                                        <p:attrNameLst>
                                          <p:attrName>ppt_w</p:attrName>
                                        </p:attrNameLst>
                                      </p:cBhvr>
                                      <p:tavLst>
                                        <p:tav tm="0">
                                          <p:val>
                                            <p:strVal val="#ppt_w*0.7"/>
                                          </p:val>
                                        </p:tav>
                                        <p:tav tm="100000">
                                          <p:val>
                                            <p:strVal val="#ppt_w"/>
                                          </p:val>
                                        </p:tav>
                                      </p:tavLst>
                                    </p:anim>
                                    <p:anim calcmode="lin" valueType="num">
                                      <p:cBhvr additive="base">
                                        <p:cTn id="60" dur="450" fill="hold"/>
                                        <p:tgtEl>
                                          <p:spTgt spid="21"/>
                                        </p:tgtEl>
                                        <p:attrNameLst>
                                          <p:attrName>ppt_h</p:attrName>
                                        </p:attrNameLst>
                                      </p:cBhvr>
                                      <p:tavLst>
                                        <p:tav tm="0">
                                          <p:val>
                                            <p:strVal val="#ppt_h*0.7"/>
                                          </p:val>
                                        </p:tav>
                                        <p:tav tm="100000">
                                          <p:val>
                                            <p:strVal val="#ppt_h"/>
                                          </p:val>
                                        </p:tav>
                                      </p:tavLst>
                                    </p:anim>
                                    <p:animEffect transition="in" filter="fade">
                                      <p:cBhvr>
                                        <p:cTn id="61" dur="450"/>
                                        <p:tgtEl>
                                          <p:spTgt spid="21"/>
                                        </p:tgtEl>
                                      </p:cBhvr>
                                    </p:animEffect>
                                  </p:childTnLst>
                                </p:cTn>
                              </p:par>
                              <p:par>
                                <p:cTn id="62" presetID="53" presetClass="entr" presetSubtype="16" fill="hold" grpId="0" nodeType="withEffect">
                                  <p:stCondLst>
                                    <p:cond delay="1359"/>
                                  </p:stCondLst>
                                  <p:childTnLst>
                                    <p:set>
                                      <p:cBhvr>
                                        <p:cTn id="63" dur="1" fill="hold">
                                          <p:stCondLst>
                                            <p:cond delay="0"/>
                                          </p:stCondLst>
                                        </p:cTn>
                                        <p:tgtEl>
                                          <p:spTgt spid="22"/>
                                        </p:tgtEl>
                                        <p:attrNameLst>
                                          <p:attrName>style.visibility</p:attrName>
                                        </p:attrNameLst>
                                      </p:cBhvr>
                                      <p:to>
                                        <p:strVal val="visible"/>
                                      </p:to>
                                    </p:set>
                                    <p:anim calcmode="lin" valueType="num">
                                      <p:cBhvr additive="base">
                                        <p:cTn id="64" dur="450" fill="hold"/>
                                        <p:tgtEl>
                                          <p:spTgt spid="22"/>
                                        </p:tgtEl>
                                        <p:attrNameLst>
                                          <p:attrName>ppt_w</p:attrName>
                                        </p:attrNameLst>
                                      </p:cBhvr>
                                      <p:tavLst>
                                        <p:tav tm="0">
                                          <p:val>
                                            <p:strVal val="#ppt_w*0.7"/>
                                          </p:val>
                                        </p:tav>
                                        <p:tav tm="100000">
                                          <p:val>
                                            <p:strVal val="#ppt_w"/>
                                          </p:val>
                                        </p:tav>
                                      </p:tavLst>
                                    </p:anim>
                                    <p:anim calcmode="lin" valueType="num">
                                      <p:cBhvr additive="base">
                                        <p:cTn id="65" dur="450" fill="hold"/>
                                        <p:tgtEl>
                                          <p:spTgt spid="22"/>
                                        </p:tgtEl>
                                        <p:attrNameLst>
                                          <p:attrName>ppt_h</p:attrName>
                                        </p:attrNameLst>
                                      </p:cBhvr>
                                      <p:tavLst>
                                        <p:tav tm="0">
                                          <p:val>
                                            <p:strVal val="#ppt_h*0.7"/>
                                          </p:val>
                                        </p:tav>
                                        <p:tav tm="100000">
                                          <p:val>
                                            <p:strVal val="#ppt_h"/>
                                          </p:val>
                                        </p:tav>
                                      </p:tavLst>
                                    </p:anim>
                                    <p:animEffect transition="in" filter="fade">
                                      <p:cBhvr>
                                        <p:cTn id="66" dur="450"/>
                                        <p:tgtEl>
                                          <p:spTgt spid="22"/>
                                        </p:tgtEl>
                                      </p:cBhvr>
                                    </p:animEffect>
                                  </p:childTnLst>
                                </p:cTn>
                              </p:par>
                              <p:par>
                                <p:cTn id="67" presetID="53" presetClass="entr" presetSubtype="16" fill="hold" grpId="0" nodeType="withEffect">
                                  <p:stCondLst>
                                    <p:cond delay="1359"/>
                                  </p:stCondLst>
                                  <p:childTnLst>
                                    <p:set>
                                      <p:cBhvr>
                                        <p:cTn id="68" dur="1" fill="hold">
                                          <p:stCondLst>
                                            <p:cond delay="0"/>
                                          </p:stCondLst>
                                        </p:cTn>
                                        <p:tgtEl>
                                          <p:spTgt spid="23"/>
                                        </p:tgtEl>
                                        <p:attrNameLst>
                                          <p:attrName>style.visibility</p:attrName>
                                        </p:attrNameLst>
                                      </p:cBhvr>
                                      <p:to>
                                        <p:strVal val="visible"/>
                                      </p:to>
                                    </p:set>
                                    <p:anim calcmode="lin" valueType="num">
                                      <p:cBhvr additive="base">
                                        <p:cTn id="69" dur="450" fill="hold"/>
                                        <p:tgtEl>
                                          <p:spTgt spid="23"/>
                                        </p:tgtEl>
                                        <p:attrNameLst>
                                          <p:attrName>ppt_w</p:attrName>
                                        </p:attrNameLst>
                                      </p:cBhvr>
                                      <p:tavLst>
                                        <p:tav tm="0">
                                          <p:val>
                                            <p:strVal val="#ppt_w*0.7"/>
                                          </p:val>
                                        </p:tav>
                                        <p:tav tm="100000">
                                          <p:val>
                                            <p:strVal val="#ppt_w"/>
                                          </p:val>
                                        </p:tav>
                                      </p:tavLst>
                                    </p:anim>
                                    <p:anim calcmode="lin" valueType="num">
                                      <p:cBhvr additive="base">
                                        <p:cTn id="70" dur="450" fill="hold"/>
                                        <p:tgtEl>
                                          <p:spTgt spid="23"/>
                                        </p:tgtEl>
                                        <p:attrNameLst>
                                          <p:attrName>ppt_h</p:attrName>
                                        </p:attrNameLst>
                                      </p:cBhvr>
                                      <p:tavLst>
                                        <p:tav tm="0">
                                          <p:val>
                                            <p:strVal val="#ppt_h*0.7"/>
                                          </p:val>
                                        </p:tav>
                                        <p:tav tm="100000">
                                          <p:val>
                                            <p:strVal val="#ppt_h"/>
                                          </p:val>
                                        </p:tav>
                                      </p:tavLst>
                                    </p:anim>
                                    <p:animEffect transition="in" filter="fade">
                                      <p:cBhvr>
                                        <p:cTn id="71" dur="450"/>
                                        <p:tgtEl>
                                          <p:spTgt spid="23"/>
                                        </p:tgtEl>
                                      </p:cBhvr>
                                    </p:animEffect>
                                  </p:childTnLst>
                                </p:cTn>
                              </p:par>
                              <p:par>
                                <p:cTn id="72" presetID="53" presetClass="entr" presetSubtype="16" fill="hold" grpId="0" nodeType="withEffect">
                                  <p:stCondLst>
                                    <p:cond delay="1359"/>
                                  </p:stCondLst>
                                  <p:childTnLst>
                                    <p:set>
                                      <p:cBhvr>
                                        <p:cTn id="73" dur="1" fill="hold">
                                          <p:stCondLst>
                                            <p:cond delay="0"/>
                                          </p:stCondLst>
                                        </p:cTn>
                                        <p:tgtEl>
                                          <p:spTgt spid="24"/>
                                        </p:tgtEl>
                                        <p:attrNameLst>
                                          <p:attrName>style.visibility</p:attrName>
                                        </p:attrNameLst>
                                      </p:cBhvr>
                                      <p:to>
                                        <p:strVal val="visible"/>
                                      </p:to>
                                    </p:set>
                                    <p:anim calcmode="lin" valueType="num">
                                      <p:cBhvr additive="base">
                                        <p:cTn id="74" dur="450" fill="hold"/>
                                        <p:tgtEl>
                                          <p:spTgt spid="24"/>
                                        </p:tgtEl>
                                        <p:attrNameLst>
                                          <p:attrName>ppt_w</p:attrName>
                                        </p:attrNameLst>
                                      </p:cBhvr>
                                      <p:tavLst>
                                        <p:tav tm="0">
                                          <p:val>
                                            <p:strVal val="#ppt_w*0.7"/>
                                          </p:val>
                                        </p:tav>
                                        <p:tav tm="100000">
                                          <p:val>
                                            <p:strVal val="#ppt_w"/>
                                          </p:val>
                                        </p:tav>
                                      </p:tavLst>
                                    </p:anim>
                                    <p:anim calcmode="lin" valueType="num">
                                      <p:cBhvr additive="base">
                                        <p:cTn id="75" dur="450" fill="hold"/>
                                        <p:tgtEl>
                                          <p:spTgt spid="24"/>
                                        </p:tgtEl>
                                        <p:attrNameLst>
                                          <p:attrName>ppt_h</p:attrName>
                                        </p:attrNameLst>
                                      </p:cBhvr>
                                      <p:tavLst>
                                        <p:tav tm="0">
                                          <p:val>
                                            <p:strVal val="#ppt_h*0.7"/>
                                          </p:val>
                                        </p:tav>
                                        <p:tav tm="100000">
                                          <p:val>
                                            <p:strVal val="#ppt_h"/>
                                          </p:val>
                                        </p:tav>
                                      </p:tavLst>
                                    </p:anim>
                                    <p:animEffect transition="in" filter="fade">
                                      <p:cBhvr>
                                        <p:cTn id="76"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center.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glow_iot" descr="glow_7FC211_30_1.7.png"/>
          <p:cNvPicPr>
            <a:picLocks noChangeAspect="1"/>
          </p:cNvPicPr>
          <p:nvPr/>
        </p:nvPicPr>
        <p:blipFill>
          <a:blip r:embed="rId7"/>
          <a:stretch>
            <a:fillRect/>
          </a:stretch>
        </p:blipFill>
        <p:spPr>
          <a:xfrm>
            <a:off x="8677656" y="4648810"/>
            <a:ext cx="2304288" cy="2304288"/>
          </a:xfrm>
          <a:prstGeom prst="rect">
            <a:avLst/>
          </a:prstGeom>
        </p:spPr>
      </p:pic>
      <p:pic>
        <p:nvPicPr>
          <p:cNvPr id="8" name="!!iot" descr="iot.png"/>
          <p:cNvPicPr>
            <a:picLocks noChangeAspect="1"/>
          </p:cNvPicPr>
          <p:nvPr/>
        </p:nvPicPr>
        <p:blipFill>
          <a:blip r:embed="rId8"/>
          <a:srcRect/>
          <a:stretch>
            <a:fillRect/>
          </a:stretch>
        </p:blipFill>
        <p:spPr>
          <a:xfrm>
            <a:off x="8732520" y="4460861"/>
            <a:ext cx="2194560" cy="2037806"/>
          </a:xfrm>
          <a:prstGeom prst="rect">
            <a:avLst/>
          </a:prstGeom>
        </p:spPr>
      </p:pic>
      <p:pic>
        <p:nvPicPr>
          <p:cNvPr id="9" name="!!logo" descr="logo_stp.png"/>
          <p:cNvPicPr>
            <a:picLocks noChangeAspect="1"/>
          </p:cNvPicPr>
          <p:nvPr/>
        </p:nvPicPr>
        <p:blipFill>
          <a:blip r:embed="rId9"/>
          <a:stretch>
            <a:fillRect/>
          </a:stretch>
        </p:blipFill>
        <p:spPr>
          <a:xfrm>
            <a:off x="10024567" y="384048"/>
            <a:ext cx="420624" cy="420624"/>
          </a:xfrm>
          <a:prstGeom prst="rect">
            <a:avLst/>
          </a:prstGeom>
        </p:spPr>
      </p:pic>
      <p:sp>
        <p:nvSpPr>
          <p:cNvPr id="10"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1" name="TextBox 10"/>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18</a:t>
            </a:r>
          </a:p>
        </p:txBody>
      </p:sp>
      <p:sp>
        <p:nvSpPr>
          <p:cNvPr id="12" name="!!kicker"/>
          <p:cNvSpPr txBox="1"/>
          <p:nvPr/>
        </p:nvSpPr>
        <p:spPr>
          <a:xfrm>
            <a:off x="685800" y="502920"/>
            <a:ext cx="73152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HIỆU QUẢ ĐÃ KIỂM CHỨNG</a:t>
            </a:r>
          </a:p>
        </p:txBody>
      </p:sp>
      <p:sp>
        <p:nvSpPr>
          <p:cNvPr id="13" name="!!title"/>
          <p:cNvSpPr txBox="1"/>
          <p:nvPr/>
        </p:nvSpPr>
        <p:spPr>
          <a:xfrm>
            <a:off x="685800" y="850392"/>
            <a:ext cx="7315200" cy="528320"/>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Giá trị kinh tế </a:t>
            </a:r>
            <a:r>
              <a:rPr sz="3200" b="0" i="0">
                <a:solidFill>
                  <a:srgbClr val="8FD11E"/>
                </a:solidFill>
                <a:latin typeface="Be Vietnam Pro ExtraBold"/>
                <a:ea typeface="Be Vietnam Pro ExtraBold"/>
                <a:cs typeface="Be Vietnam Pro ExtraBold"/>
              </a:rPr>
              <a:t>vượt trội</a:t>
            </a:r>
          </a:p>
        </p:txBody>
      </p:sp>
      <p:sp>
        <p:nvSpPr>
          <p:cNvPr id="14" name="Rounded Rectangle 13"/>
          <p:cNvSpPr/>
          <p:nvPr/>
        </p:nvSpPr>
        <p:spPr>
          <a:xfrm>
            <a:off x="685800" y="2103120"/>
            <a:ext cx="6766560" cy="4251960"/>
          </a:xfrm>
          <a:prstGeom prst="roundRect">
            <a:avLst>
              <a:gd name="adj" fmla="val 3440"/>
            </a:avLst>
          </a:prstGeom>
          <a:solidFill>
            <a:srgbClr val="FFFFFF">
              <a:alpha val="5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graphicFrame>
        <p:nvGraphicFramePr>
          <p:cNvPr id="15" name="Chart 14"/>
          <p:cNvGraphicFramePr>
            <a:graphicFrameLocks noGrp="1"/>
          </p:cNvGraphicFramePr>
          <p:nvPr/>
        </p:nvGraphicFramePr>
        <p:xfrm>
          <a:off x="914400" y="2286000"/>
          <a:ext cx="6309360" cy="3886200"/>
        </p:xfrm>
        <a:graphic>
          <a:graphicData uri="http://schemas.openxmlformats.org/drawingml/2006/chart">
            <c:chart xmlns:c="http://schemas.openxmlformats.org/drawingml/2006/chart" r:id="rId10"/>
          </a:graphicData>
        </a:graphic>
      </p:graphicFrame>
      <p:sp>
        <p:nvSpPr>
          <p:cNvPr id="16" name="TextBox 15"/>
          <p:cNvSpPr txBox="1"/>
          <p:nvPr/>
        </p:nvSpPr>
        <p:spPr>
          <a:xfrm>
            <a:off x="7863840" y="2103120"/>
            <a:ext cx="1828800" cy="731520"/>
          </a:xfrm>
          <a:prstGeom prst="rect">
            <a:avLst/>
          </a:prstGeom>
          <a:noFill/>
        </p:spPr>
        <p:txBody>
          <a:bodyPr wrap="none" lIns="0" rIns="0" tIns="0" bIns="0" anchor="ctr">
            <a:noAutofit/>
          </a:bodyPr>
          <a:lstStyle/>
          <a:p>
            <a:pPr algn="l">
              <a:lnSpc>
                <a:spcPct val="115000"/>
              </a:lnSpc>
              <a:spcAft>
                <a:spcPts val="0"/>
              </a:spcAft>
            </a:pPr>
            <a:r>
              <a:rPr sz="4000" b="0" i="0">
                <a:solidFill>
                  <a:srgbClr val="8FD11E"/>
                </a:solidFill>
                <a:latin typeface="Be Vietnam Pro Black"/>
                <a:ea typeface="Be Vietnam Pro Black"/>
                <a:cs typeface="Be Vietnam Pro Black"/>
              </a:rPr>
              <a:t>+20%</a:t>
            </a:r>
          </a:p>
        </p:txBody>
      </p:sp>
      <p:sp>
        <p:nvSpPr>
          <p:cNvPr id="17" name="TextBox 16"/>
          <p:cNvSpPr txBox="1"/>
          <p:nvPr/>
        </p:nvSpPr>
        <p:spPr>
          <a:xfrm>
            <a:off x="9738360" y="2103120"/>
            <a:ext cx="1767535" cy="731520"/>
          </a:xfrm>
          <a:prstGeom prst="rect">
            <a:avLst/>
          </a:prstGeom>
          <a:noFill/>
        </p:spPr>
        <p:txBody>
          <a:bodyPr wrap="square" lIns="0" rIns="0" tIns="0" bIns="0" anchor="ctr">
            <a:noAutofit/>
          </a:bodyPr>
          <a:lstStyle/>
          <a:p>
            <a:pPr algn="l">
              <a:lnSpc>
                <a:spcPct val="110000"/>
              </a:lnSpc>
              <a:spcAft>
                <a:spcPts val="0"/>
              </a:spcAft>
            </a:pPr>
            <a:r>
              <a:rPr sz="1300" b="0" i="0">
                <a:solidFill>
                  <a:srgbClr val="C9D8CE"/>
                </a:solidFill>
                <a:latin typeface="Be Vietnam Pro Medium"/>
                <a:ea typeface="Be Vietnam Pro Medium"/>
                <a:cs typeface="Be Vietnam Pro Medium"/>
              </a:rPr>
              <a:t>năng suất cây trồng</a:t>
            </a:r>
          </a:p>
        </p:txBody>
      </p:sp>
      <p:sp>
        <p:nvSpPr>
          <p:cNvPr id="18" name="TextBox 17"/>
          <p:cNvSpPr txBox="1"/>
          <p:nvPr/>
        </p:nvSpPr>
        <p:spPr>
          <a:xfrm>
            <a:off x="7863840" y="2944368"/>
            <a:ext cx="1828800" cy="731520"/>
          </a:xfrm>
          <a:prstGeom prst="rect">
            <a:avLst/>
          </a:prstGeom>
          <a:noFill/>
        </p:spPr>
        <p:txBody>
          <a:bodyPr wrap="none" lIns="0" rIns="0" tIns="0" bIns="0" anchor="ctr">
            <a:noAutofit/>
          </a:bodyPr>
          <a:lstStyle/>
          <a:p>
            <a:pPr algn="l">
              <a:lnSpc>
                <a:spcPct val="115000"/>
              </a:lnSpc>
              <a:spcAft>
                <a:spcPts val="0"/>
              </a:spcAft>
            </a:pPr>
            <a:r>
              <a:rPr sz="4000" b="0" i="0">
                <a:solidFill>
                  <a:srgbClr val="8FD11E"/>
                </a:solidFill>
                <a:latin typeface="Be Vietnam Pro Black"/>
                <a:ea typeface="Be Vietnam Pro Black"/>
                <a:cs typeface="Be Vietnam Pro Black"/>
              </a:rPr>
              <a:t>−30%</a:t>
            </a:r>
          </a:p>
        </p:txBody>
      </p:sp>
      <p:sp>
        <p:nvSpPr>
          <p:cNvPr id="19" name="TextBox 18"/>
          <p:cNvSpPr txBox="1"/>
          <p:nvPr/>
        </p:nvSpPr>
        <p:spPr>
          <a:xfrm>
            <a:off x="9738360" y="2944368"/>
            <a:ext cx="1767535" cy="731520"/>
          </a:xfrm>
          <a:prstGeom prst="rect">
            <a:avLst/>
          </a:prstGeom>
          <a:noFill/>
        </p:spPr>
        <p:txBody>
          <a:bodyPr wrap="square" lIns="0" rIns="0" tIns="0" bIns="0" anchor="ctr">
            <a:noAutofit/>
          </a:bodyPr>
          <a:lstStyle/>
          <a:p>
            <a:pPr algn="l">
              <a:lnSpc>
                <a:spcPct val="110000"/>
              </a:lnSpc>
              <a:spcAft>
                <a:spcPts val="0"/>
              </a:spcAft>
            </a:pPr>
            <a:r>
              <a:rPr sz="1300" b="0" i="0">
                <a:solidFill>
                  <a:srgbClr val="C9D8CE"/>
                </a:solidFill>
                <a:latin typeface="Be Vietnam Pro Medium"/>
                <a:ea typeface="Be Vietnam Pro Medium"/>
                <a:cs typeface="Be Vietnam Pro Medium"/>
              </a:rPr>
              <a:t>phân bón lãng phí</a:t>
            </a:r>
          </a:p>
        </p:txBody>
      </p:sp>
      <p:sp>
        <p:nvSpPr>
          <p:cNvPr id="20" name="TextBox 19"/>
          <p:cNvSpPr txBox="1"/>
          <p:nvPr/>
        </p:nvSpPr>
        <p:spPr>
          <a:xfrm>
            <a:off x="7863840" y="3785616"/>
            <a:ext cx="1828800" cy="731520"/>
          </a:xfrm>
          <a:prstGeom prst="rect">
            <a:avLst/>
          </a:prstGeom>
          <a:noFill/>
        </p:spPr>
        <p:txBody>
          <a:bodyPr wrap="none" lIns="0" rIns="0" tIns="0" bIns="0" anchor="ctr">
            <a:noAutofit/>
          </a:bodyPr>
          <a:lstStyle/>
          <a:p>
            <a:pPr algn="l">
              <a:lnSpc>
                <a:spcPct val="115000"/>
              </a:lnSpc>
              <a:spcAft>
                <a:spcPts val="0"/>
              </a:spcAft>
            </a:pPr>
            <a:r>
              <a:rPr sz="4000" b="0" i="0">
                <a:solidFill>
                  <a:srgbClr val="8FD11E"/>
                </a:solidFill>
                <a:latin typeface="Be Vietnam Pro Black"/>
                <a:ea typeface="Be Vietnam Pro Black"/>
                <a:cs typeface="Be Vietnam Pro Black"/>
              </a:rPr>
              <a:t>−50%</a:t>
            </a:r>
          </a:p>
        </p:txBody>
      </p:sp>
      <p:sp>
        <p:nvSpPr>
          <p:cNvPr id="21" name="TextBox 20"/>
          <p:cNvSpPr txBox="1"/>
          <p:nvPr/>
        </p:nvSpPr>
        <p:spPr>
          <a:xfrm>
            <a:off x="9738360" y="3785616"/>
            <a:ext cx="1767535" cy="731520"/>
          </a:xfrm>
          <a:prstGeom prst="rect">
            <a:avLst/>
          </a:prstGeom>
          <a:noFill/>
        </p:spPr>
        <p:txBody>
          <a:bodyPr wrap="square" lIns="0" rIns="0" tIns="0" bIns="0" anchor="ctr">
            <a:noAutofit/>
          </a:bodyPr>
          <a:lstStyle/>
          <a:p>
            <a:pPr algn="l">
              <a:lnSpc>
                <a:spcPct val="110000"/>
              </a:lnSpc>
              <a:spcAft>
                <a:spcPts val="0"/>
              </a:spcAft>
            </a:pPr>
            <a:r>
              <a:rPr sz="1300" b="0" i="0">
                <a:solidFill>
                  <a:srgbClr val="C9D8CE"/>
                </a:solidFill>
                <a:latin typeface="Be Vietnam Pro Medium"/>
                <a:ea typeface="Be Vietnam Pro Medium"/>
                <a:cs typeface="Be Vietnam Pro Medium"/>
              </a:rPr>
              <a:t>nhân công giám sát</a:t>
            </a:r>
          </a:p>
        </p:txBody>
      </p:sp>
      <p:sp>
        <p:nvSpPr>
          <p:cNvPr id="22" name="TextBox 21"/>
          <p:cNvSpPr txBox="1"/>
          <p:nvPr/>
        </p:nvSpPr>
        <p:spPr>
          <a:xfrm>
            <a:off x="685800" y="6446520"/>
            <a:ext cx="6766560" cy="274320"/>
          </a:xfrm>
          <a:prstGeom prst="rect">
            <a:avLst/>
          </a:prstGeom>
          <a:noFill/>
        </p:spPr>
        <p:txBody>
          <a:bodyPr wrap="square" lIns="0" rIns="0" tIns="0" bIns="0" anchor="t">
            <a:noAutofit/>
          </a:bodyPr>
          <a:lstStyle/>
          <a:p>
            <a:pPr algn="l">
              <a:lnSpc>
                <a:spcPct val="115000"/>
              </a:lnSpc>
              <a:spcAft>
                <a:spcPts val="0"/>
              </a:spcAft>
            </a:pPr>
            <a:r>
              <a:rPr sz="1000" b="0" i="0">
                <a:solidFill>
                  <a:srgbClr val="7E9A88"/>
                </a:solidFill>
                <a:latin typeface="Be Vietnam Pro"/>
                <a:ea typeface="Be Vietnam Pro"/>
                <a:cs typeface="Be Vietnam Pro"/>
              </a:rPr>
              <a:t>Nguồn: BOM Technology — số liệu tại các trang trại đã triển khai.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22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3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22" presetClass="entr" presetSubtype="4" fill="hold" grpId="0" nodeType="withEffect">
                                  <p:stCondLst>
                                    <p:cond delay="50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1000"/>
                                        <p:tgtEl>
                                          <p:spTgt spid="15"/>
                                        </p:tgtEl>
                                      </p:cBhvr>
                                    </p:animEffect>
                                  </p:childTnLst>
                                </p:cTn>
                              </p:par>
                              <p:par>
                                <p:cTn id="26" presetID="2" presetClass="entr" presetSubtype="2" fill="hold" grpId="0" nodeType="withEffect">
                                  <p:stCondLst>
                                    <p:cond delay="80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450" fill="hold"/>
                                        <p:tgtEl>
                                          <p:spTgt spid="16"/>
                                        </p:tgtEl>
                                        <p:attrNameLst>
                                          <p:attrName>ppt_x</p:attrName>
                                        </p:attrNameLst>
                                      </p:cBhvr>
                                      <p:tavLst>
                                        <p:tav tm="0">
                                          <p:val>
                                            <p:strVal val="1+#ppt_w/2"/>
                                          </p:val>
                                        </p:tav>
                                        <p:tav tm="100000">
                                          <p:val>
                                            <p:strVal val="#ppt_x"/>
                                          </p:val>
                                        </p:tav>
                                      </p:tavLst>
                                    </p:anim>
                                    <p:anim calcmode="lin" valueType="num">
                                      <p:cBhvr additive="base">
                                        <p:cTn id="29" dur="450" fill="hold"/>
                                        <p:tgtEl>
                                          <p:spTgt spid="16"/>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80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450" fill="hold"/>
                                        <p:tgtEl>
                                          <p:spTgt spid="17"/>
                                        </p:tgtEl>
                                        <p:attrNameLst>
                                          <p:attrName>ppt_x</p:attrName>
                                        </p:attrNameLst>
                                      </p:cBhvr>
                                      <p:tavLst>
                                        <p:tav tm="0">
                                          <p:val>
                                            <p:strVal val="1+#ppt_w/2"/>
                                          </p:val>
                                        </p:tav>
                                        <p:tav tm="100000">
                                          <p:val>
                                            <p:strVal val="#ppt_x"/>
                                          </p:val>
                                        </p:tav>
                                      </p:tavLst>
                                    </p:anim>
                                    <p:anim calcmode="lin" valueType="num">
                                      <p:cBhvr additive="base">
                                        <p:cTn id="33" dur="450" fill="hold"/>
                                        <p:tgtEl>
                                          <p:spTgt spid="17"/>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100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450" fill="hold"/>
                                        <p:tgtEl>
                                          <p:spTgt spid="18"/>
                                        </p:tgtEl>
                                        <p:attrNameLst>
                                          <p:attrName>ppt_x</p:attrName>
                                        </p:attrNameLst>
                                      </p:cBhvr>
                                      <p:tavLst>
                                        <p:tav tm="0">
                                          <p:val>
                                            <p:strVal val="1+#ppt_w/2"/>
                                          </p:val>
                                        </p:tav>
                                        <p:tav tm="100000">
                                          <p:val>
                                            <p:strVal val="#ppt_x"/>
                                          </p:val>
                                        </p:tav>
                                      </p:tavLst>
                                    </p:anim>
                                    <p:anim calcmode="lin" valueType="num">
                                      <p:cBhvr additive="base">
                                        <p:cTn id="37" dur="450" fill="hold"/>
                                        <p:tgtEl>
                                          <p:spTgt spid="18"/>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100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450" fill="hold"/>
                                        <p:tgtEl>
                                          <p:spTgt spid="19"/>
                                        </p:tgtEl>
                                        <p:attrNameLst>
                                          <p:attrName>ppt_x</p:attrName>
                                        </p:attrNameLst>
                                      </p:cBhvr>
                                      <p:tavLst>
                                        <p:tav tm="0">
                                          <p:val>
                                            <p:strVal val="1+#ppt_w/2"/>
                                          </p:val>
                                        </p:tav>
                                        <p:tav tm="100000">
                                          <p:val>
                                            <p:strVal val="#ppt_x"/>
                                          </p:val>
                                        </p:tav>
                                      </p:tavLst>
                                    </p:anim>
                                    <p:anim calcmode="lin" valueType="num">
                                      <p:cBhvr additive="base">
                                        <p:cTn id="41" dur="450" fill="hold"/>
                                        <p:tgtEl>
                                          <p:spTgt spid="19"/>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1200"/>
                                  </p:stCondLst>
                                  <p:childTnLst>
                                    <p:set>
                                      <p:cBhvr>
                                        <p:cTn id="43" dur="1" fill="hold">
                                          <p:stCondLst>
                                            <p:cond delay="0"/>
                                          </p:stCondLst>
                                        </p:cTn>
                                        <p:tgtEl>
                                          <p:spTgt spid="20"/>
                                        </p:tgtEl>
                                        <p:attrNameLst>
                                          <p:attrName>style.visibility</p:attrName>
                                        </p:attrNameLst>
                                      </p:cBhvr>
                                      <p:to>
                                        <p:strVal val="visible"/>
                                      </p:to>
                                    </p:set>
                                    <p:anim calcmode="lin" valueType="num">
                                      <p:cBhvr additive="base">
                                        <p:cTn id="44" dur="450" fill="hold"/>
                                        <p:tgtEl>
                                          <p:spTgt spid="20"/>
                                        </p:tgtEl>
                                        <p:attrNameLst>
                                          <p:attrName>ppt_x</p:attrName>
                                        </p:attrNameLst>
                                      </p:cBhvr>
                                      <p:tavLst>
                                        <p:tav tm="0">
                                          <p:val>
                                            <p:strVal val="1+#ppt_w/2"/>
                                          </p:val>
                                        </p:tav>
                                        <p:tav tm="100000">
                                          <p:val>
                                            <p:strVal val="#ppt_x"/>
                                          </p:val>
                                        </p:tav>
                                      </p:tavLst>
                                    </p:anim>
                                    <p:anim calcmode="lin" valueType="num">
                                      <p:cBhvr additive="base">
                                        <p:cTn id="45" dur="450" fill="hold"/>
                                        <p:tgtEl>
                                          <p:spTgt spid="20"/>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12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450" fill="hold"/>
                                        <p:tgtEl>
                                          <p:spTgt spid="21"/>
                                        </p:tgtEl>
                                        <p:attrNameLst>
                                          <p:attrName>ppt_x</p:attrName>
                                        </p:attrNameLst>
                                      </p:cBhvr>
                                      <p:tavLst>
                                        <p:tav tm="0">
                                          <p:val>
                                            <p:strVal val="1+#ppt_w/2"/>
                                          </p:val>
                                        </p:tav>
                                        <p:tav tm="100000">
                                          <p:val>
                                            <p:strVal val="#ppt_x"/>
                                          </p:val>
                                        </p:tav>
                                      </p:tavLst>
                                    </p:anim>
                                    <p:anim calcmode="lin" valueType="num">
                                      <p:cBhvr additive="base">
                                        <p:cTn id="49" dur="450" fill="hold"/>
                                        <p:tgtEl>
                                          <p:spTgt spid="21"/>
                                        </p:tgtEl>
                                        <p:attrNameLst>
                                          <p:attrName>ppt_y</p:attrName>
                                        </p:attrNameLst>
                                      </p:cBhvr>
                                      <p:tavLst>
                                        <p:tav tm="0">
                                          <p:val>
                                            <p:strVal val="#ppt_y"/>
                                          </p:val>
                                        </p:tav>
                                        <p:tav tm="100000">
                                          <p:val>
                                            <p:strVal val="#ppt_y"/>
                                          </p:val>
                                        </p:tav>
                                      </p:tavLst>
                                    </p:anim>
                                  </p:childTnLst>
                                </p:cTn>
                              </p:par>
                              <p:par>
                                <p:cTn id="50" presetID="10" presetClass="entr" presetSubtype="0" fill="hold" grpId="0" nodeType="withEffect">
                                  <p:stCondLst>
                                    <p:cond delay="14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Graphic spid="15" grpId="0">
        <p:bldAsOne/>
      </p:bldGraphic>
      <p:bldP spid="16" grpId="0" animBg="1"/>
      <p:bldP spid="17" grpId="0" animBg="1"/>
      <p:bldP spid="18" grpId="0" animBg="1"/>
      <p:bldP spid="19" grpId="0" animBg="1"/>
      <p:bldP spid="20" grpId="0" animBg="1"/>
      <p:bldP spid="21" grpId="0" animBg="1"/>
      <p:bldP spid="22"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center.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pic>
        <p:nvPicPr>
          <p:cNvPr id="8" name="!!logo" descr="logo_stp.png"/>
          <p:cNvPicPr>
            <a:picLocks noChangeAspect="1"/>
          </p:cNvPicPr>
          <p:nvPr/>
        </p:nvPicPr>
        <p:blipFill>
          <a:blip r:embed="rId8"/>
          <a:stretch>
            <a:fillRect/>
          </a:stretch>
        </p:blipFill>
        <p:spPr>
          <a:xfrm>
            <a:off x="10024567" y="384048"/>
            <a:ext cx="420624" cy="420624"/>
          </a:xfrm>
          <a:prstGeom prst="rect">
            <a:avLst/>
          </a:prstGeom>
        </p:spPr>
      </p:pic>
      <p:sp>
        <p:nvSpPr>
          <p:cNvPr id="9"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0" name="TextBox 9"/>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19</a:t>
            </a:r>
          </a:p>
        </p:txBody>
      </p:sp>
      <p:sp>
        <p:nvSpPr>
          <p:cNvPr id="11" name="!!kicker"/>
          <p:cNvSpPr txBox="1"/>
          <p:nvPr/>
        </p:nvSpPr>
        <p:spPr>
          <a:xfrm>
            <a:off x="685800" y="502920"/>
            <a:ext cx="82296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MẠNG LƯỚI</a:t>
            </a:r>
          </a:p>
        </p:txBody>
      </p:sp>
      <p:sp>
        <p:nvSpPr>
          <p:cNvPr id="12" name="!!title"/>
          <p:cNvSpPr txBox="1"/>
          <p:nvPr/>
        </p:nvSpPr>
        <p:spPr>
          <a:xfrm>
            <a:off x="685800" y="850392"/>
            <a:ext cx="8229600" cy="528320"/>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Đối tác </a:t>
            </a:r>
            <a:r>
              <a:rPr sz="3200" b="0" i="0">
                <a:solidFill>
                  <a:srgbClr val="8FD11E"/>
                </a:solidFill>
                <a:latin typeface="Be Vietnam Pro ExtraBold"/>
                <a:ea typeface="Be Vietnam Pro ExtraBold"/>
                <a:cs typeface="Be Vietnam Pro ExtraBold"/>
              </a:rPr>
              <a:t>chiến lược</a:t>
            </a:r>
          </a:p>
        </p:txBody>
      </p:sp>
      <p:sp>
        <p:nvSpPr>
          <p:cNvPr id="13" name="TextBox 12"/>
          <p:cNvSpPr txBox="1"/>
          <p:nvPr/>
        </p:nvSpPr>
        <p:spPr>
          <a:xfrm>
            <a:off x="685800" y="1920240"/>
            <a:ext cx="2616726" cy="310896"/>
          </a:xfrm>
          <a:prstGeom prst="rect">
            <a:avLst/>
          </a:prstGeom>
          <a:noFill/>
        </p:spPr>
        <p:txBody>
          <a:bodyPr wrap="none" lIns="0" rIns="0" tIns="0" bIns="0" anchor="ctr">
            <a:noAutofit/>
          </a:bodyPr>
          <a:lstStyle/>
          <a:p>
            <a:pPr algn="l">
              <a:lnSpc>
                <a:spcPct val="115000"/>
              </a:lnSpc>
              <a:spcAft>
                <a:spcPts val="0"/>
              </a:spcAft>
            </a:pPr>
            <a:r>
              <a:rPr sz="1100" b="0" i="0" spc="250">
                <a:solidFill>
                  <a:srgbClr val="8FD11E"/>
                </a:solidFill>
                <a:latin typeface="Be Vietnam Pro SemiBold"/>
                <a:ea typeface="Be Vietnam Pro SemiBold"/>
                <a:cs typeface="Be Vietnam Pro SemiBold"/>
              </a:rPr>
              <a:t>CÔNG NGHỆ &amp; TRUY XUẤT</a:t>
            </a:r>
          </a:p>
        </p:txBody>
      </p:sp>
      <p:cxnSp>
        <p:nvCxnSpPr>
          <p:cNvPr id="14" name="Connector 13"/>
          <p:cNvCxnSpPr/>
          <p:nvPr/>
        </p:nvCxnSpPr>
        <p:spPr>
          <a:xfrm>
            <a:off x="3439686" y="2075688"/>
            <a:ext cx="8066209" cy="0"/>
          </a:xfrm>
          <a:prstGeom prst="line">
            <a:avLst/>
          </a:prstGeom>
          <a:ln w="12700">
            <a:solidFill>
              <a:srgbClr val="2E5A40"/>
            </a:solidFill>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685800" y="2322576"/>
            <a:ext cx="1404649"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6" name="Picture 15" descr="partner_11_t.jpg"/>
          <p:cNvPicPr>
            <a:picLocks noChangeAspect="1"/>
          </p:cNvPicPr>
          <p:nvPr/>
        </p:nvPicPr>
        <p:blipFill>
          <a:blip r:embed="rId9"/>
          <a:srcRect/>
          <a:stretch>
            <a:fillRect/>
          </a:stretch>
        </p:blipFill>
        <p:spPr>
          <a:xfrm>
            <a:off x="795528" y="2491681"/>
            <a:ext cx="1185193" cy="530469"/>
          </a:xfrm>
          <a:prstGeom prst="rect">
            <a:avLst/>
          </a:prstGeom>
        </p:spPr>
      </p:pic>
      <p:sp>
        <p:nvSpPr>
          <p:cNvPr id="17" name="Rounded Rectangle 16"/>
          <p:cNvSpPr/>
          <p:nvPr/>
        </p:nvSpPr>
        <p:spPr>
          <a:xfrm>
            <a:off x="2255041" y="2322576"/>
            <a:ext cx="1404649"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8" name="Picture 17" descr="partner_15_t.jpg"/>
          <p:cNvPicPr>
            <a:picLocks noChangeAspect="1"/>
          </p:cNvPicPr>
          <p:nvPr/>
        </p:nvPicPr>
        <p:blipFill>
          <a:blip r:embed="rId10"/>
          <a:srcRect/>
          <a:stretch>
            <a:fillRect/>
          </a:stretch>
        </p:blipFill>
        <p:spPr>
          <a:xfrm>
            <a:off x="2364769" y="2444003"/>
            <a:ext cx="1185193" cy="625826"/>
          </a:xfrm>
          <a:prstGeom prst="rect">
            <a:avLst/>
          </a:prstGeom>
        </p:spPr>
      </p:pic>
      <p:sp>
        <p:nvSpPr>
          <p:cNvPr id="19" name="Rounded Rectangle 18"/>
          <p:cNvSpPr/>
          <p:nvPr/>
        </p:nvSpPr>
        <p:spPr>
          <a:xfrm>
            <a:off x="3824282" y="2322576"/>
            <a:ext cx="1404649"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0" name="Picture 19" descr="partner_14_t.jpg"/>
          <p:cNvPicPr>
            <a:picLocks noChangeAspect="1"/>
          </p:cNvPicPr>
          <p:nvPr/>
        </p:nvPicPr>
        <p:blipFill>
          <a:blip r:embed="rId11"/>
          <a:srcRect/>
          <a:stretch>
            <a:fillRect/>
          </a:stretch>
        </p:blipFill>
        <p:spPr>
          <a:xfrm>
            <a:off x="3934010" y="2522296"/>
            <a:ext cx="1185193" cy="469240"/>
          </a:xfrm>
          <a:prstGeom prst="rect">
            <a:avLst/>
          </a:prstGeom>
        </p:spPr>
      </p:pic>
      <p:sp>
        <p:nvSpPr>
          <p:cNvPr id="21" name="Rounded Rectangle 20"/>
          <p:cNvSpPr/>
          <p:nvPr/>
        </p:nvSpPr>
        <p:spPr>
          <a:xfrm>
            <a:off x="5393523" y="2322576"/>
            <a:ext cx="1404649"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2" name="Picture 21" descr="partner_12_t.jpg"/>
          <p:cNvPicPr>
            <a:picLocks noChangeAspect="1"/>
          </p:cNvPicPr>
          <p:nvPr/>
        </p:nvPicPr>
        <p:blipFill>
          <a:blip r:embed="rId12"/>
          <a:srcRect l="0" r="0"/>
          <a:stretch>
            <a:fillRect/>
          </a:stretch>
        </p:blipFill>
        <p:spPr>
          <a:xfrm>
            <a:off x="5503251" y="2476212"/>
            <a:ext cx="1185193" cy="561407"/>
          </a:xfrm>
          <a:prstGeom prst="rect">
            <a:avLst/>
          </a:prstGeom>
        </p:spPr>
      </p:pic>
      <p:sp>
        <p:nvSpPr>
          <p:cNvPr id="23" name="Rounded Rectangle 22"/>
          <p:cNvSpPr/>
          <p:nvPr/>
        </p:nvSpPr>
        <p:spPr>
          <a:xfrm>
            <a:off x="6962764" y="2322576"/>
            <a:ext cx="1404649"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4" name="Picture 23" descr="partner_6_t.jpg"/>
          <p:cNvPicPr>
            <a:picLocks noChangeAspect="1"/>
          </p:cNvPicPr>
          <p:nvPr/>
        </p:nvPicPr>
        <p:blipFill>
          <a:blip r:embed="rId13"/>
          <a:srcRect/>
          <a:stretch>
            <a:fillRect/>
          </a:stretch>
        </p:blipFill>
        <p:spPr>
          <a:xfrm>
            <a:off x="7307572" y="2404872"/>
            <a:ext cx="715032" cy="704088"/>
          </a:xfrm>
          <a:prstGeom prst="rect">
            <a:avLst/>
          </a:prstGeom>
        </p:spPr>
      </p:pic>
      <p:sp>
        <p:nvSpPr>
          <p:cNvPr id="25" name="Rounded Rectangle 24"/>
          <p:cNvSpPr/>
          <p:nvPr/>
        </p:nvSpPr>
        <p:spPr>
          <a:xfrm>
            <a:off x="8532005" y="2322576"/>
            <a:ext cx="1404649"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6" name="Picture 25" descr="partner_16_t.jpg"/>
          <p:cNvPicPr>
            <a:picLocks noChangeAspect="1"/>
          </p:cNvPicPr>
          <p:nvPr/>
        </p:nvPicPr>
        <p:blipFill>
          <a:blip r:embed="rId14"/>
          <a:srcRect/>
          <a:stretch>
            <a:fillRect/>
          </a:stretch>
        </p:blipFill>
        <p:spPr>
          <a:xfrm>
            <a:off x="8762387" y="2404872"/>
            <a:ext cx="943886" cy="704088"/>
          </a:xfrm>
          <a:prstGeom prst="rect">
            <a:avLst/>
          </a:prstGeom>
        </p:spPr>
      </p:pic>
      <p:sp>
        <p:nvSpPr>
          <p:cNvPr id="27" name="Rounded Rectangle 26"/>
          <p:cNvSpPr/>
          <p:nvPr/>
        </p:nvSpPr>
        <p:spPr>
          <a:xfrm>
            <a:off x="10101246" y="2322576"/>
            <a:ext cx="1404649"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8" name="Picture 27" descr="partner_13_t.jpg"/>
          <p:cNvPicPr>
            <a:picLocks noChangeAspect="1"/>
          </p:cNvPicPr>
          <p:nvPr/>
        </p:nvPicPr>
        <p:blipFill>
          <a:blip r:embed="rId15"/>
          <a:srcRect/>
          <a:stretch>
            <a:fillRect/>
          </a:stretch>
        </p:blipFill>
        <p:spPr>
          <a:xfrm>
            <a:off x="10280607" y="2404872"/>
            <a:ext cx="1045928" cy="704088"/>
          </a:xfrm>
          <a:prstGeom prst="rect">
            <a:avLst/>
          </a:prstGeom>
        </p:spPr>
      </p:pic>
      <p:sp>
        <p:nvSpPr>
          <p:cNvPr id="29" name="TextBox 28"/>
          <p:cNvSpPr txBox="1"/>
          <p:nvPr/>
        </p:nvSpPr>
        <p:spPr>
          <a:xfrm>
            <a:off x="685800" y="3410712"/>
            <a:ext cx="2500481" cy="310896"/>
          </a:xfrm>
          <a:prstGeom prst="rect">
            <a:avLst/>
          </a:prstGeom>
          <a:noFill/>
        </p:spPr>
        <p:txBody>
          <a:bodyPr wrap="none" lIns="0" rIns="0" tIns="0" bIns="0" anchor="ctr">
            <a:noAutofit/>
          </a:bodyPr>
          <a:lstStyle/>
          <a:p>
            <a:pPr algn="l">
              <a:lnSpc>
                <a:spcPct val="115000"/>
              </a:lnSpc>
              <a:spcAft>
                <a:spcPts val="0"/>
              </a:spcAft>
            </a:pPr>
            <a:r>
              <a:rPr sz="1100" b="0" i="0" spc="250">
                <a:solidFill>
                  <a:srgbClr val="8FD11E"/>
                </a:solidFill>
                <a:latin typeface="Be Vietnam Pro SemiBold"/>
                <a:ea typeface="Be Vietnam Pro SemiBold"/>
                <a:cs typeface="Be Vietnam Pro SemiBold"/>
              </a:rPr>
              <a:t>GIÁO DỤC &amp; TUYỂN SINH</a:t>
            </a:r>
          </a:p>
        </p:txBody>
      </p:sp>
      <p:cxnSp>
        <p:nvCxnSpPr>
          <p:cNvPr id="30" name="Connector 29"/>
          <p:cNvCxnSpPr/>
          <p:nvPr/>
        </p:nvCxnSpPr>
        <p:spPr>
          <a:xfrm>
            <a:off x="3323441" y="3566160"/>
            <a:ext cx="8182454" cy="0"/>
          </a:xfrm>
          <a:prstGeom prst="line">
            <a:avLst/>
          </a:prstGeom>
          <a:ln w="12700">
            <a:solidFill>
              <a:srgbClr val="2E5A40"/>
            </a:solidFill>
          </a:ln>
          <a:effectLst/>
        </p:spPr>
        <p:style>
          <a:lnRef idx="2">
            <a:schemeClr val="accent1"/>
          </a:lnRef>
          <a:fillRef idx="0">
            <a:schemeClr val="accent1"/>
          </a:fillRef>
          <a:effectRef idx="0">
            <a:schemeClr val="accent1"/>
          </a:effectRef>
          <a:fontRef idx="minor">
            <a:schemeClr val="tx1"/>
          </a:fontRef>
        </p:style>
      </p:cxnSp>
      <p:sp>
        <p:nvSpPr>
          <p:cNvPr id="31" name="Rounded Rectangle 30"/>
          <p:cNvSpPr/>
          <p:nvPr/>
        </p:nvSpPr>
        <p:spPr>
          <a:xfrm>
            <a:off x="685800" y="3813048"/>
            <a:ext cx="1417320"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32" name="Picture 31" descr="partner_5_t.jpg"/>
          <p:cNvPicPr>
            <a:picLocks noChangeAspect="1"/>
          </p:cNvPicPr>
          <p:nvPr/>
        </p:nvPicPr>
        <p:blipFill>
          <a:blip r:embed="rId16"/>
          <a:srcRect/>
          <a:stretch>
            <a:fillRect/>
          </a:stretch>
        </p:blipFill>
        <p:spPr>
          <a:xfrm>
            <a:off x="863154" y="3895344"/>
            <a:ext cx="1062611" cy="704088"/>
          </a:xfrm>
          <a:prstGeom prst="rect">
            <a:avLst/>
          </a:prstGeom>
        </p:spPr>
      </p:pic>
      <p:sp>
        <p:nvSpPr>
          <p:cNvPr id="33" name="Rounded Rectangle 32"/>
          <p:cNvSpPr/>
          <p:nvPr/>
        </p:nvSpPr>
        <p:spPr>
          <a:xfrm>
            <a:off x="2267712" y="3813048"/>
            <a:ext cx="1417320"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34" name="Picture 33" descr="partner_7_t.jpg"/>
          <p:cNvPicPr>
            <a:picLocks noChangeAspect="1"/>
          </p:cNvPicPr>
          <p:nvPr/>
        </p:nvPicPr>
        <p:blipFill>
          <a:blip r:embed="rId17"/>
          <a:srcRect/>
          <a:stretch>
            <a:fillRect/>
          </a:stretch>
        </p:blipFill>
        <p:spPr>
          <a:xfrm>
            <a:off x="2626097" y="3895344"/>
            <a:ext cx="700550" cy="704088"/>
          </a:xfrm>
          <a:prstGeom prst="rect">
            <a:avLst/>
          </a:prstGeom>
        </p:spPr>
      </p:pic>
      <p:sp>
        <p:nvSpPr>
          <p:cNvPr id="35" name="Rounded Rectangle 34"/>
          <p:cNvSpPr/>
          <p:nvPr/>
        </p:nvSpPr>
        <p:spPr>
          <a:xfrm>
            <a:off x="3849624" y="3813048"/>
            <a:ext cx="1417320"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36" name="Picture 35" descr="partner_8_t.jpg"/>
          <p:cNvPicPr>
            <a:picLocks noChangeAspect="1"/>
          </p:cNvPicPr>
          <p:nvPr/>
        </p:nvPicPr>
        <p:blipFill>
          <a:blip r:embed="rId18"/>
          <a:srcRect/>
          <a:stretch>
            <a:fillRect/>
          </a:stretch>
        </p:blipFill>
        <p:spPr>
          <a:xfrm>
            <a:off x="4141907" y="3895344"/>
            <a:ext cx="832754" cy="704088"/>
          </a:xfrm>
          <a:prstGeom prst="rect">
            <a:avLst/>
          </a:prstGeom>
        </p:spPr>
      </p:pic>
      <p:sp>
        <p:nvSpPr>
          <p:cNvPr id="37" name="Rounded Rectangle 36"/>
          <p:cNvSpPr/>
          <p:nvPr/>
        </p:nvSpPr>
        <p:spPr>
          <a:xfrm>
            <a:off x="5431536" y="3813048"/>
            <a:ext cx="1417320"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38" name="Picture 37" descr="partner_4_t.jpg"/>
          <p:cNvPicPr>
            <a:picLocks noChangeAspect="1"/>
          </p:cNvPicPr>
          <p:nvPr/>
        </p:nvPicPr>
        <p:blipFill>
          <a:blip r:embed="rId19"/>
          <a:srcRect/>
          <a:stretch>
            <a:fillRect/>
          </a:stretch>
        </p:blipFill>
        <p:spPr>
          <a:xfrm>
            <a:off x="5769623" y="3895344"/>
            <a:ext cx="741145" cy="704088"/>
          </a:xfrm>
          <a:prstGeom prst="rect">
            <a:avLst/>
          </a:prstGeom>
        </p:spPr>
      </p:pic>
      <p:sp>
        <p:nvSpPr>
          <p:cNvPr id="39" name="Rounded Rectangle 38"/>
          <p:cNvSpPr/>
          <p:nvPr/>
        </p:nvSpPr>
        <p:spPr>
          <a:xfrm>
            <a:off x="7013448" y="3813048"/>
            <a:ext cx="1417320"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40" name="Picture 39" descr="partner_9_t.jpg"/>
          <p:cNvPicPr>
            <a:picLocks noChangeAspect="1"/>
          </p:cNvPicPr>
          <p:nvPr/>
        </p:nvPicPr>
        <p:blipFill>
          <a:blip r:embed="rId20"/>
          <a:srcRect/>
          <a:stretch>
            <a:fillRect/>
          </a:stretch>
        </p:blipFill>
        <p:spPr>
          <a:xfrm>
            <a:off x="7150639" y="3895344"/>
            <a:ext cx="1142937" cy="704088"/>
          </a:xfrm>
          <a:prstGeom prst="rect">
            <a:avLst/>
          </a:prstGeom>
        </p:spPr>
      </p:pic>
      <p:sp>
        <p:nvSpPr>
          <p:cNvPr id="41" name="TextBox 40"/>
          <p:cNvSpPr txBox="1"/>
          <p:nvPr/>
        </p:nvSpPr>
        <p:spPr>
          <a:xfrm>
            <a:off x="685800" y="4901184"/>
            <a:ext cx="1972002" cy="310896"/>
          </a:xfrm>
          <a:prstGeom prst="rect">
            <a:avLst/>
          </a:prstGeom>
          <a:noFill/>
        </p:spPr>
        <p:txBody>
          <a:bodyPr wrap="none" lIns="0" rIns="0" tIns="0" bIns="0" anchor="ctr">
            <a:noAutofit/>
          </a:bodyPr>
          <a:lstStyle/>
          <a:p>
            <a:pPr algn="l">
              <a:lnSpc>
                <a:spcPct val="115000"/>
              </a:lnSpc>
              <a:spcAft>
                <a:spcPts val="0"/>
              </a:spcAft>
            </a:pPr>
            <a:r>
              <a:rPr sz="1100" b="0" i="0" spc="250">
                <a:solidFill>
                  <a:srgbClr val="8FD11E"/>
                </a:solidFill>
                <a:latin typeface="Be Vietnam Pro SemiBold"/>
                <a:ea typeface="Be Vietnam Pro SemiBold"/>
                <a:cs typeface="Be Vietnam Pro SemiBold"/>
              </a:rPr>
              <a:t>DU LỊCH &amp; DỊCH VỤ</a:t>
            </a:r>
          </a:p>
        </p:txBody>
      </p:sp>
      <p:cxnSp>
        <p:nvCxnSpPr>
          <p:cNvPr id="42" name="Connector 41"/>
          <p:cNvCxnSpPr/>
          <p:nvPr/>
        </p:nvCxnSpPr>
        <p:spPr>
          <a:xfrm>
            <a:off x="2794962" y="5056632"/>
            <a:ext cx="8710933" cy="0"/>
          </a:xfrm>
          <a:prstGeom prst="line">
            <a:avLst/>
          </a:prstGeom>
          <a:ln w="12700">
            <a:solidFill>
              <a:srgbClr val="2E5A40"/>
            </a:solidFill>
          </a:ln>
          <a:effectLst/>
        </p:spPr>
        <p:style>
          <a:lnRef idx="2">
            <a:schemeClr val="accent1"/>
          </a:lnRef>
          <a:fillRef idx="0">
            <a:schemeClr val="accent1"/>
          </a:fillRef>
          <a:effectRef idx="0">
            <a:schemeClr val="accent1"/>
          </a:effectRef>
          <a:fontRef idx="minor">
            <a:schemeClr val="tx1"/>
          </a:fontRef>
        </p:style>
      </p:cxnSp>
      <p:sp>
        <p:nvSpPr>
          <p:cNvPr id="43" name="Rounded Rectangle 42"/>
          <p:cNvSpPr/>
          <p:nvPr/>
        </p:nvSpPr>
        <p:spPr>
          <a:xfrm>
            <a:off x="685800" y="5303520"/>
            <a:ext cx="1417320"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44" name="Picture 43" descr="partner_1_t.jpg"/>
          <p:cNvPicPr>
            <a:picLocks noChangeAspect="1"/>
          </p:cNvPicPr>
          <p:nvPr/>
        </p:nvPicPr>
        <p:blipFill>
          <a:blip r:embed="rId21"/>
          <a:srcRect/>
          <a:stretch>
            <a:fillRect/>
          </a:stretch>
        </p:blipFill>
        <p:spPr>
          <a:xfrm>
            <a:off x="942113" y="5385816"/>
            <a:ext cx="904694" cy="704088"/>
          </a:xfrm>
          <a:prstGeom prst="rect">
            <a:avLst/>
          </a:prstGeom>
        </p:spPr>
      </p:pic>
      <p:sp>
        <p:nvSpPr>
          <p:cNvPr id="45" name="Rounded Rectangle 44"/>
          <p:cNvSpPr/>
          <p:nvPr/>
        </p:nvSpPr>
        <p:spPr>
          <a:xfrm>
            <a:off x="2267712" y="5303520"/>
            <a:ext cx="1417320"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46" name="Picture 45" descr="partner_2_t.jpg"/>
          <p:cNvPicPr>
            <a:picLocks noChangeAspect="1"/>
          </p:cNvPicPr>
          <p:nvPr/>
        </p:nvPicPr>
        <p:blipFill>
          <a:blip r:embed="rId22"/>
          <a:srcRect t="0" b="0"/>
          <a:stretch>
            <a:fillRect/>
          </a:stretch>
        </p:blipFill>
        <p:spPr>
          <a:xfrm>
            <a:off x="2503842" y="5385816"/>
            <a:ext cx="945059" cy="704088"/>
          </a:xfrm>
          <a:prstGeom prst="rect">
            <a:avLst/>
          </a:prstGeom>
        </p:spPr>
      </p:pic>
      <p:sp>
        <p:nvSpPr>
          <p:cNvPr id="47" name="Rounded Rectangle 46"/>
          <p:cNvSpPr/>
          <p:nvPr/>
        </p:nvSpPr>
        <p:spPr>
          <a:xfrm>
            <a:off x="3849624" y="5303520"/>
            <a:ext cx="1417320"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48" name="Picture 47" descr="partner_3_t.jpg"/>
          <p:cNvPicPr>
            <a:picLocks noChangeAspect="1"/>
          </p:cNvPicPr>
          <p:nvPr/>
        </p:nvPicPr>
        <p:blipFill>
          <a:blip r:embed="rId23"/>
          <a:srcRect/>
          <a:stretch>
            <a:fillRect/>
          </a:stretch>
        </p:blipFill>
        <p:spPr>
          <a:xfrm>
            <a:off x="4275234" y="5385816"/>
            <a:ext cx="566101" cy="704088"/>
          </a:xfrm>
          <a:prstGeom prst="rect">
            <a:avLst/>
          </a:prstGeom>
        </p:spPr>
      </p:pic>
      <p:sp>
        <p:nvSpPr>
          <p:cNvPr id="49" name="Rounded Rectangle 48"/>
          <p:cNvSpPr/>
          <p:nvPr/>
        </p:nvSpPr>
        <p:spPr>
          <a:xfrm>
            <a:off x="5431536" y="5303520"/>
            <a:ext cx="1417320" cy="868680"/>
          </a:xfrm>
          <a:prstGeom prst="roundRect">
            <a:avLst>
              <a:gd name="adj" fmla="val 12631"/>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50" name="Picture 49" descr="partner_10_t.jpg"/>
          <p:cNvPicPr>
            <a:picLocks noChangeAspect="1"/>
          </p:cNvPicPr>
          <p:nvPr/>
        </p:nvPicPr>
        <p:blipFill>
          <a:blip r:embed="rId24"/>
          <a:srcRect/>
          <a:stretch>
            <a:fillRect/>
          </a:stretch>
        </p:blipFill>
        <p:spPr>
          <a:xfrm>
            <a:off x="5541264" y="5492953"/>
            <a:ext cx="1197864" cy="48981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22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22" presetClass="entr" presetSubtype="8" fill="hold" grpId="0" nodeType="withEffect">
                                  <p:stCondLst>
                                    <p:cond delay="4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400"/>
                                        <p:tgtEl>
                                          <p:spTgt spid="13"/>
                                        </p:tgtEl>
                                      </p:cBhvr>
                                    </p:animEffect>
                                  </p:childTnLst>
                                </p:cTn>
                              </p:par>
                              <p:par>
                                <p:cTn id="23" presetID="22" presetClass="entr" presetSubtype="8" fill="hold" grpId="0" nodeType="withEffect">
                                  <p:stCondLst>
                                    <p:cond delay="40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400"/>
                                        <p:tgtEl>
                                          <p:spTgt spid="14"/>
                                        </p:tgtEl>
                                      </p:cBhvr>
                                    </p:animEffect>
                                  </p:childTnLst>
                                </p:cTn>
                              </p:par>
                              <p:par>
                                <p:cTn id="26" presetID="53" presetClass="entr" presetSubtype="16" fill="hold" grpId="0" nodeType="withEffect">
                                  <p:stCondLst>
                                    <p:cond delay="55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350" fill="hold"/>
                                        <p:tgtEl>
                                          <p:spTgt spid="15"/>
                                        </p:tgtEl>
                                        <p:attrNameLst>
                                          <p:attrName>ppt_w</p:attrName>
                                        </p:attrNameLst>
                                      </p:cBhvr>
                                      <p:tavLst>
                                        <p:tav tm="0">
                                          <p:val>
                                            <p:strVal val="#ppt_w*0.7"/>
                                          </p:val>
                                        </p:tav>
                                        <p:tav tm="100000">
                                          <p:val>
                                            <p:strVal val="#ppt_w"/>
                                          </p:val>
                                        </p:tav>
                                      </p:tavLst>
                                    </p:anim>
                                    <p:anim calcmode="lin" valueType="num">
                                      <p:cBhvr additive="base">
                                        <p:cTn id="29" dur="350" fill="hold"/>
                                        <p:tgtEl>
                                          <p:spTgt spid="15"/>
                                        </p:tgtEl>
                                        <p:attrNameLst>
                                          <p:attrName>ppt_h</p:attrName>
                                        </p:attrNameLst>
                                      </p:cBhvr>
                                      <p:tavLst>
                                        <p:tav tm="0">
                                          <p:val>
                                            <p:strVal val="#ppt_h*0.7"/>
                                          </p:val>
                                        </p:tav>
                                        <p:tav tm="100000">
                                          <p:val>
                                            <p:strVal val="#ppt_h"/>
                                          </p:val>
                                        </p:tav>
                                      </p:tavLst>
                                    </p:anim>
                                    <p:animEffect transition="in" filter="fade">
                                      <p:cBhvr>
                                        <p:cTn id="30" dur="350"/>
                                        <p:tgtEl>
                                          <p:spTgt spid="15"/>
                                        </p:tgtEl>
                                      </p:cBhvr>
                                    </p:animEffect>
                                  </p:childTnLst>
                                </p:cTn>
                              </p:par>
                              <p:par>
                                <p:cTn id="31" presetID="53" presetClass="entr" presetSubtype="16" fill="hold" grpId="0" nodeType="withEffect">
                                  <p:stCondLst>
                                    <p:cond delay="55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350" fill="hold"/>
                                        <p:tgtEl>
                                          <p:spTgt spid="16"/>
                                        </p:tgtEl>
                                        <p:attrNameLst>
                                          <p:attrName>ppt_w</p:attrName>
                                        </p:attrNameLst>
                                      </p:cBhvr>
                                      <p:tavLst>
                                        <p:tav tm="0">
                                          <p:val>
                                            <p:strVal val="#ppt_w*0.7"/>
                                          </p:val>
                                        </p:tav>
                                        <p:tav tm="100000">
                                          <p:val>
                                            <p:strVal val="#ppt_w"/>
                                          </p:val>
                                        </p:tav>
                                      </p:tavLst>
                                    </p:anim>
                                    <p:anim calcmode="lin" valueType="num">
                                      <p:cBhvr additive="base">
                                        <p:cTn id="34" dur="350" fill="hold"/>
                                        <p:tgtEl>
                                          <p:spTgt spid="16"/>
                                        </p:tgtEl>
                                        <p:attrNameLst>
                                          <p:attrName>ppt_h</p:attrName>
                                        </p:attrNameLst>
                                      </p:cBhvr>
                                      <p:tavLst>
                                        <p:tav tm="0">
                                          <p:val>
                                            <p:strVal val="#ppt_h*0.7"/>
                                          </p:val>
                                        </p:tav>
                                        <p:tav tm="100000">
                                          <p:val>
                                            <p:strVal val="#ppt_h"/>
                                          </p:val>
                                        </p:tav>
                                      </p:tavLst>
                                    </p:anim>
                                    <p:animEffect transition="in" filter="fade">
                                      <p:cBhvr>
                                        <p:cTn id="35" dur="350"/>
                                        <p:tgtEl>
                                          <p:spTgt spid="16"/>
                                        </p:tgtEl>
                                      </p:cBhvr>
                                    </p:animEffect>
                                  </p:childTnLst>
                                </p:cTn>
                              </p:par>
                              <p:par>
                                <p:cTn id="36" presetID="53" presetClass="entr" presetSubtype="16" fill="hold" grpId="0" nodeType="withEffect">
                                  <p:stCondLst>
                                    <p:cond delay="60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350" fill="hold"/>
                                        <p:tgtEl>
                                          <p:spTgt spid="17"/>
                                        </p:tgtEl>
                                        <p:attrNameLst>
                                          <p:attrName>ppt_w</p:attrName>
                                        </p:attrNameLst>
                                      </p:cBhvr>
                                      <p:tavLst>
                                        <p:tav tm="0">
                                          <p:val>
                                            <p:strVal val="#ppt_w*0.7"/>
                                          </p:val>
                                        </p:tav>
                                        <p:tav tm="100000">
                                          <p:val>
                                            <p:strVal val="#ppt_w"/>
                                          </p:val>
                                        </p:tav>
                                      </p:tavLst>
                                    </p:anim>
                                    <p:anim calcmode="lin" valueType="num">
                                      <p:cBhvr additive="base">
                                        <p:cTn id="39" dur="350" fill="hold"/>
                                        <p:tgtEl>
                                          <p:spTgt spid="17"/>
                                        </p:tgtEl>
                                        <p:attrNameLst>
                                          <p:attrName>ppt_h</p:attrName>
                                        </p:attrNameLst>
                                      </p:cBhvr>
                                      <p:tavLst>
                                        <p:tav tm="0">
                                          <p:val>
                                            <p:strVal val="#ppt_h*0.7"/>
                                          </p:val>
                                        </p:tav>
                                        <p:tav tm="100000">
                                          <p:val>
                                            <p:strVal val="#ppt_h"/>
                                          </p:val>
                                        </p:tav>
                                      </p:tavLst>
                                    </p:anim>
                                    <p:animEffect transition="in" filter="fade">
                                      <p:cBhvr>
                                        <p:cTn id="40" dur="350"/>
                                        <p:tgtEl>
                                          <p:spTgt spid="17"/>
                                        </p:tgtEl>
                                      </p:cBhvr>
                                    </p:animEffect>
                                  </p:childTnLst>
                                </p:cTn>
                              </p:par>
                              <p:par>
                                <p:cTn id="41" presetID="53" presetClass="entr" presetSubtype="16" fill="hold" grpId="0" nodeType="withEffect">
                                  <p:stCondLst>
                                    <p:cond delay="60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350" fill="hold"/>
                                        <p:tgtEl>
                                          <p:spTgt spid="18"/>
                                        </p:tgtEl>
                                        <p:attrNameLst>
                                          <p:attrName>ppt_w</p:attrName>
                                        </p:attrNameLst>
                                      </p:cBhvr>
                                      <p:tavLst>
                                        <p:tav tm="0">
                                          <p:val>
                                            <p:strVal val="#ppt_w*0.7"/>
                                          </p:val>
                                        </p:tav>
                                        <p:tav tm="100000">
                                          <p:val>
                                            <p:strVal val="#ppt_w"/>
                                          </p:val>
                                        </p:tav>
                                      </p:tavLst>
                                    </p:anim>
                                    <p:anim calcmode="lin" valueType="num">
                                      <p:cBhvr additive="base">
                                        <p:cTn id="44" dur="350" fill="hold"/>
                                        <p:tgtEl>
                                          <p:spTgt spid="18"/>
                                        </p:tgtEl>
                                        <p:attrNameLst>
                                          <p:attrName>ppt_h</p:attrName>
                                        </p:attrNameLst>
                                      </p:cBhvr>
                                      <p:tavLst>
                                        <p:tav tm="0">
                                          <p:val>
                                            <p:strVal val="#ppt_h*0.7"/>
                                          </p:val>
                                        </p:tav>
                                        <p:tav tm="100000">
                                          <p:val>
                                            <p:strVal val="#ppt_h"/>
                                          </p:val>
                                        </p:tav>
                                      </p:tavLst>
                                    </p:anim>
                                    <p:animEffect transition="in" filter="fade">
                                      <p:cBhvr>
                                        <p:cTn id="45" dur="350"/>
                                        <p:tgtEl>
                                          <p:spTgt spid="18"/>
                                        </p:tgtEl>
                                      </p:cBhvr>
                                    </p:animEffect>
                                  </p:childTnLst>
                                </p:cTn>
                              </p:par>
                              <p:par>
                                <p:cTn id="46" presetID="53" presetClass="entr" presetSubtype="16" fill="hold" grpId="0" nodeType="withEffect">
                                  <p:stCondLst>
                                    <p:cond delay="65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350" fill="hold"/>
                                        <p:tgtEl>
                                          <p:spTgt spid="19"/>
                                        </p:tgtEl>
                                        <p:attrNameLst>
                                          <p:attrName>ppt_w</p:attrName>
                                        </p:attrNameLst>
                                      </p:cBhvr>
                                      <p:tavLst>
                                        <p:tav tm="0">
                                          <p:val>
                                            <p:strVal val="#ppt_w*0.7"/>
                                          </p:val>
                                        </p:tav>
                                        <p:tav tm="100000">
                                          <p:val>
                                            <p:strVal val="#ppt_w"/>
                                          </p:val>
                                        </p:tav>
                                      </p:tavLst>
                                    </p:anim>
                                    <p:anim calcmode="lin" valueType="num">
                                      <p:cBhvr additive="base">
                                        <p:cTn id="49" dur="350" fill="hold"/>
                                        <p:tgtEl>
                                          <p:spTgt spid="19"/>
                                        </p:tgtEl>
                                        <p:attrNameLst>
                                          <p:attrName>ppt_h</p:attrName>
                                        </p:attrNameLst>
                                      </p:cBhvr>
                                      <p:tavLst>
                                        <p:tav tm="0">
                                          <p:val>
                                            <p:strVal val="#ppt_h*0.7"/>
                                          </p:val>
                                        </p:tav>
                                        <p:tav tm="100000">
                                          <p:val>
                                            <p:strVal val="#ppt_h"/>
                                          </p:val>
                                        </p:tav>
                                      </p:tavLst>
                                    </p:anim>
                                    <p:animEffect transition="in" filter="fade">
                                      <p:cBhvr>
                                        <p:cTn id="50" dur="350"/>
                                        <p:tgtEl>
                                          <p:spTgt spid="19"/>
                                        </p:tgtEl>
                                      </p:cBhvr>
                                    </p:animEffect>
                                  </p:childTnLst>
                                </p:cTn>
                              </p:par>
                              <p:par>
                                <p:cTn id="51" presetID="53" presetClass="entr" presetSubtype="16" fill="hold" grpId="0" nodeType="withEffect">
                                  <p:stCondLst>
                                    <p:cond delay="65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350" fill="hold"/>
                                        <p:tgtEl>
                                          <p:spTgt spid="20"/>
                                        </p:tgtEl>
                                        <p:attrNameLst>
                                          <p:attrName>ppt_w</p:attrName>
                                        </p:attrNameLst>
                                      </p:cBhvr>
                                      <p:tavLst>
                                        <p:tav tm="0">
                                          <p:val>
                                            <p:strVal val="#ppt_w*0.7"/>
                                          </p:val>
                                        </p:tav>
                                        <p:tav tm="100000">
                                          <p:val>
                                            <p:strVal val="#ppt_w"/>
                                          </p:val>
                                        </p:tav>
                                      </p:tavLst>
                                    </p:anim>
                                    <p:anim calcmode="lin" valueType="num">
                                      <p:cBhvr additive="base">
                                        <p:cTn id="54" dur="350" fill="hold"/>
                                        <p:tgtEl>
                                          <p:spTgt spid="20"/>
                                        </p:tgtEl>
                                        <p:attrNameLst>
                                          <p:attrName>ppt_h</p:attrName>
                                        </p:attrNameLst>
                                      </p:cBhvr>
                                      <p:tavLst>
                                        <p:tav tm="0">
                                          <p:val>
                                            <p:strVal val="#ppt_h*0.7"/>
                                          </p:val>
                                        </p:tav>
                                        <p:tav tm="100000">
                                          <p:val>
                                            <p:strVal val="#ppt_h"/>
                                          </p:val>
                                        </p:tav>
                                      </p:tavLst>
                                    </p:anim>
                                    <p:animEffect transition="in" filter="fade">
                                      <p:cBhvr>
                                        <p:cTn id="55" dur="350"/>
                                        <p:tgtEl>
                                          <p:spTgt spid="20"/>
                                        </p:tgtEl>
                                      </p:cBhvr>
                                    </p:animEffect>
                                  </p:childTnLst>
                                </p:cTn>
                              </p:par>
                              <p:par>
                                <p:cTn id="56" presetID="53" presetClass="entr" presetSubtype="16" fill="hold" grpId="0" nodeType="withEffect">
                                  <p:stCondLst>
                                    <p:cond delay="70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350" fill="hold"/>
                                        <p:tgtEl>
                                          <p:spTgt spid="21"/>
                                        </p:tgtEl>
                                        <p:attrNameLst>
                                          <p:attrName>ppt_w</p:attrName>
                                        </p:attrNameLst>
                                      </p:cBhvr>
                                      <p:tavLst>
                                        <p:tav tm="0">
                                          <p:val>
                                            <p:strVal val="#ppt_w*0.7"/>
                                          </p:val>
                                        </p:tav>
                                        <p:tav tm="100000">
                                          <p:val>
                                            <p:strVal val="#ppt_w"/>
                                          </p:val>
                                        </p:tav>
                                      </p:tavLst>
                                    </p:anim>
                                    <p:anim calcmode="lin" valueType="num">
                                      <p:cBhvr additive="base">
                                        <p:cTn id="59" dur="350" fill="hold"/>
                                        <p:tgtEl>
                                          <p:spTgt spid="21"/>
                                        </p:tgtEl>
                                        <p:attrNameLst>
                                          <p:attrName>ppt_h</p:attrName>
                                        </p:attrNameLst>
                                      </p:cBhvr>
                                      <p:tavLst>
                                        <p:tav tm="0">
                                          <p:val>
                                            <p:strVal val="#ppt_h*0.7"/>
                                          </p:val>
                                        </p:tav>
                                        <p:tav tm="100000">
                                          <p:val>
                                            <p:strVal val="#ppt_h"/>
                                          </p:val>
                                        </p:tav>
                                      </p:tavLst>
                                    </p:anim>
                                    <p:animEffect transition="in" filter="fade">
                                      <p:cBhvr>
                                        <p:cTn id="60" dur="350"/>
                                        <p:tgtEl>
                                          <p:spTgt spid="21"/>
                                        </p:tgtEl>
                                      </p:cBhvr>
                                    </p:animEffect>
                                  </p:childTnLst>
                                </p:cTn>
                              </p:par>
                              <p:par>
                                <p:cTn id="61" presetID="53" presetClass="entr" presetSubtype="16" fill="hold" grpId="0" nodeType="withEffect">
                                  <p:stCondLst>
                                    <p:cond delay="70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350" fill="hold"/>
                                        <p:tgtEl>
                                          <p:spTgt spid="22"/>
                                        </p:tgtEl>
                                        <p:attrNameLst>
                                          <p:attrName>ppt_w</p:attrName>
                                        </p:attrNameLst>
                                      </p:cBhvr>
                                      <p:tavLst>
                                        <p:tav tm="0">
                                          <p:val>
                                            <p:strVal val="#ppt_w*0.7"/>
                                          </p:val>
                                        </p:tav>
                                        <p:tav tm="100000">
                                          <p:val>
                                            <p:strVal val="#ppt_w"/>
                                          </p:val>
                                        </p:tav>
                                      </p:tavLst>
                                    </p:anim>
                                    <p:anim calcmode="lin" valueType="num">
                                      <p:cBhvr additive="base">
                                        <p:cTn id="64" dur="350" fill="hold"/>
                                        <p:tgtEl>
                                          <p:spTgt spid="22"/>
                                        </p:tgtEl>
                                        <p:attrNameLst>
                                          <p:attrName>ppt_h</p:attrName>
                                        </p:attrNameLst>
                                      </p:cBhvr>
                                      <p:tavLst>
                                        <p:tav tm="0">
                                          <p:val>
                                            <p:strVal val="#ppt_h*0.7"/>
                                          </p:val>
                                        </p:tav>
                                        <p:tav tm="100000">
                                          <p:val>
                                            <p:strVal val="#ppt_h"/>
                                          </p:val>
                                        </p:tav>
                                      </p:tavLst>
                                    </p:anim>
                                    <p:animEffect transition="in" filter="fade">
                                      <p:cBhvr>
                                        <p:cTn id="65" dur="350"/>
                                        <p:tgtEl>
                                          <p:spTgt spid="22"/>
                                        </p:tgtEl>
                                      </p:cBhvr>
                                    </p:animEffect>
                                  </p:childTnLst>
                                </p:cTn>
                              </p:par>
                              <p:par>
                                <p:cTn id="66" presetID="53" presetClass="entr" presetSubtype="16" fill="hold" grpId="0" nodeType="withEffect">
                                  <p:stCondLst>
                                    <p:cond delay="75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350" fill="hold"/>
                                        <p:tgtEl>
                                          <p:spTgt spid="23"/>
                                        </p:tgtEl>
                                        <p:attrNameLst>
                                          <p:attrName>ppt_w</p:attrName>
                                        </p:attrNameLst>
                                      </p:cBhvr>
                                      <p:tavLst>
                                        <p:tav tm="0">
                                          <p:val>
                                            <p:strVal val="#ppt_w*0.7"/>
                                          </p:val>
                                        </p:tav>
                                        <p:tav tm="100000">
                                          <p:val>
                                            <p:strVal val="#ppt_w"/>
                                          </p:val>
                                        </p:tav>
                                      </p:tavLst>
                                    </p:anim>
                                    <p:anim calcmode="lin" valueType="num">
                                      <p:cBhvr additive="base">
                                        <p:cTn id="69" dur="350" fill="hold"/>
                                        <p:tgtEl>
                                          <p:spTgt spid="23"/>
                                        </p:tgtEl>
                                        <p:attrNameLst>
                                          <p:attrName>ppt_h</p:attrName>
                                        </p:attrNameLst>
                                      </p:cBhvr>
                                      <p:tavLst>
                                        <p:tav tm="0">
                                          <p:val>
                                            <p:strVal val="#ppt_h*0.7"/>
                                          </p:val>
                                        </p:tav>
                                        <p:tav tm="100000">
                                          <p:val>
                                            <p:strVal val="#ppt_h"/>
                                          </p:val>
                                        </p:tav>
                                      </p:tavLst>
                                    </p:anim>
                                    <p:animEffect transition="in" filter="fade">
                                      <p:cBhvr>
                                        <p:cTn id="70" dur="350"/>
                                        <p:tgtEl>
                                          <p:spTgt spid="23"/>
                                        </p:tgtEl>
                                      </p:cBhvr>
                                    </p:animEffect>
                                  </p:childTnLst>
                                </p:cTn>
                              </p:par>
                              <p:par>
                                <p:cTn id="71" presetID="53" presetClass="entr" presetSubtype="16" fill="hold" grpId="0" nodeType="withEffect">
                                  <p:stCondLst>
                                    <p:cond delay="75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350" fill="hold"/>
                                        <p:tgtEl>
                                          <p:spTgt spid="24"/>
                                        </p:tgtEl>
                                        <p:attrNameLst>
                                          <p:attrName>ppt_w</p:attrName>
                                        </p:attrNameLst>
                                      </p:cBhvr>
                                      <p:tavLst>
                                        <p:tav tm="0">
                                          <p:val>
                                            <p:strVal val="#ppt_w*0.7"/>
                                          </p:val>
                                        </p:tav>
                                        <p:tav tm="100000">
                                          <p:val>
                                            <p:strVal val="#ppt_w"/>
                                          </p:val>
                                        </p:tav>
                                      </p:tavLst>
                                    </p:anim>
                                    <p:anim calcmode="lin" valueType="num">
                                      <p:cBhvr additive="base">
                                        <p:cTn id="74" dur="350" fill="hold"/>
                                        <p:tgtEl>
                                          <p:spTgt spid="24"/>
                                        </p:tgtEl>
                                        <p:attrNameLst>
                                          <p:attrName>ppt_h</p:attrName>
                                        </p:attrNameLst>
                                      </p:cBhvr>
                                      <p:tavLst>
                                        <p:tav tm="0">
                                          <p:val>
                                            <p:strVal val="#ppt_h*0.7"/>
                                          </p:val>
                                        </p:tav>
                                        <p:tav tm="100000">
                                          <p:val>
                                            <p:strVal val="#ppt_h"/>
                                          </p:val>
                                        </p:tav>
                                      </p:tavLst>
                                    </p:anim>
                                    <p:animEffect transition="in" filter="fade">
                                      <p:cBhvr>
                                        <p:cTn id="75" dur="350"/>
                                        <p:tgtEl>
                                          <p:spTgt spid="24"/>
                                        </p:tgtEl>
                                      </p:cBhvr>
                                    </p:animEffect>
                                  </p:childTnLst>
                                </p:cTn>
                              </p:par>
                              <p:par>
                                <p:cTn id="76" presetID="53" presetClass="entr" presetSubtype="16" fill="hold" grpId="0" nodeType="withEffect">
                                  <p:stCondLst>
                                    <p:cond delay="80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350" fill="hold"/>
                                        <p:tgtEl>
                                          <p:spTgt spid="25"/>
                                        </p:tgtEl>
                                        <p:attrNameLst>
                                          <p:attrName>ppt_w</p:attrName>
                                        </p:attrNameLst>
                                      </p:cBhvr>
                                      <p:tavLst>
                                        <p:tav tm="0">
                                          <p:val>
                                            <p:strVal val="#ppt_w*0.7"/>
                                          </p:val>
                                        </p:tav>
                                        <p:tav tm="100000">
                                          <p:val>
                                            <p:strVal val="#ppt_w"/>
                                          </p:val>
                                        </p:tav>
                                      </p:tavLst>
                                    </p:anim>
                                    <p:anim calcmode="lin" valueType="num">
                                      <p:cBhvr additive="base">
                                        <p:cTn id="79" dur="350" fill="hold"/>
                                        <p:tgtEl>
                                          <p:spTgt spid="25"/>
                                        </p:tgtEl>
                                        <p:attrNameLst>
                                          <p:attrName>ppt_h</p:attrName>
                                        </p:attrNameLst>
                                      </p:cBhvr>
                                      <p:tavLst>
                                        <p:tav tm="0">
                                          <p:val>
                                            <p:strVal val="#ppt_h*0.7"/>
                                          </p:val>
                                        </p:tav>
                                        <p:tav tm="100000">
                                          <p:val>
                                            <p:strVal val="#ppt_h"/>
                                          </p:val>
                                        </p:tav>
                                      </p:tavLst>
                                    </p:anim>
                                    <p:animEffect transition="in" filter="fade">
                                      <p:cBhvr>
                                        <p:cTn id="80" dur="350"/>
                                        <p:tgtEl>
                                          <p:spTgt spid="25"/>
                                        </p:tgtEl>
                                      </p:cBhvr>
                                    </p:animEffect>
                                  </p:childTnLst>
                                </p:cTn>
                              </p:par>
                              <p:par>
                                <p:cTn id="81" presetID="53" presetClass="entr" presetSubtype="16" fill="hold" grpId="0" nodeType="withEffect">
                                  <p:stCondLst>
                                    <p:cond delay="80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350" fill="hold"/>
                                        <p:tgtEl>
                                          <p:spTgt spid="26"/>
                                        </p:tgtEl>
                                        <p:attrNameLst>
                                          <p:attrName>ppt_w</p:attrName>
                                        </p:attrNameLst>
                                      </p:cBhvr>
                                      <p:tavLst>
                                        <p:tav tm="0">
                                          <p:val>
                                            <p:strVal val="#ppt_w*0.7"/>
                                          </p:val>
                                        </p:tav>
                                        <p:tav tm="100000">
                                          <p:val>
                                            <p:strVal val="#ppt_w"/>
                                          </p:val>
                                        </p:tav>
                                      </p:tavLst>
                                    </p:anim>
                                    <p:anim calcmode="lin" valueType="num">
                                      <p:cBhvr additive="base">
                                        <p:cTn id="84" dur="350" fill="hold"/>
                                        <p:tgtEl>
                                          <p:spTgt spid="26"/>
                                        </p:tgtEl>
                                        <p:attrNameLst>
                                          <p:attrName>ppt_h</p:attrName>
                                        </p:attrNameLst>
                                      </p:cBhvr>
                                      <p:tavLst>
                                        <p:tav tm="0">
                                          <p:val>
                                            <p:strVal val="#ppt_h*0.7"/>
                                          </p:val>
                                        </p:tav>
                                        <p:tav tm="100000">
                                          <p:val>
                                            <p:strVal val="#ppt_h"/>
                                          </p:val>
                                        </p:tav>
                                      </p:tavLst>
                                    </p:anim>
                                    <p:animEffect transition="in" filter="fade">
                                      <p:cBhvr>
                                        <p:cTn id="85" dur="350"/>
                                        <p:tgtEl>
                                          <p:spTgt spid="26"/>
                                        </p:tgtEl>
                                      </p:cBhvr>
                                    </p:animEffect>
                                  </p:childTnLst>
                                </p:cTn>
                              </p:par>
                              <p:par>
                                <p:cTn id="86" presetID="53" presetClass="entr" presetSubtype="16" fill="hold" grpId="0" nodeType="withEffect">
                                  <p:stCondLst>
                                    <p:cond delay="85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350" fill="hold"/>
                                        <p:tgtEl>
                                          <p:spTgt spid="27"/>
                                        </p:tgtEl>
                                        <p:attrNameLst>
                                          <p:attrName>ppt_w</p:attrName>
                                        </p:attrNameLst>
                                      </p:cBhvr>
                                      <p:tavLst>
                                        <p:tav tm="0">
                                          <p:val>
                                            <p:strVal val="#ppt_w*0.7"/>
                                          </p:val>
                                        </p:tav>
                                        <p:tav tm="100000">
                                          <p:val>
                                            <p:strVal val="#ppt_w"/>
                                          </p:val>
                                        </p:tav>
                                      </p:tavLst>
                                    </p:anim>
                                    <p:anim calcmode="lin" valueType="num">
                                      <p:cBhvr additive="base">
                                        <p:cTn id="89" dur="350" fill="hold"/>
                                        <p:tgtEl>
                                          <p:spTgt spid="27"/>
                                        </p:tgtEl>
                                        <p:attrNameLst>
                                          <p:attrName>ppt_h</p:attrName>
                                        </p:attrNameLst>
                                      </p:cBhvr>
                                      <p:tavLst>
                                        <p:tav tm="0">
                                          <p:val>
                                            <p:strVal val="#ppt_h*0.7"/>
                                          </p:val>
                                        </p:tav>
                                        <p:tav tm="100000">
                                          <p:val>
                                            <p:strVal val="#ppt_h"/>
                                          </p:val>
                                        </p:tav>
                                      </p:tavLst>
                                    </p:anim>
                                    <p:animEffect transition="in" filter="fade">
                                      <p:cBhvr>
                                        <p:cTn id="90" dur="350"/>
                                        <p:tgtEl>
                                          <p:spTgt spid="27"/>
                                        </p:tgtEl>
                                      </p:cBhvr>
                                    </p:animEffect>
                                  </p:childTnLst>
                                </p:cTn>
                              </p:par>
                              <p:par>
                                <p:cTn id="91" presetID="53" presetClass="entr" presetSubtype="16" fill="hold" grpId="0" nodeType="withEffect">
                                  <p:stCondLst>
                                    <p:cond delay="85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350" fill="hold"/>
                                        <p:tgtEl>
                                          <p:spTgt spid="28"/>
                                        </p:tgtEl>
                                        <p:attrNameLst>
                                          <p:attrName>ppt_w</p:attrName>
                                        </p:attrNameLst>
                                      </p:cBhvr>
                                      <p:tavLst>
                                        <p:tav tm="0">
                                          <p:val>
                                            <p:strVal val="#ppt_w*0.7"/>
                                          </p:val>
                                        </p:tav>
                                        <p:tav tm="100000">
                                          <p:val>
                                            <p:strVal val="#ppt_w"/>
                                          </p:val>
                                        </p:tav>
                                      </p:tavLst>
                                    </p:anim>
                                    <p:anim calcmode="lin" valueType="num">
                                      <p:cBhvr additive="base">
                                        <p:cTn id="94" dur="350" fill="hold"/>
                                        <p:tgtEl>
                                          <p:spTgt spid="28"/>
                                        </p:tgtEl>
                                        <p:attrNameLst>
                                          <p:attrName>ppt_h</p:attrName>
                                        </p:attrNameLst>
                                      </p:cBhvr>
                                      <p:tavLst>
                                        <p:tav tm="0">
                                          <p:val>
                                            <p:strVal val="#ppt_h*0.7"/>
                                          </p:val>
                                        </p:tav>
                                        <p:tav tm="100000">
                                          <p:val>
                                            <p:strVal val="#ppt_h"/>
                                          </p:val>
                                        </p:tav>
                                      </p:tavLst>
                                    </p:anim>
                                    <p:animEffect transition="in" filter="fade">
                                      <p:cBhvr>
                                        <p:cTn id="95" dur="350"/>
                                        <p:tgtEl>
                                          <p:spTgt spid="28"/>
                                        </p:tgtEl>
                                      </p:cBhvr>
                                    </p:animEffect>
                                  </p:childTnLst>
                                </p:cTn>
                              </p:par>
                              <p:par>
                                <p:cTn id="96" presetID="22" presetClass="entr" presetSubtype="8" fill="hold" grpId="0" nodeType="withEffect">
                                  <p:stCondLst>
                                    <p:cond delay="850"/>
                                  </p:stCondLst>
                                  <p:childTnLst>
                                    <p:set>
                                      <p:cBhvr>
                                        <p:cTn id="97" dur="1" fill="hold">
                                          <p:stCondLst>
                                            <p:cond delay="0"/>
                                          </p:stCondLst>
                                        </p:cTn>
                                        <p:tgtEl>
                                          <p:spTgt spid="29"/>
                                        </p:tgtEl>
                                        <p:attrNameLst>
                                          <p:attrName>style.visibility</p:attrName>
                                        </p:attrNameLst>
                                      </p:cBhvr>
                                      <p:to>
                                        <p:strVal val="visible"/>
                                      </p:to>
                                    </p:set>
                                    <p:animEffect transition="in" filter="wipe(left)">
                                      <p:cBhvr>
                                        <p:cTn id="98" dur="400"/>
                                        <p:tgtEl>
                                          <p:spTgt spid="29"/>
                                        </p:tgtEl>
                                      </p:cBhvr>
                                    </p:animEffect>
                                  </p:childTnLst>
                                </p:cTn>
                              </p:par>
                              <p:par>
                                <p:cTn id="99" presetID="22" presetClass="entr" presetSubtype="8" fill="hold" grpId="0" nodeType="withEffect">
                                  <p:stCondLst>
                                    <p:cond delay="850"/>
                                  </p:stCondLst>
                                  <p:childTnLst>
                                    <p:set>
                                      <p:cBhvr>
                                        <p:cTn id="100" dur="1" fill="hold">
                                          <p:stCondLst>
                                            <p:cond delay="0"/>
                                          </p:stCondLst>
                                        </p:cTn>
                                        <p:tgtEl>
                                          <p:spTgt spid="30"/>
                                        </p:tgtEl>
                                        <p:attrNameLst>
                                          <p:attrName>style.visibility</p:attrName>
                                        </p:attrNameLst>
                                      </p:cBhvr>
                                      <p:to>
                                        <p:strVal val="visible"/>
                                      </p:to>
                                    </p:set>
                                    <p:animEffect transition="in" filter="wipe(left)">
                                      <p:cBhvr>
                                        <p:cTn id="101" dur="400"/>
                                        <p:tgtEl>
                                          <p:spTgt spid="30"/>
                                        </p:tgtEl>
                                      </p:cBhvr>
                                    </p:animEffect>
                                  </p:childTnLst>
                                </p:cTn>
                              </p:par>
                              <p:par>
                                <p:cTn id="102" presetID="53" presetClass="entr" presetSubtype="16" fill="hold" grpId="0" nodeType="withEffect">
                                  <p:stCondLst>
                                    <p:cond delay="1000"/>
                                  </p:stCondLst>
                                  <p:childTnLst>
                                    <p:set>
                                      <p:cBhvr>
                                        <p:cTn id="103" dur="1" fill="hold">
                                          <p:stCondLst>
                                            <p:cond delay="0"/>
                                          </p:stCondLst>
                                        </p:cTn>
                                        <p:tgtEl>
                                          <p:spTgt spid="31"/>
                                        </p:tgtEl>
                                        <p:attrNameLst>
                                          <p:attrName>style.visibility</p:attrName>
                                        </p:attrNameLst>
                                      </p:cBhvr>
                                      <p:to>
                                        <p:strVal val="visible"/>
                                      </p:to>
                                    </p:set>
                                    <p:anim calcmode="lin" valueType="num">
                                      <p:cBhvr additive="base">
                                        <p:cTn id="104" dur="350" fill="hold"/>
                                        <p:tgtEl>
                                          <p:spTgt spid="31"/>
                                        </p:tgtEl>
                                        <p:attrNameLst>
                                          <p:attrName>ppt_w</p:attrName>
                                        </p:attrNameLst>
                                      </p:cBhvr>
                                      <p:tavLst>
                                        <p:tav tm="0">
                                          <p:val>
                                            <p:strVal val="#ppt_w*0.7"/>
                                          </p:val>
                                        </p:tav>
                                        <p:tav tm="100000">
                                          <p:val>
                                            <p:strVal val="#ppt_w"/>
                                          </p:val>
                                        </p:tav>
                                      </p:tavLst>
                                    </p:anim>
                                    <p:anim calcmode="lin" valueType="num">
                                      <p:cBhvr additive="base">
                                        <p:cTn id="105" dur="350" fill="hold"/>
                                        <p:tgtEl>
                                          <p:spTgt spid="31"/>
                                        </p:tgtEl>
                                        <p:attrNameLst>
                                          <p:attrName>ppt_h</p:attrName>
                                        </p:attrNameLst>
                                      </p:cBhvr>
                                      <p:tavLst>
                                        <p:tav tm="0">
                                          <p:val>
                                            <p:strVal val="#ppt_h*0.7"/>
                                          </p:val>
                                        </p:tav>
                                        <p:tav tm="100000">
                                          <p:val>
                                            <p:strVal val="#ppt_h"/>
                                          </p:val>
                                        </p:tav>
                                      </p:tavLst>
                                    </p:anim>
                                    <p:animEffect transition="in" filter="fade">
                                      <p:cBhvr>
                                        <p:cTn id="106" dur="350"/>
                                        <p:tgtEl>
                                          <p:spTgt spid="31"/>
                                        </p:tgtEl>
                                      </p:cBhvr>
                                    </p:animEffect>
                                  </p:childTnLst>
                                </p:cTn>
                              </p:par>
                              <p:par>
                                <p:cTn id="107" presetID="53" presetClass="entr" presetSubtype="16" fill="hold" grpId="0" nodeType="withEffect">
                                  <p:stCondLst>
                                    <p:cond delay="1000"/>
                                  </p:stCondLst>
                                  <p:childTnLst>
                                    <p:set>
                                      <p:cBhvr>
                                        <p:cTn id="108" dur="1" fill="hold">
                                          <p:stCondLst>
                                            <p:cond delay="0"/>
                                          </p:stCondLst>
                                        </p:cTn>
                                        <p:tgtEl>
                                          <p:spTgt spid="32"/>
                                        </p:tgtEl>
                                        <p:attrNameLst>
                                          <p:attrName>style.visibility</p:attrName>
                                        </p:attrNameLst>
                                      </p:cBhvr>
                                      <p:to>
                                        <p:strVal val="visible"/>
                                      </p:to>
                                    </p:set>
                                    <p:anim calcmode="lin" valueType="num">
                                      <p:cBhvr additive="base">
                                        <p:cTn id="109" dur="350" fill="hold"/>
                                        <p:tgtEl>
                                          <p:spTgt spid="32"/>
                                        </p:tgtEl>
                                        <p:attrNameLst>
                                          <p:attrName>ppt_w</p:attrName>
                                        </p:attrNameLst>
                                      </p:cBhvr>
                                      <p:tavLst>
                                        <p:tav tm="0">
                                          <p:val>
                                            <p:strVal val="#ppt_w*0.7"/>
                                          </p:val>
                                        </p:tav>
                                        <p:tav tm="100000">
                                          <p:val>
                                            <p:strVal val="#ppt_w"/>
                                          </p:val>
                                        </p:tav>
                                      </p:tavLst>
                                    </p:anim>
                                    <p:anim calcmode="lin" valueType="num">
                                      <p:cBhvr additive="base">
                                        <p:cTn id="110" dur="350" fill="hold"/>
                                        <p:tgtEl>
                                          <p:spTgt spid="32"/>
                                        </p:tgtEl>
                                        <p:attrNameLst>
                                          <p:attrName>ppt_h</p:attrName>
                                        </p:attrNameLst>
                                      </p:cBhvr>
                                      <p:tavLst>
                                        <p:tav tm="0">
                                          <p:val>
                                            <p:strVal val="#ppt_h*0.7"/>
                                          </p:val>
                                        </p:tav>
                                        <p:tav tm="100000">
                                          <p:val>
                                            <p:strVal val="#ppt_h"/>
                                          </p:val>
                                        </p:tav>
                                      </p:tavLst>
                                    </p:anim>
                                    <p:animEffect transition="in" filter="fade">
                                      <p:cBhvr>
                                        <p:cTn id="111" dur="350"/>
                                        <p:tgtEl>
                                          <p:spTgt spid="32"/>
                                        </p:tgtEl>
                                      </p:cBhvr>
                                    </p:animEffect>
                                  </p:childTnLst>
                                </p:cTn>
                              </p:par>
                              <p:par>
                                <p:cTn id="112" presetID="53" presetClass="entr" presetSubtype="16" fill="hold" grpId="0" nodeType="withEffect">
                                  <p:stCondLst>
                                    <p:cond delay="1050"/>
                                  </p:stCondLst>
                                  <p:childTnLst>
                                    <p:set>
                                      <p:cBhvr>
                                        <p:cTn id="113" dur="1" fill="hold">
                                          <p:stCondLst>
                                            <p:cond delay="0"/>
                                          </p:stCondLst>
                                        </p:cTn>
                                        <p:tgtEl>
                                          <p:spTgt spid="33"/>
                                        </p:tgtEl>
                                        <p:attrNameLst>
                                          <p:attrName>style.visibility</p:attrName>
                                        </p:attrNameLst>
                                      </p:cBhvr>
                                      <p:to>
                                        <p:strVal val="visible"/>
                                      </p:to>
                                    </p:set>
                                    <p:anim calcmode="lin" valueType="num">
                                      <p:cBhvr additive="base">
                                        <p:cTn id="114" dur="350" fill="hold"/>
                                        <p:tgtEl>
                                          <p:spTgt spid="33"/>
                                        </p:tgtEl>
                                        <p:attrNameLst>
                                          <p:attrName>ppt_w</p:attrName>
                                        </p:attrNameLst>
                                      </p:cBhvr>
                                      <p:tavLst>
                                        <p:tav tm="0">
                                          <p:val>
                                            <p:strVal val="#ppt_w*0.7"/>
                                          </p:val>
                                        </p:tav>
                                        <p:tav tm="100000">
                                          <p:val>
                                            <p:strVal val="#ppt_w"/>
                                          </p:val>
                                        </p:tav>
                                      </p:tavLst>
                                    </p:anim>
                                    <p:anim calcmode="lin" valueType="num">
                                      <p:cBhvr additive="base">
                                        <p:cTn id="115" dur="350" fill="hold"/>
                                        <p:tgtEl>
                                          <p:spTgt spid="33"/>
                                        </p:tgtEl>
                                        <p:attrNameLst>
                                          <p:attrName>ppt_h</p:attrName>
                                        </p:attrNameLst>
                                      </p:cBhvr>
                                      <p:tavLst>
                                        <p:tav tm="0">
                                          <p:val>
                                            <p:strVal val="#ppt_h*0.7"/>
                                          </p:val>
                                        </p:tav>
                                        <p:tav tm="100000">
                                          <p:val>
                                            <p:strVal val="#ppt_h"/>
                                          </p:val>
                                        </p:tav>
                                      </p:tavLst>
                                    </p:anim>
                                    <p:animEffect transition="in" filter="fade">
                                      <p:cBhvr>
                                        <p:cTn id="116" dur="350"/>
                                        <p:tgtEl>
                                          <p:spTgt spid="33"/>
                                        </p:tgtEl>
                                      </p:cBhvr>
                                    </p:animEffect>
                                  </p:childTnLst>
                                </p:cTn>
                              </p:par>
                              <p:par>
                                <p:cTn id="117" presetID="53" presetClass="entr" presetSubtype="16" fill="hold" grpId="0" nodeType="withEffect">
                                  <p:stCondLst>
                                    <p:cond delay="1050"/>
                                  </p:stCondLst>
                                  <p:childTnLst>
                                    <p:set>
                                      <p:cBhvr>
                                        <p:cTn id="118" dur="1" fill="hold">
                                          <p:stCondLst>
                                            <p:cond delay="0"/>
                                          </p:stCondLst>
                                        </p:cTn>
                                        <p:tgtEl>
                                          <p:spTgt spid="34"/>
                                        </p:tgtEl>
                                        <p:attrNameLst>
                                          <p:attrName>style.visibility</p:attrName>
                                        </p:attrNameLst>
                                      </p:cBhvr>
                                      <p:to>
                                        <p:strVal val="visible"/>
                                      </p:to>
                                    </p:set>
                                    <p:anim calcmode="lin" valueType="num">
                                      <p:cBhvr additive="base">
                                        <p:cTn id="119" dur="350" fill="hold"/>
                                        <p:tgtEl>
                                          <p:spTgt spid="34"/>
                                        </p:tgtEl>
                                        <p:attrNameLst>
                                          <p:attrName>ppt_w</p:attrName>
                                        </p:attrNameLst>
                                      </p:cBhvr>
                                      <p:tavLst>
                                        <p:tav tm="0">
                                          <p:val>
                                            <p:strVal val="#ppt_w*0.7"/>
                                          </p:val>
                                        </p:tav>
                                        <p:tav tm="100000">
                                          <p:val>
                                            <p:strVal val="#ppt_w"/>
                                          </p:val>
                                        </p:tav>
                                      </p:tavLst>
                                    </p:anim>
                                    <p:anim calcmode="lin" valueType="num">
                                      <p:cBhvr additive="base">
                                        <p:cTn id="120" dur="350" fill="hold"/>
                                        <p:tgtEl>
                                          <p:spTgt spid="34"/>
                                        </p:tgtEl>
                                        <p:attrNameLst>
                                          <p:attrName>ppt_h</p:attrName>
                                        </p:attrNameLst>
                                      </p:cBhvr>
                                      <p:tavLst>
                                        <p:tav tm="0">
                                          <p:val>
                                            <p:strVal val="#ppt_h*0.7"/>
                                          </p:val>
                                        </p:tav>
                                        <p:tav tm="100000">
                                          <p:val>
                                            <p:strVal val="#ppt_h"/>
                                          </p:val>
                                        </p:tav>
                                      </p:tavLst>
                                    </p:anim>
                                    <p:animEffect transition="in" filter="fade">
                                      <p:cBhvr>
                                        <p:cTn id="121" dur="350"/>
                                        <p:tgtEl>
                                          <p:spTgt spid="34"/>
                                        </p:tgtEl>
                                      </p:cBhvr>
                                    </p:animEffect>
                                  </p:childTnLst>
                                </p:cTn>
                              </p:par>
                              <p:par>
                                <p:cTn id="122" presetID="53" presetClass="entr" presetSubtype="16" fill="hold" grpId="0" nodeType="withEffect">
                                  <p:stCondLst>
                                    <p:cond delay="1100"/>
                                  </p:stCondLst>
                                  <p:childTnLst>
                                    <p:set>
                                      <p:cBhvr>
                                        <p:cTn id="123" dur="1" fill="hold">
                                          <p:stCondLst>
                                            <p:cond delay="0"/>
                                          </p:stCondLst>
                                        </p:cTn>
                                        <p:tgtEl>
                                          <p:spTgt spid="35"/>
                                        </p:tgtEl>
                                        <p:attrNameLst>
                                          <p:attrName>style.visibility</p:attrName>
                                        </p:attrNameLst>
                                      </p:cBhvr>
                                      <p:to>
                                        <p:strVal val="visible"/>
                                      </p:to>
                                    </p:set>
                                    <p:anim calcmode="lin" valueType="num">
                                      <p:cBhvr additive="base">
                                        <p:cTn id="124" dur="350" fill="hold"/>
                                        <p:tgtEl>
                                          <p:spTgt spid="35"/>
                                        </p:tgtEl>
                                        <p:attrNameLst>
                                          <p:attrName>ppt_w</p:attrName>
                                        </p:attrNameLst>
                                      </p:cBhvr>
                                      <p:tavLst>
                                        <p:tav tm="0">
                                          <p:val>
                                            <p:strVal val="#ppt_w*0.7"/>
                                          </p:val>
                                        </p:tav>
                                        <p:tav tm="100000">
                                          <p:val>
                                            <p:strVal val="#ppt_w"/>
                                          </p:val>
                                        </p:tav>
                                      </p:tavLst>
                                    </p:anim>
                                    <p:anim calcmode="lin" valueType="num">
                                      <p:cBhvr additive="base">
                                        <p:cTn id="125" dur="350" fill="hold"/>
                                        <p:tgtEl>
                                          <p:spTgt spid="35"/>
                                        </p:tgtEl>
                                        <p:attrNameLst>
                                          <p:attrName>ppt_h</p:attrName>
                                        </p:attrNameLst>
                                      </p:cBhvr>
                                      <p:tavLst>
                                        <p:tav tm="0">
                                          <p:val>
                                            <p:strVal val="#ppt_h*0.7"/>
                                          </p:val>
                                        </p:tav>
                                        <p:tav tm="100000">
                                          <p:val>
                                            <p:strVal val="#ppt_h"/>
                                          </p:val>
                                        </p:tav>
                                      </p:tavLst>
                                    </p:anim>
                                    <p:animEffect transition="in" filter="fade">
                                      <p:cBhvr>
                                        <p:cTn id="126" dur="350"/>
                                        <p:tgtEl>
                                          <p:spTgt spid="35"/>
                                        </p:tgtEl>
                                      </p:cBhvr>
                                    </p:animEffect>
                                  </p:childTnLst>
                                </p:cTn>
                              </p:par>
                              <p:par>
                                <p:cTn id="127" presetID="53" presetClass="entr" presetSubtype="16" fill="hold" grpId="0" nodeType="withEffect">
                                  <p:stCondLst>
                                    <p:cond delay="1100"/>
                                  </p:stCondLst>
                                  <p:childTnLst>
                                    <p:set>
                                      <p:cBhvr>
                                        <p:cTn id="128" dur="1" fill="hold">
                                          <p:stCondLst>
                                            <p:cond delay="0"/>
                                          </p:stCondLst>
                                        </p:cTn>
                                        <p:tgtEl>
                                          <p:spTgt spid="36"/>
                                        </p:tgtEl>
                                        <p:attrNameLst>
                                          <p:attrName>style.visibility</p:attrName>
                                        </p:attrNameLst>
                                      </p:cBhvr>
                                      <p:to>
                                        <p:strVal val="visible"/>
                                      </p:to>
                                    </p:set>
                                    <p:anim calcmode="lin" valueType="num">
                                      <p:cBhvr additive="base">
                                        <p:cTn id="129" dur="350" fill="hold"/>
                                        <p:tgtEl>
                                          <p:spTgt spid="36"/>
                                        </p:tgtEl>
                                        <p:attrNameLst>
                                          <p:attrName>ppt_w</p:attrName>
                                        </p:attrNameLst>
                                      </p:cBhvr>
                                      <p:tavLst>
                                        <p:tav tm="0">
                                          <p:val>
                                            <p:strVal val="#ppt_w*0.7"/>
                                          </p:val>
                                        </p:tav>
                                        <p:tav tm="100000">
                                          <p:val>
                                            <p:strVal val="#ppt_w"/>
                                          </p:val>
                                        </p:tav>
                                      </p:tavLst>
                                    </p:anim>
                                    <p:anim calcmode="lin" valueType="num">
                                      <p:cBhvr additive="base">
                                        <p:cTn id="130" dur="350" fill="hold"/>
                                        <p:tgtEl>
                                          <p:spTgt spid="36"/>
                                        </p:tgtEl>
                                        <p:attrNameLst>
                                          <p:attrName>ppt_h</p:attrName>
                                        </p:attrNameLst>
                                      </p:cBhvr>
                                      <p:tavLst>
                                        <p:tav tm="0">
                                          <p:val>
                                            <p:strVal val="#ppt_h*0.7"/>
                                          </p:val>
                                        </p:tav>
                                        <p:tav tm="100000">
                                          <p:val>
                                            <p:strVal val="#ppt_h"/>
                                          </p:val>
                                        </p:tav>
                                      </p:tavLst>
                                    </p:anim>
                                    <p:animEffect transition="in" filter="fade">
                                      <p:cBhvr>
                                        <p:cTn id="131" dur="350"/>
                                        <p:tgtEl>
                                          <p:spTgt spid="36"/>
                                        </p:tgtEl>
                                      </p:cBhvr>
                                    </p:animEffect>
                                  </p:childTnLst>
                                </p:cTn>
                              </p:par>
                              <p:par>
                                <p:cTn id="132" presetID="53" presetClass="entr" presetSubtype="16" fill="hold" grpId="0" nodeType="withEffect">
                                  <p:stCondLst>
                                    <p:cond delay="1150"/>
                                  </p:stCondLst>
                                  <p:childTnLst>
                                    <p:set>
                                      <p:cBhvr>
                                        <p:cTn id="133" dur="1" fill="hold">
                                          <p:stCondLst>
                                            <p:cond delay="0"/>
                                          </p:stCondLst>
                                        </p:cTn>
                                        <p:tgtEl>
                                          <p:spTgt spid="37"/>
                                        </p:tgtEl>
                                        <p:attrNameLst>
                                          <p:attrName>style.visibility</p:attrName>
                                        </p:attrNameLst>
                                      </p:cBhvr>
                                      <p:to>
                                        <p:strVal val="visible"/>
                                      </p:to>
                                    </p:set>
                                    <p:anim calcmode="lin" valueType="num">
                                      <p:cBhvr additive="base">
                                        <p:cTn id="134" dur="350" fill="hold"/>
                                        <p:tgtEl>
                                          <p:spTgt spid="37"/>
                                        </p:tgtEl>
                                        <p:attrNameLst>
                                          <p:attrName>ppt_w</p:attrName>
                                        </p:attrNameLst>
                                      </p:cBhvr>
                                      <p:tavLst>
                                        <p:tav tm="0">
                                          <p:val>
                                            <p:strVal val="#ppt_w*0.7"/>
                                          </p:val>
                                        </p:tav>
                                        <p:tav tm="100000">
                                          <p:val>
                                            <p:strVal val="#ppt_w"/>
                                          </p:val>
                                        </p:tav>
                                      </p:tavLst>
                                    </p:anim>
                                    <p:anim calcmode="lin" valueType="num">
                                      <p:cBhvr additive="base">
                                        <p:cTn id="135" dur="350" fill="hold"/>
                                        <p:tgtEl>
                                          <p:spTgt spid="37"/>
                                        </p:tgtEl>
                                        <p:attrNameLst>
                                          <p:attrName>ppt_h</p:attrName>
                                        </p:attrNameLst>
                                      </p:cBhvr>
                                      <p:tavLst>
                                        <p:tav tm="0">
                                          <p:val>
                                            <p:strVal val="#ppt_h*0.7"/>
                                          </p:val>
                                        </p:tav>
                                        <p:tav tm="100000">
                                          <p:val>
                                            <p:strVal val="#ppt_h"/>
                                          </p:val>
                                        </p:tav>
                                      </p:tavLst>
                                    </p:anim>
                                    <p:animEffect transition="in" filter="fade">
                                      <p:cBhvr>
                                        <p:cTn id="136" dur="350"/>
                                        <p:tgtEl>
                                          <p:spTgt spid="37"/>
                                        </p:tgtEl>
                                      </p:cBhvr>
                                    </p:animEffect>
                                  </p:childTnLst>
                                </p:cTn>
                              </p:par>
                              <p:par>
                                <p:cTn id="137" presetID="53" presetClass="entr" presetSubtype="16" fill="hold" grpId="0" nodeType="withEffect">
                                  <p:stCondLst>
                                    <p:cond delay="1150"/>
                                  </p:stCondLst>
                                  <p:childTnLst>
                                    <p:set>
                                      <p:cBhvr>
                                        <p:cTn id="138" dur="1" fill="hold">
                                          <p:stCondLst>
                                            <p:cond delay="0"/>
                                          </p:stCondLst>
                                        </p:cTn>
                                        <p:tgtEl>
                                          <p:spTgt spid="38"/>
                                        </p:tgtEl>
                                        <p:attrNameLst>
                                          <p:attrName>style.visibility</p:attrName>
                                        </p:attrNameLst>
                                      </p:cBhvr>
                                      <p:to>
                                        <p:strVal val="visible"/>
                                      </p:to>
                                    </p:set>
                                    <p:anim calcmode="lin" valueType="num">
                                      <p:cBhvr additive="base">
                                        <p:cTn id="139" dur="350" fill="hold"/>
                                        <p:tgtEl>
                                          <p:spTgt spid="38"/>
                                        </p:tgtEl>
                                        <p:attrNameLst>
                                          <p:attrName>ppt_w</p:attrName>
                                        </p:attrNameLst>
                                      </p:cBhvr>
                                      <p:tavLst>
                                        <p:tav tm="0">
                                          <p:val>
                                            <p:strVal val="#ppt_w*0.7"/>
                                          </p:val>
                                        </p:tav>
                                        <p:tav tm="100000">
                                          <p:val>
                                            <p:strVal val="#ppt_w"/>
                                          </p:val>
                                        </p:tav>
                                      </p:tavLst>
                                    </p:anim>
                                    <p:anim calcmode="lin" valueType="num">
                                      <p:cBhvr additive="base">
                                        <p:cTn id="140" dur="350" fill="hold"/>
                                        <p:tgtEl>
                                          <p:spTgt spid="38"/>
                                        </p:tgtEl>
                                        <p:attrNameLst>
                                          <p:attrName>ppt_h</p:attrName>
                                        </p:attrNameLst>
                                      </p:cBhvr>
                                      <p:tavLst>
                                        <p:tav tm="0">
                                          <p:val>
                                            <p:strVal val="#ppt_h*0.7"/>
                                          </p:val>
                                        </p:tav>
                                        <p:tav tm="100000">
                                          <p:val>
                                            <p:strVal val="#ppt_h"/>
                                          </p:val>
                                        </p:tav>
                                      </p:tavLst>
                                    </p:anim>
                                    <p:animEffect transition="in" filter="fade">
                                      <p:cBhvr>
                                        <p:cTn id="141" dur="350"/>
                                        <p:tgtEl>
                                          <p:spTgt spid="38"/>
                                        </p:tgtEl>
                                      </p:cBhvr>
                                    </p:animEffect>
                                  </p:childTnLst>
                                </p:cTn>
                              </p:par>
                              <p:par>
                                <p:cTn id="142" presetID="53" presetClass="entr" presetSubtype="16" fill="hold" grpId="0" nodeType="withEffect">
                                  <p:stCondLst>
                                    <p:cond delay="1200"/>
                                  </p:stCondLst>
                                  <p:childTnLst>
                                    <p:set>
                                      <p:cBhvr>
                                        <p:cTn id="143" dur="1" fill="hold">
                                          <p:stCondLst>
                                            <p:cond delay="0"/>
                                          </p:stCondLst>
                                        </p:cTn>
                                        <p:tgtEl>
                                          <p:spTgt spid="39"/>
                                        </p:tgtEl>
                                        <p:attrNameLst>
                                          <p:attrName>style.visibility</p:attrName>
                                        </p:attrNameLst>
                                      </p:cBhvr>
                                      <p:to>
                                        <p:strVal val="visible"/>
                                      </p:to>
                                    </p:set>
                                    <p:anim calcmode="lin" valueType="num">
                                      <p:cBhvr additive="base">
                                        <p:cTn id="144" dur="350" fill="hold"/>
                                        <p:tgtEl>
                                          <p:spTgt spid="39"/>
                                        </p:tgtEl>
                                        <p:attrNameLst>
                                          <p:attrName>ppt_w</p:attrName>
                                        </p:attrNameLst>
                                      </p:cBhvr>
                                      <p:tavLst>
                                        <p:tav tm="0">
                                          <p:val>
                                            <p:strVal val="#ppt_w*0.7"/>
                                          </p:val>
                                        </p:tav>
                                        <p:tav tm="100000">
                                          <p:val>
                                            <p:strVal val="#ppt_w"/>
                                          </p:val>
                                        </p:tav>
                                      </p:tavLst>
                                    </p:anim>
                                    <p:anim calcmode="lin" valueType="num">
                                      <p:cBhvr additive="base">
                                        <p:cTn id="145" dur="350" fill="hold"/>
                                        <p:tgtEl>
                                          <p:spTgt spid="39"/>
                                        </p:tgtEl>
                                        <p:attrNameLst>
                                          <p:attrName>ppt_h</p:attrName>
                                        </p:attrNameLst>
                                      </p:cBhvr>
                                      <p:tavLst>
                                        <p:tav tm="0">
                                          <p:val>
                                            <p:strVal val="#ppt_h*0.7"/>
                                          </p:val>
                                        </p:tav>
                                        <p:tav tm="100000">
                                          <p:val>
                                            <p:strVal val="#ppt_h"/>
                                          </p:val>
                                        </p:tav>
                                      </p:tavLst>
                                    </p:anim>
                                    <p:animEffect transition="in" filter="fade">
                                      <p:cBhvr>
                                        <p:cTn id="146" dur="350"/>
                                        <p:tgtEl>
                                          <p:spTgt spid="39"/>
                                        </p:tgtEl>
                                      </p:cBhvr>
                                    </p:animEffect>
                                  </p:childTnLst>
                                </p:cTn>
                              </p:par>
                              <p:par>
                                <p:cTn id="147" presetID="53" presetClass="entr" presetSubtype="16" fill="hold" grpId="0" nodeType="withEffect">
                                  <p:stCondLst>
                                    <p:cond delay="1200"/>
                                  </p:stCondLst>
                                  <p:childTnLst>
                                    <p:set>
                                      <p:cBhvr>
                                        <p:cTn id="148" dur="1" fill="hold">
                                          <p:stCondLst>
                                            <p:cond delay="0"/>
                                          </p:stCondLst>
                                        </p:cTn>
                                        <p:tgtEl>
                                          <p:spTgt spid="40"/>
                                        </p:tgtEl>
                                        <p:attrNameLst>
                                          <p:attrName>style.visibility</p:attrName>
                                        </p:attrNameLst>
                                      </p:cBhvr>
                                      <p:to>
                                        <p:strVal val="visible"/>
                                      </p:to>
                                    </p:set>
                                    <p:anim calcmode="lin" valueType="num">
                                      <p:cBhvr additive="base">
                                        <p:cTn id="149" dur="350" fill="hold"/>
                                        <p:tgtEl>
                                          <p:spTgt spid="40"/>
                                        </p:tgtEl>
                                        <p:attrNameLst>
                                          <p:attrName>ppt_w</p:attrName>
                                        </p:attrNameLst>
                                      </p:cBhvr>
                                      <p:tavLst>
                                        <p:tav tm="0">
                                          <p:val>
                                            <p:strVal val="#ppt_w*0.7"/>
                                          </p:val>
                                        </p:tav>
                                        <p:tav tm="100000">
                                          <p:val>
                                            <p:strVal val="#ppt_w"/>
                                          </p:val>
                                        </p:tav>
                                      </p:tavLst>
                                    </p:anim>
                                    <p:anim calcmode="lin" valueType="num">
                                      <p:cBhvr additive="base">
                                        <p:cTn id="150" dur="350" fill="hold"/>
                                        <p:tgtEl>
                                          <p:spTgt spid="40"/>
                                        </p:tgtEl>
                                        <p:attrNameLst>
                                          <p:attrName>ppt_h</p:attrName>
                                        </p:attrNameLst>
                                      </p:cBhvr>
                                      <p:tavLst>
                                        <p:tav tm="0">
                                          <p:val>
                                            <p:strVal val="#ppt_h*0.7"/>
                                          </p:val>
                                        </p:tav>
                                        <p:tav tm="100000">
                                          <p:val>
                                            <p:strVal val="#ppt_h"/>
                                          </p:val>
                                        </p:tav>
                                      </p:tavLst>
                                    </p:anim>
                                    <p:animEffect transition="in" filter="fade">
                                      <p:cBhvr>
                                        <p:cTn id="151" dur="350"/>
                                        <p:tgtEl>
                                          <p:spTgt spid="40"/>
                                        </p:tgtEl>
                                      </p:cBhvr>
                                    </p:animEffect>
                                  </p:childTnLst>
                                </p:cTn>
                              </p:par>
                              <p:par>
                                <p:cTn id="152" presetID="22" presetClass="entr" presetSubtype="8" fill="hold" grpId="0" nodeType="withEffect">
                                  <p:stCondLst>
                                    <p:cond delay="1300"/>
                                  </p:stCondLst>
                                  <p:childTnLst>
                                    <p:set>
                                      <p:cBhvr>
                                        <p:cTn id="153" dur="1" fill="hold">
                                          <p:stCondLst>
                                            <p:cond delay="0"/>
                                          </p:stCondLst>
                                        </p:cTn>
                                        <p:tgtEl>
                                          <p:spTgt spid="41"/>
                                        </p:tgtEl>
                                        <p:attrNameLst>
                                          <p:attrName>style.visibility</p:attrName>
                                        </p:attrNameLst>
                                      </p:cBhvr>
                                      <p:to>
                                        <p:strVal val="visible"/>
                                      </p:to>
                                    </p:set>
                                    <p:animEffect transition="in" filter="wipe(left)">
                                      <p:cBhvr>
                                        <p:cTn id="154" dur="400"/>
                                        <p:tgtEl>
                                          <p:spTgt spid="41"/>
                                        </p:tgtEl>
                                      </p:cBhvr>
                                    </p:animEffect>
                                  </p:childTnLst>
                                </p:cTn>
                              </p:par>
                              <p:par>
                                <p:cTn id="155" presetID="22" presetClass="entr" presetSubtype="8" fill="hold" grpId="0" nodeType="withEffect">
                                  <p:stCondLst>
                                    <p:cond delay="1300"/>
                                  </p:stCondLst>
                                  <p:childTnLst>
                                    <p:set>
                                      <p:cBhvr>
                                        <p:cTn id="156" dur="1" fill="hold">
                                          <p:stCondLst>
                                            <p:cond delay="0"/>
                                          </p:stCondLst>
                                        </p:cTn>
                                        <p:tgtEl>
                                          <p:spTgt spid="42"/>
                                        </p:tgtEl>
                                        <p:attrNameLst>
                                          <p:attrName>style.visibility</p:attrName>
                                        </p:attrNameLst>
                                      </p:cBhvr>
                                      <p:to>
                                        <p:strVal val="visible"/>
                                      </p:to>
                                    </p:set>
                                    <p:animEffect transition="in" filter="wipe(left)">
                                      <p:cBhvr>
                                        <p:cTn id="157" dur="400"/>
                                        <p:tgtEl>
                                          <p:spTgt spid="42"/>
                                        </p:tgtEl>
                                      </p:cBhvr>
                                    </p:animEffect>
                                  </p:childTnLst>
                                </p:cTn>
                              </p:par>
                              <p:par>
                                <p:cTn id="158" presetID="53" presetClass="entr" presetSubtype="16" fill="hold" grpId="0" nodeType="withEffect">
                                  <p:stCondLst>
                                    <p:cond delay="1450"/>
                                  </p:stCondLst>
                                  <p:childTnLst>
                                    <p:set>
                                      <p:cBhvr>
                                        <p:cTn id="159" dur="1" fill="hold">
                                          <p:stCondLst>
                                            <p:cond delay="0"/>
                                          </p:stCondLst>
                                        </p:cTn>
                                        <p:tgtEl>
                                          <p:spTgt spid="43"/>
                                        </p:tgtEl>
                                        <p:attrNameLst>
                                          <p:attrName>style.visibility</p:attrName>
                                        </p:attrNameLst>
                                      </p:cBhvr>
                                      <p:to>
                                        <p:strVal val="visible"/>
                                      </p:to>
                                    </p:set>
                                    <p:anim calcmode="lin" valueType="num">
                                      <p:cBhvr additive="base">
                                        <p:cTn id="160" dur="350" fill="hold"/>
                                        <p:tgtEl>
                                          <p:spTgt spid="43"/>
                                        </p:tgtEl>
                                        <p:attrNameLst>
                                          <p:attrName>ppt_w</p:attrName>
                                        </p:attrNameLst>
                                      </p:cBhvr>
                                      <p:tavLst>
                                        <p:tav tm="0">
                                          <p:val>
                                            <p:strVal val="#ppt_w*0.7"/>
                                          </p:val>
                                        </p:tav>
                                        <p:tav tm="100000">
                                          <p:val>
                                            <p:strVal val="#ppt_w"/>
                                          </p:val>
                                        </p:tav>
                                      </p:tavLst>
                                    </p:anim>
                                    <p:anim calcmode="lin" valueType="num">
                                      <p:cBhvr additive="base">
                                        <p:cTn id="161" dur="350" fill="hold"/>
                                        <p:tgtEl>
                                          <p:spTgt spid="43"/>
                                        </p:tgtEl>
                                        <p:attrNameLst>
                                          <p:attrName>ppt_h</p:attrName>
                                        </p:attrNameLst>
                                      </p:cBhvr>
                                      <p:tavLst>
                                        <p:tav tm="0">
                                          <p:val>
                                            <p:strVal val="#ppt_h*0.7"/>
                                          </p:val>
                                        </p:tav>
                                        <p:tav tm="100000">
                                          <p:val>
                                            <p:strVal val="#ppt_h"/>
                                          </p:val>
                                        </p:tav>
                                      </p:tavLst>
                                    </p:anim>
                                    <p:animEffect transition="in" filter="fade">
                                      <p:cBhvr>
                                        <p:cTn id="162" dur="350"/>
                                        <p:tgtEl>
                                          <p:spTgt spid="43"/>
                                        </p:tgtEl>
                                      </p:cBhvr>
                                    </p:animEffect>
                                  </p:childTnLst>
                                </p:cTn>
                              </p:par>
                              <p:par>
                                <p:cTn id="163" presetID="53" presetClass="entr" presetSubtype="16" fill="hold" grpId="0" nodeType="withEffect">
                                  <p:stCondLst>
                                    <p:cond delay="1450"/>
                                  </p:stCondLst>
                                  <p:childTnLst>
                                    <p:set>
                                      <p:cBhvr>
                                        <p:cTn id="164" dur="1" fill="hold">
                                          <p:stCondLst>
                                            <p:cond delay="0"/>
                                          </p:stCondLst>
                                        </p:cTn>
                                        <p:tgtEl>
                                          <p:spTgt spid="44"/>
                                        </p:tgtEl>
                                        <p:attrNameLst>
                                          <p:attrName>style.visibility</p:attrName>
                                        </p:attrNameLst>
                                      </p:cBhvr>
                                      <p:to>
                                        <p:strVal val="visible"/>
                                      </p:to>
                                    </p:set>
                                    <p:anim calcmode="lin" valueType="num">
                                      <p:cBhvr additive="base">
                                        <p:cTn id="165" dur="350" fill="hold"/>
                                        <p:tgtEl>
                                          <p:spTgt spid="44"/>
                                        </p:tgtEl>
                                        <p:attrNameLst>
                                          <p:attrName>ppt_w</p:attrName>
                                        </p:attrNameLst>
                                      </p:cBhvr>
                                      <p:tavLst>
                                        <p:tav tm="0">
                                          <p:val>
                                            <p:strVal val="#ppt_w*0.7"/>
                                          </p:val>
                                        </p:tav>
                                        <p:tav tm="100000">
                                          <p:val>
                                            <p:strVal val="#ppt_w"/>
                                          </p:val>
                                        </p:tav>
                                      </p:tavLst>
                                    </p:anim>
                                    <p:anim calcmode="lin" valueType="num">
                                      <p:cBhvr additive="base">
                                        <p:cTn id="166" dur="350" fill="hold"/>
                                        <p:tgtEl>
                                          <p:spTgt spid="44"/>
                                        </p:tgtEl>
                                        <p:attrNameLst>
                                          <p:attrName>ppt_h</p:attrName>
                                        </p:attrNameLst>
                                      </p:cBhvr>
                                      <p:tavLst>
                                        <p:tav tm="0">
                                          <p:val>
                                            <p:strVal val="#ppt_h*0.7"/>
                                          </p:val>
                                        </p:tav>
                                        <p:tav tm="100000">
                                          <p:val>
                                            <p:strVal val="#ppt_h"/>
                                          </p:val>
                                        </p:tav>
                                      </p:tavLst>
                                    </p:anim>
                                    <p:animEffect transition="in" filter="fade">
                                      <p:cBhvr>
                                        <p:cTn id="167" dur="350"/>
                                        <p:tgtEl>
                                          <p:spTgt spid="44"/>
                                        </p:tgtEl>
                                      </p:cBhvr>
                                    </p:animEffect>
                                  </p:childTnLst>
                                </p:cTn>
                              </p:par>
                              <p:par>
                                <p:cTn id="168" presetID="53" presetClass="entr" presetSubtype="16" fill="hold" grpId="0" nodeType="withEffect">
                                  <p:stCondLst>
                                    <p:cond delay="1500"/>
                                  </p:stCondLst>
                                  <p:childTnLst>
                                    <p:set>
                                      <p:cBhvr>
                                        <p:cTn id="169" dur="1" fill="hold">
                                          <p:stCondLst>
                                            <p:cond delay="0"/>
                                          </p:stCondLst>
                                        </p:cTn>
                                        <p:tgtEl>
                                          <p:spTgt spid="45"/>
                                        </p:tgtEl>
                                        <p:attrNameLst>
                                          <p:attrName>style.visibility</p:attrName>
                                        </p:attrNameLst>
                                      </p:cBhvr>
                                      <p:to>
                                        <p:strVal val="visible"/>
                                      </p:to>
                                    </p:set>
                                    <p:anim calcmode="lin" valueType="num">
                                      <p:cBhvr additive="base">
                                        <p:cTn id="170" dur="350" fill="hold"/>
                                        <p:tgtEl>
                                          <p:spTgt spid="45"/>
                                        </p:tgtEl>
                                        <p:attrNameLst>
                                          <p:attrName>ppt_w</p:attrName>
                                        </p:attrNameLst>
                                      </p:cBhvr>
                                      <p:tavLst>
                                        <p:tav tm="0">
                                          <p:val>
                                            <p:strVal val="#ppt_w*0.7"/>
                                          </p:val>
                                        </p:tav>
                                        <p:tav tm="100000">
                                          <p:val>
                                            <p:strVal val="#ppt_w"/>
                                          </p:val>
                                        </p:tav>
                                      </p:tavLst>
                                    </p:anim>
                                    <p:anim calcmode="lin" valueType="num">
                                      <p:cBhvr additive="base">
                                        <p:cTn id="171" dur="350" fill="hold"/>
                                        <p:tgtEl>
                                          <p:spTgt spid="45"/>
                                        </p:tgtEl>
                                        <p:attrNameLst>
                                          <p:attrName>ppt_h</p:attrName>
                                        </p:attrNameLst>
                                      </p:cBhvr>
                                      <p:tavLst>
                                        <p:tav tm="0">
                                          <p:val>
                                            <p:strVal val="#ppt_h*0.7"/>
                                          </p:val>
                                        </p:tav>
                                        <p:tav tm="100000">
                                          <p:val>
                                            <p:strVal val="#ppt_h"/>
                                          </p:val>
                                        </p:tav>
                                      </p:tavLst>
                                    </p:anim>
                                    <p:animEffect transition="in" filter="fade">
                                      <p:cBhvr>
                                        <p:cTn id="172" dur="350"/>
                                        <p:tgtEl>
                                          <p:spTgt spid="45"/>
                                        </p:tgtEl>
                                      </p:cBhvr>
                                    </p:animEffect>
                                  </p:childTnLst>
                                </p:cTn>
                              </p:par>
                              <p:par>
                                <p:cTn id="173" presetID="53" presetClass="entr" presetSubtype="16" fill="hold" grpId="0" nodeType="withEffect">
                                  <p:stCondLst>
                                    <p:cond delay="1500"/>
                                  </p:stCondLst>
                                  <p:childTnLst>
                                    <p:set>
                                      <p:cBhvr>
                                        <p:cTn id="174" dur="1" fill="hold">
                                          <p:stCondLst>
                                            <p:cond delay="0"/>
                                          </p:stCondLst>
                                        </p:cTn>
                                        <p:tgtEl>
                                          <p:spTgt spid="46"/>
                                        </p:tgtEl>
                                        <p:attrNameLst>
                                          <p:attrName>style.visibility</p:attrName>
                                        </p:attrNameLst>
                                      </p:cBhvr>
                                      <p:to>
                                        <p:strVal val="visible"/>
                                      </p:to>
                                    </p:set>
                                    <p:anim calcmode="lin" valueType="num">
                                      <p:cBhvr additive="base">
                                        <p:cTn id="175" dur="350" fill="hold"/>
                                        <p:tgtEl>
                                          <p:spTgt spid="46"/>
                                        </p:tgtEl>
                                        <p:attrNameLst>
                                          <p:attrName>ppt_w</p:attrName>
                                        </p:attrNameLst>
                                      </p:cBhvr>
                                      <p:tavLst>
                                        <p:tav tm="0">
                                          <p:val>
                                            <p:strVal val="#ppt_w*0.7"/>
                                          </p:val>
                                        </p:tav>
                                        <p:tav tm="100000">
                                          <p:val>
                                            <p:strVal val="#ppt_w"/>
                                          </p:val>
                                        </p:tav>
                                      </p:tavLst>
                                    </p:anim>
                                    <p:anim calcmode="lin" valueType="num">
                                      <p:cBhvr additive="base">
                                        <p:cTn id="176" dur="350" fill="hold"/>
                                        <p:tgtEl>
                                          <p:spTgt spid="46"/>
                                        </p:tgtEl>
                                        <p:attrNameLst>
                                          <p:attrName>ppt_h</p:attrName>
                                        </p:attrNameLst>
                                      </p:cBhvr>
                                      <p:tavLst>
                                        <p:tav tm="0">
                                          <p:val>
                                            <p:strVal val="#ppt_h*0.7"/>
                                          </p:val>
                                        </p:tav>
                                        <p:tav tm="100000">
                                          <p:val>
                                            <p:strVal val="#ppt_h"/>
                                          </p:val>
                                        </p:tav>
                                      </p:tavLst>
                                    </p:anim>
                                    <p:animEffect transition="in" filter="fade">
                                      <p:cBhvr>
                                        <p:cTn id="177" dur="350"/>
                                        <p:tgtEl>
                                          <p:spTgt spid="46"/>
                                        </p:tgtEl>
                                      </p:cBhvr>
                                    </p:animEffect>
                                  </p:childTnLst>
                                </p:cTn>
                              </p:par>
                              <p:par>
                                <p:cTn id="178" presetID="53" presetClass="entr" presetSubtype="16" fill="hold" grpId="0" nodeType="withEffect">
                                  <p:stCondLst>
                                    <p:cond delay="1550"/>
                                  </p:stCondLst>
                                  <p:childTnLst>
                                    <p:set>
                                      <p:cBhvr>
                                        <p:cTn id="179" dur="1" fill="hold">
                                          <p:stCondLst>
                                            <p:cond delay="0"/>
                                          </p:stCondLst>
                                        </p:cTn>
                                        <p:tgtEl>
                                          <p:spTgt spid="47"/>
                                        </p:tgtEl>
                                        <p:attrNameLst>
                                          <p:attrName>style.visibility</p:attrName>
                                        </p:attrNameLst>
                                      </p:cBhvr>
                                      <p:to>
                                        <p:strVal val="visible"/>
                                      </p:to>
                                    </p:set>
                                    <p:anim calcmode="lin" valueType="num">
                                      <p:cBhvr additive="base">
                                        <p:cTn id="180" dur="350" fill="hold"/>
                                        <p:tgtEl>
                                          <p:spTgt spid="47"/>
                                        </p:tgtEl>
                                        <p:attrNameLst>
                                          <p:attrName>ppt_w</p:attrName>
                                        </p:attrNameLst>
                                      </p:cBhvr>
                                      <p:tavLst>
                                        <p:tav tm="0">
                                          <p:val>
                                            <p:strVal val="#ppt_w*0.7"/>
                                          </p:val>
                                        </p:tav>
                                        <p:tav tm="100000">
                                          <p:val>
                                            <p:strVal val="#ppt_w"/>
                                          </p:val>
                                        </p:tav>
                                      </p:tavLst>
                                    </p:anim>
                                    <p:anim calcmode="lin" valueType="num">
                                      <p:cBhvr additive="base">
                                        <p:cTn id="181" dur="350" fill="hold"/>
                                        <p:tgtEl>
                                          <p:spTgt spid="47"/>
                                        </p:tgtEl>
                                        <p:attrNameLst>
                                          <p:attrName>ppt_h</p:attrName>
                                        </p:attrNameLst>
                                      </p:cBhvr>
                                      <p:tavLst>
                                        <p:tav tm="0">
                                          <p:val>
                                            <p:strVal val="#ppt_h*0.7"/>
                                          </p:val>
                                        </p:tav>
                                        <p:tav tm="100000">
                                          <p:val>
                                            <p:strVal val="#ppt_h"/>
                                          </p:val>
                                        </p:tav>
                                      </p:tavLst>
                                    </p:anim>
                                    <p:animEffect transition="in" filter="fade">
                                      <p:cBhvr>
                                        <p:cTn id="182" dur="350"/>
                                        <p:tgtEl>
                                          <p:spTgt spid="47"/>
                                        </p:tgtEl>
                                      </p:cBhvr>
                                    </p:animEffect>
                                  </p:childTnLst>
                                </p:cTn>
                              </p:par>
                              <p:par>
                                <p:cTn id="183" presetID="53" presetClass="entr" presetSubtype="16" fill="hold" grpId="0" nodeType="withEffect">
                                  <p:stCondLst>
                                    <p:cond delay="1550"/>
                                  </p:stCondLst>
                                  <p:childTnLst>
                                    <p:set>
                                      <p:cBhvr>
                                        <p:cTn id="184" dur="1" fill="hold">
                                          <p:stCondLst>
                                            <p:cond delay="0"/>
                                          </p:stCondLst>
                                        </p:cTn>
                                        <p:tgtEl>
                                          <p:spTgt spid="48"/>
                                        </p:tgtEl>
                                        <p:attrNameLst>
                                          <p:attrName>style.visibility</p:attrName>
                                        </p:attrNameLst>
                                      </p:cBhvr>
                                      <p:to>
                                        <p:strVal val="visible"/>
                                      </p:to>
                                    </p:set>
                                    <p:anim calcmode="lin" valueType="num">
                                      <p:cBhvr additive="base">
                                        <p:cTn id="185" dur="350" fill="hold"/>
                                        <p:tgtEl>
                                          <p:spTgt spid="48"/>
                                        </p:tgtEl>
                                        <p:attrNameLst>
                                          <p:attrName>ppt_w</p:attrName>
                                        </p:attrNameLst>
                                      </p:cBhvr>
                                      <p:tavLst>
                                        <p:tav tm="0">
                                          <p:val>
                                            <p:strVal val="#ppt_w*0.7"/>
                                          </p:val>
                                        </p:tav>
                                        <p:tav tm="100000">
                                          <p:val>
                                            <p:strVal val="#ppt_w"/>
                                          </p:val>
                                        </p:tav>
                                      </p:tavLst>
                                    </p:anim>
                                    <p:anim calcmode="lin" valueType="num">
                                      <p:cBhvr additive="base">
                                        <p:cTn id="186" dur="350" fill="hold"/>
                                        <p:tgtEl>
                                          <p:spTgt spid="48"/>
                                        </p:tgtEl>
                                        <p:attrNameLst>
                                          <p:attrName>ppt_h</p:attrName>
                                        </p:attrNameLst>
                                      </p:cBhvr>
                                      <p:tavLst>
                                        <p:tav tm="0">
                                          <p:val>
                                            <p:strVal val="#ppt_h*0.7"/>
                                          </p:val>
                                        </p:tav>
                                        <p:tav tm="100000">
                                          <p:val>
                                            <p:strVal val="#ppt_h"/>
                                          </p:val>
                                        </p:tav>
                                      </p:tavLst>
                                    </p:anim>
                                    <p:animEffect transition="in" filter="fade">
                                      <p:cBhvr>
                                        <p:cTn id="187" dur="350"/>
                                        <p:tgtEl>
                                          <p:spTgt spid="48"/>
                                        </p:tgtEl>
                                      </p:cBhvr>
                                    </p:animEffect>
                                  </p:childTnLst>
                                </p:cTn>
                              </p:par>
                              <p:par>
                                <p:cTn id="188" presetID="53" presetClass="entr" presetSubtype="16" fill="hold" grpId="0" nodeType="withEffect">
                                  <p:stCondLst>
                                    <p:cond delay="1600"/>
                                  </p:stCondLst>
                                  <p:childTnLst>
                                    <p:set>
                                      <p:cBhvr>
                                        <p:cTn id="189" dur="1" fill="hold">
                                          <p:stCondLst>
                                            <p:cond delay="0"/>
                                          </p:stCondLst>
                                        </p:cTn>
                                        <p:tgtEl>
                                          <p:spTgt spid="49"/>
                                        </p:tgtEl>
                                        <p:attrNameLst>
                                          <p:attrName>style.visibility</p:attrName>
                                        </p:attrNameLst>
                                      </p:cBhvr>
                                      <p:to>
                                        <p:strVal val="visible"/>
                                      </p:to>
                                    </p:set>
                                    <p:anim calcmode="lin" valueType="num">
                                      <p:cBhvr additive="base">
                                        <p:cTn id="190" dur="350" fill="hold"/>
                                        <p:tgtEl>
                                          <p:spTgt spid="49"/>
                                        </p:tgtEl>
                                        <p:attrNameLst>
                                          <p:attrName>ppt_w</p:attrName>
                                        </p:attrNameLst>
                                      </p:cBhvr>
                                      <p:tavLst>
                                        <p:tav tm="0">
                                          <p:val>
                                            <p:strVal val="#ppt_w*0.7"/>
                                          </p:val>
                                        </p:tav>
                                        <p:tav tm="100000">
                                          <p:val>
                                            <p:strVal val="#ppt_w"/>
                                          </p:val>
                                        </p:tav>
                                      </p:tavLst>
                                    </p:anim>
                                    <p:anim calcmode="lin" valueType="num">
                                      <p:cBhvr additive="base">
                                        <p:cTn id="191" dur="350" fill="hold"/>
                                        <p:tgtEl>
                                          <p:spTgt spid="49"/>
                                        </p:tgtEl>
                                        <p:attrNameLst>
                                          <p:attrName>ppt_h</p:attrName>
                                        </p:attrNameLst>
                                      </p:cBhvr>
                                      <p:tavLst>
                                        <p:tav tm="0">
                                          <p:val>
                                            <p:strVal val="#ppt_h*0.7"/>
                                          </p:val>
                                        </p:tav>
                                        <p:tav tm="100000">
                                          <p:val>
                                            <p:strVal val="#ppt_h"/>
                                          </p:val>
                                        </p:tav>
                                      </p:tavLst>
                                    </p:anim>
                                    <p:animEffect transition="in" filter="fade">
                                      <p:cBhvr>
                                        <p:cTn id="192" dur="350"/>
                                        <p:tgtEl>
                                          <p:spTgt spid="49"/>
                                        </p:tgtEl>
                                      </p:cBhvr>
                                    </p:animEffect>
                                  </p:childTnLst>
                                </p:cTn>
                              </p:par>
                              <p:par>
                                <p:cTn id="193" presetID="53" presetClass="entr" presetSubtype="16" fill="hold" grpId="0" nodeType="withEffect">
                                  <p:stCondLst>
                                    <p:cond delay="1600"/>
                                  </p:stCondLst>
                                  <p:childTnLst>
                                    <p:set>
                                      <p:cBhvr>
                                        <p:cTn id="194" dur="1" fill="hold">
                                          <p:stCondLst>
                                            <p:cond delay="0"/>
                                          </p:stCondLst>
                                        </p:cTn>
                                        <p:tgtEl>
                                          <p:spTgt spid="50"/>
                                        </p:tgtEl>
                                        <p:attrNameLst>
                                          <p:attrName>style.visibility</p:attrName>
                                        </p:attrNameLst>
                                      </p:cBhvr>
                                      <p:to>
                                        <p:strVal val="visible"/>
                                      </p:to>
                                    </p:set>
                                    <p:anim calcmode="lin" valueType="num">
                                      <p:cBhvr additive="base">
                                        <p:cTn id="195" dur="350" fill="hold"/>
                                        <p:tgtEl>
                                          <p:spTgt spid="50"/>
                                        </p:tgtEl>
                                        <p:attrNameLst>
                                          <p:attrName>ppt_w</p:attrName>
                                        </p:attrNameLst>
                                      </p:cBhvr>
                                      <p:tavLst>
                                        <p:tav tm="0">
                                          <p:val>
                                            <p:strVal val="#ppt_w*0.7"/>
                                          </p:val>
                                        </p:tav>
                                        <p:tav tm="100000">
                                          <p:val>
                                            <p:strVal val="#ppt_w"/>
                                          </p:val>
                                        </p:tav>
                                      </p:tavLst>
                                    </p:anim>
                                    <p:anim calcmode="lin" valueType="num">
                                      <p:cBhvr additive="base">
                                        <p:cTn id="196" dur="350" fill="hold"/>
                                        <p:tgtEl>
                                          <p:spTgt spid="50"/>
                                        </p:tgtEl>
                                        <p:attrNameLst>
                                          <p:attrName>ppt_h</p:attrName>
                                        </p:attrNameLst>
                                      </p:cBhvr>
                                      <p:tavLst>
                                        <p:tav tm="0">
                                          <p:val>
                                            <p:strVal val="#ppt_h*0.7"/>
                                          </p:val>
                                        </p:tav>
                                        <p:tav tm="100000">
                                          <p:val>
                                            <p:strVal val="#ppt_h"/>
                                          </p:val>
                                        </p:tav>
                                      </p:tavLst>
                                    </p:anim>
                                    <p:animEffect transition="in" filter="fade">
                                      <p:cBhvr>
                                        <p:cTn id="197"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center.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pic>
        <p:nvPicPr>
          <p:cNvPr id="8" name="!!logo" descr="logo_stp.png"/>
          <p:cNvPicPr>
            <a:picLocks noChangeAspect="1"/>
          </p:cNvPicPr>
          <p:nvPr/>
        </p:nvPicPr>
        <p:blipFill>
          <a:blip r:embed="rId8"/>
          <a:stretch>
            <a:fillRect/>
          </a:stretch>
        </p:blipFill>
        <p:spPr>
          <a:xfrm>
            <a:off x="10024567" y="384048"/>
            <a:ext cx="420624" cy="420624"/>
          </a:xfrm>
          <a:prstGeom prst="rect">
            <a:avLst/>
          </a:prstGeom>
        </p:spPr>
      </p:pic>
      <p:sp>
        <p:nvSpPr>
          <p:cNvPr id="9"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0" name="TextBox 9"/>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20</a:t>
            </a:r>
          </a:p>
        </p:txBody>
      </p:sp>
      <p:sp>
        <p:nvSpPr>
          <p:cNvPr id="11" name="!!kicker"/>
          <p:cNvSpPr txBox="1"/>
          <p:nvPr/>
        </p:nvSpPr>
        <p:spPr>
          <a:xfrm>
            <a:off x="685800" y="502920"/>
            <a:ext cx="91440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KHÁCH HÀNG TIÊU BIỂU</a:t>
            </a:r>
          </a:p>
        </p:txBody>
      </p:sp>
      <p:sp>
        <p:nvSpPr>
          <p:cNvPr id="12" name="!!title"/>
          <p:cNvSpPr txBox="1"/>
          <p:nvPr/>
        </p:nvSpPr>
        <p:spPr>
          <a:xfrm>
            <a:off x="685800" y="850392"/>
            <a:ext cx="9144000" cy="528320"/>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Tin cậy từ </a:t>
            </a:r>
            <a:r>
              <a:rPr sz="3200" b="0" i="0">
                <a:solidFill>
                  <a:srgbClr val="8FD11E"/>
                </a:solidFill>
                <a:latin typeface="Be Vietnam Pro ExtraBold"/>
                <a:ea typeface="Be Vietnam Pro ExtraBold"/>
                <a:cs typeface="Be Vietnam Pro ExtraBold"/>
              </a:rPr>
              <a:t>nhà máy đến công trường</a:t>
            </a:r>
          </a:p>
        </p:txBody>
      </p:sp>
      <p:pic>
        <p:nvPicPr>
          <p:cNvPr id="13" name="Picture 12" descr="client_128.jpg"/>
          <p:cNvPicPr>
            <a:picLocks noChangeAspect="1"/>
          </p:cNvPicPr>
          <p:nvPr/>
        </p:nvPicPr>
        <p:blipFill>
          <a:blip r:embed="rId9"/>
          <a:srcRect t="1651" b="1651"/>
          <a:stretch>
            <a:fillRect/>
          </a:stretch>
        </p:blipFill>
        <p:spPr>
          <a:xfrm>
            <a:off x="685800" y="1965960"/>
            <a:ext cx="2581580" cy="2112264"/>
          </a:xfrm>
          <a:prstGeom prst="roundRect">
            <a:avLst>
              <a:gd name="adj" fmla="val 6926"/>
            </a:avLst>
          </a:prstGeom>
          <a:ln w="9525">
            <a:solidFill>
              <a:srgbClr val="8FD11E">
                <a:alpha val="45000"/>
              </a:srgbClr>
            </a:solidFill>
          </a:ln>
        </p:spPr>
      </p:pic>
      <p:sp>
        <p:nvSpPr>
          <p:cNvPr id="14" name="Round Same Side Corner Rectangle 13"/>
          <p:cNvSpPr/>
          <p:nvPr/>
        </p:nvSpPr>
        <p:spPr>
          <a:xfrm rot="10800000">
            <a:off x="685800" y="3163824"/>
            <a:ext cx="258158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TextBox 14"/>
          <p:cNvSpPr txBox="1"/>
          <p:nvPr/>
        </p:nvSpPr>
        <p:spPr>
          <a:xfrm>
            <a:off x="850392" y="3602736"/>
            <a:ext cx="2252396" cy="384048"/>
          </a:xfrm>
          <a:prstGeom prst="rect">
            <a:avLst/>
          </a:prstGeom>
          <a:noFill/>
        </p:spPr>
        <p:txBody>
          <a:bodyPr wrap="none" lIns="0" rIns="0" tIns="0" bIns="0" anchor="ctr">
            <a:noAutofit/>
          </a:bodyPr>
          <a:lstStyle/>
          <a:p>
            <a:pPr algn="l">
              <a:lnSpc>
                <a:spcPct val="115000"/>
              </a:lnSpc>
              <a:spcAft>
                <a:spcPts val="0"/>
              </a:spcAft>
            </a:pPr>
            <a:r>
              <a:rPr sz="1250" b="0" i="0">
                <a:solidFill>
                  <a:srgbClr val="FFFFFF"/>
                </a:solidFill>
                <a:latin typeface="Be Vietnam Pro SemiBold"/>
                <a:ea typeface="Be Vietnam Pro SemiBold"/>
                <a:cs typeface="Be Vietnam Pro SemiBold"/>
              </a:rPr>
              <a:t>Asanka</a:t>
            </a:r>
          </a:p>
        </p:txBody>
      </p:sp>
      <p:pic>
        <p:nvPicPr>
          <p:cNvPr id="16" name="Picture 15" descr="client_129.jpg"/>
          <p:cNvPicPr>
            <a:picLocks noChangeAspect="1"/>
          </p:cNvPicPr>
          <p:nvPr/>
        </p:nvPicPr>
        <p:blipFill>
          <a:blip r:embed="rId10"/>
          <a:srcRect t="1651" b="1651"/>
          <a:stretch>
            <a:fillRect/>
          </a:stretch>
        </p:blipFill>
        <p:spPr>
          <a:xfrm>
            <a:off x="3431972" y="1965960"/>
            <a:ext cx="2581580" cy="2112264"/>
          </a:xfrm>
          <a:prstGeom prst="roundRect">
            <a:avLst>
              <a:gd name="adj" fmla="val 6926"/>
            </a:avLst>
          </a:prstGeom>
          <a:ln w="9525">
            <a:solidFill>
              <a:srgbClr val="8FD11E">
                <a:alpha val="45000"/>
              </a:srgbClr>
            </a:solidFill>
          </a:ln>
        </p:spPr>
      </p:pic>
      <p:sp>
        <p:nvSpPr>
          <p:cNvPr id="17" name="Round Same Side Corner Rectangle 16"/>
          <p:cNvSpPr/>
          <p:nvPr/>
        </p:nvSpPr>
        <p:spPr>
          <a:xfrm rot="10800000">
            <a:off x="3431972" y="3163824"/>
            <a:ext cx="258158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8" name="TextBox 17"/>
          <p:cNvSpPr txBox="1"/>
          <p:nvPr/>
        </p:nvSpPr>
        <p:spPr>
          <a:xfrm>
            <a:off x="3596564" y="3602736"/>
            <a:ext cx="2252396" cy="384048"/>
          </a:xfrm>
          <a:prstGeom prst="rect">
            <a:avLst/>
          </a:prstGeom>
          <a:noFill/>
        </p:spPr>
        <p:txBody>
          <a:bodyPr wrap="none" lIns="0" rIns="0" tIns="0" bIns="0" anchor="ctr">
            <a:noAutofit/>
          </a:bodyPr>
          <a:lstStyle/>
          <a:p>
            <a:pPr algn="l">
              <a:lnSpc>
                <a:spcPct val="115000"/>
              </a:lnSpc>
              <a:spcAft>
                <a:spcPts val="0"/>
              </a:spcAft>
            </a:pPr>
            <a:r>
              <a:rPr sz="1250" b="0" i="0">
                <a:solidFill>
                  <a:srgbClr val="FFFFFF"/>
                </a:solidFill>
                <a:latin typeface="Be Vietnam Pro SemiBold"/>
                <a:ea typeface="Be Vietnam Pro SemiBold"/>
                <a:cs typeface="Be Vietnam Pro SemiBold"/>
              </a:rPr>
              <a:t>Emivest Feedmill</a:t>
            </a:r>
          </a:p>
        </p:txBody>
      </p:sp>
      <p:pic>
        <p:nvPicPr>
          <p:cNvPr id="19" name="Picture 18" descr="client_130.jpg"/>
          <p:cNvPicPr>
            <a:picLocks noChangeAspect="1"/>
          </p:cNvPicPr>
          <p:nvPr/>
        </p:nvPicPr>
        <p:blipFill>
          <a:blip r:embed="rId11"/>
          <a:srcRect t="1651" b="1651"/>
          <a:stretch>
            <a:fillRect/>
          </a:stretch>
        </p:blipFill>
        <p:spPr>
          <a:xfrm>
            <a:off x="6178144" y="1965960"/>
            <a:ext cx="2581580" cy="2112264"/>
          </a:xfrm>
          <a:prstGeom prst="roundRect">
            <a:avLst>
              <a:gd name="adj" fmla="val 6926"/>
            </a:avLst>
          </a:prstGeom>
          <a:ln w="9525">
            <a:solidFill>
              <a:srgbClr val="8FD11E">
                <a:alpha val="45000"/>
              </a:srgbClr>
            </a:solidFill>
          </a:ln>
        </p:spPr>
      </p:pic>
      <p:sp>
        <p:nvSpPr>
          <p:cNvPr id="20" name="Round Same Side Corner Rectangle 19"/>
          <p:cNvSpPr/>
          <p:nvPr/>
        </p:nvSpPr>
        <p:spPr>
          <a:xfrm rot="10800000">
            <a:off x="6178144" y="3163824"/>
            <a:ext cx="258158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TextBox 20"/>
          <p:cNvSpPr txBox="1"/>
          <p:nvPr/>
        </p:nvSpPr>
        <p:spPr>
          <a:xfrm>
            <a:off x="6342736" y="3602736"/>
            <a:ext cx="2252396" cy="384048"/>
          </a:xfrm>
          <a:prstGeom prst="rect">
            <a:avLst/>
          </a:prstGeom>
          <a:noFill/>
        </p:spPr>
        <p:txBody>
          <a:bodyPr wrap="none" lIns="0" rIns="0" tIns="0" bIns="0" anchor="ctr">
            <a:noAutofit/>
          </a:bodyPr>
          <a:lstStyle/>
          <a:p>
            <a:pPr algn="l">
              <a:lnSpc>
                <a:spcPct val="115000"/>
              </a:lnSpc>
              <a:spcAft>
                <a:spcPts val="0"/>
              </a:spcAft>
            </a:pPr>
            <a:r>
              <a:rPr sz="1250" b="0" i="0">
                <a:solidFill>
                  <a:srgbClr val="FFFFFF"/>
                </a:solidFill>
                <a:latin typeface="Be Vietnam Pro SemiBold"/>
                <a:ea typeface="Be Vietnam Pro SemiBold"/>
                <a:cs typeface="Be Vietnam Pro SemiBold"/>
              </a:rPr>
              <a:t>Hogetsu Việt Nam</a:t>
            </a:r>
          </a:p>
        </p:txBody>
      </p:sp>
      <p:pic>
        <p:nvPicPr>
          <p:cNvPr id="22" name="Picture 21" descr="client_131.jpg"/>
          <p:cNvPicPr>
            <a:picLocks noChangeAspect="1"/>
          </p:cNvPicPr>
          <p:nvPr/>
        </p:nvPicPr>
        <p:blipFill>
          <a:blip r:embed="rId12"/>
          <a:srcRect t="1651" b="1651"/>
          <a:stretch>
            <a:fillRect/>
          </a:stretch>
        </p:blipFill>
        <p:spPr>
          <a:xfrm>
            <a:off x="8924315" y="1965960"/>
            <a:ext cx="2581580" cy="2112264"/>
          </a:xfrm>
          <a:prstGeom prst="roundRect">
            <a:avLst>
              <a:gd name="adj" fmla="val 6926"/>
            </a:avLst>
          </a:prstGeom>
          <a:ln w="9525">
            <a:solidFill>
              <a:srgbClr val="8FD11E">
                <a:alpha val="45000"/>
              </a:srgbClr>
            </a:solidFill>
          </a:ln>
        </p:spPr>
      </p:pic>
      <p:sp>
        <p:nvSpPr>
          <p:cNvPr id="23" name="Round Same Side Corner Rectangle 22"/>
          <p:cNvSpPr/>
          <p:nvPr/>
        </p:nvSpPr>
        <p:spPr>
          <a:xfrm rot="10800000">
            <a:off x="8924315" y="3163824"/>
            <a:ext cx="258158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4" name="TextBox 23"/>
          <p:cNvSpPr txBox="1"/>
          <p:nvPr/>
        </p:nvSpPr>
        <p:spPr>
          <a:xfrm>
            <a:off x="9088907" y="3602736"/>
            <a:ext cx="2252396" cy="384048"/>
          </a:xfrm>
          <a:prstGeom prst="rect">
            <a:avLst/>
          </a:prstGeom>
          <a:noFill/>
        </p:spPr>
        <p:txBody>
          <a:bodyPr wrap="none" lIns="0" rIns="0" tIns="0" bIns="0" anchor="ctr">
            <a:noAutofit/>
          </a:bodyPr>
          <a:lstStyle/>
          <a:p>
            <a:pPr algn="l">
              <a:lnSpc>
                <a:spcPct val="115000"/>
              </a:lnSpc>
              <a:spcAft>
                <a:spcPts val="0"/>
              </a:spcAft>
            </a:pPr>
            <a:r>
              <a:rPr sz="1250" b="0" i="0">
                <a:solidFill>
                  <a:srgbClr val="FFFFFF"/>
                </a:solidFill>
                <a:latin typeface="Be Vietnam Pro SemiBold"/>
                <a:ea typeface="Be Vietnam Pro SemiBold"/>
                <a:cs typeface="Be Vietnam Pro SemiBold"/>
              </a:rPr>
              <a:t>Thang máy Pacific</a:t>
            </a:r>
          </a:p>
        </p:txBody>
      </p:sp>
      <p:pic>
        <p:nvPicPr>
          <p:cNvPr id="25" name="Picture 24" descr="client_132.jpg"/>
          <p:cNvPicPr>
            <a:picLocks noChangeAspect="1"/>
          </p:cNvPicPr>
          <p:nvPr/>
        </p:nvPicPr>
        <p:blipFill>
          <a:blip r:embed="rId13"/>
          <a:srcRect t="1651" b="1651"/>
          <a:stretch>
            <a:fillRect/>
          </a:stretch>
        </p:blipFill>
        <p:spPr>
          <a:xfrm>
            <a:off x="685800" y="4242816"/>
            <a:ext cx="2581580" cy="2112264"/>
          </a:xfrm>
          <a:prstGeom prst="roundRect">
            <a:avLst>
              <a:gd name="adj" fmla="val 6926"/>
            </a:avLst>
          </a:prstGeom>
          <a:ln w="9525">
            <a:solidFill>
              <a:srgbClr val="8FD11E">
                <a:alpha val="45000"/>
              </a:srgbClr>
            </a:solidFill>
          </a:ln>
        </p:spPr>
      </p:pic>
      <p:sp>
        <p:nvSpPr>
          <p:cNvPr id="26" name="Round Same Side Corner Rectangle 25"/>
          <p:cNvSpPr/>
          <p:nvPr/>
        </p:nvSpPr>
        <p:spPr>
          <a:xfrm rot="10800000">
            <a:off x="685800" y="5440680"/>
            <a:ext cx="258158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7" name="TextBox 26"/>
          <p:cNvSpPr txBox="1"/>
          <p:nvPr/>
        </p:nvSpPr>
        <p:spPr>
          <a:xfrm>
            <a:off x="850392" y="5879592"/>
            <a:ext cx="2252396" cy="384048"/>
          </a:xfrm>
          <a:prstGeom prst="rect">
            <a:avLst/>
          </a:prstGeom>
          <a:noFill/>
        </p:spPr>
        <p:txBody>
          <a:bodyPr wrap="none" lIns="0" rIns="0" tIns="0" bIns="0" anchor="ctr">
            <a:noAutofit/>
          </a:bodyPr>
          <a:lstStyle/>
          <a:p>
            <a:pPr algn="l">
              <a:lnSpc>
                <a:spcPct val="115000"/>
              </a:lnSpc>
              <a:spcAft>
                <a:spcPts val="0"/>
              </a:spcAft>
            </a:pPr>
            <a:r>
              <a:rPr sz="1250" b="0" i="0">
                <a:solidFill>
                  <a:srgbClr val="FFFFFF"/>
                </a:solidFill>
                <a:latin typeface="Be Vietnam Pro SemiBold"/>
                <a:ea typeface="Be Vietnam Pro SemiBold"/>
                <a:cs typeface="Be Vietnam Pro SemiBold"/>
              </a:rPr>
              <a:t>HT Vina</a:t>
            </a:r>
          </a:p>
        </p:txBody>
      </p:sp>
      <p:pic>
        <p:nvPicPr>
          <p:cNvPr id="28" name="Picture 27" descr="client_133.jpg"/>
          <p:cNvPicPr>
            <a:picLocks noChangeAspect="1"/>
          </p:cNvPicPr>
          <p:nvPr/>
        </p:nvPicPr>
        <p:blipFill>
          <a:blip r:embed="rId14"/>
          <a:srcRect t="1651" b="1651"/>
          <a:stretch>
            <a:fillRect/>
          </a:stretch>
        </p:blipFill>
        <p:spPr>
          <a:xfrm>
            <a:off x="3431972" y="4242816"/>
            <a:ext cx="2581580" cy="2112264"/>
          </a:xfrm>
          <a:prstGeom prst="roundRect">
            <a:avLst>
              <a:gd name="adj" fmla="val 6926"/>
            </a:avLst>
          </a:prstGeom>
          <a:ln w="9525">
            <a:solidFill>
              <a:srgbClr val="8FD11E">
                <a:alpha val="45000"/>
              </a:srgbClr>
            </a:solidFill>
          </a:ln>
        </p:spPr>
      </p:pic>
      <p:sp>
        <p:nvSpPr>
          <p:cNvPr id="29" name="Round Same Side Corner Rectangle 28"/>
          <p:cNvSpPr/>
          <p:nvPr/>
        </p:nvSpPr>
        <p:spPr>
          <a:xfrm rot="10800000">
            <a:off x="3431972" y="5440680"/>
            <a:ext cx="258158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0" name="TextBox 29"/>
          <p:cNvSpPr txBox="1"/>
          <p:nvPr/>
        </p:nvSpPr>
        <p:spPr>
          <a:xfrm>
            <a:off x="3596564" y="5879592"/>
            <a:ext cx="2252396" cy="384048"/>
          </a:xfrm>
          <a:prstGeom prst="rect">
            <a:avLst/>
          </a:prstGeom>
          <a:noFill/>
        </p:spPr>
        <p:txBody>
          <a:bodyPr wrap="none" lIns="0" rIns="0" tIns="0" bIns="0" anchor="ctr">
            <a:noAutofit/>
          </a:bodyPr>
          <a:lstStyle/>
          <a:p>
            <a:pPr algn="l">
              <a:lnSpc>
                <a:spcPct val="115000"/>
              </a:lnSpc>
              <a:spcAft>
                <a:spcPts val="0"/>
              </a:spcAft>
            </a:pPr>
            <a:r>
              <a:rPr sz="1250" b="0" i="0">
                <a:solidFill>
                  <a:srgbClr val="FFFFFF"/>
                </a:solidFill>
                <a:latin typeface="Be Vietnam Pro SemiBold"/>
                <a:ea typeface="Be Vietnam Pro SemiBold"/>
                <a:cs typeface="Be Vietnam Pro SemiBold"/>
              </a:rPr>
              <a:t>Toyota Thanh Xuân</a:t>
            </a:r>
          </a:p>
        </p:txBody>
      </p:sp>
      <p:pic>
        <p:nvPicPr>
          <p:cNvPr id="31" name="Picture 30" descr="client_134.jpg"/>
          <p:cNvPicPr>
            <a:picLocks noChangeAspect="1"/>
          </p:cNvPicPr>
          <p:nvPr/>
        </p:nvPicPr>
        <p:blipFill>
          <a:blip r:embed="rId15"/>
          <a:srcRect t="1651" b="1651"/>
          <a:stretch>
            <a:fillRect/>
          </a:stretch>
        </p:blipFill>
        <p:spPr>
          <a:xfrm>
            <a:off x="6178144" y="4242816"/>
            <a:ext cx="2581580" cy="2112264"/>
          </a:xfrm>
          <a:prstGeom prst="roundRect">
            <a:avLst>
              <a:gd name="adj" fmla="val 6926"/>
            </a:avLst>
          </a:prstGeom>
          <a:ln w="9525">
            <a:solidFill>
              <a:srgbClr val="8FD11E">
                <a:alpha val="45000"/>
              </a:srgbClr>
            </a:solidFill>
          </a:ln>
        </p:spPr>
      </p:pic>
      <p:sp>
        <p:nvSpPr>
          <p:cNvPr id="32" name="Round Same Side Corner Rectangle 31"/>
          <p:cNvSpPr/>
          <p:nvPr/>
        </p:nvSpPr>
        <p:spPr>
          <a:xfrm rot="10800000">
            <a:off x="6178144" y="5440680"/>
            <a:ext cx="258158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3" name="TextBox 32"/>
          <p:cNvSpPr txBox="1"/>
          <p:nvPr/>
        </p:nvSpPr>
        <p:spPr>
          <a:xfrm>
            <a:off x="6342736" y="5879592"/>
            <a:ext cx="2252396" cy="384048"/>
          </a:xfrm>
          <a:prstGeom prst="rect">
            <a:avLst/>
          </a:prstGeom>
          <a:noFill/>
        </p:spPr>
        <p:txBody>
          <a:bodyPr wrap="none" lIns="0" rIns="0" tIns="0" bIns="0" anchor="ctr">
            <a:noAutofit/>
          </a:bodyPr>
          <a:lstStyle/>
          <a:p>
            <a:pPr algn="l">
              <a:lnSpc>
                <a:spcPct val="115000"/>
              </a:lnSpc>
              <a:spcAft>
                <a:spcPts val="0"/>
              </a:spcAft>
            </a:pPr>
            <a:r>
              <a:rPr sz="1250" b="0" i="0">
                <a:solidFill>
                  <a:srgbClr val="FFFFFF"/>
                </a:solidFill>
                <a:latin typeface="Be Vietnam Pro SemiBold"/>
                <a:ea typeface="Be Vietnam Pro SemiBold"/>
                <a:cs typeface="Be Vietnam Pro SemiBold"/>
              </a:rPr>
              <a:t>Vina T&amp;T</a:t>
            </a:r>
          </a:p>
        </p:txBody>
      </p:sp>
      <p:pic>
        <p:nvPicPr>
          <p:cNvPr id="34" name="Picture 33" descr="client_135.jpg"/>
          <p:cNvPicPr>
            <a:picLocks noChangeAspect="1"/>
          </p:cNvPicPr>
          <p:nvPr/>
        </p:nvPicPr>
        <p:blipFill>
          <a:blip r:embed="rId16"/>
          <a:srcRect t="1651" b="1651"/>
          <a:stretch>
            <a:fillRect/>
          </a:stretch>
        </p:blipFill>
        <p:spPr>
          <a:xfrm>
            <a:off x="8924315" y="4242816"/>
            <a:ext cx="2581580" cy="2112264"/>
          </a:xfrm>
          <a:prstGeom prst="roundRect">
            <a:avLst>
              <a:gd name="adj" fmla="val 6926"/>
            </a:avLst>
          </a:prstGeom>
          <a:ln w="9525">
            <a:solidFill>
              <a:srgbClr val="8FD11E">
                <a:alpha val="45000"/>
              </a:srgbClr>
            </a:solidFill>
          </a:ln>
        </p:spPr>
      </p:pic>
      <p:sp>
        <p:nvSpPr>
          <p:cNvPr id="35" name="Round Same Side Corner Rectangle 34"/>
          <p:cNvSpPr/>
          <p:nvPr/>
        </p:nvSpPr>
        <p:spPr>
          <a:xfrm rot="10800000">
            <a:off x="8924315" y="5440680"/>
            <a:ext cx="2581580" cy="914400"/>
          </a:xfrm>
          <a:prstGeom prst="round2SameRect">
            <a:avLst>
              <a:gd name="adj1" fmla="val 16000"/>
              <a:gd name="adj2" fmla="val 0"/>
            </a:avLst>
          </a:prstGeom>
          <a:gradFill rotWithShape="1">
            <a:gsLst>
              <a:gs pos="0">
                <a:srgbClr val="04120C">
                  <a:alpha val="85000"/>
                </a:srgbClr>
              </a:gs>
              <a:gs pos="100000">
                <a:srgbClr val="04120C">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6" name="TextBox 35"/>
          <p:cNvSpPr txBox="1"/>
          <p:nvPr/>
        </p:nvSpPr>
        <p:spPr>
          <a:xfrm>
            <a:off x="9088907" y="5879592"/>
            <a:ext cx="2252396" cy="384048"/>
          </a:xfrm>
          <a:prstGeom prst="rect">
            <a:avLst/>
          </a:prstGeom>
          <a:noFill/>
        </p:spPr>
        <p:txBody>
          <a:bodyPr wrap="none" lIns="0" rIns="0" tIns="0" bIns="0" anchor="ctr">
            <a:noAutofit/>
          </a:bodyPr>
          <a:lstStyle/>
          <a:p>
            <a:pPr algn="l">
              <a:lnSpc>
                <a:spcPct val="115000"/>
              </a:lnSpc>
              <a:spcAft>
                <a:spcPts val="0"/>
              </a:spcAft>
            </a:pPr>
            <a:r>
              <a:rPr sz="1250" b="0" i="0">
                <a:solidFill>
                  <a:srgbClr val="FFFFFF"/>
                </a:solidFill>
                <a:latin typeface="Be Vietnam Pro SemiBold"/>
                <a:ea typeface="Be Vietnam Pro SemiBold"/>
                <a:cs typeface="Be Vietnam Pro SemiBold"/>
              </a:rPr>
              <a:t>P.Dussmann Việt Nam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22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53" presetClass="entr" presetSubtype="16" fill="hold" grpId="0" nodeType="withEffect">
                                  <p:stCondLst>
                                    <p:cond delay="40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450" fill="hold"/>
                                        <p:tgtEl>
                                          <p:spTgt spid="13"/>
                                        </p:tgtEl>
                                        <p:attrNameLst>
                                          <p:attrName>ppt_w</p:attrName>
                                        </p:attrNameLst>
                                      </p:cBhvr>
                                      <p:tavLst>
                                        <p:tav tm="0">
                                          <p:val>
                                            <p:strVal val="#ppt_w*0.7"/>
                                          </p:val>
                                        </p:tav>
                                        <p:tav tm="100000">
                                          <p:val>
                                            <p:strVal val="#ppt_w"/>
                                          </p:val>
                                        </p:tav>
                                      </p:tavLst>
                                    </p:anim>
                                    <p:anim calcmode="lin" valueType="num">
                                      <p:cBhvr additive="base">
                                        <p:cTn id="23" dur="450" fill="hold"/>
                                        <p:tgtEl>
                                          <p:spTgt spid="13"/>
                                        </p:tgtEl>
                                        <p:attrNameLst>
                                          <p:attrName>ppt_h</p:attrName>
                                        </p:attrNameLst>
                                      </p:cBhvr>
                                      <p:tavLst>
                                        <p:tav tm="0">
                                          <p:val>
                                            <p:strVal val="#ppt_h*0.7"/>
                                          </p:val>
                                        </p:tav>
                                        <p:tav tm="100000">
                                          <p:val>
                                            <p:strVal val="#ppt_h"/>
                                          </p:val>
                                        </p:tav>
                                      </p:tavLst>
                                    </p:anim>
                                    <p:animEffect transition="in" filter="fade">
                                      <p:cBhvr>
                                        <p:cTn id="24" dur="450"/>
                                        <p:tgtEl>
                                          <p:spTgt spid="13"/>
                                        </p:tgtEl>
                                      </p:cBhvr>
                                    </p:animEffect>
                                  </p:childTnLst>
                                </p:cTn>
                              </p:par>
                              <p:par>
                                <p:cTn id="25" presetID="53" presetClass="entr" presetSubtype="16" fill="hold" grpId="0" nodeType="withEffect">
                                  <p:stCondLst>
                                    <p:cond delay="40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450" fill="hold"/>
                                        <p:tgtEl>
                                          <p:spTgt spid="14"/>
                                        </p:tgtEl>
                                        <p:attrNameLst>
                                          <p:attrName>ppt_w</p:attrName>
                                        </p:attrNameLst>
                                      </p:cBhvr>
                                      <p:tavLst>
                                        <p:tav tm="0">
                                          <p:val>
                                            <p:strVal val="#ppt_w*0.7"/>
                                          </p:val>
                                        </p:tav>
                                        <p:tav tm="100000">
                                          <p:val>
                                            <p:strVal val="#ppt_w"/>
                                          </p:val>
                                        </p:tav>
                                      </p:tavLst>
                                    </p:anim>
                                    <p:anim calcmode="lin" valueType="num">
                                      <p:cBhvr additive="base">
                                        <p:cTn id="28" dur="450" fill="hold"/>
                                        <p:tgtEl>
                                          <p:spTgt spid="14"/>
                                        </p:tgtEl>
                                        <p:attrNameLst>
                                          <p:attrName>ppt_h</p:attrName>
                                        </p:attrNameLst>
                                      </p:cBhvr>
                                      <p:tavLst>
                                        <p:tav tm="0">
                                          <p:val>
                                            <p:strVal val="#ppt_h*0.7"/>
                                          </p:val>
                                        </p:tav>
                                        <p:tav tm="100000">
                                          <p:val>
                                            <p:strVal val="#ppt_h"/>
                                          </p:val>
                                        </p:tav>
                                      </p:tavLst>
                                    </p:anim>
                                    <p:animEffect transition="in" filter="fade">
                                      <p:cBhvr>
                                        <p:cTn id="29" dur="450"/>
                                        <p:tgtEl>
                                          <p:spTgt spid="14"/>
                                        </p:tgtEl>
                                      </p:cBhvr>
                                    </p:animEffect>
                                  </p:childTnLst>
                                </p:cTn>
                              </p:par>
                              <p:par>
                                <p:cTn id="30" presetID="53" presetClass="entr" presetSubtype="16" fill="hold" grpId="0" nodeType="withEffect">
                                  <p:stCondLst>
                                    <p:cond delay="40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450" fill="hold"/>
                                        <p:tgtEl>
                                          <p:spTgt spid="15"/>
                                        </p:tgtEl>
                                        <p:attrNameLst>
                                          <p:attrName>ppt_w</p:attrName>
                                        </p:attrNameLst>
                                      </p:cBhvr>
                                      <p:tavLst>
                                        <p:tav tm="0">
                                          <p:val>
                                            <p:strVal val="#ppt_w*0.7"/>
                                          </p:val>
                                        </p:tav>
                                        <p:tav tm="100000">
                                          <p:val>
                                            <p:strVal val="#ppt_w"/>
                                          </p:val>
                                        </p:tav>
                                      </p:tavLst>
                                    </p:anim>
                                    <p:anim calcmode="lin" valueType="num">
                                      <p:cBhvr additive="base">
                                        <p:cTn id="33" dur="450" fill="hold"/>
                                        <p:tgtEl>
                                          <p:spTgt spid="15"/>
                                        </p:tgtEl>
                                        <p:attrNameLst>
                                          <p:attrName>ppt_h</p:attrName>
                                        </p:attrNameLst>
                                      </p:cBhvr>
                                      <p:tavLst>
                                        <p:tav tm="0">
                                          <p:val>
                                            <p:strVal val="#ppt_h*0.7"/>
                                          </p:val>
                                        </p:tav>
                                        <p:tav tm="100000">
                                          <p:val>
                                            <p:strVal val="#ppt_h"/>
                                          </p:val>
                                        </p:tav>
                                      </p:tavLst>
                                    </p:anim>
                                    <p:animEffect transition="in" filter="fade">
                                      <p:cBhvr>
                                        <p:cTn id="34" dur="450"/>
                                        <p:tgtEl>
                                          <p:spTgt spid="15"/>
                                        </p:tgtEl>
                                      </p:cBhvr>
                                    </p:animEffect>
                                  </p:childTnLst>
                                </p:cTn>
                              </p:par>
                              <p:par>
                                <p:cTn id="35" presetID="53" presetClass="entr" presetSubtype="16" fill="hold" grpId="0" nodeType="withEffect">
                                  <p:stCondLst>
                                    <p:cond delay="50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450" fill="hold"/>
                                        <p:tgtEl>
                                          <p:spTgt spid="16"/>
                                        </p:tgtEl>
                                        <p:attrNameLst>
                                          <p:attrName>ppt_w</p:attrName>
                                        </p:attrNameLst>
                                      </p:cBhvr>
                                      <p:tavLst>
                                        <p:tav tm="0">
                                          <p:val>
                                            <p:strVal val="#ppt_w*0.7"/>
                                          </p:val>
                                        </p:tav>
                                        <p:tav tm="100000">
                                          <p:val>
                                            <p:strVal val="#ppt_w"/>
                                          </p:val>
                                        </p:tav>
                                      </p:tavLst>
                                    </p:anim>
                                    <p:anim calcmode="lin" valueType="num">
                                      <p:cBhvr additive="base">
                                        <p:cTn id="38" dur="450" fill="hold"/>
                                        <p:tgtEl>
                                          <p:spTgt spid="16"/>
                                        </p:tgtEl>
                                        <p:attrNameLst>
                                          <p:attrName>ppt_h</p:attrName>
                                        </p:attrNameLst>
                                      </p:cBhvr>
                                      <p:tavLst>
                                        <p:tav tm="0">
                                          <p:val>
                                            <p:strVal val="#ppt_h*0.7"/>
                                          </p:val>
                                        </p:tav>
                                        <p:tav tm="100000">
                                          <p:val>
                                            <p:strVal val="#ppt_h"/>
                                          </p:val>
                                        </p:tav>
                                      </p:tavLst>
                                    </p:anim>
                                    <p:animEffect transition="in" filter="fade">
                                      <p:cBhvr>
                                        <p:cTn id="39" dur="450"/>
                                        <p:tgtEl>
                                          <p:spTgt spid="16"/>
                                        </p:tgtEl>
                                      </p:cBhvr>
                                    </p:animEffect>
                                  </p:childTnLst>
                                </p:cTn>
                              </p:par>
                              <p:par>
                                <p:cTn id="40" presetID="53" presetClass="entr" presetSubtype="16" fill="hold" grpId="0" nodeType="withEffect">
                                  <p:stCondLst>
                                    <p:cond delay="50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450" fill="hold"/>
                                        <p:tgtEl>
                                          <p:spTgt spid="17"/>
                                        </p:tgtEl>
                                        <p:attrNameLst>
                                          <p:attrName>ppt_w</p:attrName>
                                        </p:attrNameLst>
                                      </p:cBhvr>
                                      <p:tavLst>
                                        <p:tav tm="0">
                                          <p:val>
                                            <p:strVal val="#ppt_w*0.7"/>
                                          </p:val>
                                        </p:tav>
                                        <p:tav tm="100000">
                                          <p:val>
                                            <p:strVal val="#ppt_w"/>
                                          </p:val>
                                        </p:tav>
                                      </p:tavLst>
                                    </p:anim>
                                    <p:anim calcmode="lin" valueType="num">
                                      <p:cBhvr additive="base">
                                        <p:cTn id="43" dur="450" fill="hold"/>
                                        <p:tgtEl>
                                          <p:spTgt spid="17"/>
                                        </p:tgtEl>
                                        <p:attrNameLst>
                                          <p:attrName>ppt_h</p:attrName>
                                        </p:attrNameLst>
                                      </p:cBhvr>
                                      <p:tavLst>
                                        <p:tav tm="0">
                                          <p:val>
                                            <p:strVal val="#ppt_h*0.7"/>
                                          </p:val>
                                        </p:tav>
                                        <p:tav tm="100000">
                                          <p:val>
                                            <p:strVal val="#ppt_h"/>
                                          </p:val>
                                        </p:tav>
                                      </p:tavLst>
                                    </p:anim>
                                    <p:animEffect transition="in" filter="fade">
                                      <p:cBhvr>
                                        <p:cTn id="44" dur="450"/>
                                        <p:tgtEl>
                                          <p:spTgt spid="17"/>
                                        </p:tgtEl>
                                      </p:cBhvr>
                                    </p:animEffect>
                                  </p:childTnLst>
                                </p:cTn>
                              </p:par>
                              <p:par>
                                <p:cTn id="45" presetID="53" presetClass="entr" presetSubtype="16" fill="hold" grpId="0" nodeType="withEffect">
                                  <p:stCondLst>
                                    <p:cond delay="50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450" fill="hold"/>
                                        <p:tgtEl>
                                          <p:spTgt spid="18"/>
                                        </p:tgtEl>
                                        <p:attrNameLst>
                                          <p:attrName>ppt_w</p:attrName>
                                        </p:attrNameLst>
                                      </p:cBhvr>
                                      <p:tavLst>
                                        <p:tav tm="0">
                                          <p:val>
                                            <p:strVal val="#ppt_w*0.7"/>
                                          </p:val>
                                        </p:tav>
                                        <p:tav tm="100000">
                                          <p:val>
                                            <p:strVal val="#ppt_w"/>
                                          </p:val>
                                        </p:tav>
                                      </p:tavLst>
                                    </p:anim>
                                    <p:anim calcmode="lin" valueType="num">
                                      <p:cBhvr additive="base">
                                        <p:cTn id="48" dur="450" fill="hold"/>
                                        <p:tgtEl>
                                          <p:spTgt spid="18"/>
                                        </p:tgtEl>
                                        <p:attrNameLst>
                                          <p:attrName>ppt_h</p:attrName>
                                        </p:attrNameLst>
                                      </p:cBhvr>
                                      <p:tavLst>
                                        <p:tav tm="0">
                                          <p:val>
                                            <p:strVal val="#ppt_h*0.7"/>
                                          </p:val>
                                        </p:tav>
                                        <p:tav tm="100000">
                                          <p:val>
                                            <p:strVal val="#ppt_h"/>
                                          </p:val>
                                        </p:tav>
                                      </p:tavLst>
                                    </p:anim>
                                    <p:animEffect transition="in" filter="fade">
                                      <p:cBhvr>
                                        <p:cTn id="49" dur="450"/>
                                        <p:tgtEl>
                                          <p:spTgt spid="18"/>
                                        </p:tgtEl>
                                      </p:cBhvr>
                                    </p:animEffect>
                                  </p:childTnLst>
                                </p:cTn>
                              </p:par>
                              <p:par>
                                <p:cTn id="50" presetID="53" presetClass="entr" presetSubtype="16" fill="hold" grpId="0" nodeType="withEffect">
                                  <p:stCondLst>
                                    <p:cond delay="60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450" fill="hold"/>
                                        <p:tgtEl>
                                          <p:spTgt spid="19"/>
                                        </p:tgtEl>
                                        <p:attrNameLst>
                                          <p:attrName>ppt_w</p:attrName>
                                        </p:attrNameLst>
                                      </p:cBhvr>
                                      <p:tavLst>
                                        <p:tav tm="0">
                                          <p:val>
                                            <p:strVal val="#ppt_w*0.7"/>
                                          </p:val>
                                        </p:tav>
                                        <p:tav tm="100000">
                                          <p:val>
                                            <p:strVal val="#ppt_w"/>
                                          </p:val>
                                        </p:tav>
                                      </p:tavLst>
                                    </p:anim>
                                    <p:anim calcmode="lin" valueType="num">
                                      <p:cBhvr additive="base">
                                        <p:cTn id="53" dur="450" fill="hold"/>
                                        <p:tgtEl>
                                          <p:spTgt spid="19"/>
                                        </p:tgtEl>
                                        <p:attrNameLst>
                                          <p:attrName>ppt_h</p:attrName>
                                        </p:attrNameLst>
                                      </p:cBhvr>
                                      <p:tavLst>
                                        <p:tav tm="0">
                                          <p:val>
                                            <p:strVal val="#ppt_h*0.7"/>
                                          </p:val>
                                        </p:tav>
                                        <p:tav tm="100000">
                                          <p:val>
                                            <p:strVal val="#ppt_h"/>
                                          </p:val>
                                        </p:tav>
                                      </p:tavLst>
                                    </p:anim>
                                    <p:animEffect transition="in" filter="fade">
                                      <p:cBhvr>
                                        <p:cTn id="54" dur="450"/>
                                        <p:tgtEl>
                                          <p:spTgt spid="19"/>
                                        </p:tgtEl>
                                      </p:cBhvr>
                                    </p:animEffect>
                                  </p:childTnLst>
                                </p:cTn>
                              </p:par>
                              <p:par>
                                <p:cTn id="55" presetID="53" presetClass="entr" presetSubtype="16" fill="hold" grpId="0" nodeType="withEffect">
                                  <p:stCondLst>
                                    <p:cond delay="60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450" fill="hold"/>
                                        <p:tgtEl>
                                          <p:spTgt spid="20"/>
                                        </p:tgtEl>
                                        <p:attrNameLst>
                                          <p:attrName>ppt_w</p:attrName>
                                        </p:attrNameLst>
                                      </p:cBhvr>
                                      <p:tavLst>
                                        <p:tav tm="0">
                                          <p:val>
                                            <p:strVal val="#ppt_w*0.7"/>
                                          </p:val>
                                        </p:tav>
                                        <p:tav tm="100000">
                                          <p:val>
                                            <p:strVal val="#ppt_w"/>
                                          </p:val>
                                        </p:tav>
                                      </p:tavLst>
                                    </p:anim>
                                    <p:anim calcmode="lin" valueType="num">
                                      <p:cBhvr additive="base">
                                        <p:cTn id="58" dur="450" fill="hold"/>
                                        <p:tgtEl>
                                          <p:spTgt spid="20"/>
                                        </p:tgtEl>
                                        <p:attrNameLst>
                                          <p:attrName>ppt_h</p:attrName>
                                        </p:attrNameLst>
                                      </p:cBhvr>
                                      <p:tavLst>
                                        <p:tav tm="0">
                                          <p:val>
                                            <p:strVal val="#ppt_h*0.7"/>
                                          </p:val>
                                        </p:tav>
                                        <p:tav tm="100000">
                                          <p:val>
                                            <p:strVal val="#ppt_h"/>
                                          </p:val>
                                        </p:tav>
                                      </p:tavLst>
                                    </p:anim>
                                    <p:animEffect transition="in" filter="fade">
                                      <p:cBhvr>
                                        <p:cTn id="59" dur="450"/>
                                        <p:tgtEl>
                                          <p:spTgt spid="20"/>
                                        </p:tgtEl>
                                      </p:cBhvr>
                                    </p:animEffect>
                                  </p:childTnLst>
                                </p:cTn>
                              </p:par>
                              <p:par>
                                <p:cTn id="60" presetID="53" presetClass="entr" presetSubtype="16" fill="hold" grpId="0" nodeType="withEffect">
                                  <p:stCondLst>
                                    <p:cond delay="600"/>
                                  </p:stCondLst>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450" fill="hold"/>
                                        <p:tgtEl>
                                          <p:spTgt spid="21"/>
                                        </p:tgtEl>
                                        <p:attrNameLst>
                                          <p:attrName>ppt_w</p:attrName>
                                        </p:attrNameLst>
                                      </p:cBhvr>
                                      <p:tavLst>
                                        <p:tav tm="0">
                                          <p:val>
                                            <p:strVal val="#ppt_w*0.7"/>
                                          </p:val>
                                        </p:tav>
                                        <p:tav tm="100000">
                                          <p:val>
                                            <p:strVal val="#ppt_w"/>
                                          </p:val>
                                        </p:tav>
                                      </p:tavLst>
                                    </p:anim>
                                    <p:anim calcmode="lin" valueType="num">
                                      <p:cBhvr additive="base">
                                        <p:cTn id="63" dur="450" fill="hold"/>
                                        <p:tgtEl>
                                          <p:spTgt spid="21"/>
                                        </p:tgtEl>
                                        <p:attrNameLst>
                                          <p:attrName>ppt_h</p:attrName>
                                        </p:attrNameLst>
                                      </p:cBhvr>
                                      <p:tavLst>
                                        <p:tav tm="0">
                                          <p:val>
                                            <p:strVal val="#ppt_h*0.7"/>
                                          </p:val>
                                        </p:tav>
                                        <p:tav tm="100000">
                                          <p:val>
                                            <p:strVal val="#ppt_h"/>
                                          </p:val>
                                        </p:tav>
                                      </p:tavLst>
                                    </p:anim>
                                    <p:animEffect transition="in" filter="fade">
                                      <p:cBhvr>
                                        <p:cTn id="64" dur="450"/>
                                        <p:tgtEl>
                                          <p:spTgt spid="21"/>
                                        </p:tgtEl>
                                      </p:cBhvr>
                                    </p:animEffect>
                                  </p:childTnLst>
                                </p:cTn>
                              </p:par>
                              <p:par>
                                <p:cTn id="65" presetID="53" presetClass="entr" presetSubtype="16" fill="hold" grpId="0" nodeType="withEffect">
                                  <p:stCondLst>
                                    <p:cond delay="70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450" fill="hold"/>
                                        <p:tgtEl>
                                          <p:spTgt spid="22"/>
                                        </p:tgtEl>
                                        <p:attrNameLst>
                                          <p:attrName>ppt_w</p:attrName>
                                        </p:attrNameLst>
                                      </p:cBhvr>
                                      <p:tavLst>
                                        <p:tav tm="0">
                                          <p:val>
                                            <p:strVal val="#ppt_w*0.7"/>
                                          </p:val>
                                        </p:tav>
                                        <p:tav tm="100000">
                                          <p:val>
                                            <p:strVal val="#ppt_w"/>
                                          </p:val>
                                        </p:tav>
                                      </p:tavLst>
                                    </p:anim>
                                    <p:anim calcmode="lin" valueType="num">
                                      <p:cBhvr additive="base">
                                        <p:cTn id="68" dur="450" fill="hold"/>
                                        <p:tgtEl>
                                          <p:spTgt spid="22"/>
                                        </p:tgtEl>
                                        <p:attrNameLst>
                                          <p:attrName>ppt_h</p:attrName>
                                        </p:attrNameLst>
                                      </p:cBhvr>
                                      <p:tavLst>
                                        <p:tav tm="0">
                                          <p:val>
                                            <p:strVal val="#ppt_h*0.7"/>
                                          </p:val>
                                        </p:tav>
                                        <p:tav tm="100000">
                                          <p:val>
                                            <p:strVal val="#ppt_h"/>
                                          </p:val>
                                        </p:tav>
                                      </p:tavLst>
                                    </p:anim>
                                    <p:animEffect transition="in" filter="fade">
                                      <p:cBhvr>
                                        <p:cTn id="69" dur="450"/>
                                        <p:tgtEl>
                                          <p:spTgt spid="22"/>
                                        </p:tgtEl>
                                      </p:cBhvr>
                                    </p:animEffect>
                                  </p:childTnLst>
                                </p:cTn>
                              </p:par>
                              <p:par>
                                <p:cTn id="70" presetID="53" presetClass="entr" presetSubtype="16" fill="hold" grpId="0" nodeType="withEffect">
                                  <p:stCondLst>
                                    <p:cond delay="70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450" fill="hold"/>
                                        <p:tgtEl>
                                          <p:spTgt spid="23"/>
                                        </p:tgtEl>
                                        <p:attrNameLst>
                                          <p:attrName>ppt_w</p:attrName>
                                        </p:attrNameLst>
                                      </p:cBhvr>
                                      <p:tavLst>
                                        <p:tav tm="0">
                                          <p:val>
                                            <p:strVal val="#ppt_w*0.7"/>
                                          </p:val>
                                        </p:tav>
                                        <p:tav tm="100000">
                                          <p:val>
                                            <p:strVal val="#ppt_w"/>
                                          </p:val>
                                        </p:tav>
                                      </p:tavLst>
                                    </p:anim>
                                    <p:anim calcmode="lin" valueType="num">
                                      <p:cBhvr additive="base">
                                        <p:cTn id="73" dur="450" fill="hold"/>
                                        <p:tgtEl>
                                          <p:spTgt spid="23"/>
                                        </p:tgtEl>
                                        <p:attrNameLst>
                                          <p:attrName>ppt_h</p:attrName>
                                        </p:attrNameLst>
                                      </p:cBhvr>
                                      <p:tavLst>
                                        <p:tav tm="0">
                                          <p:val>
                                            <p:strVal val="#ppt_h*0.7"/>
                                          </p:val>
                                        </p:tav>
                                        <p:tav tm="100000">
                                          <p:val>
                                            <p:strVal val="#ppt_h"/>
                                          </p:val>
                                        </p:tav>
                                      </p:tavLst>
                                    </p:anim>
                                    <p:animEffect transition="in" filter="fade">
                                      <p:cBhvr>
                                        <p:cTn id="74" dur="450"/>
                                        <p:tgtEl>
                                          <p:spTgt spid="23"/>
                                        </p:tgtEl>
                                      </p:cBhvr>
                                    </p:animEffect>
                                  </p:childTnLst>
                                </p:cTn>
                              </p:par>
                              <p:par>
                                <p:cTn id="75" presetID="53" presetClass="entr" presetSubtype="16" fill="hold" grpId="0" nodeType="withEffect">
                                  <p:stCondLst>
                                    <p:cond delay="70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450" fill="hold"/>
                                        <p:tgtEl>
                                          <p:spTgt spid="24"/>
                                        </p:tgtEl>
                                        <p:attrNameLst>
                                          <p:attrName>ppt_w</p:attrName>
                                        </p:attrNameLst>
                                      </p:cBhvr>
                                      <p:tavLst>
                                        <p:tav tm="0">
                                          <p:val>
                                            <p:strVal val="#ppt_w*0.7"/>
                                          </p:val>
                                        </p:tav>
                                        <p:tav tm="100000">
                                          <p:val>
                                            <p:strVal val="#ppt_w"/>
                                          </p:val>
                                        </p:tav>
                                      </p:tavLst>
                                    </p:anim>
                                    <p:anim calcmode="lin" valueType="num">
                                      <p:cBhvr additive="base">
                                        <p:cTn id="78" dur="450" fill="hold"/>
                                        <p:tgtEl>
                                          <p:spTgt spid="24"/>
                                        </p:tgtEl>
                                        <p:attrNameLst>
                                          <p:attrName>ppt_h</p:attrName>
                                        </p:attrNameLst>
                                      </p:cBhvr>
                                      <p:tavLst>
                                        <p:tav tm="0">
                                          <p:val>
                                            <p:strVal val="#ppt_h*0.7"/>
                                          </p:val>
                                        </p:tav>
                                        <p:tav tm="100000">
                                          <p:val>
                                            <p:strVal val="#ppt_h"/>
                                          </p:val>
                                        </p:tav>
                                      </p:tavLst>
                                    </p:anim>
                                    <p:animEffect transition="in" filter="fade">
                                      <p:cBhvr>
                                        <p:cTn id="79" dur="450"/>
                                        <p:tgtEl>
                                          <p:spTgt spid="24"/>
                                        </p:tgtEl>
                                      </p:cBhvr>
                                    </p:animEffect>
                                  </p:childTnLst>
                                </p:cTn>
                              </p:par>
                              <p:par>
                                <p:cTn id="80" presetID="53" presetClass="entr" presetSubtype="16" fill="hold" grpId="0" nodeType="withEffect">
                                  <p:stCondLst>
                                    <p:cond delay="799"/>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450" fill="hold"/>
                                        <p:tgtEl>
                                          <p:spTgt spid="25"/>
                                        </p:tgtEl>
                                        <p:attrNameLst>
                                          <p:attrName>ppt_w</p:attrName>
                                        </p:attrNameLst>
                                      </p:cBhvr>
                                      <p:tavLst>
                                        <p:tav tm="0">
                                          <p:val>
                                            <p:strVal val="#ppt_w*0.7"/>
                                          </p:val>
                                        </p:tav>
                                        <p:tav tm="100000">
                                          <p:val>
                                            <p:strVal val="#ppt_w"/>
                                          </p:val>
                                        </p:tav>
                                      </p:tavLst>
                                    </p:anim>
                                    <p:anim calcmode="lin" valueType="num">
                                      <p:cBhvr additive="base">
                                        <p:cTn id="83" dur="450" fill="hold"/>
                                        <p:tgtEl>
                                          <p:spTgt spid="25"/>
                                        </p:tgtEl>
                                        <p:attrNameLst>
                                          <p:attrName>ppt_h</p:attrName>
                                        </p:attrNameLst>
                                      </p:cBhvr>
                                      <p:tavLst>
                                        <p:tav tm="0">
                                          <p:val>
                                            <p:strVal val="#ppt_h*0.7"/>
                                          </p:val>
                                        </p:tav>
                                        <p:tav tm="100000">
                                          <p:val>
                                            <p:strVal val="#ppt_h"/>
                                          </p:val>
                                        </p:tav>
                                      </p:tavLst>
                                    </p:anim>
                                    <p:animEffect transition="in" filter="fade">
                                      <p:cBhvr>
                                        <p:cTn id="84" dur="450"/>
                                        <p:tgtEl>
                                          <p:spTgt spid="25"/>
                                        </p:tgtEl>
                                      </p:cBhvr>
                                    </p:animEffect>
                                  </p:childTnLst>
                                </p:cTn>
                              </p:par>
                              <p:par>
                                <p:cTn id="85" presetID="53" presetClass="entr" presetSubtype="16" fill="hold" grpId="0" nodeType="withEffect">
                                  <p:stCondLst>
                                    <p:cond delay="799"/>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450" fill="hold"/>
                                        <p:tgtEl>
                                          <p:spTgt spid="26"/>
                                        </p:tgtEl>
                                        <p:attrNameLst>
                                          <p:attrName>ppt_w</p:attrName>
                                        </p:attrNameLst>
                                      </p:cBhvr>
                                      <p:tavLst>
                                        <p:tav tm="0">
                                          <p:val>
                                            <p:strVal val="#ppt_w*0.7"/>
                                          </p:val>
                                        </p:tav>
                                        <p:tav tm="100000">
                                          <p:val>
                                            <p:strVal val="#ppt_w"/>
                                          </p:val>
                                        </p:tav>
                                      </p:tavLst>
                                    </p:anim>
                                    <p:anim calcmode="lin" valueType="num">
                                      <p:cBhvr additive="base">
                                        <p:cTn id="88" dur="450" fill="hold"/>
                                        <p:tgtEl>
                                          <p:spTgt spid="26"/>
                                        </p:tgtEl>
                                        <p:attrNameLst>
                                          <p:attrName>ppt_h</p:attrName>
                                        </p:attrNameLst>
                                      </p:cBhvr>
                                      <p:tavLst>
                                        <p:tav tm="0">
                                          <p:val>
                                            <p:strVal val="#ppt_h*0.7"/>
                                          </p:val>
                                        </p:tav>
                                        <p:tav tm="100000">
                                          <p:val>
                                            <p:strVal val="#ppt_h"/>
                                          </p:val>
                                        </p:tav>
                                      </p:tavLst>
                                    </p:anim>
                                    <p:animEffect transition="in" filter="fade">
                                      <p:cBhvr>
                                        <p:cTn id="89" dur="450"/>
                                        <p:tgtEl>
                                          <p:spTgt spid="26"/>
                                        </p:tgtEl>
                                      </p:cBhvr>
                                    </p:animEffect>
                                  </p:childTnLst>
                                </p:cTn>
                              </p:par>
                              <p:par>
                                <p:cTn id="90" presetID="53" presetClass="entr" presetSubtype="16" fill="hold" grpId="0" nodeType="withEffect">
                                  <p:stCondLst>
                                    <p:cond delay="799"/>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450" fill="hold"/>
                                        <p:tgtEl>
                                          <p:spTgt spid="27"/>
                                        </p:tgtEl>
                                        <p:attrNameLst>
                                          <p:attrName>ppt_w</p:attrName>
                                        </p:attrNameLst>
                                      </p:cBhvr>
                                      <p:tavLst>
                                        <p:tav tm="0">
                                          <p:val>
                                            <p:strVal val="#ppt_w*0.7"/>
                                          </p:val>
                                        </p:tav>
                                        <p:tav tm="100000">
                                          <p:val>
                                            <p:strVal val="#ppt_w"/>
                                          </p:val>
                                        </p:tav>
                                      </p:tavLst>
                                    </p:anim>
                                    <p:anim calcmode="lin" valueType="num">
                                      <p:cBhvr additive="base">
                                        <p:cTn id="93" dur="450" fill="hold"/>
                                        <p:tgtEl>
                                          <p:spTgt spid="27"/>
                                        </p:tgtEl>
                                        <p:attrNameLst>
                                          <p:attrName>ppt_h</p:attrName>
                                        </p:attrNameLst>
                                      </p:cBhvr>
                                      <p:tavLst>
                                        <p:tav tm="0">
                                          <p:val>
                                            <p:strVal val="#ppt_h*0.7"/>
                                          </p:val>
                                        </p:tav>
                                        <p:tav tm="100000">
                                          <p:val>
                                            <p:strVal val="#ppt_h"/>
                                          </p:val>
                                        </p:tav>
                                      </p:tavLst>
                                    </p:anim>
                                    <p:animEffect transition="in" filter="fade">
                                      <p:cBhvr>
                                        <p:cTn id="94" dur="450"/>
                                        <p:tgtEl>
                                          <p:spTgt spid="27"/>
                                        </p:tgtEl>
                                      </p:cBhvr>
                                    </p:animEffect>
                                  </p:childTnLst>
                                </p:cTn>
                              </p:par>
                              <p:par>
                                <p:cTn id="95" presetID="53" presetClass="entr" presetSubtype="16" fill="hold" grpId="0" nodeType="withEffect">
                                  <p:stCondLst>
                                    <p:cond delay="899"/>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450" fill="hold"/>
                                        <p:tgtEl>
                                          <p:spTgt spid="28"/>
                                        </p:tgtEl>
                                        <p:attrNameLst>
                                          <p:attrName>ppt_w</p:attrName>
                                        </p:attrNameLst>
                                      </p:cBhvr>
                                      <p:tavLst>
                                        <p:tav tm="0">
                                          <p:val>
                                            <p:strVal val="#ppt_w*0.7"/>
                                          </p:val>
                                        </p:tav>
                                        <p:tav tm="100000">
                                          <p:val>
                                            <p:strVal val="#ppt_w"/>
                                          </p:val>
                                        </p:tav>
                                      </p:tavLst>
                                    </p:anim>
                                    <p:anim calcmode="lin" valueType="num">
                                      <p:cBhvr additive="base">
                                        <p:cTn id="98" dur="450" fill="hold"/>
                                        <p:tgtEl>
                                          <p:spTgt spid="28"/>
                                        </p:tgtEl>
                                        <p:attrNameLst>
                                          <p:attrName>ppt_h</p:attrName>
                                        </p:attrNameLst>
                                      </p:cBhvr>
                                      <p:tavLst>
                                        <p:tav tm="0">
                                          <p:val>
                                            <p:strVal val="#ppt_h*0.7"/>
                                          </p:val>
                                        </p:tav>
                                        <p:tav tm="100000">
                                          <p:val>
                                            <p:strVal val="#ppt_h"/>
                                          </p:val>
                                        </p:tav>
                                      </p:tavLst>
                                    </p:anim>
                                    <p:animEffect transition="in" filter="fade">
                                      <p:cBhvr>
                                        <p:cTn id="99" dur="450"/>
                                        <p:tgtEl>
                                          <p:spTgt spid="28"/>
                                        </p:tgtEl>
                                      </p:cBhvr>
                                    </p:animEffect>
                                  </p:childTnLst>
                                </p:cTn>
                              </p:par>
                              <p:par>
                                <p:cTn id="100" presetID="53" presetClass="entr" presetSubtype="16" fill="hold" grpId="0" nodeType="withEffect">
                                  <p:stCondLst>
                                    <p:cond delay="899"/>
                                  </p:stCondLst>
                                  <p:childTnLst>
                                    <p:set>
                                      <p:cBhvr>
                                        <p:cTn id="101" dur="1" fill="hold">
                                          <p:stCondLst>
                                            <p:cond delay="0"/>
                                          </p:stCondLst>
                                        </p:cTn>
                                        <p:tgtEl>
                                          <p:spTgt spid="29"/>
                                        </p:tgtEl>
                                        <p:attrNameLst>
                                          <p:attrName>style.visibility</p:attrName>
                                        </p:attrNameLst>
                                      </p:cBhvr>
                                      <p:to>
                                        <p:strVal val="visible"/>
                                      </p:to>
                                    </p:set>
                                    <p:anim calcmode="lin" valueType="num">
                                      <p:cBhvr additive="base">
                                        <p:cTn id="102" dur="450" fill="hold"/>
                                        <p:tgtEl>
                                          <p:spTgt spid="29"/>
                                        </p:tgtEl>
                                        <p:attrNameLst>
                                          <p:attrName>ppt_w</p:attrName>
                                        </p:attrNameLst>
                                      </p:cBhvr>
                                      <p:tavLst>
                                        <p:tav tm="0">
                                          <p:val>
                                            <p:strVal val="#ppt_w*0.7"/>
                                          </p:val>
                                        </p:tav>
                                        <p:tav tm="100000">
                                          <p:val>
                                            <p:strVal val="#ppt_w"/>
                                          </p:val>
                                        </p:tav>
                                      </p:tavLst>
                                    </p:anim>
                                    <p:anim calcmode="lin" valueType="num">
                                      <p:cBhvr additive="base">
                                        <p:cTn id="103" dur="450" fill="hold"/>
                                        <p:tgtEl>
                                          <p:spTgt spid="29"/>
                                        </p:tgtEl>
                                        <p:attrNameLst>
                                          <p:attrName>ppt_h</p:attrName>
                                        </p:attrNameLst>
                                      </p:cBhvr>
                                      <p:tavLst>
                                        <p:tav tm="0">
                                          <p:val>
                                            <p:strVal val="#ppt_h*0.7"/>
                                          </p:val>
                                        </p:tav>
                                        <p:tav tm="100000">
                                          <p:val>
                                            <p:strVal val="#ppt_h"/>
                                          </p:val>
                                        </p:tav>
                                      </p:tavLst>
                                    </p:anim>
                                    <p:animEffect transition="in" filter="fade">
                                      <p:cBhvr>
                                        <p:cTn id="104" dur="450"/>
                                        <p:tgtEl>
                                          <p:spTgt spid="29"/>
                                        </p:tgtEl>
                                      </p:cBhvr>
                                    </p:animEffect>
                                  </p:childTnLst>
                                </p:cTn>
                              </p:par>
                              <p:par>
                                <p:cTn id="105" presetID="53" presetClass="entr" presetSubtype="16" fill="hold" grpId="0" nodeType="withEffect">
                                  <p:stCondLst>
                                    <p:cond delay="899"/>
                                  </p:stCondLst>
                                  <p:childTnLst>
                                    <p:set>
                                      <p:cBhvr>
                                        <p:cTn id="106" dur="1" fill="hold">
                                          <p:stCondLst>
                                            <p:cond delay="0"/>
                                          </p:stCondLst>
                                        </p:cTn>
                                        <p:tgtEl>
                                          <p:spTgt spid="30"/>
                                        </p:tgtEl>
                                        <p:attrNameLst>
                                          <p:attrName>style.visibility</p:attrName>
                                        </p:attrNameLst>
                                      </p:cBhvr>
                                      <p:to>
                                        <p:strVal val="visible"/>
                                      </p:to>
                                    </p:set>
                                    <p:anim calcmode="lin" valueType="num">
                                      <p:cBhvr additive="base">
                                        <p:cTn id="107" dur="450" fill="hold"/>
                                        <p:tgtEl>
                                          <p:spTgt spid="30"/>
                                        </p:tgtEl>
                                        <p:attrNameLst>
                                          <p:attrName>ppt_w</p:attrName>
                                        </p:attrNameLst>
                                      </p:cBhvr>
                                      <p:tavLst>
                                        <p:tav tm="0">
                                          <p:val>
                                            <p:strVal val="#ppt_w*0.7"/>
                                          </p:val>
                                        </p:tav>
                                        <p:tav tm="100000">
                                          <p:val>
                                            <p:strVal val="#ppt_w"/>
                                          </p:val>
                                        </p:tav>
                                      </p:tavLst>
                                    </p:anim>
                                    <p:anim calcmode="lin" valueType="num">
                                      <p:cBhvr additive="base">
                                        <p:cTn id="108" dur="450" fill="hold"/>
                                        <p:tgtEl>
                                          <p:spTgt spid="30"/>
                                        </p:tgtEl>
                                        <p:attrNameLst>
                                          <p:attrName>ppt_h</p:attrName>
                                        </p:attrNameLst>
                                      </p:cBhvr>
                                      <p:tavLst>
                                        <p:tav tm="0">
                                          <p:val>
                                            <p:strVal val="#ppt_h*0.7"/>
                                          </p:val>
                                        </p:tav>
                                        <p:tav tm="100000">
                                          <p:val>
                                            <p:strVal val="#ppt_h"/>
                                          </p:val>
                                        </p:tav>
                                      </p:tavLst>
                                    </p:anim>
                                    <p:animEffect transition="in" filter="fade">
                                      <p:cBhvr>
                                        <p:cTn id="109" dur="450"/>
                                        <p:tgtEl>
                                          <p:spTgt spid="30"/>
                                        </p:tgtEl>
                                      </p:cBhvr>
                                    </p:animEffect>
                                  </p:childTnLst>
                                </p:cTn>
                              </p:par>
                              <p:par>
                                <p:cTn id="110" presetID="53" presetClass="entr" presetSubtype="16" fill="hold" grpId="0" nodeType="withEffect">
                                  <p:stCondLst>
                                    <p:cond delay="999"/>
                                  </p:stCondLst>
                                  <p:childTnLst>
                                    <p:set>
                                      <p:cBhvr>
                                        <p:cTn id="111" dur="1" fill="hold">
                                          <p:stCondLst>
                                            <p:cond delay="0"/>
                                          </p:stCondLst>
                                        </p:cTn>
                                        <p:tgtEl>
                                          <p:spTgt spid="31"/>
                                        </p:tgtEl>
                                        <p:attrNameLst>
                                          <p:attrName>style.visibility</p:attrName>
                                        </p:attrNameLst>
                                      </p:cBhvr>
                                      <p:to>
                                        <p:strVal val="visible"/>
                                      </p:to>
                                    </p:set>
                                    <p:anim calcmode="lin" valueType="num">
                                      <p:cBhvr additive="base">
                                        <p:cTn id="112" dur="450" fill="hold"/>
                                        <p:tgtEl>
                                          <p:spTgt spid="31"/>
                                        </p:tgtEl>
                                        <p:attrNameLst>
                                          <p:attrName>ppt_w</p:attrName>
                                        </p:attrNameLst>
                                      </p:cBhvr>
                                      <p:tavLst>
                                        <p:tav tm="0">
                                          <p:val>
                                            <p:strVal val="#ppt_w*0.7"/>
                                          </p:val>
                                        </p:tav>
                                        <p:tav tm="100000">
                                          <p:val>
                                            <p:strVal val="#ppt_w"/>
                                          </p:val>
                                        </p:tav>
                                      </p:tavLst>
                                    </p:anim>
                                    <p:anim calcmode="lin" valueType="num">
                                      <p:cBhvr additive="base">
                                        <p:cTn id="113" dur="450" fill="hold"/>
                                        <p:tgtEl>
                                          <p:spTgt spid="31"/>
                                        </p:tgtEl>
                                        <p:attrNameLst>
                                          <p:attrName>ppt_h</p:attrName>
                                        </p:attrNameLst>
                                      </p:cBhvr>
                                      <p:tavLst>
                                        <p:tav tm="0">
                                          <p:val>
                                            <p:strVal val="#ppt_h*0.7"/>
                                          </p:val>
                                        </p:tav>
                                        <p:tav tm="100000">
                                          <p:val>
                                            <p:strVal val="#ppt_h"/>
                                          </p:val>
                                        </p:tav>
                                      </p:tavLst>
                                    </p:anim>
                                    <p:animEffect transition="in" filter="fade">
                                      <p:cBhvr>
                                        <p:cTn id="114" dur="450"/>
                                        <p:tgtEl>
                                          <p:spTgt spid="31"/>
                                        </p:tgtEl>
                                      </p:cBhvr>
                                    </p:animEffect>
                                  </p:childTnLst>
                                </p:cTn>
                              </p:par>
                              <p:par>
                                <p:cTn id="115" presetID="53" presetClass="entr" presetSubtype="16" fill="hold" grpId="0" nodeType="withEffect">
                                  <p:stCondLst>
                                    <p:cond delay="999"/>
                                  </p:stCondLst>
                                  <p:childTnLst>
                                    <p:set>
                                      <p:cBhvr>
                                        <p:cTn id="116" dur="1" fill="hold">
                                          <p:stCondLst>
                                            <p:cond delay="0"/>
                                          </p:stCondLst>
                                        </p:cTn>
                                        <p:tgtEl>
                                          <p:spTgt spid="32"/>
                                        </p:tgtEl>
                                        <p:attrNameLst>
                                          <p:attrName>style.visibility</p:attrName>
                                        </p:attrNameLst>
                                      </p:cBhvr>
                                      <p:to>
                                        <p:strVal val="visible"/>
                                      </p:to>
                                    </p:set>
                                    <p:anim calcmode="lin" valueType="num">
                                      <p:cBhvr additive="base">
                                        <p:cTn id="117" dur="450" fill="hold"/>
                                        <p:tgtEl>
                                          <p:spTgt spid="32"/>
                                        </p:tgtEl>
                                        <p:attrNameLst>
                                          <p:attrName>ppt_w</p:attrName>
                                        </p:attrNameLst>
                                      </p:cBhvr>
                                      <p:tavLst>
                                        <p:tav tm="0">
                                          <p:val>
                                            <p:strVal val="#ppt_w*0.7"/>
                                          </p:val>
                                        </p:tav>
                                        <p:tav tm="100000">
                                          <p:val>
                                            <p:strVal val="#ppt_w"/>
                                          </p:val>
                                        </p:tav>
                                      </p:tavLst>
                                    </p:anim>
                                    <p:anim calcmode="lin" valueType="num">
                                      <p:cBhvr additive="base">
                                        <p:cTn id="118" dur="450" fill="hold"/>
                                        <p:tgtEl>
                                          <p:spTgt spid="32"/>
                                        </p:tgtEl>
                                        <p:attrNameLst>
                                          <p:attrName>ppt_h</p:attrName>
                                        </p:attrNameLst>
                                      </p:cBhvr>
                                      <p:tavLst>
                                        <p:tav tm="0">
                                          <p:val>
                                            <p:strVal val="#ppt_h*0.7"/>
                                          </p:val>
                                        </p:tav>
                                        <p:tav tm="100000">
                                          <p:val>
                                            <p:strVal val="#ppt_h"/>
                                          </p:val>
                                        </p:tav>
                                      </p:tavLst>
                                    </p:anim>
                                    <p:animEffect transition="in" filter="fade">
                                      <p:cBhvr>
                                        <p:cTn id="119" dur="450"/>
                                        <p:tgtEl>
                                          <p:spTgt spid="32"/>
                                        </p:tgtEl>
                                      </p:cBhvr>
                                    </p:animEffect>
                                  </p:childTnLst>
                                </p:cTn>
                              </p:par>
                              <p:par>
                                <p:cTn id="120" presetID="53" presetClass="entr" presetSubtype="16" fill="hold" grpId="0" nodeType="withEffect">
                                  <p:stCondLst>
                                    <p:cond delay="999"/>
                                  </p:stCondLst>
                                  <p:childTnLst>
                                    <p:set>
                                      <p:cBhvr>
                                        <p:cTn id="121" dur="1" fill="hold">
                                          <p:stCondLst>
                                            <p:cond delay="0"/>
                                          </p:stCondLst>
                                        </p:cTn>
                                        <p:tgtEl>
                                          <p:spTgt spid="33"/>
                                        </p:tgtEl>
                                        <p:attrNameLst>
                                          <p:attrName>style.visibility</p:attrName>
                                        </p:attrNameLst>
                                      </p:cBhvr>
                                      <p:to>
                                        <p:strVal val="visible"/>
                                      </p:to>
                                    </p:set>
                                    <p:anim calcmode="lin" valueType="num">
                                      <p:cBhvr additive="base">
                                        <p:cTn id="122" dur="450" fill="hold"/>
                                        <p:tgtEl>
                                          <p:spTgt spid="33"/>
                                        </p:tgtEl>
                                        <p:attrNameLst>
                                          <p:attrName>ppt_w</p:attrName>
                                        </p:attrNameLst>
                                      </p:cBhvr>
                                      <p:tavLst>
                                        <p:tav tm="0">
                                          <p:val>
                                            <p:strVal val="#ppt_w*0.7"/>
                                          </p:val>
                                        </p:tav>
                                        <p:tav tm="100000">
                                          <p:val>
                                            <p:strVal val="#ppt_w"/>
                                          </p:val>
                                        </p:tav>
                                      </p:tavLst>
                                    </p:anim>
                                    <p:anim calcmode="lin" valueType="num">
                                      <p:cBhvr additive="base">
                                        <p:cTn id="123" dur="450" fill="hold"/>
                                        <p:tgtEl>
                                          <p:spTgt spid="33"/>
                                        </p:tgtEl>
                                        <p:attrNameLst>
                                          <p:attrName>ppt_h</p:attrName>
                                        </p:attrNameLst>
                                      </p:cBhvr>
                                      <p:tavLst>
                                        <p:tav tm="0">
                                          <p:val>
                                            <p:strVal val="#ppt_h*0.7"/>
                                          </p:val>
                                        </p:tav>
                                        <p:tav tm="100000">
                                          <p:val>
                                            <p:strVal val="#ppt_h"/>
                                          </p:val>
                                        </p:tav>
                                      </p:tavLst>
                                    </p:anim>
                                    <p:animEffect transition="in" filter="fade">
                                      <p:cBhvr>
                                        <p:cTn id="124" dur="450"/>
                                        <p:tgtEl>
                                          <p:spTgt spid="33"/>
                                        </p:tgtEl>
                                      </p:cBhvr>
                                    </p:animEffect>
                                  </p:childTnLst>
                                </p:cTn>
                              </p:par>
                              <p:par>
                                <p:cTn id="125" presetID="53" presetClass="entr" presetSubtype="16" fill="hold" grpId="0" nodeType="withEffect">
                                  <p:stCondLst>
                                    <p:cond delay="1099"/>
                                  </p:stCondLst>
                                  <p:childTnLst>
                                    <p:set>
                                      <p:cBhvr>
                                        <p:cTn id="126" dur="1" fill="hold">
                                          <p:stCondLst>
                                            <p:cond delay="0"/>
                                          </p:stCondLst>
                                        </p:cTn>
                                        <p:tgtEl>
                                          <p:spTgt spid="34"/>
                                        </p:tgtEl>
                                        <p:attrNameLst>
                                          <p:attrName>style.visibility</p:attrName>
                                        </p:attrNameLst>
                                      </p:cBhvr>
                                      <p:to>
                                        <p:strVal val="visible"/>
                                      </p:to>
                                    </p:set>
                                    <p:anim calcmode="lin" valueType="num">
                                      <p:cBhvr additive="base">
                                        <p:cTn id="127" dur="450" fill="hold"/>
                                        <p:tgtEl>
                                          <p:spTgt spid="34"/>
                                        </p:tgtEl>
                                        <p:attrNameLst>
                                          <p:attrName>ppt_w</p:attrName>
                                        </p:attrNameLst>
                                      </p:cBhvr>
                                      <p:tavLst>
                                        <p:tav tm="0">
                                          <p:val>
                                            <p:strVal val="#ppt_w*0.7"/>
                                          </p:val>
                                        </p:tav>
                                        <p:tav tm="100000">
                                          <p:val>
                                            <p:strVal val="#ppt_w"/>
                                          </p:val>
                                        </p:tav>
                                      </p:tavLst>
                                    </p:anim>
                                    <p:anim calcmode="lin" valueType="num">
                                      <p:cBhvr additive="base">
                                        <p:cTn id="128" dur="450" fill="hold"/>
                                        <p:tgtEl>
                                          <p:spTgt spid="34"/>
                                        </p:tgtEl>
                                        <p:attrNameLst>
                                          <p:attrName>ppt_h</p:attrName>
                                        </p:attrNameLst>
                                      </p:cBhvr>
                                      <p:tavLst>
                                        <p:tav tm="0">
                                          <p:val>
                                            <p:strVal val="#ppt_h*0.7"/>
                                          </p:val>
                                        </p:tav>
                                        <p:tav tm="100000">
                                          <p:val>
                                            <p:strVal val="#ppt_h"/>
                                          </p:val>
                                        </p:tav>
                                      </p:tavLst>
                                    </p:anim>
                                    <p:animEffect transition="in" filter="fade">
                                      <p:cBhvr>
                                        <p:cTn id="129" dur="450"/>
                                        <p:tgtEl>
                                          <p:spTgt spid="34"/>
                                        </p:tgtEl>
                                      </p:cBhvr>
                                    </p:animEffect>
                                  </p:childTnLst>
                                </p:cTn>
                              </p:par>
                              <p:par>
                                <p:cTn id="130" presetID="53" presetClass="entr" presetSubtype="16" fill="hold" grpId="0" nodeType="withEffect">
                                  <p:stCondLst>
                                    <p:cond delay="1099"/>
                                  </p:stCondLst>
                                  <p:childTnLst>
                                    <p:set>
                                      <p:cBhvr>
                                        <p:cTn id="131" dur="1" fill="hold">
                                          <p:stCondLst>
                                            <p:cond delay="0"/>
                                          </p:stCondLst>
                                        </p:cTn>
                                        <p:tgtEl>
                                          <p:spTgt spid="35"/>
                                        </p:tgtEl>
                                        <p:attrNameLst>
                                          <p:attrName>style.visibility</p:attrName>
                                        </p:attrNameLst>
                                      </p:cBhvr>
                                      <p:to>
                                        <p:strVal val="visible"/>
                                      </p:to>
                                    </p:set>
                                    <p:anim calcmode="lin" valueType="num">
                                      <p:cBhvr additive="base">
                                        <p:cTn id="132" dur="450" fill="hold"/>
                                        <p:tgtEl>
                                          <p:spTgt spid="35"/>
                                        </p:tgtEl>
                                        <p:attrNameLst>
                                          <p:attrName>ppt_w</p:attrName>
                                        </p:attrNameLst>
                                      </p:cBhvr>
                                      <p:tavLst>
                                        <p:tav tm="0">
                                          <p:val>
                                            <p:strVal val="#ppt_w*0.7"/>
                                          </p:val>
                                        </p:tav>
                                        <p:tav tm="100000">
                                          <p:val>
                                            <p:strVal val="#ppt_w"/>
                                          </p:val>
                                        </p:tav>
                                      </p:tavLst>
                                    </p:anim>
                                    <p:anim calcmode="lin" valueType="num">
                                      <p:cBhvr additive="base">
                                        <p:cTn id="133" dur="450" fill="hold"/>
                                        <p:tgtEl>
                                          <p:spTgt spid="35"/>
                                        </p:tgtEl>
                                        <p:attrNameLst>
                                          <p:attrName>ppt_h</p:attrName>
                                        </p:attrNameLst>
                                      </p:cBhvr>
                                      <p:tavLst>
                                        <p:tav tm="0">
                                          <p:val>
                                            <p:strVal val="#ppt_h*0.7"/>
                                          </p:val>
                                        </p:tav>
                                        <p:tav tm="100000">
                                          <p:val>
                                            <p:strVal val="#ppt_h"/>
                                          </p:val>
                                        </p:tav>
                                      </p:tavLst>
                                    </p:anim>
                                    <p:animEffect transition="in" filter="fade">
                                      <p:cBhvr>
                                        <p:cTn id="134" dur="450"/>
                                        <p:tgtEl>
                                          <p:spTgt spid="35"/>
                                        </p:tgtEl>
                                      </p:cBhvr>
                                    </p:animEffect>
                                  </p:childTnLst>
                                </p:cTn>
                              </p:par>
                              <p:par>
                                <p:cTn id="135" presetID="53" presetClass="entr" presetSubtype="16" fill="hold" grpId="0" nodeType="withEffect">
                                  <p:stCondLst>
                                    <p:cond delay="1099"/>
                                  </p:stCondLst>
                                  <p:childTnLst>
                                    <p:set>
                                      <p:cBhvr>
                                        <p:cTn id="136" dur="1" fill="hold">
                                          <p:stCondLst>
                                            <p:cond delay="0"/>
                                          </p:stCondLst>
                                        </p:cTn>
                                        <p:tgtEl>
                                          <p:spTgt spid="36"/>
                                        </p:tgtEl>
                                        <p:attrNameLst>
                                          <p:attrName>style.visibility</p:attrName>
                                        </p:attrNameLst>
                                      </p:cBhvr>
                                      <p:to>
                                        <p:strVal val="visible"/>
                                      </p:to>
                                    </p:set>
                                    <p:anim calcmode="lin" valueType="num">
                                      <p:cBhvr additive="base">
                                        <p:cTn id="137" dur="450" fill="hold"/>
                                        <p:tgtEl>
                                          <p:spTgt spid="36"/>
                                        </p:tgtEl>
                                        <p:attrNameLst>
                                          <p:attrName>ppt_w</p:attrName>
                                        </p:attrNameLst>
                                      </p:cBhvr>
                                      <p:tavLst>
                                        <p:tav tm="0">
                                          <p:val>
                                            <p:strVal val="#ppt_w*0.7"/>
                                          </p:val>
                                        </p:tav>
                                        <p:tav tm="100000">
                                          <p:val>
                                            <p:strVal val="#ppt_w"/>
                                          </p:val>
                                        </p:tav>
                                      </p:tavLst>
                                    </p:anim>
                                    <p:anim calcmode="lin" valueType="num">
                                      <p:cBhvr additive="base">
                                        <p:cTn id="138" dur="450" fill="hold"/>
                                        <p:tgtEl>
                                          <p:spTgt spid="36"/>
                                        </p:tgtEl>
                                        <p:attrNameLst>
                                          <p:attrName>ppt_h</p:attrName>
                                        </p:attrNameLst>
                                      </p:cBhvr>
                                      <p:tavLst>
                                        <p:tav tm="0">
                                          <p:val>
                                            <p:strVal val="#ppt_h*0.7"/>
                                          </p:val>
                                        </p:tav>
                                        <p:tav tm="100000">
                                          <p:val>
                                            <p:strVal val="#ppt_h"/>
                                          </p:val>
                                        </p:tav>
                                      </p:tavLst>
                                    </p:anim>
                                    <p:animEffect transition="in" filter="fade">
                                      <p:cBhvr>
                                        <p:cTn id="139"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P spid="33" grpId="0" animBg="1"/>
      <p:bldP spid="35" grpId="0" animBg="1"/>
      <p:bldP spid="36"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left.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pic>
        <p:nvPicPr>
          <p:cNvPr id="8" name="!!logo" descr="logo_stp.png"/>
          <p:cNvPicPr>
            <a:picLocks noChangeAspect="1"/>
          </p:cNvPicPr>
          <p:nvPr/>
        </p:nvPicPr>
        <p:blipFill>
          <a:blip r:embed="rId8"/>
          <a:stretch>
            <a:fillRect/>
          </a:stretch>
        </p:blipFill>
        <p:spPr>
          <a:xfrm>
            <a:off x="10024567" y="384048"/>
            <a:ext cx="420624" cy="420624"/>
          </a:xfrm>
          <a:prstGeom prst="rect">
            <a:avLst/>
          </a:prstGeom>
        </p:spPr>
      </p:pic>
      <p:sp>
        <p:nvSpPr>
          <p:cNvPr id="9"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0" name="TextBox 9"/>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21</a:t>
            </a:r>
          </a:p>
        </p:txBody>
      </p:sp>
      <p:pic>
        <p:nvPicPr>
          <p:cNvPr id="11" name="!!map" descr="vn_dark.png"/>
          <p:cNvPicPr>
            <a:picLocks noChangeAspect="1"/>
          </p:cNvPicPr>
          <p:nvPr/>
        </p:nvPicPr>
        <p:blipFill>
          <a:blip r:embed="rId9"/>
          <a:srcRect/>
          <a:stretch>
            <a:fillRect/>
          </a:stretch>
        </p:blipFill>
        <p:spPr>
          <a:xfrm>
            <a:off x="320040" y="498015"/>
            <a:ext cx="5669280" cy="5999129"/>
          </a:xfrm>
          <a:prstGeom prst="rect">
            <a:avLst/>
          </a:prstGeom>
        </p:spPr>
      </p:pic>
      <p:pic>
        <p:nvPicPr>
          <p:cNvPr id="12" name="Picture 11" descr="glow_7FC211_70_1.7.png"/>
          <p:cNvPicPr>
            <a:picLocks noChangeAspect="1"/>
          </p:cNvPicPr>
          <p:nvPr/>
        </p:nvPicPr>
        <p:blipFill>
          <a:blip r:embed="rId10"/>
          <a:stretch>
            <a:fillRect/>
          </a:stretch>
        </p:blipFill>
        <p:spPr>
          <a:xfrm>
            <a:off x="1225412" y="969954"/>
            <a:ext cx="1005840" cy="1005840"/>
          </a:xfrm>
          <a:prstGeom prst="rect">
            <a:avLst/>
          </a:prstGeom>
        </p:spPr>
      </p:pic>
      <p:sp>
        <p:nvSpPr>
          <p:cNvPr id="13" name="Oval 12"/>
          <p:cNvSpPr/>
          <p:nvPr/>
        </p:nvSpPr>
        <p:spPr>
          <a:xfrm>
            <a:off x="1554596" y="1299138"/>
            <a:ext cx="347472" cy="347472"/>
          </a:xfrm>
          <a:prstGeom prst="ellipse">
            <a:avLst/>
          </a:prstGeom>
          <a:solidFill>
            <a:srgbClr val="8FD11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000" b="0" i="0">
                <a:solidFill>
                  <a:srgbClr val="04120C"/>
                </a:solidFill>
                <a:latin typeface="Be Vietnam Pro ExtraBold"/>
                <a:ea typeface="Be Vietnam Pro ExtraBold"/>
                <a:cs typeface="Be Vietnam Pro ExtraBold"/>
              </a:rPr>
              <a:t>1</a:t>
            </a:r>
          </a:p>
        </p:txBody>
      </p:sp>
      <p:pic>
        <p:nvPicPr>
          <p:cNvPr id="14" name="Picture 13" descr="glow_7FC211_70_1.7.png"/>
          <p:cNvPicPr>
            <a:picLocks noChangeAspect="1"/>
          </p:cNvPicPr>
          <p:nvPr/>
        </p:nvPicPr>
        <p:blipFill>
          <a:blip r:embed="rId10"/>
          <a:stretch>
            <a:fillRect/>
          </a:stretch>
        </p:blipFill>
        <p:spPr>
          <a:xfrm>
            <a:off x="2449544" y="4254477"/>
            <a:ext cx="1005840" cy="1005840"/>
          </a:xfrm>
          <a:prstGeom prst="rect">
            <a:avLst/>
          </a:prstGeom>
        </p:spPr>
      </p:pic>
      <p:sp>
        <p:nvSpPr>
          <p:cNvPr id="15" name="Oval 14"/>
          <p:cNvSpPr/>
          <p:nvPr/>
        </p:nvSpPr>
        <p:spPr>
          <a:xfrm>
            <a:off x="2778728" y="4583661"/>
            <a:ext cx="347472" cy="347472"/>
          </a:xfrm>
          <a:prstGeom prst="ellipse">
            <a:avLst/>
          </a:prstGeom>
          <a:solidFill>
            <a:srgbClr val="8FD11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000" b="0" i="0">
                <a:solidFill>
                  <a:srgbClr val="04120C"/>
                </a:solidFill>
                <a:latin typeface="Be Vietnam Pro ExtraBold"/>
                <a:ea typeface="Be Vietnam Pro ExtraBold"/>
                <a:cs typeface="Be Vietnam Pro ExtraBold"/>
              </a:rPr>
              <a:t>2</a:t>
            </a:r>
          </a:p>
        </p:txBody>
      </p:sp>
      <p:pic>
        <p:nvPicPr>
          <p:cNvPr id="16" name="Picture 15" descr="glow_7FC211_70_1.7.png"/>
          <p:cNvPicPr>
            <a:picLocks noChangeAspect="1"/>
          </p:cNvPicPr>
          <p:nvPr/>
        </p:nvPicPr>
        <p:blipFill>
          <a:blip r:embed="rId10"/>
          <a:stretch>
            <a:fillRect/>
          </a:stretch>
        </p:blipFill>
        <p:spPr>
          <a:xfrm>
            <a:off x="1550403" y="4794399"/>
            <a:ext cx="1005840" cy="1005840"/>
          </a:xfrm>
          <a:prstGeom prst="rect">
            <a:avLst/>
          </a:prstGeom>
        </p:spPr>
      </p:pic>
      <p:sp>
        <p:nvSpPr>
          <p:cNvPr id="17" name="Oval 16"/>
          <p:cNvSpPr/>
          <p:nvPr/>
        </p:nvSpPr>
        <p:spPr>
          <a:xfrm>
            <a:off x="1879587" y="5123583"/>
            <a:ext cx="347472" cy="347472"/>
          </a:xfrm>
          <a:prstGeom prst="ellipse">
            <a:avLst/>
          </a:prstGeom>
          <a:solidFill>
            <a:srgbClr val="8FD11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000" b="0" i="0">
                <a:solidFill>
                  <a:srgbClr val="04120C"/>
                </a:solidFill>
                <a:latin typeface="Be Vietnam Pro ExtraBold"/>
                <a:ea typeface="Be Vietnam Pro ExtraBold"/>
                <a:cs typeface="Be Vietnam Pro ExtraBold"/>
              </a:rPr>
              <a:t>3</a:t>
            </a:r>
          </a:p>
        </p:txBody>
      </p:sp>
      <p:sp>
        <p:nvSpPr>
          <p:cNvPr id="18" name="TextBox 17"/>
          <p:cNvSpPr txBox="1"/>
          <p:nvPr/>
        </p:nvSpPr>
        <p:spPr>
          <a:xfrm>
            <a:off x="3642166" y="2691447"/>
            <a:ext cx="1463040" cy="274320"/>
          </a:xfrm>
          <a:prstGeom prst="rect">
            <a:avLst/>
          </a:prstGeom>
          <a:noFill/>
        </p:spPr>
        <p:txBody>
          <a:bodyPr wrap="none" lIns="0" rIns="0" tIns="0" bIns="0" anchor="t">
            <a:noAutofit/>
          </a:bodyPr>
          <a:lstStyle/>
          <a:p>
            <a:pPr algn="l">
              <a:lnSpc>
                <a:spcPct val="115000"/>
              </a:lnSpc>
              <a:spcAft>
                <a:spcPts val="0"/>
              </a:spcAft>
            </a:pPr>
            <a:r>
              <a:rPr sz="1050" b="0" i="0">
                <a:solidFill>
                  <a:srgbClr val="8FD11E"/>
                </a:solidFill>
                <a:latin typeface="Be Vietnam Pro SemiBold"/>
                <a:ea typeface="Be Vietnam Pro SemiBold"/>
                <a:cs typeface="Be Vietnam Pro SemiBold"/>
              </a:rPr>
              <a:t>QĐ. Hoàng Sa</a:t>
            </a:r>
          </a:p>
        </p:txBody>
      </p:sp>
      <p:sp>
        <p:nvSpPr>
          <p:cNvPr id="19" name="TextBox 18"/>
          <p:cNvSpPr txBox="1"/>
          <p:nvPr/>
        </p:nvSpPr>
        <p:spPr>
          <a:xfrm>
            <a:off x="4147707" y="4716153"/>
            <a:ext cx="1463040" cy="274320"/>
          </a:xfrm>
          <a:prstGeom prst="rect">
            <a:avLst/>
          </a:prstGeom>
          <a:noFill/>
        </p:spPr>
        <p:txBody>
          <a:bodyPr wrap="none" lIns="0" rIns="0" tIns="0" bIns="0" anchor="t">
            <a:noAutofit/>
          </a:bodyPr>
          <a:lstStyle/>
          <a:p>
            <a:pPr algn="l">
              <a:lnSpc>
                <a:spcPct val="115000"/>
              </a:lnSpc>
              <a:spcAft>
                <a:spcPts val="0"/>
              </a:spcAft>
            </a:pPr>
            <a:r>
              <a:rPr sz="1050" b="0" i="0">
                <a:solidFill>
                  <a:srgbClr val="8FD11E"/>
                </a:solidFill>
                <a:latin typeface="Be Vietnam Pro SemiBold"/>
                <a:ea typeface="Be Vietnam Pro SemiBold"/>
                <a:cs typeface="Be Vietnam Pro SemiBold"/>
              </a:rPr>
              <a:t>QĐ. Trường Sa</a:t>
            </a:r>
          </a:p>
        </p:txBody>
      </p:sp>
      <p:sp>
        <p:nvSpPr>
          <p:cNvPr id="20" name="!!kicker"/>
          <p:cNvSpPr txBox="1"/>
          <p:nvPr/>
        </p:nvSpPr>
        <p:spPr>
          <a:xfrm>
            <a:off x="6400800" y="502920"/>
            <a:ext cx="5105095"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HỆ THỐNG VĂN PHÒNG</a:t>
            </a:r>
          </a:p>
        </p:txBody>
      </p:sp>
      <p:sp>
        <p:nvSpPr>
          <p:cNvPr id="21" name="!!title"/>
          <p:cNvSpPr txBox="1"/>
          <p:nvPr/>
        </p:nvSpPr>
        <p:spPr>
          <a:xfrm>
            <a:off x="6400800" y="850392"/>
            <a:ext cx="5105095" cy="983488"/>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Sẵn sàng đồng hành </a:t>
            </a:r>
            <a:r>
              <a:rPr sz="3200" b="0" i="0">
                <a:solidFill>
                  <a:srgbClr val="8FD11E"/>
                </a:solidFill>
                <a:latin typeface="Be Vietnam Pro ExtraBold"/>
                <a:ea typeface="Be Vietnam Pro ExtraBold"/>
                <a:cs typeface="Be Vietnam Pro ExtraBold"/>
              </a:rPr>
              <a:t>trên cả nước</a:t>
            </a:r>
          </a:p>
        </p:txBody>
      </p:sp>
      <p:sp>
        <p:nvSpPr>
          <p:cNvPr id="22" name="Rounded Rectangle 21"/>
          <p:cNvSpPr/>
          <p:nvPr/>
        </p:nvSpPr>
        <p:spPr>
          <a:xfrm>
            <a:off x="6400800" y="2194560"/>
            <a:ext cx="5105095" cy="1234440"/>
          </a:xfrm>
          <a:prstGeom prst="roundRect">
            <a:avLst>
              <a:gd name="adj" fmla="val 11851"/>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3" name="Oval 22"/>
          <p:cNvSpPr/>
          <p:nvPr/>
        </p:nvSpPr>
        <p:spPr>
          <a:xfrm>
            <a:off x="6629400" y="2395728"/>
            <a:ext cx="402336" cy="402336"/>
          </a:xfrm>
          <a:prstGeom prst="ellipse">
            <a:avLst/>
          </a:prstGeom>
          <a:solidFill>
            <a:srgbClr val="8FD11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200" b="0" i="0">
                <a:solidFill>
                  <a:srgbClr val="04120C"/>
                </a:solidFill>
                <a:latin typeface="Be Vietnam Pro ExtraBold"/>
                <a:ea typeface="Be Vietnam Pro ExtraBold"/>
                <a:cs typeface="Be Vietnam Pro ExtraBold"/>
              </a:rPr>
              <a:t>1</a:t>
            </a:r>
          </a:p>
        </p:txBody>
      </p:sp>
      <p:sp>
        <p:nvSpPr>
          <p:cNvPr id="24" name="TextBox 23"/>
          <p:cNvSpPr txBox="1"/>
          <p:nvPr/>
        </p:nvSpPr>
        <p:spPr>
          <a:xfrm>
            <a:off x="7223760" y="2331720"/>
            <a:ext cx="4144975" cy="384048"/>
          </a:xfrm>
          <a:prstGeom prst="rect">
            <a:avLst/>
          </a:prstGeom>
          <a:noFill/>
        </p:spPr>
        <p:txBody>
          <a:bodyPr wrap="square" lIns="0" rIns="0" tIns="0" bIns="0" anchor="ctr">
            <a:noAutofit/>
          </a:bodyPr>
          <a:lstStyle/>
          <a:p>
            <a:pPr algn="l">
              <a:lnSpc>
                <a:spcPct val="115000"/>
              </a:lnSpc>
              <a:spcAft>
                <a:spcPts val="0"/>
              </a:spcAft>
            </a:pPr>
            <a:r>
              <a:rPr sz="1550" b="0" i="0">
                <a:solidFill>
                  <a:srgbClr val="FFFFFF"/>
                </a:solidFill>
                <a:latin typeface="Be Vietnam Pro SemiBold"/>
                <a:ea typeface="Be Vietnam Pro SemiBold"/>
                <a:cs typeface="Be Vietnam Pro SemiBold"/>
              </a:rPr>
              <a:t>Trụ sở Hà Nội</a:t>
            </a:r>
          </a:p>
        </p:txBody>
      </p:sp>
      <p:sp>
        <p:nvSpPr>
          <p:cNvPr id="25" name="TextBox 24"/>
          <p:cNvSpPr txBox="1"/>
          <p:nvPr/>
        </p:nvSpPr>
        <p:spPr>
          <a:xfrm>
            <a:off x="7223760" y="2724912"/>
            <a:ext cx="4144975" cy="667512"/>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Tầng 12, Tòa nhà Diamond Flower, 48 Lê Văn Lương, phường Yên Hòa, TP. Hà Nội</a:t>
            </a:r>
          </a:p>
        </p:txBody>
      </p:sp>
      <p:sp>
        <p:nvSpPr>
          <p:cNvPr id="26" name="Rounded Rectangle 25"/>
          <p:cNvSpPr/>
          <p:nvPr/>
        </p:nvSpPr>
        <p:spPr>
          <a:xfrm>
            <a:off x="6400800" y="3593592"/>
            <a:ext cx="5105095" cy="1234440"/>
          </a:xfrm>
          <a:prstGeom prst="roundRect">
            <a:avLst>
              <a:gd name="adj" fmla="val 11851"/>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7" name="Oval 26"/>
          <p:cNvSpPr/>
          <p:nvPr/>
        </p:nvSpPr>
        <p:spPr>
          <a:xfrm>
            <a:off x="6629400" y="3794760"/>
            <a:ext cx="402336" cy="402336"/>
          </a:xfrm>
          <a:prstGeom prst="ellipse">
            <a:avLst/>
          </a:prstGeom>
          <a:solidFill>
            <a:srgbClr val="8FD11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200" b="0" i="0">
                <a:solidFill>
                  <a:srgbClr val="04120C"/>
                </a:solidFill>
                <a:latin typeface="Be Vietnam Pro ExtraBold"/>
                <a:ea typeface="Be Vietnam Pro ExtraBold"/>
                <a:cs typeface="Be Vietnam Pro ExtraBold"/>
              </a:rPr>
              <a:t>2</a:t>
            </a:r>
          </a:p>
        </p:txBody>
      </p:sp>
      <p:sp>
        <p:nvSpPr>
          <p:cNvPr id="28" name="TextBox 27"/>
          <p:cNvSpPr txBox="1"/>
          <p:nvPr/>
        </p:nvSpPr>
        <p:spPr>
          <a:xfrm>
            <a:off x="7223760" y="3730752"/>
            <a:ext cx="4144975" cy="384048"/>
          </a:xfrm>
          <a:prstGeom prst="rect">
            <a:avLst/>
          </a:prstGeom>
          <a:noFill/>
        </p:spPr>
        <p:txBody>
          <a:bodyPr wrap="square" lIns="0" rIns="0" tIns="0" bIns="0" anchor="ctr">
            <a:noAutofit/>
          </a:bodyPr>
          <a:lstStyle/>
          <a:p>
            <a:pPr algn="l">
              <a:lnSpc>
                <a:spcPct val="115000"/>
              </a:lnSpc>
              <a:spcAft>
                <a:spcPts val="0"/>
              </a:spcAft>
            </a:pPr>
            <a:r>
              <a:rPr sz="1550" b="0" i="0">
                <a:solidFill>
                  <a:srgbClr val="FFFFFF"/>
                </a:solidFill>
                <a:latin typeface="Be Vietnam Pro SemiBold"/>
                <a:ea typeface="Be Vietnam Pro SemiBold"/>
                <a:cs typeface="Be Vietnam Pro SemiBold"/>
              </a:rPr>
              <a:t>Văn phòng Nha Trang</a:t>
            </a:r>
          </a:p>
        </p:txBody>
      </p:sp>
      <p:sp>
        <p:nvSpPr>
          <p:cNvPr id="29" name="TextBox 28"/>
          <p:cNvSpPr txBox="1"/>
          <p:nvPr/>
        </p:nvSpPr>
        <p:spPr>
          <a:xfrm>
            <a:off x="7223760" y="4123944"/>
            <a:ext cx="4144975" cy="667512"/>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B19-03 Khu đô thị An Bình Tân, phường Nam Nha Trang, tỉnh Khánh Hòa</a:t>
            </a:r>
          </a:p>
        </p:txBody>
      </p:sp>
      <p:sp>
        <p:nvSpPr>
          <p:cNvPr id="30" name="Rounded Rectangle 29"/>
          <p:cNvSpPr/>
          <p:nvPr/>
        </p:nvSpPr>
        <p:spPr>
          <a:xfrm>
            <a:off x="6400800" y="4992624"/>
            <a:ext cx="5105095" cy="1234440"/>
          </a:xfrm>
          <a:prstGeom prst="roundRect">
            <a:avLst>
              <a:gd name="adj" fmla="val 11851"/>
            </a:avLst>
          </a:prstGeom>
          <a:solidFill>
            <a:srgbClr val="FFFFFF">
              <a:alpha val="7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1" name="Oval 30"/>
          <p:cNvSpPr/>
          <p:nvPr/>
        </p:nvSpPr>
        <p:spPr>
          <a:xfrm>
            <a:off x="6629400" y="5193792"/>
            <a:ext cx="402336" cy="402336"/>
          </a:xfrm>
          <a:prstGeom prst="ellipse">
            <a:avLst/>
          </a:prstGeom>
          <a:solidFill>
            <a:srgbClr val="8FD11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200" b="0" i="0">
                <a:solidFill>
                  <a:srgbClr val="04120C"/>
                </a:solidFill>
                <a:latin typeface="Be Vietnam Pro ExtraBold"/>
                <a:ea typeface="Be Vietnam Pro ExtraBold"/>
                <a:cs typeface="Be Vietnam Pro ExtraBold"/>
              </a:rPr>
              <a:t>3</a:t>
            </a:r>
          </a:p>
        </p:txBody>
      </p:sp>
      <p:sp>
        <p:nvSpPr>
          <p:cNvPr id="32" name="TextBox 31"/>
          <p:cNvSpPr txBox="1"/>
          <p:nvPr/>
        </p:nvSpPr>
        <p:spPr>
          <a:xfrm>
            <a:off x="7223760" y="5129784"/>
            <a:ext cx="4144975" cy="384048"/>
          </a:xfrm>
          <a:prstGeom prst="rect">
            <a:avLst/>
          </a:prstGeom>
          <a:noFill/>
        </p:spPr>
        <p:txBody>
          <a:bodyPr wrap="square" lIns="0" rIns="0" tIns="0" bIns="0" anchor="ctr">
            <a:noAutofit/>
          </a:bodyPr>
          <a:lstStyle/>
          <a:p>
            <a:pPr algn="l">
              <a:lnSpc>
                <a:spcPct val="115000"/>
              </a:lnSpc>
              <a:spcAft>
                <a:spcPts val="0"/>
              </a:spcAft>
            </a:pPr>
            <a:r>
              <a:rPr sz="1550" b="0" i="0">
                <a:solidFill>
                  <a:srgbClr val="FFFFFF"/>
                </a:solidFill>
                <a:latin typeface="Be Vietnam Pro SemiBold"/>
                <a:ea typeface="Be Vietnam Pro SemiBold"/>
                <a:cs typeface="Be Vietnam Pro SemiBold"/>
              </a:rPr>
              <a:t>Trung tâm tuyển sinh TP.HCM</a:t>
            </a:r>
          </a:p>
        </p:txBody>
      </p:sp>
      <p:sp>
        <p:nvSpPr>
          <p:cNvPr id="33" name="TextBox 32"/>
          <p:cNvSpPr txBox="1"/>
          <p:nvPr/>
        </p:nvSpPr>
        <p:spPr>
          <a:xfrm>
            <a:off x="7223760" y="5522976"/>
            <a:ext cx="4144975" cy="667512"/>
          </a:xfrm>
          <a:prstGeom prst="rect">
            <a:avLst/>
          </a:prstGeom>
          <a:noFill/>
        </p:spPr>
        <p:txBody>
          <a:bodyPr wrap="square" lIns="0" rIns="0" tIns="0" bIns="0" anchor="t">
            <a:noAutofit/>
          </a:bodyPr>
          <a:lstStyle/>
          <a:p>
            <a:pPr algn="l">
              <a:lnSpc>
                <a:spcPct val="112000"/>
              </a:lnSpc>
              <a:spcAft>
                <a:spcPts val="0"/>
              </a:spcAft>
            </a:pPr>
            <a:r>
              <a:rPr sz="1200" b="0" i="0">
                <a:solidFill>
                  <a:srgbClr val="C9D8CE"/>
                </a:solidFill>
                <a:latin typeface="Be Vietnam Pro"/>
                <a:ea typeface="Be Vietnam Pro"/>
                <a:cs typeface="Be Vietnam Pro"/>
              </a:rPr>
              <a:t>Số 28, đường D9, KDC Carric, phường An Khánh, TP. Hồ Chí Minh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800"/>
                                        <p:tgtEl>
                                          <p:spTgt spid="11"/>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32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withEffect">
                                  <p:stCondLst>
                                    <p:cond delay="70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53" presetClass="entr" presetSubtype="16" fill="hold" grpId="0" nodeType="withEffect">
                                  <p:stCondLst>
                                    <p:cond delay="80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400" fill="hold"/>
                                        <p:tgtEl>
                                          <p:spTgt spid="12"/>
                                        </p:tgtEl>
                                        <p:attrNameLst>
                                          <p:attrName>ppt_w</p:attrName>
                                        </p:attrNameLst>
                                      </p:cBhvr>
                                      <p:tavLst>
                                        <p:tav tm="0">
                                          <p:val>
                                            <p:strVal val="#ppt_w*0.7"/>
                                          </p:val>
                                        </p:tav>
                                        <p:tav tm="100000">
                                          <p:val>
                                            <p:strVal val="#ppt_w"/>
                                          </p:val>
                                        </p:tav>
                                      </p:tavLst>
                                    </p:anim>
                                    <p:anim calcmode="lin" valueType="num">
                                      <p:cBhvr additive="base">
                                        <p:cTn id="32" dur="400" fill="hold"/>
                                        <p:tgtEl>
                                          <p:spTgt spid="12"/>
                                        </p:tgtEl>
                                        <p:attrNameLst>
                                          <p:attrName>ppt_h</p:attrName>
                                        </p:attrNameLst>
                                      </p:cBhvr>
                                      <p:tavLst>
                                        <p:tav tm="0">
                                          <p:val>
                                            <p:strVal val="#ppt_h*0.7"/>
                                          </p:val>
                                        </p:tav>
                                        <p:tav tm="100000">
                                          <p:val>
                                            <p:strVal val="#ppt_h"/>
                                          </p:val>
                                        </p:tav>
                                      </p:tavLst>
                                    </p:anim>
                                    <p:animEffect transition="in" filter="fade">
                                      <p:cBhvr>
                                        <p:cTn id="33" dur="400"/>
                                        <p:tgtEl>
                                          <p:spTgt spid="12"/>
                                        </p:tgtEl>
                                      </p:cBhvr>
                                    </p:animEffect>
                                  </p:childTnLst>
                                </p:cTn>
                              </p:par>
                              <p:par>
                                <p:cTn id="34" presetID="53" presetClass="entr" presetSubtype="16" fill="hold" grpId="0" nodeType="withEffect">
                                  <p:stCondLst>
                                    <p:cond delay="80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400" fill="hold"/>
                                        <p:tgtEl>
                                          <p:spTgt spid="13"/>
                                        </p:tgtEl>
                                        <p:attrNameLst>
                                          <p:attrName>ppt_w</p:attrName>
                                        </p:attrNameLst>
                                      </p:cBhvr>
                                      <p:tavLst>
                                        <p:tav tm="0">
                                          <p:val>
                                            <p:strVal val="#ppt_w*0.7"/>
                                          </p:val>
                                        </p:tav>
                                        <p:tav tm="100000">
                                          <p:val>
                                            <p:strVal val="#ppt_w"/>
                                          </p:val>
                                        </p:tav>
                                      </p:tavLst>
                                    </p:anim>
                                    <p:anim calcmode="lin" valueType="num">
                                      <p:cBhvr additive="base">
                                        <p:cTn id="37" dur="400" fill="hold"/>
                                        <p:tgtEl>
                                          <p:spTgt spid="13"/>
                                        </p:tgtEl>
                                        <p:attrNameLst>
                                          <p:attrName>ppt_h</p:attrName>
                                        </p:attrNameLst>
                                      </p:cBhvr>
                                      <p:tavLst>
                                        <p:tav tm="0">
                                          <p:val>
                                            <p:strVal val="#ppt_h*0.7"/>
                                          </p:val>
                                        </p:tav>
                                        <p:tav tm="100000">
                                          <p:val>
                                            <p:strVal val="#ppt_h"/>
                                          </p:val>
                                        </p:tav>
                                      </p:tavLst>
                                    </p:anim>
                                    <p:animEffect transition="in" filter="fade">
                                      <p:cBhvr>
                                        <p:cTn id="38" dur="400"/>
                                        <p:tgtEl>
                                          <p:spTgt spid="13"/>
                                        </p:tgtEl>
                                      </p:cBhvr>
                                    </p:animEffect>
                                  </p:childTnLst>
                                </p:cTn>
                              </p:par>
                              <p:par>
                                <p:cTn id="39" presetID="2" presetClass="entr" presetSubtype="2" fill="hold" grpId="0" nodeType="withEffect">
                                  <p:stCondLst>
                                    <p:cond delay="90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450" fill="hold"/>
                                        <p:tgtEl>
                                          <p:spTgt spid="22"/>
                                        </p:tgtEl>
                                        <p:attrNameLst>
                                          <p:attrName>ppt_x</p:attrName>
                                        </p:attrNameLst>
                                      </p:cBhvr>
                                      <p:tavLst>
                                        <p:tav tm="0">
                                          <p:val>
                                            <p:strVal val="1+#ppt_w/2"/>
                                          </p:val>
                                        </p:tav>
                                        <p:tav tm="100000">
                                          <p:val>
                                            <p:strVal val="#ppt_x"/>
                                          </p:val>
                                        </p:tav>
                                      </p:tavLst>
                                    </p:anim>
                                    <p:anim calcmode="lin" valueType="num">
                                      <p:cBhvr additive="base">
                                        <p:cTn id="42" dur="450" fill="hold"/>
                                        <p:tgtEl>
                                          <p:spTgt spid="22"/>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90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450" fill="hold"/>
                                        <p:tgtEl>
                                          <p:spTgt spid="23"/>
                                        </p:tgtEl>
                                        <p:attrNameLst>
                                          <p:attrName>ppt_x</p:attrName>
                                        </p:attrNameLst>
                                      </p:cBhvr>
                                      <p:tavLst>
                                        <p:tav tm="0">
                                          <p:val>
                                            <p:strVal val="1+#ppt_w/2"/>
                                          </p:val>
                                        </p:tav>
                                        <p:tav tm="100000">
                                          <p:val>
                                            <p:strVal val="#ppt_x"/>
                                          </p:val>
                                        </p:tav>
                                      </p:tavLst>
                                    </p:anim>
                                    <p:anim calcmode="lin" valueType="num">
                                      <p:cBhvr additive="base">
                                        <p:cTn id="46" dur="450" fill="hold"/>
                                        <p:tgtEl>
                                          <p:spTgt spid="23"/>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90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450" fill="hold"/>
                                        <p:tgtEl>
                                          <p:spTgt spid="24"/>
                                        </p:tgtEl>
                                        <p:attrNameLst>
                                          <p:attrName>ppt_x</p:attrName>
                                        </p:attrNameLst>
                                      </p:cBhvr>
                                      <p:tavLst>
                                        <p:tav tm="0">
                                          <p:val>
                                            <p:strVal val="1+#ppt_w/2"/>
                                          </p:val>
                                        </p:tav>
                                        <p:tav tm="100000">
                                          <p:val>
                                            <p:strVal val="#ppt_x"/>
                                          </p:val>
                                        </p:tav>
                                      </p:tavLst>
                                    </p:anim>
                                    <p:anim calcmode="lin" valueType="num">
                                      <p:cBhvr additive="base">
                                        <p:cTn id="50" dur="450" fill="hold"/>
                                        <p:tgtEl>
                                          <p:spTgt spid="24"/>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900"/>
                                  </p:stCondLst>
                                  <p:childTnLst>
                                    <p:set>
                                      <p:cBhvr>
                                        <p:cTn id="52" dur="1" fill="hold">
                                          <p:stCondLst>
                                            <p:cond delay="0"/>
                                          </p:stCondLst>
                                        </p:cTn>
                                        <p:tgtEl>
                                          <p:spTgt spid="25"/>
                                        </p:tgtEl>
                                        <p:attrNameLst>
                                          <p:attrName>style.visibility</p:attrName>
                                        </p:attrNameLst>
                                      </p:cBhvr>
                                      <p:to>
                                        <p:strVal val="visible"/>
                                      </p:to>
                                    </p:set>
                                    <p:anim calcmode="lin" valueType="num">
                                      <p:cBhvr additive="base">
                                        <p:cTn id="53" dur="450" fill="hold"/>
                                        <p:tgtEl>
                                          <p:spTgt spid="25"/>
                                        </p:tgtEl>
                                        <p:attrNameLst>
                                          <p:attrName>ppt_x</p:attrName>
                                        </p:attrNameLst>
                                      </p:cBhvr>
                                      <p:tavLst>
                                        <p:tav tm="0">
                                          <p:val>
                                            <p:strVal val="1+#ppt_w/2"/>
                                          </p:val>
                                        </p:tav>
                                        <p:tav tm="100000">
                                          <p:val>
                                            <p:strVal val="#ppt_x"/>
                                          </p:val>
                                        </p:tav>
                                      </p:tavLst>
                                    </p:anim>
                                    <p:anim calcmode="lin" valueType="num">
                                      <p:cBhvr additive="base">
                                        <p:cTn id="54" dur="450" fill="hold"/>
                                        <p:tgtEl>
                                          <p:spTgt spid="25"/>
                                        </p:tgtEl>
                                        <p:attrNameLst>
                                          <p:attrName>ppt_y</p:attrName>
                                        </p:attrNameLst>
                                      </p:cBhvr>
                                      <p:tavLst>
                                        <p:tav tm="0">
                                          <p:val>
                                            <p:strVal val="#ppt_y"/>
                                          </p:val>
                                        </p:tav>
                                        <p:tav tm="100000">
                                          <p:val>
                                            <p:strVal val="#ppt_y"/>
                                          </p:val>
                                        </p:tav>
                                      </p:tavLst>
                                    </p:anim>
                                  </p:childTnLst>
                                </p:cTn>
                              </p:par>
                              <p:par>
                                <p:cTn id="55" presetID="53" presetClass="entr" presetSubtype="16" fill="hold" grpId="0" nodeType="withEffect">
                                  <p:stCondLst>
                                    <p:cond delay="100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400" fill="hold"/>
                                        <p:tgtEl>
                                          <p:spTgt spid="14"/>
                                        </p:tgtEl>
                                        <p:attrNameLst>
                                          <p:attrName>ppt_w</p:attrName>
                                        </p:attrNameLst>
                                      </p:cBhvr>
                                      <p:tavLst>
                                        <p:tav tm="0">
                                          <p:val>
                                            <p:strVal val="#ppt_w*0.7"/>
                                          </p:val>
                                        </p:tav>
                                        <p:tav tm="100000">
                                          <p:val>
                                            <p:strVal val="#ppt_w"/>
                                          </p:val>
                                        </p:tav>
                                      </p:tavLst>
                                    </p:anim>
                                    <p:anim calcmode="lin" valueType="num">
                                      <p:cBhvr additive="base">
                                        <p:cTn id="58" dur="400" fill="hold"/>
                                        <p:tgtEl>
                                          <p:spTgt spid="14"/>
                                        </p:tgtEl>
                                        <p:attrNameLst>
                                          <p:attrName>ppt_h</p:attrName>
                                        </p:attrNameLst>
                                      </p:cBhvr>
                                      <p:tavLst>
                                        <p:tav tm="0">
                                          <p:val>
                                            <p:strVal val="#ppt_h*0.7"/>
                                          </p:val>
                                        </p:tav>
                                        <p:tav tm="100000">
                                          <p:val>
                                            <p:strVal val="#ppt_h"/>
                                          </p:val>
                                        </p:tav>
                                      </p:tavLst>
                                    </p:anim>
                                    <p:animEffect transition="in" filter="fade">
                                      <p:cBhvr>
                                        <p:cTn id="59" dur="400"/>
                                        <p:tgtEl>
                                          <p:spTgt spid="14"/>
                                        </p:tgtEl>
                                      </p:cBhvr>
                                    </p:animEffect>
                                  </p:childTnLst>
                                </p:cTn>
                              </p:par>
                              <p:par>
                                <p:cTn id="60" presetID="53" presetClass="entr" presetSubtype="16" fill="hold" grpId="0" nodeType="withEffect">
                                  <p:stCondLst>
                                    <p:cond delay="100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400" fill="hold"/>
                                        <p:tgtEl>
                                          <p:spTgt spid="15"/>
                                        </p:tgtEl>
                                        <p:attrNameLst>
                                          <p:attrName>ppt_w</p:attrName>
                                        </p:attrNameLst>
                                      </p:cBhvr>
                                      <p:tavLst>
                                        <p:tav tm="0">
                                          <p:val>
                                            <p:strVal val="#ppt_w*0.7"/>
                                          </p:val>
                                        </p:tav>
                                        <p:tav tm="100000">
                                          <p:val>
                                            <p:strVal val="#ppt_w"/>
                                          </p:val>
                                        </p:tav>
                                      </p:tavLst>
                                    </p:anim>
                                    <p:anim calcmode="lin" valueType="num">
                                      <p:cBhvr additive="base">
                                        <p:cTn id="63" dur="400" fill="hold"/>
                                        <p:tgtEl>
                                          <p:spTgt spid="15"/>
                                        </p:tgtEl>
                                        <p:attrNameLst>
                                          <p:attrName>ppt_h</p:attrName>
                                        </p:attrNameLst>
                                      </p:cBhvr>
                                      <p:tavLst>
                                        <p:tav tm="0">
                                          <p:val>
                                            <p:strVal val="#ppt_h*0.7"/>
                                          </p:val>
                                        </p:tav>
                                        <p:tav tm="100000">
                                          <p:val>
                                            <p:strVal val="#ppt_h"/>
                                          </p:val>
                                        </p:tav>
                                      </p:tavLst>
                                    </p:anim>
                                    <p:animEffect transition="in" filter="fade">
                                      <p:cBhvr>
                                        <p:cTn id="64" dur="400"/>
                                        <p:tgtEl>
                                          <p:spTgt spid="15"/>
                                        </p:tgtEl>
                                      </p:cBhvr>
                                    </p:animEffect>
                                  </p:childTnLst>
                                </p:cTn>
                              </p:par>
                              <p:par>
                                <p:cTn id="65" presetID="2" presetClass="entr" presetSubtype="2" fill="hold" grpId="0" nodeType="withEffect">
                                  <p:stCondLst>
                                    <p:cond delay="1080"/>
                                  </p:stCondLst>
                                  <p:childTnLst>
                                    <p:set>
                                      <p:cBhvr>
                                        <p:cTn id="66" dur="1" fill="hold">
                                          <p:stCondLst>
                                            <p:cond delay="0"/>
                                          </p:stCondLst>
                                        </p:cTn>
                                        <p:tgtEl>
                                          <p:spTgt spid="26"/>
                                        </p:tgtEl>
                                        <p:attrNameLst>
                                          <p:attrName>style.visibility</p:attrName>
                                        </p:attrNameLst>
                                      </p:cBhvr>
                                      <p:to>
                                        <p:strVal val="visible"/>
                                      </p:to>
                                    </p:set>
                                    <p:anim calcmode="lin" valueType="num">
                                      <p:cBhvr additive="base">
                                        <p:cTn id="67" dur="450" fill="hold"/>
                                        <p:tgtEl>
                                          <p:spTgt spid="26"/>
                                        </p:tgtEl>
                                        <p:attrNameLst>
                                          <p:attrName>ppt_x</p:attrName>
                                        </p:attrNameLst>
                                      </p:cBhvr>
                                      <p:tavLst>
                                        <p:tav tm="0">
                                          <p:val>
                                            <p:strVal val="1+#ppt_w/2"/>
                                          </p:val>
                                        </p:tav>
                                        <p:tav tm="100000">
                                          <p:val>
                                            <p:strVal val="#ppt_x"/>
                                          </p:val>
                                        </p:tav>
                                      </p:tavLst>
                                    </p:anim>
                                    <p:anim calcmode="lin" valueType="num">
                                      <p:cBhvr additive="base">
                                        <p:cTn id="68" dur="450" fill="hold"/>
                                        <p:tgtEl>
                                          <p:spTgt spid="26"/>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1080"/>
                                  </p:stCondLst>
                                  <p:childTnLst>
                                    <p:set>
                                      <p:cBhvr>
                                        <p:cTn id="70" dur="1" fill="hold">
                                          <p:stCondLst>
                                            <p:cond delay="0"/>
                                          </p:stCondLst>
                                        </p:cTn>
                                        <p:tgtEl>
                                          <p:spTgt spid="27"/>
                                        </p:tgtEl>
                                        <p:attrNameLst>
                                          <p:attrName>style.visibility</p:attrName>
                                        </p:attrNameLst>
                                      </p:cBhvr>
                                      <p:to>
                                        <p:strVal val="visible"/>
                                      </p:to>
                                    </p:set>
                                    <p:anim calcmode="lin" valueType="num">
                                      <p:cBhvr additive="base">
                                        <p:cTn id="71" dur="450" fill="hold"/>
                                        <p:tgtEl>
                                          <p:spTgt spid="27"/>
                                        </p:tgtEl>
                                        <p:attrNameLst>
                                          <p:attrName>ppt_x</p:attrName>
                                        </p:attrNameLst>
                                      </p:cBhvr>
                                      <p:tavLst>
                                        <p:tav tm="0">
                                          <p:val>
                                            <p:strVal val="1+#ppt_w/2"/>
                                          </p:val>
                                        </p:tav>
                                        <p:tav tm="100000">
                                          <p:val>
                                            <p:strVal val="#ppt_x"/>
                                          </p:val>
                                        </p:tav>
                                      </p:tavLst>
                                    </p:anim>
                                    <p:anim calcmode="lin" valueType="num">
                                      <p:cBhvr additive="base">
                                        <p:cTn id="72" dur="450" fill="hold"/>
                                        <p:tgtEl>
                                          <p:spTgt spid="27"/>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1080"/>
                                  </p:stCondLst>
                                  <p:childTnLst>
                                    <p:set>
                                      <p:cBhvr>
                                        <p:cTn id="74" dur="1" fill="hold">
                                          <p:stCondLst>
                                            <p:cond delay="0"/>
                                          </p:stCondLst>
                                        </p:cTn>
                                        <p:tgtEl>
                                          <p:spTgt spid="28"/>
                                        </p:tgtEl>
                                        <p:attrNameLst>
                                          <p:attrName>style.visibility</p:attrName>
                                        </p:attrNameLst>
                                      </p:cBhvr>
                                      <p:to>
                                        <p:strVal val="visible"/>
                                      </p:to>
                                    </p:set>
                                    <p:anim calcmode="lin" valueType="num">
                                      <p:cBhvr additive="base">
                                        <p:cTn id="75" dur="450" fill="hold"/>
                                        <p:tgtEl>
                                          <p:spTgt spid="28"/>
                                        </p:tgtEl>
                                        <p:attrNameLst>
                                          <p:attrName>ppt_x</p:attrName>
                                        </p:attrNameLst>
                                      </p:cBhvr>
                                      <p:tavLst>
                                        <p:tav tm="0">
                                          <p:val>
                                            <p:strVal val="1+#ppt_w/2"/>
                                          </p:val>
                                        </p:tav>
                                        <p:tav tm="100000">
                                          <p:val>
                                            <p:strVal val="#ppt_x"/>
                                          </p:val>
                                        </p:tav>
                                      </p:tavLst>
                                    </p:anim>
                                    <p:anim calcmode="lin" valueType="num">
                                      <p:cBhvr additive="base">
                                        <p:cTn id="76" dur="450" fill="hold"/>
                                        <p:tgtEl>
                                          <p:spTgt spid="28"/>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1080"/>
                                  </p:stCondLst>
                                  <p:childTnLst>
                                    <p:set>
                                      <p:cBhvr>
                                        <p:cTn id="78" dur="1" fill="hold">
                                          <p:stCondLst>
                                            <p:cond delay="0"/>
                                          </p:stCondLst>
                                        </p:cTn>
                                        <p:tgtEl>
                                          <p:spTgt spid="29"/>
                                        </p:tgtEl>
                                        <p:attrNameLst>
                                          <p:attrName>style.visibility</p:attrName>
                                        </p:attrNameLst>
                                      </p:cBhvr>
                                      <p:to>
                                        <p:strVal val="visible"/>
                                      </p:to>
                                    </p:set>
                                    <p:anim calcmode="lin" valueType="num">
                                      <p:cBhvr additive="base">
                                        <p:cTn id="79" dur="450" fill="hold"/>
                                        <p:tgtEl>
                                          <p:spTgt spid="29"/>
                                        </p:tgtEl>
                                        <p:attrNameLst>
                                          <p:attrName>ppt_x</p:attrName>
                                        </p:attrNameLst>
                                      </p:cBhvr>
                                      <p:tavLst>
                                        <p:tav tm="0">
                                          <p:val>
                                            <p:strVal val="1+#ppt_w/2"/>
                                          </p:val>
                                        </p:tav>
                                        <p:tav tm="100000">
                                          <p:val>
                                            <p:strVal val="#ppt_x"/>
                                          </p:val>
                                        </p:tav>
                                      </p:tavLst>
                                    </p:anim>
                                    <p:anim calcmode="lin" valueType="num">
                                      <p:cBhvr additive="base">
                                        <p:cTn id="80" dur="450" fill="hold"/>
                                        <p:tgtEl>
                                          <p:spTgt spid="29"/>
                                        </p:tgtEl>
                                        <p:attrNameLst>
                                          <p:attrName>ppt_y</p:attrName>
                                        </p:attrNameLst>
                                      </p:cBhvr>
                                      <p:tavLst>
                                        <p:tav tm="0">
                                          <p:val>
                                            <p:strVal val="#ppt_y"/>
                                          </p:val>
                                        </p:tav>
                                        <p:tav tm="100000">
                                          <p:val>
                                            <p:strVal val="#ppt_y"/>
                                          </p:val>
                                        </p:tav>
                                      </p:tavLst>
                                    </p:anim>
                                  </p:childTnLst>
                                </p:cTn>
                              </p:par>
                              <p:par>
                                <p:cTn id="81" presetID="53" presetClass="entr" presetSubtype="16" fill="hold" grpId="0" nodeType="withEffect">
                                  <p:stCondLst>
                                    <p:cond delay="1200"/>
                                  </p:stCondLst>
                                  <p:childTnLst>
                                    <p:set>
                                      <p:cBhvr>
                                        <p:cTn id="82" dur="1" fill="hold">
                                          <p:stCondLst>
                                            <p:cond delay="0"/>
                                          </p:stCondLst>
                                        </p:cTn>
                                        <p:tgtEl>
                                          <p:spTgt spid="16"/>
                                        </p:tgtEl>
                                        <p:attrNameLst>
                                          <p:attrName>style.visibility</p:attrName>
                                        </p:attrNameLst>
                                      </p:cBhvr>
                                      <p:to>
                                        <p:strVal val="visible"/>
                                      </p:to>
                                    </p:set>
                                    <p:anim calcmode="lin" valueType="num">
                                      <p:cBhvr additive="base">
                                        <p:cTn id="83" dur="400" fill="hold"/>
                                        <p:tgtEl>
                                          <p:spTgt spid="16"/>
                                        </p:tgtEl>
                                        <p:attrNameLst>
                                          <p:attrName>ppt_w</p:attrName>
                                        </p:attrNameLst>
                                      </p:cBhvr>
                                      <p:tavLst>
                                        <p:tav tm="0">
                                          <p:val>
                                            <p:strVal val="#ppt_w*0.7"/>
                                          </p:val>
                                        </p:tav>
                                        <p:tav tm="100000">
                                          <p:val>
                                            <p:strVal val="#ppt_w"/>
                                          </p:val>
                                        </p:tav>
                                      </p:tavLst>
                                    </p:anim>
                                    <p:anim calcmode="lin" valueType="num">
                                      <p:cBhvr additive="base">
                                        <p:cTn id="84" dur="400" fill="hold"/>
                                        <p:tgtEl>
                                          <p:spTgt spid="16"/>
                                        </p:tgtEl>
                                        <p:attrNameLst>
                                          <p:attrName>ppt_h</p:attrName>
                                        </p:attrNameLst>
                                      </p:cBhvr>
                                      <p:tavLst>
                                        <p:tav tm="0">
                                          <p:val>
                                            <p:strVal val="#ppt_h*0.7"/>
                                          </p:val>
                                        </p:tav>
                                        <p:tav tm="100000">
                                          <p:val>
                                            <p:strVal val="#ppt_h"/>
                                          </p:val>
                                        </p:tav>
                                      </p:tavLst>
                                    </p:anim>
                                    <p:animEffect transition="in" filter="fade">
                                      <p:cBhvr>
                                        <p:cTn id="85" dur="400"/>
                                        <p:tgtEl>
                                          <p:spTgt spid="16"/>
                                        </p:tgtEl>
                                      </p:cBhvr>
                                    </p:animEffect>
                                  </p:childTnLst>
                                </p:cTn>
                              </p:par>
                              <p:par>
                                <p:cTn id="86" presetID="53" presetClass="entr" presetSubtype="16" fill="hold" grpId="0" nodeType="withEffect">
                                  <p:stCondLst>
                                    <p:cond delay="1200"/>
                                  </p:stCondLst>
                                  <p:childTnLst>
                                    <p:set>
                                      <p:cBhvr>
                                        <p:cTn id="87" dur="1" fill="hold">
                                          <p:stCondLst>
                                            <p:cond delay="0"/>
                                          </p:stCondLst>
                                        </p:cTn>
                                        <p:tgtEl>
                                          <p:spTgt spid="17"/>
                                        </p:tgtEl>
                                        <p:attrNameLst>
                                          <p:attrName>style.visibility</p:attrName>
                                        </p:attrNameLst>
                                      </p:cBhvr>
                                      <p:to>
                                        <p:strVal val="visible"/>
                                      </p:to>
                                    </p:set>
                                    <p:anim calcmode="lin" valueType="num">
                                      <p:cBhvr additive="base">
                                        <p:cTn id="88" dur="400" fill="hold"/>
                                        <p:tgtEl>
                                          <p:spTgt spid="17"/>
                                        </p:tgtEl>
                                        <p:attrNameLst>
                                          <p:attrName>ppt_w</p:attrName>
                                        </p:attrNameLst>
                                      </p:cBhvr>
                                      <p:tavLst>
                                        <p:tav tm="0">
                                          <p:val>
                                            <p:strVal val="#ppt_w*0.7"/>
                                          </p:val>
                                        </p:tav>
                                        <p:tav tm="100000">
                                          <p:val>
                                            <p:strVal val="#ppt_w"/>
                                          </p:val>
                                        </p:tav>
                                      </p:tavLst>
                                    </p:anim>
                                    <p:anim calcmode="lin" valueType="num">
                                      <p:cBhvr additive="base">
                                        <p:cTn id="89" dur="400" fill="hold"/>
                                        <p:tgtEl>
                                          <p:spTgt spid="17"/>
                                        </p:tgtEl>
                                        <p:attrNameLst>
                                          <p:attrName>ppt_h</p:attrName>
                                        </p:attrNameLst>
                                      </p:cBhvr>
                                      <p:tavLst>
                                        <p:tav tm="0">
                                          <p:val>
                                            <p:strVal val="#ppt_h*0.7"/>
                                          </p:val>
                                        </p:tav>
                                        <p:tav tm="100000">
                                          <p:val>
                                            <p:strVal val="#ppt_h"/>
                                          </p:val>
                                        </p:tav>
                                      </p:tavLst>
                                    </p:anim>
                                    <p:animEffect transition="in" filter="fade">
                                      <p:cBhvr>
                                        <p:cTn id="90" dur="400"/>
                                        <p:tgtEl>
                                          <p:spTgt spid="17"/>
                                        </p:tgtEl>
                                      </p:cBhvr>
                                    </p:animEffect>
                                  </p:childTnLst>
                                </p:cTn>
                              </p:par>
                              <p:par>
                                <p:cTn id="91" presetID="2" presetClass="entr" presetSubtype="2" fill="hold" grpId="0" nodeType="withEffect">
                                  <p:stCondLst>
                                    <p:cond delay="1260"/>
                                  </p:stCondLst>
                                  <p:childTnLst>
                                    <p:set>
                                      <p:cBhvr>
                                        <p:cTn id="92" dur="1" fill="hold">
                                          <p:stCondLst>
                                            <p:cond delay="0"/>
                                          </p:stCondLst>
                                        </p:cTn>
                                        <p:tgtEl>
                                          <p:spTgt spid="30"/>
                                        </p:tgtEl>
                                        <p:attrNameLst>
                                          <p:attrName>style.visibility</p:attrName>
                                        </p:attrNameLst>
                                      </p:cBhvr>
                                      <p:to>
                                        <p:strVal val="visible"/>
                                      </p:to>
                                    </p:set>
                                    <p:anim calcmode="lin" valueType="num">
                                      <p:cBhvr additive="base">
                                        <p:cTn id="93" dur="450" fill="hold"/>
                                        <p:tgtEl>
                                          <p:spTgt spid="30"/>
                                        </p:tgtEl>
                                        <p:attrNameLst>
                                          <p:attrName>ppt_x</p:attrName>
                                        </p:attrNameLst>
                                      </p:cBhvr>
                                      <p:tavLst>
                                        <p:tav tm="0">
                                          <p:val>
                                            <p:strVal val="1+#ppt_w/2"/>
                                          </p:val>
                                        </p:tav>
                                        <p:tav tm="100000">
                                          <p:val>
                                            <p:strVal val="#ppt_x"/>
                                          </p:val>
                                        </p:tav>
                                      </p:tavLst>
                                    </p:anim>
                                    <p:anim calcmode="lin" valueType="num">
                                      <p:cBhvr additive="base">
                                        <p:cTn id="94" dur="450" fill="hold"/>
                                        <p:tgtEl>
                                          <p:spTgt spid="30"/>
                                        </p:tgtEl>
                                        <p:attrNameLst>
                                          <p:attrName>ppt_y</p:attrName>
                                        </p:attrNameLst>
                                      </p:cBhvr>
                                      <p:tavLst>
                                        <p:tav tm="0">
                                          <p:val>
                                            <p:strVal val="#ppt_y"/>
                                          </p:val>
                                        </p:tav>
                                        <p:tav tm="100000">
                                          <p:val>
                                            <p:strVal val="#ppt_y"/>
                                          </p:val>
                                        </p:tav>
                                      </p:tavLst>
                                    </p:anim>
                                  </p:childTnLst>
                                </p:cTn>
                              </p:par>
                              <p:par>
                                <p:cTn id="95" presetID="2" presetClass="entr" presetSubtype="2" fill="hold" grpId="0" nodeType="withEffect">
                                  <p:stCondLst>
                                    <p:cond delay="1260"/>
                                  </p:stCondLst>
                                  <p:childTnLst>
                                    <p:set>
                                      <p:cBhvr>
                                        <p:cTn id="96" dur="1" fill="hold">
                                          <p:stCondLst>
                                            <p:cond delay="0"/>
                                          </p:stCondLst>
                                        </p:cTn>
                                        <p:tgtEl>
                                          <p:spTgt spid="31"/>
                                        </p:tgtEl>
                                        <p:attrNameLst>
                                          <p:attrName>style.visibility</p:attrName>
                                        </p:attrNameLst>
                                      </p:cBhvr>
                                      <p:to>
                                        <p:strVal val="visible"/>
                                      </p:to>
                                    </p:set>
                                    <p:anim calcmode="lin" valueType="num">
                                      <p:cBhvr additive="base">
                                        <p:cTn id="97" dur="450" fill="hold"/>
                                        <p:tgtEl>
                                          <p:spTgt spid="31"/>
                                        </p:tgtEl>
                                        <p:attrNameLst>
                                          <p:attrName>ppt_x</p:attrName>
                                        </p:attrNameLst>
                                      </p:cBhvr>
                                      <p:tavLst>
                                        <p:tav tm="0">
                                          <p:val>
                                            <p:strVal val="1+#ppt_w/2"/>
                                          </p:val>
                                        </p:tav>
                                        <p:tav tm="100000">
                                          <p:val>
                                            <p:strVal val="#ppt_x"/>
                                          </p:val>
                                        </p:tav>
                                      </p:tavLst>
                                    </p:anim>
                                    <p:anim calcmode="lin" valueType="num">
                                      <p:cBhvr additive="base">
                                        <p:cTn id="98" dur="450" fill="hold"/>
                                        <p:tgtEl>
                                          <p:spTgt spid="31"/>
                                        </p:tgtEl>
                                        <p:attrNameLst>
                                          <p:attrName>ppt_y</p:attrName>
                                        </p:attrNameLst>
                                      </p:cBhvr>
                                      <p:tavLst>
                                        <p:tav tm="0">
                                          <p:val>
                                            <p:strVal val="#ppt_y"/>
                                          </p:val>
                                        </p:tav>
                                        <p:tav tm="100000">
                                          <p:val>
                                            <p:strVal val="#ppt_y"/>
                                          </p:val>
                                        </p:tav>
                                      </p:tavLst>
                                    </p:anim>
                                  </p:childTnLst>
                                </p:cTn>
                              </p:par>
                              <p:par>
                                <p:cTn id="99" presetID="2" presetClass="entr" presetSubtype="2" fill="hold" grpId="0" nodeType="withEffect">
                                  <p:stCondLst>
                                    <p:cond delay="1260"/>
                                  </p:stCondLst>
                                  <p:childTnLst>
                                    <p:set>
                                      <p:cBhvr>
                                        <p:cTn id="100" dur="1" fill="hold">
                                          <p:stCondLst>
                                            <p:cond delay="0"/>
                                          </p:stCondLst>
                                        </p:cTn>
                                        <p:tgtEl>
                                          <p:spTgt spid="32"/>
                                        </p:tgtEl>
                                        <p:attrNameLst>
                                          <p:attrName>style.visibility</p:attrName>
                                        </p:attrNameLst>
                                      </p:cBhvr>
                                      <p:to>
                                        <p:strVal val="visible"/>
                                      </p:to>
                                    </p:set>
                                    <p:anim calcmode="lin" valueType="num">
                                      <p:cBhvr additive="base">
                                        <p:cTn id="101" dur="450" fill="hold"/>
                                        <p:tgtEl>
                                          <p:spTgt spid="32"/>
                                        </p:tgtEl>
                                        <p:attrNameLst>
                                          <p:attrName>ppt_x</p:attrName>
                                        </p:attrNameLst>
                                      </p:cBhvr>
                                      <p:tavLst>
                                        <p:tav tm="0">
                                          <p:val>
                                            <p:strVal val="1+#ppt_w/2"/>
                                          </p:val>
                                        </p:tav>
                                        <p:tav tm="100000">
                                          <p:val>
                                            <p:strVal val="#ppt_x"/>
                                          </p:val>
                                        </p:tav>
                                      </p:tavLst>
                                    </p:anim>
                                    <p:anim calcmode="lin" valueType="num">
                                      <p:cBhvr additive="base">
                                        <p:cTn id="102" dur="450" fill="hold"/>
                                        <p:tgtEl>
                                          <p:spTgt spid="32"/>
                                        </p:tgtEl>
                                        <p:attrNameLst>
                                          <p:attrName>ppt_y</p:attrName>
                                        </p:attrNameLst>
                                      </p:cBhvr>
                                      <p:tavLst>
                                        <p:tav tm="0">
                                          <p:val>
                                            <p:strVal val="#ppt_y"/>
                                          </p:val>
                                        </p:tav>
                                        <p:tav tm="100000">
                                          <p:val>
                                            <p:strVal val="#ppt_y"/>
                                          </p:val>
                                        </p:tav>
                                      </p:tavLst>
                                    </p:anim>
                                  </p:childTnLst>
                                </p:cTn>
                              </p:par>
                              <p:par>
                                <p:cTn id="103" presetID="2" presetClass="entr" presetSubtype="2" fill="hold" grpId="0" nodeType="withEffect">
                                  <p:stCondLst>
                                    <p:cond delay="1260"/>
                                  </p:stCondLst>
                                  <p:childTnLst>
                                    <p:set>
                                      <p:cBhvr>
                                        <p:cTn id="104" dur="1" fill="hold">
                                          <p:stCondLst>
                                            <p:cond delay="0"/>
                                          </p:stCondLst>
                                        </p:cTn>
                                        <p:tgtEl>
                                          <p:spTgt spid="33"/>
                                        </p:tgtEl>
                                        <p:attrNameLst>
                                          <p:attrName>style.visibility</p:attrName>
                                        </p:attrNameLst>
                                      </p:cBhvr>
                                      <p:to>
                                        <p:strVal val="visible"/>
                                      </p:to>
                                    </p:set>
                                    <p:anim calcmode="lin" valueType="num">
                                      <p:cBhvr additive="base">
                                        <p:cTn id="105" dur="450" fill="hold"/>
                                        <p:tgtEl>
                                          <p:spTgt spid="33"/>
                                        </p:tgtEl>
                                        <p:attrNameLst>
                                          <p:attrName>ppt_x</p:attrName>
                                        </p:attrNameLst>
                                      </p:cBhvr>
                                      <p:tavLst>
                                        <p:tav tm="0">
                                          <p:val>
                                            <p:strVal val="1+#ppt_w/2"/>
                                          </p:val>
                                        </p:tav>
                                        <p:tav tm="100000">
                                          <p:val>
                                            <p:strVal val="#ppt_x"/>
                                          </p:val>
                                        </p:tav>
                                      </p:tavLst>
                                    </p:anim>
                                    <p:anim calcmode="lin" valueType="num">
                                      <p:cBhvr additive="base">
                                        <p:cTn id="106" dur="45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0" grpId="0" animBg="1"/>
      <p:bldP spid="21" grpId="0" animBg="1"/>
      <p:bldP spid="18" grpId="0" animBg="1"/>
      <p:bldP spid="19" grpId="0" animBg="1"/>
      <p:bldP spid="13" grpId="0" animBg="1"/>
      <p:bldP spid="22" grpId="0" animBg="1"/>
      <p:bldP spid="23" grpId="0" animBg="1"/>
      <p:bldP spid="24" grpId="0" animBg="1"/>
      <p:bldP spid="25" grpId="0" animBg="1"/>
      <p:bldP spid="15" grpId="0" animBg="1"/>
      <p:bldP spid="26" grpId="0" animBg="1"/>
      <p:bldP spid="27" grpId="0" animBg="1"/>
      <p:bldP spid="28" grpId="0" animBg="1"/>
      <p:bldP spid="29" grpId="0" animBg="1"/>
      <p:bldP spid="17" grpId="0" animBg="1"/>
      <p:bldP spid="30" grpId="0" animBg="1"/>
      <p:bldP spid="31" grpId="0" animBg="1"/>
      <p:bldP spid="32" grpId="0" animBg="1"/>
      <p:bldP spid="33"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center.jpg"/>
          <p:cNvPicPr>
            <a:picLocks noChangeAspect="1"/>
          </p:cNvPicPr>
          <p:nvPr/>
        </p:nvPicPr>
        <p:blipFill>
          <a:blip r:embed="rId2"/>
          <a:srcRect l="1" r="1"/>
          <a:stretch>
            <a:fillRect/>
          </a:stretch>
        </p:blipFill>
        <p:spPr>
          <a:xfrm>
            <a:off x="0" y="0"/>
            <a:ext cx="12191695" cy="6858000"/>
          </a:xfrm>
          <a:prstGeom prst="rect">
            <a:avLst/>
          </a:prstGeom>
        </p:spPr>
      </p:pic>
      <p:sp>
        <p:nvSpPr>
          <p:cNvPr id="3" name="Rounded Rectangle 2"/>
          <p:cNvSpPr/>
          <p:nvPr/>
        </p:nvSpPr>
        <p:spPr>
          <a:xfrm>
            <a:off x="685800" y="2377440"/>
            <a:ext cx="2554148" cy="4023360"/>
          </a:xfrm>
          <a:prstGeom prst="roundRect">
            <a:avLst>
              <a:gd name="adj" fmla="val 5728"/>
            </a:avLst>
          </a:prstGeom>
          <a:solidFill>
            <a:srgbClr val="FFFFFF">
              <a:alpha val="6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4" name="Rounded Rectangle 3"/>
          <p:cNvSpPr/>
          <p:nvPr/>
        </p:nvSpPr>
        <p:spPr>
          <a:xfrm>
            <a:off x="3441116" y="2377440"/>
            <a:ext cx="2554148" cy="4023360"/>
          </a:xfrm>
          <a:prstGeom prst="roundRect">
            <a:avLst>
              <a:gd name="adj" fmla="val 5728"/>
            </a:avLst>
          </a:prstGeom>
          <a:solidFill>
            <a:srgbClr val="FFFFFF">
              <a:alpha val="6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5" name="Rounded Rectangle 4"/>
          <p:cNvSpPr/>
          <p:nvPr/>
        </p:nvSpPr>
        <p:spPr>
          <a:xfrm>
            <a:off x="6196432" y="2377440"/>
            <a:ext cx="2554148" cy="4023360"/>
          </a:xfrm>
          <a:prstGeom prst="roundRect">
            <a:avLst>
              <a:gd name="adj" fmla="val 5728"/>
            </a:avLst>
          </a:prstGeom>
          <a:solidFill>
            <a:srgbClr val="FFFFFF">
              <a:alpha val="6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Rounded Rectangle 5"/>
          <p:cNvSpPr/>
          <p:nvPr/>
        </p:nvSpPr>
        <p:spPr>
          <a:xfrm>
            <a:off x="8951747" y="2377440"/>
            <a:ext cx="2554148" cy="4023360"/>
          </a:xfrm>
          <a:prstGeom prst="roundRect">
            <a:avLst>
              <a:gd name="adj" fmla="val 5728"/>
            </a:avLst>
          </a:prstGeom>
          <a:solidFill>
            <a:srgbClr val="FFFFFF">
              <a:alpha val="6000"/>
            </a:srgbClr>
          </a:solidFill>
          <a:ln w="9525">
            <a:solidFill>
              <a:srgbClr val="FFFFFF">
                <a:alpha val="16000"/>
              </a:srgbClr>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7"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8" name="!!glow_research" descr="glow_7FC211_30_1.7.png"/>
          <p:cNvPicPr>
            <a:picLocks noChangeAspect="1"/>
          </p:cNvPicPr>
          <p:nvPr/>
        </p:nvPicPr>
        <p:blipFill>
          <a:blip r:embed="rId4"/>
          <a:stretch>
            <a:fillRect/>
          </a:stretch>
        </p:blipFill>
        <p:spPr>
          <a:xfrm>
            <a:off x="978751" y="2283028"/>
            <a:ext cx="1968246" cy="1968246"/>
          </a:xfrm>
          <a:prstGeom prst="rect">
            <a:avLst/>
          </a:prstGeom>
        </p:spPr>
      </p:pic>
      <p:pic>
        <p:nvPicPr>
          <p:cNvPr id="9" name="!!research" descr="research.png"/>
          <p:cNvPicPr>
            <a:picLocks noChangeAspect="1"/>
          </p:cNvPicPr>
          <p:nvPr/>
        </p:nvPicPr>
        <p:blipFill>
          <a:blip r:embed="rId5"/>
          <a:srcRect/>
          <a:stretch>
            <a:fillRect/>
          </a:stretch>
        </p:blipFill>
        <p:spPr>
          <a:xfrm>
            <a:off x="1025614" y="2122489"/>
            <a:ext cx="1874520" cy="1740626"/>
          </a:xfrm>
          <a:prstGeom prst="rect">
            <a:avLst/>
          </a:prstGeom>
        </p:spPr>
      </p:pic>
      <p:pic>
        <p:nvPicPr>
          <p:cNvPr id="10" name="!!glow_trace" descr="glow_7FC211_30_1.7.png"/>
          <p:cNvPicPr>
            <a:picLocks noChangeAspect="1"/>
          </p:cNvPicPr>
          <p:nvPr/>
        </p:nvPicPr>
        <p:blipFill>
          <a:blip r:embed="rId4"/>
          <a:stretch>
            <a:fillRect/>
          </a:stretch>
        </p:blipFill>
        <p:spPr>
          <a:xfrm>
            <a:off x="3734067" y="2283028"/>
            <a:ext cx="1968246" cy="1968246"/>
          </a:xfrm>
          <a:prstGeom prst="rect">
            <a:avLst/>
          </a:prstGeom>
        </p:spPr>
      </p:pic>
      <p:pic>
        <p:nvPicPr>
          <p:cNvPr id="11" name="!!trace" descr="trace.png"/>
          <p:cNvPicPr>
            <a:picLocks noChangeAspect="1"/>
          </p:cNvPicPr>
          <p:nvPr/>
        </p:nvPicPr>
        <p:blipFill>
          <a:blip r:embed="rId6"/>
          <a:srcRect/>
          <a:stretch>
            <a:fillRect/>
          </a:stretch>
        </p:blipFill>
        <p:spPr>
          <a:xfrm>
            <a:off x="3780930" y="2122489"/>
            <a:ext cx="1874520" cy="1740626"/>
          </a:xfrm>
          <a:prstGeom prst="rect">
            <a:avLst/>
          </a:prstGeom>
        </p:spPr>
      </p:pic>
      <p:pic>
        <p:nvPicPr>
          <p:cNvPr id="12" name="!!glow_iot" descr="glow_7FC211_30_1.7.png"/>
          <p:cNvPicPr>
            <a:picLocks noChangeAspect="1"/>
          </p:cNvPicPr>
          <p:nvPr/>
        </p:nvPicPr>
        <p:blipFill>
          <a:blip r:embed="rId4"/>
          <a:stretch>
            <a:fillRect/>
          </a:stretch>
        </p:blipFill>
        <p:spPr>
          <a:xfrm>
            <a:off x="6489383" y="2283028"/>
            <a:ext cx="1968246" cy="1968246"/>
          </a:xfrm>
          <a:prstGeom prst="rect">
            <a:avLst/>
          </a:prstGeom>
        </p:spPr>
      </p:pic>
      <p:pic>
        <p:nvPicPr>
          <p:cNvPr id="13" name="!!iot" descr="iot.png"/>
          <p:cNvPicPr>
            <a:picLocks noChangeAspect="1"/>
          </p:cNvPicPr>
          <p:nvPr/>
        </p:nvPicPr>
        <p:blipFill>
          <a:blip r:embed="rId7"/>
          <a:srcRect/>
          <a:stretch>
            <a:fillRect/>
          </a:stretch>
        </p:blipFill>
        <p:spPr>
          <a:xfrm>
            <a:off x="6536246" y="2122489"/>
            <a:ext cx="1874520" cy="1740626"/>
          </a:xfrm>
          <a:prstGeom prst="rect">
            <a:avLst/>
          </a:prstGeom>
        </p:spPr>
      </p:pic>
      <p:pic>
        <p:nvPicPr>
          <p:cNvPr id="14" name="!!glow_training" descr="glow_7FC211_30_1.7.png"/>
          <p:cNvPicPr>
            <a:picLocks noChangeAspect="1"/>
          </p:cNvPicPr>
          <p:nvPr/>
        </p:nvPicPr>
        <p:blipFill>
          <a:blip r:embed="rId4"/>
          <a:stretch>
            <a:fillRect/>
          </a:stretch>
        </p:blipFill>
        <p:spPr>
          <a:xfrm>
            <a:off x="9244698" y="2283028"/>
            <a:ext cx="1968246" cy="1968246"/>
          </a:xfrm>
          <a:prstGeom prst="rect">
            <a:avLst/>
          </a:prstGeom>
        </p:spPr>
      </p:pic>
      <p:pic>
        <p:nvPicPr>
          <p:cNvPr id="15" name="!!training" descr="training.png"/>
          <p:cNvPicPr>
            <a:picLocks noChangeAspect="1"/>
          </p:cNvPicPr>
          <p:nvPr/>
        </p:nvPicPr>
        <p:blipFill>
          <a:blip r:embed="rId8"/>
          <a:srcRect/>
          <a:stretch>
            <a:fillRect/>
          </a:stretch>
        </p:blipFill>
        <p:spPr>
          <a:xfrm>
            <a:off x="9291561" y="2122489"/>
            <a:ext cx="1874520" cy="1740626"/>
          </a:xfrm>
          <a:prstGeom prst="rect">
            <a:avLst/>
          </a:prstGeom>
        </p:spPr>
      </p:pic>
      <p:pic>
        <p:nvPicPr>
          <p:cNvPr id="16" name="!!logo" descr="logo_stp.png"/>
          <p:cNvPicPr>
            <a:picLocks noChangeAspect="1"/>
          </p:cNvPicPr>
          <p:nvPr/>
        </p:nvPicPr>
        <p:blipFill>
          <a:blip r:embed="rId9"/>
          <a:stretch>
            <a:fillRect/>
          </a:stretch>
        </p:blipFill>
        <p:spPr>
          <a:xfrm>
            <a:off x="10024567" y="384048"/>
            <a:ext cx="420624" cy="420624"/>
          </a:xfrm>
          <a:prstGeom prst="rect">
            <a:avLst/>
          </a:prstGeom>
        </p:spPr>
      </p:pic>
      <p:sp>
        <p:nvSpPr>
          <p:cNvPr id="17" name="!!logotext"/>
          <p:cNvSpPr txBox="1"/>
          <p:nvPr/>
        </p:nvSpPr>
        <p:spPr>
          <a:xfrm>
            <a:off x="10500055" y="384048"/>
            <a:ext cx="1005840" cy="420624"/>
          </a:xfrm>
          <a:prstGeom prst="rect">
            <a:avLst/>
          </a:prstGeom>
          <a:noFill/>
        </p:spPr>
        <p:txBody>
          <a:bodyPr wrap="none" lIns="0" rIns="0" tIns="0" bIns="0" anchor="ctr">
            <a:noAutofit/>
          </a:bodyPr>
          <a:lstStyle/>
          <a:p>
            <a:pPr algn="l">
              <a:lnSpc>
                <a:spcPct val="115000"/>
              </a:lnSpc>
              <a:spcAft>
                <a:spcPts val="0"/>
              </a:spcAft>
            </a:pPr>
            <a:r>
              <a:rPr sz="1100" b="0" i="0" spc="250">
                <a:solidFill>
                  <a:srgbClr val="FFFFFF"/>
                </a:solidFill>
                <a:latin typeface="Be Vietnam Pro SemiBold"/>
                <a:ea typeface="Be Vietnam Pro SemiBold"/>
                <a:cs typeface="Be Vietnam Pro SemiBold"/>
              </a:rPr>
              <a:t>VIỆN STP</a:t>
            </a:r>
          </a:p>
        </p:txBody>
      </p:sp>
      <p:sp>
        <p:nvSpPr>
          <p:cNvPr id="18" name="TextBox 17"/>
          <p:cNvSpPr txBox="1"/>
          <p:nvPr/>
        </p:nvSpPr>
        <p:spPr>
          <a:xfrm>
            <a:off x="10774375" y="6419088"/>
            <a:ext cx="731520" cy="274320"/>
          </a:xfrm>
          <a:prstGeom prst="rect">
            <a:avLst/>
          </a:prstGeom>
          <a:noFill/>
        </p:spPr>
        <p:txBody>
          <a:bodyPr wrap="square" lIns="0" rIns="0" tIns="0" bIns="0" anchor="t">
            <a:noAutofit/>
          </a:bodyPr>
          <a:lstStyle/>
          <a:p>
            <a:pPr algn="r">
              <a:lnSpc>
                <a:spcPct val="115000"/>
              </a:lnSpc>
              <a:spcAft>
                <a:spcPts val="0"/>
              </a:spcAft>
            </a:pPr>
            <a:r>
              <a:rPr sz="1000" b="0" i="0">
                <a:solidFill>
                  <a:srgbClr val="7E9A88"/>
                </a:solidFill>
                <a:latin typeface="Be Vietnam Pro Medium"/>
                <a:ea typeface="Be Vietnam Pro Medium"/>
                <a:cs typeface="Be Vietnam Pro Medium"/>
              </a:rPr>
              <a:t>22</a:t>
            </a:r>
          </a:p>
        </p:txBody>
      </p:sp>
      <p:sp>
        <p:nvSpPr>
          <p:cNvPr id="19" name="!!kicker"/>
          <p:cNvSpPr txBox="1"/>
          <p:nvPr/>
        </p:nvSpPr>
        <p:spPr>
          <a:xfrm>
            <a:off x="685800" y="502920"/>
            <a:ext cx="9601200" cy="274320"/>
          </a:xfrm>
          <a:prstGeom prst="rect">
            <a:avLst/>
          </a:prstGeom>
          <a:noFill/>
        </p:spPr>
        <p:txBody>
          <a:bodyPr wrap="square" lIns="0" rIns="0" tIns="0" bIns="0" anchor="t">
            <a:noAutofit/>
          </a:bodyPr>
          <a:lstStyle/>
          <a:p>
            <a:pPr algn="l">
              <a:lnSpc>
                <a:spcPct val="115000"/>
              </a:lnSpc>
              <a:spcAft>
                <a:spcPts val="0"/>
              </a:spcAft>
            </a:pPr>
            <a:r>
              <a:rPr sz="1150" b="0" i="0" spc="250">
                <a:solidFill>
                  <a:srgbClr val="8FD11E"/>
                </a:solidFill>
                <a:latin typeface="Be Vietnam Pro SemiBold"/>
                <a:ea typeface="Be Vietnam Pro SemiBold"/>
                <a:cs typeface="Be Vietnam Pro SemiBold"/>
              </a:rPr>
              <a:t>ĐỀ XUẤT HỢP TÁC</a:t>
            </a:r>
          </a:p>
        </p:txBody>
      </p:sp>
      <p:sp>
        <p:nvSpPr>
          <p:cNvPr id="20" name="!!title"/>
          <p:cNvSpPr txBox="1"/>
          <p:nvPr/>
        </p:nvSpPr>
        <p:spPr>
          <a:xfrm>
            <a:off x="685800" y="850392"/>
            <a:ext cx="9601200" cy="528320"/>
          </a:xfrm>
          <a:prstGeom prst="rect">
            <a:avLst/>
          </a:prstGeom>
          <a:noFill/>
        </p:spPr>
        <p:txBody>
          <a:bodyPr wrap="square" lIns="0" rIns="0" tIns="0" bIns="0" anchor="t">
            <a:noAutofit/>
          </a:bodyPr>
          <a:lstStyle/>
          <a:p>
            <a:pPr algn="l">
              <a:lnSpc>
                <a:spcPct val="100000"/>
              </a:lnSpc>
              <a:spcAft>
                <a:spcPts val="0"/>
              </a:spcAft>
            </a:pPr>
            <a:r>
              <a:rPr sz="3200" b="0" i="0">
                <a:solidFill>
                  <a:srgbClr val="FFFFFF"/>
                </a:solidFill>
                <a:latin typeface="Be Vietnam Pro ExtraBold"/>
                <a:ea typeface="Be Vietnam Pro ExtraBold"/>
                <a:cs typeface="Be Vietnam Pro ExtraBold"/>
              </a:rPr>
              <a:t>Cùng Viện STP </a:t>
            </a:r>
            <a:r>
              <a:rPr sz="3200" b="0" i="0">
                <a:solidFill>
                  <a:srgbClr val="8FD11E"/>
                </a:solidFill>
                <a:latin typeface="Be Vietnam Pro ExtraBold"/>
                <a:ea typeface="Be Vietnam Pro ExtraBold"/>
                <a:cs typeface="Be Vietnam Pro ExtraBold"/>
              </a:rPr>
              <a:t>kiến tạo giá trị</a:t>
            </a:r>
          </a:p>
        </p:txBody>
      </p:sp>
      <p:sp>
        <p:nvSpPr>
          <p:cNvPr id="21" name="!!lead"/>
          <p:cNvSpPr txBox="1"/>
          <p:nvPr/>
        </p:nvSpPr>
        <p:spPr>
          <a:xfrm>
            <a:off x="685800" y="1470152"/>
            <a:ext cx="9601200" cy="309880"/>
          </a:xfrm>
          <a:prstGeom prst="rect">
            <a:avLst/>
          </a:prstGeom>
          <a:noFill/>
        </p:spPr>
        <p:txBody>
          <a:bodyPr wrap="square" lIns="0" rIns="0" tIns="0" bIns="0" anchor="t">
            <a:noAutofit/>
          </a:bodyPr>
          <a:lstStyle/>
          <a:p>
            <a:pPr algn="l">
              <a:lnSpc>
                <a:spcPct val="118000"/>
              </a:lnSpc>
              <a:spcAft>
                <a:spcPts val="0"/>
              </a:spcAft>
            </a:pPr>
            <a:r>
              <a:rPr sz="1600" b="0" i="0">
                <a:solidFill>
                  <a:srgbClr val="C9D8CE"/>
                </a:solidFill>
                <a:latin typeface="Be Vietnam Pro Light"/>
                <a:ea typeface="Be Vietnam Pro Light"/>
                <a:cs typeface="Be Vietnam Pro Light"/>
              </a:rPr>
              <a:t>Những mô hình hợp tác có thể triển khai ngay với Quý cơ quan, địa phương và doanh nghiệp.</a:t>
            </a:r>
          </a:p>
        </p:txBody>
      </p:sp>
      <p:sp>
        <p:nvSpPr>
          <p:cNvPr id="22" name="TextBox 21"/>
          <p:cNvSpPr txBox="1"/>
          <p:nvPr/>
        </p:nvSpPr>
        <p:spPr>
          <a:xfrm>
            <a:off x="914400" y="4206240"/>
            <a:ext cx="2096948" cy="274320"/>
          </a:xfrm>
          <a:prstGeom prst="rect">
            <a:avLst/>
          </a:prstGeom>
          <a:noFill/>
        </p:spPr>
        <p:txBody>
          <a:bodyPr wrap="square" lIns="0" rIns="0" tIns="0" bIns="0" anchor="t">
            <a:noAutofit/>
          </a:bodyPr>
          <a:lstStyle/>
          <a:p>
            <a:pPr algn="l">
              <a:lnSpc>
                <a:spcPct val="115000"/>
              </a:lnSpc>
              <a:spcAft>
                <a:spcPts val="0"/>
              </a:spcAft>
            </a:pPr>
            <a:r>
              <a:rPr sz="1050" b="0" i="0" spc="200">
                <a:solidFill>
                  <a:srgbClr val="8FD11E"/>
                </a:solidFill>
                <a:latin typeface="Be Vietnam Pro SemiBold"/>
                <a:ea typeface="Be Vietnam Pro SemiBold"/>
                <a:cs typeface="Be Vietnam Pro SemiBold"/>
              </a:rPr>
              <a:t>ĐỊA PHƯƠNG</a:t>
            </a:r>
          </a:p>
        </p:txBody>
      </p:sp>
      <p:sp>
        <p:nvSpPr>
          <p:cNvPr id="23" name="TextBox 22"/>
          <p:cNvSpPr txBox="1"/>
          <p:nvPr/>
        </p:nvSpPr>
        <p:spPr>
          <a:xfrm>
            <a:off x="914400" y="4535424"/>
            <a:ext cx="2096948" cy="685800"/>
          </a:xfrm>
          <a:prstGeom prst="rect">
            <a:avLst/>
          </a:prstGeom>
          <a:noFill/>
        </p:spPr>
        <p:txBody>
          <a:bodyPr wrap="square" lIns="0" rIns="0" tIns="0" bIns="0" anchor="t">
            <a:noAutofit/>
          </a:bodyPr>
          <a:lstStyle/>
          <a:p>
            <a:pPr algn="l">
              <a:lnSpc>
                <a:spcPct val="105000"/>
              </a:lnSpc>
              <a:spcAft>
                <a:spcPts val="0"/>
              </a:spcAft>
            </a:pPr>
            <a:r>
              <a:rPr sz="1550" b="0" i="0">
                <a:solidFill>
                  <a:srgbClr val="FFFFFF"/>
                </a:solidFill>
                <a:latin typeface="Be Vietnam Pro SemiBold"/>
                <a:ea typeface="Be Vietnam Pro SemiBold"/>
                <a:cs typeface="Be Vietnam Pro SemiBold"/>
              </a:rPr>
              <a:t>Đề án KH&amp;CN, đào tạo AI cho cán bộ</a:t>
            </a:r>
          </a:p>
        </p:txBody>
      </p:sp>
      <p:sp>
        <p:nvSpPr>
          <p:cNvPr id="24" name="TextBox 23"/>
          <p:cNvSpPr txBox="1"/>
          <p:nvPr/>
        </p:nvSpPr>
        <p:spPr>
          <a:xfrm>
            <a:off x="914400" y="5230368"/>
            <a:ext cx="2096948" cy="1078992"/>
          </a:xfrm>
          <a:prstGeom prst="rect">
            <a:avLst/>
          </a:prstGeom>
          <a:noFill/>
        </p:spPr>
        <p:txBody>
          <a:bodyPr wrap="square" lIns="0" rIns="0" tIns="0" bIns="0" anchor="t">
            <a:noAutofit/>
          </a:bodyPr>
          <a:lstStyle/>
          <a:p>
            <a:pPr algn="l">
              <a:lnSpc>
                <a:spcPct val="115000"/>
              </a:lnSpc>
              <a:spcAft>
                <a:spcPts val="0"/>
              </a:spcAft>
            </a:pPr>
            <a:r>
              <a:rPr sz="1200" b="0" i="0">
                <a:solidFill>
                  <a:srgbClr val="C9D8CE"/>
                </a:solidFill>
                <a:latin typeface="Be Vietnam Pro"/>
                <a:ea typeface="Be Vietnam Pro"/>
                <a:cs typeface="Be Vietnam Pro"/>
              </a:rPr>
              <a:t>Khảo sát, lập đề án theo định hướng phát triển; bồi dưỡng năng lực số cho công chức.</a:t>
            </a:r>
          </a:p>
        </p:txBody>
      </p:sp>
      <p:sp>
        <p:nvSpPr>
          <p:cNvPr id="25" name="TextBox 24"/>
          <p:cNvSpPr txBox="1"/>
          <p:nvPr/>
        </p:nvSpPr>
        <p:spPr>
          <a:xfrm>
            <a:off x="3669716" y="4206240"/>
            <a:ext cx="2096948" cy="274320"/>
          </a:xfrm>
          <a:prstGeom prst="rect">
            <a:avLst/>
          </a:prstGeom>
          <a:noFill/>
        </p:spPr>
        <p:txBody>
          <a:bodyPr wrap="square" lIns="0" rIns="0" tIns="0" bIns="0" anchor="t">
            <a:noAutofit/>
          </a:bodyPr>
          <a:lstStyle/>
          <a:p>
            <a:pPr algn="l">
              <a:lnSpc>
                <a:spcPct val="115000"/>
              </a:lnSpc>
              <a:spcAft>
                <a:spcPts val="0"/>
              </a:spcAft>
            </a:pPr>
            <a:r>
              <a:rPr sz="1050" b="0" i="0" spc="200">
                <a:solidFill>
                  <a:srgbClr val="8FD11E"/>
                </a:solidFill>
                <a:latin typeface="Be Vietnam Pro SemiBold"/>
                <a:ea typeface="Be Vietnam Pro SemiBold"/>
                <a:cs typeface="Be Vietnam Pro SemiBold"/>
              </a:rPr>
              <a:t>OCOP · HỢP TÁC XÃ</a:t>
            </a:r>
          </a:p>
        </p:txBody>
      </p:sp>
      <p:sp>
        <p:nvSpPr>
          <p:cNvPr id="26" name="TextBox 25"/>
          <p:cNvSpPr txBox="1"/>
          <p:nvPr/>
        </p:nvSpPr>
        <p:spPr>
          <a:xfrm>
            <a:off x="3669716" y="4535424"/>
            <a:ext cx="2096948" cy="685800"/>
          </a:xfrm>
          <a:prstGeom prst="rect">
            <a:avLst/>
          </a:prstGeom>
          <a:noFill/>
        </p:spPr>
        <p:txBody>
          <a:bodyPr wrap="square" lIns="0" rIns="0" tIns="0" bIns="0" anchor="t">
            <a:noAutofit/>
          </a:bodyPr>
          <a:lstStyle/>
          <a:p>
            <a:pPr algn="l">
              <a:lnSpc>
                <a:spcPct val="105000"/>
              </a:lnSpc>
              <a:spcAft>
                <a:spcPts val="0"/>
              </a:spcAft>
            </a:pPr>
            <a:r>
              <a:rPr sz="1550" b="0" i="0">
                <a:solidFill>
                  <a:srgbClr val="FFFFFF"/>
                </a:solidFill>
                <a:latin typeface="Be Vietnam Pro SemiBold"/>
                <a:ea typeface="Be Vietnam Pro SemiBold"/>
                <a:cs typeface="Be Vietnam Pro SemiBold"/>
              </a:rPr>
              <a:t>Truy xuất nguồn gốc GS1</a:t>
            </a:r>
          </a:p>
        </p:txBody>
      </p:sp>
      <p:sp>
        <p:nvSpPr>
          <p:cNvPr id="27" name="TextBox 26"/>
          <p:cNvSpPr txBox="1"/>
          <p:nvPr/>
        </p:nvSpPr>
        <p:spPr>
          <a:xfrm>
            <a:off x="3669716" y="5230368"/>
            <a:ext cx="2096948" cy="1078992"/>
          </a:xfrm>
          <a:prstGeom prst="rect">
            <a:avLst/>
          </a:prstGeom>
          <a:noFill/>
        </p:spPr>
        <p:txBody>
          <a:bodyPr wrap="square" lIns="0" rIns="0" tIns="0" bIns="0" anchor="t">
            <a:noAutofit/>
          </a:bodyPr>
          <a:lstStyle/>
          <a:p>
            <a:pPr algn="l">
              <a:lnSpc>
                <a:spcPct val="115000"/>
              </a:lnSpc>
              <a:spcAft>
                <a:spcPts val="0"/>
              </a:spcAft>
            </a:pPr>
            <a:r>
              <a:rPr sz="1200" b="0" i="0">
                <a:solidFill>
                  <a:srgbClr val="C9D8CE"/>
                </a:solidFill>
                <a:latin typeface="Be Vietnam Pro"/>
                <a:ea typeface="Be Vietnam Pro"/>
                <a:cs typeface="Be Vietnam Pro"/>
              </a:rPr>
              <a:t>Tem điện tử, chống giả, bảo vệ thương hiệu sản phẩm địa phương.</a:t>
            </a:r>
          </a:p>
        </p:txBody>
      </p:sp>
      <p:sp>
        <p:nvSpPr>
          <p:cNvPr id="28" name="TextBox 27"/>
          <p:cNvSpPr txBox="1"/>
          <p:nvPr/>
        </p:nvSpPr>
        <p:spPr>
          <a:xfrm>
            <a:off x="6425032" y="4206240"/>
            <a:ext cx="2096948" cy="274320"/>
          </a:xfrm>
          <a:prstGeom prst="rect">
            <a:avLst/>
          </a:prstGeom>
          <a:noFill/>
        </p:spPr>
        <p:txBody>
          <a:bodyPr wrap="square" lIns="0" rIns="0" tIns="0" bIns="0" anchor="t">
            <a:noAutofit/>
          </a:bodyPr>
          <a:lstStyle/>
          <a:p>
            <a:pPr algn="l">
              <a:lnSpc>
                <a:spcPct val="115000"/>
              </a:lnSpc>
              <a:spcAft>
                <a:spcPts val="0"/>
              </a:spcAft>
            </a:pPr>
            <a:r>
              <a:rPr sz="1050" b="0" i="0" spc="200">
                <a:solidFill>
                  <a:srgbClr val="8FD11E"/>
                </a:solidFill>
                <a:latin typeface="Be Vietnam Pro SemiBold"/>
                <a:ea typeface="Be Vietnam Pro SemiBold"/>
                <a:cs typeface="Be Vietnam Pro SemiBold"/>
              </a:rPr>
              <a:t>VÙNG NÔNG NGHIỆP</a:t>
            </a:r>
          </a:p>
        </p:txBody>
      </p:sp>
      <p:sp>
        <p:nvSpPr>
          <p:cNvPr id="29" name="TextBox 28"/>
          <p:cNvSpPr txBox="1"/>
          <p:nvPr/>
        </p:nvSpPr>
        <p:spPr>
          <a:xfrm>
            <a:off x="6425032" y="4535424"/>
            <a:ext cx="2096948" cy="685800"/>
          </a:xfrm>
          <a:prstGeom prst="rect">
            <a:avLst/>
          </a:prstGeom>
          <a:noFill/>
        </p:spPr>
        <p:txBody>
          <a:bodyPr wrap="square" lIns="0" rIns="0" tIns="0" bIns="0" anchor="t">
            <a:noAutofit/>
          </a:bodyPr>
          <a:lstStyle/>
          <a:p>
            <a:pPr algn="l">
              <a:lnSpc>
                <a:spcPct val="105000"/>
              </a:lnSpc>
              <a:spcAft>
                <a:spcPts val="0"/>
              </a:spcAft>
            </a:pPr>
            <a:r>
              <a:rPr sz="1550" b="0" i="0">
                <a:solidFill>
                  <a:srgbClr val="FFFFFF"/>
                </a:solidFill>
                <a:latin typeface="Be Vietnam Pro SemiBold"/>
                <a:ea typeface="Be Vietnam Pro SemiBold"/>
                <a:cs typeface="Be Vietnam Pro SemiBold"/>
              </a:rPr>
              <a:t>Thí điểm nông nghiệp IoT</a:t>
            </a:r>
          </a:p>
        </p:txBody>
      </p:sp>
      <p:sp>
        <p:nvSpPr>
          <p:cNvPr id="30" name="TextBox 29"/>
          <p:cNvSpPr txBox="1"/>
          <p:nvPr/>
        </p:nvSpPr>
        <p:spPr>
          <a:xfrm>
            <a:off x="6425032" y="5230368"/>
            <a:ext cx="2096948" cy="1078992"/>
          </a:xfrm>
          <a:prstGeom prst="rect">
            <a:avLst/>
          </a:prstGeom>
          <a:noFill/>
        </p:spPr>
        <p:txBody>
          <a:bodyPr wrap="square" lIns="0" rIns="0" tIns="0" bIns="0" anchor="t">
            <a:noAutofit/>
          </a:bodyPr>
          <a:lstStyle/>
          <a:p>
            <a:pPr algn="l">
              <a:lnSpc>
                <a:spcPct val="115000"/>
              </a:lnSpc>
              <a:spcAft>
                <a:spcPts val="0"/>
              </a:spcAft>
            </a:pPr>
            <a:r>
              <a:rPr sz="1200" b="0" i="0">
                <a:solidFill>
                  <a:srgbClr val="C9D8CE"/>
                </a:solidFill>
                <a:latin typeface="Be Vietnam Pro"/>
                <a:ea typeface="Be Vietnam Pro"/>
                <a:cs typeface="Be Vietnam Pro"/>
              </a:rPr>
              <a:t>Giám sát đất – nước, cảnh báo sớm, phát hiện phân bón giả.</a:t>
            </a:r>
          </a:p>
        </p:txBody>
      </p:sp>
      <p:sp>
        <p:nvSpPr>
          <p:cNvPr id="31" name="TextBox 30"/>
          <p:cNvSpPr txBox="1"/>
          <p:nvPr/>
        </p:nvSpPr>
        <p:spPr>
          <a:xfrm>
            <a:off x="9180347" y="4206240"/>
            <a:ext cx="2096948" cy="274320"/>
          </a:xfrm>
          <a:prstGeom prst="rect">
            <a:avLst/>
          </a:prstGeom>
          <a:noFill/>
        </p:spPr>
        <p:txBody>
          <a:bodyPr wrap="square" lIns="0" rIns="0" tIns="0" bIns="0" anchor="t">
            <a:noAutofit/>
          </a:bodyPr>
          <a:lstStyle/>
          <a:p>
            <a:pPr algn="l">
              <a:lnSpc>
                <a:spcPct val="115000"/>
              </a:lnSpc>
              <a:spcAft>
                <a:spcPts val="0"/>
              </a:spcAft>
            </a:pPr>
            <a:r>
              <a:rPr sz="1050" b="0" i="0" spc="200">
                <a:solidFill>
                  <a:srgbClr val="8FD11E"/>
                </a:solidFill>
                <a:latin typeface="Be Vietnam Pro SemiBold"/>
                <a:ea typeface="Be Vietnam Pro SemiBold"/>
                <a:cs typeface="Be Vietnam Pro SemiBold"/>
              </a:rPr>
              <a:t>DOANH NGHIỆP</a:t>
            </a:r>
          </a:p>
        </p:txBody>
      </p:sp>
      <p:sp>
        <p:nvSpPr>
          <p:cNvPr id="32" name="TextBox 31"/>
          <p:cNvSpPr txBox="1"/>
          <p:nvPr/>
        </p:nvSpPr>
        <p:spPr>
          <a:xfrm>
            <a:off x="9180347" y="4535424"/>
            <a:ext cx="2096948" cy="685800"/>
          </a:xfrm>
          <a:prstGeom prst="rect">
            <a:avLst/>
          </a:prstGeom>
          <a:noFill/>
        </p:spPr>
        <p:txBody>
          <a:bodyPr wrap="square" lIns="0" rIns="0" tIns="0" bIns="0" anchor="t">
            <a:noAutofit/>
          </a:bodyPr>
          <a:lstStyle/>
          <a:p>
            <a:pPr algn="l">
              <a:lnSpc>
                <a:spcPct val="105000"/>
              </a:lnSpc>
              <a:spcAft>
                <a:spcPts val="0"/>
              </a:spcAft>
            </a:pPr>
            <a:r>
              <a:rPr sz="1550" b="0" i="0">
                <a:solidFill>
                  <a:srgbClr val="FFFFFF"/>
                </a:solidFill>
                <a:latin typeface="Be Vietnam Pro SemiBold"/>
                <a:ea typeface="Be Vietnam Pro SemiBold"/>
                <a:cs typeface="Be Vietnam Pro SemiBold"/>
              </a:rPr>
              <a:t>ATVSLĐ &amp; chuyển đổi số</a:t>
            </a:r>
          </a:p>
        </p:txBody>
      </p:sp>
      <p:sp>
        <p:nvSpPr>
          <p:cNvPr id="33" name="TextBox 32"/>
          <p:cNvSpPr txBox="1"/>
          <p:nvPr/>
        </p:nvSpPr>
        <p:spPr>
          <a:xfrm>
            <a:off x="9180347" y="5230368"/>
            <a:ext cx="2096948" cy="1078992"/>
          </a:xfrm>
          <a:prstGeom prst="rect">
            <a:avLst/>
          </a:prstGeom>
          <a:noFill/>
        </p:spPr>
        <p:txBody>
          <a:bodyPr wrap="square" lIns="0" rIns="0" tIns="0" bIns="0" anchor="t">
            <a:noAutofit/>
          </a:bodyPr>
          <a:lstStyle/>
          <a:p>
            <a:pPr algn="l">
              <a:lnSpc>
                <a:spcPct val="115000"/>
              </a:lnSpc>
              <a:spcAft>
                <a:spcPts val="0"/>
              </a:spcAft>
            </a:pPr>
            <a:r>
              <a:rPr sz="1200" b="0" i="0">
                <a:solidFill>
                  <a:srgbClr val="C9D8CE"/>
                </a:solidFill>
                <a:latin typeface="Be Vietnam Pro"/>
                <a:ea typeface="Be Vietnam Pro"/>
                <a:cs typeface="Be Vietnam Pro"/>
              </a:rPr>
              <a:t>Huấn luyện đủ 6 nhóm kèm tài khoản quản lý số; giải pháp AI.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grpId="0" nodeType="withEffect">
                                  <p:stCondLst>
                                    <p:cond delay="22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3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400"/>
                                        <p:tgtEl>
                                          <p:spTgt spid="3"/>
                                        </p:tgtEl>
                                      </p:cBhvr>
                                    </p:animEffect>
                                  </p:childTnLst>
                                </p:cTn>
                              </p:par>
                              <p:par>
                                <p:cTn id="23" presetID="10" presetClass="entr" presetSubtype="0" fill="hold" grpId="0" nodeType="withEffect">
                                  <p:stCondLst>
                                    <p:cond delay="339"/>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grpId="0" nodeType="withEffect">
                                  <p:stCondLst>
                                    <p:cond delay="4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400"/>
                                        <p:tgtEl>
                                          <p:spTgt spid="4"/>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400"/>
                                        <p:tgtEl>
                                          <p:spTgt spid="5"/>
                                        </p:tgtEl>
                                      </p:cBhvr>
                                    </p:animEffect>
                                  </p:childTnLst>
                                </p:cTn>
                              </p:par>
                              <p:par>
                                <p:cTn id="32" presetID="10" presetClass="entr" presetSubtype="0" fill="hold" grpId="0" nodeType="withEffect">
                                  <p:stCondLst>
                                    <p:cond delay="60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400"/>
                                        <p:tgtEl>
                                          <p:spTgt spid="6"/>
                                        </p:tgtEl>
                                      </p:cBhvr>
                                    </p:animEffect>
                                  </p:childTnLst>
                                </p:cTn>
                              </p:par>
                              <p:par>
                                <p:cTn id="35" presetID="42" presetClass="entr" presetSubtype="0" fill="hold" grpId="0" nodeType="withEffect">
                                  <p:stCondLst>
                                    <p:cond delay="90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50"/>
                                        <p:tgtEl>
                                          <p:spTgt spid="22"/>
                                        </p:tgtEl>
                                      </p:cBhvr>
                                    </p:animEffect>
                                    <p:anim calcmode="lin" valueType="num">
                                      <p:cBhvr additive="base">
                                        <p:cTn id="38" dur="450" fill="hold"/>
                                        <p:tgtEl>
                                          <p:spTgt spid="22"/>
                                        </p:tgtEl>
                                        <p:attrNameLst>
                                          <p:attrName>ppt_x</p:attrName>
                                        </p:attrNameLst>
                                      </p:cBhvr>
                                      <p:tavLst>
                                        <p:tav tm="0">
                                          <p:val>
                                            <p:strVal val="#ppt_x"/>
                                          </p:val>
                                        </p:tav>
                                        <p:tav tm="100000">
                                          <p:val>
                                            <p:strVal val="#ppt_x"/>
                                          </p:val>
                                        </p:tav>
                                      </p:tavLst>
                                    </p:anim>
                                    <p:anim calcmode="lin" valueType="num">
                                      <p:cBhvr additive="base">
                                        <p:cTn id="39" dur="450" fill="hold"/>
                                        <p:tgtEl>
                                          <p:spTgt spid="22"/>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90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anim calcmode="lin" valueType="num">
                                      <p:cBhvr additive="base">
                                        <p:cTn id="43" dur="450" fill="hold"/>
                                        <p:tgtEl>
                                          <p:spTgt spid="23"/>
                                        </p:tgtEl>
                                        <p:attrNameLst>
                                          <p:attrName>ppt_x</p:attrName>
                                        </p:attrNameLst>
                                      </p:cBhvr>
                                      <p:tavLst>
                                        <p:tav tm="0">
                                          <p:val>
                                            <p:strVal val="#ppt_x"/>
                                          </p:val>
                                        </p:tav>
                                        <p:tav tm="100000">
                                          <p:val>
                                            <p:strVal val="#ppt_x"/>
                                          </p:val>
                                        </p:tav>
                                      </p:tavLst>
                                    </p:anim>
                                    <p:anim calcmode="lin" valueType="num">
                                      <p:cBhvr additive="base">
                                        <p:cTn id="44" dur="450" fill="hold"/>
                                        <p:tgtEl>
                                          <p:spTgt spid="23"/>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90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anim calcmode="lin" valueType="num">
                                      <p:cBhvr additive="base">
                                        <p:cTn id="48" dur="450" fill="hold"/>
                                        <p:tgtEl>
                                          <p:spTgt spid="24"/>
                                        </p:tgtEl>
                                        <p:attrNameLst>
                                          <p:attrName>ppt_x</p:attrName>
                                        </p:attrNameLst>
                                      </p:cBhvr>
                                      <p:tavLst>
                                        <p:tav tm="0">
                                          <p:val>
                                            <p:strVal val="#ppt_x"/>
                                          </p:val>
                                        </p:tav>
                                        <p:tav tm="100000">
                                          <p:val>
                                            <p:strVal val="#ppt_x"/>
                                          </p:val>
                                        </p:tav>
                                      </p:tavLst>
                                    </p:anim>
                                    <p:anim calcmode="lin" valueType="num">
                                      <p:cBhvr additive="base">
                                        <p:cTn id="49" dur="450" fill="hold"/>
                                        <p:tgtEl>
                                          <p:spTgt spid="24"/>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105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50"/>
                                        <p:tgtEl>
                                          <p:spTgt spid="25"/>
                                        </p:tgtEl>
                                      </p:cBhvr>
                                    </p:animEffect>
                                    <p:anim calcmode="lin" valueType="num">
                                      <p:cBhvr additive="base">
                                        <p:cTn id="53" dur="450" fill="hold"/>
                                        <p:tgtEl>
                                          <p:spTgt spid="25"/>
                                        </p:tgtEl>
                                        <p:attrNameLst>
                                          <p:attrName>ppt_x</p:attrName>
                                        </p:attrNameLst>
                                      </p:cBhvr>
                                      <p:tavLst>
                                        <p:tav tm="0">
                                          <p:val>
                                            <p:strVal val="#ppt_x"/>
                                          </p:val>
                                        </p:tav>
                                        <p:tav tm="100000">
                                          <p:val>
                                            <p:strVal val="#ppt_x"/>
                                          </p:val>
                                        </p:tav>
                                      </p:tavLst>
                                    </p:anim>
                                    <p:anim calcmode="lin" valueType="num">
                                      <p:cBhvr additive="base">
                                        <p:cTn id="54" dur="450" fill="hold"/>
                                        <p:tgtEl>
                                          <p:spTgt spid="25"/>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105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450"/>
                                        <p:tgtEl>
                                          <p:spTgt spid="26"/>
                                        </p:tgtEl>
                                      </p:cBhvr>
                                    </p:animEffect>
                                    <p:anim calcmode="lin" valueType="num">
                                      <p:cBhvr additive="base">
                                        <p:cTn id="58" dur="450" fill="hold"/>
                                        <p:tgtEl>
                                          <p:spTgt spid="26"/>
                                        </p:tgtEl>
                                        <p:attrNameLst>
                                          <p:attrName>ppt_x</p:attrName>
                                        </p:attrNameLst>
                                      </p:cBhvr>
                                      <p:tavLst>
                                        <p:tav tm="0">
                                          <p:val>
                                            <p:strVal val="#ppt_x"/>
                                          </p:val>
                                        </p:tav>
                                        <p:tav tm="100000">
                                          <p:val>
                                            <p:strVal val="#ppt_x"/>
                                          </p:val>
                                        </p:tav>
                                      </p:tavLst>
                                    </p:anim>
                                    <p:anim calcmode="lin" valueType="num">
                                      <p:cBhvr additive="base">
                                        <p:cTn id="59" dur="450" fill="hold"/>
                                        <p:tgtEl>
                                          <p:spTgt spid="26"/>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105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50"/>
                                        <p:tgtEl>
                                          <p:spTgt spid="27"/>
                                        </p:tgtEl>
                                      </p:cBhvr>
                                    </p:animEffect>
                                    <p:anim calcmode="lin" valueType="num">
                                      <p:cBhvr additive="base">
                                        <p:cTn id="63" dur="450" fill="hold"/>
                                        <p:tgtEl>
                                          <p:spTgt spid="27"/>
                                        </p:tgtEl>
                                        <p:attrNameLst>
                                          <p:attrName>ppt_x</p:attrName>
                                        </p:attrNameLst>
                                      </p:cBhvr>
                                      <p:tavLst>
                                        <p:tav tm="0">
                                          <p:val>
                                            <p:strVal val="#ppt_x"/>
                                          </p:val>
                                        </p:tav>
                                        <p:tav tm="100000">
                                          <p:val>
                                            <p:strVal val="#ppt_x"/>
                                          </p:val>
                                        </p:tav>
                                      </p:tavLst>
                                    </p:anim>
                                    <p:anim calcmode="lin" valueType="num">
                                      <p:cBhvr additive="base">
                                        <p:cTn id="64" dur="450" fill="hold"/>
                                        <p:tgtEl>
                                          <p:spTgt spid="27"/>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120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50"/>
                                        <p:tgtEl>
                                          <p:spTgt spid="28"/>
                                        </p:tgtEl>
                                      </p:cBhvr>
                                    </p:animEffect>
                                    <p:anim calcmode="lin" valueType="num">
                                      <p:cBhvr additive="base">
                                        <p:cTn id="68" dur="450" fill="hold"/>
                                        <p:tgtEl>
                                          <p:spTgt spid="28"/>
                                        </p:tgtEl>
                                        <p:attrNameLst>
                                          <p:attrName>ppt_x</p:attrName>
                                        </p:attrNameLst>
                                      </p:cBhvr>
                                      <p:tavLst>
                                        <p:tav tm="0">
                                          <p:val>
                                            <p:strVal val="#ppt_x"/>
                                          </p:val>
                                        </p:tav>
                                        <p:tav tm="100000">
                                          <p:val>
                                            <p:strVal val="#ppt_x"/>
                                          </p:val>
                                        </p:tav>
                                      </p:tavLst>
                                    </p:anim>
                                    <p:anim calcmode="lin" valueType="num">
                                      <p:cBhvr additive="base">
                                        <p:cTn id="69" dur="450" fill="hold"/>
                                        <p:tgtEl>
                                          <p:spTgt spid="28"/>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120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450"/>
                                        <p:tgtEl>
                                          <p:spTgt spid="29"/>
                                        </p:tgtEl>
                                      </p:cBhvr>
                                    </p:animEffect>
                                    <p:anim calcmode="lin" valueType="num">
                                      <p:cBhvr additive="base">
                                        <p:cTn id="73" dur="450" fill="hold"/>
                                        <p:tgtEl>
                                          <p:spTgt spid="29"/>
                                        </p:tgtEl>
                                        <p:attrNameLst>
                                          <p:attrName>ppt_x</p:attrName>
                                        </p:attrNameLst>
                                      </p:cBhvr>
                                      <p:tavLst>
                                        <p:tav tm="0">
                                          <p:val>
                                            <p:strVal val="#ppt_x"/>
                                          </p:val>
                                        </p:tav>
                                        <p:tav tm="100000">
                                          <p:val>
                                            <p:strVal val="#ppt_x"/>
                                          </p:val>
                                        </p:tav>
                                      </p:tavLst>
                                    </p:anim>
                                    <p:anim calcmode="lin" valueType="num">
                                      <p:cBhvr additive="base">
                                        <p:cTn id="74" dur="450" fill="hold"/>
                                        <p:tgtEl>
                                          <p:spTgt spid="29"/>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120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50"/>
                                        <p:tgtEl>
                                          <p:spTgt spid="30"/>
                                        </p:tgtEl>
                                      </p:cBhvr>
                                    </p:animEffect>
                                    <p:anim calcmode="lin" valueType="num">
                                      <p:cBhvr additive="base">
                                        <p:cTn id="78" dur="450" fill="hold"/>
                                        <p:tgtEl>
                                          <p:spTgt spid="30"/>
                                        </p:tgtEl>
                                        <p:attrNameLst>
                                          <p:attrName>ppt_x</p:attrName>
                                        </p:attrNameLst>
                                      </p:cBhvr>
                                      <p:tavLst>
                                        <p:tav tm="0">
                                          <p:val>
                                            <p:strVal val="#ppt_x"/>
                                          </p:val>
                                        </p:tav>
                                        <p:tav tm="100000">
                                          <p:val>
                                            <p:strVal val="#ppt_x"/>
                                          </p:val>
                                        </p:tav>
                                      </p:tavLst>
                                    </p:anim>
                                    <p:anim calcmode="lin" valueType="num">
                                      <p:cBhvr additive="base">
                                        <p:cTn id="79" dur="450" fill="hold"/>
                                        <p:tgtEl>
                                          <p:spTgt spid="30"/>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1349"/>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50"/>
                                        <p:tgtEl>
                                          <p:spTgt spid="31"/>
                                        </p:tgtEl>
                                      </p:cBhvr>
                                    </p:animEffect>
                                    <p:anim calcmode="lin" valueType="num">
                                      <p:cBhvr additive="base">
                                        <p:cTn id="83" dur="450" fill="hold"/>
                                        <p:tgtEl>
                                          <p:spTgt spid="31"/>
                                        </p:tgtEl>
                                        <p:attrNameLst>
                                          <p:attrName>ppt_x</p:attrName>
                                        </p:attrNameLst>
                                      </p:cBhvr>
                                      <p:tavLst>
                                        <p:tav tm="0">
                                          <p:val>
                                            <p:strVal val="#ppt_x"/>
                                          </p:val>
                                        </p:tav>
                                        <p:tav tm="100000">
                                          <p:val>
                                            <p:strVal val="#ppt_x"/>
                                          </p:val>
                                        </p:tav>
                                      </p:tavLst>
                                    </p:anim>
                                    <p:anim calcmode="lin" valueType="num">
                                      <p:cBhvr additive="base">
                                        <p:cTn id="84" dur="450" fill="hold"/>
                                        <p:tgtEl>
                                          <p:spTgt spid="31"/>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1349"/>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anim calcmode="lin" valueType="num">
                                      <p:cBhvr additive="base">
                                        <p:cTn id="88" dur="450" fill="hold"/>
                                        <p:tgtEl>
                                          <p:spTgt spid="32"/>
                                        </p:tgtEl>
                                        <p:attrNameLst>
                                          <p:attrName>ppt_x</p:attrName>
                                        </p:attrNameLst>
                                      </p:cBhvr>
                                      <p:tavLst>
                                        <p:tav tm="0">
                                          <p:val>
                                            <p:strVal val="#ppt_x"/>
                                          </p:val>
                                        </p:tav>
                                        <p:tav tm="100000">
                                          <p:val>
                                            <p:strVal val="#ppt_x"/>
                                          </p:val>
                                        </p:tav>
                                      </p:tavLst>
                                    </p:anim>
                                    <p:anim calcmode="lin" valueType="num">
                                      <p:cBhvr additive="base">
                                        <p:cTn id="89" dur="450" fill="hold"/>
                                        <p:tgtEl>
                                          <p:spTgt spid="32"/>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1349"/>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50"/>
                                        <p:tgtEl>
                                          <p:spTgt spid="33"/>
                                        </p:tgtEl>
                                      </p:cBhvr>
                                    </p:animEffect>
                                    <p:anim calcmode="lin" valueType="num">
                                      <p:cBhvr additive="base">
                                        <p:cTn id="93" dur="450" fill="hold"/>
                                        <p:tgtEl>
                                          <p:spTgt spid="33"/>
                                        </p:tgtEl>
                                        <p:attrNameLst>
                                          <p:attrName>ppt_x</p:attrName>
                                        </p:attrNameLst>
                                      </p:cBhvr>
                                      <p:tavLst>
                                        <p:tav tm="0">
                                          <p:val>
                                            <p:strVal val="#ppt_x"/>
                                          </p:val>
                                        </p:tav>
                                        <p:tav tm="100000">
                                          <p:val>
                                            <p:strVal val="#ppt_x"/>
                                          </p:val>
                                        </p:tav>
                                      </p:tavLst>
                                    </p:anim>
                                    <p:anim calcmode="lin" valueType="num">
                                      <p:cBhvr additive="base">
                                        <p:cTn id="94" dur="450" fill="hold"/>
                                        <p:tgtEl>
                                          <p:spTgt spid="3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3" grpId="0" animBg="1"/>
      <p:bldP spid="21" grpId="0" animBg="1"/>
      <p:bldP spid="4" grpId="0" animBg="1"/>
      <p:bldP spid="5" grpId="0" animBg="1"/>
      <p:bldP spid="6"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4120C"/>
        </a:solidFill>
        <a:effectLst/>
      </p:bgPr>
    </p:bg>
    <p:spTree>
      <p:nvGrpSpPr>
        <p:cNvPr id="1" name=""/>
        <p:cNvGrpSpPr/>
        <p:nvPr/>
      </p:nvGrpSpPr>
      <p:grpSpPr/>
      <p:pic>
        <p:nvPicPr>
          <p:cNvPr id="2" name="!!bg" descr="bg_right.jpg"/>
          <p:cNvPicPr>
            <a:picLocks noChangeAspect="1"/>
          </p:cNvPicPr>
          <p:nvPr/>
        </p:nvPicPr>
        <p:blipFill>
          <a:blip r:embed="rId2"/>
          <a:srcRect l="1" r="1"/>
          <a:stretch>
            <a:fillRect/>
          </a:stretch>
        </p:blipFill>
        <p:spPr>
          <a:xfrm>
            <a:off x="0" y="0"/>
            <a:ext cx="12191695" cy="6858000"/>
          </a:xfrm>
          <a:prstGeom prst="rect">
            <a:avLst/>
          </a:prstGeom>
        </p:spPr>
      </p:pic>
      <p:cxnSp>
        <p:nvCxnSpPr>
          <p:cNvPr id="3" name="!!link_core_research"/>
          <p:cNvCxnSpPr/>
          <p:nvPr/>
        </p:nvCxnSpPr>
        <p:spPr>
          <a:xfrm flipH="1" flipV="1">
            <a:off x="7086600" y="2459736"/>
            <a:ext cx="2011680" cy="1060704"/>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cxnSp>
        <p:nvCxnSpPr>
          <p:cNvPr id="4" name="!!link_core_training"/>
          <p:cNvCxnSpPr/>
          <p:nvPr/>
        </p:nvCxnSpPr>
        <p:spPr>
          <a:xfrm flipV="1">
            <a:off x="9098280" y="2459736"/>
            <a:ext cx="2011680" cy="1060704"/>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cxnSp>
        <p:nvCxnSpPr>
          <p:cNvPr id="5" name="!!link_core_trace"/>
          <p:cNvCxnSpPr/>
          <p:nvPr/>
        </p:nvCxnSpPr>
        <p:spPr>
          <a:xfrm>
            <a:off x="9098280" y="3520440"/>
            <a:ext cx="2011680" cy="1060704"/>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cxnSp>
        <p:nvCxnSpPr>
          <p:cNvPr id="6" name="!!link_core_iot"/>
          <p:cNvCxnSpPr/>
          <p:nvPr/>
        </p:nvCxnSpPr>
        <p:spPr>
          <a:xfrm flipH="1">
            <a:off x="7086600" y="3520440"/>
            <a:ext cx="2011680" cy="1060704"/>
          </a:xfrm>
          <a:prstGeom prst="line">
            <a:avLst/>
          </a:prstGeom>
          <a:ln w="25400">
            <a:solidFill>
              <a:srgbClr val="7FC211">
                <a:alpha val="70000"/>
              </a:srgbClr>
            </a:solidFill>
          </a:ln>
          <a:effectLst>
            <a:glow rad="73152">
              <a:srgbClr val="7FC211">
                <a:alpha val="45000"/>
              </a:srgbClr>
            </a:glow>
          </a:effectLst>
        </p:spPr>
        <p:style>
          <a:lnRef idx="2">
            <a:schemeClr val="accent1"/>
          </a:lnRef>
          <a:fillRef idx="0">
            <a:schemeClr val="accent1"/>
          </a:fillRef>
          <a:effectRef idx="0">
            <a:schemeClr val="accent1"/>
          </a:effectRef>
          <a:fontRef idx="minor">
            <a:schemeClr val="tx1"/>
          </a:fontRef>
        </p:style>
      </p:cxnSp>
      <p:pic>
        <p:nvPicPr>
          <p:cNvPr id="7" name="!!glow_research" descr="glow_7FC211_30_1.7.png"/>
          <p:cNvPicPr>
            <a:picLocks noChangeAspect="1"/>
          </p:cNvPicPr>
          <p:nvPr/>
        </p:nvPicPr>
        <p:blipFill>
          <a:blip r:embed="rId3"/>
          <a:stretch>
            <a:fillRect/>
          </a:stretch>
        </p:blipFill>
        <p:spPr>
          <a:xfrm>
            <a:off x="6126480" y="1609344"/>
            <a:ext cx="1920240" cy="1920240"/>
          </a:xfrm>
          <a:prstGeom prst="rect">
            <a:avLst/>
          </a:prstGeom>
        </p:spPr>
      </p:pic>
      <p:pic>
        <p:nvPicPr>
          <p:cNvPr id="8" name="!!research" descr="research.png"/>
          <p:cNvPicPr>
            <a:picLocks noChangeAspect="1"/>
          </p:cNvPicPr>
          <p:nvPr/>
        </p:nvPicPr>
        <p:blipFill>
          <a:blip r:embed="rId4"/>
          <a:srcRect/>
          <a:stretch>
            <a:fillRect/>
          </a:stretch>
        </p:blipFill>
        <p:spPr>
          <a:xfrm>
            <a:off x="6172200" y="1452720"/>
            <a:ext cx="1828800" cy="1698171"/>
          </a:xfrm>
          <a:prstGeom prst="rect">
            <a:avLst/>
          </a:prstGeom>
        </p:spPr>
      </p:pic>
      <p:pic>
        <p:nvPicPr>
          <p:cNvPr id="9" name="!!glow_training" descr="glow_7FC211_30_1.7.png"/>
          <p:cNvPicPr>
            <a:picLocks noChangeAspect="1"/>
          </p:cNvPicPr>
          <p:nvPr/>
        </p:nvPicPr>
        <p:blipFill>
          <a:blip r:embed="rId3"/>
          <a:stretch>
            <a:fillRect/>
          </a:stretch>
        </p:blipFill>
        <p:spPr>
          <a:xfrm>
            <a:off x="10149840" y="1609344"/>
            <a:ext cx="1920240" cy="1920240"/>
          </a:xfrm>
          <a:prstGeom prst="rect">
            <a:avLst/>
          </a:prstGeom>
        </p:spPr>
      </p:pic>
      <p:pic>
        <p:nvPicPr>
          <p:cNvPr id="10" name="!!training" descr="training.png"/>
          <p:cNvPicPr>
            <a:picLocks noChangeAspect="1"/>
          </p:cNvPicPr>
          <p:nvPr/>
        </p:nvPicPr>
        <p:blipFill>
          <a:blip r:embed="rId5"/>
          <a:srcRect/>
          <a:stretch>
            <a:fillRect/>
          </a:stretch>
        </p:blipFill>
        <p:spPr>
          <a:xfrm>
            <a:off x="10195560" y="1452720"/>
            <a:ext cx="1828800" cy="1698171"/>
          </a:xfrm>
          <a:prstGeom prst="rect">
            <a:avLst/>
          </a:prstGeom>
        </p:spPr>
      </p:pic>
      <p:pic>
        <p:nvPicPr>
          <p:cNvPr id="11" name="!!glow_core" descr="glow_7FC211_30_1.7.png"/>
          <p:cNvPicPr>
            <a:picLocks noChangeAspect="1"/>
          </p:cNvPicPr>
          <p:nvPr/>
        </p:nvPicPr>
        <p:blipFill>
          <a:blip r:embed="rId3"/>
          <a:stretch>
            <a:fillRect/>
          </a:stretch>
        </p:blipFill>
        <p:spPr>
          <a:xfrm>
            <a:off x="7514082" y="2117293"/>
            <a:ext cx="3168396" cy="3168396"/>
          </a:xfrm>
          <a:prstGeom prst="rect">
            <a:avLst/>
          </a:prstGeom>
        </p:spPr>
      </p:pic>
      <p:pic>
        <p:nvPicPr>
          <p:cNvPr id="12" name="!!core" descr="core.png"/>
          <p:cNvPicPr>
            <a:picLocks noChangeAspect="1"/>
          </p:cNvPicPr>
          <p:nvPr/>
        </p:nvPicPr>
        <p:blipFill>
          <a:blip r:embed="rId6"/>
          <a:srcRect/>
          <a:stretch>
            <a:fillRect/>
          </a:stretch>
        </p:blipFill>
        <p:spPr>
          <a:xfrm>
            <a:off x="7589520" y="1858864"/>
            <a:ext cx="3017520" cy="2801983"/>
          </a:xfrm>
          <a:prstGeom prst="rect">
            <a:avLst/>
          </a:prstGeom>
        </p:spPr>
      </p:pic>
      <p:pic>
        <p:nvPicPr>
          <p:cNvPr id="13" name="!!glow_trace" descr="glow_7FC211_30_1.7.png"/>
          <p:cNvPicPr>
            <a:picLocks noChangeAspect="1"/>
          </p:cNvPicPr>
          <p:nvPr/>
        </p:nvPicPr>
        <p:blipFill>
          <a:blip r:embed="rId3"/>
          <a:stretch>
            <a:fillRect/>
          </a:stretch>
        </p:blipFill>
        <p:spPr>
          <a:xfrm>
            <a:off x="10149840" y="3730752"/>
            <a:ext cx="1920240" cy="1920240"/>
          </a:xfrm>
          <a:prstGeom prst="rect">
            <a:avLst/>
          </a:prstGeom>
        </p:spPr>
      </p:pic>
      <p:pic>
        <p:nvPicPr>
          <p:cNvPr id="14" name="!!trace" descr="trace.png"/>
          <p:cNvPicPr>
            <a:picLocks noChangeAspect="1"/>
          </p:cNvPicPr>
          <p:nvPr/>
        </p:nvPicPr>
        <p:blipFill>
          <a:blip r:embed="rId7"/>
          <a:srcRect/>
          <a:stretch>
            <a:fillRect/>
          </a:stretch>
        </p:blipFill>
        <p:spPr>
          <a:xfrm>
            <a:off x="10195560" y="3574128"/>
            <a:ext cx="1828800" cy="1698171"/>
          </a:xfrm>
          <a:prstGeom prst="rect">
            <a:avLst/>
          </a:prstGeom>
        </p:spPr>
      </p:pic>
      <p:pic>
        <p:nvPicPr>
          <p:cNvPr id="15" name="!!glow_iot" descr="glow_7FC211_30_1.7.png"/>
          <p:cNvPicPr>
            <a:picLocks noChangeAspect="1"/>
          </p:cNvPicPr>
          <p:nvPr/>
        </p:nvPicPr>
        <p:blipFill>
          <a:blip r:embed="rId3"/>
          <a:stretch>
            <a:fillRect/>
          </a:stretch>
        </p:blipFill>
        <p:spPr>
          <a:xfrm>
            <a:off x="6126480" y="3730752"/>
            <a:ext cx="1920240" cy="1920240"/>
          </a:xfrm>
          <a:prstGeom prst="rect">
            <a:avLst/>
          </a:prstGeom>
        </p:spPr>
      </p:pic>
      <p:pic>
        <p:nvPicPr>
          <p:cNvPr id="16" name="!!iot" descr="iot.png"/>
          <p:cNvPicPr>
            <a:picLocks noChangeAspect="1"/>
          </p:cNvPicPr>
          <p:nvPr/>
        </p:nvPicPr>
        <p:blipFill>
          <a:blip r:embed="rId8"/>
          <a:srcRect/>
          <a:stretch>
            <a:fillRect/>
          </a:stretch>
        </p:blipFill>
        <p:spPr>
          <a:xfrm>
            <a:off x="6172200" y="3574128"/>
            <a:ext cx="1828800" cy="1698171"/>
          </a:xfrm>
          <a:prstGeom prst="rect">
            <a:avLst/>
          </a:prstGeom>
        </p:spPr>
      </p:pic>
      <p:sp>
        <p:nvSpPr>
          <p:cNvPr id="17" name="!!title"/>
          <p:cNvSpPr txBox="1"/>
          <p:nvPr/>
        </p:nvSpPr>
        <p:spPr>
          <a:xfrm>
            <a:off x="685800" y="1005840"/>
            <a:ext cx="5760720" cy="1488440"/>
          </a:xfrm>
          <a:prstGeom prst="rect">
            <a:avLst/>
          </a:prstGeom>
          <a:noFill/>
        </p:spPr>
        <p:txBody>
          <a:bodyPr wrap="square" lIns="0" rIns="0" tIns="0" bIns="0" anchor="t">
            <a:noAutofit/>
          </a:bodyPr>
          <a:lstStyle/>
          <a:p>
            <a:pPr algn="l">
              <a:lnSpc>
                <a:spcPct val="98000"/>
              </a:lnSpc>
              <a:spcAft>
                <a:spcPts val="0"/>
              </a:spcAft>
            </a:pPr>
            <a:r>
              <a:rPr sz="5000" b="0" i="0">
                <a:solidFill>
                  <a:srgbClr val="FFFFFF"/>
                </a:solidFill>
                <a:latin typeface="Be Vietnam Pro ExtraBold"/>
                <a:ea typeface="Be Vietnam Pro ExtraBold"/>
                <a:cs typeface="Be Vietnam Pro ExtraBold"/>
              </a:rPr>
              <a:t>Trân trọng</a:t>
            </a:r>
          </a:p>
          <a:p>
            <a:pPr algn="l">
              <a:lnSpc>
                <a:spcPct val="98000"/>
              </a:lnSpc>
              <a:spcAft>
                <a:spcPts val="0"/>
              </a:spcAft>
            </a:pPr>
            <a:r>
              <a:rPr sz="5000" b="0" i="0">
                <a:solidFill>
                  <a:srgbClr val="8FD11E"/>
                </a:solidFill>
                <a:latin typeface="Be Vietnam Pro ExtraBold"/>
                <a:ea typeface="Be Vietnam Pro ExtraBold"/>
                <a:cs typeface="Be Vietnam Pro ExtraBold"/>
              </a:rPr>
              <a:t>cảm ơn</a:t>
            </a:r>
          </a:p>
        </p:txBody>
      </p:sp>
      <p:sp>
        <p:nvSpPr>
          <p:cNvPr id="18" name="!!lead"/>
          <p:cNvSpPr txBox="1"/>
          <p:nvPr/>
        </p:nvSpPr>
        <p:spPr>
          <a:xfrm>
            <a:off x="685800" y="2540000"/>
            <a:ext cx="5120640" cy="822960"/>
          </a:xfrm>
          <a:prstGeom prst="rect">
            <a:avLst/>
          </a:prstGeom>
          <a:noFill/>
        </p:spPr>
        <p:txBody>
          <a:bodyPr wrap="square" lIns="0" rIns="0" tIns="0" bIns="0" anchor="t">
            <a:noAutofit/>
          </a:bodyPr>
          <a:lstStyle/>
          <a:p>
            <a:pPr algn="l">
              <a:lnSpc>
                <a:spcPct val="120000"/>
              </a:lnSpc>
              <a:spcAft>
                <a:spcPts val="0"/>
              </a:spcAft>
            </a:pPr>
            <a:r>
              <a:rPr sz="1600" b="0" i="0">
                <a:solidFill>
                  <a:srgbClr val="C9D8CE"/>
                </a:solidFill>
                <a:latin typeface="Be Vietnam Pro Light"/>
                <a:ea typeface="Be Vietnam Pro Light"/>
                <a:cs typeface="Be Vietnam Pro Light"/>
              </a:rPr>
              <a:t>Rất mong được </a:t>
            </a:r>
            <a:r>
              <a:rPr sz="1600" b="0" i="0">
                <a:solidFill>
                  <a:srgbClr val="8FD11E"/>
                </a:solidFill>
                <a:latin typeface="Be Vietnam Pro Medium"/>
                <a:ea typeface="Be Vietnam Pro Medium"/>
                <a:cs typeface="Be Vietnam Pro Medium"/>
              </a:rPr>
              <a:t>đồng hành cùng Quý vị</a:t>
            </a:r>
            <a:r>
              <a:rPr sz="1600" b="0" i="0">
                <a:solidFill>
                  <a:srgbClr val="C9D8CE"/>
                </a:solidFill>
                <a:latin typeface="Be Vietnam Pro Light"/>
                <a:ea typeface="Be Vietnam Pro Light"/>
                <a:cs typeface="Be Vietnam Pro Light"/>
              </a:rPr>
              <a:t>.</a:t>
            </a:r>
          </a:p>
        </p:txBody>
      </p:sp>
      <p:pic>
        <p:nvPicPr>
          <p:cNvPr id="19" name="Picture 18" descr="globe_8FD11E.png"/>
          <p:cNvPicPr>
            <a:picLocks noChangeAspect="1"/>
          </p:cNvPicPr>
          <p:nvPr/>
        </p:nvPicPr>
        <p:blipFill>
          <a:blip r:embed="rId9"/>
          <a:stretch>
            <a:fillRect/>
          </a:stretch>
        </p:blipFill>
        <p:spPr>
          <a:xfrm>
            <a:off x="685800" y="3483864"/>
            <a:ext cx="274320" cy="274320"/>
          </a:xfrm>
          <a:prstGeom prst="rect">
            <a:avLst/>
          </a:prstGeom>
        </p:spPr>
      </p:pic>
      <p:sp>
        <p:nvSpPr>
          <p:cNvPr id="20" name="TextBox 19"/>
          <p:cNvSpPr txBox="1"/>
          <p:nvPr/>
        </p:nvSpPr>
        <p:spPr>
          <a:xfrm>
            <a:off x="1124712" y="3429000"/>
            <a:ext cx="4572000" cy="384048"/>
          </a:xfrm>
          <a:prstGeom prst="rect">
            <a:avLst/>
          </a:prstGeom>
          <a:noFill/>
        </p:spPr>
        <p:txBody>
          <a:bodyPr wrap="square" lIns="0" rIns="0" tIns="0" bIns="0" anchor="ctr">
            <a:noAutofit/>
          </a:bodyPr>
          <a:lstStyle/>
          <a:p>
            <a:pPr algn="l">
              <a:lnSpc>
                <a:spcPct val="115000"/>
              </a:lnSpc>
              <a:spcAft>
                <a:spcPts val="0"/>
              </a:spcAft>
            </a:pPr>
            <a:r>
              <a:rPr sz="1400" b="0" i="0">
                <a:solidFill>
                  <a:srgbClr val="FFFFFF"/>
                </a:solidFill>
                <a:latin typeface="Be Vietnam Pro Medium"/>
                <a:ea typeface="Be Vietnam Pro Medium"/>
                <a:cs typeface="Be Vietnam Pro Medium"/>
              </a:rPr>
              <a:t>www.vienstp.com</a:t>
            </a:r>
          </a:p>
        </p:txBody>
      </p:sp>
      <p:pic>
        <p:nvPicPr>
          <p:cNvPr id="21" name="Picture 20" descr="mail_8FD11E.png"/>
          <p:cNvPicPr>
            <a:picLocks noChangeAspect="1"/>
          </p:cNvPicPr>
          <p:nvPr/>
        </p:nvPicPr>
        <p:blipFill>
          <a:blip r:embed="rId10"/>
          <a:stretch>
            <a:fillRect/>
          </a:stretch>
        </p:blipFill>
        <p:spPr>
          <a:xfrm>
            <a:off x="685800" y="3941064"/>
            <a:ext cx="274320" cy="274320"/>
          </a:xfrm>
          <a:prstGeom prst="rect">
            <a:avLst/>
          </a:prstGeom>
        </p:spPr>
      </p:pic>
      <p:sp>
        <p:nvSpPr>
          <p:cNvPr id="22" name="TextBox 21"/>
          <p:cNvSpPr txBox="1"/>
          <p:nvPr/>
        </p:nvSpPr>
        <p:spPr>
          <a:xfrm>
            <a:off x="1124712" y="3886200"/>
            <a:ext cx="4572000" cy="384048"/>
          </a:xfrm>
          <a:prstGeom prst="rect">
            <a:avLst/>
          </a:prstGeom>
          <a:noFill/>
        </p:spPr>
        <p:txBody>
          <a:bodyPr wrap="square" lIns="0" rIns="0" tIns="0" bIns="0" anchor="ctr">
            <a:noAutofit/>
          </a:bodyPr>
          <a:lstStyle/>
          <a:p>
            <a:pPr algn="l">
              <a:lnSpc>
                <a:spcPct val="115000"/>
              </a:lnSpc>
              <a:spcAft>
                <a:spcPts val="0"/>
              </a:spcAft>
            </a:pPr>
            <a:r>
              <a:rPr sz="1400" b="0" i="0">
                <a:solidFill>
                  <a:srgbClr val="FFFFFF"/>
                </a:solidFill>
                <a:latin typeface="Be Vietnam Pro Medium"/>
                <a:ea typeface="Be Vietnam Pro Medium"/>
                <a:cs typeface="Be Vietnam Pro Medium"/>
              </a:rPr>
              <a:t>viencongnghestp@gmail.com</a:t>
            </a:r>
          </a:p>
        </p:txBody>
      </p:sp>
      <p:pic>
        <p:nvPicPr>
          <p:cNvPr id="23" name="Picture 22" descr="phone_8FD11E.png"/>
          <p:cNvPicPr>
            <a:picLocks noChangeAspect="1"/>
          </p:cNvPicPr>
          <p:nvPr/>
        </p:nvPicPr>
        <p:blipFill>
          <a:blip r:embed="rId11"/>
          <a:stretch>
            <a:fillRect/>
          </a:stretch>
        </p:blipFill>
        <p:spPr>
          <a:xfrm>
            <a:off x="685800" y="4398264"/>
            <a:ext cx="274320" cy="274320"/>
          </a:xfrm>
          <a:prstGeom prst="rect">
            <a:avLst/>
          </a:prstGeom>
        </p:spPr>
      </p:pic>
      <p:sp>
        <p:nvSpPr>
          <p:cNvPr id="24" name="TextBox 23"/>
          <p:cNvSpPr txBox="1"/>
          <p:nvPr/>
        </p:nvSpPr>
        <p:spPr>
          <a:xfrm>
            <a:off x="1124712" y="4343400"/>
            <a:ext cx="4572000" cy="384048"/>
          </a:xfrm>
          <a:prstGeom prst="rect">
            <a:avLst/>
          </a:prstGeom>
          <a:noFill/>
        </p:spPr>
        <p:txBody>
          <a:bodyPr wrap="square" lIns="0" rIns="0" tIns="0" bIns="0" anchor="ctr">
            <a:noAutofit/>
          </a:bodyPr>
          <a:lstStyle/>
          <a:p>
            <a:pPr algn="l">
              <a:lnSpc>
                <a:spcPct val="115000"/>
              </a:lnSpc>
              <a:spcAft>
                <a:spcPts val="0"/>
              </a:spcAft>
            </a:pPr>
            <a:r>
              <a:rPr sz="1400" b="0" i="0">
                <a:solidFill>
                  <a:srgbClr val="FFFFFF"/>
                </a:solidFill>
                <a:latin typeface="Be Vietnam Pro Medium"/>
                <a:ea typeface="Be Vietnam Pro Medium"/>
                <a:cs typeface="Be Vietnam Pro Medium"/>
              </a:rPr>
              <a:t>0827.695.368 · 0968.702.701</a:t>
            </a:r>
          </a:p>
        </p:txBody>
      </p:sp>
      <p:sp>
        <p:nvSpPr>
          <p:cNvPr id="25" name="Rounded Rectangle 24"/>
          <p:cNvSpPr/>
          <p:nvPr/>
        </p:nvSpPr>
        <p:spPr>
          <a:xfrm>
            <a:off x="685800" y="5257800"/>
            <a:ext cx="1188720" cy="1188720"/>
          </a:xfrm>
          <a:prstGeom prst="roundRect">
            <a:avLst>
              <a:gd name="adj" fmla="val 923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6" name="Picture 25" descr="qr_stp.png"/>
          <p:cNvPicPr>
            <a:picLocks noChangeAspect="1"/>
          </p:cNvPicPr>
          <p:nvPr/>
        </p:nvPicPr>
        <p:blipFill>
          <a:blip r:embed="rId12"/>
          <a:srcRect/>
          <a:stretch>
            <a:fillRect/>
          </a:stretch>
        </p:blipFill>
        <p:spPr>
          <a:xfrm>
            <a:off x="777240" y="5349240"/>
            <a:ext cx="1005840" cy="1005840"/>
          </a:xfrm>
          <a:prstGeom prst="rect">
            <a:avLst/>
          </a:prstGeom>
        </p:spPr>
      </p:pic>
      <p:sp>
        <p:nvSpPr>
          <p:cNvPr id="27" name="TextBox 26"/>
          <p:cNvSpPr txBox="1"/>
          <p:nvPr/>
        </p:nvSpPr>
        <p:spPr>
          <a:xfrm>
            <a:off x="2011680" y="5257800"/>
            <a:ext cx="3200400" cy="1188720"/>
          </a:xfrm>
          <a:prstGeom prst="rect">
            <a:avLst/>
          </a:prstGeom>
          <a:noFill/>
        </p:spPr>
        <p:txBody>
          <a:bodyPr wrap="square" lIns="0" rIns="0" tIns="0" bIns="0" anchor="ctr">
            <a:noAutofit/>
          </a:bodyPr>
          <a:lstStyle/>
          <a:p>
            <a:pPr algn="l">
              <a:lnSpc>
                <a:spcPct val="115000"/>
              </a:lnSpc>
              <a:spcAft>
                <a:spcPts val="0"/>
              </a:spcAft>
            </a:pPr>
            <a:r>
              <a:rPr sz="1250" b="0" i="0">
                <a:solidFill>
                  <a:srgbClr val="C9D8CE"/>
                </a:solidFill>
                <a:latin typeface="Be Vietnam Pro Medium"/>
                <a:ea typeface="Be Vietnam Pro Medium"/>
                <a:cs typeface="Be Vietnam Pro Medium"/>
              </a:rPr>
              <a:t>Quét mã để kết nối</a:t>
            </a:r>
          </a:p>
          <a:p>
            <a:pPr algn="l">
              <a:lnSpc>
                <a:spcPct val="115000"/>
              </a:lnSpc>
              <a:spcAft>
                <a:spcPts val="0"/>
              </a:spcAft>
            </a:pPr>
            <a:r>
              <a:rPr sz="1250" b="0" i="0">
                <a:solidFill>
                  <a:srgbClr val="C9D8CE"/>
                </a:solidFill>
                <a:latin typeface="Be Vietnam Pro Medium"/>
                <a:ea typeface="Be Vietnam Pro Medium"/>
                <a:cs typeface="Be Vietnam Pro Medium"/>
              </a:rPr>
              <a:t>với Viện STP</a:t>
            </a:r>
          </a:p>
        </p:txBody>
      </p:sp>
      <p:pic>
        <p:nvPicPr>
          <p:cNvPr id="28" name="!!logo" descr="logo_stp.png"/>
          <p:cNvPicPr>
            <a:picLocks noChangeAspect="1"/>
          </p:cNvPicPr>
          <p:nvPr/>
        </p:nvPicPr>
        <p:blipFill>
          <a:blip r:embed="rId13"/>
          <a:stretch>
            <a:fillRect/>
          </a:stretch>
        </p:blipFill>
        <p:spPr>
          <a:xfrm>
            <a:off x="10024567" y="384048"/>
            <a:ext cx="420624" cy="42062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400"/>
                                        <p:tgtEl>
                                          <p:spTgt spid="28"/>
                                        </p:tgtEl>
                                      </p:cBhvr>
                                    </p:animEffect>
                                  </p:childTnLst>
                                </p:cTn>
                              </p:par>
                              <p:par>
                                <p:cTn id="8" presetID="42" presetClass="entr" presetSubtype="0" fill="hold" grpId="0" nodeType="withEffect">
                                  <p:stCondLst>
                                    <p:cond delay="5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900"/>
                                        <p:tgtEl>
                                          <p:spTgt spid="17"/>
                                        </p:tgtEl>
                                      </p:cBhvr>
                                    </p:animEffect>
                                    <p:anim calcmode="lin" valueType="num">
                                      <p:cBhvr additive="base">
                                        <p:cTn id="11" dur="900" fill="hold"/>
                                        <p:tgtEl>
                                          <p:spTgt spid="17"/>
                                        </p:tgtEl>
                                        <p:attrNameLst>
                                          <p:attrName>ppt_x</p:attrName>
                                        </p:attrNameLst>
                                      </p:cBhvr>
                                      <p:tavLst>
                                        <p:tav tm="0">
                                          <p:val>
                                            <p:strVal val="#ppt_x"/>
                                          </p:val>
                                        </p:tav>
                                        <p:tav tm="100000">
                                          <p:val>
                                            <p:strVal val="#ppt_x"/>
                                          </p:val>
                                        </p:tav>
                                      </p:tavLst>
                                    </p:anim>
                                    <p:anim calcmode="lin" valueType="num">
                                      <p:cBhvr additive="base">
                                        <p:cTn id="12" dur="900" fill="hold"/>
                                        <p:tgtEl>
                                          <p:spTgt spid="17"/>
                                        </p:tgtEl>
                                        <p:attrNameLst>
                                          <p:attrName>ppt_y</p:attrName>
                                        </p:attrNameLst>
                                      </p:cBhvr>
                                      <p:tavLst>
                                        <p:tav tm="0">
                                          <p:val>
                                            <p:strVal val="#ppt_y+.06"/>
                                          </p:val>
                                        </p:tav>
                                        <p:tav tm="100000">
                                          <p:val>
                                            <p:strVal val="#ppt_y"/>
                                          </p:val>
                                        </p:tav>
                                      </p:tavLst>
                                    </p:anim>
                                  </p:childTnLst>
                                </p:cTn>
                              </p:par>
                              <p:par>
                                <p:cTn id="13" presetID="10" presetClass="entr" presetSubtype="0" fill="hold" grpId="0" nodeType="withEffect">
                                  <p:stCondLst>
                                    <p:cond delay="10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600"/>
                                        <p:tgtEl>
                                          <p:spTgt spid="18"/>
                                        </p:tgtEl>
                                      </p:cBhvr>
                                    </p:animEffect>
                                  </p:childTnLst>
                                </p:cTn>
                              </p:par>
                              <p:par>
                                <p:cTn id="16" presetID="10" presetClass="entr" presetSubtype="0" fill="hold" grpId="0" nodeType="withEffect">
                                  <p:stCondLst>
                                    <p:cond delay="130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par>
                                <p:cTn id="19" presetID="10" presetClass="entr" presetSubtype="0" fill="hold" grpId="0" nodeType="withEffect">
                                  <p:stCondLst>
                                    <p:cond delay="13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400"/>
                                        <p:tgtEl>
                                          <p:spTgt spid="20"/>
                                        </p:tgtEl>
                                      </p:cBhvr>
                                    </p:animEffect>
                                  </p:childTnLst>
                                </p:cTn>
                              </p:par>
                              <p:par>
                                <p:cTn id="22" presetID="10" presetClass="entr" presetSubtype="0" fill="hold" grpId="0" nodeType="withEffect">
                                  <p:stCondLst>
                                    <p:cond delay="142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400"/>
                                        <p:tgtEl>
                                          <p:spTgt spid="21"/>
                                        </p:tgtEl>
                                      </p:cBhvr>
                                    </p:animEffect>
                                  </p:childTnLst>
                                </p:cTn>
                              </p:par>
                              <p:par>
                                <p:cTn id="25" presetID="10" presetClass="entr" presetSubtype="0" fill="hold" grpId="0" nodeType="withEffect">
                                  <p:stCondLst>
                                    <p:cond delay="142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400"/>
                                        <p:tgtEl>
                                          <p:spTgt spid="22"/>
                                        </p:tgtEl>
                                      </p:cBhvr>
                                    </p:animEffect>
                                  </p:childTnLst>
                                </p:cTn>
                              </p:par>
                              <p:par>
                                <p:cTn id="28" presetID="10" presetClass="entr" presetSubtype="0" fill="hold" grpId="0" nodeType="withEffect">
                                  <p:stCondLst>
                                    <p:cond delay="154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400"/>
                                        <p:tgtEl>
                                          <p:spTgt spid="23"/>
                                        </p:tgtEl>
                                      </p:cBhvr>
                                    </p:animEffect>
                                  </p:childTnLst>
                                </p:cTn>
                              </p:par>
                              <p:par>
                                <p:cTn id="31" presetID="10" presetClass="entr" presetSubtype="0" fill="hold" grpId="0" nodeType="withEffect">
                                  <p:stCondLst>
                                    <p:cond delay="154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400"/>
                                        <p:tgtEl>
                                          <p:spTgt spid="24"/>
                                        </p:tgtEl>
                                      </p:cBhvr>
                                    </p:animEffect>
                                  </p:childTnLst>
                                </p:cTn>
                              </p:par>
                              <p:par>
                                <p:cTn id="34" presetID="53" presetClass="entr" presetSubtype="16" fill="hold" grpId="0" nodeType="withEffect">
                                  <p:stCondLst>
                                    <p:cond delay="1700"/>
                                  </p:stCondLst>
                                  <p:childTnLst>
                                    <p:set>
                                      <p:cBhvr>
                                        <p:cTn id="35" dur="1" fill="hold">
                                          <p:stCondLst>
                                            <p:cond delay="0"/>
                                          </p:stCondLst>
                                        </p:cTn>
                                        <p:tgtEl>
                                          <p:spTgt spid="25"/>
                                        </p:tgtEl>
                                        <p:attrNameLst>
                                          <p:attrName>style.visibility</p:attrName>
                                        </p:attrNameLst>
                                      </p:cBhvr>
                                      <p:to>
                                        <p:strVal val="visible"/>
                                      </p:to>
                                    </p:set>
                                    <p:anim calcmode="lin" valueType="num">
                                      <p:cBhvr additive="base">
                                        <p:cTn id="36" dur="400" fill="hold"/>
                                        <p:tgtEl>
                                          <p:spTgt spid="25"/>
                                        </p:tgtEl>
                                        <p:attrNameLst>
                                          <p:attrName>ppt_w</p:attrName>
                                        </p:attrNameLst>
                                      </p:cBhvr>
                                      <p:tavLst>
                                        <p:tav tm="0">
                                          <p:val>
                                            <p:strVal val="#ppt_w*0.7"/>
                                          </p:val>
                                        </p:tav>
                                        <p:tav tm="100000">
                                          <p:val>
                                            <p:strVal val="#ppt_w"/>
                                          </p:val>
                                        </p:tav>
                                      </p:tavLst>
                                    </p:anim>
                                    <p:anim calcmode="lin" valueType="num">
                                      <p:cBhvr additive="base">
                                        <p:cTn id="37" dur="400" fill="hold"/>
                                        <p:tgtEl>
                                          <p:spTgt spid="25"/>
                                        </p:tgtEl>
                                        <p:attrNameLst>
                                          <p:attrName>ppt_h</p:attrName>
                                        </p:attrNameLst>
                                      </p:cBhvr>
                                      <p:tavLst>
                                        <p:tav tm="0">
                                          <p:val>
                                            <p:strVal val="#ppt_h*0.7"/>
                                          </p:val>
                                        </p:tav>
                                        <p:tav tm="100000">
                                          <p:val>
                                            <p:strVal val="#ppt_h"/>
                                          </p:val>
                                        </p:tav>
                                      </p:tavLst>
                                    </p:anim>
                                    <p:animEffect transition="in" filter="fade">
                                      <p:cBhvr>
                                        <p:cTn id="38" dur="400"/>
                                        <p:tgtEl>
                                          <p:spTgt spid="25"/>
                                        </p:tgtEl>
                                      </p:cBhvr>
                                    </p:animEffect>
                                  </p:childTnLst>
                                </p:cTn>
                              </p:par>
                              <p:par>
                                <p:cTn id="39" presetID="53" presetClass="entr" presetSubtype="16" fill="hold" grpId="0" nodeType="withEffect">
                                  <p:stCondLst>
                                    <p:cond delay="1750"/>
                                  </p:stCondLst>
                                  <p:childTnLst>
                                    <p:set>
                                      <p:cBhvr>
                                        <p:cTn id="40" dur="1" fill="hold">
                                          <p:stCondLst>
                                            <p:cond delay="0"/>
                                          </p:stCondLst>
                                        </p:cTn>
                                        <p:tgtEl>
                                          <p:spTgt spid="26"/>
                                        </p:tgtEl>
                                        <p:attrNameLst>
                                          <p:attrName>style.visibility</p:attrName>
                                        </p:attrNameLst>
                                      </p:cBhvr>
                                      <p:to>
                                        <p:strVal val="visible"/>
                                      </p:to>
                                    </p:set>
                                    <p:anim calcmode="lin" valueType="num">
                                      <p:cBhvr additive="base">
                                        <p:cTn id="41" dur="400" fill="hold"/>
                                        <p:tgtEl>
                                          <p:spTgt spid="26"/>
                                        </p:tgtEl>
                                        <p:attrNameLst>
                                          <p:attrName>ppt_w</p:attrName>
                                        </p:attrNameLst>
                                      </p:cBhvr>
                                      <p:tavLst>
                                        <p:tav tm="0">
                                          <p:val>
                                            <p:strVal val="#ppt_w*0.7"/>
                                          </p:val>
                                        </p:tav>
                                        <p:tav tm="100000">
                                          <p:val>
                                            <p:strVal val="#ppt_w"/>
                                          </p:val>
                                        </p:tav>
                                      </p:tavLst>
                                    </p:anim>
                                    <p:anim calcmode="lin" valueType="num">
                                      <p:cBhvr additive="base">
                                        <p:cTn id="42" dur="400" fill="hold"/>
                                        <p:tgtEl>
                                          <p:spTgt spid="26"/>
                                        </p:tgtEl>
                                        <p:attrNameLst>
                                          <p:attrName>ppt_h</p:attrName>
                                        </p:attrNameLst>
                                      </p:cBhvr>
                                      <p:tavLst>
                                        <p:tav tm="0">
                                          <p:val>
                                            <p:strVal val="#ppt_h*0.7"/>
                                          </p:val>
                                        </p:tav>
                                        <p:tav tm="100000">
                                          <p:val>
                                            <p:strVal val="#ppt_h"/>
                                          </p:val>
                                        </p:tav>
                                      </p:tavLst>
                                    </p:anim>
                                    <p:animEffect transition="in" filter="fade">
                                      <p:cBhvr>
                                        <p:cTn id="43" dur="400"/>
                                        <p:tgtEl>
                                          <p:spTgt spid="26"/>
                                        </p:tgtEl>
                                      </p:cBhvr>
                                    </p:animEffect>
                                  </p:childTnLst>
                                </p:cTn>
                              </p:par>
                              <p:par>
                                <p:cTn id="44" presetID="53" presetClass="entr" presetSubtype="16" fill="hold" grpId="0" nodeType="withEffect">
                                  <p:stCondLst>
                                    <p:cond delay="1800"/>
                                  </p:stCondLst>
                                  <p:childTnLst>
                                    <p:set>
                                      <p:cBhvr>
                                        <p:cTn id="45" dur="1" fill="hold">
                                          <p:stCondLst>
                                            <p:cond delay="0"/>
                                          </p:stCondLst>
                                        </p:cTn>
                                        <p:tgtEl>
                                          <p:spTgt spid="27"/>
                                        </p:tgtEl>
                                        <p:attrNameLst>
                                          <p:attrName>style.visibility</p:attrName>
                                        </p:attrNameLst>
                                      </p:cBhvr>
                                      <p:to>
                                        <p:strVal val="visible"/>
                                      </p:to>
                                    </p:set>
                                    <p:anim calcmode="lin" valueType="num">
                                      <p:cBhvr additive="base">
                                        <p:cTn id="46" dur="400" fill="hold"/>
                                        <p:tgtEl>
                                          <p:spTgt spid="27"/>
                                        </p:tgtEl>
                                        <p:attrNameLst>
                                          <p:attrName>ppt_w</p:attrName>
                                        </p:attrNameLst>
                                      </p:cBhvr>
                                      <p:tavLst>
                                        <p:tav tm="0">
                                          <p:val>
                                            <p:strVal val="#ppt_w*0.7"/>
                                          </p:val>
                                        </p:tav>
                                        <p:tav tm="100000">
                                          <p:val>
                                            <p:strVal val="#ppt_w"/>
                                          </p:val>
                                        </p:tav>
                                      </p:tavLst>
                                    </p:anim>
                                    <p:anim calcmode="lin" valueType="num">
                                      <p:cBhvr additive="base">
                                        <p:cTn id="47" dur="400" fill="hold"/>
                                        <p:tgtEl>
                                          <p:spTgt spid="27"/>
                                        </p:tgtEl>
                                        <p:attrNameLst>
                                          <p:attrName>ppt_h</p:attrName>
                                        </p:attrNameLst>
                                      </p:cBhvr>
                                      <p:tavLst>
                                        <p:tav tm="0">
                                          <p:val>
                                            <p:strVal val="#ppt_h*0.7"/>
                                          </p:val>
                                        </p:tav>
                                        <p:tav tm="100000">
                                          <p:val>
                                            <p:strVal val="#ppt_h"/>
                                          </p:val>
                                        </p:tav>
                                      </p:tavLst>
                                    </p:anim>
                                    <p:animEffect transition="in" filter="fade">
                                      <p:cBhvr>
                                        <p:cTn id="48"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0" grpId="0" animBg="1"/>
      <p:bldP spid="22" grpId="0" animBg="1"/>
      <p:bldP spid="24" grpId="0" animBg="1"/>
      <p:bldP spid="25" grpId="0" animBg="1"/>
      <p:bldP spid="27" grpId="0" animBg="1"/>
    </p:bldLst>
  </p:timing>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04120C"/>
        </a:solidFill>
        <a:effectLst/>
      </p:bgPr>
    </p:bg>
    <p:spTree>
      <p:nvGrpSpPr>
        <p:cNvPr id="1" name=""/>
        <p:cNvGrpSpPr/>
        <p:nvPr/>
      </p:nvGrpSpPr>
      <p:grpSpPr/>
      <p:pic>
        <p:nvPicPr>
          <p:cNvPr id="2" name="!!bg" descr="bg_center.jpg"/>
          <p:cNvPicPr>
            <a:picLocks noChangeAspect="1"/>
          </p:cNvPicPr>
          <p:nvPr/>
        </p:nvPicPr>
        <p:blipFill>
          <a:blip r:embed="rId2"/>
          <a:srcRect l="1" r="1"/>
          <a:stretch>
            <a:fillRect/>
          </a:stretch>
        </p:blipFill>
        <p:spPr>
          <a:xfrm>
            <a:off x="0" y="0"/>
            <a:ext cx="12191695" cy="6858000"/>
          </a:xfrm>
          <a:prstGeom prst="rect">
            <a:avLst/>
          </a:prstGeom>
        </p:spPr>
      </p:pic>
      <p:pic>
        <p:nvPicPr>
          <p:cNvPr id="3" name="!!core" descr="core.png"/>
          <p:cNvPicPr>
            <a:picLocks noChangeAspect="1"/>
          </p:cNvPicPr>
          <p:nvPr/>
        </p:nvPicPr>
        <p:blipFill>
          <a:blip r:embed="rId3"/>
          <a:srcRect/>
          <a:stretch>
            <a:fillRect/>
          </a:stretch>
        </p:blipFill>
        <p:spPr>
          <a:xfrm>
            <a:off x="4724248" y="-4436603"/>
            <a:ext cx="2743200" cy="2547257"/>
          </a:xfrm>
          <a:prstGeom prst="rect">
            <a:avLst/>
          </a:prstGeom>
        </p:spPr>
      </p:pic>
      <p:pic>
        <p:nvPicPr>
          <p:cNvPr id="4" name="!!research" descr="research.png"/>
          <p:cNvPicPr>
            <a:picLocks noChangeAspect="1"/>
          </p:cNvPicPr>
          <p:nvPr/>
        </p:nvPicPr>
        <p:blipFill>
          <a:blip r:embed="rId4"/>
          <a:srcRect/>
          <a:stretch>
            <a:fillRect/>
          </a:stretch>
        </p:blipFill>
        <p:spPr>
          <a:xfrm>
            <a:off x="-3383280" y="2714240"/>
            <a:ext cx="2377440" cy="2207623"/>
          </a:xfrm>
          <a:prstGeom prst="rect">
            <a:avLst/>
          </a:prstGeom>
        </p:spPr>
      </p:pic>
      <p:pic>
        <p:nvPicPr>
          <p:cNvPr id="5" name="!!training" descr="training.png"/>
          <p:cNvPicPr>
            <a:picLocks noChangeAspect="1"/>
          </p:cNvPicPr>
          <p:nvPr/>
        </p:nvPicPr>
        <p:blipFill>
          <a:blip r:embed="rId5"/>
          <a:srcRect/>
          <a:stretch>
            <a:fillRect/>
          </a:stretch>
        </p:blipFill>
        <p:spPr>
          <a:xfrm>
            <a:off x="2468789" y="-3686560"/>
            <a:ext cx="2377440" cy="2207623"/>
          </a:xfrm>
          <a:prstGeom prst="rect">
            <a:avLst/>
          </a:prstGeom>
        </p:spPr>
      </p:pic>
      <p:pic>
        <p:nvPicPr>
          <p:cNvPr id="6" name="!!trace" descr="trace.png"/>
          <p:cNvPicPr>
            <a:picLocks noChangeAspect="1"/>
          </p:cNvPicPr>
          <p:nvPr/>
        </p:nvPicPr>
        <p:blipFill>
          <a:blip r:embed="rId6"/>
          <a:srcRect/>
          <a:stretch>
            <a:fillRect/>
          </a:stretch>
        </p:blipFill>
        <p:spPr>
          <a:xfrm>
            <a:off x="13197535" y="2714240"/>
            <a:ext cx="2377440" cy="2207623"/>
          </a:xfrm>
          <a:prstGeom prst="rect">
            <a:avLst/>
          </a:prstGeom>
        </p:spPr>
      </p:pic>
      <p:pic>
        <p:nvPicPr>
          <p:cNvPr id="7" name="!!iot" descr="iot.png"/>
          <p:cNvPicPr>
            <a:picLocks noChangeAspect="1"/>
          </p:cNvPicPr>
          <p:nvPr/>
        </p:nvPicPr>
        <p:blipFill>
          <a:blip r:embed="rId7"/>
          <a:srcRect/>
          <a:stretch>
            <a:fillRect/>
          </a:stretch>
        </p:blipFill>
        <p:spPr>
          <a:xfrm>
            <a:off x="7345467" y="7926320"/>
            <a:ext cx="2377440" cy="2207623"/>
          </a:xfrm>
          <a:prstGeom prst="rect">
            <a:avLst/>
          </a:prstGeom>
        </p:spPr>
      </p:pic>
      <p:sp>
        <p:nvSpPr>
          <p:cNvPr id="8" name="TextBox 7"/>
          <p:cNvSpPr txBox="1"/>
          <p:nvPr/>
        </p:nvSpPr>
        <p:spPr>
          <a:xfrm>
            <a:off x="685800" y="457200"/>
            <a:ext cx="10058400" cy="548640"/>
          </a:xfrm>
          <a:prstGeom prst="rect">
            <a:avLst/>
          </a:prstGeom>
          <a:noFill/>
        </p:spPr>
        <p:txBody>
          <a:bodyPr wrap="square" lIns="0" rIns="0" tIns="0" bIns="0" anchor="t">
            <a:noAutofit/>
          </a:bodyPr>
          <a:lstStyle/>
          <a:p>
            <a:pPr algn="l">
              <a:lnSpc>
                <a:spcPct val="115000"/>
              </a:lnSpc>
              <a:spcAft>
                <a:spcPts val="0"/>
              </a:spcAft>
            </a:pPr>
            <a:r>
              <a:rPr sz="2600" b="0" i="0">
                <a:solidFill>
                  <a:srgbClr val="FFFFFF"/>
                </a:solidFill>
                <a:latin typeface="Be Vietnam Pro ExtraBold"/>
                <a:ea typeface="Be Vietnam Pro ExtraBold"/>
                <a:cs typeface="Be Vietnam Pro ExtraBold"/>
              </a:rPr>
              <a:t>Nguồn hình ảnh</a:t>
            </a:r>
          </a:p>
        </p:txBody>
      </p:sp>
      <p:sp>
        <p:nvSpPr>
          <p:cNvPr id="9" name="TextBox 8"/>
          <p:cNvSpPr txBox="1"/>
          <p:nvPr/>
        </p:nvSpPr>
        <p:spPr>
          <a:xfrm>
            <a:off x="685800" y="1097280"/>
            <a:ext cx="10789920" cy="822960"/>
          </a:xfrm>
          <a:prstGeom prst="rect">
            <a:avLst/>
          </a:prstGeom>
          <a:noFill/>
        </p:spPr>
        <p:txBody>
          <a:bodyPr wrap="square" lIns="0" rIns="0" tIns="0" bIns="0" anchor="t">
            <a:noAutofit/>
          </a:bodyPr>
          <a:lstStyle/>
          <a:p>
            <a:pPr algn="l">
              <a:lnSpc>
                <a:spcPct val="115000"/>
              </a:lnSpc>
              <a:spcAft>
                <a:spcPts val="0"/>
              </a:spcAft>
            </a:pPr>
            <a:r>
              <a:rPr sz="1100" b="0" i="0">
                <a:solidFill>
                  <a:srgbClr val="C9D8CE"/>
                </a:solidFill>
                <a:latin typeface="Be Vietnam Pro"/>
                <a:ea typeface="Be Vietnam Pro"/>
                <a:cs typeface="Be Vietnam Pro"/>
              </a:rPr>
              <a:t>Slide ẩn — không hiển thị khi trình chiếu. Hình 3D: dựng riêng cho bộ slide (Blender). Ảnh: tư liệu của Viện STP, Công ty CP Kỹ thuật Hàng hải DAKO và đối tác; ảnh minh họa ngành hàng từ Open Images (Google), giấy phép CC BY 2.0 — danh sách bên dưới. Bản đồ: Natural Earth. Icon: Lucide (ISC). Font: Be Vietnam Pro (SIL OFL).</a:t>
            </a:r>
          </a:p>
        </p:txBody>
      </p:sp>
      <p:sp>
        <p:nvSpPr>
          <p:cNvPr id="10" name="TextBox 9"/>
          <p:cNvSpPr txBox="1"/>
          <p:nvPr/>
        </p:nvSpPr>
        <p:spPr>
          <a:xfrm>
            <a:off x="685800" y="2103120"/>
            <a:ext cx="10789920" cy="4114800"/>
          </a:xfrm>
          <a:prstGeom prst="rect">
            <a:avLst/>
          </a:prstGeom>
          <a:noFill/>
        </p:spPr>
        <p:txBody>
          <a:bodyPr wrap="square" lIns="0" rIns="0" tIns="0" bIns="0" anchor="t">
            <a:noAutofit/>
          </a:bodyPr>
          <a:lstStyle/>
          <a:p>
            <a:pPr algn="l">
              <a:lnSpc>
                <a:spcPct val="115000"/>
              </a:lnSpc>
              <a:spcAft>
                <a:spcPts val="0"/>
              </a:spcAft>
            </a:pPr>
            <a:r>
              <a:rPr sz="1000" b="0" i="0">
                <a:solidFill>
                  <a:srgbClr val="7E9A88"/>
                </a:solidFill>
                <a:latin typeface="Be Vietnam Pro"/>
                <a:ea typeface="Be Vietnam Pro"/>
                <a:cs typeface="Be Vietnam Pro"/>
              </a:rPr>
              <a:t>• fish2833 — NOAA Photo Library (Flickr, CC BY 2.0)</a:t>
            </a:r>
          </a:p>
          <a:p>
            <a:pPr algn="l">
              <a:lnSpc>
                <a:spcPct val="115000"/>
              </a:lnSpc>
              <a:spcAft>
                <a:spcPts val="0"/>
              </a:spcAft>
            </a:pPr>
            <a:r>
              <a:rPr sz="1000" b="0" i="0">
                <a:solidFill>
                  <a:srgbClr val="7E9A88"/>
                </a:solidFill>
                <a:latin typeface="Be Vietnam Pro"/>
                <a:ea typeface="Be Vietnam Pro"/>
                <a:cs typeface="Be Vietnam Pro"/>
              </a:rPr>
              <a:t>• Empty Store — whoohoo120 (Flickr, CC BY 2.0)</a:t>
            </a:r>
          </a:p>
          <a:p>
            <a:pPr algn="l">
              <a:lnSpc>
                <a:spcPct val="115000"/>
              </a:lnSpc>
              <a:spcAft>
                <a:spcPts val="0"/>
              </a:spcAft>
            </a:pPr>
            <a:r>
              <a:rPr sz="1000" b="0" i="0">
                <a:solidFill>
                  <a:srgbClr val="7E9A88"/>
                </a:solidFill>
                <a:latin typeface="Be Vietnam Pro"/>
                <a:ea typeface="Be Vietnam Pro"/>
                <a:cs typeface="Be Vietnam Pro"/>
              </a:rPr>
              <a:t>• Pills — Jamie (Flickr, CC BY 2.0)</a:t>
            </a:r>
          </a:p>
          <a:p>
            <a:pPr algn="l">
              <a:lnSpc>
                <a:spcPct val="115000"/>
              </a:lnSpc>
              <a:spcAft>
                <a:spcPts val="0"/>
              </a:spcAft>
            </a:pPr>
            <a:r>
              <a:rPr sz="1000" b="0" i="0">
                <a:solidFill>
                  <a:srgbClr val="7E9A88"/>
                </a:solidFill>
                <a:latin typeface="Be Vietnam Pro"/>
                <a:ea typeface="Be Vietnam Pro"/>
                <a:cs typeface="Be Vietnam Pro"/>
              </a:rPr>
              <a:t>• Spanish prawns — Mate Marschalko (Flickr, CC BY 2.0)</a:t>
            </a:r>
          </a:p>
          <a:p>
            <a:pPr algn="l">
              <a:lnSpc>
                <a:spcPct val="115000"/>
              </a:lnSpc>
              <a:spcAft>
                <a:spcPts val="0"/>
              </a:spcAft>
            </a:pPr>
            <a:r>
              <a:rPr sz="1000" b="0" i="0">
                <a:solidFill>
                  <a:srgbClr val="7E9A88"/>
                </a:solidFill>
                <a:latin typeface="Be Vietnam Pro"/>
                <a:ea typeface="Be Vietnam Pro"/>
                <a:cs typeface="Be Vietnam Pro"/>
              </a:rPr>
              <a:t>• Spring Rolls — N1NJ4 (Flickr, CC BY 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