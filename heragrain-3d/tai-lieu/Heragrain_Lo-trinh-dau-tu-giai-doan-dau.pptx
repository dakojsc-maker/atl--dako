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8" r:id="rId23"/>
    <p:sldId id="279" r:id="rId2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ổng quan" id="{547AD01A-101A-ACFC-25A1-46A518F62033}">
          <p14:sldIdLst>
            <p14:sldId id="256"/>
            <p14:sldId id="257"/>
            <p14:sldId id="258"/>
          </p14:sldIdLst>
        </p14:section>
        <p14:section name="Lộ trình theo giai đoạn" id="{0D5DE9F0-6B83-00CB-D759-90255D6C3EF4}">
          <p14:sldIdLst>
            <p14:sldId id="259"/>
            <p14:sldId id="260"/>
            <p14:sldId id="261"/>
            <p14:sldId id="262"/>
            <p14:sldId id="263"/>
            <p14:sldId id="264"/>
            <p14:sldId id="265"/>
          </p14:sldIdLst>
        </p14:section>
        <p14:section name="Năm trụ cột" id="{9E0B0188-81B1-CD39-4CCD-D10D0D691165}">
          <p14:sldIdLst>
            <p14:sldId id="266"/>
            <p14:sldId id="267"/>
            <p14:sldId id="268"/>
            <p14:sldId id="269"/>
            <p14:sldId id="270"/>
          </p14:sldIdLst>
        </p14:section>
        <p14:section name="Thị trường" id="{157F7E2E-D94D-04E0-22F7-11B988439738}">
          <p14:sldIdLst>
            <p14:sldId id="271"/>
            <p14:sldId id="272"/>
            <p14:sldId id="273"/>
            <p14:sldId id="274"/>
          </p14:sldIdLst>
        </p14:section>
        <p14:section name="Thương hiệu và kế hoạch" id="{10956504-D11C-917C-DE87-D0EFF9A0B7C0}">
          <p14:sldIdLst>
            <p14:sldId id="275"/>
            <p14:sldId id="276"/>
            <p14:sldId id="278"/>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14"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280653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Mở đầu: Heragrain hướng tới xuất khẩu. Bộ slide này cho thấy toàn cảnh những gì phải chuẩn bị: pháp lý, bộ máy, nguyên liệu, nhà máy, chứng nhận từng thị trường.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Năm trụ cột là điều kiện để lô hàng được thông quan và được nhà nhập khẩu chấp nhận. Heragrain không dựng tất cả một lần mà đi 4 giai đoạn, mỗi giai đoạn làm chủ thêm một khâu của chuỗi: thu mua, chế biến, sản xuất đạt chuẩn, xuất khẩu. Thị trường: Trung Quốc ở giai đoạn 3, Châu Âu ở giai đoạn 4, Châu Á xét sau.</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Điểm xuất phát: HTX Heragrain đã đăng ký ngày 22/9/2025 và đã có bộ nhận diện. Việc còn lại là nhà xưởng, đội ngũ, mã đăng ký xuất khẩu và nguồn vốn tương xứng.</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Heragrain đi từng bước: mỗi giai đoạn làm chủ thêm một khâu của chuỗi. Xanh đậm là Heragrain tự làm, vàng là gia công, chuẩn bị hoặc đi qua đối tác, xám là chưa làm. Số nhân sự là ước tính tham chiếu, chưa kể lao động thời vụ. Châu Á xét sau giai đoạn 4.</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Giai đoạn 1: Heragrain chỉ làm chủ khâu thu mua và kiểm soát chất lượng đầu vào, thuê đơn vị gia công đã có ATTP/HACCP để làm ra sản phẩm mang thương hiệu. Rủi ro vốn thấp, học được vùng nguyên liệu và thị trường trong nước. Nhân sự khoảng 9–12 người là ước tính tham chiếu; hai vị trí phải có ngay là Giám đốc điều hành và Trưởng QA.</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Giai đoạn 2: đây là bước tăng nhân sự mạnh nhất vì có công nhân sản xuất. Xưởng phải theo dòng chảy một chiều. Trước khi sang giai đoạn 3 cần chốt địa điểm xưởng và người đại diện theo pháp luật: theo báo chí về Lệnh 280, dời địa điểm hoặc đổi người đại diện là thay đổi lớn và có thể phải đăng ký lại mã GACC, nên xác nhận lại với cơ quan đầu mối. Giấy chứng nhận ATTP theo Nghị định 15/2018 đang áp dụng; Nghị định 46/2026 đang tạm ngưng theo Nghị quyết 15/2026/NQ-CP. Gia công liên kết giữ làm phương án dự phòng.</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Giai đoạn 3: xưởng đã đủ điều kiện để xin mã GACC theo Lệnh 280. Xuất khẩu lúc này đi qua nhà nhập khẩu Trung Quốc, chưa tự chủ hoàn toàn. Đây cũng là lúc bắt đầu chuẩn bị chứng nhận GFSI cho EU vì cần thời gian vận hành hệ thống trước khi đánh giá. Lưu ý: trái cây sấy nằm trong danh mục phải có giới thiệu của cơ quan có thẩm quyền; gừng sấy có thể thuộc nhóm khác (gia vị hoặc rau củ sấy), cần xác nhận nhóm hàng trên CIFER trước khi nộp hồ sơ.</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Giai đoạn 4: Heragrain tự chủ toàn chuỗi từ thu mua đến xuất khẩu. EU không đăng ký nhà máy nhưng người mua đòi BRCGS hoặc FSSC 22000, nên chứng nhận GFSI là cửa chính. Châu Á chỉ xét sau khi hai thị trường đầu ổn định.</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Nhân sự dựng dần theo từng giai đoạn thay vì tuyển một lần. Giai đoạn 2 tăng mạnh nhất vì có công nhân xưởng. Số liệu là ước tính tham chiếu từ kinh nghiệm triển khai, chưa kể lao động thời vụ; cần chốt lại theo công suất và phương án xưởng mà Ban lãnh đạo duyệt.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doanh nghiệp tham chiếu có nguồn công khai. Green Tropical (Gia Lai) là cơ sở sầu riêng sấy thăng hoa nhỏ nhất, khoảng 20 lao động thường xuyên. Vinamit là doanh nghiệp trái cây sấy lâu năm, có nhà máy ở Đắk Lắk. Nafoods là ví dụ đi từ vùng nguyên liệu đến nhiều nhà máy. Các nguồn không công bố lộ trình thuê gia công rồi tự xây xưởng, thời gian lấy mã GACC hay thời gian chuẩn bị BRCGS; phần đó là đề xuất của tư vấn.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Điểm quan trọng nhất: chốt địa điểm xưởng và người đại diện theo pháp luật trước khi đăng ký mã xuất khẩu. Theo báo chí về Lệnh 280, dời địa điểm hoặc đổi người đại diện là thay đổi lớn, có thể phải đăng ký lại; các thay đổi nhỏ chỉ cần cập nhật trên hệ thống CIFER. Cần xác nhận lại với cơ quan đầu mối vì các nguồn chưa thống nhất ranh giới.</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bộ máy đích khi Heragrain làm đủ toàn chuỗi, khoảng 28–40 người gồm Giám đốc điều hành, ước tính tham chiếu từ kinh nghiệm triển khai. Không tuyển một lần: số người tăng dần 9–12, 19–27, 25–35, 28–40 qua bốn giai đoạn. Giám đốc điều hành và Trưởng QA bổ nhiệm ở giai đoạn 1; Quản đốc và Quản lý xuất khẩu ở giai đoạn 2.</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Chất lượng và khả năng xuất khẩu quyết định ở khâu nguyên liệu. Hai tín hiệu thị trường: EU siết dư lượng, Trung Quốc siết kiểm nghiệm sầu riêng. Một mã lô nối cả chuỗi để truy xuất ngược về nhà vườn.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Nguyên tắc: một chiều từ bẩn sang sạch, không quay ngược. Hai điểm kiểm soát tới hạn quan trọng nhất là sấy và dò kim loại. Hạ tầng phụ trợ (nước, côn trùng, QC, kho) thường là chỗ bị đánh trượt khi đánh giá.</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Bốn bậc chứng nhận. Bậc 1 và 2 là nền cho mọi thị trường. Bậc 3 (BRCGS hoặc FSSC 22000) thường do người mua EU và chuỗi bán lẻ yêu cầu. Bậc 4 chọn theo thị trường mục tiêu. Các hình là giấy chứng nhận thực tế của doanh nghiệp khác, dùng để minh họa hình thức giấy.</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sánh hai cửa đầu tiên. Trung Quốc: bắt buộc đăng ký nhà máy ở GACC. EU: không đăng ký nhà máy nhưng chuẩn người mua rất cao. Châu Á sẽ xét riêng ở giai đoạn mở rộng.</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Trung Quốc: Lệnh 280 có hiệu lực từ 1/6/2026. Trái cây sấy thuộc nhóm phải được cơ quan có thẩm quyền Việt Nam giới thiệu đăng ký. Hai hình là tài liệu hướng dẫn của đơn vị tư vấn; bằng chứng chính thức là bản ghi trên hệ thống CIFER của GACC.</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EU không có danh sách đăng ký nhà máy cho thực phẩm thực vật chế biến, nhưng người mua đòi chuẩn GFSI và EU siết dư lượng. EU đang giảm tần suất kiểm tra biên giới với trái cây chế biến nguy cơ thấp. PPWR áp dụng từ 12/8/2026.</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Mỗi lô sang EU đi cùng EUR.1 để người mua hưởng thuế ưu đãi EVFTA. Hình 1 là EUR.1 đã cấp thực tế; hình 2 và 3 là hướng dẫn kê khai từng ô. Mã số mã vạch GS1 nối thành phẩm với hệ thống truy xuất nguồn gốc.</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Bao bì concept đã đạt về thẩm mỹ. Cần bổ sung lớp tuân thủ: nhãn bản địa, chất gây dị ứng, mã vạch và QR truy xuất. Thông điệp "100% tự nhiên, không chất bảo quản" chỉ giữ khi chứng minh được bằng kiểm nghiệm. Nên đăng ký nhãn hiệu tại Trung Quốc sớm.</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Lộ trình 24 tháng chia 4 giai đoạn, mốc dự kiến. Mỗi dải màu là một giai đoạn; các thanh là việc song song. Trung Quốc ở giai đoạn 3, EU ở giai đoạn 4 sau khi có chứng nhận GFSI. Tiến độ phụ thuộc nhà xưởng và nguồn vốn.</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Trang này tách rõ điều đã có nguồn kiểm chứng, điều có tham chiếu doanh nghiệp, điều là đề xuất của tư vấn và điều cần xác nhận với cơ quan. Mục đích là để Ban lãnh đạo biết chỗ nào chắc chắn, chỗ nào còn là giả định.</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chemeClr val="tx2"/>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658368"/>
            <a:ext cx="11094415" cy="777240"/>
          </a:xfrm>
          <a:prstGeom prst="rect">
            <a:avLst/>
          </a:prstGeom>
          <a:noFill/>
          <a:ln/>
        </p:spPr>
        <p:txBody>
          <a:bodyPr wrap="square" rtlCol="0"/>
          <a:lstStyle>
            <a:lvl1pPr marL="0" indent="0" algn="l">
              <a:buNone/>
              <a:defRPr lang="en-US" sz="3000" b="1" dirty="0">
                <a:solidFill>
                  <a:schemeClr val="tx2"/>
                </a:solidFill>
              </a:defRPr>
            </a:lvl1pPr>
          </a:lstStyle>
          <a:p>
            <a:pPr marL="0" indent="0" algn="l">
              <a:buNone/>
            </a:pPr>
            <a:endParaRPr lang="en-US" sz="3000" dirty="0"/>
          </a:p>
        </p:txBody>
      </p:sp>
      <p:sp>
        <p:nvSpPr>
          <p:cNvPr id="3" name="Text 0"/>
          <p:cNvSpPr/>
          <p:nvPr/>
        </p:nvSpPr>
        <p:spPr>
          <a:xfrm>
            <a:off x="548640" y="6492240"/>
            <a:ext cx="8229600" cy="237744"/>
          </a:xfrm>
          <a:prstGeom prst="rect">
            <a:avLst/>
          </a:prstGeom>
          <a:noFill/>
          <a:ln/>
        </p:spPr>
        <p:txBody>
          <a:bodyPr wrap="square" lIns="0" tIns="0" rIns="0" bIns="0" rtlCol="0" anchor="ctr"/>
          <a:lstStyle/>
          <a:p>
            <a:pPr marL="0" indent="0">
              <a:buNone/>
            </a:pPr>
            <a:r>
              <a:rPr lang="en-US" sz="1000" dirty="0">
                <a:solidFill>
                  <a:srgbClr val="5C6F66"/>
                </a:solidFill>
              </a:rPr>
              <a:t>Heragrain Foods · Lộ trình chuẩn bị xuất khẩu · Trình Ban lãnh đạo Viện STP</a:t>
            </a:r>
            <a:endParaRPr lang="en-US" sz="1000" dirty="0"/>
          </a:p>
        </p:txBody>
      </p:sp>
      <p:sp>
        <p:nvSpPr>
          <p:cNvPr id="25" name="Slide Number Placeholder 0"/>
          <p:cNvSpPr>
            <a:spLocks noGrp="1"/>
          </p:cNvSpPr>
          <p:nvPr>
            <p:ph type="sldNum" sz="quarter" idx="4294967295"/>
          </p:nvPr>
        </p:nvSpPr>
        <p:spPr>
          <a:xfrm>
            <a:off x="10972800" y="6492240"/>
            <a:ext cx="667512" cy="237744"/>
          </a:xfrm>
          <a:prstGeom prst="rect">
            <a:avLst/>
          </a:prstGeom>
          <a:extLst>
            <a:ext uri="{C572A759-6A51-4108-AA02-DFA0A04FC94B}">
              <ma14:wrappingTextBoxFlag xmlns:ma14="http://schemas.microsoft.com/office/mac/drawingml/2011/main" xmlns="" val="0"/>
            </a:ext>
          </a:extLst>
        </p:spPr>
        <p:txBody>
          <a:bodyPr/>
          <a:lstStyle>
            <a:lvl1pPr>
              <a:defRPr sz="1000">
                <a:solidFill>
                  <a:srgbClr val="5C6F66"/>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658368"/>
            <a:ext cx="11094415" cy="777240"/>
          </a:xfrm>
          <a:prstGeom prst="rect">
            <a:avLst/>
          </a:prstGeom>
          <a:noFill/>
          <a:ln/>
        </p:spPr>
        <p:txBody>
          <a:bodyPr wrap="square" rtlCol="0"/>
          <a:lstStyle>
            <a:lvl1pPr marL="0" indent="0" algn="l">
              <a:buNone/>
              <a:defRPr lang="en-US" sz="3000" b="1" dirty="0">
                <a:solidFill>
                  <a:schemeClr val="bg1"/>
                </a:solidFill>
              </a:defRPr>
            </a:lvl1pPr>
          </a:lstStyle>
          <a:p>
            <a:pPr marL="0" indent="0" algn="l">
              <a:buNone/>
            </a:pPr>
            <a:endParaRPr lang="en-US" sz="3000" dirty="0"/>
          </a:p>
        </p:txBody>
      </p:sp>
      <p:sp>
        <p:nvSpPr>
          <p:cNvPr id="3" name="Text 0"/>
          <p:cNvSpPr/>
          <p:nvPr/>
        </p:nvSpPr>
        <p:spPr>
          <a:xfrm>
            <a:off x="548640" y="6492240"/>
            <a:ext cx="8229600" cy="237744"/>
          </a:xfrm>
          <a:prstGeom prst="rect">
            <a:avLst/>
          </a:prstGeom>
          <a:noFill/>
          <a:ln/>
        </p:spPr>
        <p:txBody>
          <a:bodyPr wrap="square" lIns="0" tIns="0" rIns="0" bIns="0" rtlCol="0" anchor="ctr"/>
          <a:lstStyle/>
          <a:p>
            <a:pPr marL="0" indent="0">
              <a:buNone/>
            </a:pPr>
            <a:r>
              <a:rPr lang="en-US" sz="1000" dirty="0">
                <a:solidFill>
                  <a:srgbClr val="A9C3B3"/>
                </a:solidFill>
              </a:rPr>
              <a:t>Heragrain Foods · Lộ trình chuẩn bị xuất khẩu · Trình Ban lãnh đạo Viện STP</a:t>
            </a:r>
            <a:endParaRPr lang="en-US" sz="1000" dirty="0"/>
          </a:p>
        </p:txBody>
      </p:sp>
      <p:sp>
        <p:nvSpPr>
          <p:cNvPr id="25" name="Slide Number Placeholder 0"/>
          <p:cNvSpPr>
            <a:spLocks noGrp="1"/>
          </p:cNvSpPr>
          <p:nvPr>
            <p:ph type="sldNum" sz="quarter" idx="4294967295"/>
          </p:nvPr>
        </p:nvSpPr>
        <p:spPr>
          <a:xfrm>
            <a:off x="10972800" y="6492240"/>
            <a:ext cx="667512" cy="237744"/>
          </a:xfrm>
          <a:prstGeom prst="rect">
            <a:avLst/>
          </a:prstGeom>
          <a:extLst>
            <a:ext uri="{C572A759-6A51-4108-AA02-DFA0A04FC94B}">
              <ma14:wrappingTextBoxFlag xmlns:ma14="http://schemas.microsoft.com/office/mac/drawingml/2011/main" xmlns="" val="0"/>
            </a:ext>
          </a:extLst>
        </p:spPr>
        <p:txBody>
          <a:bodyPr/>
          <a:lstStyle>
            <a:lvl1pPr>
              <a:defRPr sz="1000">
                <a:solidFill>
                  <a:srgbClr val="A9C3B3"/>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92240"/>
            <a:ext cx="667512" cy="237744"/>
          </a:xfrm>
          <a:prstGeom prst="rect">
            <a:avLst/>
          </a:prstGeom>
          <a:extLst>
            <a:ext uri="{C572A759-6A51-4108-AA02-DFA0A04FC94B}">
              <ma14:wrappingTextBoxFlag xmlns:ma14="http://schemas.microsoft.com/office/mac/drawingml/2011/main" xmlns="" val="0"/>
            </a:ext>
          </a:extLst>
        </p:spPr>
        <p:txBody>
          <a:bodyPr/>
          <a:lstStyle>
            <a:lvl1pPr>
              <a:defRPr sz="1000">
                <a:solidFill>
                  <a:srgbClr val="5C6F66"/>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8.jp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3.xml"/><Relationship Id="rId5" Type="http://schemas.openxmlformats.org/officeDocument/2006/relationships/image" Target="../media/image15.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5.png"/><Relationship Id="rId7"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image" Target="../media/image17.png"/><Relationship Id="rId5" Type="http://schemas.openxmlformats.org/officeDocument/2006/relationships/image" Target="../media/image4.png"/><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notesSlide" Target="../notesSlides/notesSlide13.xml"/><Relationship Id="rId1" Type="http://schemas.openxmlformats.org/officeDocument/2006/relationships/slideLayout" Target="../slideLayouts/slideLayout3.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4.xml"/><Relationship Id="rId1" Type="http://schemas.openxmlformats.org/officeDocument/2006/relationships/slideLayout" Target="../slideLayouts/slideLayout3.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5.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3.xml"/><Relationship Id="rId6" Type="http://schemas.openxmlformats.org/officeDocument/2006/relationships/image" Target="../media/image13.png"/><Relationship Id="rId5" Type="http://schemas.openxmlformats.org/officeDocument/2006/relationships/image" Target="../media/image30.png"/><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7.xml"/><Relationship Id="rId1" Type="http://schemas.openxmlformats.org/officeDocument/2006/relationships/slideLayout" Target="../slideLayouts/slideLayout3.xml"/><Relationship Id="rId5" Type="http://schemas.openxmlformats.org/officeDocument/2006/relationships/image" Target="../media/image25.png"/><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3.xml"/><Relationship Id="rId4" Type="http://schemas.openxmlformats.org/officeDocument/2006/relationships/image" Target="../media/image14.png"/></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3.xml"/><Relationship Id="rId6" Type="http://schemas.openxmlformats.org/officeDocument/2006/relationships/image" Target="../media/image9.png"/><Relationship Id="rId5" Type="http://schemas.openxmlformats.org/officeDocument/2006/relationships/image" Target="../media/image34.png"/><Relationship Id="rId4" Type="http://schemas.openxmlformats.org/officeDocument/2006/relationships/image" Target="../media/image33.png"/></Relationships>
</file>

<file path=ppt/slides/_rels/slide20.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20.xml"/><Relationship Id="rId1" Type="http://schemas.openxmlformats.org/officeDocument/2006/relationships/slideLayout" Target="../slideLayouts/slideLayout3.xml"/><Relationship Id="rId4" Type="http://schemas.openxmlformats.org/officeDocument/2006/relationships/image" Target="../media/image25.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Anh thuong hieu" descr="Bộ nhận diện Heragrain Foods: trái cây sấy từ Đắk Lắk"/>
          <p:cNvPicPr>
            <a:picLocks noChangeAspect="1"/>
          </p:cNvPicPr>
          <p:nvPr/>
        </p:nvPicPr>
        <p:blipFill>
          <a:blip r:embed="rId3"/>
          <a:stretch>
            <a:fillRect/>
          </a:stretch>
        </p:blipFill>
        <p:spPr>
          <a:xfrm>
            <a:off x="0" y="0"/>
            <a:ext cx="12191695" cy="5109667"/>
          </a:xfrm>
          <a:prstGeom prst="rect">
            <a:avLst/>
          </a:prstGeom>
        </p:spPr>
      </p:pic>
      <p:sp>
        <p:nvSpPr>
          <p:cNvPr id="5" name="Phu de"/>
          <p:cNvSpPr txBox="1"/>
          <p:nvPr/>
        </p:nvSpPr>
        <p:spPr>
          <a:xfrm>
            <a:off x="548639" y="5442919"/>
            <a:ext cx="10358847" cy="685800"/>
          </a:xfrm>
          <a:prstGeom prst="rect">
            <a:avLst/>
          </a:prstGeom>
          <a:noFill/>
          <a:ln/>
        </p:spPr>
        <p:txBody>
          <a:bodyPr wrap="square" lIns="0" tIns="0" rIns="0" bIns="0" rtlCol="0" anchor="t"/>
          <a:lstStyle/>
          <a:p>
            <a:pPr marL="0" indent="0" algn="l">
              <a:buNone/>
            </a:pPr>
            <a:r>
              <a:rPr lang="en-US" sz="2800" b="1" dirty="0">
                <a:solidFill>
                  <a:schemeClr val="bg2"/>
                </a:solidFill>
              </a:rPr>
              <a:t>Bức tranh tổng quan về bộ máy, quy trình sản xuất, giấy chứng nhận và nhân sự theo từng giai đoạn đầu tư</a:t>
            </a:r>
            <a:endParaRPr lang="en-US" sz="2800" b="1"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Dau cham"/>
          <p:cNvSpPr/>
          <p:nvPr/>
        </p:nvSpPr>
        <p:spPr>
          <a:xfrm>
            <a:off x="548640" y="429768"/>
            <a:ext cx="118872" cy="118872"/>
          </a:xfrm>
          <a:prstGeom prst="ellipse">
            <a:avLst/>
          </a:prstGeom>
          <a:solidFill>
            <a:schemeClr val="accent2"/>
          </a:solidFill>
          <a:ln/>
        </p:spPr>
      </p:sp>
      <p:sp>
        <p:nvSpPr>
          <p:cNvPr id="4" name="Nhan chuyen muc"/>
          <p:cNvSpPr txBox="1"/>
          <p:nvPr/>
        </p:nvSpPr>
        <p:spPr>
          <a:xfrm>
            <a:off x="777240" y="347472"/>
            <a:ext cx="6949440" cy="274320"/>
          </a:xfrm>
          <a:prstGeom prst="rect">
            <a:avLst/>
          </a:prstGeom>
          <a:noFill/>
          <a:ln/>
        </p:spPr>
        <p:txBody>
          <a:bodyPr wrap="square" lIns="0" tIns="0" rIns="0" bIns="0" rtlCol="0" anchor="ctr"/>
          <a:lstStyle/>
          <a:p>
            <a:pPr marL="0" indent="0" algn="l">
              <a:buNone/>
            </a:pPr>
            <a:r>
              <a:rPr lang="en-US" sz="1200" b="1" kern="0" spc="200" dirty="0">
                <a:solidFill>
                  <a:schemeClr val="accent1"/>
                </a:solidFill>
              </a:rPr>
              <a:t>TÓM TẮT ĐIỀU HÀNH</a:t>
            </a:r>
            <a:endParaRPr lang="en-US" sz="1200" dirty="0"/>
          </a:p>
        </p:txBody>
      </p:sp>
      <p:sp>
        <p:nvSpPr>
          <p:cNvPr id="5" name="Text 0"/>
          <p:cNvSpPr>
            <a:spLocks noGrp="1"/>
          </p:cNvSpPr>
          <p:nvPr>
            <p:ph type="title" idx="100" hasCustomPrompt="1"/>
          </p:nvPr>
        </p:nvSpPr>
        <p:spPr>
          <a:xfrm>
            <a:off x="548640" y="658368"/>
            <a:ext cx="11094415" cy="777240"/>
          </a:xfrm>
          <a:prstGeom prst="rect">
            <a:avLst/>
          </a:prstGeom>
          <a:noFill/>
          <a:ln/>
        </p:spPr>
        <p:txBody>
          <a:bodyPr wrap="square" lIns="0" tIns="0" rIns="0" bIns="0" rtlCol="0" anchor="ctr"/>
          <a:lstStyle/>
          <a:p>
            <a:pPr marL="0" indent="0" algn="l">
              <a:buNone/>
            </a:pPr>
            <a:r>
              <a:rPr lang="en-US" sz="3000" b="1" dirty="0">
                <a:solidFill>
                  <a:schemeClr val="tx2"/>
                </a:solidFill>
              </a:rPr>
              <a:t>5 trụ cột, dựng dần qua 4 giai đoạn đầu tư</a:t>
            </a:r>
            <a:endParaRPr lang="en-US" sz="3000" dirty="0"/>
          </a:p>
        </p:txBody>
      </p:sp>
      <p:sp>
        <p:nvSpPr>
          <p:cNvPr id="6" name="The tru cot 1"/>
          <p:cNvSpPr/>
          <p:nvPr/>
        </p:nvSpPr>
        <p:spPr>
          <a:xfrm>
            <a:off x="548640" y="1783080"/>
            <a:ext cx="2057400" cy="3108960"/>
          </a:xfrm>
          <a:prstGeom prst="roundRect">
            <a:avLst>
              <a:gd name="adj" fmla="val 5333"/>
            </a:avLst>
          </a:prstGeom>
          <a:solidFill>
            <a:schemeClr val="bg2"/>
          </a:solidFill>
          <a:ln/>
        </p:spPr>
      </p:sp>
      <p:pic>
        <p:nvPicPr>
          <p:cNvPr id="7" name="Bieu tuong 1" descr="Pháp lý và giấy phép"/>
          <p:cNvPicPr>
            <a:picLocks noChangeAspect="1"/>
          </p:cNvPicPr>
          <p:nvPr/>
        </p:nvPicPr>
        <p:blipFill>
          <a:blip r:embed="rId3"/>
          <a:stretch>
            <a:fillRect/>
          </a:stretch>
        </p:blipFill>
        <p:spPr>
          <a:xfrm>
            <a:off x="731520" y="1984248"/>
            <a:ext cx="713232" cy="713232"/>
          </a:xfrm>
          <a:prstGeom prst="rect">
            <a:avLst/>
          </a:prstGeom>
        </p:spPr>
      </p:pic>
      <p:sp>
        <p:nvSpPr>
          <p:cNvPr id="8" name="So 1"/>
          <p:cNvSpPr txBox="1"/>
          <p:nvPr/>
        </p:nvSpPr>
        <p:spPr>
          <a:xfrm>
            <a:off x="1874520" y="2057400"/>
            <a:ext cx="548640" cy="457200"/>
          </a:xfrm>
          <a:prstGeom prst="rect">
            <a:avLst/>
          </a:prstGeom>
          <a:noFill/>
          <a:ln/>
        </p:spPr>
        <p:txBody>
          <a:bodyPr wrap="square" lIns="0" tIns="0" rIns="0" bIns="0" rtlCol="0" anchor="t"/>
          <a:lstStyle/>
          <a:p>
            <a:pPr marL="0" indent="0" algn="r">
              <a:buNone/>
            </a:pPr>
            <a:r>
              <a:rPr lang="en-US" sz="2400" b="1" dirty="0">
                <a:solidFill>
                  <a:schemeClr val="accent6"/>
                </a:solidFill>
                <a:latin typeface="+mj-lt" pitchFamily="34" charset="0"/>
                <a:ea typeface="+mj-lt" pitchFamily="34" charset="-122"/>
                <a:cs typeface="+mj-lt" pitchFamily="34" charset="-120"/>
              </a:rPr>
              <a:t>01</a:t>
            </a:r>
            <a:endParaRPr lang="en-US" sz="2400" dirty="0"/>
          </a:p>
        </p:txBody>
      </p:sp>
      <p:sp>
        <p:nvSpPr>
          <p:cNvPr id="9" name="Tieu de 1"/>
          <p:cNvSpPr txBox="1"/>
          <p:nvPr/>
        </p:nvSpPr>
        <p:spPr>
          <a:xfrm>
            <a:off x="731520" y="2880360"/>
            <a:ext cx="1737360" cy="640080"/>
          </a:xfrm>
          <a:prstGeom prst="rect">
            <a:avLst/>
          </a:prstGeom>
          <a:noFill/>
          <a:ln/>
        </p:spPr>
        <p:txBody>
          <a:bodyPr wrap="square" lIns="0" tIns="0" rIns="0" bIns="0" rtlCol="0" anchor="t"/>
          <a:lstStyle/>
          <a:p>
            <a:pPr marL="0" indent="0" algn="l">
              <a:buNone/>
            </a:pPr>
            <a:r>
              <a:rPr lang="en-US" sz="1600" b="1" dirty="0">
                <a:solidFill>
                  <a:schemeClr val="accent1"/>
                </a:solidFill>
              </a:rPr>
              <a:t>Pháp lý và giấy phép</a:t>
            </a:r>
            <a:endParaRPr lang="en-US" sz="1600" dirty="0"/>
          </a:p>
        </p:txBody>
      </p:sp>
      <p:sp>
        <p:nvSpPr>
          <p:cNvPr id="10" name="Noi dung 1"/>
          <p:cNvSpPr txBox="1"/>
          <p:nvPr/>
        </p:nvSpPr>
        <p:spPr>
          <a:xfrm>
            <a:off x="731520" y="3566160"/>
            <a:ext cx="1737360" cy="1234440"/>
          </a:xfrm>
          <a:prstGeom prst="rect">
            <a:avLst/>
          </a:prstGeom>
          <a:noFill/>
          <a:ln/>
        </p:spPr>
        <p:txBody>
          <a:bodyPr wrap="square" lIns="0" tIns="0" rIns="0" bIns="0" rtlCol="0" anchor="t"/>
          <a:lstStyle/>
          <a:p>
            <a:pPr marL="0" indent="0" algn="l">
              <a:buNone/>
            </a:pPr>
            <a:r>
              <a:rPr lang="en-US" sz="1400" dirty="0">
                <a:solidFill>
                  <a:schemeClr val="tx1"/>
                </a:solidFill>
              </a:rPr>
              <a:t>Pháp nhân đủ ngành nghề, cơ sở đạt ATTP, nhãn hiệu, mã vạch</a:t>
            </a:r>
            <a:endParaRPr lang="en-US" sz="1400" dirty="0"/>
          </a:p>
        </p:txBody>
      </p:sp>
      <p:sp>
        <p:nvSpPr>
          <p:cNvPr id="11" name="The tru cot 2"/>
          <p:cNvSpPr/>
          <p:nvPr/>
        </p:nvSpPr>
        <p:spPr>
          <a:xfrm>
            <a:off x="2807208" y="1783080"/>
            <a:ext cx="2057400" cy="3108960"/>
          </a:xfrm>
          <a:prstGeom prst="roundRect">
            <a:avLst>
              <a:gd name="adj" fmla="val 5333"/>
            </a:avLst>
          </a:prstGeom>
          <a:solidFill>
            <a:schemeClr val="bg2"/>
          </a:solidFill>
          <a:ln/>
        </p:spPr>
      </p:sp>
      <p:pic>
        <p:nvPicPr>
          <p:cNvPr id="12" name="Bieu tuong 2" descr="Bộ máy và nhân sự"/>
          <p:cNvPicPr>
            <a:picLocks noChangeAspect="1"/>
          </p:cNvPicPr>
          <p:nvPr/>
        </p:nvPicPr>
        <p:blipFill>
          <a:blip r:embed="rId4"/>
          <a:stretch>
            <a:fillRect/>
          </a:stretch>
        </p:blipFill>
        <p:spPr>
          <a:xfrm>
            <a:off x="2990088" y="1984248"/>
            <a:ext cx="713232" cy="713232"/>
          </a:xfrm>
          <a:prstGeom prst="rect">
            <a:avLst/>
          </a:prstGeom>
        </p:spPr>
      </p:pic>
      <p:sp>
        <p:nvSpPr>
          <p:cNvPr id="13" name="So 2"/>
          <p:cNvSpPr txBox="1"/>
          <p:nvPr/>
        </p:nvSpPr>
        <p:spPr>
          <a:xfrm>
            <a:off x="4133088" y="2057400"/>
            <a:ext cx="548640" cy="457200"/>
          </a:xfrm>
          <a:prstGeom prst="rect">
            <a:avLst/>
          </a:prstGeom>
          <a:noFill/>
          <a:ln/>
        </p:spPr>
        <p:txBody>
          <a:bodyPr wrap="square" lIns="0" tIns="0" rIns="0" bIns="0" rtlCol="0" anchor="t"/>
          <a:lstStyle/>
          <a:p>
            <a:pPr marL="0" indent="0" algn="r">
              <a:buNone/>
            </a:pPr>
            <a:r>
              <a:rPr lang="en-US" sz="2400" b="1" dirty="0">
                <a:solidFill>
                  <a:schemeClr val="accent6"/>
                </a:solidFill>
                <a:latin typeface="+mj-lt" pitchFamily="34" charset="0"/>
                <a:ea typeface="+mj-lt" pitchFamily="34" charset="-122"/>
                <a:cs typeface="+mj-lt" pitchFamily="34" charset="-120"/>
              </a:rPr>
              <a:t>02</a:t>
            </a:r>
            <a:endParaRPr lang="en-US" sz="2400" dirty="0"/>
          </a:p>
        </p:txBody>
      </p:sp>
      <p:sp>
        <p:nvSpPr>
          <p:cNvPr id="14" name="Tieu de 2"/>
          <p:cNvSpPr txBox="1"/>
          <p:nvPr/>
        </p:nvSpPr>
        <p:spPr>
          <a:xfrm>
            <a:off x="2990088" y="2880360"/>
            <a:ext cx="1737360" cy="640080"/>
          </a:xfrm>
          <a:prstGeom prst="rect">
            <a:avLst/>
          </a:prstGeom>
          <a:noFill/>
          <a:ln/>
        </p:spPr>
        <p:txBody>
          <a:bodyPr wrap="square" lIns="0" tIns="0" rIns="0" bIns="0" rtlCol="0" anchor="t"/>
          <a:lstStyle/>
          <a:p>
            <a:pPr marL="0" indent="0" algn="l">
              <a:buNone/>
            </a:pPr>
            <a:r>
              <a:rPr lang="en-US" sz="1600" b="1" dirty="0">
                <a:solidFill>
                  <a:schemeClr val="accent1"/>
                </a:solidFill>
              </a:rPr>
              <a:t>Bộ máy và nhân sự</a:t>
            </a:r>
            <a:endParaRPr lang="en-US" sz="1600" dirty="0"/>
          </a:p>
        </p:txBody>
      </p:sp>
      <p:sp>
        <p:nvSpPr>
          <p:cNvPr id="15" name="Noi dung 2"/>
          <p:cNvSpPr txBox="1"/>
          <p:nvPr/>
        </p:nvSpPr>
        <p:spPr>
          <a:xfrm>
            <a:off x="2990088" y="3566160"/>
            <a:ext cx="1737360" cy="1234440"/>
          </a:xfrm>
          <a:prstGeom prst="rect">
            <a:avLst/>
          </a:prstGeom>
          <a:noFill/>
          <a:ln/>
        </p:spPr>
        <p:txBody>
          <a:bodyPr wrap="square" lIns="0" tIns="0" rIns="0" bIns="0" rtlCol="0" anchor="t"/>
          <a:lstStyle/>
          <a:p>
            <a:pPr marL="0" indent="0" algn="l">
              <a:buNone/>
            </a:pPr>
            <a:r>
              <a:rPr lang="en-US" sz="1400" dirty="0">
                <a:solidFill>
                  <a:schemeClr val="tx1"/>
                </a:solidFill>
              </a:rPr>
              <a:t>Đủ vị trí then chốt: QA, vùng nguyên liệu, xuất nhập khẩu</a:t>
            </a:r>
            <a:endParaRPr lang="en-US" sz="1400" dirty="0"/>
          </a:p>
        </p:txBody>
      </p:sp>
      <p:sp>
        <p:nvSpPr>
          <p:cNvPr id="16" name="The tru cot 3"/>
          <p:cNvSpPr/>
          <p:nvPr/>
        </p:nvSpPr>
        <p:spPr>
          <a:xfrm>
            <a:off x="5065776" y="1783080"/>
            <a:ext cx="2057400" cy="3108960"/>
          </a:xfrm>
          <a:prstGeom prst="roundRect">
            <a:avLst>
              <a:gd name="adj" fmla="val 5333"/>
            </a:avLst>
          </a:prstGeom>
          <a:solidFill>
            <a:schemeClr val="bg2"/>
          </a:solidFill>
          <a:ln/>
        </p:spPr>
      </p:sp>
      <p:pic>
        <p:nvPicPr>
          <p:cNvPr id="17" name="Bieu tuong 3" descr="Nguyên liệu và truy xuất"/>
          <p:cNvPicPr>
            <a:picLocks noChangeAspect="1"/>
          </p:cNvPicPr>
          <p:nvPr/>
        </p:nvPicPr>
        <p:blipFill>
          <a:blip r:embed="rId5"/>
          <a:stretch>
            <a:fillRect/>
          </a:stretch>
        </p:blipFill>
        <p:spPr>
          <a:xfrm>
            <a:off x="5248656" y="1984248"/>
            <a:ext cx="713232" cy="713232"/>
          </a:xfrm>
          <a:prstGeom prst="rect">
            <a:avLst/>
          </a:prstGeom>
        </p:spPr>
      </p:pic>
      <p:sp>
        <p:nvSpPr>
          <p:cNvPr id="18" name="So 3"/>
          <p:cNvSpPr txBox="1"/>
          <p:nvPr/>
        </p:nvSpPr>
        <p:spPr>
          <a:xfrm>
            <a:off x="6391656" y="2057400"/>
            <a:ext cx="548640" cy="457200"/>
          </a:xfrm>
          <a:prstGeom prst="rect">
            <a:avLst/>
          </a:prstGeom>
          <a:noFill/>
          <a:ln/>
        </p:spPr>
        <p:txBody>
          <a:bodyPr wrap="square" lIns="0" tIns="0" rIns="0" bIns="0" rtlCol="0" anchor="t"/>
          <a:lstStyle/>
          <a:p>
            <a:pPr marL="0" indent="0" algn="r">
              <a:buNone/>
            </a:pPr>
            <a:r>
              <a:rPr lang="en-US" sz="2400" b="1" dirty="0">
                <a:solidFill>
                  <a:schemeClr val="accent6"/>
                </a:solidFill>
                <a:latin typeface="+mj-lt" pitchFamily="34" charset="0"/>
                <a:ea typeface="+mj-lt" pitchFamily="34" charset="-122"/>
                <a:cs typeface="+mj-lt" pitchFamily="34" charset="-120"/>
              </a:rPr>
              <a:t>03</a:t>
            </a:r>
            <a:endParaRPr lang="en-US" sz="2400" dirty="0"/>
          </a:p>
        </p:txBody>
      </p:sp>
      <p:sp>
        <p:nvSpPr>
          <p:cNvPr id="19" name="Tieu de 3"/>
          <p:cNvSpPr txBox="1"/>
          <p:nvPr/>
        </p:nvSpPr>
        <p:spPr>
          <a:xfrm>
            <a:off x="5248656" y="2880360"/>
            <a:ext cx="1737360" cy="640080"/>
          </a:xfrm>
          <a:prstGeom prst="rect">
            <a:avLst/>
          </a:prstGeom>
          <a:noFill/>
          <a:ln/>
        </p:spPr>
        <p:txBody>
          <a:bodyPr wrap="square" lIns="0" tIns="0" rIns="0" bIns="0" rtlCol="0" anchor="t"/>
          <a:lstStyle/>
          <a:p>
            <a:pPr marL="0" indent="0" algn="l">
              <a:buNone/>
            </a:pPr>
            <a:r>
              <a:rPr lang="en-US" sz="1600" b="1" dirty="0">
                <a:solidFill>
                  <a:schemeClr val="accent1"/>
                </a:solidFill>
              </a:rPr>
              <a:t>Nguyên liệu và truy xuất</a:t>
            </a:r>
            <a:endParaRPr lang="en-US" sz="1600" dirty="0"/>
          </a:p>
        </p:txBody>
      </p:sp>
      <p:sp>
        <p:nvSpPr>
          <p:cNvPr id="20" name="Noi dung 3"/>
          <p:cNvSpPr txBox="1"/>
          <p:nvPr/>
        </p:nvSpPr>
        <p:spPr>
          <a:xfrm>
            <a:off x="5248656" y="3566160"/>
            <a:ext cx="1737360" cy="1234440"/>
          </a:xfrm>
          <a:prstGeom prst="rect">
            <a:avLst/>
          </a:prstGeom>
          <a:noFill/>
          <a:ln/>
        </p:spPr>
        <p:txBody>
          <a:bodyPr wrap="square" lIns="0" tIns="0" rIns="0" bIns="0" rtlCol="0" anchor="t"/>
          <a:lstStyle/>
          <a:p>
            <a:pPr marL="0" indent="0" algn="l">
              <a:buNone/>
            </a:pPr>
            <a:r>
              <a:rPr lang="en-US" sz="1400" dirty="0">
                <a:solidFill>
                  <a:schemeClr val="tx1"/>
                </a:solidFill>
              </a:rPr>
              <a:t>Nhà vườn đạt chuẩn, nhật ký sản xuất, kiểm dư lượng từng lô</a:t>
            </a:r>
            <a:endParaRPr lang="en-US" sz="1400" dirty="0"/>
          </a:p>
        </p:txBody>
      </p:sp>
      <p:sp>
        <p:nvSpPr>
          <p:cNvPr id="21" name="The tru cot 4"/>
          <p:cNvSpPr/>
          <p:nvPr/>
        </p:nvSpPr>
        <p:spPr>
          <a:xfrm>
            <a:off x="7324344" y="1783080"/>
            <a:ext cx="2057400" cy="3108960"/>
          </a:xfrm>
          <a:prstGeom prst="roundRect">
            <a:avLst>
              <a:gd name="adj" fmla="val 5333"/>
            </a:avLst>
          </a:prstGeom>
          <a:solidFill>
            <a:schemeClr val="bg2"/>
          </a:solidFill>
          <a:ln/>
        </p:spPr>
      </p:sp>
      <p:pic>
        <p:nvPicPr>
          <p:cNvPr id="22" name="Bieu tuong 4" descr="Nhà máy và quy trình"/>
          <p:cNvPicPr>
            <a:picLocks noChangeAspect="1"/>
          </p:cNvPicPr>
          <p:nvPr/>
        </p:nvPicPr>
        <p:blipFill>
          <a:blip r:embed="rId6"/>
          <a:stretch>
            <a:fillRect/>
          </a:stretch>
        </p:blipFill>
        <p:spPr>
          <a:xfrm>
            <a:off x="7507224" y="1984248"/>
            <a:ext cx="713232" cy="713232"/>
          </a:xfrm>
          <a:prstGeom prst="rect">
            <a:avLst/>
          </a:prstGeom>
        </p:spPr>
      </p:pic>
      <p:sp>
        <p:nvSpPr>
          <p:cNvPr id="23" name="So 4"/>
          <p:cNvSpPr txBox="1"/>
          <p:nvPr/>
        </p:nvSpPr>
        <p:spPr>
          <a:xfrm>
            <a:off x="8650224" y="2057400"/>
            <a:ext cx="548640" cy="457200"/>
          </a:xfrm>
          <a:prstGeom prst="rect">
            <a:avLst/>
          </a:prstGeom>
          <a:noFill/>
          <a:ln/>
        </p:spPr>
        <p:txBody>
          <a:bodyPr wrap="square" lIns="0" tIns="0" rIns="0" bIns="0" rtlCol="0" anchor="t"/>
          <a:lstStyle/>
          <a:p>
            <a:pPr marL="0" indent="0" algn="r">
              <a:buNone/>
            </a:pPr>
            <a:r>
              <a:rPr lang="en-US" sz="2400" b="1" dirty="0">
                <a:solidFill>
                  <a:schemeClr val="accent6"/>
                </a:solidFill>
                <a:latin typeface="+mj-lt" pitchFamily="34" charset="0"/>
                <a:ea typeface="+mj-lt" pitchFamily="34" charset="-122"/>
                <a:cs typeface="+mj-lt" pitchFamily="34" charset="-120"/>
              </a:rPr>
              <a:t>04</a:t>
            </a:r>
            <a:endParaRPr lang="en-US" sz="2400" dirty="0"/>
          </a:p>
        </p:txBody>
      </p:sp>
      <p:sp>
        <p:nvSpPr>
          <p:cNvPr id="24" name="Tieu de 4"/>
          <p:cNvSpPr txBox="1"/>
          <p:nvPr/>
        </p:nvSpPr>
        <p:spPr>
          <a:xfrm>
            <a:off x="7507224" y="2880360"/>
            <a:ext cx="1737360" cy="640080"/>
          </a:xfrm>
          <a:prstGeom prst="rect">
            <a:avLst/>
          </a:prstGeom>
          <a:noFill/>
          <a:ln/>
        </p:spPr>
        <p:txBody>
          <a:bodyPr wrap="square" lIns="0" tIns="0" rIns="0" bIns="0" rtlCol="0" anchor="t"/>
          <a:lstStyle/>
          <a:p>
            <a:pPr marL="0" indent="0" algn="l">
              <a:buNone/>
            </a:pPr>
            <a:r>
              <a:rPr lang="en-US" sz="1600" b="1" dirty="0">
                <a:solidFill>
                  <a:schemeClr val="accent1"/>
                </a:solidFill>
              </a:rPr>
              <a:t>Nhà máy và quy trình</a:t>
            </a:r>
            <a:endParaRPr lang="en-US" sz="1600" dirty="0"/>
          </a:p>
        </p:txBody>
      </p:sp>
      <p:sp>
        <p:nvSpPr>
          <p:cNvPr id="25" name="Noi dung 4"/>
          <p:cNvSpPr txBox="1"/>
          <p:nvPr/>
        </p:nvSpPr>
        <p:spPr>
          <a:xfrm>
            <a:off x="7507224" y="3566160"/>
            <a:ext cx="1737360" cy="1234440"/>
          </a:xfrm>
          <a:prstGeom prst="rect">
            <a:avLst/>
          </a:prstGeom>
          <a:noFill/>
          <a:ln/>
        </p:spPr>
        <p:txBody>
          <a:bodyPr wrap="square" lIns="0" tIns="0" rIns="0" bIns="0" rtlCol="0" anchor="t"/>
          <a:lstStyle/>
          <a:p>
            <a:pPr marL="0" indent="0" algn="l">
              <a:buNone/>
            </a:pPr>
            <a:r>
              <a:rPr lang="en-US" sz="1400" dirty="0">
                <a:solidFill>
                  <a:schemeClr val="tx1"/>
                </a:solidFill>
              </a:rPr>
              <a:t>Dòng chảy một chiều, HACCP, dò kim loại, hồ sơ từng lô</a:t>
            </a:r>
            <a:endParaRPr lang="en-US" sz="1400" dirty="0"/>
          </a:p>
        </p:txBody>
      </p:sp>
      <p:sp>
        <p:nvSpPr>
          <p:cNvPr id="26" name="The tru cot 5"/>
          <p:cNvSpPr/>
          <p:nvPr/>
        </p:nvSpPr>
        <p:spPr>
          <a:xfrm>
            <a:off x="9582912" y="1783080"/>
            <a:ext cx="2057400" cy="3108960"/>
          </a:xfrm>
          <a:prstGeom prst="roundRect">
            <a:avLst>
              <a:gd name="adj" fmla="val 5333"/>
            </a:avLst>
          </a:prstGeom>
          <a:solidFill>
            <a:schemeClr val="bg2"/>
          </a:solidFill>
          <a:ln/>
        </p:spPr>
      </p:sp>
      <p:pic>
        <p:nvPicPr>
          <p:cNvPr id="27" name="Bieu tuong 5" descr="Chứng nhận theo thị trường"/>
          <p:cNvPicPr>
            <a:picLocks noChangeAspect="1"/>
          </p:cNvPicPr>
          <p:nvPr/>
        </p:nvPicPr>
        <p:blipFill>
          <a:blip r:embed="rId7"/>
          <a:stretch>
            <a:fillRect/>
          </a:stretch>
        </p:blipFill>
        <p:spPr>
          <a:xfrm>
            <a:off x="9765792" y="1984248"/>
            <a:ext cx="713232" cy="713232"/>
          </a:xfrm>
          <a:prstGeom prst="rect">
            <a:avLst/>
          </a:prstGeom>
        </p:spPr>
      </p:pic>
      <p:sp>
        <p:nvSpPr>
          <p:cNvPr id="28" name="So 5"/>
          <p:cNvSpPr txBox="1"/>
          <p:nvPr/>
        </p:nvSpPr>
        <p:spPr>
          <a:xfrm>
            <a:off x="10908792" y="2057400"/>
            <a:ext cx="548640" cy="457200"/>
          </a:xfrm>
          <a:prstGeom prst="rect">
            <a:avLst/>
          </a:prstGeom>
          <a:noFill/>
          <a:ln/>
        </p:spPr>
        <p:txBody>
          <a:bodyPr wrap="square" lIns="0" tIns="0" rIns="0" bIns="0" rtlCol="0" anchor="t"/>
          <a:lstStyle/>
          <a:p>
            <a:pPr marL="0" indent="0" algn="r">
              <a:buNone/>
            </a:pPr>
            <a:r>
              <a:rPr lang="en-US" sz="2400" b="1" dirty="0">
                <a:solidFill>
                  <a:schemeClr val="accent6"/>
                </a:solidFill>
                <a:latin typeface="+mj-lt" pitchFamily="34" charset="0"/>
                <a:ea typeface="+mj-lt" pitchFamily="34" charset="-122"/>
                <a:cs typeface="+mj-lt" pitchFamily="34" charset="-120"/>
              </a:rPr>
              <a:t>05</a:t>
            </a:r>
            <a:endParaRPr lang="en-US" sz="2400" dirty="0"/>
          </a:p>
        </p:txBody>
      </p:sp>
      <p:sp>
        <p:nvSpPr>
          <p:cNvPr id="29" name="Tieu de 5"/>
          <p:cNvSpPr txBox="1"/>
          <p:nvPr/>
        </p:nvSpPr>
        <p:spPr>
          <a:xfrm>
            <a:off x="9765792" y="2880360"/>
            <a:ext cx="1737360" cy="640080"/>
          </a:xfrm>
          <a:prstGeom prst="rect">
            <a:avLst/>
          </a:prstGeom>
          <a:noFill/>
          <a:ln/>
        </p:spPr>
        <p:txBody>
          <a:bodyPr wrap="square" lIns="0" tIns="0" rIns="0" bIns="0" rtlCol="0" anchor="t"/>
          <a:lstStyle/>
          <a:p>
            <a:pPr marL="0" indent="0" algn="l">
              <a:buNone/>
            </a:pPr>
            <a:r>
              <a:rPr lang="en-US" sz="1600" b="1" dirty="0">
                <a:solidFill>
                  <a:schemeClr val="accent1"/>
                </a:solidFill>
              </a:rPr>
              <a:t>Chứng nhận theo thị trường</a:t>
            </a:r>
            <a:endParaRPr lang="en-US" sz="1600" dirty="0"/>
          </a:p>
        </p:txBody>
      </p:sp>
      <p:sp>
        <p:nvSpPr>
          <p:cNvPr id="30" name="Noi dung 5"/>
          <p:cNvSpPr txBox="1"/>
          <p:nvPr/>
        </p:nvSpPr>
        <p:spPr>
          <a:xfrm>
            <a:off x="9765792" y="3566160"/>
            <a:ext cx="1737360" cy="1234440"/>
          </a:xfrm>
          <a:prstGeom prst="rect">
            <a:avLst/>
          </a:prstGeom>
          <a:noFill/>
          <a:ln/>
        </p:spPr>
        <p:txBody>
          <a:bodyPr wrap="square" lIns="0" tIns="0" rIns="0" bIns="0" rtlCol="0" anchor="t"/>
          <a:lstStyle/>
          <a:p>
            <a:pPr marL="0" indent="0" algn="l">
              <a:buNone/>
            </a:pPr>
            <a:r>
              <a:rPr lang="en-US" sz="1400" dirty="0">
                <a:solidFill>
                  <a:schemeClr val="tx1"/>
                </a:solidFill>
              </a:rPr>
              <a:t>Giấy chứng nhận và nhãn mác đúng chuẩn từng thị trường</a:t>
            </a:r>
            <a:endParaRPr lang="en-US" sz="1400" dirty="0"/>
          </a:p>
        </p:txBody>
      </p:sp>
      <p:sp>
        <p:nvSpPr>
          <p:cNvPr id="31" name="Bang giai doan"/>
          <p:cNvSpPr/>
          <p:nvPr/>
        </p:nvSpPr>
        <p:spPr>
          <a:xfrm>
            <a:off x="548640" y="5120640"/>
            <a:ext cx="11094415" cy="1005840"/>
          </a:xfrm>
          <a:prstGeom prst="roundRect">
            <a:avLst>
              <a:gd name="adj" fmla="val 10909"/>
            </a:avLst>
          </a:prstGeom>
          <a:solidFill>
            <a:schemeClr val="accent1"/>
          </a:solidFill>
          <a:ln/>
        </p:spPr>
      </p:sp>
      <p:sp>
        <p:nvSpPr>
          <p:cNvPr id="32" name="Nhan giai doan"/>
          <p:cNvSpPr txBox="1"/>
          <p:nvPr/>
        </p:nvSpPr>
        <p:spPr>
          <a:xfrm>
            <a:off x="822960" y="5394960"/>
            <a:ext cx="1737360" cy="457200"/>
          </a:xfrm>
          <a:prstGeom prst="rect">
            <a:avLst/>
          </a:prstGeom>
          <a:noFill/>
          <a:ln/>
        </p:spPr>
        <p:txBody>
          <a:bodyPr wrap="square" lIns="0" tIns="0" rIns="0" bIns="0" rtlCol="0" anchor="t"/>
          <a:lstStyle/>
          <a:p>
            <a:pPr marL="0" indent="0" algn="l">
              <a:buNone/>
            </a:pPr>
            <a:r>
              <a:rPr lang="en-US" sz="1200" b="1" kern="0" spc="100" dirty="0">
                <a:solidFill>
                  <a:schemeClr val="accent2"/>
                </a:solidFill>
              </a:rPr>
              <a:t>LÀM CHỦ CHUỖI</a:t>
            </a:r>
            <a:endParaRPr lang="en-US" sz="1200" dirty="0"/>
          </a:p>
          <a:p>
            <a:pPr marL="0" indent="0" algn="l">
              <a:buNone/>
            </a:pPr>
            <a:r>
              <a:rPr lang="en-US" sz="1200" b="1" kern="0" spc="100" dirty="0">
                <a:solidFill>
                  <a:schemeClr val="accent2"/>
                </a:solidFill>
              </a:rPr>
              <a:t>THEO 4 GIAI ĐOẠN</a:t>
            </a:r>
            <a:endParaRPr lang="en-US" sz="1200" dirty="0"/>
          </a:p>
        </p:txBody>
      </p:sp>
      <p:sp>
        <p:nvSpPr>
          <p:cNvPr id="33" name="Chip 1"/>
          <p:cNvSpPr/>
          <p:nvPr/>
        </p:nvSpPr>
        <p:spPr>
          <a:xfrm>
            <a:off x="2697480" y="5257800"/>
            <a:ext cx="2103120" cy="731520"/>
          </a:xfrm>
          <a:prstGeom prst="roundRect">
            <a:avLst>
              <a:gd name="adj" fmla="val 12500"/>
            </a:avLst>
          </a:prstGeom>
          <a:solidFill>
            <a:schemeClr val="bg1"/>
          </a:solidFill>
          <a:ln/>
        </p:spPr>
      </p:sp>
      <p:sp>
        <p:nvSpPr>
          <p:cNvPr id="34" name="Vach chip 1"/>
          <p:cNvSpPr/>
          <p:nvPr/>
        </p:nvSpPr>
        <p:spPr>
          <a:xfrm>
            <a:off x="2697480" y="5257800"/>
            <a:ext cx="82296" cy="731520"/>
          </a:xfrm>
          <a:prstGeom prst="rect">
            <a:avLst/>
          </a:prstGeom>
          <a:solidFill>
            <a:srgbClr val="5E9E68"/>
          </a:solidFill>
          <a:ln/>
        </p:spPr>
      </p:sp>
      <p:sp>
        <p:nvSpPr>
          <p:cNvPr id="35" name="Chu chip 1"/>
          <p:cNvSpPr txBox="1"/>
          <p:nvPr/>
        </p:nvSpPr>
        <p:spPr>
          <a:xfrm>
            <a:off x="2880360" y="5303520"/>
            <a:ext cx="1874520" cy="640080"/>
          </a:xfrm>
          <a:prstGeom prst="rect">
            <a:avLst/>
          </a:prstGeom>
          <a:noFill/>
          <a:ln/>
        </p:spPr>
        <p:txBody>
          <a:bodyPr wrap="square" lIns="0" tIns="0" rIns="0" bIns="0" rtlCol="0" anchor="ctr"/>
          <a:lstStyle/>
          <a:p>
            <a:pPr marL="0" indent="0" algn="l">
              <a:buNone/>
            </a:pPr>
            <a:r>
              <a:rPr lang="en-US" sz="1400" b="1" dirty="0">
                <a:solidFill>
                  <a:schemeClr val="accent1"/>
                </a:solidFill>
              </a:rPr>
              <a:t>1 · Thu mua</a:t>
            </a:r>
            <a:endParaRPr lang="en-US" sz="1400" dirty="0"/>
          </a:p>
          <a:p>
            <a:pPr marL="0" indent="0" algn="l">
              <a:buNone/>
            </a:pPr>
            <a:r>
              <a:rPr lang="en-US" sz="1300" dirty="0">
                <a:solidFill>
                  <a:schemeClr val="tx1"/>
                </a:solidFill>
              </a:rPr>
              <a:t>nguyên liệu, gia công</a:t>
            </a:r>
            <a:endParaRPr lang="en-US" sz="1400" dirty="0"/>
          </a:p>
        </p:txBody>
      </p:sp>
      <p:sp>
        <p:nvSpPr>
          <p:cNvPr id="36" name="Chip 2"/>
          <p:cNvSpPr/>
          <p:nvPr/>
        </p:nvSpPr>
        <p:spPr>
          <a:xfrm>
            <a:off x="4919472" y="5257800"/>
            <a:ext cx="2103120" cy="731520"/>
          </a:xfrm>
          <a:prstGeom prst="roundRect">
            <a:avLst>
              <a:gd name="adj" fmla="val 12500"/>
            </a:avLst>
          </a:prstGeom>
          <a:solidFill>
            <a:schemeClr val="bg1"/>
          </a:solidFill>
          <a:ln/>
        </p:spPr>
      </p:sp>
      <p:sp>
        <p:nvSpPr>
          <p:cNvPr id="37" name="Vach chip 2"/>
          <p:cNvSpPr/>
          <p:nvPr/>
        </p:nvSpPr>
        <p:spPr>
          <a:xfrm>
            <a:off x="4919472" y="5257800"/>
            <a:ext cx="82296" cy="731520"/>
          </a:xfrm>
          <a:prstGeom prst="rect">
            <a:avLst/>
          </a:prstGeom>
          <a:solidFill>
            <a:srgbClr val="1D4B3A"/>
          </a:solidFill>
          <a:ln/>
        </p:spPr>
      </p:sp>
      <p:sp>
        <p:nvSpPr>
          <p:cNvPr id="38" name="Chu chip 2"/>
          <p:cNvSpPr txBox="1"/>
          <p:nvPr/>
        </p:nvSpPr>
        <p:spPr>
          <a:xfrm>
            <a:off x="5102352" y="5303520"/>
            <a:ext cx="1874520" cy="640080"/>
          </a:xfrm>
          <a:prstGeom prst="rect">
            <a:avLst/>
          </a:prstGeom>
          <a:noFill/>
          <a:ln/>
        </p:spPr>
        <p:txBody>
          <a:bodyPr wrap="square" lIns="0" tIns="0" rIns="0" bIns="0" rtlCol="0" anchor="ctr"/>
          <a:lstStyle/>
          <a:p>
            <a:pPr marL="0" indent="0" algn="l">
              <a:buNone/>
            </a:pPr>
            <a:r>
              <a:rPr lang="en-US" sz="1400" b="1" dirty="0">
                <a:solidFill>
                  <a:schemeClr val="accent1"/>
                </a:solidFill>
              </a:rPr>
              <a:t>2 · Chế biến</a:t>
            </a:r>
            <a:endParaRPr lang="en-US" sz="1400" dirty="0"/>
          </a:p>
          <a:p>
            <a:pPr marL="0" indent="0" algn="l">
              <a:buNone/>
            </a:pPr>
            <a:r>
              <a:rPr lang="en-US" sz="1300" dirty="0">
                <a:solidFill>
                  <a:schemeClr val="tx1"/>
                </a:solidFill>
              </a:rPr>
              <a:t>xưởng riêng, ATTP</a:t>
            </a:r>
            <a:endParaRPr lang="en-US" sz="1400" dirty="0"/>
          </a:p>
        </p:txBody>
      </p:sp>
      <p:sp>
        <p:nvSpPr>
          <p:cNvPr id="39" name="Chip 3"/>
          <p:cNvSpPr/>
          <p:nvPr/>
        </p:nvSpPr>
        <p:spPr>
          <a:xfrm>
            <a:off x="7141464" y="5257800"/>
            <a:ext cx="2103120" cy="731520"/>
          </a:xfrm>
          <a:prstGeom prst="roundRect">
            <a:avLst>
              <a:gd name="adj" fmla="val 12500"/>
            </a:avLst>
          </a:prstGeom>
          <a:solidFill>
            <a:schemeClr val="bg1"/>
          </a:solidFill>
          <a:ln/>
        </p:spPr>
      </p:sp>
      <p:sp>
        <p:nvSpPr>
          <p:cNvPr id="40" name="Vach chip 3"/>
          <p:cNvSpPr/>
          <p:nvPr/>
        </p:nvSpPr>
        <p:spPr>
          <a:xfrm>
            <a:off x="7141464" y="5257800"/>
            <a:ext cx="82296" cy="731520"/>
          </a:xfrm>
          <a:prstGeom prst="rect">
            <a:avLst/>
          </a:prstGeom>
          <a:solidFill>
            <a:srgbClr val="E4A92A"/>
          </a:solidFill>
          <a:ln/>
        </p:spPr>
      </p:sp>
      <p:sp>
        <p:nvSpPr>
          <p:cNvPr id="41" name="Chu chip 3"/>
          <p:cNvSpPr txBox="1"/>
          <p:nvPr/>
        </p:nvSpPr>
        <p:spPr>
          <a:xfrm>
            <a:off x="7324344" y="5303520"/>
            <a:ext cx="1874520" cy="640080"/>
          </a:xfrm>
          <a:prstGeom prst="rect">
            <a:avLst/>
          </a:prstGeom>
          <a:noFill/>
          <a:ln/>
        </p:spPr>
        <p:txBody>
          <a:bodyPr wrap="square" lIns="0" tIns="0" rIns="0" bIns="0" rtlCol="0" anchor="ctr"/>
          <a:lstStyle/>
          <a:p>
            <a:pPr marL="0" indent="0" algn="l">
              <a:buNone/>
            </a:pPr>
            <a:r>
              <a:rPr lang="en-US" sz="1400" b="1" dirty="0">
                <a:solidFill>
                  <a:schemeClr val="accent1"/>
                </a:solidFill>
              </a:rPr>
              <a:t>3 · Sản xuất đạt chuẩn</a:t>
            </a:r>
            <a:endParaRPr lang="en-US" sz="1400" dirty="0"/>
          </a:p>
          <a:p>
            <a:pPr marL="0" indent="0" algn="l">
              <a:buNone/>
            </a:pPr>
            <a:r>
              <a:rPr lang="en-US" sz="1300" dirty="0">
                <a:solidFill>
                  <a:schemeClr val="tx1"/>
                </a:solidFill>
              </a:rPr>
              <a:t>mã GACC, lô đầu</a:t>
            </a:r>
            <a:endParaRPr lang="en-US" sz="1400" dirty="0"/>
          </a:p>
        </p:txBody>
      </p:sp>
      <p:sp>
        <p:nvSpPr>
          <p:cNvPr id="42" name="Chip 4"/>
          <p:cNvSpPr/>
          <p:nvPr/>
        </p:nvSpPr>
        <p:spPr>
          <a:xfrm>
            <a:off x="9363456" y="5257800"/>
            <a:ext cx="2103120" cy="731520"/>
          </a:xfrm>
          <a:prstGeom prst="roundRect">
            <a:avLst>
              <a:gd name="adj" fmla="val 12500"/>
            </a:avLst>
          </a:prstGeom>
          <a:solidFill>
            <a:schemeClr val="bg1"/>
          </a:solidFill>
          <a:ln/>
        </p:spPr>
      </p:sp>
      <p:sp>
        <p:nvSpPr>
          <p:cNvPr id="43" name="Vach chip 4"/>
          <p:cNvSpPr/>
          <p:nvPr/>
        </p:nvSpPr>
        <p:spPr>
          <a:xfrm>
            <a:off x="9363456" y="5257800"/>
            <a:ext cx="82296" cy="731520"/>
          </a:xfrm>
          <a:prstGeom prst="rect">
            <a:avLst/>
          </a:prstGeom>
          <a:solidFill>
            <a:srgbClr val="7A3E8F"/>
          </a:solidFill>
          <a:ln/>
        </p:spPr>
      </p:sp>
      <p:sp>
        <p:nvSpPr>
          <p:cNvPr id="44" name="Chu chip 4"/>
          <p:cNvSpPr txBox="1"/>
          <p:nvPr/>
        </p:nvSpPr>
        <p:spPr>
          <a:xfrm>
            <a:off x="9546336" y="5303520"/>
            <a:ext cx="1874520" cy="640080"/>
          </a:xfrm>
          <a:prstGeom prst="rect">
            <a:avLst/>
          </a:prstGeom>
          <a:noFill/>
          <a:ln/>
        </p:spPr>
        <p:txBody>
          <a:bodyPr wrap="square" lIns="0" tIns="0" rIns="0" bIns="0" rtlCol="0" anchor="ctr"/>
          <a:lstStyle/>
          <a:p>
            <a:pPr marL="0" indent="0" algn="l">
              <a:buNone/>
            </a:pPr>
            <a:r>
              <a:rPr lang="en-US" sz="1400" b="1" dirty="0">
                <a:solidFill>
                  <a:schemeClr val="accent1"/>
                </a:solidFill>
              </a:rPr>
              <a:t>4 · Xuất khẩu</a:t>
            </a:r>
            <a:endParaRPr lang="en-US" sz="1400" dirty="0"/>
          </a:p>
          <a:p>
            <a:pPr marL="0" indent="0" algn="l">
              <a:buNone/>
            </a:pPr>
            <a:r>
              <a:rPr lang="en-US" sz="1300" dirty="0">
                <a:solidFill>
                  <a:schemeClr val="tx1"/>
                </a:solidFill>
              </a:rPr>
              <a:t>Trung Quốc và Châu Âu</a:t>
            </a:r>
            <a:endParaRPr lang="en-US" sz="1400" dirty="0"/>
          </a:p>
        </p:txBody>
      </p:sp>
      <p:sp>
        <p:nvSpPr>
          <p:cNvPr id="2" name="Slide Number Placeholder 0"/>
          <p:cNvSpPr>
            <a:spLocks noGrp="1"/>
          </p:cNvSpPr>
          <p:nvPr>
            <p:ph type="sldNum" sz="quarter" idx="4294967295"/>
          </p:nvPr>
        </p:nvSpPr>
        <p:spPr>
          <a:xfrm>
            <a:off x="10972800" y="6492240"/>
            <a:ext cx="667512" cy="237744"/>
          </a:xfrm>
          <a:prstGeom prst="rect">
            <a:avLst/>
          </a:prstGeom>
          <a:extLst>
            <a:ext uri="{C572A759-6A51-4108-AA02-DFA0A04FC94B}">
              <ma14:wrappingTextBoxFlag xmlns:ma14="http://schemas.microsoft.com/office/mac/drawingml/2011/main" xmlns="" val="0"/>
            </a:ext>
          </a:extLst>
        </p:spPr>
        <p:txBody>
          <a:bodyPr/>
          <a:lstStyle>
            <a:lvl1pPr>
              <a:defRPr sz="1000">
                <a:solidFill>
                  <a:srgbClr val="5C6F66"/>
                </a:solidFill>
              </a:defRPr>
            </a:lvl1pPr>
          </a:lstStyle>
          <a:p>
            <a:pPr algn="r"/>
            <a:fld id="{F7021451-1387-4CA6-816F-3879F97B5CBC}" type="slidenum">
              <a:rPr lang="en-US" b="0"/>
              <a:t>2</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Dau cham"/>
          <p:cNvSpPr/>
          <p:nvPr/>
        </p:nvSpPr>
        <p:spPr>
          <a:xfrm>
            <a:off x="548640" y="429768"/>
            <a:ext cx="118872" cy="118872"/>
          </a:xfrm>
          <a:prstGeom prst="ellipse">
            <a:avLst/>
          </a:prstGeom>
          <a:solidFill>
            <a:schemeClr val="accent2"/>
          </a:solidFill>
          <a:ln/>
        </p:spPr>
      </p:sp>
      <p:sp>
        <p:nvSpPr>
          <p:cNvPr id="4" name="Nhan chuyen muc"/>
          <p:cNvSpPr txBox="1"/>
          <p:nvPr/>
        </p:nvSpPr>
        <p:spPr>
          <a:xfrm>
            <a:off x="777240" y="347472"/>
            <a:ext cx="6949440" cy="274320"/>
          </a:xfrm>
          <a:prstGeom prst="rect">
            <a:avLst/>
          </a:prstGeom>
          <a:noFill/>
          <a:ln/>
        </p:spPr>
        <p:txBody>
          <a:bodyPr wrap="square" lIns="0" tIns="0" rIns="0" bIns="0" rtlCol="0" anchor="ctr"/>
          <a:lstStyle/>
          <a:p>
            <a:pPr marL="0" indent="0" algn="l">
              <a:buNone/>
            </a:pPr>
            <a:r>
              <a:rPr lang="en-US" sz="1200" b="1" kern="0" spc="200" dirty="0">
                <a:solidFill>
                  <a:schemeClr val="accent1"/>
                </a:solidFill>
              </a:rPr>
              <a:t>ĐIỂM XUẤT PHÁT</a:t>
            </a:r>
            <a:endParaRPr lang="en-US" sz="1200" dirty="0"/>
          </a:p>
        </p:txBody>
      </p:sp>
      <p:sp>
        <p:nvSpPr>
          <p:cNvPr id="5" name="Text 0"/>
          <p:cNvSpPr>
            <a:spLocks noGrp="1"/>
          </p:cNvSpPr>
          <p:nvPr>
            <p:ph type="title" idx="100" hasCustomPrompt="1"/>
          </p:nvPr>
        </p:nvSpPr>
        <p:spPr>
          <a:xfrm>
            <a:off x="548640" y="658368"/>
            <a:ext cx="11094415" cy="777240"/>
          </a:xfrm>
          <a:prstGeom prst="rect">
            <a:avLst/>
          </a:prstGeom>
          <a:noFill/>
          <a:ln/>
        </p:spPr>
        <p:txBody>
          <a:bodyPr wrap="square" lIns="0" tIns="0" rIns="0" bIns="0" rtlCol="0" anchor="ctr"/>
          <a:lstStyle/>
          <a:p>
            <a:pPr marL="0" indent="0" algn="l">
              <a:buNone/>
            </a:pPr>
            <a:r>
              <a:rPr lang="en-US" sz="3000" b="1" dirty="0">
                <a:solidFill>
                  <a:schemeClr val="tx2"/>
                </a:solidFill>
              </a:rPr>
              <a:t>Điểm xuất phát: pháp nhân và thương hiệu đã có</a:t>
            </a:r>
            <a:endParaRPr lang="en-US" sz="3000" dirty="0"/>
          </a:p>
        </p:txBody>
      </p:sp>
      <p:pic>
        <p:nvPicPr>
          <p:cNvPr id="6" name="Anh giay dang ky HTX" descr="Giấy chứng nhận đăng ký hợp tác xã Heragrain"/>
          <p:cNvPicPr>
            <a:picLocks noChangeAspect="1"/>
          </p:cNvPicPr>
          <p:nvPr/>
        </p:nvPicPr>
        <p:blipFill>
          <a:blip r:embed="rId3"/>
          <a:stretch>
            <a:fillRect/>
          </a:stretch>
        </p:blipFill>
        <p:spPr>
          <a:xfrm>
            <a:off x="548640" y="1783080"/>
            <a:ext cx="4434840" cy="2194560"/>
          </a:xfrm>
          <a:prstGeom prst="rect">
            <a:avLst/>
          </a:prstGeom>
        </p:spPr>
      </p:pic>
      <p:sp>
        <p:nvSpPr>
          <p:cNvPr id="7" name="Chu thich giay phep"/>
          <p:cNvSpPr txBox="1"/>
          <p:nvPr/>
        </p:nvSpPr>
        <p:spPr>
          <a:xfrm>
            <a:off x="548640" y="4069080"/>
            <a:ext cx="4434840" cy="411480"/>
          </a:xfrm>
          <a:prstGeom prst="rect">
            <a:avLst/>
          </a:prstGeom>
          <a:noFill/>
          <a:ln/>
        </p:spPr>
        <p:txBody>
          <a:bodyPr wrap="square" lIns="0" tIns="0" rIns="0" bIns="0" rtlCol="0" anchor="t"/>
          <a:lstStyle/>
          <a:p>
            <a:pPr marL="0" indent="0" algn="l">
              <a:buNone/>
            </a:pPr>
            <a:r>
              <a:rPr lang="en-US" sz="1200" dirty="0">
                <a:solidFill>
                  <a:srgbClr val="5C6F66"/>
                </a:solidFill>
              </a:rPr>
              <a:t>Giấy chứng nhận đăng ký hợp tác xã, đăng ký lần đầu 22/9/2025</a:t>
            </a:r>
            <a:endParaRPr lang="en-US" sz="1200" dirty="0"/>
          </a:p>
        </p:txBody>
      </p:sp>
      <p:pic>
        <p:nvPicPr>
          <p:cNvPr id="8" name="Anh bao bi" descr="Concept bao bì sầu riêng sấy, chanh dây gừng sấy, trà mãng cầu"/>
          <p:cNvPicPr>
            <a:picLocks noChangeAspect="1"/>
          </p:cNvPicPr>
          <p:nvPr/>
        </p:nvPicPr>
        <p:blipFill>
          <a:blip r:embed="rId4"/>
          <a:stretch>
            <a:fillRect/>
          </a:stretch>
        </p:blipFill>
        <p:spPr>
          <a:xfrm>
            <a:off x="5257800" y="1783080"/>
            <a:ext cx="5769864" cy="2194560"/>
          </a:xfrm>
          <a:prstGeom prst="rect">
            <a:avLst/>
          </a:prstGeom>
        </p:spPr>
      </p:pic>
      <p:sp>
        <p:nvSpPr>
          <p:cNvPr id="9" name="Chu thich bao bi"/>
          <p:cNvSpPr txBox="1"/>
          <p:nvPr/>
        </p:nvSpPr>
        <p:spPr>
          <a:xfrm>
            <a:off x="5257800" y="4069080"/>
            <a:ext cx="5769864" cy="274320"/>
          </a:xfrm>
          <a:prstGeom prst="rect">
            <a:avLst/>
          </a:prstGeom>
          <a:noFill/>
          <a:ln/>
        </p:spPr>
        <p:txBody>
          <a:bodyPr wrap="square" lIns="0" tIns="0" rIns="0" bIns="0" rtlCol="0" anchor="t"/>
          <a:lstStyle/>
          <a:p>
            <a:pPr marL="0" indent="0" algn="l">
              <a:buNone/>
            </a:pPr>
            <a:r>
              <a:rPr lang="en-US" sz="1200" dirty="0">
                <a:solidFill>
                  <a:srgbClr val="5C6F66"/>
                </a:solidFill>
              </a:rPr>
              <a:t>Concept bao bì Heragrain (bản demo)</a:t>
            </a:r>
            <a:endParaRPr lang="en-US" sz="1200" dirty="0"/>
          </a:p>
        </p:txBody>
      </p:sp>
      <p:sp>
        <p:nvSpPr>
          <p:cNvPr id="10" name="Khung ĐÃ CÓ"/>
          <p:cNvSpPr/>
          <p:nvPr/>
        </p:nvSpPr>
        <p:spPr>
          <a:xfrm>
            <a:off x="548640" y="4709160"/>
            <a:ext cx="5458968" cy="1417320"/>
          </a:xfrm>
          <a:prstGeom prst="roundRect">
            <a:avLst>
              <a:gd name="adj" fmla="val 7742"/>
            </a:avLst>
          </a:prstGeom>
          <a:solidFill>
            <a:srgbClr val="E3EDE6"/>
          </a:solidFill>
          <a:ln/>
        </p:spPr>
      </p:sp>
      <p:sp>
        <p:nvSpPr>
          <p:cNvPr id="11" name="Tieu de ĐÃ CÓ"/>
          <p:cNvSpPr txBox="1"/>
          <p:nvPr/>
        </p:nvSpPr>
        <p:spPr>
          <a:xfrm>
            <a:off x="777240" y="4782312"/>
            <a:ext cx="2743200" cy="256032"/>
          </a:xfrm>
          <a:prstGeom prst="rect">
            <a:avLst/>
          </a:prstGeom>
          <a:noFill/>
          <a:ln/>
        </p:spPr>
        <p:txBody>
          <a:bodyPr wrap="square" lIns="0" tIns="0" rIns="0" bIns="0" rtlCol="0" anchor="t"/>
          <a:lstStyle/>
          <a:p>
            <a:pPr marL="0" indent="0" algn="l">
              <a:buNone/>
            </a:pPr>
            <a:r>
              <a:rPr lang="en-US" sz="1300" b="1" kern="0" spc="150" dirty="0">
                <a:solidFill>
                  <a:schemeClr val="accent1"/>
                </a:solidFill>
              </a:rPr>
              <a:t>ĐÃ CÓ</a:t>
            </a:r>
            <a:endParaRPr lang="en-US" sz="1300" dirty="0"/>
          </a:p>
        </p:txBody>
      </p:sp>
      <p:sp>
        <p:nvSpPr>
          <p:cNvPr id="12" name="Noi dung ĐÃ CÓ"/>
          <p:cNvSpPr txBox="1"/>
          <p:nvPr/>
        </p:nvSpPr>
        <p:spPr>
          <a:xfrm>
            <a:off x="777240" y="5056632"/>
            <a:ext cx="5047488" cy="1024128"/>
          </a:xfrm>
          <a:prstGeom prst="rect">
            <a:avLst/>
          </a:prstGeom>
          <a:noFill/>
          <a:ln/>
        </p:spPr>
        <p:txBody>
          <a:bodyPr wrap="square" lIns="0" tIns="0" rIns="0" bIns="0" rtlCol="0" anchor="t"/>
          <a:lstStyle/>
          <a:p>
            <a:pPr marL="177800" indent="-177800" algn="l">
              <a:buSzPct val="100000"/>
              <a:buChar char="•"/>
            </a:pPr>
            <a:r>
              <a:rPr lang="en-US" sz="1400" dirty="0">
                <a:solidFill>
                  <a:schemeClr val="tx1"/>
                </a:solidFill>
              </a:rPr>
              <a:t>Pháp nhân HTX (đăng ký 22/9/2025), vốn đầu tư từ Viện STP</a:t>
            </a:r>
            <a:endParaRPr lang="en-US" sz="1400" dirty="0"/>
          </a:p>
          <a:p>
            <a:pPr marL="177800" indent="-177800" algn="l">
              <a:buSzPct val="100000"/>
              <a:buChar char="•"/>
            </a:pPr>
            <a:r>
              <a:rPr lang="en-US" sz="1400" dirty="0">
                <a:solidFill>
                  <a:schemeClr val="tx1"/>
                </a:solidFill>
              </a:rPr>
              <a:t>4 nhóm sản phẩm: sầu riêng, chanh dây, gừng, mãng cầu</a:t>
            </a:r>
            <a:endParaRPr lang="en-US" sz="1400" dirty="0"/>
          </a:p>
          <a:p>
            <a:pPr marL="177800" indent="-177800" algn="l">
              <a:buSzPct val="100000"/>
              <a:buChar char="•"/>
            </a:pPr>
            <a:r>
              <a:rPr lang="en-US" sz="1400" dirty="0">
                <a:solidFill>
                  <a:schemeClr val="tx1"/>
                </a:solidFill>
              </a:rPr>
              <a:t>Bộ nhận diện: logo H, bao bì, hộp quà, website, profile</a:t>
            </a:r>
            <a:endParaRPr lang="en-US" sz="1400" dirty="0"/>
          </a:p>
          <a:p>
            <a:pPr marL="177800" indent="-177800" algn="l">
              <a:buSzPct val="100000"/>
              <a:buChar char="•"/>
            </a:pPr>
            <a:r>
              <a:rPr lang="en-US" sz="1400" dirty="0">
                <a:solidFill>
                  <a:schemeClr val="tx1"/>
                </a:solidFill>
              </a:rPr>
              <a:t>Năng lực TXNG sẵn có từ Viện STP và đối tác HLHT</a:t>
            </a:r>
            <a:endParaRPr lang="en-US" sz="1400" dirty="0"/>
          </a:p>
        </p:txBody>
      </p:sp>
      <p:sp>
        <p:nvSpPr>
          <p:cNvPr id="13" name="Khung CẦN BỔ SUNG"/>
          <p:cNvSpPr/>
          <p:nvPr/>
        </p:nvSpPr>
        <p:spPr>
          <a:xfrm>
            <a:off x="6184087" y="4709160"/>
            <a:ext cx="5458968" cy="1417320"/>
          </a:xfrm>
          <a:prstGeom prst="roundRect">
            <a:avLst>
              <a:gd name="adj" fmla="val 7742"/>
            </a:avLst>
          </a:prstGeom>
          <a:solidFill>
            <a:srgbClr val="FBF1D8"/>
          </a:solidFill>
          <a:ln/>
        </p:spPr>
      </p:sp>
      <p:sp>
        <p:nvSpPr>
          <p:cNvPr id="14" name="Tieu de CẦN BỔ SUNG"/>
          <p:cNvSpPr txBox="1"/>
          <p:nvPr/>
        </p:nvSpPr>
        <p:spPr>
          <a:xfrm>
            <a:off x="6412687" y="4782312"/>
            <a:ext cx="2743200" cy="256032"/>
          </a:xfrm>
          <a:prstGeom prst="rect">
            <a:avLst/>
          </a:prstGeom>
          <a:noFill/>
          <a:ln/>
        </p:spPr>
        <p:txBody>
          <a:bodyPr wrap="square" lIns="0" tIns="0" rIns="0" bIns="0" rtlCol="0" anchor="t"/>
          <a:lstStyle/>
          <a:p>
            <a:pPr marL="0" indent="0" algn="l">
              <a:buNone/>
            </a:pPr>
            <a:r>
              <a:rPr lang="en-US" sz="1300" b="1" kern="0" spc="150" dirty="0">
                <a:solidFill>
                  <a:schemeClr val="accent6"/>
                </a:solidFill>
              </a:rPr>
              <a:t>CẦN BỔ SUNG</a:t>
            </a:r>
            <a:endParaRPr lang="en-US" sz="1300" dirty="0"/>
          </a:p>
        </p:txBody>
      </p:sp>
      <p:sp>
        <p:nvSpPr>
          <p:cNvPr id="15" name="Noi dung CẦN BỔ SUNG"/>
          <p:cNvSpPr txBox="1"/>
          <p:nvPr/>
        </p:nvSpPr>
        <p:spPr>
          <a:xfrm>
            <a:off x="6412687" y="5056632"/>
            <a:ext cx="5047488" cy="1024128"/>
          </a:xfrm>
          <a:prstGeom prst="rect">
            <a:avLst/>
          </a:prstGeom>
          <a:noFill/>
          <a:ln/>
        </p:spPr>
        <p:txBody>
          <a:bodyPr wrap="square" lIns="0" tIns="0" rIns="0" bIns="0" rtlCol="0" anchor="t"/>
          <a:lstStyle/>
          <a:p>
            <a:pPr marL="177800" indent="-177800" algn="l">
              <a:buSzPct val="100000"/>
              <a:buChar char="•"/>
            </a:pPr>
            <a:r>
              <a:rPr lang="en-US" sz="1400" dirty="0">
                <a:solidFill>
                  <a:schemeClr val="tx1"/>
                </a:solidFill>
              </a:rPr>
              <a:t>Nhà xưởng, dây chuyền sấy, quy trình đạt HACCP</a:t>
            </a:r>
            <a:endParaRPr lang="en-US" sz="1400" dirty="0"/>
          </a:p>
          <a:p>
            <a:pPr marL="177800" indent="-177800" algn="l">
              <a:buSzPct val="100000"/>
              <a:buChar char="•"/>
            </a:pPr>
            <a:r>
              <a:rPr lang="en-US" sz="1400" dirty="0">
                <a:solidFill>
                  <a:schemeClr val="tx1"/>
                </a:solidFill>
              </a:rPr>
              <a:t>Đội ngũ QA, vùng nguyên liệu, xuất nhập khẩu</a:t>
            </a:r>
            <a:endParaRPr lang="en-US" sz="1400" dirty="0"/>
          </a:p>
          <a:p>
            <a:pPr marL="177800" indent="-177800" algn="l">
              <a:buSzPct val="100000"/>
              <a:buChar char="•"/>
            </a:pPr>
            <a:r>
              <a:rPr lang="en-US" sz="1400" dirty="0">
                <a:solidFill>
                  <a:schemeClr val="tx1"/>
                </a:solidFill>
              </a:rPr>
              <a:t>Mã đăng ký xuất khẩu và chứng nhận từng thị trường</a:t>
            </a:r>
            <a:endParaRPr lang="en-US" sz="1400" dirty="0"/>
          </a:p>
          <a:p>
            <a:pPr marL="177800" indent="-177800" algn="l">
              <a:buSzPct val="100000"/>
              <a:buChar char="•"/>
            </a:pPr>
            <a:r>
              <a:rPr lang="en-US" sz="1400" dirty="0">
                <a:solidFill>
                  <a:schemeClr val="tx1"/>
                </a:solidFill>
              </a:rPr>
              <a:t>Phương án vốn tương xứng (điều lệ hiện 300 triệu đồng)</a:t>
            </a:r>
            <a:endParaRPr lang="en-US" sz="1400" dirty="0"/>
          </a:p>
        </p:txBody>
      </p:sp>
      <p:sp>
        <p:nvSpPr>
          <p:cNvPr id="25" name="Slide Number Placeholder 0"/>
          <p:cNvSpPr>
            <a:spLocks noGrp="1"/>
          </p:cNvSpPr>
          <p:nvPr>
            <p:ph type="sldNum" sz="quarter" idx="4294967295"/>
          </p:nvPr>
        </p:nvSpPr>
        <p:spPr>
          <a:xfrm>
            <a:off x="10972800" y="6492240"/>
            <a:ext cx="667512" cy="237744"/>
          </a:xfrm>
          <a:prstGeom prst="rect">
            <a:avLst/>
          </a:prstGeom>
          <a:extLst>
            <a:ext uri="{C572A759-6A51-4108-AA02-DFA0A04FC94B}">
              <ma14:wrappingTextBoxFlag xmlns:ma14="http://schemas.microsoft.com/office/mac/drawingml/2011/main" xmlns="" val="0"/>
            </a:ext>
          </a:extLst>
        </p:spPr>
        <p:txBody>
          <a:bodyPr/>
          <a:lstStyle>
            <a:lvl1pPr>
              <a:defRPr sz="1000">
                <a:solidFill>
                  <a:srgbClr val="5C6F66"/>
                </a:solidFill>
              </a:defRPr>
            </a:lvl1pPr>
          </a:lstStyle>
          <a:p>
            <a:pPr algn="r"/>
            <a:fld id="{F7021451-1387-4CA6-816F-3879F97B5CBC}" type="slidenum">
              <a:rPr lang="en-US" b="0"/>
              <a:t>3</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Dau cham"/>
          <p:cNvSpPr/>
          <p:nvPr/>
        </p:nvSpPr>
        <p:spPr>
          <a:xfrm>
            <a:off x="548640" y="429768"/>
            <a:ext cx="118872" cy="118872"/>
          </a:xfrm>
          <a:prstGeom prst="ellipse">
            <a:avLst/>
          </a:prstGeom>
          <a:solidFill>
            <a:schemeClr val="accent2"/>
          </a:solidFill>
          <a:ln/>
        </p:spPr>
      </p:sp>
      <p:sp>
        <p:nvSpPr>
          <p:cNvPr id="4" name="Nhan chuyen muc"/>
          <p:cNvSpPr txBox="1"/>
          <p:nvPr/>
        </p:nvSpPr>
        <p:spPr>
          <a:xfrm>
            <a:off x="777240" y="347472"/>
            <a:ext cx="6949440" cy="274320"/>
          </a:xfrm>
          <a:prstGeom prst="rect">
            <a:avLst/>
          </a:prstGeom>
          <a:noFill/>
          <a:ln/>
        </p:spPr>
        <p:txBody>
          <a:bodyPr wrap="square" lIns="0" tIns="0" rIns="0" bIns="0" rtlCol="0" anchor="ctr"/>
          <a:lstStyle/>
          <a:p>
            <a:pPr marL="0" indent="0" algn="l">
              <a:buNone/>
            </a:pPr>
            <a:r>
              <a:rPr lang="en-US" sz="1200" b="1" kern="0" spc="200" dirty="0">
                <a:solidFill>
                  <a:schemeClr val="accent1"/>
                </a:solidFill>
              </a:rPr>
              <a:t>LỘ TRÌNH ĐẦU TƯ</a:t>
            </a:r>
            <a:endParaRPr lang="en-US" sz="1200" dirty="0"/>
          </a:p>
        </p:txBody>
      </p:sp>
      <p:sp>
        <p:nvSpPr>
          <p:cNvPr id="5" name="Text 0"/>
          <p:cNvSpPr>
            <a:spLocks noGrp="1"/>
          </p:cNvSpPr>
          <p:nvPr>
            <p:ph type="title" idx="100" hasCustomPrompt="1"/>
          </p:nvPr>
        </p:nvSpPr>
        <p:spPr>
          <a:xfrm>
            <a:off x="548640" y="658368"/>
            <a:ext cx="11094415" cy="777240"/>
          </a:xfrm>
          <a:prstGeom prst="rect">
            <a:avLst/>
          </a:prstGeom>
          <a:noFill/>
          <a:ln/>
        </p:spPr>
        <p:txBody>
          <a:bodyPr wrap="square" lIns="0" tIns="0" rIns="0" bIns="0" rtlCol="0" anchor="ctr"/>
          <a:lstStyle/>
          <a:p>
            <a:pPr marL="0" indent="0" algn="l">
              <a:buNone/>
            </a:pPr>
            <a:r>
              <a:rPr lang="en-US" sz="3000" b="1" dirty="0">
                <a:solidFill>
                  <a:schemeClr val="tx2"/>
                </a:solidFill>
              </a:rPr>
              <a:t>Bốn giai đoạn: từng bước làm chủ toàn chuỗi</a:t>
            </a:r>
            <a:endParaRPr lang="en-US" sz="3000" dirty="0"/>
          </a:p>
        </p:txBody>
      </p:sp>
      <p:sp>
        <p:nvSpPr>
          <p:cNvPr id="6" name="Nhan hang 1"/>
          <p:cNvSpPr/>
          <p:nvPr/>
        </p:nvSpPr>
        <p:spPr>
          <a:xfrm>
            <a:off x="548640" y="2468880"/>
            <a:ext cx="2148840" cy="585216"/>
          </a:xfrm>
          <a:prstGeom prst="roundRect">
            <a:avLst>
              <a:gd name="adj" fmla="val 18750"/>
            </a:avLst>
          </a:prstGeom>
          <a:solidFill>
            <a:schemeClr val="bg2"/>
          </a:solidFill>
          <a:ln/>
        </p:spPr>
      </p:sp>
      <p:sp>
        <p:nvSpPr>
          <p:cNvPr id="7" name="Chu nhan hang 1"/>
          <p:cNvSpPr txBox="1"/>
          <p:nvPr/>
        </p:nvSpPr>
        <p:spPr>
          <a:xfrm>
            <a:off x="685800" y="2468880"/>
            <a:ext cx="1920240" cy="585216"/>
          </a:xfrm>
          <a:prstGeom prst="rect">
            <a:avLst/>
          </a:prstGeom>
          <a:noFill/>
          <a:ln/>
        </p:spPr>
        <p:txBody>
          <a:bodyPr wrap="square" lIns="0" tIns="0" rIns="0" bIns="0" rtlCol="0" anchor="ctr"/>
          <a:lstStyle/>
          <a:p>
            <a:pPr marL="0" indent="0" algn="l">
              <a:buNone/>
            </a:pPr>
            <a:r>
              <a:rPr lang="en-US" sz="1400" b="1" dirty="0">
                <a:solidFill>
                  <a:schemeClr val="accent1"/>
                </a:solidFill>
              </a:rPr>
              <a:t>Thu mua</a:t>
            </a:r>
            <a:endParaRPr lang="en-US" sz="1400" dirty="0"/>
          </a:p>
        </p:txBody>
      </p:sp>
      <p:sp>
        <p:nvSpPr>
          <p:cNvPr id="8" name="Nhan hang 2"/>
          <p:cNvSpPr/>
          <p:nvPr/>
        </p:nvSpPr>
        <p:spPr>
          <a:xfrm>
            <a:off x="548640" y="3108960"/>
            <a:ext cx="2148840" cy="585216"/>
          </a:xfrm>
          <a:prstGeom prst="roundRect">
            <a:avLst>
              <a:gd name="adj" fmla="val 18750"/>
            </a:avLst>
          </a:prstGeom>
          <a:solidFill>
            <a:schemeClr val="bg2"/>
          </a:solidFill>
          <a:ln/>
        </p:spPr>
      </p:sp>
      <p:sp>
        <p:nvSpPr>
          <p:cNvPr id="9" name="Chu nhan hang 2"/>
          <p:cNvSpPr txBox="1"/>
          <p:nvPr/>
        </p:nvSpPr>
        <p:spPr>
          <a:xfrm>
            <a:off x="685800" y="3108960"/>
            <a:ext cx="1920240" cy="585216"/>
          </a:xfrm>
          <a:prstGeom prst="rect">
            <a:avLst/>
          </a:prstGeom>
          <a:noFill/>
          <a:ln/>
        </p:spPr>
        <p:txBody>
          <a:bodyPr wrap="square" lIns="0" tIns="0" rIns="0" bIns="0" rtlCol="0" anchor="ctr"/>
          <a:lstStyle/>
          <a:p>
            <a:pPr marL="0" indent="0" algn="l">
              <a:buNone/>
            </a:pPr>
            <a:r>
              <a:rPr lang="en-US" sz="1400" b="1" dirty="0">
                <a:solidFill>
                  <a:schemeClr val="accent1"/>
                </a:solidFill>
              </a:rPr>
              <a:t>Chế biến</a:t>
            </a:r>
            <a:endParaRPr lang="en-US" sz="1400" dirty="0"/>
          </a:p>
        </p:txBody>
      </p:sp>
      <p:sp>
        <p:nvSpPr>
          <p:cNvPr id="10" name="Nhan hang 3"/>
          <p:cNvSpPr/>
          <p:nvPr/>
        </p:nvSpPr>
        <p:spPr>
          <a:xfrm>
            <a:off x="548640" y="3749040"/>
            <a:ext cx="2148840" cy="585216"/>
          </a:xfrm>
          <a:prstGeom prst="roundRect">
            <a:avLst>
              <a:gd name="adj" fmla="val 18750"/>
            </a:avLst>
          </a:prstGeom>
          <a:solidFill>
            <a:schemeClr val="bg2"/>
          </a:solidFill>
          <a:ln/>
        </p:spPr>
      </p:sp>
      <p:sp>
        <p:nvSpPr>
          <p:cNvPr id="11" name="Chu nhan hang 3"/>
          <p:cNvSpPr txBox="1"/>
          <p:nvPr/>
        </p:nvSpPr>
        <p:spPr>
          <a:xfrm>
            <a:off x="685800" y="3749040"/>
            <a:ext cx="1920240" cy="585216"/>
          </a:xfrm>
          <a:prstGeom prst="rect">
            <a:avLst/>
          </a:prstGeom>
          <a:noFill/>
          <a:ln/>
        </p:spPr>
        <p:txBody>
          <a:bodyPr wrap="square" lIns="0" tIns="0" rIns="0" bIns="0" rtlCol="0" anchor="ctr"/>
          <a:lstStyle/>
          <a:p>
            <a:pPr marL="0" indent="0" algn="l">
              <a:buNone/>
            </a:pPr>
            <a:r>
              <a:rPr lang="en-US" sz="1400" b="1" dirty="0">
                <a:solidFill>
                  <a:schemeClr val="accent1"/>
                </a:solidFill>
              </a:rPr>
              <a:t>Sản xuất đạt chuẩn</a:t>
            </a:r>
            <a:endParaRPr lang="en-US" sz="1400" dirty="0"/>
          </a:p>
        </p:txBody>
      </p:sp>
      <p:sp>
        <p:nvSpPr>
          <p:cNvPr id="12" name="Nhan hang 4"/>
          <p:cNvSpPr/>
          <p:nvPr/>
        </p:nvSpPr>
        <p:spPr>
          <a:xfrm>
            <a:off x="548640" y="4389120"/>
            <a:ext cx="2148840" cy="585216"/>
          </a:xfrm>
          <a:prstGeom prst="roundRect">
            <a:avLst>
              <a:gd name="adj" fmla="val 18750"/>
            </a:avLst>
          </a:prstGeom>
          <a:solidFill>
            <a:schemeClr val="bg2"/>
          </a:solidFill>
          <a:ln/>
        </p:spPr>
      </p:sp>
      <p:sp>
        <p:nvSpPr>
          <p:cNvPr id="13" name="Chu nhan hang 4"/>
          <p:cNvSpPr txBox="1"/>
          <p:nvPr/>
        </p:nvSpPr>
        <p:spPr>
          <a:xfrm>
            <a:off x="685800" y="4389120"/>
            <a:ext cx="1920240" cy="585216"/>
          </a:xfrm>
          <a:prstGeom prst="rect">
            <a:avLst/>
          </a:prstGeom>
          <a:noFill/>
          <a:ln/>
        </p:spPr>
        <p:txBody>
          <a:bodyPr wrap="square" lIns="0" tIns="0" rIns="0" bIns="0" rtlCol="0" anchor="ctr"/>
          <a:lstStyle/>
          <a:p>
            <a:pPr marL="0" indent="0" algn="l">
              <a:buNone/>
            </a:pPr>
            <a:r>
              <a:rPr lang="en-US" sz="1400" b="1" dirty="0">
                <a:solidFill>
                  <a:schemeClr val="accent1"/>
                </a:solidFill>
              </a:rPr>
              <a:t>Xuất khẩu</a:t>
            </a:r>
            <a:endParaRPr lang="en-US" sz="1400" dirty="0"/>
          </a:p>
        </p:txBody>
      </p:sp>
      <p:sp>
        <p:nvSpPr>
          <p:cNvPr id="14" name="Nhan nhan su"/>
          <p:cNvSpPr/>
          <p:nvPr/>
        </p:nvSpPr>
        <p:spPr>
          <a:xfrm>
            <a:off x="548640" y="5029200"/>
            <a:ext cx="2148840" cy="457200"/>
          </a:xfrm>
          <a:prstGeom prst="roundRect">
            <a:avLst>
              <a:gd name="adj" fmla="val 24000"/>
            </a:avLst>
          </a:prstGeom>
          <a:solidFill>
            <a:schemeClr val="bg2"/>
          </a:solidFill>
          <a:ln/>
        </p:spPr>
      </p:sp>
      <p:sp>
        <p:nvSpPr>
          <p:cNvPr id="15" name="Chu nhan nhan su"/>
          <p:cNvSpPr txBox="1"/>
          <p:nvPr/>
        </p:nvSpPr>
        <p:spPr>
          <a:xfrm>
            <a:off x="685800" y="5029200"/>
            <a:ext cx="1920240" cy="457200"/>
          </a:xfrm>
          <a:prstGeom prst="rect">
            <a:avLst/>
          </a:prstGeom>
          <a:noFill/>
          <a:ln/>
        </p:spPr>
        <p:txBody>
          <a:bodyPr wrap="square" lIns="0" tIns="0" rIns="0" bIns="0" rtlCol="0" anchor="ctr"/>
          <a:lstStyle/>
          <a:p>
            <a:pPr marL="0" indent="0" algn="l">
              <a:buNone/>
            </a:pPr>
            <a:r>
              <a:rPr lang="en-US" sz="1400" b="1" dirty="0">
                <a:solidFill>
                  <a:schemeClr val="accent1"/>
                </a:solidFill>
              </a:rPr>
              <a:t>Nhân sự cuối giai đoạn</a:t>
            </a:r>
            <a:endParaRPr lang="en-US" sz="1400" dirty="0"/>
          </a:p>
        </p:txBody>
      </p:sp>
      <p:sp>
        <p:nvSpPr>
          <p:cNvPr id="16" name="Nhan moc"/>
          <p:cNvSpPr/>
          <p:nvPr/>
        </p:nvSpPr>
        <p:spPr>
          <a:xfrm>
            <a:off x="548640" y="5541264"/>
            <a:ext cx="2148840" cy="585216"/>
          </a:xfrm>
          <a:prstGeom prst="roundRect">
            <a:avLst>
              <a:gd name="adj" fmla="val 18750"/>
            </a:avLst>
          </a:prstGeom>
          <a:solidFill>
            <a:schemeClr val="bg2"/>
          </a:solidFill>
          <a:ln/>
        </p:spPr>
      </p:sp>
      <p:sp>
        <p:nvSpPr>
          <p:cNvPr id="17" name="Chu nhan moc"/>
          <p:cNvSpPr txBox="1"/>
          <p:nvPr/>
        </p:nvSpPr>
        <p:spPr>
          <a:xfrm>
            <a:off x="685800" y="5541264"/>
            <a:ext cx="1920240" cy="585216"/>
          </a:xfrm>
          <a:prstGeom prst="rect">
            <a:avLst/>
          </a:prstGeom>
          <a:noFill/>
          <a:ln/>
        </p:spPr>
        <p:txBody>
          <a:bodyPr wrap="square" lIns="0" tIns="0" rIns="0" bIns="0" rtlCol="0" anchor="ctr"/>
          <a:lstStyle/>
          <a:p>
            <a:pPr marL="0" indent="0" algn="l">
              <a:buNone/>
            </a:pPr>
            <a:r>
              <a:rPr lang="en-US" sz="1400" b="1" dirty="0">
                <a:solidFill>
                  <a:schemeClr val="accent1"/>
                </a:solidFill>
              </a:rPr>
              <a:t>Mốc kết thúc</a:t>
            </a:r>
            <a:endParaRPr lang="en-US" sz="1400" dirty="0"/>
          </a:p>
        </p:txBody>
      </p:sp>
      <p:sp>
        <p:nvSpPr>
          <p:cNvPr id="18" name="Dau cot GD1"/>
          <p:cNvSpPr/>
          <p:nvPr/>
        </p:nvSpPr>
        <p:spPr>
          <a:xfrm>
            <a:off x="2788920" y="1673352"/>
            <a:ext cx="2131238" cy="731520"/>
          </a:xfrm>
          <a:prstGeom prst="roundRect">
            <a:avLst>
              <a:gd name="adj" fmla="val 15000"/>
            </a:avLst>
          </a:prstGeom>
          <a:solidFill>
            <a:srgbClr val="5E9E68"/>
          </a:solidFill>
          <a:ln/>
        </p:spPr>
      </p:sp>
      <p:sp>
        <p:nvSpPr>
          <p:cNvPr id="19" name="Chu dau cot GD1"/>
          <p:cNvSpPr txBox="1"/>
          <p:nvPr/>
        </p:nvSpPr>
        <p:spPr>
          <a:xfrm>
            <a:off x="2898648" y="1673352"/>
            <a:ext cx="1948358" cy="731520"/>
          </a:xfrm>
          <a:prstGeom prst="rect">
            <a:avLst/>
          </a:prstGeom>
          <a:noFill/>
          <a:ln/>
        </p:spPr>
        <p:txBody>
          <a:bodyPr wrap="square" lIns="0" tIns="0" rIns="0" bIns="0" rtlCol="0" anchor="ctr"/>
          <a:lstStyle/>
          <a:p>
            <a:pPr marL="0" indent="0" algn="l">
              <a:buNone/>
            </a:pPr>
            <a:r>
              <a:rPr lang="en-US" sz="1200" b="1" dirty="0">
                <a:solidFill>
                  <a:srgbClr val="1B2B24"/>
                </a:solidFill>
              </a:rPr>
              <a:t>GIAI ĐOẠN 1</a:t>
            </a:r>
            <a:endParaRPr lang="en-US" sz="1400" dirty="0"/>
          </a:p>
          <a:p>
            <a:pPr marL="0" indent="0" algn="l">
              <a:buNone/>
            </a:pPr>
            <a:r>
              <a:rPr lang="en-US" sz="1500" b="1" dirty="0">
                <a:solidFill>
                  <a:srgbClr val="1B2B24"/>
                </a:solidFill>
              </a:rPr>
              <a:t>Thu mua</a:t>
            </a:r>
            <a:endParaRPr lang="en-US" sz="1400" dirty="0"/>
          </a:p>
          <a:p>
            <a:pPr marL="0" indent="0" algn="l">
              <a:buNone/>
            </a:pPr>
            <a:r>
              <a:rPr lang="en-US" sz="1200" dirty="0">
                <a:solidFill>
                  <a:srgbClr val="1B2B24"/>
                </a:solidFill>
              </a:rPr>
              <a:t>Q4/2026 – Q1/2027</a:t>
            </a:r>
            <a:endParaRPr lang="en-US" sz="1400" dirty="0"/>
          </a:p>
        </p:txBody>
      </p:sp>
      <p:sp>
        <p:nvSpPr>
          <p:cNvPr id="20" name="O 1 GD1"/>
          <p:cNvSpPr/>
          <p:nvPr/>
        </p:nvSpPr>
        <p:spPr>
          <a:xfrm>
            <a:off x="2788920" y="2468880"/>
            <a:ext cx="2131238" cy="585216"/>
          </a:xfrm>
          <a:prstGeom prst="roundRect">
            <a:avLst>
              <a:gd name="adj" fmla="val 12500"/>
            </a:avLst>
          </a:prstGeom>
          <a:solidFill>
            <a:srgbClr val="1D4B3A"/>
          </a:solidFill>
          <a:ln/>
        </p:spPr>
      </p:sp>
      <p:sp>
        <p:nvSpPr>
          <p:cNvPr id="21" name="Chu o 1 GD1"/>
          <p:cNvSpPr txBox="1"/>
          <p:nvPr/>
        </p:nvSpPr>
        <p:spPr>
          <a:xfrm>
            <a:off x="2898648" y="2468880"/>
            <a:ext cx="1930070" cy="585216"/>
          </a:xfrm>
          <a:prstGeom prst="rect">
            <a:avLst/>
          </a:prstGeom>
          <a:noFill/>
          <a:ln/>
        </p:spPr>
        <p:txBody>
          <a:bodyPr wrap="square" lIns="0" tIns="0" rIns="0" bIns="0" rtlCol="0" anchor="ctr"/>
          <a:lstStyle/>
          <a:p>
            <a:pPr marL="0" indent="0" algn="l">
              <a:buNone/>
            </a:pPr>
            <a:r>
              <a:rPr lang="en-US" sz="1400" b="1" dirty="0">
                <a:solidFill>
                  <a:srgbClr val="FFFFFF"/>
                </a:solidFill>
              </a:rPr>
              <a:t>Tự làm: hợp đồng nhà vườn, TXNG</a:t>
            </a:r>
            <a:endParaRPr lang="en-US" sz="1400" dirty="0"/>
          </a:p>
        </p:txBody>
      </p:sp>
      <p:sp>
        <p:nvSpPr>
          <p:cNvPr id="22" name="O 2 GD1"/>
          <p:cNvSpPr/>
          <p:nvPr/>
        </p:nvSpPr>
        <p:spPr>
          <a:xfrm>
            <a:off x="2788920" y="3108960"/>
            <a:ext cx="2131238" cy="585216"/>
          </a:xfrm>
          <a:prstGeom prst="roundRect">
            <a:avLst>
              <a:gd name="adj" fmla="val 12500"/>
            </a:avLst>
          </a:prstGeom>
          <a:solidFill>
            <a:srgbClr val="FBF1D8"/>
          </a:solidFill>
          <a:ln w="12700">
            <a:solidFill>
              <a:srgbClr val="E4A92A"/>
            </a:solidFill>
            <a:prstDash val="solid"/>
          </a:ln>
        </p:spPr>
      </p:sp>
      <p:sp>
        <p:nvSpPr>
          <p:cNvPr id="23" name="Chu o 2 GD1"/>
          <p:cNvSpPr txBox="1"/>
          <p:nvPr/>
        </p:nvSpPr>
        <p:spPr>
          <a:xfrm>
            <a:off x="2898648" y="3108960"/>
            <a:ext cx="1930070" cy="585216"/>
          </a:xfrm>
          <a:prstGeom prst="rect">
            <a:avLst/>
          </a:prstGeom>
          <a:noFill/>
          <a:ln/>
        </p:spPr>
        <p:txBody>
          <a:bodyPr wrap="square" lIns="0" tIns="0" rIns="0" bIns="0" rtlCol="0" anchor="ctr"/>
          <a:lstStyle/>
          <a:p>
            <a:pPr marL="0" indent="0" algn="l">
              <a:buNone/>
            </a:pPr>
            <a:r>
              <a:rPr lang="en-US" sz="1400" dirty="0">
                <a:solidFill>
                  <a:srgbClr val="1B2B24"/>
                </a:solidFill>
              </a:rPr>
              <a:t>Thuê gia công liên kết</a:t>
            </a:r>
            <a:endParaRPr lang="en-US" sz="1400" dirty="0"/>
          </a:p>
        </p:txBody>
      </p:sp>
      <p:sp>
        <p:nvSpPr>
          <p:cNvPr id="24" name="O 3 GD1"/>
          <p:cNvSpPr/>
          <p:nvPr/>
        </p:nvSpPr>
        <p:spPr>
          <a:xfrm>
            <a:off x="2788920" y="3749040"/>
            <a:ext cx="2131238" cy="585216"/>
          </a:xfrm>
          <a:prstGeom prst="roundRect">
            <a:avLst>
              <a:gd name="adj" fmla="val 12500"/>
            </a:avLst>
          </a:prstGeom>
          <a:solidFill>
            <a:srgbClr val="EDF0EE"/>
          </a:solidFill>
          <a:ln w="12700">
            <a:solidFill>
              <a:srgbClr val="D5DED8"/>
            </a:solidFill>
            <a:prstDash val="solid"/>
          </a:ln>
        </p:spPr>
      </p:sp>
      <p:sp>
        <p:nvSpPr>
          <p:cNvPr id="25" name="Chu o 3 GD1"/>
          <p:cNvSpPr txBox="1"/>
          <p:nvPr/>
        </p:nvSpPr>
        <p:spPr>
          <a:xfrm>
            <a:off x="2898648" y="3749040"/>
            <a:ext cx="1930070" cy="585216"/>
          </a:xfrm>
          <a:prstGeom prst="rect">
            <a:avLst/>
          </a:prstGeom>
          <a:noFill/>
          <a:ln/>
        </p:spPr>
        <p:txBody>
          <a:bodyPr wrap="square" lIns="0" tIns="0" rIns="0" bIns="0" rtlCol="0" anchor="ctr"/>
          <a:lstStyle/>
          <a:p>
            <a:pPr marL="0" indent="0" algn="l">
              <a:buNone/>
            </a:pPr>
            <a:r>
              <a:rPr lang="en-US" sz="1400" dirty="0">
                <a:solidFill>
                  <a:srgbClr val="5C6F66"/>
                </a:solidFill>
              </a:rPr>
              <a:t>Chưa làm</a:t>
            </a:r>
            <a:endParaRPr lang="en-US" sz="1400" dirty="0"/>
          </a:p>
        </p:txBody>
      </p:sp>
      <p:sp>
        <p:nvSpPr>
          <p:cNvPr id="26" name="O 4 GD1"/>
          <p:cNvSpPr/>
          <p:nvPr/>
        </p:nvSpPr>
        <p:spPr>
          <a:xfrm>
            <a:off x="2788920" y="4389120"/>
            <a:ext cx="2131238" cy="585216"/>
          </a:xfrm>
          <a:prstGeom prst="roundRect">
            <a:avLst>
              <a:gd name="adj" fmla="val 12500"/>
            </a:avLst>
          </a:prstGeom>
          <a:solidFill>
            <a:srgbClr val="EDF0EE"/>
          </a:solidFill>
          <a:ln w="12700">
            <a:solidFill>
              <a:srgbClr val="D5DED8"/>
            </a:solidFill>
            <a:prstDash val="solid"/>
          </a:ln>
        </p:spPr>
      </p:sp>
      <p:sp>
        <p:nvSpPr>
          <p:cNvPr id="27" name="Chu o 4 GD1"/>
          <p:cNvSpPr txBox="1"/>
          <p:nvPr/>
        </p:nvSpPr>
        <p:spPr>
          <a:xfrm>
            <a:off x="2898648" y="4389120"/>
            <a:ext cx="1930070" cy="585216"/>
          </a:xfrm>
          <a:prstGeom prst="rect">
            <a:avLst/>
          </a:prstGeom>
          <a:noFill/>
          <a:ln/>
        </p:spPr>
        <p:txBody>
          <a:bodyPr wrap="square" lIns="0" tIns="0" rIns="0" bIns="0" rtlCol="0" anchor="ctr"/>
          <a:lstStyle/>
          <a:p>
            <a:pPr marL="0" indent="0" algn="l">
              <a:buNone/>
            </a:pPr>
            <a:r>
              <a:rPr lang="en-US" sz="1400" dirty="0">
                <a:solidFill>
                  <a:srgbClr val="5C6F66"/>
                </a:solidFill>
              </a:rPr>
              <a:t>Chưa; bán thử trong nước</a:t>
            </a:r>
            <a:endParaRPr lang="en-US" sz="1400" dirty="0"/>
          </a:p>
        </p:txBody>
      </p:sp>
      <p:sp>
        <p:nvSpPr>
          <p:cNvPr id="28" name="O nhan su GD1"/>
          <p:cNvSpPr/>
          <p:nvPr/>
        </p:nvSpPr>
        <p:spPr>
          <a:xfrm>
            <a:off x="2788920" y="5029200"/>
            <a:ext cx="2131238" cy="457200"/>
          </a:xfrm>
          <a:prstGeom prst="roundRect">
            <a:avLst>
              <a:gd name="adj" fmla="val 16000"/>
            </a:avLst>
          </a:prstGeom>
          <a:solidFill>
            <a:srgbClr val="E3EDE6"/>
          </a:solidFill>
          <a:ln/>
        </p:spPr>
      </p:sp>
      <p:sp>
        <p:nvSpPr>
          <p:cNvPr id="29" name="Chu nhan su GD1"/>
          <p:cNvSpPr txBox="1"/>
          <p:nvPr/>
        </p:nvSpPr>
        <p:spPr>
          <a:xfrm>
            <a:off x="2788920" y="5029200"/>
            <a:ext cx="2131238" cy="457200"/>
          </a:xfrm>
          <a:prstGeom prst="rect">
            <a:avLst/>
          </a:prstGeom>
          <a:noFill/>
          <a:ln/>
        </p:spPr>
        <p:txBody>
          <a:bodyPr wrap="square" lIns="0" tIns="0" rIns="0" bIns="0" rtlCol="0" anchor="ctr"/>
          <a:lstStyle/>
          <a:p>
            <a:pPr marL="0" indent="0" algn="ctr">
              <a:buNone/>
            </a:pPr>
            <a:r>
              <a:rPr lang="en-US" sz="1800" b="1" dirty="0">
                <a:solidFill>
                  <a:schemeClr val="accent1"/>
                </a:solidFill>
                <a:latin typeface="+mj-lt" pitchFamily="34" charset="0"/>
                <a:ea typeface="+mj-lt" pitchFamily="34" charset="-122"/>
                <a:cs typeface="+mj-lt" pitchFamily="34" charset="-120"/>
              </a:rPr>
              <a:t>9–12</a:t>
            </a:r>
            <a:r>
              <a:rPr lang="en-US" sz="1400" b="1" dirty="0">
                <a:solidFill>
                  <a:schemeClr val="accent1"/>
                </a:solidFill>
              </a:rPr>
              <a:t> người</a:t>
            </a:r>
            <a:endParaRPr lang="en-US" sz="1400" dirty="0"/>
          </a:p>
        </p:txBody>
      </p:sp>
      <p:sp>
        <p:nvSpPr>
          <p:cNvPr id="30" name="O moc GD1"/>
          <p:cNvSpPr/>
          <p:nvPr/>
        </p:nvSpPr>
        <p:spPr>
          <a:xfrm>
            <a:off x="2788920" y="5541264"/>
            <a:ext cx="2131238" cy="585216"/>
          </a:xfrm>
          <a:prstGeom prst="roundRect">
            <a:avLst>
              <a:gd name="adj" fmla="val 12500"/>
            </a:avLst>
          </a:prstGeom>
          <a:solidFill>
            <a:srgbClr val="E3EDE6"/>
          </a:solidFill>
          <a:ln/>
        </p:spPr>
      </p:sp>
      <p:sp>
        <p:nvSpPr>
          <p:cNvPr id="31" name="Chu moc GD1"/>
          <p:cNvSpPr txBox="1"/>
          <p:nvPr/>
        </p:nvSpPr>
        <p:spPr>
          <a:xfrm>
            <a:off x="2898648" y="5541264"/>
            <a:ext cx="1930070" cy="585216"/>
          </a:xfrm>
          <a:prstGeom prst="rect">
            <a:avLst/>
          </a:prstGeom>
          <a:noFill/>
          <a:ln/>
        </p:spPr>
        <p:txBody>
          <a:bodyPr wrap="square" lIns="0" tIns="0" rIns="0" bIns="0" rtlCol="0" anchor="ctr"/>
          <a:lstStyle/>
          <a:p>
            <a:pPr marL="0" indent="0" algn="l">
              <a:buNone/>
            </a:pPr>
            <a:r>
              <a:rPr lang="en-US" sz="1400" dirty="0">
                <a:solidFill>
                  <a:schemeClr val="tx1"/>
                </a:solidFill>
              </a:rPr>
              <a:t>Hợp đồng nhà vườn; lô thử đạt</a:t>
            </a:r>
            <a:endParaRPr lang="en-US" sz="1400" dirty="0"/>
          </a:p>
        </p:txBody>
      </p:sp>
      <p:sp>
        <p:nvSpPr>
          <p:cNvPr id="32" name="Dau cot GD2"/>
          <p:cNvSpPr/>
          <p:nvPr/>
        </p:nvSpPr>
        <p:spPr>
          <a:xfrm>
            <a:off x="5029886" y="1673352"/>
            <a:ext cx="2131238" cy="731520"/>
          </a:xfrm>
          <a:prstGeom prst="roundRect">
            <a:avLst>
              <a:gd name="adj" fmla="val 15000"/>
            </a:avLst>
          </a:prstGeom>
          <a:solidFill>
            <a:srgbClr val="1D4B3A"/>
          </a:solidFill>
          <a:ln/>
        </p:spPr>
      </p:sp>
      <p:sp>
        <p:nvSpPr>
          <p:cNvPr id="33" name="Chu dau cot GD2"/>
          <p:cNvSpPr txBox="1"/>
          <p:nvPr/>
        </p:nvSpPr>
        <p:spPr>
          <a:xfrm>
            <a:off x="5139614" y="1673352"/>
            <a:ext cx="1948358" cy="731520"/>
          </a:xfrm>
          <a:prstGeom prst="rect">
            <a:avLst/>
          </a:prstGeom>
          <a:noFill/>
          <a:ln/>
        </p:spPr>
        <p:txBody>
          <a:bodyPr wrap="square" lIns="0" tIns="0" rIns="0" bIns="0" rtlCol="0" anchor="ctr"/>
          <a:lstStyle/>
          <a:p>
            <a:pPr marL="0" indent="0" algn="l">
              <a:buNone/>
            </a:pPr>
            <a:r>
              <a:rPr lang="en-US" sz="1200" b="1" dirty="0">
                <a:solidFill>
                  <a:srgbClr val="FFFFFF"/>
                </a:solidFill>
              </a:rPr>
              <a:t>GIAI ĐOẠN 2</a:t>
            </a:r>
            <a:endParaRPr lang="en-US" sz="1400" dirty="0"/>
          </a:p>
          <a:p>
            <a:pPr marL="0" indent="0" algn="l">
              <a:buNone/>
            </a:pPr>
            <a:r>
              <a:rPr lang="en-US" sz="1500" b="1" dirty="0">
                <a:solidFill>
                  <a:srgbClr val="FFFFFF"/>
                </a:solidFill>
              </a:rPr>
              <a:t>Chế biến</a:t>
            </a:r>
            <a:endParaRPr lang="en-US" sz="1400" dirty="0"/>
          </a:p>
          <a:p>
            <a:pPr marL="0" indent="0" algn="l">
              <a:buNone/>
            </a:pPr>
            <a:r>
              <a:rPr lang="en-US" sz="1200" dirty="0">
                <a:solidFill>
                  <a:srgbClr val="FFFFFF"/>
                </a:solidFill>
              </a:rPr>
              <a:t>Q2 – Q3/2027</a:t>
            </a:r>
            <a:endParaRPr lang="en-US" sz="1400" dirty="0"/>
          </a:p>
        </p:txBody>
      </p:sp>
      <p:sp>
        <p:nvSpPr>
          <p:cNvPr id="34" name="O 1 GD2"/>
          <p:cNvSpPr/>
          <p:nvPr/>
        </p:nvSpPr>
        <p:spPr>
          <a:xfrm>
            <a:off x="5029886" y="2468880"/>
            <a:ext cx="2131238" cy="585216"/>
          </a:xfrm>
          <a:prstGeom prst="roundRect">
            <a:avLst>
              <a:gd name="adj" fmla="val 12500"/>
            </a:avLst>
          </a:prstGeom>
          <a:solidFill>
            <a:srgbClr val="1D4B3A"/>
          </a:solidFill>
          <a:ln/>
        </p:spPr>
      </p:sp>
      <p:sp>
        <p:nvSpPr>
          <p:cNvPr id="35" name="Chu o 1 GD2"/>
          <p:cNvSpPr txBox="1"/>
          <p:nvPr/>
        </p:nvSpPr>
        <p:spPr>
          <a:xfrm>
            <a:off x="5139614" y="2468880"/>
            <a:ext cx="1930070" cy="585216"/>
          </a:xfrm>
          <a:prstGeom prst="rect">
            <a:avLst/>
          </a:prstGeom>
          <a:noFill/>
          <a:ln/>
        </p:spPr>
        <p:txBody>
          <a:bodyPr wrap="square" lIns="0" tIns="0" rIns="0" bIns="0" rtlCol="0" anchor="ctr"/>
          <a:lstStyle/>
          <a:p>
            <a:pPr marL="0" indent="0" algn="l">
              <a:buNone/>
            </a:pPr>
            <a:r>
              <a:rPr lang="en-US" sz="1400" b="1" dirty="0">
                <a:solidFill>
                  <a:srgbClr val="FFFFFF"/>
                </a:solidFill>
              </a:rPr>
              <a:t>Tự làm: mở rộng vùng, kiểm dư lượng</a:t>
            </a:r>
            <a:endParaRPr lang="en-US" sz="1400" dirty="0"/>
          </a:p>
        </p:txBody>
      </p:sp>
      <p:sp>
        <p:nvSpPr>
          <p:cNvPr id="36" name="O 2 GD2"/>
          <p:cNvSpPr/>
          <p:nvPr/>
        </p:nvSpPr>
        <p:spPr>
          <a:xfrm>
            <a:off x="5029886" y="3108960"/>
            <a:ext cx="2131238" cy="585216"/>
          </a:xfrm>
          <a:prstGeom prst="roundRect">
            <a:avLst>
              <a:gd name="adj" fmla="val 12500"/>
            </a:avLst>
          </a:prstGeom>
          <a:solidFill>
            <a:srgbClr val="1D4B3A"/>
          </a:solidFill>
          <a:ln/>
        </p:spPr>
      </p:sp>
      <p:sp>
        <p:nvSpPr>
          <p:cNvPr id="37" name="Chu o 2 GD2"/>
          <p:cNvSpPr txBox="1"/>
          <p:nvPr/>
        </p:nvSpPr>
        <p:spPr>
          <a:xfrm>
            <a:off x="5139614" y="3108960"/>
            <a:ext cx="1930070" cy="585216"/>
          </a:xfrm>
          <a:prstGeom prst="rect">
            <a:avLst/>
          </a:prstGeom>
          <a:noFill/>
          <a:ln/>
        </p:spPr>
        <p:txBody>
          <a:bodyPr wrap="square" lIns="0" tIns="0" rIns="0" bIns="0" rtlCol="0" anchor="ctr"/>
          <a:lstStyle/>
          <a:p>
            <a:pPr marL="0" indent="0" algn="l">
              <a:buNone/>
            </a:pPr>
            <a:r>
              <a:rPr lang="en-US" sz="1400" b="1" dirty="0">
                <a:solidFill>
                  <a:srgbClr val="FFFFFF"/>
                </a:solidFill>
              </a:rPr>
              <a:t>Tự làm: xưởng riêng đạt ATTP</a:t>
            </a:r>
            <a:endParaRPr lang="en-US" sz="1400" dirty="0"/>
          </a:p>
        </p:txBody>
      </p:sp>
      <p:sp>
        <p:nvSpPr>
          <p:cNvPr id="38" name="O 3 GD2"/>
          <p:cNvSpPr/>
          <p:nvPr/>
        </p:nvSpPr>
        <p:spPr>
          <a:xfrm>
            <a:off x="5029886" y="3749040"/>
            <a:ext cx="2131238" cy="585216"/>
          </a:xfrm>
          <a:prstGeom prst="roundRect">
            <a:avLst>
              <a:gd name="adj" fmla="val 12500"/>
            </a:avLst>
          </a:prstGeom>
          <a:solidFill>
            <a:srgbClr val="FBF1D8"/>
          </a:solidFill>
          <a:ln w="12700">
            <a:solidFill>
              <a:srgbClr val="E4A92A"/>
            </a:solidFill>
            <a:prstDash val="solid"/>
          </a:ln>
        </p:spPr>
      </p:sp>
      <p:sp>
        <p:nvSpPr>
          <p:cNvPr id="39" name="Chu o 3 GD2"/>
          <p:cNvSpPr txBox="1"/>
          <p:nvPr/>
        </p:nvSpPr>
        <p:spPr>
          <a:xfrm>
            <a:off x="5139614" y="3749040"/>
            <a:ext cx="1930070" cy="585216"/>
          </a:xfrm>
          <a:prstGeom prst="rect">
            <a:avLst/>
          </a:prstGeom>
          <a:noFill/>
          <a:ln/>
        </p:spPr>
        <p:txBody>
          <a:bodyPr wrap="square" lIns="0" tIns="0" rIns="0" bIns="0" rtlCol="0" anchor="ctr"/>
          <a:lstStyle/>
          <a:p>
            <a:pPr marL="0" indent="0" algn="l">
              <a:buNone/>
            </a:pPr>
            <a:r>
              <a:rPr lang="en-US" sz="1400" dirty="0">
                <a:solidFill>
                  <a:srgbClr val="1B2B24"/>
                </a:solidFill>
              </a:rPr>
              <a:t>Chuẩn bị: HACCP, chạy thử</a:t>
            </a:r>
            <a:endParaRPr lang="en-US" sz="1400" dirty="0"/>
          </a:p>
        </p:txBody>
      </p:sp>
      <p:sp>
        <p:nvSpPr>
          <p:cNvPr id="40" name="O 4 GD2"/>
          <p:cNvSpPr/>
          <p:nvPr/>
        </p:nvSpPr>
        <p:spPr>
          <a:xfrm>
            <a:off x="5029886" y="4389120"/>
            <a:ext cx="2131238" cy="585216"/>
          </a:xfrm>
          <a:prstGeom prst="roundRect">
            <a:avLst>
              <a:gd name="adj" fmla="val 12500"/>
            </a:avLst>
          </a:prstGeom>
          <a:solidFill>
            <a:srgbClr val="EDF0EE"/>
          </a:solidFill>
          <a:ln w="12700">
            <a:solidFill>
              <a:srgbClr val="D5DED8"/>
            </a:solidFill>
            <a:prstDash val="solid"/>
          </a:ln>
        </p:spPr>
      </p:sp>
      <p:sp>
        <p:nvSpPr>
          <p:cNvPr id="41" name="Chu o 4 GD2"/>
          <p:cNvSpPr txBox="1"/>
          <p:nvPr/>
        </p:nvSpPr>
        <p:spPr>
          <a:xfrm>
            <a:off x="5139614" y="4389120"/>
            <a:ext cx="1930070" cy="585216"/>
          </a:xfrm>
          <a:prstGeom prst="rect">
            <a:avLst/>
          </a:prstGeom>
          <a:noFill/>
          <a:ln/>
        </p:spPr>
        <p:txBody>
          <a:bodyPr wrap="square" lIns="0" tIns="0" rIns="0" bIns="0" rtlCol="0" anchor="ctr"/>
          <a:lstStyle/>
          <a:p>
            <a:pPr marL="0" indent="0" algn="l">
              <a:buNone/>
            </a:pPr>
            <a:r>
              <a:rPr lang="en-US" sz="1400" dirty="0">
                <a:solidFill>
                  <a:srgbClr val="5C6F66"/>
                </a:solidFill>
              </a:rPr>
              <a:t>Chưa; bán trong nước</a:t>
            </a:r>
            <a:endParaRPr lang="en-US" sz="1400" dirty="0"/>
          </a:p>
        </p:txBody>
      </p:sp>
      <p:sp>
        <p:nvSpPr>
          <p:cNvPr id="42" name="O nhan su GD2"/>
          <p:cNvSpPr/>
          <p:nvPr/>
        </p:nvSpPr>
        <p:spPr>
          <a:xfrm>
            <a:off x="5029886" y="5029200"/>
            <a:ext cx="2131238" cy="457200"/>
          </a:xfrm>
          <a:prstGeom prst="roundRect">
            <a:avLst>
              <a:gd name="adj" fmla="val 16000"/>
            </a:avLst>
          </a:prstGeom>
          <a:solidFill>
            <a:srgbClr val="DCE9DF"/>
          </a:solidFill>
          <a:ln/>
        </p:spPr>
      </p:sp>
      <p:sp>
        <p:nvSpPr>
          <p:cNvPr id="43" name="Chu nhan su GD2"/>
          <p:cNvSpPr txBox="1"/>
          <p:nvPr/>
        </p:nvSpPr>
        <p:spPr>
          <a:xfrm>
            <a:off x="5029886" y="5029200"/>
            <a:ext cx="2131238" cy="457200"/>
          </a:xfrm>
          <a:prstGeom prst="rect">
            <a:avLst/>
          </a:prstGeom>
          <a:noFill/>
          <a:ln/>
        </p:spPr>
        <p:txBody>
          <a:bodyPr wrap="square" lIns="0" tIns="0" rIns="0" bIns="0" rtlCol="0" anchor="ctr"/>
          <a:lstStyle/>
          <a:p>
            <a:pPr marL="0" indent="0" algn="ctr">
              <a:buNone/>
            </a:pPr>
            <a:r>
              <a:rPr lang="en-US" sz="1800" b="1" dirty="0">
                <a:solidFill>
                  <a:schemeClr val="accent1"/>
                </a:solidFill>
                <a:latin typeface="+mj-lt" pitchFamily="34" charset="0"/>
                <a:ea typeface="+mj-lt" pitchFamily="34" charset="-122"/>
                <a:cs typeface="+mj-lt" pitchFamily="34" charset="-120"/>
              </a:rPr>
              <a:t>19–27</a:t>
            </a:r>
            <a:r>
              <a:rPr lang="en-US" sz="1400" b="1" dirty="0">
                <a:solidFill>
                  <a:schemeClr val="accent1"/>
                </a:solidFill>
              </a:rPr>
              <a:t> người</a:t>
            </a:r>
            <a:endParaRPr lang="en-US" sz="1400" dirty="0"/>
          </a:p>
        </p:txBody>
      </p:sp>
      <p:sp>
        <p:nvSpPr>
          <p:cNvPr id="44" name="O moc GD2"/>
          <p:cNvSpPr/>
          <p:nvPr/>
        </p:nvSpPr>
        <p:spPr>
          <a:xfrm>
            <a:off x="5029886" y="5541264"/>
            <a:ext cx="2131238" cy="585216"/>
          </a:xfrm>
          <a:prstGeom prst="roundRect">
            <a:avLst>
              <a:gd name="adj" fmla="val 12500"/>
            </a:avLst>
          </a:prstGeom>
          <a:solidFill>
            <a:srgbClr val="DCE9DF"/>
          </a:solidFill>
          <a:ln/>
        </p:spPr>
      </p:sp>
      <p:sp>
        <p:nvSpPr>
          <p:cNvPr id="45" name="Chu moc GD2"/>
          <p:cNvSpPr txBox="1"/>
          <p:nvPr/>
        </p:nvSpPr>
        <p:spPr>
          <a:xfrm>
            <a:off x="5139614" y="5541264"/>
            <a:ext cx="1930070" cy="585216"/>
          </a:xfrm>
          <a:prstGeom prst="rect">
            <a:avLst/>
          </a:prstGeom>
          <a:noFill/>
          <a:ln/>
        </p:spPr>
        <p:txBody>
          <a:bodyPr wrap="square" lIns="0" tIns="0" rIns="0" bIns="0" rtlCol="0" anchor="ctr"/>
          <a:lstStyle/>
          <a:p>
            <a:pPr marL="0" indent="0" algn="l">
              <a:buNone/>
            </a:pPr>
            <a:r>
              <a:rPr lang="en-US" sz="1400" dirty="0">
                <a:solidFill>
                  <a:schemeClr val="tx1"/>
                </a:solidFill>
              </a:rPr>
              <a:t>GCN ATTP cho xưởng</a:t>
            </a:r>
            <a:endParaRPr lang="en-US" sz="1400" dirty="0"/>
          </a:p>
        </p:txBody>
      </p:sp>
      <p:sp>
        <p:nvSpPr>
          <p:cNvPr id="46" name="Dau cot GD3"/>
          <p:cNvSpPr/>
          <p:nvPr/>
        </p:nvSpPr>
        <p:spPr>
          <a:xfrm>
            <a:off x="7270852" y="1673352"/>
            <a:ext cx="2131238" cy="731520"/>
          </a:xfrm>
          <a:prstGeom prst="roundRect">
            <a:avLst>
              <a:gd name="adj" fmla="val 15000"/>
            </a:avLst>
          </a:prstGeom>
          <a:solidFill>
            <a:srgbClr val="E4A92A"/>
          </a:solidFill>
          <a:ln/>
        </p:spPr>
      </p:sp>
      <p:sp>
        <p:nvSpPr>
          <p:cNvPr id="47" name="Chu dau cot GD3"/>
          <p:cNvSpPr txBox="1"/>
          <p:nvPr/>
        </p:nvSpPr>
        <p:spPr>
          <a:xfrm>
            <a:off x="7380580" y="1673352"/>
            <a:ext cx="1948358" cy="731520"/>
          </a:xfrm>
          <a:prstGeom prst="rect">
            <a:avLst/>
          </a:prstGeom>
          <a:noFill/>
          <a:ln/>
        </p:spPr>
        <p:txBody>
          <a:bodyPr wrap="square" lIns="0" tIns="0" rIns="0" bIns="0" rtlCol="0" anchor="ctr"/>
          <a:lstStyle/>
          <a:p>
            <a:pPr marL="0" indent="0" algn="l">
              <a:buNone/>
            </a:pPr>
            <a:r>
              <a:rPr lang="en-US" sz="1200" b="1" dirty="0">
                <a:solidFill>
                  <a:srgbClr val="1B2B24"/>
                </a:solidFill>
              </a:rPr>
              <a:t>GIAI ĐOẠN 3</a:t>
            </a:r>
            <a:endParaRPr lang="en-US" sz="1400" dirty="0"/>
          </a:p>
          <a:p>
            <a:pPr marL="0" indent="0" algn="l">
              <a:buNone/>
            </a:pPr>
            <a:r>
              <a:rPr lang="en-US" sz="1500" b="1" dirty="0">
                <a:solidFill>
                  <a:srgbClr val="1B2B24"/>
                </a:solidFill>
              </a:rPr>
              <a:t>Sản xuất đạt chuẩn</a:t>
            </a:r>
            <a:endParaRPr lang="en-US" sz="1400" dirty="0"/>
          </a:p>
          <a:p>
            <a:pPr marL="0" indent="0" algn="l">
              <a:buNone/>
            </a:pPr>
            <a:r>
              <a:rPr lang="en-US" sz="1200" dirty="0">
                <a:solidFill>
                  <a:srgbClr val="1B2B24"/>
                </a:solidFill>
              </a:rPr>
              <a:t>Q4/2027 – Q1/2028</a:t>
            </a:r>
            <a:endParaRPr lang="en-US" sz="1400" dirty="0"/>
          </a:p>
        </p:txBody>
      </p:sp>
      <p:sp>
        <p:nvSpPr>
          <p:cNvPr id="48" name="O 1 GD3"/>
          <p:cNvSpPr/>
          <p:nvPr/>
        </p:nvSpPr>
        <p:spPr>
          <a:xfrm>
            <a:off x="7270852" y="2468880"/>
            <a:ext cx="2131238" cy="585216"/>
          </a:xfrm>
          <a:prstGeom prst="roundRect">
            <a:avLst>
              <a:gd name="adj" fmla="val 12500"/>
            </a:avLst>
          </a:prstGeom>
          <a:solidFill>
            <a:srgbClr val="1D4B3A"/>
          </a:solidFill>
          <a:ln/>
        </p:spPr>
      </p:sp>
      <p:sp>
        <p:nvSpPr>
          <p:cNvPr id="49" name="Chu o 1 GD3"/>
          <p:cNvSpPr txBox="1"/>
          <p:nvPr/>
        </p:nvSpPr>
        <p:spPr>
          <a:xfrm>
            <a:off x="7380580" y="2468880"/>
            <a:ext cx="1930070" cy="585216"/>
          </a:xfrm>
          <a:prstGeom prst="rect">
            <a:avLst/>
          </a:prstGeom>
          <a:noFill/>
          <a:ln/>
        </p:spPr>
        <p:txBody>
          <a:bodyPr wrap="square" lIns="0" tIns="0" rIns="0" bIns="0" rtlCol="0" anchor="ctr"/>
          <a:lstStyle/>
          <a:p>
            <a:pPr marL="0" indent="0" algn="l">
              <a:buNone/>
            </a:pPr>
            <a:r>
              <a:rPr lang="en-US" sz="1400" b="1" dirty="0">
                <a:solidFill>
                  <a:srgbClr val="FFFFFF"/>
                </a:solidFill>
              </a:rPr>
              <a:t>Tự làm: nhà vườn đạt chuẩn TXNG</a:t>
            </a:r>
            <a:endParaRPr lang="en-US" sz="1400" dirty="0"/>
          </a:p>
        </p:txBody>
      </p:sp>
      <p:sp>
        <p:nvSpPr>
          <p:cNvPr id="50" name="O 2 GD3"/>
          <p:cNvSpPr/>
          <p:nvPr/>
        </p:nvSpPr>
        <p:spPr>
          <a:xfrm>
            <a:off x="7270852" y="3108960"/>
            <a:ext cx="2131238" cy="585216"/>
          </a:xfrm>
          <a:prstGeom prst="roundRect">
            <a:avLst>
              <a:gd name="adj" fmla="val 12500"/>
            </a:avLst>
          </a:prstGeom>
          <a:solidFill>
            <a:srgbClr val="1D4B3A"/>
          </a:solidFill>
          <a:ln/>
        </p:spPr>
      </p:sp>
      <p:sp>
        <p:nvSpPr>
          <p:cNvPr id="51" name="Chu o 2 GD3"/>
          <p:cNvSpPr txBox="1"/>
          <p:nvPr/>
        </p:nvSpPr>
        <p:spPr>
          <a:xfrm>
            <a:off x="7380580" y="3108960"/>
            <a:ext cx="1930070" cy="585216"/>
          </a:xfrm>
          <a:prstGeom prst="rect">
            <a:avLst/>
          </a:prstGeom>
          <a:noFill/>
          <a:ln/>
        </p:spPr>
        <p:txBody>
          <a:bodyPr wrap="square" lIns="0" tIns="0" rIns="0" bIns="0" rtlCol="0" anchor="ctr"/>
          <a:lstStyle/>
          <a:p>
            <a:pPr marL="0" indent="0" algn="l">
              <a:buNone/>
            </a:pPr>
            <a:r>
              <a:rPr lang="en-US" sz="1400" b="1" dirty="0">
                <a:solidFill>
                  <a:srgbClr val="FFFFFF"/>
                </a:solidFill>
              </a:rPr>
              <a:t>Tự làm: theo đơn hàng</a:t>
            </a:r>
            <a:endParaRPr lang="en-US" sz="1400" dirty="0"/>
          </a:p>
        </p:txBody>
      </p:sp>
      <p:sp>
        <p:nvSpPr>
          <p:cNvPr id="52" name="O 3 GD3"/>
          <p:cNvSpPr/>
          <p:nvPr/>
        </p:nvSpPr>
        <p:spPr>
          <a:xfrm>
            <a:off x="7270852" y="3749040"/>
            <a:ext cx="2131238" cy="585216"/>
          </a:xfrm>
          <a:prstGeom prst="roundRect">
            <a:avLst>
              <a:gd name="adj" fmla="val 12500"/>
            </a:avLst>
          </a:prstGeom>
          <a:solidFill>
            <a:srgbClr val="1D4B3A"/>
          </a:solidFill>
          <a:ln/>
        </p:spPr>
      </p:sp>
      <p:sp>
        <p:nvSpPr>
          <p:cNvPr id="53" name="Chu o 3 GD3"/>
          <p:cNvSpPr txBox="1"/>
          <p:nvPr/>
        </p:nvSpPr>
        <p:spPr>
          <a:xfrm>
            <a:off x="7380580" y="3749040"/>
            <a:ext cx="1930070" cy="585216"/>
          </a:xfrm>
          <a:prstGeom prst="rect">
            <a:avLst/>
          </a:prstGeom>
          <a:noFill/>
          <a:ln/>
        </p:spPr>
        <p:txBody>
          <a:bodyPr wrap="square" lIns="0" tIns="0" rIns="0" bIns="0" rtlCol="0" anchor="ctr"/>
          <a:lstStyle/>
          <a:p>
            <a:pPr marL="0" indent="0" algn="l">
              <a:buNone/>
            </a:pPr>
            <a:r>
              <a:rPr lang="en-US" sz="1400" b="1" dirty="0">
                <a:solidFill>
                  <a:srgbClr val="FFFFFF"/>
                </a:solidFill>
              </a:rPr>
              <a:t>Tự làm: ISO 22000, mã GACC</a:t>
            </a:r>
            <a:endParaRPr lang="en-US" sz="1400" dirty="0"/>
          </a:p>
        </p:txBody>
      </p:sp>
      <p:sp>
        <p:nvSpPr>
          <p:cNvPr id="54" name="O 4 GD3"/>
          <p:cNvSpPr/>
          <p:nvPr/>
        </p:nvSpPr>
        <p:spPr>
          <a:xfrm>
            <a:off x="7270852" y="4389120"/>
            <a:ext cx="2131238" cy="585216"/>
          </a:xfrm>
          <a:prstGeom prst="roundRect">
            <a:avLst>
              <a:gd name="adj" fmla="val 12500"/>
            </a:avLst>
          </a:prstGeom>
          <a:solidFill>
            <a:srgbClr val="FBF1D8"/>
          </a:solidFill>
          <a:ln w="12700">
            <a:solidFill>
              <a:srgbClr val="E4A92A"/>
            </a:solidFill>
            <a:prstDash val="solid"/>
          </a:ln>
        </p:spPr>
      </p:sp>
      <p:sp>
        <p:nvSpPr>
          <p:cNvPr id="55" name="Chu o 4 GD3"/>
          <p:cNvSpPr txBox="1"/>
          <p:nvPr/>
        </p:nvSpPr>
        <p:spPr>
          <a:xfrm>
            <a:off x="7380580" y="4389120"/>
            <a:ext cx="1930070" cy="585216"/>
          </a:xfrm>
          <a:prstGeom prst="rect">
            <a:avLst/>
          </a:prstGeom>
          <a:noFill/>
          <a:ln/>
        </p:spPr>
        <p:txBody>
          <a:bodyPr wrap="square" lIns="0" tIns="0" rIns="0" bIns="0" rtlCol="0" anchor="ctr"/>
          <a:lstStyle/>
          <a:p>
            <a:pPr marL="0" indent="0" algn="l">
              <a:buNone/>
            </a:pPr>
            <a:r>
              <a:rPr lang="en-US" sz="1400" dirty="0">
                <a:solidFill>
                  <a:srgbClr val="1B2B24"/>
                </a:solidFill>
              </a:rPr>
              <a:t>Qua nhà nhập khẩu, lô đầu sang Trung Quốc</a:t>
            </a:r>
            <a:endParaRPr lang="en-US" sz="1400" dirty="0"/>
          </a:p>
        </p:txBody>
      </p:sp>
      <p:sp>
        <p:nvSpPr>
          <p:cNvPr id="56" name="O nhan su GD3"/>
          <p:cNvSpPr/>
          <p:nvPr/>
        </p:nvSpPr>
        <p:spPr>
          <a:xfrm>
            <a:off x="7270852" y="5029200"/>
            <a:ext cx="2131238" cy="457200"/>
          </a:xfrm>
          <a:prstGeom prst="roundRect">
            <a:avLst>
              <a:gd name="adj" fmla="val 16000"/>
            </a:avLst>
          </a:prstGeom>
          <a:solidFill>
            <a:srgbClr val="FBF1D8"/>
          </a:solidFill>
          <a:ln/>
        </p:spPr>
      </p:sp>
      <p:sp>
        <p:nvSpPr>
          <p:cNvPr id="57" name="Chu nhan su GD3"/>
          <p:cNvSpPr txBox="1"/>
          <p:nvPr/>
        </p:nvSpPr>
        <p:spPr>
          <a:xfrm>
            <a:off x="7270852" y="5029200"/>
            <a:ext cx="2131238" cy="457200"/>
          </a:xfrm>
          <a:prstGeom prst="rect">
            <a:avLst/>
          </a:prstGeom>
          <a:noFill/>
          <a:ln/>
        </p:spPr>
        <p:txBody>
          <a:bodyPr wrap="square" lIns="0" tIns="0" rIns="0" bIns="0" rtlCol="0" anchor="ctr"/>
          <a:lstStyle/>
          <a:p>
            <a:pPr marL="0" indent="0" algn="ctr">
              <a:buNone/>
            </a:pPr>
            <a:r>
              <a:rPr lang="en-US" sz="1800" b="1" dirty="0">
                <a:solidFill>
                  <a:schemeClr val="accent1"/>
                </a:solidFill>
                <a:latin typeface="+mj-lt" pitchFamily="34" charset="0"/>
                <a:ea typeface="+mj-lt" pitchFamily="34" charset="-122"/>
                <a:cs typeface="+mj-lt" pitchFamily="34" charset="-120"/>
              </a:rPr>
              <a:t>25–35</a:t>
            </a:r>
            <a:r>
              <a:rPr lang="en-US" sz="1400" b="1" dirty="0">
                <a:solidFill>
                  <a:schemeClr val="accent1"/>
                </a:solidFill>
              </a:rPr>
              <a:t> người</a:t>
            </a:r>
            <a:endParaRPr lang="en-US" sz="1400" dirty="0"/>
          </a:p>
        </p:txBody>
      </p:sp>
      <p:sp>
        <p:nvSpPr>
          <p:cNvPr id="58" name="O moc GD3"/>
          <p:cNvSpPr/>
          <p:nvPr/>
        </p:nvSpPr>
        <p:spPr>
          <a:xfrm>
            <a:off x="7270852" y="5541264"/>
            <a:ext cx="2131238" cy="585216"/>
          </a:xfrm>
          <a:prstGeom prst="roundRect">
            <a:avLst>
              <a:gd name="adj" fmla="val 12500"/>
            </a:avLst>
          </a:prstGeom>
          <a:solidFill>
            <a:srgbClr val="FBF1D8"/>
          </a:solidFill>
          <a:ln/>
        </p:spPr>
      </p:sp>
      <p:sp>
        <p:nvSpPr>
          <p:cNvPr id="59" name="Chu moc GD3"/>
          <p:cNvSpPr txBox="1"/>
          <p:nvPr/>
        </p:nvSpPr>
        <p:spPr>
          <a:xfrm>
            <a:off x="7380580" y="5541264"/>
            <a:ext cx="1930070" cy="585216"/>
          </a:xfrm>
          <a:prstGeom prst="rect">
            <a:avLst/>
          </a:prstGeom>
          <a:noFill/>
          <a:ln/>
        </p:spPr>
        <p:txBody>
          <a:bodyPr wrap="square" lIns="0" tIns="0" rIns="0" bIns="0" rtlCol="0" anchor="ctr"/>
          <a:lstStyle/>
          <a:p>
            <a:pPr marL="0" indent="0" algn="l">
              <a:buNone/>
            </a:pPr>
            <a:r>
              <a:rPr lang="en-US" sz="1400" dirty="0">
                <a:solidFill>
                  <a:schemeClr val="tx1"/>
                </a:solidFill>
              </a:rPr>
              <a:t>Mã GACC; lô đầu sang Trung Quốc</a:t>
            </a:r>
            <a:endParaRPr lang="en-US" sz="1400" dirty="0"/>
          </a:p>
        </p:txBody>
      </p:sp>
      <p:sp>
        <p:nvSpPr>
          <p:cNvPr id="60" name="Dau cot GD4"/>
          <p:cNvSpPr/>
          <p:nvPr/>
        </p:nvSpPr>
        <p:spPr>
          <a:xfrm>
            <a:off x="9511817" y="1673352"/>
            <a:ext cx="2131238" cy="731520"/>
          </a:xfrm>
          <a:prstGeom prst="roundRect">
            <a:avLst>
              <a:gd name="adj" fmla="val 15000"/>
            </a:avLst>
          </a:prstGeom>
          <a:solidFill>
            <a:srgbClr val="7A3E8F"/>
          </a:solidFill>
          <a:ln/>
        </p:spPr>
      </p:sp>
      <p:sp>
        <p:nvSpPr>
          <p:cNvPr id="61" name="Chu dau cot GD4"/>
          <p:cNvSpPr txBox="1"/>
          <p:nvPr/>
        </p:nvSpPr>
        <p:spPr>
          <a:xfrm>
            <a:off x="9621545" y="1673352"/>
            <a:ext cx="1948358" cy="731520"/>
          </a:xfrm>
          <a:prstGeom prst="rect">
            <a:avLst/>
          </a:prstGeom>
          <a:noFill/>
          <a:ln/>
        </p:spPr>
        <p:txBody>
          <a:bodyPr wrap="square" lIns="0" tIns="0" rIns="0" bIns="0" rtlCol="0" anchor="ctr"/>
          <a:lstStyle/>
          <a:p>
            <a:pPr marL="0" indent="0" algn="l">
              <a:buNone/>
            </a:pPr>
            <a:r>
              <a:rPr lang="en-US" sz="1200" b="1" dirty="0">
                <a:solidFill>
                  <a:srgbClr val="FFFFFF"/>
                </a:solidFill>
              </a:rPr>
              <a:t>GIAI ĐOẠN 4</a:t>
            </a:r>
            <a:endParaRPr lang="en-US" sz="1400" dirty="0"/>
          </a:p>
          <a:p>
            <a:pPr marL="0" indent="0" algn="l">
              <a:buNone/>
            </a:pPr>
            <a:r>
              <a:rPr lang="en-US" sz="1500" b="1" dirty="0">
                <a:solidFill>
                  <a:srgbClr val="FFFFFF"/>
                </a:solidFill>
              </a:rPr>
              <a:t>Xuất khẩu</a:t>
            </a:r>
            <a:endParaRPr lang="en-US" sz="1400" dirty="0"/>
          </a:p>
          <a:p>
            <a:pPr marL="0" indent="0" algn="l">
              <a:buNone/>
            </a:pPr>
            <a:r>
              <a:rPr lang="en-US" sz="1200" dirty="0">
                <a:solidFill>
                  <a:srgbClr val="FFFFFF"/>
                </a:solidFill>
              </a:rPr>
              <a:t>Q2/2028 trở đi</a:t>
            </a:r>
            <a:endParaRPr lang="en-US" sz="1400" dirty="0"/>
          </a:p>
        </p:txBody>
      </p:sp>
      <p:sp>
        <p:nvSpPr>
          <p:cNvPr id="62" name="O 1 GD4"/>
          <p:cNvSpPr/>
          <p:nvPr/>
        </p:nvSpPr>
        <p:spPr>
          <a:xfrm>
            <a:off x="9511817" y="2468880"/>
            <a:ext cx="2131238" cy="585216"/>
          </a:xfrm>
          <a:prstGeom prst="roundRect">
            <a:avLst>
              <a:gd name="adj" fmla="val 12500"/>
            </a:avLst>
          </a:prstGeom>
          <a:solidFill>
            <a:srgbClr val="1D4B3A"/>
          </a:solidFill>
          <a:ln/>
        </p:spPr>
      </p:sp>
      <p:sp>
        <p:nvSpPr>
          <p:cNvPr id="63" name="Chu o 1 GD4"/>
          <p:cNvSpPr txBox="1"/>
          <p:nvPr/>
        </p:nvSpPr>
        <p:spPr>
          <a:xfrm>
            <a:off x="9621545" y="2468880"/>
            <a:ext cx="1930070" cy="585216"/>
          </a:xfrm>
          <a:prstGeom prst="rect">
            <a:avLst/>
          </a:prstGeom>
          <a:noFill/>
          <a:ln/>
        </p:spPr>
        <p:txBody>
          <a:bodyPr wrap="square" lIns="0" tIns="0" rIns="0" bIns="0" rtlCol="0" anchor="ctr"/>
          <a:lstStyle/>
          <a:p>
            <a:pPr marL="0" indent="0" algn="l">
              <a:buNone/>
            </a:pPr>
            <a:r>
              <a:rPr lang="en-US" sz="1400" b="1" dirty="0">
                <a:solidFill>
                  <a:srgbClr val="FFFFFF"/>
                </a:solidFill>
              </a:rPr>
              <a:t>Tự làm: vùng ổn định theo mùa vụ</a:t>
            </a:r>
            <a:endParaRPr lang="en-US" sz="1400" dirty="0"/>
          </a:p>
        </p:txBody>
      </p:sp>
      <p:sp>
        <p:nvSpPr>
          <p:cNvPr id="64" name="O 2 GD4"/>
          <p:cNvSpPr/>
          <p:nvPr/>
        </p:nvSpPr>
        <p:spPr>
          <a:xfrm>
            <a:off x="9511817" y="3108960"/>
            <a:ext cx="2131238" cy="585216"/>
          </a:xfrm>
          <a:prstGeom prst="roundRect">
            <a:avLst>
              <a:gd name="adj" fmla="val 12500"/>
            </a:avLst>
          </a:prstGeom>
          <a:solidFill>
            <a:srgbClr val="1D4B3A"/>
          </a:solidFill>
          <a:ln/>
        </p:spPr>
      </p:sp>
      <p:sp>
        <p:nvSpPr>
          <p:cNvPr id="65" name="Chu o 2 GD4"/>
          <p:cNvSpPr txBox="1"/>
          <p:nvPr/>
        </p:nvSpPr>
        <p:spPr>
          <a:xfrm>
            <a:off x="9621545" y="3108960"/>
            <a:ext cx="1930070" cy="585216"/>
          </a:xfrm>
          <a:prstGeom prst="rect">
            <a:avLst/>
          </a:prstGeom>
          <a:noFill/>
          <a:ln/>
        </p:spPr>
        <p:txBody>
          <a:bodyPr wrap="square" lIns="0" tIns="0" rIns="0" bIns="0" rtlCol="0" anchor="ctr"/>
          <a:lstStyle/>
          <a:p>
            <a:pPr marL="0" indent="0" algn="l">
              <a:buNone/>
            </a:pPr>
            <a:r>
              <a:rPr lang="en-US" sz="1400" b="1" dirty="0">
                <a:solidFill>
                  <a:srgbClr val="FFFFFF"/>
                </a:solidFill>
              </a:rPr>
              <a:t>Tự làm: mở rộng công suất</a:t>
            </a:r>
            <a:endParaRPr lang="en-US" sz="1400" dirty="0"/>
          </a:p>
        </p:txBody>
      </p:sp>
      <p:sp>
        <p:nvSpPr>
          <p:cNvPr id="66" name="O 3 GD4"/>
          <p:cNvSpPr/>
          <p:nvPr/>
        </p:nvSpPr>
        <p:spPr>
          <a:xfrm>
            <a:off x="9511817" y="3749040"/>
            <a:ext cx="2131238" cy="585216"/>
          </a:xfrm>
          <a:prstGeom prst="roundRect">
            <a:avLst>
              <a:gd name="adj" fmla="val 12500"/>
            </a:avLst>
          </a:prstGeom>
          <a:solidFill>
            <a:srgbClr val="1D4B3A"/>
          </a:solidFill>
          <a:ln/>
        </p:spPr>
      </p:sp>
      <p:sp>
        <p:nvSpPr>
          <p:cNvPr id="67" name="Chu o 3 GD4"/>
          <p:cNvSpPr txBox="1"/>
          <p:nvPr/>
        </p:nvSpPr>
        <p:spPr>
          <a:xfrm>
            <a:off x="9621545" y="3749040"/>
            <a:ext cx="1930070" cy="585216"/>
          </a:xfrm>
          <a:prstGeom prst="rect">
            <a:avLst/>
          </a:prstGeom>
          <a:noFill/>
          <a:ln/>
        </p:spPr>
        <p:txBody>
          <a:bodyPr wrap="square" lIns="0" tIns="0" rIns="0" bIns="0" rtlCol="0" anchor="ctr"/>
          <a:lstStyle/>
          <a:p>
            <a:pPr marL="0" indent="0" algn="l">
              <a:buNone/>
            </a:pPr>
            <a:r>
              <a:rPr lang="en-US" sz="1400" b="1" dirty="0">
                <a:solidFill>
                  <a:srgbClr val="FFFFFF"/>
                </a:solidFill>
              </a:rPr>
              <a:t>Tự làm: thêm BRCGS/FSSC</a:t>
            </a:r>
            <a:endParaRPr lang="en-US" sz="1400" dirty="0"/>
          </a:p>
        </p:txBody>
      </p:sp>
      <p:sp>
        <p:nvSpPr>
          <p:cNvPr id="68" name="O 4 GD4"/>
          <p:cNvSpPr/>
          <p:nvPr/>
        </p:nvSpPr>
        <p:spPr>
          <a:xfrm>
            <a:off x="9511817" y="4389120"/>
            <a:ext cx="2131238" cy="585216"/>
          </a:xfrm>
          <a:prstGeom prst="roundRect">
            <a:avLst>
              <a:gd name="adj" fmla="val 12500"/>
            </a:avLst>
          </a:prstGeom>
          <a:solidFill>
            <a:srgbClr val="1D4B3A"/>
          </a:solidFill>
          <a:ln/>
        </p:spPr>
      </p:sp>
      <p:sp>
        <p:nvSpPr>
          <p:cNvPr id="69" name="Chu o 4 GD4"/>
          <p:cNvSpPr txBox="1"/>
          <p:nvPr/>
        </p:nvSpPr>
        <p:spPr>
          <a:xfrm>
            <a:off x="9621545" y="4389120"/>
            <a:ext cx="1930070" cy="585216"/>
          </a:xfrm>
          <a:prstGeom prst="rect">
            <a:avLst/>
          </a:prstGeom>
          <a:noFill/>
          <a:ln/>
        </p:spPr>
        <p:txBody>
          <a:bodyPr wrap="square" lIns="0" tIns="0" rIns="0" bIns="0" rtlCol="0" anchor="ctr"/>
          <a:lstStyle/>
          <a:p>
            <a:pPr marL="0" indent="0" algn="l">
              <a:buNone/>
            </a:pPr>
            <a:r>
              <a:rPr lang="en-US" sz="1400" b="1" dirty="0">
                <a:solidFill>
                  <a:srgbClr val="FFFFFF"/>
                </a:solidFill>
              </a:rPr>
              <a:t>Tự chủ: Trung Quốc và Châu Âu</a:t>
            </a:r>
            <a:endParaRPr lang="en-US" sz="1400" dirty="0"/>
          </a:p>
        </p:txBody>
      </p:sp>
      <p:sp>
        <p:nvSpPr>
          <p:cNvPr id="70" name="O nhan su GD4"/>
          <p:cNvSpPr/>
          <p:nvPr/>
        </p:nvSpPr>
        <p:spPr>
          <a:xfrm>
            <a:off x="9511817" y="5029200"/>
            <a:ext cx="2131238" cy="457200"/>
          </a:xfrm>
          <a:prstGeom prst="roundRect">
            <a:avLst>
              <a:gd name="adj" fmla="val 16000"/>
            </a:avLst>
          </a:prstGeom>
          <a:solidFill>
            <a:srgbClr val="EEE3F2"/>
          </a:solidFill>
          <a:ln/>
        </p:spPr>
      </p:sp>
      <p:sp>
        <p:nvSpPr>
          <p:cNvPr id="71" name="Chu nhan su GD4"/>
          <p:cNvSpPr txBox="1"/>
          <p:nvPr/>
        </p:nvSpPr>
        <p:spPr>
          <a:xfrm>
            <a:off x="9511817" y="5029200"/>
            <a:ext cx="2131238" cy="457200"/>
          </a:xfrm>
          <a:prstGeom prst="rect">
            <a:avLst/>
          </a:prstGeom>
          <a:noFill/>
          <a:ln/>
        </p:spPr>
        <p:txBody>
          <a:bodyPr wrap="square" lIns="0" tIns="0" rIns="0" bIns="0" rtlCol="0" anchor="ctr"/>
          <a:lstStyle/>
          <a:p>
            <a:pPr marL="0" indent="0" algn="ctr">
              <a:buNone/>
            </a:pPr>
            <a:r>
              <a:rPr lang="en-US" sz="1800" b="1" dirty="0">
                <a:solidFill>
                  <a:schemeClr val="accent1"/>
                </a:solidFill>
                <a:latin typeface="+mj-lt" pitchFamily="34" charset="0"/>
                <a:ea typeface="+mj-lt" pitchFamily="34" charset="-122"/>
                <a:cs typeface="+mj-lt" pitchFamily="34" charset="-120"/>
              </a:rPr>
              <a:t>28–40</a:t>
            </a:r>
            <a:r>
              <a:rPr lang="en-US" sz="1400" b="1" dirty="0">
                <a:solidFill>
                  <a:schemeClr val="accent1"/>
                </a:solidFill>
              </a:rPr>
              <a:t> người</a:t>
            </a:r>
            <a:endParaRPr lang="en-US" sz="1400" dirty="0"/>
          </a:p>
        </p:txBody>
      </p:sp>
      <p:sp>
        <p:nvSpPr>
          <p:cNvPr id="72" name="O moc GD4"/>
          <p:cNvSpPr/>
          <p:nvPr/>
        </p:nvSpPr>
        <p:spPr>
          <a:xfrm>
            <a:off x="9511817" y="5541264"/>
            <a:ext cx="2131238" cy="585216"/>
          </a:xfrm>
          <a:prstGeom prst="roundRect">
            <a:avLst>
              <a:gd name="adj" fmla="val 12500"/>
            </a:avLst>
          </a:prstGeom>
          <a:solidFill>
            <a:srgbClr val="EEE3F2"/>
          </a:solidFill>
          <a:ln/>
        </p:spPr>
      </p:sp>
      <p:sp>
        <p:nvSpPr>
          <p:cNvPr id="73" name="Chu moc GD4"/>
          <p:cNvSpPr txBox="1"/>
          <p:nvPr/>
        </p:nvSpPr>
        <p:spPr>
          <a:xfrm>
            <a:off x="9621545" y="5541264"/>
            <a:ext cx="1930070" cy="585216"/>
          </a:xfrm>
          <a:prstGeom prst="rect">
            <a:avLst/>
          </a:prstGeom>
          <a:noFill/>
          <a:ln/>
        </p:spPr>
        <p:txBody>
          <a:bodyPr wrap="square" lIns="0" tIns="0" rIns="0" bIns="0" rtlCol="0" anchor="ctr"/>
          <a:lstStyle/>
          <a:p>
            <a:pPr marL="0" indent="0" algn="l">
              <a:buNone/>
            </a:pPr>
            <a:r>
              <a:rPr lang="en-US" sz="1400" dirty="0">
                <a:solidFill>
                  <a:schemeClr val="tx1"/>
                </a:solidFill>
              </a:rPr>
              <a:t>BRCGS/FSSC; lô đầu sang EU</a:t>
            </a:r>
            <a:endParaRPr lang="en-US" sz="1400" dirty="0"/>
          </a:p>
        </p:txBody>
      </p:sp>
      <p:sp>
        <p:nvSpPr>
          <p:cNvPr id="74" name="O chu giai own"/>
          <p:cNvSpPr/>
          <p:nvPr/>
        </p:nvSpPr>
        <p:spPr>
          <a:xfrm>
            <a:off x="548640" y="6254496"/>
            <a:ext cx="146304" cy="146304"/>
          </a:xfrm>
          <a:prstGeom prst="rect">
            <a:avLst/>
          </a:prstGeom>
          <a:solidFill>
            <a:srgbClr val="1D4B3A"/>
          </a:solidFill>
          <a:ln w="12700">
            <a:solidFill>
              <a:srgbClr val="1D4B3A"/>
            </a:solidFill>
            <a:prstDash val="solid"/>
          </a:ln>
        </p:spPr>
      </p:sp>
      <p:sp>
        <p:nvSpPr>
          <p:cNvPr id="75" name="Chu giai own"/>
          <p:cNvSpPr txBox="1"/>
          <p:nvPr/>
        </p:nvSpPr>
        <p:spPr>
          <a:xfrm>
            <a:off x="768096" y="6217920"/>
            <a:ext cx="3200400" cy="219456"/>
          </a:xfrm>
          <a:prstGeom prst="rect">
            <a:avLst/>
          </a:prstGeom>
          <a:noFill/>
          <a:ln/>
        </p:spPr>
        <p:txBody>
          <a:bodyPr wrap="square" lIns="0" tIns="0" rIns="0" bIns="0" rtlCol="0" anchor="ctr"/>
          <a:lstStyle/>
          <a:p>
            <a:pPr marL="0" indent="0" algn="l">
              <a:buNone/>
            </a:pPr>
            <a:r>
              <a:rPr lang="en-US" sz="1200" dirty="0">
                <a:solidFill>
                  <a:srgbClr val="5C6F66"/>
                </a:solidFill>
              </a:rPr>
              <a:t>Heragrain tự làm</a:t>
            </a:r>
            <a:endParaRPr lang="en-US" sz="1200" dirty="0"/>
          </a:p>
        </p:txBody>
      </p:sp>
      <p:sp>
        <p:nvSpPr>
          <p:cNvPr id="76" name="O chu giai partner"/>
          <p:cNvSpPr/>
          <p:nvPr/>
        </p:nvSpPr>
        <p:spPr>
          <a:xfrm>
            <a:off x="2651760" y="6254496"/>
            <a:ext cx="146304" cy="146304"/>
          </a:xfrm>
          <a:prstGeom prst="rect">
            <a:avLst/>
          </a:prstGeom>
          <a:solidFill>
            <a:srgbClr val="FBF1D8"/>
          </a:solidFill>
          <a:ln w="12700">
            <a:solidFill>
              <a:srgbClr val="E4A92A"/>
            </a:solidFill>
            <a:prstDash val="solid"/>
          </a:ln>
        </p:spPr>
      </p:sp>
      <p:sp>
        <p:nvSpPr>
          <p:cNvPr id="77" name="Chu giai partner"/>
          <p:cNvSpPr txBox="1"/>
          <p:nvPr/>
        </p:nvSpPr>
        <p:spPr>
          <a:xfrm>
            <a:off x="2871216" y="6217920"/>
            <a:ext cx="3200400" cy="219456"/>
          </a:xfrm>
          <a:prstGeom prst="rect">
            <a:avLst/>
          </a:prstGeom>
          <a:noFill/>
          <a:ln/>
        </p:spPr>
        <p:txBody>
          <a:bodyPr wrap="square" lIns="0" tIns="0" rIns="0" bIns="0" rtlCol="0" anchor="ctr"/>
          <a:lstStyle/>
          <a:p>
            <a:pPr marL="0" indent="0" algn="l">
              <a:buNone/>
            </a:pPr>
            <a:r>
              <a:rPr lang="en-US" sz="1200" dirty="0">
                <a:solidFill>
                  <a:srgbClr val="5C6F66"/>
                </a:solidFill>
              </a:rPr>
              <a:t>Gia công, chuẩn bị hoặc qua đối tác</a:t>
            </a:r>
            <a:endParaRPr lang="en-US" sz="1200" dirty="0"/>
          </a:p>
        </p:txBody>
      </p:sp>
      <p:sp>
        <p:nvSpPr>
          <p:cNvPr id="78" name="O chu giai later"/>
          <p:cNvSpPr/>
          <p:nvPr/>
        </p:nvSpPr>
        <p:spPr>
          <a:xfrm>
            <a:off x="6492240" y="6254496"/>
            <a:ext cx="146304" cy="146304"/>
          </a:xfrm>
          <a:prstGeom prst="rect">
            <a:avLst/>
          </a:prstGeom>
          <a:solidFill>
            <a:srgbClr val="EDF0EE"/>
          </a:solidFill>
          <a:ln w="12700">
            <a:solidFill>
              <a:srgbClr val="D5DED8"/>
            </a:solidFill>
            <a:prstDash val="solid"/>
          </a:ln>
        </p:spPr>
      </p:sp>
      <p:sp>
        <p:nvSpPr>
          <p:cNvPr id="79" name="Chu giai later"/>
          <p:cNvSpPr txBox="1"/>
          <p:nvPr/>
        </p:nvSpPr>
        <p:spPr>
          <a:xfrm>
            <a:off x="6711696" y="6217920"/>
            <a:ext cx="3200400" cy="219456"/>
          </a:xfrm>
          <a:prstGeom prst="rect">
            <a:avLst/>
          </a:prstGeom>
          <a:noFill/>
          <a:ln/>
        </p:spPr>
        <p:txBody>
          <a:bodyPr wrap="square" lIns="0" tIns="0" rIns="0" bIns="0" rtlCol="0" anchor="ctr"/>
          <a:lstStyle/>
          <a:p>
            <a:pPr marL="0" indent="0" algn="l">
              <a:buNone/>
            </a:pPr>
            <a:r>
              <a:rPr lang="en-US" sz="1200" dirty="0">
                <a:solidFill>
                  <a:srgbClr val="5C6F66"/>
                </a:solidFill>
              </a:rPr>
              <a:t>Chưa làm</a:t>
            </a:r>
            <a:endParaRPr lang="en-US" sz="1200" dirty="0"/>
          </a:p>
        </p:txBody>
      </p:sp>
      <p:sp>
        <p:nvSpPr>
          <p:cNvPr id="80" name="Chu chau A"/>
          <p:cNvSpPr txBox="1"/>
          <p:nvPr/>
        </p:nvSpPr>
        <p:spPr>
          <a:xfrm>
            <a:off x="8595360" y="6217920"/>
            <a:ext cx="3044952" cy="219456"/>
          </a:xfrm>
          <a:prstGeom prst="rect">
            <a:avLst/>
          </a:prstGeom>
          <a:noFill/>
          <a:ln/>
        </p:spPr>
        <p:txBody>
          <a:bodyPr wrap="square" lIns="0" tIns="0" rIns="0" bIns="0" rtlCol="0" anchor="ctr"/>
          <a:lstStyle/>
          <a:p>
            <a:pPr marL="0" indent="0" algn="r">
              <a:buNone/>
            </a:pPr>
            <a:r>
              <a:rPr lang="en-US" sz="1200" b="1" dirty="0">
                <a:solidFill>
                  <a:schemeClr val="accent6"/>
                </a:solidFill>
              </a:rPr>
              <a:t>Châu Á: xét sau giai đoạn 4</a:t>
            </a:r>
            <a:endParaRPr lang="en-US" sz="1200" dirty="0"/>
          </a:p>
        </p:txBody>
      </p:sp>
      <p:sp>
        <p:nvSpPr>
          <p:cNvPr id="2" name="Slide Number Placeholder 0"/>
          <p:cNvSpPr>
            <a:spLocks noGrp="1"/>
          </p:cNvSpPr>
          <p:nvPr>
            <p:ph type="sldNum" sz="quarter" idx="4294967295"/>
          </p:nvPr>
        </p:nvSpPr>
        <p:spPr>
          <a:xfrm>
            <a:off x="10972800" y="6492240"/>
            <a:ext cx="667512" cy="237744"/>
          </a:xfrm>
          <a:prstGeom prst="rect">
            <a:avLst/>
          </a:prstGeom>
          <a:extLst>
            <a:ext uri="{C572A759-6A51-4108-AA02-DFA0A04FC94B}">
              <ma14:wrappingTextBoxFlag xmlns:ma14="http://schemas.microsoft.com/office/mac/drawingml/2011/main" xmlns="" val="0"/>
            </a:ext>
          </a:extLst>
        </p:spPr>
        <p:txBody>
          <a:bodyPr/>
          <a:lstStyle>
            <a:lvl1pPr>
              <a:defRPr sz="1000">
                <a:solidFill>
                  <a:srgbClr val="5C6F66"/>
                </a:solidFill>
              </a:defRPr>
            </a:lvl1pPr>
          </a:lstStyle>
          <a:p>
            <a:pPr algn="r"/>
            <a:fld id="{F7021451-1387-4CA6-816F-3879F97B5CBC}" type="slidenum">
              <a:rPr lang="en-US" b="0"/>
              <a:t>4</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Dau cham"/>
          <p:cNvSpPr/>
          <p:nvPr/>
        </p:nvSpPr>
        <p:spPr>
          <a:xfrm>
            <a:off x="548640" y="429768"/>
            <a:ext cx="118872" cy="118872"/>
          </a:xfrm>
          <a:prstGeom prst="ellipse">
            <a:avLst/>
          </a:prstGeom>
          <a:solidFill>
            <a:schemeClr val="accent2"/>
          </a:solidFill>
          <a:ln/>
        </p:spPr>
      </p:sp>
      <p:sp>
        <p:nvSpPr>
          <p:cNvPr id="4" name="Nhan chuyen muc"/>
          <p:cNvSpPr txBox="1"/>
          <p:nvPr/>
        </p:nvSpPr>
        <p:spPr>
          <a:xfrm>
            <a:off x="777240" y="347472"/>
            <a:ext cx="6949440" cy="274320"/>
          </a:xfrm>
          <a:prstGeom prst="rect">
            <a:avLst/>
          </a:prstGeom>
          <a:noFill/>
          <a:ln/>
        </p:spPr>
        <p:txBody>
          <a:bodyPr wrap="square" lIns="0" tIns="0" rIns="0" bIns="0" rtlCol="0" anchor="ctr"/>
          <a:lstStyle/>
          <a:p>
            <a:pPr marL="0" indent="0" algn="l">
              <a:buNone/>
            </a:pPr>
            <a:r>
              <a:rPr lang="en-US" sz="1200" b="1" kern="0" spc="200" dirty="0">
                <a:solidFill>
                  <a:schemeClr val="accent1"/>
                </a:solidFill>
              </a:rPr>
              <a:t>LỘ TRÌNH THEO GIAI ĐOẠN</a:t>
            </a:r>
            <a:endParaRPr lang="en-US" sz="1200" dirty="0"/>
          </a:p>
        </p:txBody>
      </p:sp>
      <p:sp>
        <p:nvSpPr>
          <p:cNvPr id="5" name="Nhan giai doan"/>
          <p:cNvSpPr/>
          <p:nvPr/>
        </p:nvSpPr>
        <p:spPr>
          <a:xfrm>
            <a:off x="8625535" y="347472"/>
            <a:ext cx="3017520" cy="274320"/>
          </a:xfrm>
          <a:prstGeom prst="roundRect">
            <a:avLst>
              <a:gd name="adj" fmla="val 26667"/>
            </a:avLst>
          </a:prstGeom>
          <a:solidFill>
            <a:srgbClr val="5E9E68"/>
          </a:solidFill>
          <a:ln/>
        </p:spPr>
      </p:sp>
      <p:sp>
        <p:nvSpPr>
          <p:cNvPr id="6" name="Chu nhan giai doan"/>
          <p:cNvSpPr txBox="1"/>
          <p:nvPr/>
        </p:nvSpPr>
        <p:spPr>
          <a:xfrm>
            <a:off x="8625535" y="347472"/>
            <a:ext cx="3017520" cy="274320"/>
          </a:xfrm>
          <a:prstGeom prst="rect">
            <a:avLst/>
          </a:prstGeom>
          <a:noFill/>
          <a:ln/>
        </p:spPr>
        <p:txBody>
          <a:bodyPr wrap="square" lIns="0" tIns="0" rIns="0" bIns="0" rtlCol="0" anchor="ctr"/>
          <a:lstStyle/>
          <a:p>
            <a:pPr marL="0" indent="0" algn="ctr">
              <a:buNone/>
            </a:pPr>
            <a:r>
              <a:rPr lang="en-US" sz="1200" b="1" kern="0" spc="50" dirty="0">
                <a:solidFill>
                  <a:srgbClr val="1B2B24"/>
                </a:solidFill>
              </a:rPr>
              <a:t>GIAI ĐOẠN 1 · Q4/2026 – Q1/2027</a:t>
            </a:r>
            <a:endParaRPr lang="en-US" sz="1200" dirty="0"/>
          </a:p>
        </p:txBody>
      </p:sp>
      <p:sp>
        <p:nvSpPr>
          <p:cNvPr id="7" name="Text 0"/>
          <p:cNvSpPr>
            <a:spLocks noGrp="1"/>
          </p:cNvSpPr>
          <p:nvPr>
            <p:ph type="title" idx="100" hasCustomPrompt="1"/>
          </p:nvPr>
        </p:nvSpPr>
        <p:spPr>
          <a:xfrm>
            <a:off x="548640" y="658368"/>
            <a:ext cx="11094415" cy="777240"/>
          </a:xfrm>
          <a:prstGeom prst="rect">
            <a:avLst/>
          </a:prstGeom>
          <a:noFill/>
          <a:ln/>
        </p:spPr>
        <p:txBody>
          <a:bodyPr wrap="square" lIns="0" tIns="0" rIns="0" bIns="0" rtlCol="0" anchor="ctr"/>
          <a:lstStyle/>
          <a:p>
            <a:pPr marL="0" indent="0" algn="l">
              <a:buNone/>
            </a:pPr>
            <a:r>
              <a:rPr lang="en-US" sz="3000" b="1" dirty="0">
                <a:solidFill>
                  <a:schemeClr val="tx2"/>
                </a:solidFill>
              </a:rPr>
              <a:t>Giai đoạn 1 · Thu mua: làm chủ nguyên liệu đầu vào</a:t>
            </a:r>
            <a:endParaRPr lang="en-US" sz="3000" dirty="0"/>
          </a:p>
        </p:txBody>
      </p:sp>
      <p:sp>
        <p:nvSpPr>
          <p:cNvPr id="8" name="Cong doan 1"/>
          <p:cNvSpPr/>
          <p:nvPr/>
        </p:nvSpPr>
        <p:spPr>
          <a:xfrm>
            <a:off x="548640" y="1691640"/>
            <a:ext cx="2732456" cy="640080"/>
          </a:xfrm>
          <a:prstGeom prst="homePlate">
            <a:avLst/>
          </a:prstGeom>
          <a:solidFill>
            <a:srgbClr val="1D4B3A"/>
          </a:solidFill>
          <a:ln/>
        </p:spPr>
      </p:sp>
      <p:sp>
        <p:nvSpPr>
          <p:cNvPr id="9" name="Chu cong doan 1"/>
          <p:cNvSpPr txBox="1"/>
          <p:nvPr/>
        </p:nvSpPr>
        <p:spPr>
          <a:xfrm>
            <a:off x="713232" y="1691640"/>
            <a:ext cx="2275256" cy="640080"/>
          </a:xfrm>
          <a:prstGeom prst="rect">
            <a:avLst/>
          </a:prstGeom>
          <a:noFill/>
          <a:ln/>
        </p:spPr>
        <p:txBody>
          <a:bodyPr wrap="square" lIns="0" tIns="0" rIns="0" bIns="0" rtlCol="0" anchor="ctr"/>
          <a:lstStyle/>
          <a:p>
            <a:pPr marL="0" indent="0" algn="l">
              <a:buNone/>
            </a:pPr>
            <a:r>
              <a:rPr lang="en-US" sz="1400" b="1" dirty="0">
                <a:solidFill>
                  <a:srgbClr val="FFFFFF"/>
                </a:solidFill>
              </a:rPr>
              <a:t>Thu mua</a:t>
            </a:r>
            <a:endParaRPr lang="en-US" sz="1400" dirty="0"/>
          </a:p>
          <a:p>
            <a:pPr marL="0" indent="0" algn="l">
              <a:buNone/>
            </a:pPr>
            <a:r>
              <a:rPr lang="en-US" sz="1200" dirty="0">
                <a:solidFill>
                  <a:srgbClr val="D5E6DA"/>
                </a:solidFill>
              </a:rPr>
              <a:t>Heragrain tự làm</a:t>
            </a:r>
            <a:endParaRPr lang="en-US" sz="1400" dirty="0"/>
          </a:p>
        </p:txBody>
      </p:sp>
      <p:sp>
        <p:nvSpPr>
          <p:cNvPr id="10" name="Cong doan 2"/>
          <p:cNvSpPr/>
          <p:nvPr/>
        </p:nvSpPr>
        <p:spPr>
          <a:xfrm>
            <a:off x="3335960" y="1691640"/>
            <a:ext cx="2732456" cy="640080"/>
          </a:xfrm>
          <a:prstGeom prst="homePlate">
            <a:avLst/>
          </a:prstGeom>
          <a:solidFill>
            <a:srgbClr val="FBF1D8"/>
          </a:solidFill>
          <a:ln w="12700">
            <a:solidFill>
              <a:srgbClr val="E4A92A"/>
            </a:solidFill>
            <a:prstDash val="solid"/>
          </a:ln>
        </p:spPr>
      </p:sp>
      <p:sp>
        <p:nvSpPr>
          <p:cNvPr id="11" name="Chu cong doan 2"/>
          <p:cNvSpPr txBox="1"/>
          <p:nvPr/>
        </p:nvSpPr>
        <p:spPr>
          <a:xfrm>
            <a:off x="3500552" y="1691640"/>
            <a:ext cx="2275256" cy="640080"/>
          </a:xfrm>
          <a:prstGeom prst="rect">
            <a:avLst/>
          </a:prstGeom>
          <a:noFill/>
          <a:ln/>
        </p:spPr>
        <p:txBody>
          <a:bodyPr wrap="square" lIns="0" tIns="0" rIns="0" bIns="0" rtlCol="0" anchor="ctr"/>
          <a:lstStyle/>
          <a:p>
            <a:pPr marL="0" indent="0" algn="l">
              <a:buNone/>
            </a:pPr>
            <a:r>
              <a:rPr lang="en-US" sz="1400" b="1" dirty="0">
                <a:solidFill>
                  <a:srgbClr val="1B2B24"/>
                </a:solidFill>
              </a:rPr>
              <a:t>Chế biến</a:t>
            </a:r>
            <a:endParaRPr lang="en-US" sz="1400" dirty="0"/>
          </a:p>
          <a:p>
            <a:pPr marL="0" indent="0" algn="l">
              <a:buNone/>
            </a:pPr>
            <a:r>
              <a:rPr lang="en-US" sz="1200" dirty="0">
                <a:solidFill>
                  <a:srgbClr val="1B2B24"/>
                </a:solidFill>
              </a:rPr>
              <a:t>Thuê gia công liên kết</a:t>
            </a:r>
            <a:endParaRPr lang="en-US" sz="1400" dirty="0"/>
          </a:p>
        </p:txBody>
      </p:sp>
      <p:sp>
        <p:nvSpPr>
          <p:cNvPr id="12" name="Cong doan 3"/>
          <p:cNvSpPr/>
          <p:nvPr/>
        </p:nvSpPr>
        <p:spPr>
          <a:xfrm>
            <a:off x="6123280" y="1691640"/>
            <a:ext cx="2732456" cy="640080"/>
          </a:xfrm>
          <a:prstGeom prst="homePlate">
            <a:avLst/>
          </a:prstGeom>
          <a:solidFill>
            <a:srgbClr val="EDF0EE"/>
          </a:solidFill>
          <a:ln w="12700">
            <a:solidFill>
              <a:srgbClr val="D5DED8"/>
            </a:solidFill>
            <a:prstDash val="solid"/>
          </a:ln>
        </p:spPr>
      </p:sp>
      <p:sp>
        <p:nvSpPr>
          <p:cNvPr id="13" name="Chu cong doan 3"/>
          <p:cNvSpPr txBox="1"/>
          <p:nvPr/>
        </p:nvSpPr>
        <p:spPr>
          <a:xfrm>
            <a:off x="6287872" y="1691640"/>
            <a:ext cx="2275256" cy="640080"/>
          </a:xfrm>
          <a:prstGeom prst="rect">
            <a:avLst/>
          </a:prstGeom>
          <a:noFill/>
          <a:ln/>
        </p:spPr>
        <p:txBody>
          <a:bodyPr wrap="square" lIns="0" tIns="0" rIns="0" bIns="0" rtlCol="0" anchor="ctr"/>
          <a:lstStyle/>
          <a:p>
            <a:pPr marL="0" indent="0" algn="l">
              <a:buNone/>
            </a:pPr>
            <a:r>
              <a:rPr lang="en-US" sz="1400" b="1" dirty="0">
                <a:solidFill>
                  <a:srgbClr val="5C6F66"/>
                </a:solidFill>
              </a:rPr>
              <a:t>Sản xuất đạt chuẩn</a:t>
            </a:r>
            <a:endParaRPr lang="en-US" sz="1400" dirty="0"/>
          </a:p>
          <a:p>
            <a:pPr marL="0" indent="0" algn="l">
              <a:buNone/>
            </a:pPr>
            <a:r>
              <a:rPr lang="en-US" sz="1200" dirty="0">
                <a:solidFill>
                  <a:srgbClr val="5C6F66"/>
                </a:solidFill>
              </a:rPr>
              <a:t>Chưa làm</a:t>
            </a:r>
            <a:endParaRPr lang="en-US" sz="1400" dirty="0"/>
          </a:p>
        </p:txBody>
      </p:sp>
      <p:sp>
        <p:nvSpPr>
          <p:cNvPr id="14" name="Cong doan 4"/>
          <p:cNvSpPr/>
          <p:nvPr/>
        </p:nvSpPr>
        <p:spPr>
          <a:xfrm>
            <a:off x="8910599" y="1691640"/>
            <a:ext cx="2732456" cy="640080"/>
          </a:xfrm>
          <a:prstGeom prst="homePlate">
            <a:avLst/>
          </a:prstGeom>
          <a:solidFill>
            <a:srgbClr val="EDF0EE"/>
          </a:solidFill>
          <a:ln w="12700">
            <a:solidFill>
              <a:srgbClr val="D5DED8"/>
            </a:solidFill>
            <a:prstDash val="solid"/>
          </a:ln>
        </p:spPr>
      </p:sp>
      <p:sp>
        <p:nvSpPr>
          <p:cNvPr id="15" name="Chu cong doan 4"/>
          <p:cNvSpPr txBox="1"/>
          <p:nvPr/>
        </p:nvSpPr>
        <p:spPr>
          <a:xfrm>
            <a:off x="9075191" y="1691640"/>
            <a:ext cx="2275256" cy="640080"/>
          </a:xfrm>
          <a:prstGeom prst="rect">
            <a:avLst/>
          </a:prstGeom>
          <a:noFill/>
          <a:ln/>
        </p:spPr>
        <p:txBody>
          <a:bodyPr wrap="square" lIns="0" tIns="0" rIns="0" bIns="0" rtlCol="0" anchor="ctr"/>
          <a:lstStyle/>
          <a:p>
            <a:pPr marL="0" indent="0" algn="l">
              <a:buNone/>
            </a:pPr>
            <a:r>
              <a:rPr lang="en-US" sz="1400" b="1" dirty="0">
                <a:solidFill>
                  <a:srgbClr val="5C6F66"/>
                </a:solidFill>
              </a:rPr>
              <a:t>Xuất khẩu</a:t>
            </a:r>
            <a:endParaRPr lang="en-US" sz="1400" dirty="0"/>
          </a:p>
          <a:p>
            <a:pPr marL="0" indent="0" algn="l">
              <a:buNone/>
            </a:pPr>
            <a:r>
              <a:rPr lang="en-US" sz="1200" dirty="0">
                <a:solidFill>
                  <a:srgbClr val="5C6F66"/>
                </a:solidFill>
              </a:rPr>
              <a:t>Chưa; bán thử trong nước</a:t>
            </a:r>
            <a:endParaRPr lang="en-US" sz="1400" dirty="0"/>
          </a:p>
        </p:txBody>
      </p:sp>
      <p:sp>
        <p:nvSpPr>
          <p:cNvPr id="16" name="Khung VIỆC CẦN LÀM"/>
          <p:cNvSpPr/>
          <p:nvPr/>
        </p:nvSpPr>
        <p:spPr>
          <a:xfrm>
            <a:off x="548640" y="2468880"/>
            <a:ext cx="3840480" cy="3072384"/>
          </a:xfrm>
          <a:prstGeom prst="roundRect">
            <a:avLst>
              <a:gd name="adj" fmla="val 3571"/>
            </a:avLst>
          </a:prstGeom>
          <a:solidFill>
            <a:schemeClr val="bg2"/>
          </a:solidFill>
          <a:ln/>
        </p:spPr>
      </p:sp>
      <p:sp>
        <p:nvSpPr>
          <p:cNvPr id="17" name="Vach mau VIỆC CẦN LÀM"/>
          <p:cNvSpPr/>
          <p:nvPr/>
        </p:nvSpPr>
        <p:spPr>
          <a:xfrm>
            <a:off x="548640" y="2468880"/>
            <a:ext cx="3840480" cy="64008"/>
          </a:xfrm>
          <a:prstGeom prst="rect">
            <a:avLst/>
          </a:prstGeom>
          <a:solidFill>
            <a:srgbClr val="5E9E68"/>
          </a:solidFill>
          <a:ln/>
        </p:spPr>
      </p:sp>
      <p:sp>
        <p:nvSpPr>
          <p:cNvPr id="18" name="Tieu de VIỆC CẦN LÀM"/>
          <p:cNvSpPr txBox="1"/>
          <p:nvPr/>
        </p:nvSpPr>
        <p:spPr>
          <a:xfrm>
            <a:off x="731520" y="2615184"/>
            <a:ext cx="3474720" cy="237744"/>
          </a:xfrm>
          <a:prstGeom prst="rect">
            <a:avLst/>
          </a:prstGeom>
          <a:noFill/>
          <a:ln/>
        </p:spPr>
        <p:txBody>
          <a:bodyPr wrap="square" lIns="0" tIns="0" rIns="0" bIns="0" rtlCol="0" anchor="t"/>
          <a:lstStyle/>
          <a:p>
            <a:pPr marL="0" indent="0" algn="l">
              <a:buNone/>
            </a:pPr>
            <a:r>
              <a:rPr lang="en-US" sz="1200" b="1" kern="0" spc="100" dirty="0">
                <a:solidFill>
                  <a:schemeClr val="accent1"/>
                </a:solidFill>
              </a:rPr>
              <a:t>VIỆC CẦN LÀM</a:t>
            </a:r>
            <a:endParaRPr lang="en-US" sz="1200" dirty="0"/>
          </a:p>
        </p:txBody>
      </p:sp>
      <p:sp>
        <p:nvSpPr>
          <p:cNvPr id="19" name="Noi dung viec can lam"/>
          <p:cNvSpPr txBox="1"/>
          <p:nvPr/>
        </p:nvSpPr>
        <p:spPr>
          <a:xfrm>
            <a:off x="731520" y="2926080"/>
            <a:ext cx="3474720" cy="2542032"/>
          </a:xfrm>
          <a:prstGeom prst="rect">
            <a:avLst/>
          </a:prstGeom>
          <a:noFill/>
          <a:ln/>
        </p:spPr>
        <p:txBody>
          <a:bodyPr wrap="square" lIns="0" tIns="0" rIns="0" bIns="0" rtlCol="0" anchor="t"/>
          <a:lstStyle/>
          <a:p>
            <a:pPr marL="177800" indent="-177800" algn="l">
              <a:spcAft>
                <a:spcPts val="400"/>
              </a:spcAft>
              <a:buSzPct val="100000"/>
              <a:buChar char="•"/>
            </a:pPr>
            <a:r>
              <a:rPr lang="en-US" sz="1400" dirty="0">
                <a:solidFill>
                  <a:schemeClr val="tx1"/>
                </a:solidFill>
              </a:rPr>
              <a:t>Hoàn thiện pháp lý: ngành nghề, chữ ký số, nhãn hiệu, mã vạch GS1</a:t>
            </a:r>
            <a:endParaRPr lang="en-US" sz="1400" dirty="0"/>
          </a:p>
          <a:p>
            <a:pPr marL="177800" indent="-177800" algn="l">
              <a:spcAft>
                <a:spcPts val="400"/>
              </a:spcAft>
              <a:buSzPct val="100000"/>
              <a:buChar char="•"/>
            </a:pPr>
            <a:r>
              <a:rPr lang="en-US" sz="1400" dirty="0">
                <a:solidFill>
                  <a:schemeClr val="tx1"/>
                </a:solidFill>
              </a:rPr>
              <a:t>Ký hợp đồng thu mua với nhà vườn, lập danh sách vùng nguyên liệu</a:t>
            </a:r>
            <a:endParaRPr lang="en-US" sz="1400" dirty="0"/>
          </a:p>
          <a:p>
            <a:pPr marL="177800" indent="-177800" algn="l">
              <a:spcAft>
                <a:spcPts val="400"/>
              </a:spcAft>
              <a:buSzPct val="100000"/>
              <a:buChar char="•"/>
            </a:pPr>
            <a:r>
              <a:rPr lang="en-US" sz="1400" dirty="0">
                <a:solidFill>
                  <a:schemeClr val="tx1"/>
                </a:solidFill>
              </a:rPr>
              <a:t>Dựng truy xuất: nhật ký sản xuất, mã lô, kiểm dư lượng đầu vào</a:t>
            </a:r>
            <a:endParaRPr lang="en-US" sz="1400" dirty="0"/>
          </a:p>
          <a:p>
            <a:pPr marL="177800" indent="-177800" algn="l">
              <a:spcAft>
                <a:spcPts val="400"/>
              </a:spcAft>
              <a:buSzPct val="100000"/>
              <a:buChar char="•"/>
            </a:pPr>
            <a:r>
              <a:rPr lang="en-US" sz="1400" dirty="0">
                <a:solidFill>
                  <a:schemeClr val="tx1"/>
                </a:solidFill>
              </a:rPr>
              <a:t>Chọn đơn vị gia công có ATTP/HACCP; Heragrain giữ quyền duyệt chất lượng</a:t>
            </a:r>
            <a:endParaRPr lang="en-US" sz="1400" dirty="0"/>
          </a:p>
          <a:p>
            <a:pPr marL="177800" indent="-177800" algn="l">
              <a:spcAft>
                <a:spcPts val="400"/>
              </a:spcAft>
              <a:buSzPct val="100000"/>
              <a:buChar char="•"/>
            </a:pPr>
            <a:r>
              <a:rPr lang="en-US" sz="1400" dirty="0">
                <a:solidFill>
                  <a:schemeClr val="tx1"/>
                </a:solidFill>
              </a:rPr>
              <a:t>Làm lô thử, tự công bố sản phẩm, bán thử trong nước</a:t>
            </a:r>
            <a:endParaRPr lang="en-US" sz="1400" dirty="0"/>
          </a:p>
        </p:txBody>
      </p:sp>
      <p:sp>
        <p:nvSpPr>
          <p:cNvPr id="20" name="Khung NHÂN SỰ"/>
          <p:cNvSpPr/>
          <p:nvPr/>
        </p:nvSpPr>
        <p:spPr>
          <a:xfrm>
            <a:off x="4544568" y="2468880"/>
            <a:ext cx="3474720" cy="3072384"/>
          </a:xfrm>
          <a:prstGeom prst="roundRect">
            <a:avLst>
              <a:gd name="adj" fmla="val 3571"/>
            </a:avLst>
          </a:prstGeom>
          <a:solidFill>
            <a:schemeClr val="bg2"/>
          </a:solidFill>
          <a:ln/>
        </p:spPr>
      </p:sp>
      <p:sp>
        <p:nvSpPr>
          <p:cNvPr id="21" name="Vach mau NHÂN SỰ"/>
          <p:cNvSpPr/>
          <p:nvPr/>
        </p:nvSpPr>
        <p:spPr>
          <a:xfrm>
            <a:off x="4544568" y="2468880"/>
            <a:ext cx="3474720" cy="64008"/>
          </a:xfrm>
          <a:prstGeom prst="rect">
            <a:avLst/>
          </a:prstGeom>
          <a:solidFill>
            <a:srgbClr val="5E9E68"/>
          </a:solidFill>
          <a:ln/>
        </p:spPr>
      </p:sp>
      <p:sp>
        <p:nvSpPr>
          <p:cNvPr id="22" name="Tieu de NHÂN SỰ"/>
          <p:cNvSpPr txBox="1"/>
          <p:nvPr/>
        </p:nvSpPr>
        <p:spPr>
          <a:xfrm>
            <a:off x="4727448" y="2615184"/>
            <a:ext cx="3108960" cy="237744"/>
          </a:xfrm>
          <a:prstGeom prst="rect">
            <a:avLst/>
          </a:prstGeom>
          <a:noFill/>
          <a:ln/>
        </p:spPr>
        <p:txBody>
          <a:bodyPr wrap="square" lIns="0" tIns="0" rIns="0" bIns="0" rtlCol="0" anchor="t"/>
          <a:lstStyle/>
          <a:p>
            <a:pPr marL="0" indent="0" algn="l">
              <a:buNone/>
            </a:pPr>
            <a:r>
              <a:rPr lang="en-US" sz="1200" b="1" kern="0" spc="100" dirty="0">
                <a:solidFill>
                  <a:schemeClr val="accent1"/>
                </a:solidFill>
              </a:rPr>
              <a:t>NHÂN SỰ</a:t>
            </a:r>
            <a:endParaRPr lang="en-US" sz="1200" dirty="0"/>
          </a:p>
        </p:txBody>
      </p:sp>
      <p:sp>
        <p:nvSpPr>
          <p:cNvPr id="23" name="Tong nhan su"/>
          <p:cNvSpPr txBox="1"/>
          <p:nvPr/>
        </p:nvSpPr>
        <p:spPr>
          <a:xfrm>
            <a:off x="4727448" y="2871216"/>
            <a:ext cx="3108960" cy="457200"/>
          </a:xfrm>
          <a:prstGeom prst="rect">
            <a:avLst/>
          </a:prstGeom>
          <a:noFill/>
          <a:ln/>
        </p:spPr>
        <p:txBody>
          <a:bodyPr wrap="square" lIns="0" tIns="0" rIns="0" bIns="0" rtlCol="0" anchor="ctr"/>
          <a:lstStyle/>
          <a:p>
            <a:pPr marL="0" indent="0" algn="l">
              <a:buNone/>
            </a:pPr>
            <a:r>
              <a:rPr lang="en-US" sz="2800" b="1" dirty="0">
                <a:solidFill>
                  <a:schemeClr val="accent1"/>
                </a:solidFill>
                <a:latin typeface="+mj-lt" pitchFamily="34" charset="0"/>
                <a:ea typeface="+mj-lt" pitchFamily="34" charset="-122"/>
                <a:cs typeface="+mj-lt" pitchFamily="34" charset="-120"/>
              </a:rPr>
              <a:t>9–12</a:t>
            </a:r>
            <a:r>
              <a:rPr lang="en-US" sz="1400" b="1" dirty="0">
                <a:solidFill>
                  <a:schemeClr val="accent1"/>
                </a:solidFill>
              </a:rPr>
              <a:t> người</a:t>
            </a:r>
            <a:endParaRPr lang="en-US" sz="1400" dirty="0"/>
          </a:p>
        </p:txBody>
      </p:sp>
      <p:sp>
        <p:nvSpPr>
          <p:cNvPr id="24" name="Tuyen moi"/>
          <p:cNvSpPr txBox="1"/>
          <p:nvPr/>
        </p:nvSpPr>
        <p:spPr>
          <a:xfrm>
            <a:off x="4727448" y="3346704"/>
            <a:ext cx="3108960" cy="237744"/>
          </a:xfrm>
          <a:prstGeom prst="rect">
            <a:avLst/>
          </a:prstGeom>
          <a:noFill/>
          <a:ln/>
        </p:spPr>
        <p:txBody>
          <a:bodyPr wrap="square" lIns="0" tIns="0" rIns="0" bIns="0" rtlCol="0" anchor="t"/>
          <a:lstStyle/>
          <a:p>
            <a:pPr marL="0" indent="0" algn="l">
              <a:buNone/>
            </a:pPr>
            <a:r>
              <a:rPr lang="en-US" sz="1200" b="1" dirty="0">
                <a:solidFill>
                  <a:schemeClr val="accent6"/>
                </a:solidFill>
              </a:rPr>
              <a:t>Tuyển mới: toàn bộ đội ngũ ban đầu</a:t>
            </a:r>
            <a:endParaRPr lang="en-US" sz="1200" dirty="0"/>
          </a:p>
        </p:txBody>
      </p:sp>
      <p:sp>
        <p:nvSpPr>
          <p:cNvPr id="25" name="Ten bo phan"/>
          <p:cNvSpPr txBox="1"/>
          <p:nvPr/>
        </p:nvSpPr>
        <p:spPr>
          <a:xfrm>
            <a:off x="4727448" y="3657600"/>
            <a:ext cx="2377440" cy="1783080"/>
          </a:xfrm>
          <a:prstGeom prst="rect">
            <a:avLst/>
          </a:prstGeom>
          <a:noFill/>
          <a:ln/>
        </p:spPr>
        <p:txBody>
          <a:bodyPr wrap="square" lIns="0" tIns="0" rIns="0" bIns="0" rtlCol="0" anchor="t"/>
          <a:lstStyle/>
          <a:p>
            <a:pPr marL="0" indent="0" algn="l">
              <a:spcAft>
                <a:spcPts val="400"/>
              </a:spcAft>
              <a:buNone/>
            </a:pPr>
            <a:r>
              <a:rPr lang="en-US" sz="1400" dirty="0">
                <a:solidFill>
                  <a:schemeClr val="tx1"/>
                </a:solidFill>
              </a:rPr>
              <a:t>Giám đốc điều hành</a:t>
            </a:r>
            <a:endParaRPr lang="en-US" sz="1400" dirty="0"/>
          </a:p>
          <a:p>
            <a:pPr marL="0" indent="0" algn="l">
              <a:spcAft>
                <a:spcPts val="400"/>
              </a:spcAft>
              <a:buNone/>
            </a:pPr>
            <a:r>
              <a:rPr lang="en-US" sz="1400" dirty="0">
                <a:solidFill>
                  <a:schemeClr val="tx1"/>
                </a:solidFill>
              </a:rPr>
              <a:t>Sản xuất và kỹ thuật</a:t>
            </a:r>
            <a:endParaRPr lang="en-US" sz="1400" dirty="0"/>
          </a:p>
          <a:p>
            <a:pPr marL="0" indent="0" algn="l">
              <a:spcAft>
                <a:spcPts val="400"/>
              </a:spcAft>
              <a:buNone/>
            </a:pPr>
            <a:r>
              <a:rPr lang="en-US" sz="1400" dirty="0">
                <a:solidFill>
                  <a:schemeClr val="tx1"/>
                </a:solidFill>
              </a:rPr>
              <a:t>QA/QC và ATTP</a:t>
            </a:r>
            <a:endParaRPr lang="en-US" sz="1400" dirty="0"/>
          </a:p>
          <a:p>
            <a:pPr marL="0" indent="0" algn="l">
              <a:spcAft>
                <a:spcPts val="400"/>
              </a:spcAft>
              <a:buNone/>
            </a:pPr>
            <a:r>
              <a:rPr lang="en-US" sz="1400" dirty="0">
                <a:solidFill>
                  <a:schemeClr val="tx1"/>
                </a:solidFill>
              </a:rPr>
              <a:t>Vùng nguyên liệu, TXNG</a:t>
            </a:r>
            <a:endParaRPr lang="en-US" sz="1400" dirty="0"/>
          </a:p>
          <a:p>
            <a:pPr marL="0" indent="0" algn="l">
              <a:spcAft>
                <a:spcPts val="400"/>
              </a:spcAft>
              <a:buNone/>
            </a:pPr>
            <a:r>
              <a:rPr lang="en-US" sz="1400" dirty="0">
                <a:solidFill>
                  <a:schemeClr val="tx1"/>
                </a:solidFill>
              </a:rPr>
              <a:t>Kho và logistics</a:t>
            </a:r>
            <a:endParaRPr lang="en-US" sz="1400" dirty="0"/>
          </a:p>
          <a:p>
            <a:pPr marL="0" indent="0" algn="l">
              <a:spcAft>
                <a:spcPts val="400"/>
              </a:spcAft>
              <a:buNone/>
            </a:pPr>
            <a:r>
              <a:rPr lang="en-US" sz="1400" dirty="0">
                <a:solidFill>
                  <a:schemeClr val="tx1"/>
                </a:solidFill>
              </a:rPr>
              <a:t>Xuất khẩu, thị trường</a:t>
            </a:r>
            <a:endParaRPr lang="en-US" sz="1400" dirty="0"/>
          </a:p>
          <a:p>
            <a:pPr marL="0" indent="0" algn="l">
              <a:spcAft>
                <a:spcPts val="400"/>
              </a:spcAft>
              <a:buNone/>
            </a:pPr>
            <a:r>
              <a:rPr lang="en-US" sz="1400" dirty="0">
                <a:solidFill>
                  <a:schemeClr val="tx1"/>
                </a:solidFill>
              </a:rPr>
              <a:t>Hành chính, kế toán</a:t>
            </a:r>
            <a:endParaRPr lang="en-US" sz="1400" dirty="0"/>
          </a:p>
        </p:txBody>
      </p:sp>
      <p:sp>
        <p:nvSpPr>
          <p:cNvPr id="26" name="So nguoi bo phan"/>
          <p:cNvSpPr txBox="1"/>
          <p:nvPr/>
        </p:nvSpPr>
        <p:spPr>
          <a:xfrm>
            <a:off x="7059168" y="3657600"/>
            <a:ext cx="777240" cy="1783080"/>
          </a:xfrm>
          <a:prstGeom prst="rect">
            <a:avLst/>
          </a:prstGeom>
          <a:noFill/>
          <a:ln/>
        </p:spPr>
        <p:txBody>
          <a:bodyPr wrap="square" lIns="0" tIns="0" rIns="0" bIns="0" rtlCol="0" anchor="t"/>
          <a:lstStyle/>
          <a:p>
            <a:pPr marL="0" indent="0" algn="r">
              <a:spcAft>
                <a:spcPts val="400"/>
              </a:spcAft>
              <a:buNone/>
            </a:pPr>
            <a:r>
              <a:rPr lang="en-US" sz="1400" b="1" dirty="0">
                <a:solidFill>
                  <a:schemeClr val="accent1"/>
                </a:solidFill>
              </a:rPr>
              <a:t>1</a:t>
            </a:r>
            <a:endParaRPr lang="en-US" sz="1400" dirty="0"/>
          </a:p>
          <a:p>
            <a:pPr marL="0" indent="0" algn="r">
              <a:spcAft>
                <a:spcPts val="400"/>
              </a:spcAft>
              <a:buNone/>
            </a:pPr>
            <a:r>
              <a:rPr lang="en-US" sz="1400" b="1" dirty="0">
                <a:solidFill>
                  <a:schemeClr val="accent1"/>
                </a:solidFill>
              </a:rPr>
              <a:t>1–2</a:t>
            </a:r>
            <a:endParaRPr lang="en-US" sz="1400" dirty="0"/>
          </a:p>
          <a:p>
            <a:pPr marL="0" indent="0" algn="r">
              <a:spcAft>
                <a:spcPts val="400"/>
              </a:spcAft>
              <a:buNone/>
            </a:pPr>
            <a:r>
              <a:rPr lang="en-US" sz="1400" b="1" dirty="0">
                <a:solidFill>
                  <a:schemeClr val="accent1"/>
                </a:solidFill>
              </a:rPr>
              <a:t>1–2</a:t>
            </a:r>
            <a:endParaRPr lang="en-US" sz="1400" dirty="0"/>
          </a:p>
          <a:p>
            <a:pPr marL="0" indent="0" algn="r">
              <a:spcAft>
                <a:spcPts val="400"/>
              </a:spcAft>
              <a:buNone/>
            </a:pPr>
            <a:r>
              <a:rPr lang="en-US" sz="1400" b="1" dirty="0">
                <a:solidFill>
                  <a:schemeClr val="accent1"/>
                </a:solidFill>
              </a:rPr>
              <a:t>2–3</a:t>
            </a:r>
            <a:endParaRPr lang="en-US" sz="1400" dirty="0"/>
          </a:p>
          <a:p>
            <a:pPr marL="0" indent="0" algn="r">
              <a:spcAft>
                <a:spcPts val="400"/>
              </a:spcAft>
              <a:buNone/>
            </a:pPr>
            <a:r>
              <a:rPr lang="en-US" sz="1400" b="1" dirty="0">
                <a:solidFill>
                  <a:schemeClr val="accent1"/>
                </a:solidFill>
              </a:rPr>
              <a:t>1</a:t>
            </a:r>
            <a:endParaRPr lang="en-US" sz="1400" dirty="0"/>
          </a:p>
          <a:p>
            <a:pPr marL="0" indent="0" algn="r">
              <a:spcAft>
                <a:spcPts val="400"/>
              </a:spcAft>
              <a:buNone/>
            </a:pPr>
            <a:r>
              <a:rPr lang="en-US" sz="1400" b="1" dirty="0">
                <a:solidFill>
                  <a:schemeClr val="accent1"/>
                </a:solidFill>
              </a:rPr>
              <a:t>1</a:t>
            </a:r>
            <a:endParaRPr lang="en-US" sz="1400" dirty="0"/>
          </a:p>
          <a:p>
            <a:pPr marL="0" indent="0" algn="r">
              <a:spcAft>
                <a:spcPts val="400"/>
              </a:spcAft>
              <a:buNone/>
            </a:pPr>
            <a:r>
              <a:rPr lang="en-US" sz="1400" b="1" dirty="0">
                <a:solidFill>
                  <a:schemeClr val="accent1"/>
                </a:solidFill>
              </a:rPr>
              <a:t>2</a:t>
            </a:r>
            <a:endParaRPr lang="en-US" sz="1400" dirty="0"/>
          </a:p>
        </p:txBody>
      </p:sp>
      <p:sp>
        <p:nvSpPr>
          <p:cNvPr id="27" name="Khung ĐẠT ĐƯỢC KHI KẾT THÚC"/>
          <p:cNvSpPr/>
          <p:nvPr/>
        </p:nvSpPr>
        <p:spPr>
          <a:xfrm>
            <a:off x="8174736" y="2468880"/>
            <a:ext cx="3468319" cy="3072384"/>
          </a:xfrm>
          <a:prstGeom prst="roundRect">
            <a:avLst>
              <a:gd name="adj" fmla="val 3571"/>
            </a:avLst>
          </a:prstGeom>
          <a:solidFill>
            <a:schemeClr val="bg2"/>
          </a:solidFill>
          <a:ln/>
        </p:spPr>
      </p:sp>
      <p:sp>
        <p:nvSpPr>
          <p:cNvPr id="28" name="Vach mau ĐẠT ĐƯỢC KHI KẾT THÚC"/>
          <p:cNvSpPr/>
          <p:nvPr/>
        </p:nvSpPr>
        <p:spPr>
          <a:xfrm>
            <a:off x="8174736" y="2468880"/>
            <a:ext cx="3468319" cy="64008"/>
          </a:xfrm>
          <a:prstGeom prst="rect">
            <a:avLst/>
          </a:prstGeom>
          <a:solidFill>
            <a:srgbClr val="5E9E68"/>
          </a:solidFill>
          <a:ln/>
        </p:spPr>
      </p:sp>
      <p:sp>
        <p:nvSpPr>
          <p:cNvPr id="29" name="Tieu de ĐẠT ĐƯỢC KHI KẾT THÚC"/>
          <p:cNvSpPr txBox="1"/>
          <p:nvPr/>
        </p:nvSpPr>
        <p:spPr>
          <a:xfrm>
            <a:off x="8357616" y="2615184"/>
            <a:ext cx="3102559" cy="237744"/>
          </a:xfrm>
          <a:prstGeom prst="rect">
            <a:avLst/>
          </a:prstGeom>
          <a:noFill/>
          <a:ln/>
        </p:spPr>
        <p:txBody>
          <a:bodyPr wrap="square" lIns="0" tIns="0" rIns="0" bIns="0" rtlCol="0" anchor="t"/>
          <a:lstStyle/>
          <a:p>
            <a:pPr marL="0" indent="0" algn="l">
              <a:buNone/>
            </a:pPr>
            <a:r>
              <a:rPr lang="en-US" sz="1200" b="1" kern="0" spc="100" dirty="0">
                <a:solidFill>
                  <a:schemeClr val="accent1"/>
                </a:solidFill>
              </a:rPr>
              <a:t>ĐẠT ĐƯỢC KHI KẾT THÚC</a:t>
            </a:r>
            <a:endParaRPr lang="en-US" sz="1200" dirty="0"/>
          </a:p>
        </p:txBody>
      </p:sp>
      <p:sp>
        <p:nvSpPr>
          <p:cNvPr id="30" name="Giấy đăng ký HTX (khung)"/>
          <p:cNvSpPr/>
          <p:nvPr/>
        </p:nvSpPr>
        <p:spPr>
          <a:xfrm>
            <a:off x="8330184" y="2898648"/>
            <a:ext cx="1560424" cy="800608"/>
          </a:xfrm>
          <a:prstGeom prst="rect">
            <a:avLst/>
          </a:prstGeom>
          <a:solidFill>
            <a:srgbClr val="FFFFFF"/>
          </a:solidFill>
          <a:ln w="9525">
            <a:solidFill>
              <a:srgbClr val="D5DED8"/>
            </a:solidFill>
            <a:prstDash val="solid"/>
          </a:ln>
          <a:effectLst>
            <a:outerShdw blurRad="76200" dist="25400" dir="5400000" algn="bl" rotWithShape="0">
              <a:srgbClr val="000000">
                <a:alpha val="16000"/>
              </a:srgbClr>
            </a:outerShdw>
          </a:effectLst>
        </p:spPr>
      </p:sp>
      <p:pic>
        <p:nvPicPr>
          <p:cNvPr id="31" name="Giấy đăng ký HTX" descr="Giấy đăng ký HTX"/>
          <p:cNvPicPr>
            <a:picLocks noChangeAspect="1"/>
          </p:cNvPicPr>
          <p:nvPr/>
        </p:nvPicPr>
        <p:blipFill>
          <a:blip r:embed="rId3"/>
          <a:stretch>
            <a:fillRect/>
          </a:stretch>
        </p:blipFill>
        <p:spPr>
          <a:xfrm>
            <a:off x="8357616" y="2926080"/>
            <a:ext cx="1505560" cy="745744"/>
          </a:xfrm>
          <a:prstGeom prst="rect">
            <a:avLst/>
          </a:prstGeom>
        </p:spPr>
      </p:pic>
      <p:sp>
        <p:nvSpPr>
          <p:cNvPr id="32" name="Mẫu GCN mã số mã vạch GS1 (khung)"/>
          <p:cNvSpPr/>
          <p:nvPr/>
        </p:nvSpPr>
        <p:spPr>
          <a:xfrm>
            <a:off x="10043490" y="2898648"/>
            <a:ext cx="1327811" cy="969264"/>
          </a:xfrm>
          <a:prstGeom prst="rect">
            <a:avLst/>
          </a:prstGeom>
          <a:solidFill>
            <a:srgbClr val="FFFFFF"/>
          </a:solidFill>
          <a:ln w="9525">
            <a:solidFill>
              <a:srgbClr val="D5DED8"/>
            </a:solidFill>
            <a:prstDash val="solid"/>
          </a:ln>
          <a:effectLst>
            <a:outerShdw blurRad="76200" dist="25400" dir="5400000" algn="bl" rotWithShape="0">
              <a:srgbClr val="000000">
                <a:alpha val="16000"/>
              </a:srgbClr>
            </a:outerShdw>
          </a:effectLst>
        </p:spPr>
      </p:sp>
      <p:pic>
        <p:nvPicPr>
          <p:cNvPr id="33" name="Mẫu GCN mã số mã vạch GS1" descr="Mẫu GCN mã số mã vạch GS1"/>
          <p:cNvPicPr>
            <a:picLocks noChangeAspect="1"/>
          </p:cNvPicPr>
          <p:nvPr/>
        </p:nvPicPr>
        <p:blipFill>
          <a:blip r:embed="rId4"/>
          <a:stretch>
            <a:fillRect/>
          </a:stretch>
        </p:blipFill>
        <p:spPr>
          <a:xfrm>
            <a:off x="10070922" y="2926080"/>
            <a:ext cx="1272947" cy="914400"/>
          </a:xfrm>
          <a:prstGeom prst="rect">
            <a:avLst/>
          </a:prstGeom>
        </p:spPr>
      </p:pic>
      <p:sp>
        <p:nvSpPr>
          <p:cNvPr id="34" name="Chu thich hinh"/>
          <p:cNvSpPr txBox="1"/>
          <p:nvPr/>
        </p:nvSpPr>
        <p:spPr>
          <a:xfrm>
            <a:off x="8357616" y="3895344"/>
            <a:ext cx="3102559" cy="219456"/>
          </a:xfrm>
          <a:prstGeom prst="rect">
            <a:avLst/>
          </a:prstGeom>
          <a:noFill/>
          <a:ln/>
        </p:spPr>
        <p:txBody>
          <a:bodyPr wrap="square" lIns="0" tIns="0" rIns="0" bIns="0" rtlCol="0" anchor="t"/>
          <a:lstStyle/>
          <a:p>
            <a:pPr marL="0" indent="0" algn="l">
              <a:buNone/>
            </a:pPr>
            <a:r>
              <a:rPr lang="en-US" sz="1100" dirty="0">
                <a:solidFill>
                  <a:srgbClr val="5C6F66"/>
                </a:solidFill>
              </a:rPr>
              <a:t>Minh họa: giấy đăng ký HTX, mã số mã vạch GS1</a:t>
            </a:r>
            <a:endParaRPr lang="en-US" sz="1100" dirty="0"/>
          </a:p>
        </p:txBody>
      </p:sp>
      <p:sp>
        <p:nvSpPr>
          <p:cNvPr id="35" name="Moc hoan thanh"/>
          <p:cNvSpPr txBox="1"/>
          <p:nvPr/>
        </p:nvSpPr>
        <p:spPr>
          <a:xfrm>
            <a:off x="8357616" y="4187952"/>
            <a:ext cx="3102559" cy="1298448"/>
          </a:xfrm>
          <a:prstGeom prst="rect">
            <a:avLst/>
          </a:prstGeom>
          <a:noFill/>
          <a:ln/>
        </p:spPr>
        <p:txBody>
          <a:bodyPr wrap="square" lIns="0" tIns="0" rIns="0" bIns="0" rtlCol="0" anchor="t"/>
          <a:lstStyle/>
          <a:p>
            <a:pPr marL="177800" indent="-177800" algn="l">
              <a:spcAft>
                <a:spcPts val="300"/>
              </a:spcAft>
              <a:buSzPct val="100000"/>
              <a:buChar char="•"/>
            </a:pPr>
            <a:r>
              <a:rPr lang="en-US" sz="1400" dirty="0">
                <a:solidFill>
                  <a:schemeClr val="tx1"/>
                </a:solidFill>
              </a:rPr>
              <a:t>Nhà vườn đầu tiên đã ký hợp đồng</a:t>
            </a:r>
            <a:endParaRPr lang="en-US" sz="1400" dirty="0"/>
          </a:p>
          <a:p>
            <a:pPr marL="177800" indent="-177800" algn="l">
              <a:spcAft>
                <a:spcPts val="300"/>
              </a:spcAft>
              <a:buSzPct val="100000"/>
              <a:buChar char="•"/>
            </a:pPr>
            <a:r>
              <a:rPr lang="en-US" sz="1400" dirty="0">
                <a:solidFill>
                  <a:schemeClr val="tx1"/>
                </a:solidFill>
              </a:rPr>
              <a:t>Lô thử đạt kiểm nghiệm, đã tự công bố</a:t>
            </a:r>
            <a:endParaRPr lang="en-US" sz="1400" dirty="0"/>
          </a:p>
          <a:p>
            <a:pPr marL="177800" indent="-177800" algn="l">
              <a:spcAft>
                <a:spcPts val="300"/>
              </a:spcAft>
              <a:buSzPct val="100000"/>
              <a:buChar char="•"/>
            </a:pPr>
            <a:r>
              <a:rPr lang="en-US" sz="1400" dirty="0">
                <a:solidFill>
                  <a:schemeClr val="tx1"/>
                </a:solidFill>
              </a:rPr>
              <a:t>Đã chốt địa điểm xưởng riêng</a:t>
            </a:r>
            <a:endParaRPr lang="en-US" sz="1400" dirty="0"/>
          </a:p>
        </p:txBody>
      </p:sp>
      <p:sp>
        <p:nvSpPr>
          <p:cNvPr id="36" name="Khung quyet dinh"/>
          <p:cNvSpPr/>
          <p:nvPr/>
        </p:nvSpPr>
        <p:spPr>
          <a:xfrm>
            <a:off x="548640" y="5614416"/>
            <a:ext cx="11094415" cy="548640"/>
          </a:xfrm>
          <a:prstGeom prst="roundRect">
            <a:avLst>
              <a:gd name="adj" fmla="val 20000"/>
            </a:avLst>
          </a:prstGeom>
          <a:solidFill>
            <a:srgbClr val="FBF1D8"/>
          </a:solidFill>
          <a:ln/>
        </p:spPr>
      </p:sp>
      <p:sp>
        <p:nvSpPr>
          <p:cNvPr id="37" name="Vach quyet dinh"/>
          <p:cNvSpPr/>
          <p:nvPr/>
        </p:nvSpPr>
        <p:spPr>
          <a:xfrm>
            <a:off x="548640" y="5614416"/>
            <a:ext cx="73152" cy="548640"/>
          </a:xfrm>
          <a:prstGeom prst="rect">
            <a:avLst/>
          </a:prstGeom>
          <a:solidFill>
            <a:schemeClr val="accent2"/>
          </a:solidFill>
          <a:ln/>
        </p:spPr>
      </p:sp>
      <p:sp>
        <p:nvSpPr>
          <p:cNvPr id="38" name="Chu quyet dinh"/>
          <p:cNvSpPr txBox="1"/>
          <p:nvPr/>
        </p:nvSpPr>
        <p:spPr>
          <a:xfrm>
            <a:off x="777240" y="5614416"/>
            <a:ext cx="10682935" cy="548640"/>
          </a:xfrm>
          <a:prstGeom prst="rect">
            <a:avLst/>
          </a:prstGeom>
          <a:noFill/>
          <a:ln/>
        </p:spPr>
        <p:txBody>
          <a:bodyPr wrap="square" lIns="0" tIns="0" rIns="0" bIns="0" rtlCol="0" anchor="ctr"/>
          <a:lstStyle/>
          <a:p>
            <a:pPr marL="0" indent="0" algn="l">
              <a:buNone/>
            </a:pPr>
            <a:r>
              <a:rPr lang="en-US" sz="1400" b="1" dirty="0">
                <a:solidFill>
                  <a:schemeClr val="accent6"/>
                </a:solidFill>
              </a:rPr>
              <a:t>BAN LÃNH ĐẠO QUYẾT ĐỊNH: </a:t>
            </a:r>
            <a:r>
              <a:rPr lang="en-US" sz="1400" dirty="0">
                <a:solidFill>
                  <a:schemeClr val="tx1"/>
                </a:solidFill>
              </a:rPr>
              <a:t>Bổ nhiệm Giám đốc điều hành và Trưởng QA ngay từ đầu; duyệt ngân sách giai đoạn 1; chọn đơn vị gia công và chốt địa điểm xưởng riêng trước khi kết thúc giai đoạn.</a:t>
            </a:r>
            <a:endParaRPr lang="en-US" sz="1400" dirty="0"/>
          </a:p>
        </p:txBody>
      </p:sp>
      <p:sp>
        <p:nvSpPr>
          <p:cNvPr id="39" name="Nguon"/>
          <p:cNvSpPr txBox="1"/>
          <p:nvPr/>
        </p:nvSpPr>
        <p:spPr>
          <a:xfrm>
            <a:off x="548640" y="6217920"/>
            <a:ext cx="11094415" cy="201168"/>
          </a:xfrm>
          <a:prstGeom prst="rect">
            <a:avLst/>
          </a:prstGeom>
          <a:noFill/>
          <a:ln/>
        </p:spPr>
        <p:txBody>
          <a:bodyPr wrap="square" lIns="0" tIns="0" rIns="0" bIns="0" rtlCol="0" anchor="t"/>
          <a:lstStyle/>
          <a:p>
            <a:pPr marL="0" indent="0" algn="l">
              <a:buNone/>
            </a:pPr>
            <a:r>
              <a:rPr lang="en-US" sz="1000" dirty="0">
                <a:solidFill>
                  <a:srgbClr val="5C6F66"/>
                </a:solidFill>
              </a:rPr>
              <a:t>Căn cứ: đề xuất của tư vấn; tham chiếu mô hình liên kết nhà vườn của Green Tropical, Vinamit, Nafoods. Hợp đồng và nhân sự: ước tính. Đơn vị gia công cần thẩm định ATTP/HACCP.</a:t>
            </a:r>
            <a:endParaRPr lang="en-US" sz="1000" dirty="0"/>
          </a:p>
        </p:txBody>
      </p:sp>
      <p:sp>
        <p:nvSpPr>
          <p:cNvPr id="2" name="Slide Number Placeholder 0"/>
          <p:cNvSpPr>
            <a:spLocks noGrp="1"/>
          </p:cNvSpPr>
          <p:nvPr>
            <p:ph type="sldNum" sz="quarter" idx="4294967295"/>
          </p:nvPr>
        </p:nvSpPr>
        <p:spPr>
          <a:xfrm>
            <a:off x="10972800" y="6492240"/>
            <a:ext cx="667512" cy="237744"/>
          </a:xfrm>
          <a:prstGeom prst="rect">
            <a:avLst/>
          </a:prstGeom>
          <a:extLst>
            <a:ext uri="{C572A759-6A51-4108-AA02-DFA0A04FC94B}">
              <ma14:wrappingTextBoxFlag xmlns:ma14="http://schemas.microsoft.com/office/mac/drawingml/2011/main" xmlns="" val="0"/>
            </a:ext>
          </a:extLst>
        </p:spPr>
        <p:txBody>
          <a:bodyPr/>
          <a:lstStyle>
            <a:lvl1pPr>
              <a:defRPr sz="1000">
                <a:solidFill>
                  <a:srgbClr val="5C6F66"/>
                </a:solidFill>
              </a:defRPr>
            </a:lvl1pPr>
          </a:lstStyle>
          <a:p>
            <a:pPr algn="r"/>
            <a:fld id="{F7021451-1387-4CA6-816F-3879F97B5CBC}" type="slidenum">
              <a:rPr lang="en-US" b="0"/>
              <a:t>5</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Dau cham"/>
          <p:cNvSpPr/>
          <p:nvPr/>
        </p:nvSpPr>
        <p:spPr>
          <a:xfrm>
            <a:off x="548640" y="429768"/>
            <a:ext cx="118872" cy="118872"/>
          </a:xfrm>
          <a:prstGeom prst="ellipse">
            <a:avLst/>
          </a:prstGeom>
          <a:solidFill>
            <a:schemeClr val="accent2"/>
          </a:solidFill>
          <a:ln/>
        </p:spPr>
      </p:sp>
      <p:sp>
        <p:nvSpPr>
          <p:cNvPr id="4" name="Nhan chuyen muc"/>
          <p:cNvSpPr txBox="1"/>
          <p:nvPr/>
        </p:nvSpPr>
        <p:spPr>
          <a:xfrm>
            <a:off x="777240" y="347472"/>
            <a:ext cx="6949440" cy="274320"/>
          </a:xfrm>
          <a:prstGeom prst="rect">
            <a:avLst/>
          </a:prstGeom>
          <a:noFill/>
          <a:ln/>
        </p:spPr>
        <p:txBody>
          <a:bodyPr wrap="square" lIns="0" tIns="0" rIns="0" bIns="0" rtlCol="0" anchor="ctr"/>
          <a:lstStyle/>
          <a:p>
            <a:pPr marL="0" indent="0" algn="l">
              <a:buNone/>
            </a:pPr>
            <a:r>
              <a:rPr lang="en-US" sz="1200" b="1" kern="0" spc="200" dirty="0">
                <a:solidFill>
                  <a:schemeClr val="accent1"/>
                </a:solidFill>
              </a:rPr>
              <a:t>LỘ TRÌNH THEO GIAI ĐOẠN</a:t>
            </a:r>
            <a:endParaRPr lang="en-US" sz="1200" dirty="0"/>
          </a:p>
        </p:txBody>
      </p:sp>
      <p:sp>
        <p:nvSpPr>
          <p:cNvPr id="5" name="Nhan giai doan"/>
          <p:cNvSpPr/>
          <p:nvPr/>
        </p:nvSpPr>
        <p:spPr>
          <a:xfrm>
            <a:off x="8625535" y="347472"/>
            <a:ext cx="3017520" cy="274320"/>
          </a:xfrm>
          <a:prstGeom prst="roundRect">
            <a:avLst>
              <a:gd name="adj" fmla="val 26667"/>
            </a:avLst>
          </a:prstGeom>
          <a:solidFill>
            <a:srgbClr val="1D4B3A"/>
          </a:solidFill>
          <a:ln/>
        </p:spPr>
      </p:sp>
      <p:sp>
        <p:nvSpPr>
          <p:cNvPr id="6" name="Chu nhan giai doan"/>
          <p:cNvSpPr txBox="1"/>
          <p:nvPr/>
        </p:nvSpPr>
        <p:spPr>
          <a:xfrm>
            <a:off x="8625535" y="347472"/>
            <a:ext cx="3017520" cy="274320"/>
          </a:xfrm>
          <a:prstGeom prst="rect">
            <a:avLst/>
          </a:prstGeom>
          <a:noFill/>
          <a:ln/>
        </p:spPr>
        <p:txBody>
          <a:bodyPr wrap="square" lIns="0" tIns="0" rIns="0" bIns="0" rtlCol="0" anchor="ctr"/>
          <a:lstStyle/>
          <a:p>
            <a:pPr marL="0" indent="0" algn="ctr">
              <a:buNone/>
            </a:pPr>
            <a:r>
              <a:rPr lang="en-US" sz="1200" b="1" kern="0" spc="50" dirty="0">
                <a:solidFill>
                  <a:srgbClr val="FFFFFF"/>
                </a:solidFill>
              </a:rPr>
              <a:t>GIAI ĐOẠN 2 · Q2 – Q3/2027</a:t>
            </a:r>
            <a:endParaRPr lang="en-US" sz="1200" dirty="0"/>
          </a:p>
        </p:txBody>
      </p:sp>
      <p:sp>
        <p:nvSpPr>
          <p:cNvPr id="7" name="Text 0"/>
          <p:cNvSpPr>
            <a:spLocks noGrp="1"/>
          </p:cNvSpPr>
          <p:nvPr>
            <p:ph type="title" idx="100" hasCustomPrompt="1"/>
          </p:nvPr>
        </p:nvSpPr>
        <p:spPr>
          <a:xfrm>
            <a:off x="548640" y="658368"/>
            <a:ext cx="11094415" cy="777240"/>
          </a:xfrm>
          <a:prstGeom prst="rect">
            <a:avLst/>
          </a:prstGeom>
          <a:noFill/>
          <a:ln/>
        </p:spPr>
        <p:txBody>
          <a:bodyPr wrap="square" lIns="0" tIns="0" rIns="0" bIns="0" rtlCol="0" anchor="ctr"/>
          <a:lstStyle/>
          <a:p>
            <a:pPr marL="0" indent="0" algn="l">
              <a:buNone/>
            </a:pPr>
            <a:r>
              <a:rPr lang="en-US" sz="3000" b="1" dirty="0">
                <a:solidFill>
                  <a:schemeClr val="tx2"/>
                </a:solidFill>
              </a:rPr>
              <a:t>Giai đoạn 2 · Chế biến: có xưởng riêng đạt ATTP</a:t>
            </a:r>
            <a:endParaRPr lang="en-US" sz="3000" dirty="0"/>
          </a:p>
        </p:txBody>
      </p:sp>
      <p:sp>
        <p:nvSpPr>
          <p:cNvPr id="8" name="Cong doan 1"/>
          <p:cNvSpPr/>
          <p:nvPr/>
        </p:nvSpPr>
        <p:spPr>
          <a:xfrm>
            <a:off x="548640" y="1691640"/>
            <a:ext cx="2732456" cy="640080"/>
          </a:xfrm>
          <a:prstGeom prst="homePlate">
            <a:avLst/>
          </a:prstGeom>
          <a:solidFill>
            <a:srgbClr val="1D4B3A"/>
          </a:solidFill>
          <a:ln/>
        </p:spPr>
      </p:sp>
      <p:sp>
        <p:nvSpPr>
          <p:cNvPr id="9" name="Chu cong doan 1"/>
          <p:cNvSpPr txBox="1"/>
          <p:nvPr/>
        </p:nvSpPr>
        <p:spPr>
          <a:xfrm>
            <a:off x="713232" y="1691640"/>
            <a:ext cx="2275256" cy="640080"/>
          </a:xfrm>
          <a:prstGeom prst="rect">
            <a:avLst/>
          </a:prstGeom>
          <a:noFill/>
          <a:ln/>
        </p:spPr>
        <p:txBody>
          <a:bodyPr wrap="square" lIns="0" tIns="0" rIns="0" bIns="0" rtlCol="0" anchor="ctr"/>
          <a:lstStyle/>
          <a:p>
            <a:pPr marL="0" indent="0" algn="l">
              <a:buNone/>
            </a:pPr>
            <a:r>
              <a:rPr lang="en-US" sz="1400" b="1" dirty="0">
                <a:solidFill>
                  <a:srgbClr val="FFFFFF"/>
                </a:solidFill>
              </a:rPr>
              <a:t>Thu mua</a:t>
            </a:r>
            <a:endParaRPr lang="en-US" sz="1400" dirty="0"/>
          </a:p>
          <a:p>
            <a:pPr marL="0" indent="0" algn="l">
              <a:buNone/>
            </a:pPr>
            <a:r>
              <a:rPr lang="en-US" sz="1200" dirty="0">
                <a:solidFill>
                  <a:srgbClr val="D5E6DA"/>
                </a:solidFill>
              </a:rPr>
              <a:t>Heragrain tự làm</a:t>
            </a:r>
            <a:endParaRPr lang="en-US" sz="1400" dirty="0"/>
          </a:p>
        </p:txBody>
      </p:sp>
      <p:sp>
        <p:nvSpPr>
          <p:cNvPr id="10" name="Cong doan 2"/>
          <p:cNvSpPr/>
          <p:nvPr/>
        </p:nvSpPr>
        <p:spPr>
          <a:xfrm>
            <a:off x="3335960" y="1691640"/>
            <a:ext cx="2732456" cy="640080"/>
          </a:xfrm>
          <a:prstGeom prst="homePlate">
            <a:avLst/>
          </a:prstGeom>
          <a:solidFill>
            <a:srgbClr val="1D4B3A"/>
          </a:solidFill>
          <a:ln/>
        </p:spPr>
      </p:sp>
      <p:sp>
        <p:nvSpPr>
          <p:cNvPr id="11" name="Chu cong doan 2"/>
          <p:cNvSpPr txBox="1"/>
          <p:nvPr/>
        </p:nvSpPr>
        <p:spPr>
          <a:xfrm>
            <a:off x="3500552" y="1691640"/>
            <a:ext cx="2275256" cy="640080"/>
          </a:xfrm>
          <a:prstGeom prst="rect">
            <a:avLst/>
          </a:prstGeom>
          <a:noFill/>
          <a:ln/>
        </p:spPr>
        <p:txBody>
          <a:bodyPr wrap="square" lIns="0" tIns="0" rIns="0" bIns="0" rtlCol="0" anchor="ctr"/>
          <a:lstStyle/>
          <a:p>
            <a:pPr marL="0" indent="0" algn="l">
              <a:buNone/>
            </a:pPr>
            <a:r>
              <a:rPr lang="en-US" sz="1400" b="1" dirty="0">
                <a:solidFill>
                  <a:srgbClr val="FFFFFF"/>
                </a:solidFill>
              </a:rPr>
              <a:t>Chế biến</a:t>
            </a:r>
            <a:endParaRPr lang="en-US" sz="1400" dirty="0"/>
          </a:p>
          <a:p>
            <a:pPr marL="0" indent="0" algn="l">
              <a:buNone/>
            </a:pPr>
            <a:r>
              <a:rPr lang="en-US" sz="1200" dirty="0">
                <a:solidFill>
                  <a:srgbClr val="D5E6DA"/>
                </a:solidFill>
              </a:rPr>
              <a:t>Xưởng riêng, tự làm</a:t>
            </a:r>
            <a:endParaRPr lang="en-US" sz="1400" dirty="0"/>
          </a:p>
        </p:txBody>
      </p:sp>
      <p:sp>
        <p:nvSpPr>
          <p:cNvPr id="12" name="Cong doan 3"/>
          <p:cNvSpPr/>
          <p:nvPr/>
        </p:nvSpPr>
        <p:spPr>
          <a:xfrm>
            <a:off x="6123280" y="1691640"/>
            <a:ext cx="2732456" cy="640080"/>
          </a:xfrm>
          <a:prstGeom prst="homePlate">
            <a:avLst/>
          </a:prstGeom>
          <a:solidFill>
            <a:srgbClr val="FBF1D8"/>
          </a:solidFill>
          <a:ln w="12700">
            <a:solidFill>
              <a:srgbClr val="E4A92A"/>
            </a:solidFill>
            <a:prstDash val="solid"/>
          </a:ln>
        </p:spPr>
      </p:sp>
      <p:sp>
        <p:nvSpPr>
          <p:cNvPr id="13" name="Chu cong doan 3"/>
          <p:cNvSpPr txBox="1"/>
          <p:nvPr/>
        </p:nvSpPr>
        <p:spPr>
          <a:xfrm>
            <a:off x="6287872" y="1691640"/>
            <a:ext cx="2275256" cy="640080"/>
          </a:xfrm>
          <a:prstGeom prst="rect">
            <a:avLst/>
          </a:prstGeom>
          <a:noFill/>
          <a:ln/>
        </p:spPr>
        <p:txBody>
          <a:bodyPr wrap="square" lIns="0" tIns="0" rIns="0" bIns="0" rtlCol="0" anchor="ctr"/>
          <a:lstStyle/>
          <a:p>
            <a:pPr marL="0" indent="0" algn="l">
              <a:buNone/>
            </a:pPr>
            <a:r>
              <a:rPr lang="en-US" sz="1400" b="1" dirty="0">
                <a:solidFill>
                  <a:srgbClr val="1B2B24"/>
                </a:solidFill>
              </a:rPr>
              <a:t>Sản xuất đạt chuẩn</a:t>
            </a:r>
            <a:endParaRPr lang="en-US" sz="1400" dirty="0"/>
          </a:p>
          <a:p>
            <a:pPr marL="0" indent="0" algn="l">
              <a:buNone/>
            </a:pPr>
            <a:r>
              <a:rPr lang="en-US" sz="1200" dirty="0">
                <a:solidFill>
                  <a:srgbClr val="1B2B24"/>
                </a:solidFill>
              </a:rPr>
              <a:t>Chuẩn bị: HACCP, chạy thử</a:t>
            </a:r>
            <a:endParaRPr lang="en-US" sz="1400" dirty="0"/>
          </a:p>
        </p:txBody>
      </p:sp>
      <p:sp>
        <p:nvSpPr>
          <p:cNvPr id="14" name="Cong doan 4"/>
          <p:cNvSpPr/>
          <p:nvPr/>
        </p:nvSpPr>
        <p:spPr>
          <a:xfrm>
            <a:off x="8910599" y="1691640"/>
            <a:ext cx="2732456" cy="640080"/>
          </a:xfrm>
          <a:prstGeom prst="homePlate">
            <a:avLst/>
          </a:prstGeom>
          <a:solidFill>
            <a:srgbClr val="EDF0EE"/>
          </a:solidFill>
          <a:ln w="12700">
            <a:solidFill>
              <a:srgbClr val="D5DED8"/>
            </a:solidFill>
            <a:prstDash val="solid"/>
          </a:ln>
        </p:spPr>
      </p:sp>
      <p:sp>
        <p:nvSpPr>
          <p:cNvPr id="15" name="Chu cong doan 4"/>
          <p:cNvSpPr txBox="1"/>
          <p:nvPr/>
        </p:nvSpPr>
        <p:spPr>
          <a:xfrm>
            <a:off x="9075191" y="1691640"/>
            <a:ext cx="2275256" cy="640080"/>
          </a:xfrm>
          <a:prstGeom prst="rect">
            <a:avLst/>
          </a:prstGeom>
          <a:noFill/>
          <a:ln/>
        </p:spPr>
        <p:txBody>
          <a:bodyPr wrap="square" lIns="0" tIns="0" rIns="0" bIns="0" rtlCol="0" anchor="ctr"/>
          <a:lstStyle/>
          <a:p>
            <a:pPr marL="0" indent="0" algn="l">
              <a:buNone/>
            </a:pPr>
            <a:r>
              <a:rPr lang="en-US" sz="1400" b="1" dirty="0">
                <a:solidFill>
                  <a:srgbClr val="5C6F66"/>
                </a:solidFill>
              </a:rPr>
              <a:t>Xuất khẩu</a:t>
            </a:r>
            <a:endParaRPr lang="en-US" sz="1400" dirty="0"/>
          </a:p>
          <a:p>
            <a:pPr marL="0" indent="0" algn="l">
              <a:buNone/>
            </a:pPr>
            <a:r>
              <a:rPr lang="en-US" sz="1200" dirty="0">
                <a:solidFill>
                  <a:srgbClr val="5C6F66"/>
                </a:solidFill>
              </a:rPr>
              <a:t>Chưa; bán trong nước</a:t>
            </a:r>
            <a:endParaRPr lang="en-US" sz="1400" dirty="0"/>
          </a:p>
        </p:txBody>
      </p:sp>
      <p:sp>
        <p:nvSpPr>
          <p:cNvPr id="16" name="Khung VIỆC CẦN LÀM"/>
          <p:cNvSpPr/>
          <p:nvPr/>
        </p:nvSpPr>
        <p:spPr>
          <a:xfrm>
            <a:off x="548640" y="2468880"/>
            <a:ext cx="3840480" cy="3072384"/>
          </a:xfrm>
          <a:prstGeom prst="roundRect">
            <a:avLst>
              <a:gd name="adj" fmla="val 3571"/>
            </a:avLst>
          </a:prstGeom>
          <a:solidFill>
            <a:schemeClr val="bg2"/>
          </a:solidFill>
          <a:ln/>
        </p:spPr>
      </p:sp>
      <p:sp>
        <p:nvSpPr>
          <p:cNvPr id="17" name="Vach mau VIỆC CẦN LÀM"/>
          <p:cNvSpPr/>
          <p:nvPr/>
        </p:nvSpPr>
        <p:spPr>
          <a:xfrm>
            <a:off x="548640" y="2468880"/>
            <a:ext cx="3840480" cy="64008"/>
          </a:xfrm>
          <a:prstGeom prst="rect">
            <a:avLst/>
          </a:prstGeom>
          <a:solidFill>
            <a:srgbClr val="1D4B3A"/>
          </a:solidFill>
          <a:ln/>
        </p:spPr>
      </p:sp>
      <p:sp>
        <p:nvSpPr>
          <p:cNvPr id="18" name="Tieu de VIỆC CẦN LÀM"/>
          <p:cNvSpPr txBox="1"/>
          <p:nvPr/>
        </p:nvSpPr>
        <p:spPr>
          <a:xfrm>
            <a:off x="731520" y="2615184"/>
            <a:ext cx="3474720" cy="237744"/>
          </a:xfrm>
          <a:prstGeom prst="rect">
            <a:avLst/>
          </a:prstGeom>
          <a:noFill/>
          <a:ln/>
        </p:spPr>
        <p:txBody>
          <a:bodyPr wrap="square" lIns="0" tIns="0" rIns="0" bIns="0" rtlCol="0" anchor="t"/>
          <a:lstStyle/>
          <a:p>
            <a:pPr marL="0" indent="0" algn="l">
              <a:buNone/>
            </a:pPr>
            <a:r>
              <a:rPr lang="en-US" sz="1200" b="1" kern="0" spc="100" dirty="0">
                <a:solidFill>
                  <a:schemeClr val="accent1"/>
                </a:solidFill>
              </a:rPr>
              <a:t>VIỆC CẦN LÀM</a:t>
            </a:r>
            <a:endParaRPr lang="en-US" sz="1200" dirty="0"/>
          </a:p>
        </p:txBody>
      </p:sp>
      <p:sp>
        <p:nvSpPr>
          <p:cNvPr id="19" name="Noi dung viec can lam"/>
          <p:cNvSpPr txBox="1"/>
          <p:nvPr/>
        </p:nvSpPr>
        <p:spPr>
          <a:xfrm>
            <a:off x="731520" y="2926080"/>
            <a:ext cx="3474720" cy="2542032"/>
          </a:xfrm>
          <a:prstGeom prst="rect">
            <a:avLst/>
          </a:prstGeom>
          <a:noFill/>
          <a:ln/>
        </p:spPr>
        <p:txBody>
          <a:bodyPr wrap="square" lIns="0" tIns="0" rIns="0" bIns="0" rtlCol="0" anchor="t"/>
          <a:lstStyle/>
          <a:p>
            <a:pPr marL="177800" indent="-177800" algn="l">
              <a:spcAft>
                <a:spcPts val="400"/>
              </a:spcAft>
              <a:buSzPct val="100000"/>
              <a:buChar char="•"/>
            </a:pPr>
            <a:r>
              <a:rPr lang="en-US" sz="1400" dirty="0">
                <a:solidFill>
                  <a:schemeClr val="tx1"/>
                </a:solidFill>
              </a:rPr>
              <a:t>Hoàn thiện xưởng, lắp dây chuyền sấy và máy dò kim loại</a:t>
            </a:r>
            <a:endParaRPr lang="en-US" sz="1400" dirty="0"/>
          </a:p>
          <a:p>
            <a:pPr marL="177800" indent="-177800" algn="l">
              <a:spcAft>
                <a:spcPts val="400"/>
              </a:spcAft>
              <a:buSzPct val="100000"/>
              <a:buChar char="•"/>
            </a:pPr>
            <a:r>
              <a:rPr lang="en-US" sz="1400" dirty="0">
                <a:solidFill>
                  <a:schemeClr val="tx1"/>
                </a:solidFill>
              </a:rPr>
              <a:t>Xây HACCP, quy trình chuẩn (SOP); chạy thử từng sản phẩm</a:t>
            </a:r>
            <a:endParaRPr lang="en-US" sz="1400" dirty="0"/>
          </a:p>
          <a:p>
            <a:pPr marL="177800" indent="-177800" algn="l">
              <a:spcAft>
                <a:spcPts val="400"/>
              </a:spcAft>
              <a:buSzPct val="100000"/>
              <a:buChar char="•"/>
            </a:pPr>
            <a:r>
              <a:rPr lang="en-US" sz="1400" dirty="0">
                <a:solidFill>
                  <a:schemeClr val="tx1"/>
                </a:solidFill>
              </a:rPr>
              <a:t>Đào tạo HACCP, khám sức khỏe công nhân</a:t>
            </a:r>
            <a:endParaRPr lang="en-US" sz="1400" dirty="0"/>
          </a:p>
          <a:p>
            <a:pPr marL="177800" indent="-177800" algn="l">
              <a:spcAft>
                <a:spcPts val="400"/>
              </a:spcAft>
              <a:buSzPct val="100000"/>
              <a:buChar char="•"/>
            </a:pPr>
            <a:r>
              <a:rPr lang="en-US" sz="1400" dirty="0">
                <a:solidFill>
                  <a:schemeClr val="tx1"/>
                </a:solidFill>
              </a:rPr>
              <a:t>Xin GCN cơ sở đủ điều kiện ATTP (Nghị định 15/2018); hỏi Sở Nông nghiệp và Môi trường Đắk Lắk về hỗ trợ ISO 22000/HACCP</a:t>
            </a:r>
            <a:endParaRPr lang="en-US" sz="1400" dirty="0"/>
          </a:p>
          <a:p>
            <a:pPr marL="177800" indent="-177800" algn="l">
              <a:spcAft>
                <a:spcPts val="400"/>
              </a:spcAft>
              <a:buSzPct val="100000"/>
              <a:buChar char="•"/>
            </a:pPr>
            <a:r>
              <a:rPr lang="en-US" sz="1400" dirty="0">
                <a:solidFill>
                  <a:schemeClr val="tx1"/>
                </a:solidFill>
              </a:rPr>
              <a:t>Chuyển dần từ gia công sang tự chế biến</a:t>
            </a:r>
            <a:endParaRPr lang="en-US" sz="1400" dirty="0"/>
          </a:p>
        </p:txBody>
      </p:sp>
      <p:sp>
        <p:nvSpPr>
          <p:cNvPr id="20" name="Khung NHÂN SỰ"/>
          <p:cNvSpPr/>
          <p:nvPr/>
        </p:nvSpPr>
        <p:spPr>
          <a:xfrm>
            <a:off x="4544568" y="2468880"/>
            <a:ext cx="3474720" cy="3072384"/>
          </a:xfrm>
          <a:prstGeom prst="roundRect">
            <a:avLst>
              <a:gd name="adj" fmla="val 3571"/>
            </a:avLst>
          </a:prstGeom>
          <a:solidFill>
            <a:schemeClr val="bg2"/>
          </a:solidFill>
          <a:ln/>
        </p:spPr>
      </p:sp>
      <p:sp>
        <p:nvSpPr>
          <p:cNvPr id="21" name="Vach mau NHÂN SỰ"/>
          <p:cNvSpPr/>
          <p:nvPr/>
        </p:nvSpPr>
        <p:spPr>
          <a:xfrm>
            <a:off x="4544568" y="2468880"/>
            <a:ext cx="3474720" cy="64008"/>
          </a:xfrm>
          <a:prstGeom prst="rect">
            <a:avLst/>
          </a:prstGeom>
          <a:solidFill>
            <a:srgbClr val="1D4B3A"/>
          </a:solidFill>
          <a:ln/>
        </p:spPr>
      </p:sp>
      <p:sp>
        <p:nvSpPr>
          <p:cNvPr id="22" name="Tieu de NHÂN SỰ"/>
          <p:cNvSpPr txBox="1"/>
          <p:nvPr/>
        </p:nvSpPr>
        <p:spPr>
          <a:xfrm>
            <a:off x="4727448" y="2615184"/>
            <a:ext cx="3108960" cy="237744"/>
          </a:xfrm>
          <a:prstGeom prst="rect">
            <a:avLst/>
          </a:prstGeom>
          <a:noFill/>
          <a:ln/>
        </p:spPr>
        <p:txBody>
          <a:bodyPr wrap="square" lIns="0" tIns="0" rIns="0" bIns="0" rtlCol="0" anchor="t"/>
          <a:lstStyle/>
          <a:p>
            <a:pPr marL="0" indent="0" algn="l">
              <a:buNone/>
            </a:pPr>
            <a:r>
              <a:rPr lang="en-US" sz="1200" b="1" kern="0" spc="100" dirty="0">
                <a:solidFill>
                  <a:schemeClr val="accent1"/>
                </a:solidFill>
              </a:rPr>
              <a:t>NHÂN SỰ</a:t>
            </a:r>
            <a:endParaRPr lang="en-US" sz="1200" dirty="0"/>
          </a:p>
        </p:txBody>
      </p:sp>
      <p:sp>
        <p:nvSpPr>
          <p:cNvPr id="23" name="Tong nhan su"/>
          <p:cNvSpPr txBox="1"/>
          <p:nvPr/>
        </p:nvSpPr>
        <p:spPr>
          <a:xfrm>
            <a:off x="4727448" y="2871216"/>
            <a:ext cx="3108960" cy="457200"/>
          </a:xfrm>
          <a:prstGeom prst="rect">
            <a:avLst/>
          </a:prstGeom>
          <a:noFill/>
          <a:ln/>
        </p:spPr>
        <p:txBody>
          <a:bodyPr wrap="square" lIns="0" tIns="0" rIns="0" bIns="0" rtlCol="0" anchor="ctr"/>
          <a:lstStyle/>
          <a:p>
            <a:pPr marL="0" indent="0" algn="l">
              <a:buNone/>
            </a:pPr>
            <a:r>
              <a:rPr lang="en-US" sz="2800" b="1" dirty="0">
                <a:solidFill>
                  <a:schemeClr val="accent1"/>
                </a:solidFill>
                <a:latin typeface="+mj-lt" pitchFamily="34" charset="0"/>
                <a:ea typeface="+mj-lt" pitchFamily="34" charset="-122"/>
                <a:cs typeface="+mj-lt" pitchFamily="34" charset="-120"/>
              </a:rPr>
              <a:t>19–27</a:t>
            </a:r>
            <a:r>
              <a:rPr lang="en-US" sz="1400" b="1" dirty="0">
                <a:solidFill>
                  <a:schemeClr val="accent1"/>
                </a:solidFill>
              </a:rPr>
              <a:t> người</a:t>
            </a:r>
            <a:endParaRPr lang="en-US" sz="1400" dirty="0"/>
          </a:p>
        </p:txBody>
      </p:sp>
      <p:sp>
        <p:nvSpPr>
          <p:cNvPr id="24" name="Tuyen moi"/>
          <p:cNvSpPr txBox="1"/>
          <p:nvPr/>
        </p:nvSpPr>
        <p:spPr>
          <a:xfrm>
            <a:off x="4727448" y="3346704"/>
            <a:ext cx="3108960" cy="237744"/>
          </a:xfrm>
          <a:prstGeom prst="rect">
            <a:avLst/>
          </a:prstGeom>
          <a:noFill/>
          <a:ln/>
        </p:spPr>
        <p:txBody>
          <a:bodyPr wrap="square" lIns="0" tIns="0" rIns="0" bIns="0" rtlCol="0" anchor="t"/>
          <a:lstStyle/>
          <a:p>
            <a:pPr marL="0" indent="0" algn="l">
              <a:buNone/>
            </a:pPr>
            <a:r>
              <a:rPr lang="en-US" sz="1200" b="1" dirty="0">
                <a:solidFill>
                  <a:schemeClr val="accent6"/>
                </a:solidFill>
              </a:rPr>
              <a:t>Tuyển mới trong giai đoạn: +10–15</a:t>
            </a:r>
            <a:endParaRPr lang="en-US" sz="1200" dirty="0"/>
          </a:p>
        </p:txBody>
      </p:sp>
      <p:sp>
        <p:nvSpPr>
          <p:cNvPr id="25" name="Ten bo phan"/>
          <p:cNvSpPr txBox="1"/>
          <p:nvPr/>
        </p:nvSpPr>
        <p:spPr>
          <a:xfrm>
            <a:off x="4727448" y="3657600"/>
            <a:ext cx="2377440" cy="1783080"/>
          </a:xfrm>
          <a:prstGeom prst="rect">
            <a:avLst/>
          </a:prstGeom>
          <a:noFill/>
          <a:ln/>
        </p:spPr>
        <p:txBody>
          <a:bodyPr wrap="square" lIns="0" tIns="0" rIns="0" bIns="0" rtlCol="0" anchor="t"/>
          <a:lstStyle/>
          <a:p>
            <a:pPr marL="0" indent="0" algn="l">
              <a:spcAft>
                <a:spcPts val="400"/>
              </a:spcAft>
              <a:buNone/>
            </a:pPr>
            <a:r>
              <a:rPr lang="en-US" sz="1400" dirty="0">
                <a:solidFill>
                  <a:schemeClr val="tx1"/>
                </a:solidFill>
              </a:rPr>
              <a:t>Giám đốc điều hành</a:t>
            </a:r>
            <a:endParaRPr lang="en-US" sz="1400" dirty="0"/>
          </a:p>
          <a:p>
            <a:pPr marL="0" indent="0" algn="l">
              <a:spcAft>
                <a:spcPts val="400"/>
              </a:spcAft>
              <a:buNone/>
            </a:pPr>
            <a:r>
              <a:rPr lang="en-US" sz="1400" dirty="0">
                <a:solidFill>
                  <a:schemeClr val="tx1"/>
                </a:solidFill>
              </a:rPr>
              <a:t>Sản xuất và kỹ thuật</a:t>
            </a:r>
            <a:endParaRPr lang="en-US" sz="1400" dirty="0"/>
          </a:p>
          <a:p>
            <a:pPr marL="0" indent="0" algn="l">
              <a:spcAft>
                <a:spcPts val="400"/>
              </a:spcAft>
              <a:buNone/>
            </a:pPr>
            <a:r>
              <a:rPr lang="en-US" sz="1400" dirty="0">
                <a:solidFill>
                  <a:schemeClr val="tx1"/>
                </a:solidFill>
              </a:rPr>
              <a:t>QA/QC và ATTP</a:t>
            </a:r>
            <a:endParaRPr lang="en-US" sz="1400" dirty="0"/>
          </a:p>
          <a:p>
            <a:pPr marL="0" indent="0" algn="l">
              <a:spcAft>
                <a:spcPts val="400"/>
              </a:spcAft>
              <a:buNone/>
            </a:pPr>
            <a:r>
              <a:rPr lang="en-US" sz="1400" dirty="0">
                <a:solidFill>
                  <a:schemeClr val="tx1"/>
                </a:solidFill>
              </a:rPr>
              <a:t>Vùng nguyên liệu, TXNG</a:t>
            </a:r>
            <a:endParaRPr lang="en-US" sz="1400" dirty="0"/>
          </a:p>
          <a:p>
            <a:pPr marL="0" indent="0" algn="l">
              <a:spcAft>
                <a:spcPts val="400"/>
              </a:spcAft>
              <a:buNone/>
            </a:pPr>
            <a:r>
              <a:rPr lang="en-US" sz="1400" dirty="0">
                <a:solidFill>
                  <a:schemeClr val="tx1"/>
                </a:solidFill>
              </a:rPr>
              <a:t>Kho và logistics</a:t>
            </a:r>
            <a:endParaRPr lang="en-US" sz="1400" dirty="0"/>
          </a:p>
          <a:p>
            <a:pPr marL="0" indent="0" algn="l">
              <a:spcAft>
                <a:spcPts val="400"/>
              </a:spcAft>
              <a:buNone/>
            </a:pPr>
            <a:r>
              <a:rPr lang="en-US" sz="1400" dirty="0">
                <a:solidFill>
                  <a:schemeClr val="tx1"/>
                </a:solidFill>
              </a:rPr>
              <a:t>Xuất khẩu, thị trường</a:t>
            </a:r>
            <a:endParaRPr lang="en-US" sz="1400" dirty="0"/>
          </a:p>
          <a:p>
            <a:pPr marL="0" indent="0" algn="l">
              <a:spcAft>
                <a:spcPts val="400"/>
              </a:spcAft>
              <a:buNone/>
            </a:pPr>
            <a:r>
              <a:rPr lang="en-US" sz="1400" dirty="0">
                <a:solidFill>
                  <a:schemeClr val="tx1"/>
                </a:solidFill>
              </a:rPr>
              <a:t>Hành chính, kế toán</a:t>
            </a:r>
            <a:endParaRPr lang="en-US" sz="1400" dirty="0"/>
          </a:p>
        </p:txBody>
      </p:sp>
      <p:sp>
        <p:nvSpPr>
          <p:cNvPr id="26" name="So nguoi bo phan"/>
          <p:cNvSpPr txBox="1"/>
          <p:nvPr/>
        </p:nvSpPr>
        <p:spPr>
          <a:xfrm>
            <a:off x="7059168" y="3657600"/>
            <a:ext cx="777240" cy="1783080"/>
          </a:xfrm>
          <a:prstGeom prst="rect">
            <a:avLst/>
          </a:prstGeom>
          <a:noFill/>
          <a:ln/>
        </p:spPr>
        <p:txBody>
          <a:bodyPr wrap="square" lIns="0" tIns="0" rIns="0" bIns="0" rtlCol="0" anchor="t"/>
          <a:lstStyle/>
          <a:p>
            <a:pPr marL="0" indent="0" algn="r">
              <a:spcAft>
                <a:spcPts val="400"/>
              </a:spcAft>
              <a:buNone/>
            </a:pPr>
            <a:r>
              <a:rPr lang="en-US" sz="1400" b="1" dirty="0">
                <a:solidFill>
                  <a:schemeClr val="accent1"/>
                </a:solidFill>
              </a:rPr>
              <a:t>1</a:t>
            </a:r>
            <a:endParaRPr lang="en-US" sz="1400" dirty="0"/>
          </a:p>
          <a:p>
            <a:pPr marL="0" indent="0" algn="r">
              <a:spcAft>
                <a:spcPts val="400"/>
              </a:spcAft>
              <a:buNone/>
            </a:pPr>
            <a:r>
              <a:rPr lang="en-US" sz="1400" b="1" dirty="0">
                <a:solidFill>
                  <a:schemeClr val="accent1"/>
                </a:solidFill>
              </a:rPr>
              <a:t>8–12</a:t>
            </a:r>
            <a:endParaRPr lang="en-US" sz="1400" dirty="0"/>
          </a:p>
          <a:p>
            <a:pPr marL="0" indent="0" algn="r">
              <a:spcAft>
                <a:spcPts val="400"/>
              </a:spcAft>
              <a:buNone/>
            </a:pPr>
            <a:r>
              <a:rPr lang="en-US" sz="1400" b="1" dirty="0">
                <a:solidFill>
                  <a:schemeClr val="accent1"/>
                </a:solidFill>
              </a:rPr>
              <a:t>2–3</a:t>
            </a:r>
            <a:endParaRPr lang="en-US" sz="1400" dirty="0"/>
          </a:p>
          <a:p>
            <a:pPr marL="0" indent="0" algn="r">
              <a:spcAft>
                <a:spcPts val="400"/>
              </a:spcAft>
              <a:buNone/>
            </a:pPr>
            <a:r>
              <a:rPr lang="en-US" sz="1400" b="1" dirty="0">
                <a:solidFill>
                  <a:schemeClr val="accent1"/>
                </a:solidFill>
              </a:rPr>
              <a:t>3–4</a:t>
            </a:r>
            <a:endParaRPr lang="en-US" sz="1400" dirty="0"/>
          </a:p>
          <a:p>
            <a:pPr marL="0" indent="0" algn="r">
              <a:spcAft>
                <a:spcPts val="400"/>
              </a:spcAft>
              <a:buNone/>
            </a:pPr>
            <a:r>
              <a:rPr lang="en-US" sz="1400" b="1" dirty="0">
                <a:solidFill>
                  <a:schemeClr val="accent1"/>
                </a:solidFill>
              </a:rPr>
              <a:t>2</a:t>
            </a:r>
            <a:endParaRPr lang="en-US" sz="1400" dirty="0"/>
          </a:p>
          <a:p>
            <a:pPr marL="0" indent="0" algn="r">
              <a:spcAft>
                <a:spcPts val="400"/>
              </a:spcAft>
              <a:buNone/>
            </a:pPr>
            <a:r>
              <a:rPr lang="en-US" sz="1400" b="1" dirty="0">
                <a:solidFill>
                  <a:schemeClr val="accent1"/>
                </a:solidFill>
              </a:rPr>
              <a:t>1–2</a:t>
            </a:r>
            <a:endParaRPr lang="en-US" sz="1400" dirty="0"/>
          </a:p>
          <a:p>
            <a:pPr marL="0" indent="0" algn="r">
              <a:spcAft>
                <a:spcPts val="400"/>
              </a:spcAft>
              <a:buNone/>
            </a:pPr>
            <a:r>
              <a:rPr lang="en-US" sz="1400" b="1" dirty="0">
                <a:solidFill>
                  <a:schemeClr val="accent1"/>
                </a:solidFill>
              </a:rPr>
              <a:t>2–3</a:t>
            </a:r>
            <a:endParaRPr lang="en-US" sz="1400" dirty="0"/>
          </a:p>
        </p:txBody>
      </p:sp>
      <p:sp>
        <p:nvSpPr>
          <p:cNvPr id="27" name="Khung ĐẠT ĐƯỢC KHI KẾT THÚC"/>
          <p:cNvSpPr/>
          <p:nvPr/>
        </p:nvSpPr>
        <p:spPr>
          <a:xfrm>
            <a:off x="8174736" y="2468880"/>
            <a:ext cx="3468319" cy="3072384"/>
          </a:xfrm>
          <a:prstGeom prst="roundRect">
            <a:avLst>
              <a:gd name="adj" fmla="val 3571"/>
            </a:avLst>
          </a:prstGeom>
          <a:solidFill>
            <a:schemeClr val="bg2"/>
          </a:solidFill>
          <a:ln/>
        </p:spPr>
      </p:sp>
      <p:sp>
        <p:nvSpPr>
          <p:cNvPr id="28" name="Vach mau ĐẠT ĐƯỢC KHI KẾT THÚC"/>
          <p:cNvSpPr/>
          <p:nvPr/>
        </p:nvSpPr>
        <p:spPr>
          <a:xfrm>
            <a:off x="8174736" y="2468880"/>
            <a:ext cx="3468319" cy="64008"/>
          </a:xfrm>
          <a:prstGeom prst="rect">
            <a:avLst/>
          </a:prstGeom>
          <a:solidFill>
            <a:srgbClr val="1D4B3A"/>
          </a:solidFill>
          <a:ln/>
        </p:spPr>
      </p:sp>
      <p:sp>
        <p:nvSpPr>
          <p:cNvPr id="29" name="Tieu de ĐẠT ĐƯỢC KHI KẾT THÚC"/>
          <p:cNvSpPr txBox="1"/>
          <p:nvPr/>
        </p:nvSpPr>
        <p:spPr>
          <a:xfrm>
            <a:off x="8357616" y="2615184"/>
            <a:ext cx="3102559" cy="237744"/>
          </a:xfrm>
          <a:prstGeom prst="rect">
            <a:avLst/>
          </a:prstGeom>
          <a:noFill/>
          <a:ln/>
        </p:spPr>
        <p:txBody>
          <a:bodyPr wrap="square" lIns="0" tIns="0" rIns="0" bIns="0" rtlCol="0" anchor="t"/>
          <a:lstStyle/>
          <a:p>
            <a:pPr marL="0" indent="0" algn="l">
              <a:buNone/>
            </a:pPr>
            <a:r>
              <a:rPr lang="en-US" sz="1200" b="1" kern="0" spc="100" dirty="0">
                <a:solidFill>
                  <a:schemeClr val="accent1"/>
                </a:solidFill>
              </a:rPr>
              <a:t>ĐẠT ĐƯỢC KHI KẾT THÚC</a:t>
            </a:r>
            <a:endParaRPr lang="en-US" sz="1200" dirty="0"/>
          </a:p>
        </p:txBody>
      </p:sp>
      <p:sp>
        <p:nvSpPr>
          <p:cNvPr id="30" name="Mẫu GCN cơ sở đủ điều kiện ATTP (Nghị định 46/2026, đang tạm ngưng) (khung)"/>
          <p:cNvSpPr/>
          <p:nvPr/>
        </p:nvSpPr>
        <p:spPr>
          <a:xfrm>
            <a:off x="9468316" y="2898648"/>
            <a:ext cx="881160" cy="1197864"/>
          </a:xfrm>
          <a:prstGeom prst="rect">
            <a:avLst/>
          </a:prstGeom>
          <a:solidFill>
            <a:srgbClr val="FFFFFF"/>
          </a:solidFill>
          <a:ln w="9525">
            <a:solidFill>
              <a:srgbClr val="D5DED8"/>
            </a:solidFill>
            <a:prstDash val="solid"/>
          </a:ln>
          <a:effectLst>
            <a:outerShdw blurRad="76200" dist="25400" dir="5400000" algn="bl" rotWithShape="0">
              <a:srgbClr val="000000">
                <a:alpha val="16000"/>
              </a:srgbClr>
            </a:outerShdw>
          </a:effectLst>
        </p:spPr>
      </p:sp>
      <p:pic>
        <p:nvPicPr>
          <p:cNvPr id="31" name="Mẫu GCN cơ sở đủ điều kiện ATTP (Nghị định 46/2026, đang tạm ngưng)" descr="Mẫu GCN cơ sở đủ điều kiện ATTP (Nghị định 46/2026, đang tạm ngưng)"/>
          <p:cNvPicPr>
            <a:picLocks noChangeAspect="1"/>
          </p:cNvPicPr>
          <p:nvPr/>
        </p:nvPicPr>
        <p:blipFill>
          <a:blip r:embed="rId3"/>
          <a:stretch>
            <a:fillRect/>
          </a:stretch>
        </p:blipFill>
        <p:spPr>
          <a:xfrm>
            <a:off x="9495748" y="2926080"/>
            <a:ext cx="826296" cy="1143000"/>
          </a:xfrm>
          <a:prstGeom prst="rect">
            <a:avLst/>
          </a:prstGeom>
        </p:spPr>
      </p:pic>
      <p:sp>
        <p:nvSpPr>
          <p:cNvPr id="32" name="Chu thich hinh"/>
          <p:cNvSpPr txBox="1"/>
          <p:nvPr/>
        </p:nvSpPr>
        <p:spPr>
          <a:xfrm>
            <a:off x="8357616" y="4123944"/>
            <a:ext cx="3102559" cy="219456"/>
          </a:xfrm>
          <a:prstGeom prst="rect">
            <a:avLst/>
          </a:prstGeom>
          <a:noFill/>
          <a:ln/>
        </p:spPr>
        <p:txBody>
          <a:bodyPr wrap="square" lIns="0" tIns="0" rIns="0" bIns="0" rtlCol="0" anchor="t"/>
          <a:lstStyle/>
          <a:p>
            <a:pPr marL="0" indent="0" algn="l">
              <a:buNone/>
            </a:pPr>
            <a:r>
              <a:rPr lang="en-US" sz="1100" dirty="0">
                <a:solidFill>
                  <a:srgbClr val="5C6F66"/>
                </a:solidFill>
              </a:rPr>
              <a:t>Mẫu GCN ATTP theo NĐ 46/2026 (tạm ngưng)</a:t>
            </a:r>
            <a:endParaRPr lang="en-US" sz="1100" dirty="0"/>
          </a:p>
        </p:txBody>
      </p:sp>
      <p:sp>
        <p:nvSpPr>
          <p:cNvPr id="33" name="Moc hoan thanh"/>
          <p:cNvSpPr txBox="1"/>
          <p:nvPr/>
        </p:nvSpPr>
        <p:spPr>
          <a:xfrm>
            <a:off x="8357616" y="4416552"/>
            <a:ext cx="3102559" cy="1069848"/>
          </a:xfrm>
          <a:prstGeom prst="rect">
            <a:avLst/>
          </a:prstGeom>
          <a:noFill/>
          <a:ln/>
        </p:spPr>
        <p:txBody>
          <a:bodyPr wrap="square" lIns="0" tIns="0" rIns="0" bIns="0" rtlCol="0" anchor="t"/>
          <a:lstStyle/>
          <a:p>
            <a:pPr marL="177800" indent="-177800" algn="l">
              <a:spcAft>
                <a:spcPts val="300"/>
              </a:spcAft>
              <a:buSzPct val="100000"/>
              <a:buChar char="•"/>
            </a:pPr>
            <a:r>
              <a:rPr lang="en-US" sz="1400" dirty="0">
                <a:solidFill>
                  <a:schemeClr val="tx1"/>
                </a:solidFill>
              </a:rPr>
              <a:t>Có GCN cơ sở đủ điều kiện ATTP</a:t>
            </a:r>
            <a:endParaRPr lang="en-US" sz="1400" dirty="0"/>
          </a:p>
          <a:p>
            <a:pPr marL="177800" indent="-177800" algn="l">
              <a:spcAft>
                <a:spcPts val="300"/>
              </a:spcAft>
              <a:buSzPct val="100000"/>
              <a:buChar char="•"/>
            </a:pPr>
            <a:r>
              <a:rPr lang="en-US" sz="1400" dirty="0">
                <a:solidFill>
                  <a:schemeClr val="tx1"/>
                </a:solidFill>
              </a:rPr>
              <a:t>Dây chuyền ổn định; truy xuất đến vườn</a:t>
            </a:r>
            <a:endParaRPr lang="en-US" sz="1400" dirty="0"/>
          </a:p>
          <a:p>
            <a:pPr marL="177800" indent="-177800" algn="l">
              <a:spcAft>
                <a:spcPts val="300"/>
              </a:spcAft>
              <a:buSzPct val="100000"/>
              <a:buChar char="•"/>
            </a:pPr>
            <a:r>
              <a:rPr lang="en-US" sz="1400" dirty="0">
                <a:solidFill>
                  <a:schemeClr val="tx1"/>
                </a:solidFill>
              </a:rPr>
              <a:t>Bán ổn định trong nước</a:t>
            </a:r>
            <a:endParaRPr lang="en-US" sz="1400" dirty="0"/>
          </a:p>
        </p:txBody>
      </p:sp>
      <p:sp>
        <p:nvSpPr>
          <p:cNvPr id="34" name="Khung quyet dinh"/>
          <p:cNvSpPr/>
          <p:nvPr/>
        </p:nvSpPr>
        <p:spPr>
          <a:xfrm>
            <a:off x="548640" y="5614416"/>
            <a:ext cx="11094415" cy="548640"/>
          </a:xfrm>
          <a:prstGeom prst="roundRect">
            <a:avLst>
              <a:gd name="adj" fmla="val 20000"/>
            </a:avLst>
          </a:prstGeom>
          <a:solidFill>
            <a:srgbClr val="FBF1D8"/>
          </a:solidFill>
          <a:ln/>
        </p:spPr>
      </p:sp>
      <p:sp>
        <p:nvSpPr>
          <p:cNvPr id="35" name="Vach quyet dinh"/>
          <p:cNvSpPr/>
          <p:nvPr/>
        </p:nvSpPr>
        <p:spPr>
          <a:xfrm>
            <a:off x="548640" y="5614416"/>
            <a:ext cx="73152" cy="548640"/>
          </a:xfrm>
          <a:prstGeom prst="rect">
            <a:avLst/>
          </a:prstGeom>
          <a:solidFill>
            <a:schemeClr val="accent2"/>
          </a:solidFill>
          <a:ln/>
        </p:spPr>
      </p:sp>
      <p:sp>
        <p:nvSpPr>
          <p:cNvPr id="36" name="Chu quyet dinh"/>
          <p:cNvSpPr txBox="1"/>
          <p:nvPr/>
        </p:nvSpPr>
        <p:spPr>
          <a:xfrm>
            <a:off x="777240" y="5614416"/>
            <a:ext cx="10682935" cy="548640"/>
          </a:xfrm>
          <a:prstGeom prst="rect">
            <a:avLst/>
          </a:prstGeom>
          <a:noFill/>
          <a:ln/>
        </p:spPr>
        <p:txBody>
          <a:bodyPr wrap="square" lIns="0" tIns="0" rIns="0" bIns="0" rtlCol="0" anchor="ctr"/>
          <a:lstStyle/>
          <a:p>
            <a:pPr marL="0" indent="0" algn="l">
              <a:buNone/>
            </a:pPr>
            <a:r>
              <a:rPr lang="en-US" sz="1400" b="1" dirty="0">
                <a:solidFill>
                  <a:schemeClr val="accent6"/>
                </a:solidFill>
              </a:rPr>
              <a:t>BAN LÃNH ĐẠO QUYẾT ĐỊNH: </a:t>
            </a:r>
            <a:r>
              <a:rPr lang="en-US" sz="1400" dirty="0">
                <a:solidFill>
                  <a:schemeClr val="tx1"/>
                </a:solidFill>
              </a:rPr>
              <a:t>Duyệt vốn xây hoặc thuê xưởng và dây chuyền; bổ nhiệm Quản đốc và Quản lý xuất khẩu; chốt địa điểm xưởng và người đại diện theo pháp luật trước khi đăng ký mã GACC.</a:t>
            </a:r>
            <a:endParaRPr lang="en-US" sz="1400" dirty="0"/>
          </a:p>
        </p:txBody>
      </p:sp>
      <p:sp>
        <p:nvSpPr>
          <p:cNvPr id="37" name="Nguon"/>
          <p:cNvSpPr txBox="1"/>
          <p:nvPr/>
        </p:nvSpPr>
        <p:spPr>
          <a:xfrm>
            <a:off x="548640" y="6217920"/>
            <a:ext cx="11094415" cy="201168"/>
          </a:xfrm>
          <a:prstGeom prst="rect">
            <a:avLst/>
          </a:prstGeom>
          <a:noFill/>
          <a:ln/>
        </p:spPr>
        <p:txBody>
          <a:bodyPr wrap="square" lIns="0" tIns="0" rIns="0" bIns="0" rtlCol="0" anchor="t"/>
          <a:lstStyle/>
          <a:p>
            <a:pPr marL="0" indent="0" algn="l">
              <a:buNone/>
            </a:pPr>
            <a:r>
              <a:rPr lang="en-US" sz="1000" dirty="0">
                <a:solidFill>
                  <a:srgbClr val="5C6F66"/>
                </a:solidFill>
              </a:rPr>
              <a:t>Căn cứ: Nghị định 15/2018 (GCN ATTP; miễn khi đã có HACCP/ISO 22000); Đắk Lắk hỗ trợ ISO 22000/HACCP (VOV, 10/2026). Mốc thời gian và nhân sự: ước tính.</a:t>
            </a:r>
            <a:endParaRPr lang="en-US" sz="1000" dirty="0"/>
          </a:p>
        </p:txBody>
      </p:sp>
      <p:sp>
        <p:nvSpPr>
          <p:cNvPr id="2" name="Slide Number Placeholder 0"/>
          <p:cNvSpPr>
            <a:spLocks noGrp="1"/>
          </p:cNvSpPr>
          <p:nvPr>
            <p:ph type="sldNum" sz="quarter" idx="4294967295"/>
          </p:nvPr>
        </p:nvSpPr>
        <p:spPr>
          <a:xfrm>
            <a:off x="10972800" y="6492240"/>
            <a:ext cx="667512" cy="237744"/>
          </a:xfrm>
          <a:prstGeom prst="rect">
            <a:avLst/>
          </a:prstGeom>
          <a:extLst>
            <a:ext uri="{C572A759-6A51-4108-AA02-DFA0A04FC94B}">
              <ma14:wrappingTextBoxFlag xmlns:ma14="http://schemas.microsoft.com/office/mac/drawingml/2011/main" xmlns="" val="0"/>
            </a:ext>
          </a:extLst>
        </p:spPr>
        <p:txBody>
          <a:bodyPr/>
          <a:lstStyle>
            <a:lvl1pPr>
              <a:defRPr sz="1000">
                <a:solidFill>
                  <a:srgbClr val="5C6F66"/>
                </a:solidFill>
              </a:defRPr>
            </a:lvl1pPr>
          </a:lstStyle>
          <a:p>
            <a:pPr algn="r"/>
            <a:fld id="{F7021451-1387-4CA6-816F-3879F97B5CBC}" type="slidenum">
              <a:rPr lang="en-US" b="0"/>
              <a:t>6</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Dau cham"/>
          <p:cNvSpPr/>
          <p:nvPr/>
        </p:nvSpPr>
        <p:spPr>
          <a:xfrm>
            <a:off x="548640" y="429768"/>
            <a:ext cx="118872" cy="118872"/>
          </a:xfrm>
          <a:prstGeom prst="ellipse">
            <a:avLst/>
          </a:prstGeom>
          <a:solidFill>
            <a:schemeClr val="accent2"/>
          </a:solidFill>
          <a:ln/>
        </p:spPr>
      </p:sp>
      <p:sp>
        <p:nvSpPr>
          <p:cNvPr id="4" name="Nhan chuyen muc"/>
          <p:cNvSpPr txBox="1"/>
          <p:nvPr/>
        </p:nvSpPr>
        <p:spPr>
          <a:xfrm>
            <a:off x="777240" y="347472"/>
            <a:ext cx="6949440" cy="274320"/>
          </a:xfrm>
          <a:prstGeom prst="rect">
            <a:avLst/>
          </a:prstGeom>
          <a:noFill/>
          <a:ln/>
        </p:spPr>
        <p:txBody>
          <a:bodyPr wrap="square" lIns="0" tIns="0" rIns="0" bIns="0" rtlCol="0" anchor="ctr"/>
          <a:lstStyle/>
          <a:p>
            <a:pPr marL="0" indent="0" algn="l">
              <a:buNone/>
            </a:pPr>
            <a:r>
              <a:rPr lang="en-US" sz="1200" b="1" kern="0" spc="200" dirty="0">
                <a:solidFill>
                  <a:schemeClr val="accent1"/>
                </a:solidFill>
              </a:rPr>
              <a:t>LỘ TRÌNH THEO GIAI ĐOẠN</a:t>
            </a:r>
            <a:endParaRPr lang="en-US" sz="1200" dirty="0"/>
          </a:p>
        </p:txBody>
      </p:sp>
      <p:sp>
        <p:nvSpPr>
          <p:cNvPr id="5" name="Nhan giai doan"/>
          <p:cNvSpPr/>
          <p:nvPr/>
        </p:nvSpPr>
        <p:spPr>
          <a:xfrm>
            <a:off x="8625535" y="347472"/>
            <a:ext cx="3017520" cy="274320"/>
          </a:xfrm>
          <a:prstGeom prst="roundRect">
            <a:avLst>
              <a:gd name="adj" fmla="val 26667"/>
            </a:avLst>
          </a:prstGeom>
          <a:solidFill>
            <a:srgbClr val="E4A92A"/>
          </a:solidFill>
          <a:ln/>
        </p:spPr>
      </p:sp>
      <p:sp>
        <p:nvSpPr>
          <p:cNvPr id="6" name="Chu nhan giai doan"/>
          <p:cNvSpPr txBox="1"/>
          <p:nvPr/>
        </p:nvSpPr>
        <p:spPr>
          <a:xfrm>
            <a:off x="8625535" y="347472"/>
            <a:ext cx="3017520" cy="274320"/>
          </a:xfrm>
          <a:prstGeom prst="rect">
            <a:avLst/>
          </a:prstGeom>
          <a:noFill/>
          <a:ln/>
        </p:spPr>
        <p:txBody>
          <a:bodyPr wrap="square" lIns="0" tIns="0" rIns="0" bIns="0" rtlCol="0" anchor="ctr"/>
          <a:lstStyle/>
          <a:p>
            <a:pPr marL="0" indent="0" algn="ctr">
              <a:buNone/>
            </a:pPr>
            <a:r>
              <a:rPr lang="en-US" sz="1200" b="1" kern="0" spc="50" dirty="0">
                <a:solidFill>
                  <a:srgbClr val="1B2B24"/>
                </a:solidFill>
              </a:rPr>
              <a:t>GIAI ĐOẠN 3 · Q4/2027 – Q1/2028</a:t>
            </a:r>
            <a:endParaRPr lang="en-US" sz="1200" dirty="0"/>
          </a:p>
        </p:txBody>
      </p:sp>
      <p:sp>
        <p:nvSpPr>
          <p:cNvPr id="7" name="Text 0"/>
          <p:cNvSpPr>
            <a:spLocks noGrp="1"/>
          </p:cNvSpPr>
          <p:nvPr>
            <p:ph type="title" idx="100" hasCustomPrompt="1"/>
          </p:nvPr>
        </p:nvSpPr>
        <p:spPr>
          <a:xfrm>
            <a:off x="548640" y="658368"/>
            <a:ext cx="11094415" cy="777240"/>
          </a:xfrm>
          <a:prstGeom prst="rect">
            <a:avLst/>
          </a:prstGeom>
          <a:noFill/>
          <a:ln/>
        </p:spPr>
        <p:txBody>
          <a:bodyPr wrap="square" lIns="0" tIns="0" rIns="0" bIns="0" rtlCol="0" anchor="ctr"/>
          <a:lstStyle/>
          <a:p>
            <a:pPr marL="0" indent="0" algn="l">
              <a:buNone/>
            </a:pPr>
            <a:r>
              <a:rPr lang="en-US" sz="3000" b="1" dirty="0">
                <a:solidFill>
                  <a:schemeClr val="tx2"/>
                </a:solidFill>
              </a:rPr>
              <a:t>Giai đoạn 3 · Sản xuất đạt chuẩn: có mã GACC, lô đầu</a:t>
            </a:r>
            <a:endParaRPr lang="en-US" sz="3000" dirty="0"/>
          </a:p>
        </p:txBody>
      </p:sp>
      <p:sp>
        <p:nvSpPr>
          <p:cNvPr id="8" name="Cong doan 1"/>
          <p:cNvSpPr/>
          <p:nvPr/>
        </p:nvSpPr>
        <p:spPr>
          <a:xfrm>
            <a:off x="548640" y="1691640"/>
            <a:ext cx="2732456" cy="640080"/>
          </a:xfrm>
          <a:prstGeom prst="homePlate">
            <a:avLst/>
          </a:prstGeom>
          <a:solidFill>
            <a:srgbClr val="1D4B3A"/>
          </a:solidFill>
          <a:ln/>
        </p:spPr>
      </p:sp>
      <p:sp>
        <p:nvSpPr>
          <p:cNvPr id="9" name="Chu cong doan 1"/>
          <p:cNvSpPr txBox="1"/>
          <p:nvPr/>
        </p:nvSpPr>
        <p:spPr>
          <a:xfrm>
            <a:off x="713232" y="1691640"/>
            <a:ext cx="2275256" cy="640080"/>
          </a:xfrm>
          <a:prstGeom prst="rect">
            <a:avLst/>
          </a:prstGeom>
          <a:noFill/>
          <a:ln/>
        </p:spPr>
        <p:txBody>
          <a:bodyPr wrap="square" lIns="0" tIns="0" rIns="0" bIns="0" rtlCol="0" anchor="ctr"/>
          <a:lstStyle/>
          <a:p>
            <a:pPr marL="0" indent="0" algn="l">
              <a:buNone/>
            </a:pPr>
            <a:r>
              <a:rPr lang="en-US" sz="1400" b="1" dirty="0">
                <a:solidFill>
                  <a:srgbClr val="FFFFFF"/>
                </a:solidFill>
              </a:rPr>
              <a:t>Thu mua</a:t>
            </a:r>
            <a:endParaRPr lang="en-US" sz="1400" dirty="0"/>
          </a:p>
          <a:p>
            <a:pPr marL="0" indent="0" algn="l">
              <a:buNone/>
            </a:pPr>
            <a:r>
              <a:rPr lang="en-US" sz="1200" dirty="0">
                <a:solidFill>
                  <a:srgbClr val="D5E6DA"/>
                </a:solidFill>
              </a:rPr>
              <a:t>Heragrain tự làm</a:t>
            </a:r>
            <a:endParaRPr lang="en-US" sz="1400" dirty="0"/>
          </a:p>
        </p:txBody>
      </p:sp>
      <p:sp>
        <p:nvSpPr>
          <p:cNvPr id="10" name="Cong doan 2"/>
          <p:cNvSpPr/>
          <p:nvPr/>
        </p:nvSpPr>
        <p:spPr>
          <a:xfrm>
            <a:off x="3335960" y="1691640"/>
            <a:ext cx="2732456" cy="640080"/>
          </a:xfrm>
          <a:prstGeom prst="homePlate">
            <a:avLst/>
          </a:prstGeom>
          <a:solidFill>
            <a:srgbClr val="1D4B3A"/>
          </a:solidFill>
          <a:ln/>
        </p:spPr>
      </p:sp>
      <p:sp>
        <p:nvSpPr>
          <p:cNvPr id="11" name="Chu cong doan 2"/>
          <p:cNvSpPr txBox="1"/>
          <p:nvPr/>
        </p:nvSpPr>
        <p:spPr>
          <a:xfrm>
            <a:off x="3500552" y="1691640"/>
            <a:ext cx="2275256" cy="640080"/>
          </a:xfrm>
          <a:prstGeom prst="rect">
            <a:avLst/>
          </a:prstGeom>
          <a:noFill/>
          <a:ln/>
        </p:spPr>
        <p:txBody>
          <a:bodyPr wrap="square" lIns="0" tIns="0" rIns="0" bIns="0" rtlCol="0" anchor="ctr"/>
          <a:lstStyle/>
          <a:p>
            <a:pPr marL="0" indent="0" algn="l">
              <a:buNone/>
            </a:pPr>
            <a:r>
              <a:rPr lang="en-US" sz="1400" b="1" dirty="0">
                <a:solidFill>
                  <a:srgbClr val="FFFFFF"/>
                </a:solidFill>
              </a:rPr>
              <a:t>Chế biến</a:t>
            </a:r>
            <a:endParaRPr lang="en-US" sz="1400" dirty="0"/>
          </a:p>
          <a:p>
            <a:pPr marL="0" indent="0" algn="l">
              <a:buNone/>
            </a:pPr>
            <a:r>
              <a:rPr lang="en-US" sz="1200" dirty="0">
                <a:solidFill>
                  <a:srgbClr val="D5E6DA"/>
                </a:solidFill>
              </a:rPr>
              <a:t>Heragrain tự làm</a:t>
            </a:r>
            <a:endParaRPr lang="en-US" sz="1400" dirty="0"/>
          </a:p>
        </p:txBody>
      </p:sp>
      <p:sp>
        <p:nvSpPr>
          <p:cNvPr id="12" name="Cong doan 3"/>
          <p:cNvSpPr/>
          <p:nvPr/>
        </p:nvSpPr>
        <p:spPr>
          <a:xfrm>
            <a:off x="6123280" y="1691640"/>
            <a:ext cx="2732456" cy="640080"/>
          </a:xfrm>
          <a:prstGeom prst="homePlate">
            <a:avLst/>
          </a:prstGeom>
          <a:solidFill>
            <a:srgbClr val="1D4B3A"/>
          </a:solidFill>
          <a:ln/>
        </p:spPr>
      </p:sp>
      <p:sp>
        <p:nvSpPr>
          <p:cNvPr id="13" name="Chu cong doan 3"/>
          <p:cNvSpPr txBox="1"/>
          <p:nvPr/>
        </p:nvSpPr>
        <p:spPr>
          <a:xfrm>
            <a:off x="6287872" y="1691640"/>
            <a:ext cx="2275256" cy="640080"/>
          </a:xfrm>
          <a:prstGeom prst="rect">
            <a:avLst/>
          </a:prstGeom>
          <a:noFill/>
          <a:ln/>
        </p:spPr>
        <p:txBody>
          <a:bodyPr wrap="square" lIns="0" tIns="0" rIns="0" bIns="0" rtlCol="0" anchor="ctr"/>
          <a:lstStyle/>
          <a:p>
            <a:pPr marL="0" indent="0" algn="l">
              <a:buNone/>
            </a:pPr>
            <a:r>
              <a:rPr lang="en-US" sz="1400" b="1" dirty="0">
                <a:solidFill>
                  <a:srgbClr val="FFFFFF"/>
                </a:solidFill>
              </a:rPr>
              <a:t>Sản xuất đạt chuẩn</a:t>
            </a:r>
            <a:endParaRPr lang="en-US" sz="1400" dirty="0"/>
          </a:p>
          <a:p>
            <a:pPr marL="0" indent="0" algn="l">
              <a:buNone/>
            </a:pPr>
            <a:r>
              <a:rPr lang="en-US" sz="1200" dirty="0">
                <a:solidFill>
                  <a:srgbClr val="D5E6DA"/>
                </a:solidFill>
              </a:rPr>
              <a:t>ISO 22000, mã GACC</a:t>
            </a:r>
            <a:endParaRPr lang="en-US" sz="1400" dirty="0"/>
          </a:p>
        </p:txBody>
      </p:sp>
      <p:sp>
        <p:nvSpPr>
          <p:cNvPr id="14" name="Cong doan 4"/>
          <p:cNvSpPr/>
          <p:nvPr/>
        </p:nvSpPr>
        <p:spPr>
          <a:xfrm>
            <a:off x="8910599" y="1691640"/>
            <a:ext cx="2732456" cy="640080"/>
          </a:xfrm>
          <a:prstGeom prst="homePlate">
            <a:avLst/>
          </a:prstGeom>
          <a:solidFill>
            <a:srgbClr val="FBF1D8"/>
          </a:solidFill>
          <a:ln w="12700">
            <a:solidFill>
              <a:srgbClr val="E4A92A"/>
            </a:solidFill>
            <a:prstDash val="solid"/>
          </a:ln>
        </p:spPr>
      </p:sp>
      <p:sp>
        <p:nvSpPr>
          <p:cNvPr id="15" name="Chu cong doan 4"/>
          <p:cNvSpPr txBox="1"/>
          <p:nvPr/>
        </p:nvSpPr>
        <p:spPr>
          <a:xfrm>
            <a:off x="9075191" y="1691640"/>
            <a:ext cx="2275256" cy="640080"/>
          </a:xfrm>
          <a:prstGeom prst="rect">
            <a:avLst/>
          </a:prstGeom>
          <a:noFill/>
          <a:ln/>
        </p:spPr>
        <p:txBody>
          <a:bodyPr wrap="square" lIns="0" tIns="0" rIns="0" bIns="0" rtlCol="0" anchor="ctr"/>
          <a:lstStyle/>
          <a:p>
            <a:pPr marL="0" indent="0" algn="l">
              <a:buNone/>
            </a:pPr>
            <a:r>
              <a:rPr lang="en-US" sz="1400" b="1" dirty="0">
                <a:solidFill>
                  <a:srgbClr val="1B2B24"/>
                </a:solidFill>
              </a:rPr>
              <a:t>Xuất khẩu</a:t>
            </a:r>
            <a:endParaRPr lang="en-US" sz="1400" dirty="0"/>
          </a:p>
          <a:p>
            <a:pPr marL="0" indent="0" algn="l">
              <a:buNone/>
            </a:pPr>
            <a:r>
              <a:rPr lang="en-US" sz="1200" dirty="0">
                <a:solidFill>
                  <a:srgbClr val="1B2B24"/>
                </a:solidFill>
              </a:rPr>
              <a:t>Qua nhà nhập khẩu</a:t>
            </a:r>
            <a:endParaRPr lang="en-US" sz="1400" dirty="0"/>
          </a:p>
        </p:txBody>
      </p:sp>
      <p:sp>
        <p:nvSpPr>
          <p:cNvPr id="16" name="Khung VIỆC CẦN LÀM"/>
          <p:cNvSpPr/>
          <p:nvPr/>
        </p:nvSpPr>
        <p:spPr>
          <a:xfrm>
            <a:off x="548640" y="2468880"/>
            <a:ext cx="3840480" cy="3072384"/>
          </a:xfrm>
          <a:prstGeom prst="roundRect">
            <a:avLst>
              <a:gd name="adj" fmla="val 3571"/>
            </a:avLst>
          </a:prstGeom>
          <a:solidFill>
            <a:schemeClr val="bg2"/>
          </a:solidFill>
          <a:ln/>
        </p:spPr>
      </p:sp>
      <p:sp>
        <p:nvSpPr>
          <p:cNvPr id="17" name="Vach mau VIỆC CẦN LÀM"/>
          <p:cNvSpPr/>
          <p:nvPr/>
        </p:nvSpPr>
        <p:spPr>
          <a:xfrm>
            <a:off x="548640" y="2468880"/>
            <a:ext cx="3840480" cy="64008"/>
          </a:xfrm>
          <a:prstGeom prst="rect">
            <a:avLst/>
          </a:prstGeom>
          <a:solidFill>
            <a:srgbClr val="E4A92A"/>
          </a:solidFill>
          <a:ln/>
        </p:spPr>
      </p:sp>
      <p:sp>
        <p:nvSpPr>
          <p:cNvPr id="18" name="Tieu de VIỆC CẦN LÀM"/>
          <p:cNvSpPr txBox="1"/>
          <p:nvPr/>
        </p:nvSpPr>
        <p:spPr>
          <a:xfrm>
            <a:off x="731520" y="2615184"/>
            <a:ext cx="3474720" cy="237744"/>
          </a:xfrm>
          <a:prstGeom prst="rect">
            <a:avLst/>
          </a:prstGeom>
          <a:noFill/>
          <a:ln/>
        </p:spPr>
        <p:txBody>
          <a:bodyPr wrap="square" lIns="0" tIns="0" rIns="0" bIns="0" rtlCol="0" anchor="t"/>
          <a:lstStyle/>
          <a:p>
            <a:pPr marL="0" indent="0" algn="l">
              <a:buNone/>
            </a:pPr>
            <a:r>
              <a:rPr lang="en-US" sz="1200" b="1" kern="0" spc="100" dirty="0">
                <a:solidFill>
                  <a:schemeClr val="accent1"/>
                </a:solidFill>
              </a:rPr>
              <a:t>VIỆC CẦN LÀM</a:t>
            </a:r>
            <a:endParaRPr lang="en-US" sz="1200" dirty="0"/>
          </a:p>
        </p:txBody>
      </p:sp>
      <p:sp>
        <p:nvSpPr>
          <p:cNvPr id="19" name="Noi dung viec can lam"/>
          <p:cNvSpPr txBox="1"/>
          <p:nvPr/>
        </p:nvSpPr>
        <p:spPr>
          <a:xfrm>
            <a:off x="731520" y="2926080"/>
            <a:ext cx="3474720" cy="2542032"/>
          </a:xfrm>
          <a:prstGeom prst="rect">
            <a:avLst/>
          </a:prstGeom>
          <a:noFill/>
          <a:ln/>
        </p:spPr>
        <p:txBody>
          <a:bodyPr wrap="square" lIns="0" tIns="0" rIns="0" bIns="0" rtlCol="0" anchor="t"/>
          <a:lstStyle/>
          <a:p>
            <a:pPr marL="177800" indent="-177800" algn="l">
              <a:spcAft>
                <a:spcPts val="400"/>
              </a:spcAft>
              <a:buSzPct val="100000"/>
              <a:buChar char="•"/>
            </a:pPr>
            <a:r>
              <a:rPr lang="en-US" sz="1400" dirty="0">
                <a:solidFill>
                  <a:schemeClr val="tx1"/>
                </a:solidFill>
              </a:rPr>
              <a:t>Chứng nhận HACCP/ISO 22000 bởi tổ chức độc lập</a:t>
            </a:r>
            <a:endParaRPr lang="en-US" sz="1400" dirty="0"/>
          </a:p>
          <a:p>
            <a:pPr marL="177800" indent="-177800" algn="l">
              <a:spcAft>
                <a:spcPts val="400"/>
              </a:spcAft>
              <a:buSzPct val="100000"/>
              <a:buChar char="•"/>
            </a:pPr>
            <a:r>
              <a:rPr lang="en-US" sz="1400" dirty="0">
                <a:solidFill>
                  <a:schemeClr val="tx1"/>
                </a:solidFill>
              </a:rPr>
              <a:t>Được cơ quan Việt Nam giới thiệu, đăng ký CIFER, nhận mã GACC</a:t>
            </a:r>
            <a:endParaRPr lang="en-US" sz="1400" dirty="0"/>
          </a:p>
          <a:p>
            <a:pPr marL="177800" indent="-177800" algn="l">
              <a:spcAft>
                <a:spcPts val="400"/>
              </a:spcAft>
              <a:buSzPct val="100000"/>
              <a:buChar char="•"/>
            </a:pPr>
            <a:r>
              <a:rPr lang="en-US" sz="1400" dirty="0">
                <a:solidFill>
                  <a:schemeClr val="tx1"/>
                </a:solidFill>
              </a:rPr>
              <a:t>Nhãn tiếng Trung, in mã GACC; chọn nhà nhập khẩu đủ năng lực</a:t>
            </a:r>
            <a:endParaRPr lang="en-US" sz="1400" dirty="0"/>
          </a:p>
          <a:p>
            <a:pPr marL="177800" indent="-177800" algn="l">
              <a:spcAft>
                <a:spcPts val="400"/>
              </a:spcAft>
              <a:buSzPct val="100000"/>
              <a:buChar char="•"/>
            </a:pPr>
            <a:r>
              <a:rPr lang="en-US" sz="1400" dirty="0">
                <a:solidFill>
                  <a:schemeClr val="tx1"/>
                </a:solidFill>
              </a:rPr>
              <a:t>Kiểm nghiệm đầu ra từng lô; chạy lô đầu sang Trung Quốc</a:t>
            </a:r>
            <a:endParaRPr lang="en-US" sz="1400" dirty="0"/>
          </a:p>
          <a:p>
            <a:pPr marL="177800" indent="-177800" algn="l">
              <a:spcAft>
                <a:spcPts val="400"/>
              </a:spcAft>
              <a:buSzPct val="100000"/>
              <a:buChar char="•"/>
            </a:pPr>
            <a:r>
              <a:rPr lang="en-US" sz="1400" dirty="0">
                <a:solidFill>
                  <a:schemeClr val="tx1"/>
                </a:solidFill>
              </a:rPr>
              <a:t>Bắt đầu chuẩn bị BRCGS hoặc FSSC 22000 (đánh giá khoảng cách)</a:t>
            </a:r>
            <a:endParaRPr lang="en-US" sz="1400" dirty="0"/>
          </a:p>
        </p:txBody>
      </p:sp>
      <p:sp>
        <p:nvSpPr>
          <p:cNvPr id="20" name="Khung NHÂN SỰ"/>
          <p:cNvSpPr/>
          <p:nvPr/>
        </p:nvSpPr>
        <p:spPr>
          <a:xfrm>
            <a:off x="4544568" y="2468880"/>
            <a:ext cx="3474720" cy="3072384"/>
          </a:xfrm>
          <a:prstGeom prst="roundRect">
            <a:avLst>
              <a:gd name="adj" fmla="val 3571"/>
            </a:avLst>
          </a:prstGeom>
          <a:solidFill>
            <a:schemeClr val="bg2"/>
          </a:solidFill>
          <a:ln/>
        </p:spPr>
      </p:sp>
      <p:sp>
        <p:nvSpPr>
          <p:cNvPr id="21" name="Vach mau NHÂN SỰ"/>
          <p:cNvSpPr/>
          <p:nvPr/>
        </p:nvSpPr>
        <p:spPr>
          <a:xfrm>
            <a:off x="4544568" y="2468880"/>
            <a:ext cx="3474720" cy="64008"/>
          </a:xfrm>
          <a:prstGeom prst="rect">
            <a:avLst/>
          </a:prstGeom>
          <a:solidFill>
            <a:srgbClr val="E4A92A"/>
          </a:solidFill>
          <a:ln/>
        </p:spPr>
      </p:sp>
      <p:sp>
        <p:nvSpPr>
          <p:cNvPr id="22" name="Tieu de NHÂN SỰ"/>
          <p:cNvSpPr txBox="1"/>
          <p:nvPr/>
        </p:nvSpPr>
        <p:spPr>
          <a:xfrm>
            <a:off x="4727448" y="2615184"/>
            <a:ext cx="3108960" cy="237744"/>
          </a:xfrm>
          <a:prstGeom prst="rect">
            <a:avLst/>
          </a:prstGeom>
          <a:noFill/>
          <a:ln/>
        </p:spPr>
        <p:txBody>
          <a:bodyPr wrap="square" lIns="0" tIns="0" rIns="0" bIns="0" rtlCol="0" anchor="t"/>
          <a:lstStyle/>
          <a:p>
            <a:pPr marL="0" indent="0" algn="l">
              <a:buNone/>
            </a:pPr>
            <a:r>
              <a:rPr lang="en-US" sz="1200" b="1" kern="0" spc="100" dirty="0">
                <a:solidFill>
                  <a:schemeClr val="accent1"/>
                </a:solidFill>
              </a:rPr>
              <a:t>NHÂN SỰ</a:t>
            </a:r>
            <a:endParaRPr lang="en-US" sz="1200" dirty="0"/>
          </a:p>
        </p:txBody>
      </p:sp>
      <p:sp>
        <p:nvSpPr>
          <p:cNvPr id="23" name="Tong nhan su"/>
          <p:cNvSpPr txBox="1"/>
          <p:nvPr/>
        </p:nvSpPr>
        <p:spPr>
          <a:xfrm>
            <a:off x="4727448" y="2871216"/>
            <a:ext cx="3108960" cy="457200"/>
          </a:xfrm>
          <a:prstGeom prst="rect">
            <a:avLst/>
          </a:prstGeom>
          <a:noFill/>
          <a:ln/>
        </p:spPr>
        <p:txBody>
          <a:bodyPr wrap="square" lIns="0" tIns="0" rIns="0" bIns="0" rtlCol="0" anchor="ctr"/>
          <a:lstStyle/>
          <a:p>
            <a:pPr marL="0" indent="0" algn="l">
              <a:buNone/>
            </a:pPr>
            <a:r>
              <a:rPr lang="en-US" sz="2800" b="1" dirty="0">
                <a:solidFill>
                  <a:schemeClr val="accent1"/>
                </a:solidFill>
                <a:latin typeface="+mj-lt" pitchFamily="34" charset="0"/>
                <a:ea typeface="+mj-lt" pitchFamily="34" charset="-122"/>
                <a:cs typeface="+mj-lt" pitchFamily="34" charset="-120"/>
              </a:rPr>
              <a:t>25–35</a:t>
            </a:r>
            <a:r>
              <a:rPr lang="en-US" sz="1400" b="1" dirty="0">
                <a:solidFill>
                  <a:schemeClr val="accent1"/>
                </a:solidFill>
              </a:rPr>
              <a:t> người</a:t>
            </a:r>
            <a:endParaRPr lang="en-US" sz="1400" dirty="0"/>
          </a:p>
        </p:txBody>
      </p:sp>
      <p:sp>
        <p:nvSpPr>
          <p:cNvPr id="24" name="Tuyen moi"/>
          <p:cNvSpPr txBox="1"/>
          <p:nvPr/>
        </p:nvSpPr>
        <p:spPr>
          <a:xfrm>
            <a:off x="4727448" y="3346704"/>
            <a:ext cx="3108960" cy="237744"/>
          </a:xfrm>
          <a:prstGeom prst="rect">
            <a:avLst/>
          </a:prstGeom>
          <a:noFill/>
          <a:ln/>
        </p:spPr>
        <p:txBody>
          <a:bodyPr wrap="square" lIns="0" tIns="0" rIns="0" bIns="0" rtlCol="0" anchor="t"/>
          <a:lstStyle/>
          <a:p>
            <a:pPr marL="0" indent="0" algn="l">
              <a:buNone/>
            </a:pPr>
            <a:r>
              <a:rPr lang="en-US" sz="1200" b="1" dirty="0">
                <a:solidFill>
                  <a:schemeClr val="accent6"/>
                </a:solidFill>
              </a:rPr>
              <a:t>Tuyển mới trong giai đoạn: +6–8</a:t>
            </a:r>
            <a:endParaRPr lang="en-US" sz="1200" dirty="0"/>
          </a:p>
        </p:txBody>
      </p:sp>
      <p:sp>
        <p:nvSpPr>
          <p:cNvPr id="25" name="Ten bo phan"/>
          <p:cNvSpPr txBox="1"/>
          <p:nvPr/>
        </p:nvSpPr>
        <p:spPr>
          <a:xfrm>
            <a:off x="4727448" y="3657600"/>
            <a:ext cx="2377440" cy="1783080"/>
          </a:xfrm>
          <a:prstGeom prst="rect">
            <a:avLst/>
          </a:prstGeom>
          <a:noFill/>
          <a:ln/>
        </p:spPr>
        <p:txBody>
          <a:bodyPr wrap="square" lIns="0" tIns="0" rIns="0" bIns="0" rtlCol="0" anchor="t"/>
          <a:lstStyle/>
          <a:p>
            <a:pPr marL="0" indent="0" algn="l">
              <a:spcAft>
                <a:spcPts val="400"/>
              </a:spcAft>
              <a:buNone/>
            </a:pPr>
            <a:r>
              <a:rPr lang="en-US" sz="1400" dirty="0">
                <a:solidFill>
                  <a:schemeClr val="tx1"/>
                </a:solidFill>
              </a:rPr>
              <a:t>Giám đốc điều hành</a:t>
            </a:r>
            <a:endParaRPr lang="en-US" sz="1400" dirty="0"/>
          </a:p>
          <a:p>
            <a:pPr marL="0" indent="0" algn="l">
              <a:spcAft>
                <a:spcPts val="400"/>
              </a:spcAft>
              <a:buNone/>
            </a:pPr>
            <a:r>
              <a:rPr lang="en-US" sz="1400" dirty="0">
                <a:solidFill>
                  <a:schemeClr val="tx1"/>
                </a:solidFill>
              </a:rPr>
              <a:t>Sản xuất và kỹ thuật</a:t>
            </a:r>
            <a:endParaRPr lang="en-US" sz="1400" dirty="0"/>
          </a:p>
          <a:p>
            <a:pPr marL="0" indent="0" algn="l">
              <a:spcAft>
                <a:spcPts val="400"/>
              </a:spcAft>
              <a:buNone/>
            </a:pPr>
            <a:r>
              <a:rPr lang="en-US" sz="1400" dirty="0">
                <a:solidFill>
                  <a:schemeClr val="tx1"/>
                </a:solidFill>
              </a:rPr>
              <a:t>QA/QC và ATTP</a:t>
            </a:r>
            <a:endParaRPr lang="en-US" sz="1400" dirty="0"/>
          </a:p>
          <a:p>
            <a:pPr marL="0" indent="0" algn="l">
              <a:spcAft>
                <a:spcPts val="400"/>
              </a:spcAft>
              <a:buNone/>
            </a:pPr>
            <a:r>
              <a:rPr lang="en-US" sz="1400" dirty="0">
                <a:solidFill>
                  <a:schemeClr val="tx1"/>
                </a:solidFill>
              </a:rPr>
              <a:t>Vùng nguyên liệu, TXNG</a:t>
            </a:r>
            <a:endParaRPr lang="en-US" sz="1400" dirty="0"/>
          </a:p>
          <a:p>
            <a:pPr marL="0" indent="0" algn="l">
              <a:spcAft>
                <a:spcPts val="400"/>
              </a:spcAft>
              <a:buNone/>
            </a:pPr>
            <a:r>
              <a:rPr lang="en-US" sz="1400" dirty="0">
                <a:solidFill>
                  <a:schemeClr val="tx1"/>
                </a:solidFill>
              </a:rPr>
              <a:t>Kho và logistics</a:t>
            </a:r>
            <a:endParaRPr lang="en-US" sz="1400" dirty="0"/>
          </a:p>
          <a:p>
            <a:pPr marL="0" indent="0" algn="l">
              <a:spcAft>
                <a:spcPts val="400"/>
              </a:spcAft>
              <a:buNone/>
            </a:pPr>
            <a:r>
              <a:rPr lang="en-US" sz="1400" dirty="0">
                <a:solidFill>
                  <a:schemeClr val="tx1"/>
                </a:solidFill>
              </a:rPr>
              <a:t>Xuất khẩu, thị trường</a:t>
            </a:r>
            <a:endParaRPr lang="en-US" sz="1400" dirty="0"/>
          </a:p>
          <a:p>
            <a:pPr marL="0" indent="0" algn="l">
              <a:spcAft>
                <a:spcPts val="400"/>
              </a:spcAft>
              <a:buNone/>
            </a:pPr>
            <a:r>
              <a:rPr lang="en-US" sz="1400" dirty="0">
                <a:solidFill>
                  <a:schemeClr val="tx1"/>
                </a:solidFill>
              </a:rPr>
              <a:t>Hành chính, kế toán</a:t>
            </a:r>
            <a:endParaRPr lang="en-US" sz="1400" dirty="0"/>
          </a:p>
        </p:txBody>
      </p:sp>
      <p:sp>
        <p:nvSpPr>
          <p:cNvPr id="26" name="So nguoi bo phan"/>
          <p:cNvSpPr txBox="1"/>
          <p:nvPr/>
        </p:nvSpPr>
        <p:spPr>
          <a:xfrm>
            <a:off x="7059168" y="3657600"/>
            <a:ext cx="777240" cy="1783080"/>
          </a:xfrm>
          <a:prstGeom prst="rect">
            <a:avLst/>
          </a:prstGeom>
          <a:noFill/>
          <a:ln/>
        </p:spPr>
        <p:txBody>
          <a:bodyPr wrap="square" lIns="0" tIns="0" rIns="0" bIns="0" rtlCol="0" anchor="t"/>
          <a:lstStyle/>
          <a:p>
            <a:pPr marL="0" indent="0" algn="r">
              <a:spcAft>
                <a:spcPts val="400"/>
              </a:spcAft>
              <a:buNone/>
            </a:pPr>
            <a:r>
              <a:rPr lang="en-US" sz="1400" b="1" dirty="0">
                <a:solidFill>
                  <a:schemeClr val="accent1"/>
                </a:solidFill>
              </a:rPr>
              <a:t>1</a:t>
            </a:r>
            <a:endParaRPr lang="en-US" sz="1400" dirty="0"/>
          </a:p>
          <a:p>
            <a:pPr marL="0" indent="0" algn="r">
              <a:spcAft>
                <a:spcPts val="400"/>
              </a:spcAft>
              <a:buNone/>
            </a:pPr>
            <a:r>
              <a:rPr lang="en-US" sz="1400" b="1" dirty="0">
                <a:solidFill>
                  <a:schemeClr val="accent1"/>
                </a:solidFill>
              </a:rPr>
              <a:t>12–16</a:t>
            </a:r>
            <a:endParaRPr lang="en-US" sz="1400" dirty="0"/>
          </a:p>
          <a:p>
            <a:pPr marL="0" indent="0" algn="r">
              <a:spcAft>
                <a:spcPts val="400"/>
              </a:spcAft>
              <a:buNone/>
            </a:pPr>
            <a:r>
              <a:rPr lang="en-US" sz="1400" b="1" dirty="0">
                <a:solidFill>
                  <a:schemeClr val="accent1"/>
                </a:solidFill>
              </a:rPr>
              <a:t>3–4</a:t>
            </a:r>
            <a:endParaRPr lang="en-US" sz="1400" dirty="0"/>
          </a:p>
          <a:p>
            <a:pPr marL="0" indent="0" algn="r">
              <a:spcAft>
                <a:spcPts val="400"/>
              </a:spcAft>
              <a:buNone/>
            </a:pPr>
            <a:r>
              <a:rPr lang="en-US" sz="1400" b="1" dirty="0">
                <a:solidFill>
                  <a:schemeClr val="accent1"/>
                </a:solidFill>
              </a:rPr>
              <a:t>3–5</a:t>
            </a:r>
            <a:endParaRPr lang="en-US" sz="1400" dirty="0"/>
          </a:p>
          <a:p>
            <a:pPr marL="0" indent="0" algn="r">
              <a:spcAft>
                <a:spcPts val="400"/>
              </a:spcAft>
              <a:buNone/>
            </a:pPr>
            <a:r>
              <a:rPr lang="en-US" sz="1400" b="1" dirty="0">
                <a:solidFill>
                  <a:schemeClr val="accent1"/>
                </a:solidFill>
              </a:rPr>
              <a:t>2–3</a:t>
            </a:r>
            <a:endParaRPr lang="en-US" sz="1400" dirty="0"/>
          </a:p>
          <a:p>
            <a:pPr marL="0" indent="0" algn="r">
              <a:spcAft>
                <a:spcPts val="400"/>
              </a:spcAft>
              <a:buNone/>
            </a:pPr>
            <a:r>
              <a:rPr lang="en-US" sz="1400" b="1" dirty="0">
                <a:solidFill>
                  <a:schemeClr val="accent1"/>
                </a:solidFill>
              </a:rPr>
              <a:t>2–3</a:t>
            </a:r>
            <a:endParaRPr lang="en-US" sz="1400" dirty="0"/>
          </a:p>
          <a:p>
            <a:pPr marL="0" indent="0" algn="r">
              <a:spcAft>
                <a:spcPts val="400"/>
              </a:spcAft>
              <a:buNone/>
            </a:pPr>
            <a:r>
              <a:rPr lang="en-US" sz="1400" b="1" dirty="0">
                <a:solidFill>
                  <a:schemeClr val="accent1"/>
                </a:solidFill>
              </a:rPr>
              <a:t>2–3</a:t>
            </a:r>
            <a:endParaRPr lang="en-US" sz="1400" dirty="0"/>
          </a:p>
        </p:txBody>
      </p:sp>
      <p:sp>
        <p:nvSpPr>
          <p:cNvPr id="27" name="Khung ĐẠT ĐƯỢC KHI KẾT THÚC"/>
          <p:cNvSpPr/>
          <p:nvPr/>
        </p:nvSpPr>
        <p:spPr>
          <a:xfrm>
            <a:off x="8174736" y="2468880"/>
            <a:ext cx="3468319" cy="3072384"/>
          </a:xfrm>
          <a:prstGeom prst="roundRect">
            <a:avLst>
              <a:gd name="adj" fmla="val 3571"/>
            </a:avLst>
          </a:prstGeom>
          <a:solidFill>
            <a:schemeClr val="bg2"/>
          </a:solidFill>
          <a:ln/>
        </p:spPr>
      </p:sp>
      <p:sp>
        <p:nvSpPr>
          <p:cNvPr id="28" name="Vach mau ĐẠT ĐƯỢC KHI KẾT THÚC"/>
          <p:cNvSpPr/>
          <p:nvPr/>
        </p:nvSpPr>
        <p:spPr>
          <a:xfrm>
            <a:off x="8174736" y="2468880"/>
            <a:ext cx="3468319" cy="64008"/>
          </a:xfrm>
          <a:prstGeom prst="rect">
            <a:avLst/>
          </a:prstGeom>
          <a:solidFill>
            <a:srgbClr val="E4A92A"/>
          </a:solidFill>
          <a:ln/>
        </p:spPr>
      </p:sp>
      <p:sp>
        <p:nvSpPr>
          <p:cNvPr id="29" name="Tieu de ĐẠT ĐƯỢC KHI KẾT THÚC"/>
          <p:cNvSpPr txBox="1"/>
          <p:nvPr/>
        </p:nvSpPr>
        <p:spPr>
          <a:xfrm>
            <a:off x="8357616" y="2615184"/>
            <a:ext cx="3102559" cy="237744"/>
          </a:xfrm>
          <a:prstGeom prst="rect">
            <a:avLst/>
          </a:prstGeom>
          <a:noFill/>
          <a:ln/>
        </p:spPr>
        <p:txBody>
          <a:bodyPr wrap="square" lIns="0" tIns="0" rIns="0" bIns="0" rtlCol="0" anchor="t"/>
          <a:lstStyle/>
          <a:p>
            <a:pPr marL="0" indent="0" algn="l">
              <a:buNone/>
            </a:pPr>
            <a:r>
              <a:rPr lang="en-US" sz="1200" b="1" kern="0" spc="100" dirty="0">
                <a:solidFill>
                  <a:schemeClr val="accent1"/>
                </a:solidFill>
              </a:rPr>
              <a:t>ĐẠT ĐƯỢC KHI KẾT THÚC</a:t>
            </a:r>
            <a:endParaRPr lang="en-US" sz="1200" dirty="0"/>
          </a:p>
        </p:txBody>
      </p:sp>
      <p:sp>
        <p:nvSpPr>
          <p:cNvPr id="30" name="ISO 22000:2018 (khung)"/>
          <p:cNvSpPr/>
          <p:nvPr/>
        </p:nvSpPr>
        <p:spPr>
          <a:xfrm>
            <a:off x="8752468" y="2898648"/>
            <a:ext cx="715855" cy="969264"/>
          </a:xfrm>
          <a:prstGeom prst="rect">
            <a:avLst/>
          </a:prstGeom>
          <a:solidFill>
            <a:srgbClr val="FFFFFF"/>
          </a:solidFill>
          <a:ln w="9525">
            <a:solidFill>
              <a:srgbClr val="D5DED8"/>
            </a:solidFill>
            <a:prstDash val="solid"/>
          </a:ln>
          <a:effectLst>
            <a:outerShdw blurRad="76200" dist="25400" dir="5400000" algn="bl" rotWithShape="0">
              <a:srgbClr val="000000">
                <a:alpha val="16000"/>
              </a:srgbClr>
            </a:outerShdw>
          </a:effectLst>
        </p:spPr>
      </p:sp>
      <p:pic>
        <p:nvPicPr>
          <p:cNvPr id="31" name="ISO 22000:2018" descr="ISO 22000:2018"/>
          <p:cNvPicPr>
            <a:picLocks noChangeAspect="1"/>
          </p:cNvPicPr>
          <p:nvPr/>
        </p:nvPicPr>
        <p:blipFill>
          <a:blip r:embed="rId3"/>
          <a:stretch>
            <a:fillRect/>
          </a:stretch>
        </p:blipFill>
        <p:spPr>
          <a:xfrm>
            <a:off x="8779900" y="2926080"/>
            <a:ext cx="660991" cy="914400"/>
          </a:xfrm>
          <a:prstGeom prst="rect">
            <a:avLst/>
          </a:prstGeom>
        </p:spPr>
      </p:pic>
      <p:sp>
        <p:nvSpPr>
          <p:cNvPr id="32" name="Cấu trúc mã đăng ký GACC (khung)"/>
          <p:cNvSpPr/>
          <p:nvPr/>
        </p:nvSpPr>
        <p:spPr>
          <a:xfrm>
            <a:off x="9927184" y="2898648"/>
            <a:ext cx="1560424" cy="945825"/>
          </a:xfrm>
          <a:prstGeom prst="rect">
            <a:avLst/>
          </a:prstGeom>
          <a:solidFill>
            <a:srgbClr val="FFFFFF"/>
          </a:solidFill>
          <a:ln w="9525">
            <a:solidFill>
              <a:srgbClr val="D5DED8"/>
            </a:solidFill>
            <a:prstDash val="solid"/>
          </a:ln>
          <a:effectLst>
            <a:outerShdw blurRad="76200" dist="25400" dir="5400000" algn="bl" rotWithShape="0">
              <a:srgbClr val="000000">
                <a:alpha val="16000"/>
              </a:srgbClr>
            </a:outerShdw>
          </a:effectLst>
        </p:spPr>
      </p:sp>
      <p:pic>
        <p:nvPicPr>
          <p:cNvPr id="33" name="Cấu trúc mã đăng ký GACC" descr="Cấu trúc mã đăng ký GACC"/>
          <p:cNvPicPr>
            <a:picLocks noChangeAspect="1"/>
          </p:cNvPicPr>
          <p:nvPr/>
        </p:nvPicPr>
        <p:blipFill>
          <a:blip r:embed="rId4"/>
          <a:stretch>
            <a:fillRect/>
          </a:stretch>
        </p:blipFill>
        <p:spPr>
          <a:xfrm>
            <a:off x="9954616" y="2926080"/>
            <a:ext cx="1505560" cy="890961"/>
          </a:xfrm>
          <a:prstGeom prst="rect">
            <a:avLst/>
          </a:prstGeom>
        </p:spPr>
      </p:pic>
      <p:sp>
        <p:nvSpPr>
          <p:cNvPr id="34" name="Chu thich hinh"/>
          <p:cNvSpPr txBox="1"/>
          <p:nvPr/>
        </p:nvSpPr>
        <p:spPr>
          <a:xfrm>
            <a:off x="8357616" y="3895344"/>
            <a:ext cx="3102559" cy="219456"/>
          </a:xfrm>
          <a:prstGeom prst="rect">
            <a:avLst/>
          </a:prstGeom>
          <a:noFill/>
          <a:ln/>
        </p:spPr>
        <p:txBody>
          <a:bodyPr wrap="square" lIns="0" tIns="0" rIns="0" bIns="0" rtlCol="0" anchor="t"/>
          <a:lstStyle/>
          <a:p>
            <a:pPr marL="0" indent="0" algn="l">
              <a:buNone/>
            </a:pPr>
            <a:r>
              <a:rPr lang="en-US" sz="1100" dirty="0">
                <a:solidFill>
                  <a:srgbClr val="5C6F66"/>
                </a:solidFill>
              </a:rPr>
              <a:t>Minh họa: ISO 22000 và cấu trúc mã GACC</a:t>
            </a:r>
            <a:endParaRPr lang="en-US" sz="1100" dirty="0"/>
          </a:p>
        </p:txBody>
      </p:sp>
      <p:sp>
        <p:nvSpPr>
          <p:cNvPr id="35" name="Moc hoan thanh"/>
          <p:cNvSpPr txBox="1"/>
          <p:nvPr/>
        </p:nvSpPr>
        <p:spPr>
          <a:xfrm>
            <a:off x="8357616" y="4187952"/>
            <a:ext cx="3102559" cy="1298448"/>
          </a:xfrm>
          <a:prstGeom prst="rect">
            <a:avLst/>
          </a:prstGeom>
          <a:noFill/>
          <a:ln/>
        </p:spPr>
        <p:txBody>
          <a:bodyPr wrap="square" lIns="0" tIns="0" rIns="0" bIns="0" rtlCol="0" anchor="t"/>
          <a:lstStyle/>
          <a:p>
            <a:pPr marL="177800" indent="-177800" algn="l">
              <a:spcAft>
                <a:spcPts val="300"/>
              </a:spcAft>
              <a:buSzPct val="100000"/>
              <a:buChar char="•"/>
            </a:pPr>
            <a:r>
              <a:rPr lang="en-US" sz="1400" dirty="0">
                <a:solidFill>
                  <a:schemeClr val="tx1"/>
                </a:solidFill>
              </a:rPr>
              <a:t>Có chứng nhận HACCP/ISO 22000</a:t>
            </a:r>
            <a:endParaRPr lang="en-US" sz="1400" dirty="0"/>
          </a:p>
          <a:p>
            <a:pPr marL="177800" indent="-177800" algn="l">
              <a:spcAft>
                <a:spcPts val="300"/>
              </a:spcAft>
              <a:buSzPct val="100000"/>
              <a:buChar char="•"/>
            </a:pPr>
            <a:r>
              <a:rPr lang="en-US" sz="1400" dirty="0">
                <a:solidFill>
                  <a:schemeClr val="tx1"/>
                </a:solidFill>
              </a:rPr>
              <a:t>Có mã GACC trên hệ thống CIFER</a:t>
            </a:r>
            <a:endParaRPr lang="en-US" sz="1400" dirty="0"/>
          </a:p>
          <a:p>
            <a:pPr marL="177800" indent="-177800" algn="l">
              <a:spcAft>
                <a:spcPts val="300"/>
              </a:spcAft>
              <a:buSzPct val="100000"/>
              <a:buChar char="•"/>
            </a:pPr>
            <a:r>
              <a:rPr lang="en-US" sz="1400" dirty="0">
                <a:solidFill>
                  <a:schemeClr val="tx1"/>
                </a:solidFill>
              </a:rPr>
              <a:t>Lô đầu sang Trung Quốc thông quan</a:t>
            </a:r>
            <a:endParaRPr lang="en-US" sz="1400" dirty="0"/>
          </a:p>
        </p:txBody>
      </p:sp>
      <p:sp>
        <p:nvSpPr>
          <p:cNvPr id="36" name="Khung quyet dinh"/>
          <p:cNvSpPr/>
          <p:nvPr/>
        </p:nvSpPr>
        <p:spPr>
          <a:xfrm>
            <a:off x="548640" y="5614416"/>
            <a:ext cx="11094415" cy="548640"/>
          </a:xfrm>
          <a:prstGeom prst="roundRect">
            <a:avLst>
              <a:gd name="adj" fmla="val 20000"/>
            </a:avLst>
          </a:prstGeom>
          <a:solidFill>
            <a:srgbClr val="FBF1D8"/>
          </a:solidFill>
          <a:ln/>
        </p:spPr>
      </p:sp>
      <p:sp>
        <p:nvSpPr>
          <p:cNvPr id="37" name="Vach quyet dinh"/>
          <p:cNvSpPr/>
          <p:nvPr/>
        </p:nvSpPr>
        <p:spPr>
          <a:xfrm>
            <a:off x="548640" y="5614416"/>
            <a:ext cx="73152" cy="548640"/>
          </a:xfrm>
          <a:prstGeom prst="rect">
            <a:avLst/>
          </a:prstGeom>
          <a:solidFill>
            <a:schemeClr val="accent2"/>
          </a:solidFill>
          <a:ln/>
        </p:spPr>
      </p:sp>
      <p:sp>
        <p:nvSpPr>
          <p:cNvPr id="38" name="Chu quyet dinh"/>
          <p:cNvSpPr txBox="1"/>
          <p:nvPr/>
        </p:nvSpPr>
        <p:spPr>
          <a:xfrm>
            <a:off x="777240" y="5614416"/>
            <a:ext cx="10682935" cy="548640"/>
          </a:xfrm>
          <a:prstGeom prst="rect">
            <a:avLst/>
          </a:prstGeom>
          <a:noFill/>
          <a:ln/>
        </p:spPr>
        <p:txBody>
          <a:bodyPr wrap="square" lIns="0" tIns="0" rIns="0" bIns="0" rtlCol="0" anchor="ctr"/>
          <a:lstStyle/>
          <a:p>
            <a:pPr marL="0" indent="0" algn="l">
              <a:buNone/>
            </a:pPr>
            <a:r>
              <a:rPr lang="en-US" sz="1400" b="1" dirty="0">
                <a:solidFill>
                  <a:schemeClr val="accent6"/>
                </a:solidFill>
              </a:rPr>
              <a:t>BAN LÃNH ĐẠO QUYẾT ĐỊNH: </a:t>
            </a:r>
            <a:r>
              <a:rPr lang="en-US" sz="1400" dirty="0">
                <a:solidFill>
                  <a:schemeClr val="tx1"/>
                </a:solidFill>
              </a:rPr>
              <a:t>Chọn nhà nhập khẩu Trung Quốc; duyệt vốn lưu động mua theo mùa vụ và ngân sách chứng nhận GFSI; cho xuất lô đầu khi có mã GACC và kết quả kiểm nghiệm đạt.</a:t>
            </a:r>
            <a:endParaRPr lang="en-US" sz="1400" dirty="0"/>
          </a:p>
        </p:txBody>
      </p:sp>
      <p:sp>
        <p:nvSpPr>
          <p:cNvPr id="39" name="Nguon"/>
          <p:cNvSpPr txBox="1"/>
          <p:nvPr/>
        </p:nvSpPr>
        <p:spPr>
          <a:xfrm>
            <a:off x="548640" y="6217920"/>
            <a:ext cx="11094415" cy="201168"/>
          </a:xfrm>
          <a:prstGeom prst="rect">
            <a:avLst/>
          </a:prstGeom>
          <a:noFill/>
          <a:ln/>
        </p:spPr>
        <p:txBody>
          <a:bodyPr wrap="square" lIns="0" tIns="0" rIns="0" bIns="0" rtlCol="0" anchor="t"/>
          <a:lstStyle/>
          <a:p>
            <a:pPr marL="0" indent="0" algn="l">
              <a:buNone/>
            </a:pPr>
            <a:r>
              <a:rPr lang="en-US" sz="1000" dirty="0">
                <a:solidFill>
                  <a:srgbClr val="5C6F66"/>
                </a:solidFill>
              </a:rPr>
              <a:t>Căn cứ: Lệnh 280 (SFA Singapore, China Briefing); 13 tiêu chí GACC (nongnghiepmoitruong.vn, 9/2024). Thời gian cấp mã GACC: chưa có số liệu công khai, mốc là ước tính.</a:t>
            </a:r>
            <a:endParaRPr lang="en-US" sz="1000" dirty="0"/>
          </a:p>
        </p:txBody>
      </p:sp>
      <p:sp>
        <p:nvSpPr>
          <p:cNvPr id="2" name="Slide Number Placeholder 0"/>
          <p:cNvSpPr>
            <a:spLocks noGrp="1"/>
          </p:cNvSpPr>
          <p:nvPr>
            <p:ph type="sldNum" sz="quarter" idx="4294967295"/>
          </p:nvPr>
        </p:nvSpPr>
        <p:spPr>
          <a:xfrm>
            <a:off x="10972800" y="6492240"/>
            <a:ext cx="667512" cy="237744"/>
          </a:xfrm>
          <a:prstGeom prst="rect">
            <a:avLst/>
          </a:prstGeom>
          <a:extLst>
            <a:ext uri="{C572A759-6A51-4108-AA02-DFA0A04FC94B}">
              <ma14:wrappingTextBoxFlag xmlns:ma14="http://schemas.microsoft.com/office/mac/drawingml/2011/main" xmlns="" val="0"/>
            </a:ext>
          </a:extLst>
        </p:spPr>
        <p:txBody>
          <a:bodyPr/>
          <a:lstStyle>
            <a:lvl1pPr>
              <a:defRPr sz="1000">
                <a:solidFill>
                  <a:srgbClr val="5C6F66"/>
                </a:solidFill>
              </a:defRPr>
            </a:lvl1pPr>
          </a:lstStyle>
          <a:p>
            <a:pPr algn="r"/>
            <a:fld id="{F7021451-1387-4CA6-816F-3879F97B5CBC}" type="slidenum">
              <a:rPr lang="en-US" b="0"/>
              <a:t>7</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Dau cham"/>
          <p:cNvSpPr/>
          <p:nvPr/>
        </p:nvSpPr>
        <p:spPr>
          <a:xfrm>
            <a:off x="548640" y="429768"/>
            <a:ext cx="118872" cy="118872"/>
          </a:xfrm>
          <a:prstGeom prst="ellipse">
            <a:avLst/>
          </a:prstGeom>
          <a:solidFill>
            <a:schemeClr val="accent2"/>
          </a:solidFill>
          <a:ln/>
        </p:spPr>
      </p:sp>
      <p:sp>
        <p:nvSpPr>
          <p:cNvPr id="4" name="Nhan chuyen muc"/>
          <p:cNvSpPr txBox="1"/>
          <p:nvPr/>
        </p:nvSpPr>
        <p:spPr>
          <a:xfrm>
            <a:off x="777240" y="347472"/>
            <a:ext cx="6949440" cy="274320"/>
          </a:xfrm>
          <a:prstGeom prst="rect">
            <a:avLst/>
          </a:prstGeom>
          <a:noFill/>
          <a:ln/>
        </p:spPr>
        <p:txBody>
          <a:bodyPr wrap="square" lIns="0" tIns="0" rIns="0" bIns="0" rtlCol="0" anchor="ctr"/>
          <a:lstStyle/>
          <a:p>
            <a:pPr marL="0" indent="0" algn="l">
              <a:buNone/>
            </a:pPr>
            <a:r>
              <a:rPr lang="en-US" sz="1200" b="1" kern="0" spc="200" dirty="0">
                <a:solidFill>
                  <a:schemeClr val="accent1"/>
                </a:solidFill>
              </a:rPr>
              <a:t>LỘ TRÌNH THEO GIAI ĐOẠN</a:t>
            </a:r>
            <a:endParaRPr lang="en-US" sz="1200" dirty="0"/>
          </a:p>
        </p:txBody>
      </p:sp>
      <p:sp>
        <p:nvSpPr>
          <p:cNvPr id="5" name="Nhan giai doan"/>
          <p:cNvSpPr/>
          <p:nvPr/>
        </p:nvSpPr>
        <p:spPr>
          <a:xfrm>
            <a:off x="8625535" y="347472"/>
            <a:ext cx="3017520" cy="274320"/>
          </a:xfrm>
          <a:prstGeom prst="roundRect">
            <a:avLst>
              <a:gd name="adj" fmla="val 26667"/>
            </a:avLst>
          </a:prstGeom>
          <a:solidFill>
            <a:srgbClr val="7A3E8F"/>
          </a:solidFill>
          <a:ln/>
        </p:spPr>
      </p:sp>
      <p:sp>
        <p:nvSpPr>
          <p:cNvPr id="6" name="Chu nhan giai doan"/>
          <p:cNvSpPr txBox="1"/>
          <p:nvPr/>
        </p:nvSpPr>
        <p:spPr>
          <a:xfrm>
            <a:off x="8625535" y="347472"/>
            <a:ext cx="3017520" cy="274320"/>
          </a:xfrm>
          <a:prstGeom prst="rect">
            <a:avLst/>
          </a:prstGeom>
          <a:noFill/>
          <a:ln/>
        </p:spPr>
        <p:txBody>
          <a:bodyPr wrap="square" lIns="0" tIns="0" rIns="0" bIns="0" rtlCol="0" anchor="ctr"/>
          <a:lstStyle/>
          <a:p>
            <a:pPr marL="0" indent="0" algn="ctr">
              <a:buNone/>
            </a:pPr>
            <a:r>
              <a:rPr lang="en-US" sz="1200" b="1" kern="0" spc="50" dirty="0">
                <a:solidFill>
                  <a:srgbClr val="FFFFFF"/>
                </a:solidFill>
              </a:rPr>
              <a:t>GIAI ĐOẠN 4 · Q2/2028 trở đi</a:t>
            </a:r>
            <a:endParaRPr lang="en-US" sz="1200" dirty="0"/>
          </a:p>
        </p:txBody>
      </p:sp>
      <p:sp>
        <p:nvSpPr>
          <p:cNvPr id="7" name="Text 0"/>
          <p:cNvSpPr>
            <a:spLocks noGrp="1"/>
          </p:cNvSpPr>
          <p:nvPr>
            <p:ph type="title" idx="100" hasCustomPrompt="1"/>
          </p:nvPr>
        </p:nvSpPr>
        <p:spPr>
          <a:xfrm>
            <a:off x="548640" y="658368"/>
            <a:ext cx="11094415" cy="777240"/>
          </a:xfrm>
          <a:prstGeom prst="rect">
            <a:avLst/>
          </a:prstGeom>
          <a:noFill/>
          <a:ln/>
        </p:spPr>
        <p:txBody>
          <a:bodyPr wrap="square" lIns="0" tIns="0" rIns="0" bIns="0" rtlCol="0" anchor="ctr"/>
          <a:lstStyle/>
          <a:p>
            <a:pPr marL="0" indent="0" algn="l">
              <a:buNone/>
            </a:pPr>
            <a:r>
              <a:rPr lang="en-US" sz="3000" b="1" dirty="0">
                <a:solidFill>
                  <a:schemeClr val="tx2"/>
                </a:solidFill>
              </a:rPr>
              <a:t>Giai đoạn 4 · Xuất khẩu: tự chủ Trung Quốc và Châu Âu</a:t>
            </a:r>
            <a:endParaRPr lang="en-US" sz="3000" dirty="0"/>
          </a:p>
        </p:txBody>
      </p:sp>
      <p:sp>
        <p:nvSpPr>
          <p:cNvPr id="8" name="Cong doan 1"/>
          <p:cNvSpPr/>
          <p:nvPr/>
        </p:nvSpPr>
        <p:spPr>
          <a:xfrm>
            <a:off x="548640" y="1691640"/>
            <a:ext cx="2732456" cy="640080"/>
          </a:xfrm>
          <a:prstGeom prst="homePlate">
            <a:avLst/>
          </a:prstGeom>
          <a:solidFill>
            <a:srgbClr val="1D4B3A"/>
          </a:solidFill>
          <a:ln/>
        </p:spPr>
      </p:sp>
      <p:sp>
        <p:nvSpPr>
          <p:cNvPr id="9" name="Chu cong doan 1"/>
          <p:cNvSpPr txBox="1"/>
          <p:nvPr/>
        </p:nvSpPr>
        <p:spPr>
          <a:xfrm>
            <a:off x="713232" y="1691640"/>
            <a:ext cx="2275256" cy="640080"/>
          </a:xfrm>
          <a:prstGeom prst="rect">
            <a:avLst/>
          </a:prstGeom>
          <a:noFill/>
          <a:ln/>
        </p:spPr>
        <p:txBody>
          <a:bodyPr wrap="square" lIns="0" tIns="0" rIns="0" bIns="0" rtlCol="0" anchor="ctr"/>
          <a:lstStyle/>
          <a:p>
            <a:pPr marL="0" indent="0" algn="l">
              <a:buNone/>
            </a:pPr>
            <a:r>
              <a:rPr lang="en-US" sz="1400" b="1" dirty="0">
                <a:solidFill>
                  <a:srgbClr val="FFFFFF"/>
                </a:solidFill>
              </a:rPr>
              <a:t>Thu mua</a:t>
            </a:r>
            <a:endParaRPr lang="en-US" sz="1400" dirty="0"/>
          </a:p>
          <a:p>
            <a:pPr marL="0" indent="0" algn="l">
              <a:buNone/>
            </a:pPr>
            <a:r>
              <a:rPr lang="en-US" sz="1200" dirty="0">
                <a:solidFill>
                  <a:srgbClr val="D5E6DA"/>
                </a:solidFill>
              </a:rPr>
              <a:t>Heragrain tự làm</a:t>
            </a:r>
            <a:endParaRPr lang="en-US" sz="1400" dirty="0"/>
          </a:p>
        </p:txBody>
      </p:sp>
      <p:sp>
        <p:nvSpPr>
          <p:cNvPr id="10" name="Cong doan 2"/>
          <p:cNvSpPr/>
          <p:nvPr/>
        </p:nvSpPr>
        <p:spPr>
          <a:xfrm>
            <a:off x="3335960" y="1691640"/>
            <a:ext cx="2732456" cy="640080"/>
          </a:xfrm>
          <a:prstGeom prst="homePlate">
            <a:avLst/>
          </a:prstGeom>
          <a:solidFill>
            <a:srgbClr val="1D4B3A"/>
          </a:solidFill>
          <a:ln/>
        </p:spPr>
      </p:sp>
      <p:sp>
        <p:nvSpPr>
          <p:cNvPr id="11" name="Chu cong doan 2"/>
          <p:cNvSpPr txBox="1"/>
          <p:nvPr/>
        </p:nvSpPr>
        <p:spPr>
          <a:xfrm>
            <a:off x="3500552" y="1691640"/>
            <a:ext cx="2275256" cy="640080"/>
          </a:xfrm>
          <a:prstGeom prst="rect">
            <a:avLst/>
          </a:prstGeom>
          <a:noFill/>
          <a:ln/>
        </p:spPr>
        <p:txBody>
          <a:bodyPr wrap="square" lIns="0" tIns="0" rIns="0" bIns="0" rtlCol="0" anchor="ctr"/>
          <a:lstStyle/>
          <a:p>
            <a:pPr marL="0" indent="0" algn="l">
              <a:buNone/>
            </a:pPr>
            <a:r>
              <a:rPr lang="en-US" sz="1400" b="1" dirty="0">
                <a:solidFill>
                  <a:srgbClr val="FFFFFF"/>
                </a:solidFill>
              </a:rPr>
              <a:t>Chế biến</a:t>
            </a:r>
            <a:endParaRPr lang="en-US" sz="1400" dirty="0"/>
          </a:p>
          <a:p>
            <a:pPr marL="0" indent="0" algn="l">
              <a:buNone/>
            </a:pPr>
            <a:r>
              <a:rPr lang="en-US" sz="1200" dirty="0">
                <a:solidFill>
                  <a:srgbClr val="D5E6DA"/>
                </a:solidFill>
              </a:rPr>
              <a:t>Heragrain tự làm</a:t>
            </a:r>
            <a:endParaRPr lang="en-US" sz="1400" dirty="0"/>
          </a:p>
        </p:txBody>
      </p:sp>
      <p:sp>
        <p:nvSpPr>
          <p:cNvPr id="12" name="Cong doan 3"/>
          <p:cNvSpPr/>
          <p:nvPr/>
        </p:nvSpPr>
        <p:spPr>
          <a:xfrm>
            <a:off x="6123280" y="1691640"/>
            <a:ext cx="2732456" cy="640080"/>
          </a:xfrm>
          <a:prstGeom prst="homePlate">
            <a:avLst/>
          </a:prstGeom>
          <a:solidFill>
            <a:srgbClr val="1D4B3A"/>
          </a:solidFill>
          <a:ln/>
        </p:spPr>
      </p:sp>
      <p:sp>
        <p:nvSpPr>
          <p:cNvPr id="13" name="Chu cong doan 3"/>
          <p:cNvSpPr txBox="1"/>
          <p:nvPr/>
        </p:nvSpPr>
        <p:spPr>
          <a:xfrm>
            <a:off x="6287872" y="1691640"/>
            <a:ext cx="2275256" cy="640080"/>
          </a:xfrm>
          <a:prstGeom prst="rect">
            <a:avLst/>
          </a:prstGeom>
          <a:noFill/>
          <a:ln/>
        </p:spPr>
        <p:txBody>
          <a:bodyPr wrap="square" lIns="0" tIns="0" rIns="0" bIns="0" rtlCol="0" anchor="ctr"/>
          <a:lstStyle/>
          <a:p>
            <a:pPr marL="0" indent="0" algn="l">
              <a:buNone/>
            </a:pPr>
            <a:r>
              <a:rPr lang="en-US" sz="1400" b="1" dirty="0">
                <a:solidFill>
                  <a:srgbClr val="FFFFFF"/>
                </a:solidFill>
              </a:rPr>
              <a:t>Sản xuất đạt chuẩn</a:t>
            </a:r>
            <a:endParaRPr lang="en-US" sz="1400" dirty="0"/>
          </a:p>
          <a:p>
            <a:pPr marL="0" indent="0" algn="l">
              <a:buNone/>
            </a:pPr>
            <a:r>
              <a:rPr lang="en-US" sz="1200" dirty="0">
                <a:solidFill>
                  <a:srgbClr val="D5E6DA"/>
                </a:solidFill>
              </a:rPr>
              <a:t>Thêm BRCGS/FSSC 22000</a:t>
            </a:r>
            <a:endParaRPr lang="en-US" sz="1400" dirty="0"/>
          </a:p>
        </p:txBody>
      </p:sp>
      <p:sp>
        <p:nvSpPr>
          <p:cNvPr id="14" name="Cong doan 4"/>
          <p:cNvSpPr/>
          <p:nvPr/>
        </p:nvSpPr>
        <p:spPr>
          <a:xfrm>
            <a:off x="8910599" y="1691640"/>
            <a:ext cx="2732456" cy="640080"/>
          </a:xfrm>
          <a:prstGeom prst="homePlate">
            <a:avLst/>
          </a:prstGeom>
          <a:solidFill>
            <a:srgbClr val="1D4B3A"/>
          </a:solidFill>
          <a:ln/>
        </p:spPr>
      </p:sp>
      <p:sp>
        <p:nvSpPr>
          <p:cNvPr id="15" name="Chu cong doan 4"/>
          <p:cNvSpPr txBox="1"/>
          <p:nvPr/>
        </p:nvSpPr>
        <p:spPr>
          <a:xfrm>
            <a:off x="9075191" y="1691640"/>
            <a:ext cx="2275256" cy="640080"/>
          </a:xfrm>
          <a:prstGeom prst="rect">
            <a:avLst/>
          </a:prstGeom>
          <a:noFill/>
          <a:ln/>
        </p:spPr>
        <p:txBody>
          <a:bodyPr wrap="square" lIns="0" tIns="0" rIns="0" bIns="0" rtlCol="0" anchor="ctr"/>
          <a:lstStyle/>
          <a:p>
            <a:pPr marL="0" indent="0" algn="l">
              <a:buNone/>
            </a:pPr>
            <a:r>
              <a:rPr lang="en-US" sz="1400" b="1" dirty="0">
                <a:solidFill>
                  <a:srgbClr val="FFFFFF"/>
                </a:solidFill>
              </a:rPr>
              <a:t>Xuất khẩu</a:t>
            </a:r>
            <a:endParaRPr lang="en-US" sz="1400" dirty="0"/>
          </a:p>
          <a:p>
            <a:pPr marL="0" indent="0" algn="l">
              <a:buNone/>
            </a:pPr>
            <a:r>
              <a:rPr lang="en-US" sz="1200" dirty="0">
                <a:solidFill>
                  <a:srgbClr val="D5E6DA"/>
                </a:solidFill>
              </a:rPr>
              <a:t>Tự chủ: Trung Quốc, EU</a:t>
            </a:r>
            <a:endParaRPr lang="en-US" sz="1400" dirty="0"/>
          </a:p>
        </p:txBody>
      </p:sp>
      <p:sp>
        <p:nvSpPr>
          <p:cNvPr id="16" name="Khung VIỆC CẦN LÀM"/>
          <p:cNvSpPr/>
          <p:nvPr/>
        </p:nvSpPr>
        <p:spPr>
          <a:xfrm>
            <a:off x="548640" y="2468880"/>
            <a:ext cx="3840480" cy="3072384"/>
          </a:xfrm>
          <a:prstGeom prst="roundRect">
            <a:avLst>
              <a:gd name="adj" fmla="val 3571"/>
            </a:avLst>
          </a:prstGeom>
          <a:solidFill>
            <a:schemeClr val="bg2"/>
          </a:solidFill>
          <a:ln/>
        </p:spPr>
      </p:sp>
      <p:sp>
        <p:nvSpPr>
          <p:cNvPr id="17" name="Vach mau VIỆC CẦN LÀM"/>
          <p:cNvSpPr/>
          <p:nvPr/>
        </p:nvSpPr>
        <p:spPr>
          <a:xfrm>
            <a:off x="548640" y="2468880"/>
            <a:ext cx="3840480" cy="64008"/>
          </a:xfrm>
          <a:prstGeom prst="rect">
            <a:avLst/>
          </a:prstGeom>
          <a:solidFill>
            <a:srgbClr val="7A3E8F"/>
          </a:solidFill>
          <a:ln/>
        </p:spPr>
      </p:sp>
      <p:sp>
        <p:nvSpPr>
          <p:cNvPr id="18" name="Tieu de VIỆC CẦN LÀM"/>
          <p:cNvSpPr txBox="1"/>
          <p:nvPr/>
        </p:nvSpPr>
        <p:spPr>
          <a:xfrm>
            <a:off x="731520" y="2615184"/>
            <a:ext cx="3474720" cy="237744"/>
          </a:xfrm>
          <a:prstGeom prst="rect">
            <a:avLst/>
          </a:prstGeom>
          <a:noFill/>
          <a:ln/>
        </p:spPr>
        <p:txBody>
          <a:bodyPr wrap="square" lIns="0" tIns="0" rIns="0" bIns="0" rtlCol="0" anchor="t"/>
          <a:lstStyle/>
          <a:p>
            <a:pPr marL="0" indent="0" algn="l">
              <a:buNone/>
            </a:pPr>
            <a:r>
              <a:rPr lang="en-US" sz="1200" b="1" kern="0" spc="100" dirty="0">
                <a:solidFill>
                  <a:schemeClr val="accent1"/>
                </a:solidFill>
              </a:rPr>
              <a:t>VIỆC CẦN LÀM</a:t>
            </a:r>
            <a:endParaRPr lang="en-US" sz="1200" dirty="0"/>
          </a:p>
        </p:txBody>
      </p:sp>
      <p:sp>
        <p:nvSpPr>
          <p:cNvPr id="19" name="Noi dung viec can lam"/>
          <p:cNvSpPr txBox="1"/>
          <p:nvPr/>
        </p:nvSpPr>
        <p:spPr>
          <a:xfrm>
            <a:off x="731520" y="2926080"/>
            <a:ext cx="3474720" cy="2542032"/>
          </a:xfrm>
          <a:prstGeom prst="rect">
            <a:avLst/>
          </a:prstGeom>
          <a:noFill/>
          <a:ln/>
        </p:spPr>
        <p:txBody>
          <a:bodyPr wrap="square" lIns="0" tIns="0" rIns="0" bIns="0" rtlCol="0" anchor="t"/>
          <a:lstStyle/>
          <a:p>
            <a:pPr marL="177800" indent="-177800" algn="l">
              <a:spcAft>
                <a:spcPts val="400"/>
              </a:spcAft>
              <a:buSzPct val="100000"/>
              <a:buChar char="•"/>
            </a:pPr>
            <a:r>
              <a:rPr lang="en-US" sz="1400" dirty="0">
                <a:solidFill>
                  <a:schemeClr val="tx1"/>
                </a:solidFill>
              </a:rPr>
              <a:t>Xuất khẩu Trung Quốc đều đặn; ký hợp đồng trực tiếp với người mua</a:t>
            </a:r>
            <a:endParaRPr lang="en-US" sz="1400" dirty="0"/>
          </a:p>
          <a:p>
            <a:pPr marL="177800" indent="-177800" algn="l">
              <a:spcAft>
                <a:spcPts val="400"/>
              </a:spcAft>
              <a:buSzPct val="100000"/>
              <a:buChar char="•"/>
            </a:pPr>
            <a:r>
              <a:rPr lang="en-US" sz="1400" dirty="0">
                <a:solidFill>
                  <a:schemeClr val="tx1"/>
                </a:solidFill>
              </a:rPr>
              <a:t>Đánh giá và cấp chứng nhận BRCGS hoặc FSSC 22000</a:t>
            </a:r>
            <a:endParaRPr lang="en-US" sz="1400" dirty="0"/>
          </a:p>
          <a:p>
            <a:pPr marL="177800" indent="-177800" algn="l">
              <a:spcAft>
                <a:spcPts val="400"/>
              </a:spcAft>
              <a:buSzPct val="100000"/>
              <a:buChar char="•"/>
            </a:pPr>
            <a:r>
              <a:rPr lang="en-US" sz="1400" dirty="0">
                <a:solidFill>
                  <a:schemeClr val="tx1"/>
                </a:solidFill>
              </a:rPr>
              <a:t>Nhãn theo Quy định 1169/2011, bao bì theo PPWR, kiểm nghiệm MRL</a:t>
            </a:r>
            <a:endParaRPr lang="en-US" sz="1400" dirty="0"/>
          </a:p>
          <a:p>
            <a:pPr marL="177800" indent="-177800" algn="l">
              <a:spcAft>
                <a:spcPts val="400"/>
              </a:spcAft>
              <a:buSzPct val="100000"/>
              <a:buChar char="•"/>
            </a:pPr>
            <a:r>
              <a:rPr lang="en-US" sz="1400" dirty="0">
                <a:solidFill>
                  <a:schemeClr val="tx1"/>
                </a:solidFill>
              </a:rPr>
              <a:t>Làm EUR.1 cho từng lô (EVFTA); chạy lô đầu sang EU</a:t>
            </a:r>
            <a:endParaRPr lang="en-US" sz="1400" dirty="0"/>
          </a:p>
          <a:p>
            <a:pPr marL="177800" indent="-177800" algn="l">
              <a:spcAft>
                <a:spcPts val="400"/>
              </a:spcAft>
              <a:buSzPct val="100000"/>
              <a:buChar char="•"/>
            </a:pPr>
            <a:r>
              <a:rPr lang="en-US" sz="1400" dirty="0">
                <a:solidFill>
                  <a:schemeClr val="tx1"/>
                </a:solidFill>
              </a:rPr>
              <a:t>Xét mở rộng sang Châu Á khi hệ thống đã ổn định</a:t>
            </a:r>
            <a:endParaRPr lang="en-US" sz="1400" dirty="0"/>
          </a:p>
        </p:txBody>
      </p:sp>
      <p:sp>
        <p:nvSpPr>
          <p:cNvPr id="20" name="Khung NHÂN SỰ"/>
          <p:cNvSpPr/>
          <p:nvPr/>
        </p:nvSpPr>
        <p:spPr>
          <a:xfrm>
            <a:off x="4544568" y="2468880"/>
            <a:ext cx="3474720" cy="3072384"/>
          </a:xfrm>
          <a:prstGeom prst="roundRect">
            <a:avLst>
              <a:gd name="adj" fmla="val 3571"/>
            </a:avLst>
          </a:prstGeom>
          <a:solidFill>
            <a:schemeClr val="bg2"/>
          </a:solidFill>
          <a:ln/>
        </p:spPr>
      </p:sp>
      <p:sp>
        <p:nvSpPr>
          <p:cNvPr id="21" name="Vach mau NHÂN SỰ"/>
          <p:cNvSpPr/>
          <p:nvPr/>
        </p:nvSpPr>
        <p:spPr>
          <a:xfrm>
            <a:off x="4544568" y="2468880"/>
            <a:ext cx="3474720" cy="64008"/>
          </a:xfrm>
          <a:prstGeom prst="rect">
            <a:avLst/>
          </a:prstGeom>
          <a:solidFill>
            <a:srgbClr val="7A3E8F"/>
          </a:solidFill>
          <a:ln/>
        </p:spPr>
      </p:sp>
      <p:sp>
        <p:nvSpPr>
          <p:cNvPr id="22" name="Tieu de NHÂN SỰ"/>
          <p:cNvSpPr txBox="1"/>
          <p:nvPr/>
        </p:nvSpPr>
        <p:spPr>
          <a:xfrm>
            <a:off x="4727448" y="2615184"/>
            <a:ext cx="3108960" cy="237744"/>
          </a:xfrm>
          <a:prstGeom prst="rect">
            <a:avLst/>
          </a:prstGeom>
          <a:noFill/>
          <a:ln/>
        </p:spPr>
        <p:txBody>
          <a:bodyPr wrap="square" lIns="0" tIns="0" rIns="0" bIns="0" rtlCol="0" anchor="t"/>
          <a:lstStyle/>
          <a:p>
            <a:pPr marL="0" indent="0" algn="l">
              <a:buNone/>
            </a:pPr>
            <a:r>
              <a:rPr lang="en-US" sz="1200" b="1" kern="0" spc="100" dirty="0">
                <a:solidFill>
                  <a:schemeClr val="accent1"/>
                </a:solidFill>
              </a:rPr>
              <a:t>NHÂN SỰ</a:t>
            </a:r>
            <a:endParaRPr lang="en-US" sz="1200" dirty="0"/>
          </a:p>
        </p:txBody>
      </p:sp>
      <p:sp>
        <p:nvSpPr>
          <p:cNvPr id="23" name="Tong nhan su"/>
          <p:cNvSpPr txBox="1"/>
          <p:nvPr/>
        </p:nvSpPr>
        <p:spPr>
          <a:xfrm>
            <a:off x="4727448" y="2871216"/>
            <a:ext cx="3108960" cy="457200"/>
          </a:xfrm>
          <a:prstGeom prst="rect">
            <a:avLst/>
          </a:prstGeom>
          <a:noFill/>
          <a:ln/>
        </p:spPr>
        <p:txBody>
          <a:bodyPr wrap="square" lIns="0" tIns="0" rIns="0" bIns="0" rtlCol="0" anchor="ctr"/>
          <a:lstStyle/>
          <a:p>
            <a:pPr marL="0" indent="0" algn="l">
              <a:buNone/>
            </a:pPr>
            <a:r>
              <a:rPr lang="en-US" sz="2800" b="1" dirty="0">
                <a:solidFill>
                  <a:schemeClr val="accent1"/>
                </a:solidFill>
                <a:latin typeface="+mj-lt" pitchFamily="34" charset="0"/>
                <a:ea typeface="+mj-lt" pitchFamily="34" charset="-122"/>
                <a:cs typeface="+mj-lt" pitchFamily="34" charset="-120"/>
              </a:rPr>
              <a:t>28–40</a:t>
            </a:r>
            <a:r>
              <a:rPr lang="en-US" sz="1400" b="1" dirty="0">
                <a:solidFill>
                  <a:schemeClr val="accent1"/>
                </a:solidFill>
              </a:rPr>
              <a:t> người</a:t>
            </a:r>
            <a:endParaRPr lang="en-US" sz="1400" dirty="0"/>
          </a:p>
        </p:txBody>
      </p:sp>
      <p:sp>
        <p:nvSpPr>
          <p:cNvPr id="24" name="Tuyen moi"/>
          <p:cNvSpPr txBox="1"/>
          <p:nvPr/>
        </p:nvSpPr>
        <p:spPr>
          <a:xfrm>
            <a:off x="4727448" y="3346704"/>
            <a:ext cx="3108960" cy="237744"/>
          </a:xfrm>
          <a:prstGeom prst="rect">
            <a:avLst/>
          </a:prstGeom>
          <a:noFill/>
          <a:ln/>
        </p:spPr>
        <p:txBody>
          <a:bodyPr wrap="square" lIns="0" tIns="0" rIns="0" bIns="0" rtlCol="0" anchor="t"/>
          <a:lstStyle/>
          <a:p>
            <a:pPr marL="0" indent="0" algn="l">
              <a:buNone/>
            </a:pPr>
            <a:r>
              <a:rPr lang="en-US" sz="1200" b="1" dirty="0">
                <a:solidFill>
                  <a:schemeClr val="accent6"/>
                </a:solidFill>
              </a:rPr>
              <a:t>Tuyển mới trong giai đoạn: +3–5</a:t>
            </a:r>
            <a:endParaRPr lang="en-US" sz="1200" dirty="0"/>
          </a:p>
        </p:txBody>
      </p:sp>
      <p:sp>
        <p:nvSpPr>
          <p:cNvPr id="25" name="Ten bo phan"/>
          <p:cNvSpPr txBox="1"/>
          <p:nvPr/>
        </p:nvSpPr>
        <p:spPr>
          <a:xfrm>
            <a:off x="4727448" y="3657600"/>
            <a:ext cx="2377440" cy="1783080"/>
          </a:xfrm>
          <a:prstGeom prst="rect">
            <a:avLst/>
          </a:prstGeom>
          <a:noFill/>
          <a:ln/>
        </p:spPr>
        <p:txBody>
          <a:bodyPr wrap="square" lIns="0" tIns="0" rIns="0" bIns="0" rtlCol="0" anchor="t"/>
          <a:lstStyle/>
          <a:p>
            <a:pPr marL="0" indent="0" algn="l">
              <a:spcAft>
                <a:spcPts val="400"/>
              </a:spcAft>
              <a:buNone/>
            </a:pPr>
            <a:r>
              <a:rPr lang="en-US" sz="1400" dirty="0">
                <a:solidFill>
                  <a:schemeClr val="tx1"/>
                </a:solidFill>
              </a:rPr>
              <a:t>Giám đốc điều hành</a:t>
            </a:r>
            <a:endParaRPr lang="en-US" sz="1400" dirty="0"/>
          </a:p>
          <a:p>
            <a:pPr marL="0" indent="0" algn="l">
              <a:spcAft>
                <a:spcPts val="400"/>
              </a:spcAft>
              <a:buNone/>
            </a:pPr>
            <a:r>
              <a:rPr lang="en-US" sz="1400" dirty="0">
                <a:solidFill>
                  <a:schemeClr val="tx1"/>
                </a:solidFill>
              </a:rPr>
              <a:t>Sản xuất và kỹ thuật</a:t>
            </a:r>
            <a:endParaRPr lang="en-US" sz="1400" dirty="0"/>
          </a:p>
          <a:p>
            <a:pPr marL="0" indent="0" algn="l">
              <a:spcAft>
                <a:spcPts val="400"/>
              </a:spcAft>
              <a:buNone/>
            </a:pPr>
            <a:r>
              <a:rPr lang="en-US" sz="1400" dirty="0">
                <a:solidFill>
                  <a:schemeClr val="tx1"/>
                </a:solidFill>
              </a:rPr>
              <a:t>QA/QC và ATTP</a:t>
            </a:r>
            <a:endParaRPr lang="en-US" sz="1400" dirty="0"/>
          </a:p>
          <a:p>
            <a:pPr marL="0" indent="0" algn="l">
              <a:spcAft>
                <a:spcPts val="400"/>
              </a:spcAft>
              <a:buNone/>
            </a:pPr>
            <a:r>
              <a:rPr lang="en-US" sz="1400" dirty="0">
                <a:solidFill>
                  <a:schemeClr val="tx1"/>
                </a:solidFill>
              </a:rPr>
              <a:t>Vùng nguyên liệu, TXNG</a:t>
            </a:r>
            <a:endParaRPr lang="en-US" sz="1400" dirty="0"/>
          </a:p>
          <a:p>
            <a:pPr marL="0" indent="0" algn="l">
              <a:spcAft>
                <a:spcPts val="400"/>
              </a:spcAft>
              <a:buNone/>
            </a:pPr>
            <a:r>
              <a:rPr lang="en-US" sz="1400" dirty="0">
                <a:solidFill>
                  <a:schemeClr val="tx1"/>
                </a:solidFill>
              </a:rPr>
              <a:t>Kho và logistics</a:t>
            </a:r>
            <a:endParaRPr lang="en-US" sz="1400" dirty="0"/>
          </a:p>
          <a:p>
            <a:pPr marL="0" indent="0" algn="l">
              <a:spcAft>
                <a:spcPts val="400"/>
              </a:spcAft>
              <a:buNone/>
            </a:pPr>
            <a:r>
              <a:rPr lang="en-US" sz="1400" dirty="0">
                <a:solidFill>
                  <a:schemeClr val="tx1"/>
                </a:solidFill>
              </a:rPr>
              <a:t>Xuất khẩu, thị trường</a:t>
            </a:r>
            <a:endParaRPr lang="en-US" sz="1400" dirty="0"/>
          </a:p>
          <a:p>
            <a:pPr marL="0" indent="0" algn="l">
              <a:spcAft>
                <a:spcPts val="400"/>
              </a:spcAft>
              <a:buNone/>
            </a:pPr>
            <a:r>
              <a:rPr lang="en-US" sz="1400" dirty="0">
                <a:solidFill>
                  <a:schemeClr val="tx1"/>
                </a:solidFill>
              </a:rPr>
              <a:t>Hành chính, kế toán</a:t>
            </a:r>
            <a:endParaRPr lang="en-US" sz="1400" dirty="0"/>
          </a:p>
        </p:txBody>
      </p:sp>
      <p:sp>
        <p:nvSpPr>
          <p:cNvPr id="26" name="So nguoi bo phan"/>
          <p:cNvSpPr txBox="1"/>
          <p:nvPr/>
        </p:nvSpPr>
        <p:spPr>
          <a:xfrm>
            <a:off x="7059168" y="3657600"/>
            <a:ext cx="777240" cy="1783080"/>
          </a:xfrm>
          <a:prstGeom prst="rect">
            <a:avLst/>
          </a:prstGeom>
          <a:noFill/>
          <a:ln/>
        </p:spPr>
        <p:txBody>
          <a:bodyPr wrap="square" lIns="0" tIns="0" rIns="0" bIns="0" rtlCol="0" anchor="t"/>
          <a:lstStyle/>
          <a:p>
            <a:pPr marL="0" indent="0" algn="r">
              <a:spcAft>
                <a:spcPts val="400"/>
              </a:spcAft>
              <a:buNone/>
            </a:pPr>
            <a:r>
              <a:rPr lang="en-US" sz="1400" b="1" dirty="0">
                <a:solidFill>
                  <a:schemeClr val="accent1"/>
                </a:solidFill>
              </a:rPr>
              <a:t>1</a:t>
            </a:r>
            <a:endParaRPr lang="en-US" sz="1400" dirty="0"/>
          </a:p>
          <a:p>
            <a:pPr marL="0" indent="0" algn="r">
              <a:spcAft>
                <a:spcPts val="400"/>
              </a:spcAft>
              <a:buNone/>
            </a:pPr>
            <a:r>
              <a:rPr lang="en-US" sz="1400" b="1" dirty="0">
                <a:solidFill>
                  <a:schemeClr val="accent1"/>
                </a:solidFill>
              </a:rPr>
              <a:t>14–20</a:t>
            </a:r>
            <a:endParaRPr lang="en-US" sz="1400" dirty="0"/>
          </a:p>
          <a:p>
            <a:pPr marL="0" indent="0" algn="r">
              <a:spcAft>
                <a:spcPts val="400"/>
              </a:spcAft>
              <a:buNone/>
            </a:pPr>
            <a:r>
              <a:rPr lang="en-US" sz="1400" b="1" dirty="0">
                <a:solidFill>
                  <a:schemeClr val="accent1"/>
                </a:solidFill>
              </a:rPr>
              <a:t>3–4</a:t>
            </a:r>
            <a:endParaRPr lang="en-US" sz="1400" dirty="0"/>
          </a:p>
          <a:p>
            <a:pPr marL="0" indent="0" algn="r">
              <a:spcAft>
                <a:spcPts val="400"/>
              </a:spcAft>
              <a:buNone/>
            </a:pPr>
            <a:r>
              <a:rPr lang="en-US" sz="1400" b="1" dirty="0">
                <a:solidFill>
                  <a:schemeClr val="accent1"/>
                </a:solidFill>
              </a:rPr>
              <a:t>3–5</a:t>
            </a:r>
            <a:endParaRPr lang="en-US" sz="1400" dirty="0"/>
          </a:p>
          <a:p>
            <a:pPr marL="0" indent="0" algn="r">
              <a:spcAft>
                <a:spcPts val="400"/>
              </a:spcAft>
              <a:buNone/>
            </a:pPr>
            <a:r>
              <a:rPr lang="en-US" sz="1400" b="1" dirty="0">
                <a:solidFill>
                  <a:schemeClr val="accent1"/>
                </a:solidFill>
              </a:rPr>
              <a:t>2–3</a:t>
            </a:r>
            <a:endParaRPr lang="en-US" sz="1400" dirty="0"/>
          </a:p>
          <a:p>
            <a:pPr marL="0" indent="0" algn="r">
              <a:spcAft>
                <a:spcPts val="400"/>
              </a:spcAft>
              <a:buNone/>
            </a:pPr>
            <a:r>
              <a:rPr lang="en-US" sz="1400" b="1" dirty="0">
                <a:solidFill>
                  <a:schemeClr val="accent1"/>
                </a:solidFill>
              </a:rPr>
              <a:t>3–4</a:t>
            </a:r>
            <a:endParaRPr lang="en-US" sz="1400" dirty="0"/>
          </a:p>
          <a:p>
            <a:pPr marL="0" indent="0" algn="r">
              <a:spcAft>
                <a:spcPts val="400"/>
              </a:spcAft>
              <a:buNone/>
            </a:pPr>
            <a:r>
              <a:rPr lang="en-US" sz="1400" b="1" dirty="0">
                <a:solidFill>
                  <a:schemeClr val="accent1"/>
                </a:solidFill>
              </a:rPr>
              <a:t>2–3</a:t>
            </a:r>
            <a:endParaRPr lang="en-US" sz="1400" dirty="0"/>
          </a:p>
        </p:txBody>
      </p:sp>
      <p:sp>
        <p:nvSpPr>
          <p:cNvPr id="27" name="Khung ĐẠT ĐƯỢC KHI KẾT THÚC"/>
          <p:cNvSpPr/>
          <p:nvPr/>
        </p:nvSpPr>
        <p:spPr>
          <a:xfrm>
            <a:off x="8174736" y="2468880"/>
            <a:ext cx="3468319" cy="3072384"/>
          </a:xfrm>
          <a:prstGeom prst="roundRect">
            <a:avLst>
              <a:gd name="adj" fmla="val 3571"/>
            </a:avLst>
          </a:prstGeom>
          <a:solidFill>
            <a:schemeClr val="bg2"/>
          </a:solidFill>
          <a:ln/>
        </p:spPr>
      </p:sp>
      <p:sp>
        <p:nvSpPr>
          <p:cNvPr id="28" name="Vach mau ĐẠT ĐƯỢC KHI KẾT THÚC"/>
          <p:cNvSpPr/>
          <p:nvPr/>
        </p:nvSpPr>
        <p:spPr>
          <a:xfrm>
            <a:off x="8174736" y="2468880"/>
            <a:ext cx="3468319" cy="64008"/>
          </a:xfrm>
          <a:prstGeom prst="rect">
            <a:avLst/>
          </a:prstGeom>
          <a:solidFill>
            <a:srgbClr val="7A3E8F"/>
          </a:solidFill>
          <a:ln/>
        </p:spPr>
      </p:sp>
      <p:sp>
        <p:nvSpPr>
          <p:cNvPr id="29" name="Tieu de ĐẠT ĐƯỢC KHI KẾT THÚC"/>
          <p:cNvSpPr txBox="1"/>
          <p:nvPr/>
        </p:nvSpPr>
        <p:spPr>
          <a:xfrm>
            <a:off x="8357616" y="2615184"/>
            <a:ext cx="3102559" cy="237744"/>
          </a:xfrm>
          <a:prstGeom prst="rect">
            <a:avLst/>
          </a:prstGeom>
          <a:noFill/>
          <a:ln/>
        </p:spPr>
        <p:txBody>
          <a:bodyPr wrap="square" lIns="0" tIns="0" rIns="0" bIns="0" rtlCol="0" anchor="t"/>
          <a:lstStyle/>
          <a:p>
            <a:pPr marL="0" indent="0" algn="l">
              <a:buNone/>
            </a:pPr>
            <a:r>
              <a:rPr lang="en-US" sz="1200" b="1" kern="0" spc="100" dirty="0">
                <a:solidFill>
                  <a:schemeClr val="accent1"/>
                </a:solidFill>
              </a:rPr>
              <a:t>ĐẠT ĐƯỢC KHI KẾT THÚC</a:t>
            </a:r>
            <a:endParaRPr lang="en-US" sz="1200" dirty="0"/>
          </a:p>
        </p:txBody>
      </p:sp>
      <p:sp>
        <p:nvSpPr>
          <p:cNvPr id="30" name="BRCGS Food Safety (khung)"/>
          <p:cNvSpPr/>
          <p:nvPr/>
        </p:nvSpPr>
        <p:spPr>
          <a:xfrm>
            <a:off x="8493584" y="2898648"/>
            <a:ext cx="701291" cy="969264"/>
          </a:xfrm>
          <a:prstGeom prst="rect">
            <a:avLst/>
          </a:prstGeom>
          <a:solidFill>
            <a:srgbClr val="FFFFFF"/>
          </a:solidFill>
          <a:ln w="9525">
            <a:solidFill>
              <a:srgbClr val="D5DED8"/>
            </a:solidFill>
            <a:prstDash val="solid"/>
          </a:ln>
          <a:effectLst>
            <a:outerShdw blurRad="76200" dist="25400" dir="5400000" algn="bl" rotWithShape="0">
              <a:srgbClr val="000000">
                <a:alpha val="16000"/>
              </a:srgbClr>
            </a:outerShdw>
          </a:effectLst>
        </p:spPr>
      </p:sp>
      <p:pic>
        <p:nvPicPr>
          <p:cNvPr id="31" name="BRCGS Food Safety" descr="BRCGS Food Safety"/>
          <p:cNvPicPr>
            <a:picLocks noChangeAspect="1"/>
          </p:cNvPicPr>
          <p:nvPr/>
        </p:nvPicPr>
        <p:blipFill>
          <a:blip r:embed="rId3"/>
          <a:stretch>
            <a:fillRect/>
          </a:stretch>
        </p:blipFill>
        <p:spPr>
          <a:xfrm>
            <a:off x="8521016" y="2926080"/>
            <a:ext cx="646427" cy="914400"/>
          </a:xfrm>
          <a:prstGeom prst="rect">
            <a:avLst/>
          </a:prstGeom>
        </p:spPr>
      </p:pic>
      <p:sp>
        <p:nvSpPr>
          <p:cNvPr id="32" name="FSSC 22000 (khung)"/>
          <p:cNvSpPr/>
          <p:nvPr/>
        </p:nvSpPr>
        <p:spPr>
          <a:xfrm>
            <a:off x="9528294" y="2898648"/>
            <a:ext cx="761202" cy="969264"/>
          </a:xfrm>
          <a:prstGeom prst="rect">
            <a:avLst/>
          </a:prstGeom>
          <a:solidFill>
            <a:srgbClr val="FFFFFF"/>
          </a:solidFill>
          <a:ln w="9525">
            <a:solidFill>
              <a:srgbClr val="D5DED8"/>
            </a:solidFill>
            <a:prstDash val="solid"/>
          </a:ln>
          <a:effectLst>
            <a:outerShdw blurRad="76200" dist="25400" dir="5400000" algn="bl" rotWithShape="0">
              <a:srgbClr val="000000">
                <a:alpha val="16000"/>
              </a:srgbClr>
            </a:outerShdw>
          </a:effectLst>
        </p:spPr>
      </p:sp>
      <p:pic>
        <p:nvPicPr>
          <p:cNvPr id="33" name="FSSC 22000" descr="FSSC 22000"/>
          <p:cNvPicPr>
            <a:picLocks noChangeAspect="1"/>
          </p:cNvPicPr>
          <p:nvPr/>
        </p:nvPicPr>
        <p:blipFill>
          <a:blip r:embed="rId4"/>
          <a:stretch>
            <a:fillRect/>
          </a:stretch>
        </p:blipFill>
        <p:spPr>
          <a:xfrm>
            <a:off x="9555726" y="2926080"/>
            <a:ext cx="706338" cy="914400"/>
          </a:xfrm>
          <a:prstGeom prst="rect">
            <a:avLst/>
          </a:prstGeom>
        </p:spPr>
      </p:pic>
      <p:sp>
        <p:nvSpPr>
          <p:cNvPr id="34" name="C/O EUR.1 (khung)"/>
          <p:cNvSpPr/>
          <p:nvPr/>
        </p:nvSpPr>
        <p:spPr>
          <a:xfrm>
            <a:off x="10619459" y="2898648"/>
            <a:ext cx="708206" cy="969264"/>
          </a:xfrm>
          <a:prstGeom prst="rect">
            <a:avLst/>
          </a:prstGeom>
          <a:solidFill>
            <a:srgbClr val="FFFFFF"/>
          </a:solidFill>
          <a:ln w="9525">
            <a:solidFill>
              <a:srgbClr val="D5DED8"/>
            </a:solidFill>
            <a:prstDash val="solid"/>
          </a:ln>
          <a:effectLst>
            <a:outerShdw blurRad="76200" dist="25400" dir="5400000" algn="bl" rotWithShape="0">
              <a:srgbClr val="000000">
                <a:alpha val="16000"/>
              </a:srgbClr>
            </a:outerShdw>
          </a:effectLst>
        </p:spPr>
      </p:sp>
      <p:pic>
        <p:nvPicPr>
          <p:cNvPr id="35" name="C/O EUR.1" descr="C/O EUR.1"/>
          <p:cNvPicPr>
            <a:picLocks noChangeAspect="1"/>
          </p:cNvPicPr>
          <p:nvPr/>
        </p:nvPicPr>
        <p:blipFill>
          <a:blip r:embed="rId5"/>
          <a:stretch>
            <a:fillRect/>
          </a:stretch>
        </p:blipFill>
        <p:spPr>
          <a:xfrm>
            <a:off x="10646891" y="2926080"/>
            <a:ext cx="653342" cy="914400"/>
          </a:xfrm>
          <a:prstGeom prst="rect">
            <a:avLst/>
          </a:prstGeom>
        </p:spPr>
      </p:pic>
      <p:sp>
        <p:nvSpPr>
          <p:cNvPr id="36" name="Chu thich hinh"/>
          <p:cNvSpPr txBox="1"/>
          <p:nvPr/>
        </p:nvSpPr>
        <p:spPr>
          <a:xfrm>
            <a:off x="8357616" y="3895344"/>
            <a:ext cx="3102559" cy="219456"/>
          </a:xfrm>
          <a:prstGeom prst="rect">
            <a:avLst/>
          </a:prstGeom>
          <a:noFill/>
          <a:ln/>
        </p:spPr>
        <p:txBody>
          <a:bodyPr wrap="square" lIns="0" tIns="0" rIns="0" bIns="0" rtlCol="0" anchor="t"/>
          <a:lstStyle/>
          <a:p>
            <a:pPr marL="0" indent="0" algn="l">
              <a:buNone/>
            </a:pPr>
            <a:r>
              <a:rPr lang="en-US" sz="1100" dirty="0">
                <a:solidFill>
                  <a:srgbClr val="5C6F66"/>
                </a:solidFill>
              </a:rPr>
              <a:t>Minh họa: BRCGS, FSSC 22000 và EUR.1</a:t>
            </a:r>
            <a:endParaRPr lang="en-US" sz="1100" dirty="0"/>
          </a:p>
        </p:txBody>
      </p:sp>
      <p:sp>
        <p:nvSpPr>
          <p:cNvPr id="37" name="Moc hoan thanh"/>
          <p:cNvSpPr txBox="1"/>
          <p:nvPr/>
        </p:nvSpPr>
        <p:spPr>
          <a:xfrm>
            <a:off x="8357616" y="4187952"/>
            <a:ext cx="3102559" cy="1298448"/>
          </a:xfrm>
          <a:prstGeom prst="rect">
            <a:avLst/>
          </a:prstGeom>
          <a:noFill/>
          <a:ln/>
        </p:spPr>
        <p:txBody>
          <a:bodyPr wrap="square" lIns="0" tIns="0" rIns="0" bIns="0" rtlCol="0" anchor="t"/>
          <a:lstStyle/>
          <a:p>
            <a:pPr marL="177800" indent="-177800" algn="l">
              <a:spcAft>
                <a:spcPts val="300"/>
              </a:spcAft>
              <a:buSzPct val="100000"/>
              <a:buChar char="•"/>
            </a:pPr>
            <a:r>
              <a:rPr lang="en-US" sz="1400" dirty="0">
                <a:solidFill>
                  <a:schemeClr val="tx1"/>
                </a:solidFill>
              </a:rPr>
              <a:t>Có chứng nhận BRCGS hoặc FSSC 22000</a:t>
            </a:r>
            <a:endParaRPr lang="en-US" sz="1400" dirty="0"/>
          </a:p>
          <a:p>
            <a:pPr marL="177800" indent="-177800" algn="l">
              <a:spcAft>
                <a:spcPts val="300"/>
              </a:spcAft>
              <a:buSzPct val="100000"/>
              <a:buChar char="•"/>
            </a:pPr>
            <a:r>
              <a:rPr lang="en-US" sz="1400" dirty="0">
                <a:solidFill>
                  <a:schemeClr val="tx1"/>
                </a:solidFill>
              </a:rPr>
              <a:t>Lô đầu sang EU kèm EUR.1</a:t>
            </a:r>
            <a:endParaRPr lang="en-US" sz="1400" dirty="0"/>
          </a:p>
          <a:p>
            <a:pPr marL="177800" indent="-177800" algn="l">
              <a:spcAft>
                <a:spcPts val="300"/>
              </a:spcAft>
              <a:buSzPct val="100000"/>
              <a:buChar char="•"/>
            </a:pPr>
            <a:r>
              <a:rPr lang="en-US" sz="1400" dirty="0">
                <a:solidFill>
                  <a:schemeClr val="tx1"/>
                </a:solidFill>
              </a:rPr>
              <a:t>Quyết định thời điểm mở Châu Á</a:t>
            </a:r>
            <a:endParaRPr lang="en-US" sz="1400" dirty="0"/>
          </a:p>
        </p:txBody>
      </p:sp>
      <p:sp>
        <p:nvSpPr>
          <p:cNvPr id="38" name="Khung quyet dinh"/>
          <p:cNvSpPr/>
          <p:nvPr/>
        </p:nvSpPr>
        <p:spPr>
          <a:xfrm>
            <a:off x="548640" y="5614416"/>
            <a:ext cx="11094415" cy="548640"/>
          </a:xfrm>
          <a:prstGeom prst="roundRect">
            <a:avLst>
              <a:gd name="adj" fmla="val 20000"/>
            </a:avLst>
          </a:prstGeom>
          <a:solidFill>
            <a:srgbClr val="FBF1D8"/>
          </a:solidFill>
          <a:ln/>
        </p:spPr>
      </p:sp>
      <p:sp>
        <p:nvSpPr>
          <p:cNvPr id="39" name="Vach quyet dinh"/>
          <p:cNvSpPr/>
          <p:nvPr/>
        </p:nvSpPr>
        <p:spPr>
          <a:xfrm>
            <a:off x="548640" y="5614416"/>
            <a:ext cx="73152" cy="548640"/>
          </a:xfrm>
          <a:prstGeom prst="rect">
            <a:avLst/>
          </a:prstGeom>
          <a:solidFill>
            <a:schemeClr val="accent2"/>
          </a:solidFill>
          <a:ln/>
        </p:spPr>
      </p:sp>
      <p:sp>
        <p:nvSpPr>
          <p:cNvPr id="40" name="Chu quyet dinh"/>
          <p:cNvSpPr txBox="1"/>
          <p:nvPr/>
        </p:nvSpPr>
        <p:spPr>
          <a:xfrm>
            <a:off x="777240" y="5614416"/>
            <a:ext cx="10682935" cy="548640"/>
          </a:xfrm>
          <a:prstGeom prst="rect">
            <a:avLst/>
          </a:prstGeom>
          <a:noFill/>
          <a:ln/>
        </p:spPr>
        <p:txBody>
          <a:bodyPr wrap="square" lIns="0" tIns="0" rIns="0" bIns="0" rtlCol="0" anchor="ctr"/>
          <a:lstStyle/>
          <a:p>
            <a:pPr marL="0" indent="0" algn="l">
              <a:buNone/>
            </a:pPr>
            <a:r>
              <a:rPr lang="en-US" sz="1400" b="1" dirty="0">
                <a:solidFill>
                  <a:schemeClr val="accent6"/>
                </a:solidFill>
              </a:rPr>
              <a:t>BAN LÃNH ĐẠO QUYẾT ĐỊNH: </a:t>
            </a:r>
            <a:r>
              <a:rPr lang="en-US" sz="1400" dirty="0">
                <a:solidFill>
                  <a:schemeClr val="tx1"/>
                </a:solidFill>
              </a:rPr>
              <a:t>Duyệt mở thị trường EU và ngân sách duy trì chứng nhận; quyết định thời điểm xét Châu Á khi hệ thống đã ổn định.</a:t>
            </a:r>
            <a:endParaRPr lang="en-US" sz="1400" dirty="0"/>
          </a:p>
        </p:txBody>
      </p:sp>
      <p:sp>
        <p:nvSpPr>
          <p:cNvPr id="41" name="Nguon"/>
          <p:cNvSpPr txBox="1"/>
          <p:nvPr/>
        </p:nvSpPr>
        <p:spPr>
          <a:xfrm>
            <a:off x="548640" y="6217920"/>
            <a:ext cx="11094415" cy="201168"/>
          </a:xfrm>
          <a:prstGeom prst="rect">
            <a:avLst/>
          </a:prstGeom>
          <a:noFill/>
          <a:ln/>
        </p:spPr>
        <p:txBody>
          <a:bodyPr wrap="square" lIns="0" tIns="0" rIns="0" bIns="0" rtlCol="0" anchor="t"/>
          <a:lstStyle/>
          <a:p>
            <a:pPr marL="0" indent="0" algn="l">
              <a:buNone/>
            </a:pPr>
            <a:r>
              <a:rPr lang="en-US" sz="1000" dirty="0">
                <a:solidFill>
                  <a:srgbClr val="5C6F66"/>
                </a:solidFill>
              </a:rPr>
              <a:t>Căn cứ: CBI (GFSI do người mua yêu cầu); QIMA (BRCGS: tối đa 49 ngày từ đánh giá đến chứng nhận). Thời gian chuẩn bị trước đánh giá: ước tính.</a:t>
            </a:r>
            <a:endParaRPr lang="en-US" sz="1000" dirty="0"/>
          </a:p>
        </p:txBody>
      </p:sp>
      <p:sp>
        <p:nvSpPr>
          <p:cNvPr id="2" name="Slide Number Placeholder 0"/>
          <p:cNvSpPr>
            <a:spLocks noGrp="1"/>
          </p:cNvSpPr>
          <p:nvPr>
            <p:ph type="sldNum" sz="quarter" idx="4294967295"/>
          </p:nvPr>
        </p:nvSpPr>
        <p:spPr>
          <a:xfrm>
            <a:off x="10972800" y="6492240"/>
            <a:ext cx="667512" cy="237744"/>
          </a:xfrm>
          <a:prstGeom prst="rect">
            <a:avLst/>
          </a:prstGeom>
          <a:extLst>
            <a:ext uri="{C572A759-6A51-4108-AA02-DFA0A04FC94B}">
              <ma14:wrappingTextBoxFlag xmlns:ma14="http://schemas.microsoft.com/office/mac/drawingml/2011/main" xmlns="" val="0"/>
            </a:ext>
          </a:extLst>
        </p:spPr>
        <p:txBody>
          <a:bodyPr/>
          <a:lstStyle>
            <a:lvl1pPr>
              <a:defRPr sz="1000">
                <a:solidFill>
                  <a:srgbClr val="5C6F66"/>
                </a:solidFill>
              </a:defRPr>
            </a:lvl1pPr>
          </a:lstStyle>
          <a:p>
            <a:pPr algn="r"/>
            <a:fld id="{F7021451-1387-4CA6-816F-3879F97B5CBC}" type="slidenum">
              <a:rPr lang="en-US" b="0"/>
              <a:t>8</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Dau cham"/>
          <p:cNvSpPr/>
          <p:nvPr/>
        </p:nvSpPr>
        <p:spPr>
          <a:xfrm>
            <a:off x="548640" y="429768"/>
            <a:ext cx="118872" cy="118872"/>
          </a:xfrm>
          <a:prstGeom prst="ellipse">
            <a:avLst/>
          </a:prstGeom>
          <a:solidFill>
            <a:schemeClr val="accent2"/>
          </a:solidFill>
          <a:ln/>
        </p:spPr>
      </p:sp>
      <p:sp>
        <p:nvSpPr>
          <p:cNvPr id="4" name="Nhan chuyen muc"/>
          <p:cNvSpPr txBox="1"/>
          <p:nvPr/>
        </p:nvSpPr>
        <p:spPr>
          <a:xfrm>
            <a:off x="777240" y="347472"/>
            <a:ext cx="6949440" cy="274320"/>
          </a:xfrm>
          <a:prstGeom prst="rect">
            <a:avLst/>
          </a:prstGeom>
          <a:noFill/>
          <a:ln/>
        </p:spPr>
        <p:txBody>
          <a:bodyPr wrap="square" lIns="0" tIns="0" rIns="0" bIns="0" rtlCol="0" anchor="ctr"/>
          <a:lstStyle/>
          <a:p>
            <a:pPr marL="0" indent="0" algn="l">
              <a:buNone/>
            </a:pPr>
            <a:r>
              <a:rPr lang="en-US" sz="1200" b="1" kern="0" spc="200" dirty="0">
                <a:solidFill>
                  <a:schemeClr val="accent1"/>
                </a:solidFill>
              </a:rPr>
              <a:t>NHÂN SỰ THEO GIAI ĐOẠN</a:t>
            </a:r>
            <a:endParaRPr lang="en-US" sz="1200" dirty="0"/>
          </a:p>
        </p:txBody>
      </p:sp>
      <p:sp>
        <p:nvSpPr>
          <p:cNvPr id="5" name="Text 0"/>
          <p:cNvSpPr>
            <a:spLocks noGrp="1"/>
          </p:cNvSpPr>
          <p:nvPr>
            <p:ph type="title" idx="100" hasCustomPrompt="1"/>
          </p:nvPr>
        </p:nvSpPr>
        <p:spPr>
          <a:xfrm>
            <a:off x="548640" y="658368"/>
            <a:ext cx="11094415" cy="777240"/>
          </a:xfrm>
          <a:prstGeom prst="rect">
            <a:avLst/>
          </a:prstGeom>
          <a:noFill/>
          <a:ln/>
        </p:spPr>
        <p:txBody>
          <a:bodyPr wrap="square" lIns="0" tIns="0" rIns="0" bIns="0" rtlCol="0" anchor="ctr"/>
          <a:lstStyle/>
          <a:p>
            <a:pPr marL="0" indent="0" algn="l">
              <a:buNone/>
            </a:pPr>
            <a:r>
              <a:rPr lang="en-US" sz="3000" b="1" dirty="0">
                <a:solidFill>
                  <a:schemeClr val="tx2"/>
                </a:solidFill>
              </a:rPr>
              <a:t>Nhân sự dựng dần, không tuyển một lần</a:t>
            </a:r>
            <a:endParaRPr lang="en-US" sz="3000" dirty="0"/>
          </a:p>
        </p:txBody>
      </p:sp>
      <p:sp>
        <p:nvSpPr>
          <p:cNvPr id="6" name="Nhan goc"/>
          <p:cNvSpPr/>
          <p:nvPr/>
        </p:nvSpPr>
        <p:spPr>
          <a:xfrm>
            <a:off x="548640" y="1691640"/>
            <a:ext cx="2514600" cy="502920"/>
          </a:xfrm>
          <a:prstGeom prst="roundRect">
            <a:avLst>
              <a:gd name="adj" fmla="val 21818"/>
            </a:avLst>
          </a:prstGeom>
          <a:solidFill>
            <a:schemeClr val="bg1"/>
          </a:solidFill>
          <a:ln/>
        </p:spPr>
      </p:sp>
      <p:sp>
        <p:nvSpPr>
          <p:cNvPr id="7" name="Chu nhan goc"/>
          <p:cNvSpPr txBox="1"/>
          <p:nvPr/>
        </p:nvSpPr>
        <p:spPr>
          <a:xfrm>
            <a:off x="685800" y="1691640"/>
            <a:ext cx="2286000" cy="502920"/>
          </a:xfrm>
          <a:prstGeom prst="rect">
            <a:avLst/>
          </a:prstGeom>
          <a:noFill/>
          <a:ln/>
        </p:spPr>
        <p:txBody>
          <a:bodyPr wrap="square" lIns="0" tIns="0" rIns="0" bIns="0" rtlCol="0" anchor="ctr"/>
          <a:lstStyle/>
          <a:p>
            <a:pPr marL="0" indent="0" algn="l">
              <a:buNone/>
            </a:pPr>
            <a:r>
              <a:rPr lang="en-US" sz="1400" b="1" dirty="0">
                <a:solidFill>
                  <a:schemeClr val="accent1"/>
                </a:solidFill>
              </a:rPr>
              <a:t>Bộ phận</a:t>
            </a:r>
            <a:endParaRPr lang="en-US" sz="1400" dirty="0"/>
          </a:p>
        </p:txBody>
      </p:sp>
      <p:sp>
        <p:nvSpPr>
          <p:cNvPr id="8" name="Nhan bo phan 1"/>
          <p:cNvSpPr/>
          <p:nvPr/>
        </p:nvSpPr>
        <p:spPr>
          <a:xfrm>
            <a:off x="548640" y="2249424"/>
            <a:ext cx="2514600" cy="347472"/>
          </a:xfrm>
          <a:prstGeom prst="roundRect">
            <a:avLst>
              <a:gd name="adj" fmla="val 31579"/>
            </a:avLst>
          </a:prstGeom>
          <a:solidFill>
            <a:schemeClr val="bg2"/>
          </a:solidFill>
          <a:ln/>
        </p:spPr>
      </p:sp>
      <p:sp>
        <p:nvSpPr>
          <p:cNvPr id="9" name="Chu bo phan 1"/>
          <p:cNvSpPr txBox="1"/>
          <p:nvPr/>
        </p:nvSpPr>
        <p:spPr>
          <a:xfrm>
            <a:off x="685800" y="2249424"/>
            <a:ext cx="2286000" cy="347472"/>
          </a:xfrm>
          <a:prstGeom prst="rect">
            <a:avLst/>
          </a:prstGeom>
          <a:noFill/>
          <a:ln/>
        </p:spPr>
        <p:txBody>
          <a:bodyPr wrap="square" lIns="0" tIns="0" rIns="0" bIns="0" rtlCol="0" anchor="ctr"/>
          <a:lstStyle/>
          <a:p>
            <a:pPr marL="0" indent="0" algn="l">
              <a:buNone/>
            </a:pPr>
            <a:r>
              <a:rPr lang="en-US" sz="1400" b="1" dirty="0">
                <a:solidFill>
                  <a:schemeClr val="accent1"/>
                </a:solidFill>
              </a:rPr>
              <a:t>Giám đốc điều hành</a:t>
            </a:r>
            <a:endParaRPr lang="en-US" sz="1400" dirty="0"/>
          </a:p>
        </p:txBody>
      </p:sp>
      <p:sp>
        <p:nvSpPr>
          <p:cNvPr id="10" name="Nhan bo phan 2"/>
          <p:cNvSpPr/>
          <p:nvPr/>
        </p:nvSpPr>
        <p:spPr>
          <a:xfrm>
            <a:off x="548640" y="2633472"/>
            <a:ext cx="2514600" cy="347472"/>
          </a:xfrm>
          <a:prstGeom prst="roundRect">
            <a:avLst>
              <a:gd name="adj" fmla="val 31579"/>
            </a:avLst>
          </a:prstGeom>
          <a:solidFill>
            <a:schemeClr val="bg2"/>
          </a:solidFill>
          <a:ln/>
        </p:spPr>
      </p:sp>
      <p:sp>
        <p:nvSpPr>
          <p:cNvPr id="11" name="Chu bo phan 2"/>
          <p:cNvSpPr txBox="1"/>
          <p:nvPr/>
        </p:nvSpPr>
        <p:spPr>
          <a:xfrm>
            <a:off x="685800" y="2633472"/>
            <a:ext cx="2286000" cy="347472"/>
          </a:xfrm>
          <a:prstGeom prst="rect">
            <a:avLst/>
          </a:prstGeom>
          <a:noFill/>
          <a:ln/>
        </p:spPr>
        <p:txBody>
          <a:bodyPr wrap="square" lIns="0" tIns="0" rIns="0" bIns="0" rtlCol="0" anchor="ctr"/>
          <a:lstStyle/>
          <a:p>
            <a:pPr marL="0" indent="0" algn="l">
              <a:buNone/>
            </a:pPr>
            <a:r>
              <a:rPr lang="en-US" sz="1400" b="1" dirty="0">
                <a:solidFill>
                  <a:schemeClr val="accent1"/>
                </a:solidFill>
              </a:rPr>
              <a:t>Sản xuất và kỹ thuật</a:t>
            </a:r>
            <a:endParaRPr lang="en-US" sz="1400" dirty="0"/>
          </a:p>
        </p:txBody>
      </p:sp>
      <p:sp>
        <p:nvSpPr>
          <p:cNvPr id="12" name="Nhan bo phan 3"/>
          <p:cNvSpPr/>
          <p:nvPr/>
        </p:nvSpPr>
        <p:spPr>
          <a:xfrm>
            <a:off x="548640" y="3017520"/>
            <a:ext cx="2514600" cy="347472"/>
          </a:xfrm>
          <a:prstGeom prst="roundRect">
            <a:avLst>
              <a:gd name="adj" fmla="val 31579"/>
            </a:avLst>
          </a:prstGeom>
          <a:solidFill>
            <a:schemeClr val="bg2"/>
          </a:solidFill>
          <a:ln/>
        </p:spPr>
      </p:sp>
      <p:sp>
        <p:nvSpPr>
          <p:cNvPr id="13" name="Chu bo phan 3"/>
          <p:cNvSpPr txBox="1"/>
          <p:nvPr/>
        </p:nvSpPr>
        <p:spPr>
          <a:xfrm>
            <a:off x="685800" y="3017520"/>
            <a:ext cx="2286000" cy="347472"/>
          </a:xfrm>
          <a:prstGeom prst="rect">
            <a:avLst/>
          </a:prstGeom>
          <a:noFill/>
          <a:ln/>
        </p:spPr>
        <p:txBody>
          <a:bodyPr wrap="square" lIns="0" tIns="0" rIns="0" bIns="0" rtlCol="0" anchor="ctr"/>
          <a:lstStyle/>
          <a:p>
            <a:pPr marL="0" indent="0" algn="l">
              <a:buNone/>
            </a:pPr>
            <a:r>
              <a:rPr lang="en-US" sz="1400" b="1" dirty="0">
                <a:solidFill>
                  <a:schemeClr val="accent1"/>
                </a:solidFill>
              </a:rPr>
              <a:t>QA/QC và ATTP</a:t>
            </a:r>
            <a:endParaRPr lang="en-US" sz="1400" dirty="0"/>
          </a:p>
        </p:txBody>
      </p:sp>
      <p:sp>
        <p:nvSpPr>
          <p:cNvPr id="14" name="Nhan bo phan 4"/>
          <p:cNvSpPr/>
          <p:nvPr/>
        </p:nvSpPr>
        <p:spPr>
          <a:xfrm>
            <a:off x="548640" y="3401568"/>
            <a:ext cx="2514600" cy="347472"/>
          </a:xfrm>
          <a:prstGeom prst="roundRect">
            <a:avLst>
              <a:gd name="adj" fmla="val 31579"/>
            </a:avLst>
          </a:prstGeom>
          <a:solidFill>
            <a:schemeClr val="bg2"/>
          </a:solidFill>
          <a:ln/>
        </p:spPr>
      </p:sp>
      <p:sp>
        <p:nvSpPr>
          <p:cNvPr id="15" name="Chu bo phan 4"/>
          <p:cNvSpPr txBox="1"/>
          <p:nvPr/>
        </p:nvSpPr>
        <p:spPr>
          <a:xfrm>
            <a:off x="685800" y="3401568"/>
            <a:ext cx="2286000" cy="347472"/>
          </a:xfrm>
          <a:prstGeom prst="rect">
            <a:avLst/>
          </a:prstGeom>
          <a:noFill/>
          <a:ln/>
        </p:spPr>
        <p:txBody>
          <a:bodyPr wrap="square" lIns="0" tIns="0" rIns="0" bIns="0" rtlCol="0" anchor="ctr"/>
          <a:lstStyle/>
          <a:p>
            <a:pPr marL="0" indent="0" algn="l">
              <a:buNone/>
            </a:pPr>
            <a:r>
              <a:rPr lang="en-US" sz="1400" b="1" dirty="0">
                <a:solidFill>
                  <a:schemeClr val="accent1"/>
                </a:solidFill>
              </a:rPr>
              <a:t>Vùng nguyên liệu, TXNG</a:t>
            </a:r>
            <a:endParaRPr lang="en-US" sz="1400" dirty="0"/>
          </a:p>
        </p:txBody>
      </p:sp>
      <p:sp>
        <p:nvSpPr>
          <p:cNvPr id="16" name="Nhan bo phan 5"/>
          <p:cNvSpPr/>
          <p:nvPr/>
        </p:nvSpPr>
        <p:spPr>
          <a:xfrm>
            <a:off x="548640" y="3785616"/>
            <a:ext cx="2514600" cy="347472"/>
          </a:xfrm>
          <a:prstGeom prst="roundRect">
            <a:avLst>
              <a:gd name="adj" fmla="val 31579"/>
            </a:avLst>
          </a:prstGeom>
          <a:solidFill>
            <a:schemeClr val="bg2"/>
          </a:solidFill>
          <a:ln/>
        </p:spPr>
      </p:sp>
      <p:sp>
        <p:nvSpPr>
          <p:cNvPr id="17" name="Chu bo phan 5"/>
          <p:cNvSpPr txBox="1"/>
          <p:nvPr/>
        </p:nvSpPr>
        <p:spPr>
          <a:xfrm>
            <a:off x="685800" y="3785616"/>
            <a:ext cx="2286000" cy="347472"/>
          </a:xfrm>
          <a:prstGeom prst="rect">
            <a:avLst/>
          </a:prstGeom>
          <a:noFill/>
          <a:ln/>
        </p:spPr>
        <p:txBody>
          <a:bodyPr wrap="square" lIns="0" tIns="0" rIns="0" bIns="0" rtlCol="0" anchor="ctr"/>
          <a:lstStyle/>
          <a:p>
            <a:pPr marL="0" indent="0" algn="l">
              <a:buNone/>
            </a:pPr>
            <a:r>
              <a:rPr lang="en-US" sz="1400" b="1" dirty="0">
                <a:solidFill>
                  <a:schemeClr val="accent1"/>
                </a:solidFill>
              </a:rPr>
              <a:t>Kho và logistics</a:t>
            </a:r>
            <a:endParaRPr lang="en-US" sz="1400" dirty="0"/>
          </a:p>
        </p:txBody>
      </p:sp>
      <p:sp>
        <p:nvSpPr>
          <p:cNvPr id="18" name="Nhan bo phan 6"/>
          <p:cNvSpPr/>
          <p:nvPr/>
        </p:nvSpPr>
        <p:spPr>
          <a:xfrm>
            <a:off x="548640" y="4169664"/>
            <a:ext cx="2514600" cy="347472"/>
          </a:xfrm>
          <a:prstGeom prst="roundRect">
            <a:avLst>
              <a:gd name="adj" fmla="val 31579"/>
            </a:avLst>
          </a:prstGeom>
          <a:solidFill>
            <a:schemeClr val="bg2"/>
          </a:solidFill>
          <a:ln/>
        </p:spPr>
      </p:sp>
      <p:sp>
        <p:nvSpPr>
          <p:cNvPr id="19" name="Chu bo phan 6"/>
          <p:cNvSpPr txBox="1"/>
          <p:nvPr/>
        </p:nvSpPr>
        <p:spPr>
          <a:xfrm>
            <a:off x="685800" y="4169664"/>
            <a:ext cx="2286000" cy="347472"/>
          </a:xfrm>
          <a:prstGeom prst="rect">
            <a:avLst/>
          </a:prstGeom>
          <a:noFill/>
          <a:ln/>
        </p:spPr>
        <p:txBody>
          <a:bodyPr wrap="square" lIns="0" tIns="0" rIns="0" bIns="0" rtlCol="0" anchor="ctr"/>
          <a:lstStyle/>
          <a:p>
            <a:pPr marL="0" indent="0" algn="l">
              <a:buNone/>
            </a:pPr>
            <a:r>
              <a:rPr lang="en-US" sz="1400" b="1" dirty="0">
                <a:solidFill>
                  <a:schemeClr val="accent1"/>
                </a:solidFill>
              </a:rPr>
              <a:t>Xuất khẩu, thị trường</a:t>
            </a:r>
            <a:endParaRPr lang="en-US" sz="1400" dirty="0"/>
          </a:p>
        </p:txBody>
      </p:sp>
      <p:sp>
        <p:nvSpPr>
          <p:cNvPr id="20" name="Nhan bo phan 7"/>
          <p:cNvSpPr/>
          <p:nvPr/>
        </p:nvSpPr>
        <p:spPr>
          <a:xfrm>
            <a:off x="548640" y="4553712"/>
            <a:ext cx="2514600" cy="347472"/>
          </a:xfrm>
          <a:prstGeom prst="roundRect">
            <a:avLst>
              <a:gd name="adj" fmla="val 31579"/>
            </a:avLst>
          </a:prstGeom>
          <a:solidFill>
            <a:schemeClr val="bg2"/>
          </a:solidFill>
          <a:ln/>
        </p:spPr>
      </p:sp>
      <p:sp>
        <p:nvSpPr>
          <p:cNvPr id="21" name="Chu bo phan 7"/>
          <p:cNvSpPr txBox="1"/>
          <p:nvPr/>
        </p:nvSpPr>
        <p:spPr>
          <a:xfrm>
            <a:off x="685800" y="4553712"/>
            <a:ext cx="2286000" cy="347472"/>
          </a:xfrm>
          <a:prstGeom prst="rect">
            <a:avLst/>
          </a:prstGeom>
          <a:noFill/>
          <a:ln/>
        </p:spPr>
        <p:txBody>
          <a:bodyPr wrap="square" lIns="0" tIns="0" rIns="0" bIns="0" rtlCol="0" anchor="ctr"/>
          <a:lstStyle/>
          <a:p>
            <a:pPr marL="0" indent="0" algn="l">
              <a:buNone/>
            </a:pPr>
            <a:r>
              <a:rPr lang="en-US" sz="1400" b="1" dirty="0">
                <a:solidFill>
                  <a:schemeClr val="accent1"/>
                </a:solidFill>
              </a:rPr>
              <a:t>Hành chính, kế toán</a:t>
            </a:r>
            <a:endParaRPr lang="en-US" sz="1400" dirty="0"/>
          </a:p>
        </p:txBody>
      </p:sp>
      <p:sp>
        <p:nvSpPr>
          <p:cNvPr id="22" name="Nhan tong"/>
          <p:cNvSpPr/>
          <p:nvPr/>
        </p:nvSpPr>
        <p:spPr>
          <a:xfrm>
            <a:off x="548640" y="4974336"/>
            <a:ext cx="2514600" cy="420624"/>
          </a:xfrm>
          <a:prstGeom prst="roundRect">
            <a:avLst>
              <a:gd name="adj" fmla="val 26087"/>
            </a:avLst>
          </a:prstGeom>
          <a:solidFill>
            <a:schemeClr val="accent1"/>
          </a:solidFill>
          <a:ln/>
        </p:spPr>
      </p:sp>
      <p:sp>
        <p:nvSpPr>
          <p:cNvPr id="23" name="Chu nhan tong"/>
          <p:cNvSpPr txBox="1"/>
          <p:nvPr/>
        </p:nvSpPr>
        <p:spPr>
          <a:xfrm>
            <a:off x="685800" y="4974336"/>
            <a:ext cx="2286000" cy="420624"/>
          </a:xfrm>
          <a:prstGeom prst="rect">
            <a:avLst/>
          </a:prstGeom>
          <a:noFill/>
          <a:ln/>
        </p:spPr>
        <p:txBody>
          <a:bodyPr wrap="square" lIns="0" tIns="0" rIns="0" bIns="0" rtlCol="0" anchor="ctr"/>
          <a:lstStyle/>
          <a:p>
            <a:pPr marL="0" indent="0" algn="l">
              <a:buNone/>
            </a:pPr>
            <a:r>
              <a:rPr lang="en-US" sz="1400" b="1" dirty="0">
                <a:solidFill>
                  <a:schemeClr val="bg1"/>
                </a:solidFill>
              </a:rPr>
              <a:t>Tổng nhân sự</a:t>
            </a:r>
            <a:endParaRPr lang="en-US" sz="1400" dirty="0"/>
          </a:p>
        </p:txBody>
      </p:sp>
      <p:sp>
        <p:nvSpPr>
          <p:cNvPr id="24" name="Nhan tuyen moi"/>
          <p:cNvSpPr/>
          <p:nvPr/>
        </p:nvSpPr>
        <p:spPr>
          <a:xfrm>
            <a:off x="548640" y="5449824"/>
            <a:ext cx="2514600" cy="365760"/>
          </a:xfrm>
          <a:prstGeom prst="roundRect">
            <a:avLst>
              <a:gd name="adj" fmla="val 30000"/>
            </a:avLst>
          </a:prstGeom>
          <a:solidFill>
            <a:srgbClr val="FBF1D8"/>
          </a:solidFill>
          <a:ln/>
        </p:spPr>
      </p:sp>
      <p:sp>
        <p:nvSpPr>
          <p:cNvPr id="25" name="Chu nhan tuyen moi"/>
          <p:cNvSpPr txBox="1"/>
          <p:nvPr/>
        </p:nvSpPr>
        <p:spPr>
          <a:xfrm>
            <a:off x="685800" y="5449824"/>
            <a:ext cx="2286000" cy="365760"/>
          </a:xfrm>
          <a:prstGeom prst="rect">
            <a:avLst/>
          </a:prstGeom>
          <a:noFill/>
          <a:ln/>
        </p:spPr>
        <p:txBody>
          <a:bodyPr wrap="square" lIns="0" tIns="0" rIns="0" bIns="0" rtlCol="0" anchor="ctr"/>
          <a:lstStyle/>
          <a:p>
            <a:pPr marL="0" indent="0" algn="l">
              <a:buNone/>
            </a:pPr>
            <a:r>
              <a:rPr lang="en-US" sz="1400" b="1" dirty="0">
                <a:solidFill>
                  <a:schemeClr val="accent6"/>
                </a:solidFill>
              </a:rPr>
              <a:t>Tuyển mới trong giai đoạn</a:t>
            </a:r>
            <a:endParaRPr lang="en-US" sz="1400" dirty="0"/>
          </a:p>
        </p:txBody>
      </p:sp>
      <p:sp>
        <p:nvSpPr>
          <p:cNvPr id="26" name="Khung bieu do"/>
          <p:cNvSpPr/>
          <p:nvPr/>
        </p:nvSpPr>
        <p:spPr>
          <a:xfrm>
            <a:off x="8567928" y="1691640"/>
            <a:ext cx="3075127" cy="4123944"/>
          </a:xfrm>
          <a:prstGeom prst="roundRect">
            <a:avLst>
              <a:gd name="adj" fmla="val 3568"/>
            </a:avLst>
          </a:prstGeom>
          <a:solidFill>
            <a:schemeClr val="bg2"/>
          </a:solidFill>
          <a:ln/>
        </p:spPr>
      </p:sp>
      <p:sp>
        <p:nvSpPr>
          <p:cNvPr id="27" name="Tieu de bieu do"/>
          <p:cNvSpPr txBox="1"/>
          <p:nvPr/>
        </p:nvSpPr>
        <p:spPr>
          <a:xfrm>
            <a:off x="8732520" y="1764792"/>
            <a:ext cx="2800807" cy="457200"/>
          </a:xfrm>
          <a:prstGeom prst="rect">
            <a:avLst/>
          </a:prstGeom>
          <a:noFill/>
          <a:ln/>
        </p:spPr>
        <p:txBody>
          <a:bodyPr wrap="square" lIns="0" tIns="0" rIns="0" bIns="0" rtlCol="0" anchor="t"/>
          <a:lstStyle/>
          <a:p>
            <a:pPr marL="0" indent="0" algn="l">
              <a:buNone/>
            </a:pPr>
            <a:r>
              <a:rPr lang="en-US" sz="1400" b="1" dirty="0">
                <a:solidFill>
                  <a:schemeClr val="accent1"/>
                </a:solidFill>
              </a:rPr>
              <a:t>Tổng nhân sự cuối giai đoạn (người)</a:t>
            </a:r>
            <a:endParaRPr lang="en-US" sz="1400" dirty="0"/>
          </a:p>
        </p:txBody>
      </p:sp>
      <p:sp>
        <p:nvSpPr>
          <p:cNvPr id="28" name="Dau cot GD1"/>
          <p:cNvSpPr/>
          <p:nvPr/>
        </p:nvSpPr>
        <p:spPr>
          <a:xfrm>
            <a:off x="3136392" y="1691640"/>
            <a:ext cx="1280160" cy="502920"/>
          </a:xfrm>
          <a:prstGeom prst="roundRect">
            <a:avLst>
              <a:gd name="adj" fmla="val 14545"/>
            </a:avLst>
          </a:prstGeom>
          <a:solidFill>
            <a:srgbClr val="5E9E68"/>
          </a:solidFill>
          <a:ln/>
        </p:spPr>
      </p:sp>
      <p:sp>
        <p:nvSpPr>
          <p:cNvPr id="29" name="Chu dau cot GD1"/>
          <p:cNvSpPr txBox="1"/>
          <p:nvPr/>
        </p:nvSpPr>
        <p:spPr>
          <a:xfrm>
            <a:off x="3136392" y="1691640"/>
            <a:ext cx="1280160" cy="502920"/>
          </a:xfrm>
          <a:prstGeom prst="rect">
            <a:avLst/>
          </a:prstGeom>
          <a:noFill/>
          <a:ln/>
        </p:spPr>
        <p:txBody>
          <a:bodyPr wrap="square" lIns="0" tIns="0" rIns="0" bIns="0" rtlCol="0" anchor="ctr"/>
          <a:lstStyle/>
          <a:p>
            <a:pPr marL="0" indent="0" algn="ctr">
              <a:buNone/>
            </a:pPr>
            <a:r>
              <a:rPr lang="en-US" sz="1500" b="1" dirty="0">
                <a:solidFill>
                  <a:srgbClr val="1B2B24"/>
                </a:solidFill>
              </a:rPr>
              <a:t>GĐ1</a:t>
            </a:r>
            <a:endParaRPr lang="en-US" sz="1400" dirty="0"/>
          </a:p>
          <a:p>
            <a:pPr marL="0" indent="0" algn="ctr">
              <a:buNone/>
            </a:pPr>
            <a:r>
              <a:rPr lang="en-US" sz="1200" dirty="0">
                <a:solidFill>
                  <a:srgbClr val="1B2B24"/>
                </a:solidFill>
              </a:rPr>
              <a:t>Thu mua</a:t>
            </a:r>
            <a:endParaRPr lang="en-US" sz="1400" dirty="0"/>
          </a:p>
        </p:txBody>
      </p:sp>
      <p:sp>
        <p:nvSpPr>
          <p:cNvPr id="30" name="O 1 GD1"/>
          <p:cNvSpPr/>
          <p:nvPr/>
        </p:nvSpPr>
        <p:spPr>
          <a:xfrm>
            <a:off x="3136392" y="2249424"/>
            <a:ext cx="1280160" cy="347472"/>
          </a:xfrm>
          <a:prstGeom prst="roundRect">
            <a:avLst>
              <a:gd name="adj" fmla="val 15789"/>
            </a:avLst>
          </a:prstGeom>
          <a:solidFill>
            <a:srgbClr val="E3EDE6"/>
          </a:solidFill>
          <a:ln/>
        </p:spPr>
      </p:sp>
      <p:sp>
        <p:nvSpPr>
          <p:cNvPr id="31" name="Chu o 1 GD1"/>
          <p:cNvSpPr txBox="1"/>
          <p:nvPr/>
        </p:nvSpPr>
        <p:spPr>
          <a:xfrm>
            <a:off x="3136392" y="2249424"/>
            <a:ext cx="1280160" cy="347472"/>
          </a:xfrm>
          <a:prstGeom prst="rect">
            <a:avLst/>
          </a:prstGeom>
          <a:noFill/>
          <a:ln/>
        </p:spPr>
        <p:txBody>
          <a:bodyPr wrap="square" lIns="0" tIns="0" rIns="0" bIns="0" rtlCol="0" anchor="ctr"/>
          <a:lstStyle/>
          <a:p>
            <a:pPr marL="0" indent="0" algn="ctr">
              <a:buNone/>
            </a:pPr>
            <a:r>
              <a:rPr lang="en-US" sz="1400" b="1" dirty="0">
                <a:solidFill>
                  <a:schemeClr val="tx1"/>
                </a:solidFill>
              </a:rPr>
              <a:t>1</a:t>
            </a:r>
            <a:endParaRPr lang="en-US" sz="1400" dirty="0"/>
          </a:p>
        </p:txBody>
      </p:sp>
      <p:sp>
        <p:nvSpPr>
          <p:cNvPr id="32" name="O 2 GD1"/>
          <p:cNvSpPr/>
          <p:nvPr/>
        </p:nvSpPr>
        <p:spPr>
          <a:xfrm>
            <a:off x="3136392" y="2633472"/>
            <a:ext cx="1280160" cy="347472"/>
          </a:xfrm>
          <a:prstGeom prst="roundRect">
            <a:avLst>
              <a:gd name="adj" fmla="val 15789"/>
            </a:avLst>
          </a:prstGeom>
          <a:solidFill>
            <a:srgbClr val="E3EDE6"/>
          </a:solidFill>
          <a:ln/>
        </p:spPr>
      </p:sp>
      <p:sp>
        <p:nvSpPr>
          <p:cNvPr id="33" name="Chu o 2 GD1"/>
          <p:cNvSpPr txBox="1"/>
          <p:nvPr/>
        </p:nvSpPr>
        <p:spPr>
          <a:xfrm>
            <a:off x="3136392" y="2633472"/>
            <a:ext cx="1280160" cy="347472"/>
          </a:xfrm>
          <a:prstGeom prst="rect">
            <a:avLst/>
          </a:prstGeom>
          <a:noFill/>
          <a:ln/>
        </p:spPr>
        <p:txBody>
          <a:bodyPr wrap="square" lIns="0" tIns="0" rIns="0" bIns="0" rtlCol="0" anchor="ctr"/>
          <a:lstStyle/>
          <a:p>
            <a:pPr marL="0" indent="0" algn="ctr">
              <a:buNone/>
            </a:pPr>
            <a:r>
              <a:rPr lang="en-US" sz="1400" b="1" dirty="0">
                <a:solidFill>
                  <a:schemeClr val="tx1"/>
                </a:solidFill>
              </a:rPr>
              <a:t>1–2</a:t>
            </a:r>
            <a:endParaRPr lang="en-US" sz="1400" dirty="0"/>
          </a:p>
        </p:txBody>
      </p:sp>
      <p:sp>
        <p:nvSpPr>
          <p:cNvPr id="34" name="O 3 GD1"/>
          <p:cNvSpPr/>
          <p:nvPr/>
        </p:nvSpPr>
        <p:spPr>
          <a:xfrm>
            <a:off x="3136392" y="3017520"/>
            <a:ext cx="1280160" cy="347472"/>
          </a:xfrm>
          <a:prstGeom prst="roundRect">
            <a:avLst>
              <a:gd name="adj" fmla="val 15789"/>
            </a:avLst>
          </a:prstGeom>
          <a:solidFill>
            <a:srgbClr val="E3EDE6"/>
          </a:solidFill>
          <a:ln/>
        </p:spPr>
      </p:sp>
      <p:sp>
        <p:nvSpPr>
          <p:cNvPr id="35" name="Chu o 3 GD1"/>
          <p:cNvSpPr txBox="1"/>
          <p:nvPr/>
        </p:nvSpPr>
        <p:spPr>
          <a:xfrm>
            <a:off x="3136392" y="3017520"/>
            <a:ext cx="1280160" cy="347472"/>
          </a:xfrm>
          <a:prstGeom prst="rect">
            <a:avLst/>
          </a:prstGeom>
          <a:noFill/>
          <a:ln/>
        </p:spPr>
        <p:txBody>
          <a:bodyPr wrap="square" lIns="0" tIns="0" rIns="0" bIns="0" rtlCol="0" anchor="ctr"/>
          <a:lstStyle/>
          <a:p>
            <a:pPr marL="0" indent="0" algn="ctr">
              <a:buNone/>
            </a:pPr>
            <a:r>
              <a:rPr lang="en-US" sz="1400" b="1" dirty="0">
                <a:solidFill>
                  <a:schemeClr val="tx1"/>
                </a:solidFill>
              </a:rPr>
              <a:t>1–2</a:t>
            </a:r>
            <a:endParaRPr lang="en-US" sz="1400" dirty="0"/>
          </a:p>
        </p:txBody>
      </p:sp>
      <p:sp>
        <p:nvSpPr>
          <p:cNvPr id="36" name="O 4 GD1"/>
          <p:cNvSpPr/>
          <p:nvPr/>
        </p:nvSpPr>
        <p:spPr>
          <a:xfrm>
            <a:off x="3136392" y="3401568"/>
            <a:ext cx="1280160" cy="347472"/>
          </a:xfrm>
          <a:prstGeom prst="roundRect">
            <a:avLst>
              <a:gd name="adj" fmla="val 15789"/>
            </a:avLst>
          </a:prstGeom>
          <a:solidFill>
            <a:srgbClr val="E3EDE6"/>
          </a:solidFill>
          <a:ln/>
        </p:spPr>
      </p:sp>
      <p:sp>
        <p:nvSpPr>
          <p:cNvPr id="37" name="Chu o 4 GD1"/>
          <p:cNvSpPr txBox="1"/>
          <p:nvPr/>
        </p:nvSpPr>
        <p:spPr>
          <a:xfrm>
            <a:off x="3136392" y="3401568"/>
            <a:ext cx="1280160" cy="347472"/>
          </a:xfrm>
          <a:prstGeom prst="rect">
            <a:avLst/>
          </a:prstGeom>
          <a:noFill/>
          <a:ln/>
        </p:spPr>
        <p:txBody>
          <a:bodyPr wrap="square" lIns="0" tIns="0" rIns="0" bIns="0" rtlCol="0" anchor="ctr"/>
          <a:lstStyle/>
          <a:p>
            <a:pPr marL="0" indent="0" algn="ctr">
              <a:buNone/>
            </a:pPr>
            <a:r>
              <a:rPr lang="en-US" sz="1400" b="1" dirty="0">
                <a:solidFill>
                  <a:schemeClr val="tx1"/>
                </a:solidFill>
              </a:rPr>
              <a:t>2–3</a:t>
            </a:r>
            <a:endParaRPr lang="en-US" sz="1400" dirty="0"/>
          </a:p>
        </p:txBody>
      </p:sp>
      <p:sp>
        <p:nvSpPr>
          <p:cNvPr id="38" name="O 5 GD1"/>
          <p:cNvSpPr/>
          <p:nvPr/>
        </p:nvSpPr>
        <p:spPr>
          <a:xfrm>
            <a:off x="3136392" y="3785616"/>
            <a:ext cx="1280160" cy="347472"/>
          </a:xfrm>
          <a:prstGeom prst="roundRect">
            <a:avLst>
              <a:gd name="adj" fmla="val 15789"/>
            </a:avLst>
          </a:prstGeom>
          <a:solidFill>
            <a:srgbClr val="E3EDE6"/>
          </a:solidFill>
          <a:ln/>
        </p:spPr>
      </p:sp>
      <p:sp>
        <p:nvSpPr>
          <p:cNvPr id="39" name="Chu o 5 GD1"/>
          <p:cNvSpPr txBox="1"/>
          <p:nvPr/>
        </p:nvSpPr>
        <p:spPr>
          <a:xfrm>
            <a:off x="3136392" y="3785616"/>
            <a:ext cx="1280160" cy="347472"/>
          </a:xfrm>
          <a:prstGeom prst="rect">
            <a:avLst/>
          </a:prstGeom>
          <a:noFill/>
          <a:ln/>
        </p:spPr>
        <p:txBody>
          <a:bodyPr wrap="square" lIns="0" tIns="0" rIns="0" bIns="0" rtlCol="0" anchor="ctr"/>
          <a:lstStyle/>
          <a:p>
            <a:pPr marL="0" indent="0" algn="ctr">
              <a:buNone/>
            </a:pPr>
            <a:r>
              <a:rPr lang="en-US" sz="1400" b="1" dirty="0">
                <a:solidFill>
                  <a:schemeClr val="tx1"/>
                </a:solidFill>
              </a:rPr>
              <a:t>1</a:t>
            </a:r>
            <a:endParaRPr lang="en-US" sz="1400" dirty="0"/>
          </a:p>
        </p:txBody>
      </p:sp>
      <p:sp>
        <p:nvSpPr>
          <p:cNvPr id="40" name="O 6 GD1"/>
          <p:cNvSpPr/>
          <p:nvPr/>
        </p:nvSpPr>
        <p:spPr>
          <a:xfrm>
            <a:off x="3136392" y="4169664"/>
            <a:ext cx="1280160" cy="347472"/>
          </a:xfrm>
          <a:prstGeom prst="roundRect">
            <a:avLst>
              <a:gd name="adj" fmla="val 15789"/>
            </a:avLst>
          </a:prstGeom>
          <a:solidFill>
            <a:srgbClr val="E3EDE6"/>
          </a:solidFill>
          <a:ln/>
        </p:spPr>
      </p:sp>
      <p:sp>
        <p:nvSpPr>
          <p:cNvPr id="41" name="Chu o 6 GD1"/>
          <p:cNvSpPr txBox="1"/>
          <p:nvPr/>
        </p:nvSpPr>
        <p:spPr>
          <a:xfrm>
            <a:off x="3136392" y="4169664"/>
            <a:ext cx="1280160" cy="347472"/>
          </a:xfrm>
          <a:prstGeom prst="rect">
            <a:avLst/>
          </a:prstGeom>
          <a:noFill/>
          <a:ln/>
        </p:spPr>
        <p:txBody>
          <a:bodyPr wrap="square" lIns="0" tIns="0" rIns="0" bIns="0" rtlCol="0" anchor="ctr"/>
          <a:lstStyle/>
          <a:p>
            <a:pPr marL="0" indent="0" algn="ctr">
              <a:buNone/>
            </a:pPr>
            <a:r>
              <a:rPr lang="en-US" sz="1400" b="1" dirty="0">
                <a:solidFill>
                  <a:schemeClr val="tx1"/>
                </a:solidFill>
              </a:rPr>
              <a:t>1</a:t>
            </a:r>
            <a:endParaRPr lang="en-US" sz="1400" dirty="0"/>
          </a:p>
        </p:txBody>
      </p:sp>
      <p:sp>
        <p:nvSpPr>
          <p:cNvPr id="42" name="O 7 GD1"/>
          <p:cNvSpPr/>
          <p:nvPr/>
        </p:nvSpPr>
        <p:spPr>
          <a:xfrm>
            <a:off x="3136392" y="4553712"/>
            <a:ext cx="1280160" cy="347472"/>
          </a:xfrm>
          <a:prstGeom prst="roundRect">
            <a:avLst>
              <a:gd name="adj" fmla="val 15789"/>
            </a:avLst>
          </a:prstGeom>
          <a:solidFill>
            <a:srgbClr val="E3EDE6"/>
          </a:solidFill>
          <a:ln/>
        </p:spPr>
      </p:sp>
      <p:sp>
        <p:nvSpPr>
          <p:cNvPr id="43" name="Chu o 7 GD1"/>
          <p:cNvSpPr txBox="1"/>
          <p:nvPr/>
        </p:nvSpPr>
        <p:spPr>
          <a:xfrm>
            <a:off x="3136392" y="4553712"/>
            <a:ext cx="1280160" cy="347472"/>
          </a:xfrm>
          <a:prstGeom prst="rect">
            <a:avLst/>
          </a:prstGeom>
          <a:noFill/>
          <a:ln/>
        </p:spPr>
        <p:txBody>
          <a:bodyPr wrap="square" lIns="0" tIns="0" rIns="0" bIns="0" rtlCol="0" anchor="ctr"/>
          <a:lstStyle/>
          <a:p>
            <a:pPr marL="0" indent="0" algn="ctr">
              <a:buNone/>
            </a:pPr>
            <a:r>
              <a:rPr lang="en-US" sz="1400" b="1" dirty="0">
                <a:solidFill>
                  <a:schemeClr val="tx1"/>
                </a:solidFill>
              </a:rPr>
              <a:t>2</a:t>
            </a:r>
            <a:endParaRPr lang="en-US" sz="1400" dirty="0"/>
          </a:p>
        </p:txBody>
      </p:sp>
      <p:sp>
        <p:nvSpPr>
          <p:cNvPr id="44" name="O tong GD1"/>
          <p:cNvSpPr/>
          <p:nvPr/>
        </p:nvSpPr>
        <p:spPr>
          <a:xfrm>
            <a:off x="3136392" y="4974336"/>
            <a:ext cx="1280160" cy="420624"/>
          </a:xfrm>
          <a:prstGeom prst="roundRect">
            <a:avLst>
              <a:gd name="adj" fmla="val 13043"/>
            </a:avLst>
          </a:prstGeom>
          <a:solidFill>
            <a:schemeClr val="accent1"/>
          </a:solidFill>
          <a:ln/>
        </p:spPr>
      </p:sp>
      <p:sp>
        <p:nvSpPr>
          <p:cNvPr id="45" name="Chu tong GD1"/>
          <p:cNvSpPr txBox="1"/>
          <p:nvPr/>
        </p:nvSpPr>
        <p:spPr>
          <a:xfrm>
            <a:off x="3136392" y="4974336"/>
            <a:ext cx="1280160" cy="420624"/>
          </a:xfrm>
          <a:prstGeom prst="rect">
            <a:avLst/>
          </a:prstGeom>
          <a:noFill/>
          <a:ln/>
        </p:spPr>
        <p:txBody>
          <a:bodyPr wrap="square" lIns="0" tIns="0" rIns="0" bIns="0" rtlCol="0" anchor="ctr"/>
          <a:lstStyle/>
          <a:p>
            <a:pPr marL="0" indent="0" algn="ctr">
              <a:buNone/>
            </a:pPr>
            <a:r>
              <a:rPr lang="en-US" sz="1600" b="1" dirty="0">
                <a:solidFill>
                  <a:schemeClr val="bg1"/>
                </a:solidFill>
              </a:rPr>
              <a:t>9–12</a:t>
            </a:r>
            <a:endParaRPr lang="en-US" sz="1600" dirty="0"/>
          </a:p>
        </p:txBody>
      </p:sp>
      <p:sp>
        <p:nvSpPr>
          <p:cNvPr id="46" name="O tuyen moi GD1"/>
          <p:cNvSpPr/>
          <p:nvPr/>
        </p:nvSpPr>
        <p:spPr>
          <a:xfrm>
            <a:off x="3136392" y="5449824"/>
            <a:ext cx="1280160" cy="365760"/>
          </a:xfrm>
          <a:prstGeom prst="roundRect">
            <a:avLst>
              <a:gd name="adj" fmla="val 15000"/>
            </a:avLst>
          </a:prstGeom>
          <a:solidFill>
            <a:srgbClr val="FBF1D8"/>
          </a:solidFill>
          <a:ln/>
        </p:spPr>
      </p:sp>
      <p:sp>
        <p:nvSpPr>
          <p:cNvPr id="47" name="Chu tuyen moi GD1"/>
          <p:cNvSpPr txBox="1"/>
          <p:nvPr/>
        </p:nvSpPr>
        <p:spPr>
          <a:xfrm>
            <a:off x="3136392" y="5449824"/>
            <a:ext cx="1280160" cy="365760"/>
          </a:xfrm>
          <a:prstGeom prst="rect">
            <a:avLst/>
          </a:prstGeom>
          <a:noFill/>
          <a:ln/>
        </p:spPr>
        <p:txBody>
          <a:bodyPr wrap="square" lIns="0" tIns="0" rIns="0" bIns="0" rtlCol="0" anchor="ctr"/>
          <a:lstStyle/>
          <a:p>
            <a:pPr marL="0" indent="0" algn="ctr">
              <a:buNone/>
            </a:pPr>
            <a:r>
              <a:rPr lang="en-US" sz="1400" b="1" dirty="0">
                <a:solidFill>
                  <a:schemeClr val="accent6"/>
                </a:solidFill>
              </a:rPr>
              <a:t>+9–12</a:t>
            </a:r>
            <a:endParaRPr lang="en-US" sz="1400" dirty="0"/>
          </a:p>
        </p:txBody>
      </p:sp>
      <p:sp>
        <p:nvSpPr>
          <p:cNvPr id="48" name="Cot khoang GD1"/>
          <p:cNvSpPr/>
          <p:nvPr/>
        </p:nvSpPr>
        <p:spPr>
          <a:xfrm>
            <a:off x="8803729" y="4604918"/>
            <a:ext cx="502920" cy="197510"/>
          </a:xfrm>
          <a:prstGeom prst="rect">
            <a:avLst/>
          </a:prstGeom>
          <a:solidFill>
            <a:srgbClr val="E3EDE6"/>
          </a:solidFill>
          <a:ln w="12700">
            <a:solidFill>
              <a:srgbClr val="5E9E68"/>
            </a:solidFill>
            <a:prstDash val="solid"/>
          </a:ln>
        </p:spPr>
      </p:sp>
      <p:sp>
        <p:nvSpPr>
          <p:cNvPr id="49" name="Cot thap GD1"/>
          <p:cNvSpPr/>
          <p:nvPr/>
        </p:nvSpPr>
        <p:spPr>
          <a:xfrm>
            <a:off x="8803729" y="4802429"/>
            <a:ext cx="502920" cy="592531"/>
          </a:xfrm>
          <a:prstGeom prst="rect">
            <a:avLst/>
          </a:prstGeom>
          <a:solidFill>
            <a:srgbClr val="5E9E68"/>
          </a:solidFill>
          <a:ln/>
        </p:spPr>
      </p:sp>
      <p:sp>
        <p:nvSpPr>
          <p:cNvPr id="50" name="Nhan cot GD1"/>
          <p:cNvSpPr txBox="1"/>
          <p:nvPr/>
        </p:nvSpPr>
        <p:spPr>
          <a:xfrm>
            <a:off x="8666569" y="4330598"/>
            <a:ext cx="777240" cy="256032"/>
          </a:xfrm>
          <a:prstGeom prst="rect">
            <a:avLst/>
          </a:prstGeom>
          <a:noFill/>
          <a:ln/>
        </p:spPr>
        <p:txBody>
          <a:bodyPr wrap="square" lIns="0" tIns="0" rIns="0" bIns="0" rtlCol="0" anchor="ctr"/>
          <a:lstStyle/>
          <a:p>
            <a:pPr marL="0" indent="0" algn="ctr">
              <a:buNone/>
            </a:pPr>
            <a:r>
              <a:rPr lang="en-US" sz="1400" b="1" dirty="0">
                <a:solidFill>
                  <a:schemeClr val="accent1"/>
                </a:solidFill>
              </a:rPr>
              <a:t>9–12</a:t>
            </a:r>
            <a:endParaRPr lang="en-US" sz="1400" dirty="0"/>
          </a:p>
        </p:txBody>
      </p:sp>
      <p:sp>
        <p:nvSpPr>
          <p:cNvPr id="51" name="Nhan truc GD1"/>
          <p:cNvSpPr txBox="1"/>
          <p:nvPr/>
        </p:nvSpPr>
        <p:spPr>
          <a:xfrm>
            <a:off x="8666569" y="5431536"/>
            <a:ext cx="777240" cy="237744"/>
          </a:xfrm>
          <a:prstGeom prst="rect">
            <a:avLst/>
          </a:prstGeom>
          <a:noFill/>
          <a:ln/>
        </p:spPr>
        <p:txBody>
          <a:bodyPr wrap="square" lIns="0" tIns="0" rIns="0" bIns="0" rtlCol="0" anchor="ctr"/>
          <a:lstStyle/>
          <a:p>
            <a:pPr marL="0" indent="0" algn="ctr">
              <a:buNone/>
            </a:pPr>
            <a:r>
              <a:rPr lang="en-US" sz="1200" b="1" dirty="0">
                <a:solidFill>
                  <a:srgbClr val="5C6F66"/>
                </a:solidFill>
              </a:rPr>
              <a:t>GĐ1</a:t>
            </a:r>
            <a:endParaRPr lang="en-US" sz="1200" dirty="0"/>
          </a:p>
        </p:txBody>
      </p:sp>
      <p:sp>
        <p:nvSpPr>
          <p:cNvPr id="52" name="Dau cot GD2"/>
          <p:cNvSpPr/>
          <p:nvPr/>
        </p:nvSpPr>
        <p:spPr>
          <a:xfrm>
            <a:off x="4471416" y="1691640"/>
            <a:ext cx="1280160" cy="502920"/>
          </a:xfrm>
          <a:prstGeom prst="roundRect">
            <a:avLst>
              <a:gd name="adj" fmla="val 14545"/>
            </a:avLst>
          </a:prstGeom>
          <a:solidFill>
            <a:srgbClr val="1D4B3A"/>
          </a:solidFill>
          <a:ln/>
        </p:spPr>
      </p:sp>
      <p:sp>
        <p:nvSpPr>
          <p:cNvPr id="53" name="Chu dau cot GD2"/>
          <p:cNvSpPr txBox="1"/>
          <p:nvPr/>
        </p:nvSpPr>
        <p:spPr>
          <a:xfrm>
            <a:off x="4471416" y="1691640"/>
            <a:ext cx="1280160" cy="502920"/>
          </a:xfrm>
          <a:prstGeom prst="rect">
            <a:avLst/>
          </a:prstGeom>
          <a:noFill/>
          <a:ln/>
        </p:spPr>
        <p:txBody>
          <a:bodyPr wrap="square" lIns="0" tIns="0" rIns="0" bIns="0" rtlCol="0" anchor="ctr"/>
          <a:lstStyle/>
          <a:p>
            <a:pPr marL="0" indent="0" algn="ctr">
              <a:buNone/>
            </a:pPr>
            <a:r>
              <a:rPr lang="en-US" sz="1500" b="1" dirty="0">
                <a:solidFill>
                  <a:srgbClr val="FFFFFF"/>
                </a:solidFill>
              </a:rPr>
              <a:t>GĐ2</a:t>
            </a:r>
            <a:endParaRPr lang="en-US" sz="1400" dirty="0"/>
          </a:p>
          <a:p>
            <a:pPr marL="0" indent="0" algn="ctr">
              <a:buNone/>
            </a:pPr>
            <a:r>
              <a:rPr lang="en-US" sz="1200" dirty="0">
                <a:solidFill>
                  <a:srgbClr val="FFFFFF"/>
                </a:solidFill>
              </a:rPr>
              <a:t>Chế biến</a:t>
            </a:r>
            <a:endParaRPr lang="en-US" sz="1400" dirty="0"/>
          </a:p>
        </p:txBody>
      </p:sp>
      <p:sp>
        <p:nvSpPr>
          <p:cNvPr id="54" name="O 1 GD2"/>
          <p:cNvSpPr/>
          <p:nvPr/>
        </p:nvSpPr>
        <p:spPr>
          <a:xfrm>
            <a:off x="4471416" y="2249424"/>
            <a:ext cx="1280160" cy="347472"/>
          </a:xfrm>
          <a:prstGeom prst="roundRect">
            <a:avLst>
              <a:gd name="adj" fmla="val 15789"/>
            </a:avLst>
          </a:prstGeom>
          <a:solidFill>
            <a:schemeClr val="bg2"/>
          </a:solidFill>
          <a:ln/>
        </p:spPr>
      </p:sp>
      <p:sp>
        <p:nvSpPr>
          <p:cNvPr id="55" name="Chu o 1 GD2"/>
          <p:cNvSpPr txBox="1"/>
          <p:nvPr/>
        </p:nvSpPr>
        <p:spPr>
          <a:xfrm>
            <a:off x="4471416" y="2249424"/>
            <a:ext cx="1280160" cy="347472"/>
          </a:xfrm>
          <a:prstGeom prst="rect">
            <a:avLst/>
          </a:prstGeom>
          <a:noFill/>
          <a:ln/>
        </p:spPr>
        <p:txBody>
          <a:bodyPr wrap="square" lIns="0" tIns="0" rIns="0" bIns="0" rtlCol="0" anchor="ctr"/>
          <a:lstStyle/>
          <a:p>
            <a:pPr marL="0" indent="0" algn="ctr">
              <a:buNone/>
            </a:pPr>
            <a:r>
              <a:rPr lang="en-US" sz="1400" dirty="0">
                <a:solidFill>
                  <a:schemeClr val="tx1"/>
                </a:solidFill>
              </a:rPr>
              <a:t>1</a:t>
            </a:r>
            <a:endParaRPr lang="en-US" sz="1400" dirty="0"/>
          </a:p>
        </p:txBody>
      </p:sp>
      <p:sp>
        <p:nvSpPr>
          <p:cNvPr id="56" name="O 2 GD2"/>
          <p:cNvSpPr/>
          <p:nvPr/>
        </p:nvSpPr>
        <p:spPr>
          <a:xfrm>
            <a:off x="4471416" y="2633472"/>
            <a:ext cx="1280160" cy="347472"/>
          </a:xfrm>
          <a:prstGeom prst="roundRect">
            <a:avLst>
              <a:gd name="adj" fmla="val 15789"/>
            </a:avLst>
          </a:prstGeom>
          <a:solidFill>
            <a:srgbClr val="DCE9DF"/>
          </a:solidFill>
          <a:ln/>
        </p:spPr>
      </p:sp>
      <p:sp>
        <p:nvSpPr>
          <p:cNvPr id="57" name="Chu o 2 GD2"/>
          <p:cNvSpPr txBox="1"/>
          <p:nvPr/>
        </p:nvSpPr>
        <p:spPr>
          <a:xfrm>
            <a:off x="4471416" y="2633472"/>
            <a:ext cx="1280160" cy="347472"/>
          </a:xfrm>
          <a:prstGeom prst="rect">
            <a:avLst/>
          </a:prstGeom>
          <a:noFill/>
          <a:ln/>
        </p:spPr>
        <p:txBody>
          <a:bodyPr wrap="square" lIns="0" tIns="0" rIns="0" bIns="0" rtlCol="0" anchor="ctr"/>
          <a:lstStyle/>
          <a:p>
            <a:pPr marL="0" indent="0" algn="ctr">
              <a:buNone/>
            </a:pPr>
            <a:r>
              <a:rPr lang="en-US" sz="1400" b="1" dirty="0">
                <a:solidFill>
                  <a:schemeClr val="tx1"/>
                </a:solidFill>
              </a:rPr>
              <a:t>8–12</a:t>
            </a:r>
            <a:endParaRPr lang="en-US" sz="1400" dirty="0"/>
          </a:p>
        </p:txBody>
      </p:sp>
      <p:sp>
        <p:nvSpPr>
          <p:cNvPr id="58" name="O 3 GD2"/>
          <p:cNvSpPr/>
          <p:nvPr/>
        </p:nvSpPr>
        <p:spPr>
          <a:xfrm>
            <a:off x="4471416" y="3017520"/>
            <a:ext cx="1280160" cy="347472"/>
          </a:xfrm>
          <a:prstGeom prst="roundRect">
            <a:avLst>
              <a:gd name="adj" fmla="val 15789"/>
            </a:avLst>
          </a:prstGeom>
          <a:solidFill>
            <a:srgbClr val="DCE9DF"/>
          </a:solidFill>
          <a:ln/>
        </p:spPr>
      </p:sp>
      <p:sp>
        <p:nvSpPr>
          <p:cNvPr id="59" name="Chu o 3 GD2"/>
          <p:cNvSpPr txBox="1"/>
          <p:nvPr/>
        </p:nvSpPr>
        <p:spPr>
          <a:xfrm>
            <a:off x="4471416" y="3017520"/>
            <a:ext cx="1280160" cy="347472"/>
          </a:xfrm>
          <a:prstGeom prst="rect">
            <a:avLst/>
          </a:prstGeom>
          <a:noFill/>
          <a:ln/>
        </p:spPr>
        <p:txBody>
          <a:bodyPr wrap="square" lIns="0" tIns="0" rIns="0" bIns="0" rtlCol="0" anchor="ctr"/>
          <a:lstStyle/>
          <a:p>
            <a:pPr marL="0" indent="0" algn="ctr">
              <a:buNone/>
            </a:pPr>
            <a:r>
              <a:rPr lang="en-US" sz="1400" b="1" dirty="0">
                <a:solidFill>
                  <a:schemeClr val="tx1"/>
                </a:solidFill>
              </a:rPr>
              <a:t>2–3</a:t>
            </a:r>
            <a:endParaRPr lang="en-US" sz="1400" dirty="0"/>
          </a:p>
        </p:txBody>
      </p:sp>
      <p:sp>
        <p:nvSpPr>
          <p:cNvPr id="60" name="O 4 GD2"/>
          <p:cNvSpPr/>
          <p:nvPr/>
        </p:nvSpPr>
        <p:spPr>
          <a:xfrm>
            <a:off x="4471416" y="3401568"/>
            <a:ext cx="1280160" cy="347472"/>
          </a:xfrm>
          <a:prstGeom prst="roundRect">
            <a:avLst>
              <a:gd name="adj" fmla="val 15789"/>
            </a:avLst>
          </a:prstGeom>
          <a:solidFill>
            <a:srgbClr val="DCE9DF"/>
          </a:solidFill>
          <a:ln/>
        </p:spPr>
      </p:sp>
      <p:sp>
        <p:nvSpPr>
          <p:cNvPr id="61" name="Chu o 4 GD2"/>
          <p:cNvSpPr txBox="1"/>
          <p:nvPr/>
        </p:nvSpPr>
        <p:spPr>
          <a:xfrm>
            <a:off x="4471416" y="3401568"/>
            <a:ext cx="1280160" cy="347472"/>
          </a:xfrm>
          <a:prstGeom prst="rect">
            <a:avLst/>
          </a:prstGeom>
          <a:noFill/>
          <a:ln/>
        </p:spPr>
        <p:txBody>
          <a:bodyPr wrap="square" lIns="0" tIns="0" rIns="0" bIns="0" rtlCol="0" anchor="ctr"/>
          <a:lstStyle/>
          <a:p>
            <a:pPr marL="0" indent="0" algn="ctr">
              <a:buNone/>
            </a:pPr>
            <a:r>
              <a:rPr lang="en-US" sz="1400" b="1" dirty="0">
                <a:solidFill>
                  <a:schemeClr val="tx1"/>
                </a:solidFill>
              </a:rPr>
              <a:t>3–4</a:t>
            </a:r>
            <a:endParaRPr lang="en-US" sz="1400" dirty="0"/>
          </a:p>
        </p:txBody>
      </p:sp>
      <p:sp>
        <p:nvSpPr>
          <p:cNvPr id="62" name="O 5 GD2"/>
          <p:cNvSpPr/>
          <p:nvPr/>
        </p:nvSpPr>
        <p:spPr>
          <a:xfrm>
            <a:off x="4471416" y="3785616"/>
            <a:ext cx="1280160" cy="347472"/>
          </a:xfrm>
          <a:prstGeom prst="roundRect">
            <a:avLst>
              <a:gd name="adj" fmla="val 15789"/>
            </a:avLst>
          </a:prstGeom>
          <a:solidFill>
            <a:srgbClr val="DCE9DF"/>
          </a:solidFill>
          <a:ln/>
        </p:spPr>
      </p:sp>
      <p:sp>
        <p:nvSpPr>
          <p:cNvPr id="63" name="Chu o 5 GD2"/>
          <p:cNvSpPr txBox="1"/>
          <p:nvPr/>
        </p:nvSpPr>
        <p:spPr>
          <a:xfrm>
            <a:off x="4471416" y="3785616"/>
            <a:ext cx="1280160" cy="347472"/>
          </a:xfrm>
          <a:prstGeom prst="rect">
            <a:avLst/>
          </a:prstGeom>
          <a:noFill/>
          <a:ln/>
        </p:spPr>
        <p:txBody>
          <a:bodyPr wrap="square" lIns="0" tIns="0" rIns="0" bIns="0" rtlCol="0" anchor="ctr"/>
          <a:lstStyle/>
          <a:p>
            <a:pPr marL="0" indent="0" algn="ctr">
              <a:buNone/>
            </a:pPr>
            <a:r>
              <a:rPr lang="en-US" sz="1400" b="1" dirty="0">
                <a:solidFill>
                  <a:schemeClr val="tx1"/>
                </a:solidFill>
              </a:rPr>
              <a:t>2</a:t>
            </a:r>
            <a:endParaRPr lang="en-US" sz="1400" dirty="0"/>
          </a:p>
        </p:txBody>
      </p:sp>
      <p:sp>
        <p:nvSpPr>
          <p:cNvPr id="64" name="O 6 GD2"/>
          <p:cNvSpPr/>
          <p:nvPr/>
        </p:nvSpPr>
        <p:spPr>
          <a:xfrm>
            <a:off x="4471416" y="4169664"/>
            <a:ext cx="1280160" cy="347472"/>
          </a:xfrm>
          <a:prstGeom prst="roundRect">
            <a:avLst>
              <a:gd name="adj" fmla="val 15789"/>
            </a:avLst>
          </a:prstGeom>
          <a:solidFill>
            <a:srgbClr val="DCE9DF"/>
          </a:solidFill>
          <a:ln/>
        </p:spPr>
      </p:sp>
      <p:sp>
        <p:nvSpPr>
          <p:cNvPr id="65" name="Chu o 6 GD2"/>
          <p:cNvSpPr txBox="1"/>
          <p:nvPr/>
        </p:nvSpPr>
        <p:spPr>
          <a:xfrm>
            <a:off x="4471416" y="4169664"/>
            <a:ext cx="1280160" cy="347472"/>
          </a:xfrm>
          <a:prstGeom prst="rect">
            <a:avLst/>
          </a:prstGeom>
          <a:noFill/>
          <a:ln/>
        </p:spPr>
        <p:txBody>
          <a:bodyPr wrap="square" lIns="0" tIns="0" rIns="0" bIns="0" rtlCol="0" anchor="ctr"/>
          <a:lstStyle/>
          <a:p>
            <a:pPr marL="0" indent="0" algn="ctr">
              <a:buNone/>
            </a:pPr>
            <a:r>
              <a:rPr lang="en-US" sz="1400" b="1" dirty="0">
                <a:solidFill>
                  <a:schemeClr val="tx1"/>
                </a:solidFill>
              </a:rPr>
              <a:t>1–2</a:t>
            </a:r>
            <a:endParaRPr lang="en-US" sz="1400" dirty="0"/>
          </a:p>
        </p:txBody>
      </p:sp>
      <p:sp>
        <p:nvSpPr>
          <p:cNvPr id="66" name="O 7 GD2"/>
          <p:cNvSpPr/>
          <p:nvPr/>
        </p:nvSpPr>
        <p:spPr>
          <a:xfrm>
            <a:off x="4471416" y="4553712"/>
            <a:ext cx="1280160" cy="347472"/>
          </a:xfrm>
          <a:prstGeom prst="roundRect">
            <a:avLst>
              <a:gd name="adj" fmla="val 15789"/>
            </a:avLst>
          </a:prstGeom>
          <a:solidFill>
            <a:srgbClr val="DCE9DF"/>
          </a:solidFill>
          <a:ln/>
        </p:spPr>
      </p:sp>
      <p:sp>
        <p:nvSpPr>
          <p:cNvPr id="67" name="Chu o 7 GD2"/>
          <p:cNvSpPr txBox="1"/>
          <p:nvPr/>
        </p:nvSpPr>
        <p:spPr>
          <a:xfrm>
            <a:off x="4471416" y="4553712"/>
            <a:ext cx="1280160" cy="347472"/>
          </a:xfrm>
          <a:prstGeom prst="rect">
            <a:avLst/>
          </a:prstGeom>
          <a:noFill/>
          <a:ln/>
        </p:spPr>
        <p:txBody>
          <a:bodyPr wrap="square" lIns="0" tIns="0" rIns="0" bIns="0" rtlCol="0" anchor="ctr"/>
          <a:lstStyle/>
          <a:p>
            <a:pPr marL="0" indent="0" algn="ctr">
              <a:buNone/>
            </a:pPr>
            <a:r>
              <a:rPr lang="en-US" sz="1400" b="1" dirty="0">
                <a:solidFill>
                  <a:schemeClr val="tx1"/>
                </a:solidFill>
              </a:rPr>
              <a:t>2–3</a:t>
            </a:r>
            <a:endParaRPr lang="en-US" sz="1400" dirty="0"/>
          </a:p>
        </p:txBody>
      </p:sp>
      <p:sp>
        <p:nvSpPr>
          <p:cNvPr id="68" name="O tong GD2"/>
          <p:cNvSpPr/>
          <p:nvPr/>
        </p:nvSpPr>
        <p:spPr>
          <a:xfrm>
            <a:off x="4471416" y="4974336"/>
            <a:ext cx="1280160" cy="420624"/>
          </a:xfrm>
          <a:prstGeom prst="roundRect">
            <a:avLst>
              <a:gd name="adj" fmla="val 13043"/>
            </a:avLst>
          </a:prstGeom>
          <a:solidFill>
            <a:schemeClr val="accent1"/>
          </a:solidFill>
          <a:ln/>
        </p:spPr>
      </p:sp>
      <p:sp>
        <p:nvSpPr>
          <p:cNvPr id="69" name="Chu tong GD2"/>
          <p:cNvSpPr txBox="1"/>
          <p:nvPr/>
        </p:nvSpPr>
        <p:spPr>
          <a:xfrm>
            <a:off x="4471416" y="4974336"/>
            <a:ext cx="1280160" cy="420624"/>
          </a:xfrm>
          <a:prstGeom prst="rect">
            <a:avLst/>
          </a:prstGeom>
          <a:noFill/>
          <a:ln/>
        </p:spPr>
        <p:txBody>
          <a:bodyPr wrap="square" lIns="0" tIns="0" rIns="0" bIns="0" rtlCol="0" anchor="ctr"/>
          <a:lstStyle/>
          <a:p>
            <a:pPr marL="0" indent="0" algn="ctr">
              <a:buNone/>
            </a:pPr>
            <a:r>
              <a:rPr lang="en-US" sz="1600" b="1" dirty="0">
                <a:solidFill>
                  <a:schemeClr val="bg1"/>
                </a:solidFill>
              </a:rPr>
              <a:t>19–27</a:t>
            </a:r>
            <a:endParaRPr lang="en-US" sz="1600" dirty="0"/>
          </a:p>
        </p:txBody>
      </p:sp>
      <p:sp>
        <p:nvSpPr>
          <p:cNvPr id="70" name="O tuyen moi GD2"/>
          <p:cNvSpPr/>
          <p:nvPr/>
        </p:nvSpPr>
        <p:spPr>
          <a:xfrm>
            <a:off x="4471416" y="5449824"/>
            <a:ext cx="1280160" cy="365760"/>
          </a:xfrm>
          <a:prstGeom prst="roundRect">
            <a:avLst>
              <a:gd name="adj" fmla="val 15000"/>
            </a:avLst>
          </a:prstGeom>
          <a:solidFill>
            <a:srgbClr val="FBF1D8"/>
          </a:solidFill>
          <a:ln/>
        </p:spPr>
      </p:sp>
      <p:sp>
        <p:nvSpPr>
          <p:cNvPr id="71" name="Chu tuyen moi GD2"/>
          <p:cNvSpPr txBox="1"/>
          <p:nvPr/>
        </p:nvSpPr>
        <p:spPr>
          <a:xfrm>
            <a:off x="4471416" y="5449824"/>
            <a:ext cx="1280160" cy="365760"/>
          </a:xfrm>
          <a:prstGeom prst="rect">
            <a:avLst/>
          </a:prstGeom>
          <a:noFill/>
          <a:ln/>
        </p:spPr>
        <p:txBody>
          <a:bodyPr wrap="square" lIns="0" tIns="0" rIns="0" bIns="0" rtlCol="0" anchor="ctr"/>
          <a:lstStyle/>
          <a:p>
            <a:pPr marL="0" indent="0" algn="ctr">
              <a:buNone/>
            </a:pPr>
            <a:r>
              <a:rPr lang="en-US" sz="1400" b="1" dirty="0">
                <a:solidFill>
                  <a:schemeClr val="accent6"/>
                </a:solidFill>
              </a:rPr>
              <a:t>+10–15</a:t>
            </a:r>
            <a:endParaRPr lang="en-US" sz="1400" dirty="0"/>
          </a:p>
        </p:txBody>
      </p:sp>
      <p:sp>
        <p:nvSpPr>
          <p:cNvPr id="72" name="Cot khoang GD2"/>
          <p:cNvSpPr/>
          <p:nvPr/>
        </p:nvSpPr>
        <p:spPr>
          <a:xfrm>
            <a:off x="9503931" y="3617366"/>
            <a:ext cx="502920" cy="526694"/>
          </a:xfrm>
          <a:prstGeom prst="rect">
            <a:avLst/>
          </a:prstGeom>
          <a:solidFill>
            <a:srgbClr val="DCE9DF"/>
          </a:solidFill>
          <a:ln w="12700">
            <a:solidFill>
              <a:srgbClr val="1D4B3A"/>
            </a:solidFill>
            <a:prstDash val="solid"/>
          </a:ln>
        </p:spPr>
      </p:sp>
      <p:sp>
        <p:nvSpPr>
          <p:cNvPr id="73" name="Cot thap GD2"/>
          <p:cNvSpPr/>
          <p:nvPr/>
        </p:nvSpPr>
        <p:spPr>
          <a:xfrm>
            <a:off x="9503931" y="4144061"/>
            <a:ext cx="502920" cy="1250899"/>
          </a:xfrm>
          <a:prstGeom prst="rect">
            <a:avLst/>
          </a:prstGeom>
          <a:solidFill>
            <a:srgbClr val="1D4B3A"/>
          </a:solidFill>
          <a:ln/>
        </p:spPr>
      </p:sp>
      <p:sp>
        <p:nvSpPr>
          <p:cNvPr id="74" name="Nhan cot GD2"/>
          <p:cNvSpPr txBox="1"/>
          <p:nvPr/>
        </p:nvSpPr>
        <p:spPr>
          <a:xfrm>
            <a:off x="9366771" y="3343046"/>
            <a:ext cx="777240" cy="256032"/>
          </a:xfrm>
          <a:prstGeom prst="rect">
            <a:avLst/>
          </a:prstGeom>
          <a:noFill/>
          <a:ln/>
        </p:spPr>
        <p:txBody>
          <a:bodyPr wrap="square" lIns="0" tIns="0" rIns="0" bIns="0" rtlCol="0" anchor="ctr"/>
          <a:lstStyle/>
          <a:p>
            <a:pPr marL="0" indent="0" algn="ctr">
              <a:buNone/>
            </a:pPr>
            <a:r>
              <a:rPr lang="en-US" sz="1400" b="1" dirty="0">
                <a:solidFill>
                  <a:schemeClr val="accent1"/>
                </a:solidFill>
              </a:rPr>
              <a:t>19–27</a:t>
            </a:r>
            <a:endParaRPr lang="en-US" sz="1400" dirty="0"/>
          </a:p>
        </p:txBody>
      </p:sp>
      <p:sp>
        <p:nvSpPr>
          <p:cNvPr id="75" name="Nhan truc GD2"/>
          <p:cNvSpPr txBox="1"/>
          <p:nvPr/>
        </p:nvSpPr>
        <p:spPr>
          <a:xfrm>
            <a:off x="9366771" y="5431536"/>
            <a:ext cx="777240" cy="237744"/>
          </a:xfrm>
          <a:prstGeom prst="rect">
            <a:avLst/>
          </a:prstGeom>
          <a:noFill/>
          <a:ln/>
        </p:spPr>
        <p:txBody>
          <a:bodyPr wrap="square" lIns="0" tIns="0" rIns="0" bIns="0" rtlCol="0" anchor="ctr"/>
          <a:lstStyle/>
          <a:p>
            <a:pPr marL="0" indent="0" algn="ctr">
              <a:buNone/>
            </a:pPr>
            <a:r>
              <a:rPr lang="en-US" sz="1200" b="1" dirty="0">
                <a:solidFill>
                  <a:srgbClr val="5C6F66"/>
                </a:solidFill>
              </a:rPr>
              <a:t>GĐ2</a:t>
            </a:r>
            <a:endParaRPr lang="en-US" sz="1200" dirty="0"/>
          </a:p>
        </p:txBody>
      </p:sp>
      <p:sp>
        <p:nvSpPr>
          <p:cNvPr id="76" name="Dau cot GD3"/>
          <p:cNvSpPr/>
          <p:nvPr/>
        </p:nvSpPr>
        <p:spPr>
          <a:xfrm>
            <a:off x="5806440" y="1691640"/>
            <a:ext cx="1280160" cy="502920"/>
          </a:xfrm>
          <a:prstGeom prst="roundRect">
            <a:avLst>
              <a:gd name="adj" fmla="val 14545"/>
            </a:avLst>
          </a:prstGeom>
          <a:solidFill>
            <a:srgbClr val="E4A92A"/>
          </a:solidFill>
          <a:ln/>
        </p:spPr>
      </p:sp>
      <p:sp>
        <p:nvSpPr>
          <p:cNvPr id="77" name="Chu dau cot GD3"/>
          <p:cNvSpPr txBox="1"/>
          <p:nvPr/>
        </p:nvSpPr>
        <p:spPr>
          <a:xfrm>
            <a:off x="5806440" y="1691640"/>
            <a:ext cx="1280160" cy="502920"/>
          </a:xfrm>
          <a:prstGeom prst="rect">
            <a:avLst/>
          </a:prstGeom>
          <a:noFill/>
          <a:ln/>
        </p:spPr>
        <p:txBody>
          <a:bodyPr wrap="square" lIns="0" tIns="0" rIns="0" bIns="0" rtlCol="0" anchor="ctr"/>
          <a:lstStyle/>
          <a:p>
            <a:pPr marL="0" indent="0" algn="ctr">
              <a:buNone/>
            </a:pPr>
            <a:r>
              <a:rPr lang="en-US" sz="1500" b="1" dirty="0">
                <a:solidFill>
                  <a:srgbClr val="1B2B24"/>
                </a:solidFill>
              </a:rPr>
              <a:t>GĐ3</a:t>
            </a:r>
            <a:endParaRPr lang="en-US" sz="1400" dirty="0"/>
          </a:p>
          <a:p>
            <a:pPr marL="0" indent="0" algn="ctr">
              <a:buNone/>
            </a:pPr>
            <a:r>
              <a:rPr lang="en-US" sz="1200" dirty="0">
                <a:solidFill>
                  <a:srgbClr val="1B2B24"/>
                </a:solidFill>
              </a:rPr>
              <a:t>Sản xuất đạt chuẩn</a:t>
            </a:r>
            <a:endParaRPr lang="en-US" sz="1400" dirty="0"/>
          </a:p>
        </p:txBody>
      </p:sp>
      <p:sp>
        <p:nvSpPr>
          <p:cNvPr id="78" name="O 1 GD3"/>
          <p:cNvSpPr/>
          <p:nvPr/>
        </p:nvSpPr>
        <p:spPr>
          <a:xfrm>
            <a:off x="5806440" y="2249424"/>
            <a:ext cx="1280160" cy="347472"/>
          </a:xfrm>
          <a:prstGeom prst="roundRect">
            <a:avLst>
              <a:gd name="adj" fmla="val 15789"/>
            </a:avLst>
          </a:prstGeom>
          <a:solidFill>
            <a:schemeClr val="bg2"/>
          </a:solidFill>
          <a:ln/>
        </p:spPr>
      </p:sp>
      <p:sp>
        <p:nvSpPr>
          <p:cNvPr id="79" name="Chu o 1 GD3"/>
          <p:cNvSpPr txBox="1"/>
          <p:nvPr/>
        </p:nvSpPr>
        <p:spPr>
          <a:xfrm>
            <a:off x="5806440" y="2249424"/>
            <a:ext cx="1280160" cy="347472"/>
          </a:xfrm>
          <a:prstGeom prst="rect">
            <a:avLst/>
          </a:prstGeom>
          <a:noFill/>
          <a:ln/>
        </p:spPr>
        <p:txBody>
          <a:bodyPr wrap="square" lIns="0" tIns="0" rIns="0" bIns="0" rtlCol="0" anchor="ctr"/>
          <a:lstStyle/>
          <a:p>
            <a:pPr marL="0" indent="0" algn="ctr">
              <a:buNone/>
            </a:pPr>
            <a:r>
              <a:rPr lang="en-US" sz="1400" dirty="0">
                <a:solidFill>
                  <a:schemeClr val="tx1"/>
                </a:solidFill>
              </a:rPr>
              <a:t>1</a:t>
            </a:r>
            <a:endParaRPr lang="en-US" sz="1400" dirty="0"/>
          </a:p>
        </p:txBody>
      </p:sp>
      <p:sp>
        <p:nvSpPr>
          <p:cNvPr id="80" name="O 2 GD3"/>
          <p:cNvSpPr/>
          <p:nvPr/>
        </p:nvSpPr>
        <p:spPr>
          <a:xfrm>
            <a:off x="5806440" y="2633472"/>
            <a:ext cx="1280160" cy="347472"/>
          </a:xfrm>
          <a:prstGeom prst="roundRect">
            <a:avLst>
              <a:gd name="adj" fmla="val 15789"/>
            </a:avLst>
          </a:prstGeom>
          <a:solidFill>
            <a:srgbClr val="FBF1D8"/>
          </a:solidFill>
          <a:ln/>
        </p:spPr>
      </p:sp>
      <p:sp>
        <p:nvSpPr>
          <p:cNvPr id="81" name="Chu o 2 GD3"/>
          <p:cNvSpPr txBox="1"/>
          <p:nvPr/>
        </p:nvSpPr>
        <p:spPr>
          <a:xfrm>
            <a:off x="5806440" y="2633472"/>
            <a:ext cx="1280160" cy="347472"/>
          </a:xfrm>
          <a:prstGeom prst="rect">
            <a:avLst/>
          </a:prstGeom>
          <a:noFill/>
          <a:ln/>
        </p:spPr>
        <p:txBody>
          <a:bodyPr wrap="square" lIns="0" tIns="0" rIns="0" bIns="0" rtlCol="0" anchor="ctr"/>
          <a:lstStyle/>
          <a:p>
            <a:pPr marL="0" indent="0" algn="ctr">
              <a:buNone/>
            </a:pPr>
            <a:r>
              <a:rPr lang="en-US" sz="1400" b="1" dirty="0">
                <a:solidFill>
                  <a:schemeClr val="tx1"/>
                </a:solidFill>
              </a:rPr>
              <a:t>12–16</a:t>
            </a:r>
            <a:endParaRPr lang="en-US" sz="1400" dirty="0"/>
          </a:p>
        </p:txBody>
      </p:sp>
      <p:sp>
        <p:nvSpPr>
          <p:cNvPr id="82" name="O 3 GD3"/>
          <p:cNvSpPr/>
          <p:nvPr/>
        </p:nvSpPr>
        <p:spPr>
          <a:xfrm>
            <a:off x="5806440" y="3017520"/>
            <a:ext cx="1280160" cy="347472"/>
          </a:xfrm>
          <a:prstGeom prst="roundRect">
            <a:avLst>
              <a:gd name="adj" fmla="val 15789"/>
            </a:avLst>
          </a:prstGeom>
          <a:solidFill>
            <a:srgbClr val="FBF1D8"/>
          </a:solidFill>
          <a:ln/>
        </p:spPr>
      </p:sp>
      <p:sp>
        <p:nvSpPr>
          <p:cNvPr id="83" name="Chu o 3 GD3"/>
          <p:cNvSpPr txBox="1"/>
          <p:nvPr/>
        </p:nvSpPr>
        <p:spPr>
          <a:xfrm>
            <a:off x="5806440" y="3017520"/>
            <a:ext cx="1280160" cy="347472"/>
          </a:xfrm>
          <a:prstGeom prst="rect">
            <a:avLst/>
          </a:prstGeom>
          <a:noFill/>
          <a:ln/>
        </p:spPr>
        <p:txBody>
          <a:bodyPr wrap="square" lIns="0" tIns="0" rIns="0" bIns="0" rtlCol="0" anchor="ctr"/>
          <a:lstStyle/>
          <a:p>
            <a:pPr marL="0" indent="0" algn="ctr">
              <a:buNone/>
            </a:pPr>
            <a:r>
              <a:rPr lang="en-US" sz="1400" b="1" dirty="0">
                <a:solidFill>
                  <a:schemeClr val="tx1"/>
                </a:solidFill>
              </a:rPr>
              <a:t>3–4</a:t>
            </a:r>
            <a:endParaRPr lang="en-US" sz="1400" dirty="0"/>
          </a:p>
        </p:txBody>
      </p:sp>
      <p:sp>
        <p:nvSpPr>
          <p:cNvPr id="84" name="O 4 GD3"/>
          <p:cNvSpPr/>
          <p:nvPr/>
        </p:nvSpPr>
        <p:spPr>
          <a:xfrm>
            <a:off x="5806440" y="3401568"/>
            <a:ext cx="1280160" cy="347472"/>
          </a:xfrm>
          <a:prstGeom prst="roundRect">
            <a:avLst>
              <a:gd name="adj" fmla="val 15789"/>
            </a:avLst>
          </a:prstGeom>
          <a:solidFill>
            <a:srgbClr val="FBF1D8"/>
          </a:solidFill>
          <a:ln/>
        </p:spPr>
      </p:sp>
      <p:sp>
        <p:nvSpPr>
          <p:cNvPr id="85" name="Chu o 4 GD3"/>
          <p:cNvSpPr txBox="1"/>
          <p:nvPr/>
        </p:nvSpPr>
        <p:spPr>
          <a:xfrm>
            <a:off x="5806440" y="3401568"/>
            <a:ext cx="1280160" cy="347472"/>
          </a:xfrm>
          <a:prstGeom prst="rect">
            <a:avLst/>
          </a:prstGeom>
          <a:noFill/>
          <a:ln/>
        </p:spPr>
        <p:txBody>
          <a:bodyPr wrap="square" lIns="0" tIns="0" rIns="0" bIns="0" rtlCol="0" anchor="ctr"/>
          <a:lstStyle/>
          <a:p>
            <a:pPr marL="0" indent="0" algn="ctr">
              <a:buNone/>
            </a:pPr>
            <a:r>
              <a:rPr lang="en-US" sz="1400" b="1" dirty="0">
                <a:solidFill>
                  <a:schemeClr val="tx1"/>
                </a:solidFill>
              </a:rPr>
              <a:t>3–5</a:t>
            </a:r>
            <a:endParaRPr lang="en-US" sz="1400" dirty="0"/>
          </a:p>
        </p:txBody>
      </p:sp>
      <p:sp>
        <p:nvSpPr>
          <p:cNvPr id="86" name="O 5 GD3"/>
          <p:cNvSpPr/>
          <p:nvPr/>
        </p:nvSpPr>
        <p:spPr>
          <a:xfrm>
            <a:off x="5806440" y="3785616"/>
            <a:ext cx="1280160" cy="347472"/>
          </a:xfrm>
          <a:prstGeom prst="roundRect">
            <a:avLst>
              <a:gd name="adj" fmla="val 15789"/>
            </a:avLst>
          </a:prstGeom>
          <a:solidFill>
            <a:srgbClr val="FBF1D8"/>
          </a:solidFill>
          <a:ln/>
        </p:spPr>
      </p:sp>
      <p:sp>
        <p:nvSpPr>
          <p:cNvPr id="87" name="Chu o 5 GD3"/>
          <p:cNvSpPr txBox="1"/>
          <p:nvPr/>
        </p:nvSpPr>
        <p:spPr>
          <a:xfrm>
            <a:off x="5806440" y="3785616"/>
            <a:ext cx="1280160" cy="347472"/>
          </a:xfrm>
          <a:prstGeom prst="rect">
            <a:avLst/>
          </a:prstGeom>
          <a:noFill/>
          <a:ln/>
        </p:spPr>
        <p:txBody>
          <a:bodyPr wrap="square" lIns="0" tIns="0" rIns="0" bIns="0" rtlCol="0" anchor="ctr"/>
          <a:lstStyle/>
          <a:p>
            <a:pPr marL="0" indent="0" algn="ctr">
              <a:buNone/>
            </a:pPr>
            <a:r>
              <a:rPr lang="en-US" sz="1400" b="1" dirty="0">
                <a:solidFill>
                  <a:schemeClr val="tx1"/>
                </a:solidFill>
              </a:rPr>
              <a:t>2–3</a:t>
            </a:r>
            <a:endParaRPr lang="en-US" sz="1400" dirty="0"/>
          </a:p>
        </p:txBody>
      </p:sp>
      <p:sp>
        <p:nvSpPr>
          <p:cNvPr id="88" name="O 6 GD3"/>
          <p:cNvSpPr/>
          <p:nvPr/>
        </p:nvSpPr>
        <p:spPr>
          <a:xfrm>
            <a:off x="5806440" y="4169664"/>
            <a:ext cx="1280160" cy="347472"/>
          </a:xfrm>
          <a:prstGeom prst="roundRect">
            <a:avLst>
              <a:gd name="adj" fmla="val 15789"/>
            </a:avLst>
          </a:prstGeom>
          <a:solidFill>
            <a:srgbClr val="FBF1D8"/>
          </a:solidFill>
          <a:ln/>
        </p:spPr>
      </p:sp>
      <p:sp>
        <p:nvSpPr>
          <p:cNvPr id="89" name="Chu o 6 GD3"/>
          <p:cNvSpPr txBox="1"/>
          <p:nvPr/>
        </p:nvSpPr>
        <p:spPr>
          <a:xfrm>
            <a:off x="5806440" y="4169664"/>
            <a:ext cx="1280160" cy="347472"/>
          </a:xfrm>
          <a:prstGeom prst="rect">
            <a:avLst/>
          </a:prstGeom>
          <a:noFill/>
          <a:ln/>
        </p:spPr>
        <p:txBody>
          <a:bodyPr wrap="square" lIns="0" tIns="0" rIns="0" bIns="0" rtlCol="0" anchor="ctr"/>
          <a:lstStyle/>
          <a:p>
            <a:pPr marL="0" indent="0" algn="ctr">
              <a:buNone/>
            </a:pPr>
            <a:r>
              <a:rPr lang="en-US" sz="1400" b="1" dirty="0">
                <a:solidFill>
                  <a:schemeClr val="tx1"/>
                </a:solidFill>
              </a:rPr>
              <a:t>2–3</a:t>
            </a:r>
            <a:endParaRPr lang="en-US" sz="1400" dirty="0"/>
          </a:p>
        </p:txBody>
      </p:sp>
      <p:sp>
        <p:nvSpPr>
          <p:cNvPr id="90" name="O 7 GD3"/>
          <p:cNvSpPr/>
          <p:nvPr/>
        </p:nvSpPr>
        <p:spPr>
          <a:xfrm>
            <a:off x="5806440" y="4553712"/>
            <a:ext cx="1280160" cy="347472"/>
          </a:xfrm>
          <a:prstGeom prst="roundRect">
            <a:avLst>
              <a:gd name="adj" fmla="val 15789"/>
            </a:avLst>
          </a:prstGeom>
          <a:solidFill>
            <a:schemeClr val="bg2"/>
          </a:solidFill>
          <a:ln/>
        </p:spPr>
      </p:sp>
      <p:sp>
        <p:nvSpPr>
          <p:cNvPr id="91" name="Chu o 7 GD3"/>
          <p:cNvSpPr txBox="1"/>
          <p:nvPr/>
        </p:nvSpPr>
        <p:spPr>
          <a:xfrm>
            <a:off x="5806440" y="4553712"/>
            <a:ext cx="1280160" cy="347472"/>
          </a:xfrm>
          <a:prstGeom prst="rect">
            <a:avLst/>
          </a:prstGeom>
          <a:noFill/>
          <a:ln/>
        </p:spPr>
        <p:txBody>
          <a:bodyPr wrap="square" lIns="0" tIns="0" rIns="0" bIns="0" rtlCol="0" anchor="ctr"/>
          <a:lstStyle/>
          <a:p>
            <a:pPr marL="0" indent="0" algn="ctr">
              <a:buNone/>
            </a:pPr>
            <a:r>
              <a:rPr lang="en-US" sz="1400" dirty="0">
                <a:solidFill>
                  <a:schemeClr val="tx1"/>
                </a:solidFill>
              </a:rPr>
              <a:t>2–3</a:t>
            </a:r>
            <a:endParaRPr lang="en-US" sz="1400" dirty="0"/>
          </a:p>
        </p:txBody>
      </p:sp>
      <p:sp>
        <p:nvSpPr>
          <p:cNvPr id="92" name="O tong GD3"/>
          <p:cNvSpPr/>
          <p:nvPr/>
        </p:nvSpPr>
        <p:spPr>
          <a:xfrm>
            <a:off x="5806440" y="4974336"/>
            <a:ext cx="1280160" cy="420624"/>
          </a:xfrm>
          <a:prstGeom prst="roundRect">
            <a:avLst>
              <a:gd name="adj" fmla="val 13043"/>
            </a:avLst>
          </a:prstGeom>
          <a:solidFill>
            <a:schemeClr val="accent1"/>
          </a:solidFill>
          <a:ln/>
        </p:spPr>
      </p:sp>
      <p:sp>
        <p:nvSpPr>
          <p:cNvPr id="93" name="Chu tong GD3"/>
          <p:cNvSpPr txBox="1"/>
          <p:nvPr/>
        </p:nvSpPr>
        <p:spPr>
          <a:xfrm>
            <a:off x="5806440" y="4974336"/>
            <a:ext cx="1280160" cy="420624"/>
          </a:xfrm>
          <a:prstGeom prst="rect">
            <a:avLst/>
          </a:prstGeom>
          <a:noFill/>
          <a:ln/>
        </p:spPr>
        <p:txBody>
          <a:bodyPr wrap="square" lIns="0" tIns="0" rIns="0" bIns="0" rtlCol="0" anchor="ctr"/>
          <a:lstStyle/>
          <a:p>
            <a:pPr marL="0" indent="0" algn="ctr">
              <a:buNone/>
            </a:pPr>
            <a:r>
              <a:rPr lang="en-US" sz="1600" b="1" dirty="0">
                <a:solidFill>
                  <a:schemeClr val="bg1"/>
                </a:solidFill>
              </a:rPr>
              <a:t>25–35</a:t>
            </a:r>
            <a:endParaRPr lang="en-US" sz="1600" dirty="0"/>
          </a:p>
        </p:txBody>
      </p:sp>
      <p:sp>
        <p:nvSpPr>
          <p:cNvPr id="94" name="O tuyen moi GD3"/>
          <p:cNvSpPr/>
          <p:nvPr/>
        </p:nvSpPr>
        <p:spPr>
          <a:xfrm>
            <a:off x="5806440" y="5449824"/>
            <a:ext cx="1280160" cy="365760"/>
          </a:xfrm>
          <a:prstGeom prst="roundRect">
            <a:avLst>
              <a:gd name="adj" fmla="val 15000"/>
            </a:avLst>
          </a:prstGeom>
          <a:solidFill>
            <a:srgbClr val="FBF1D8"/>
          </a:solidFill>
          <a:ln/>
        </p:spPr>
      </p:sp>
      <p:sp>
        <p:nvSpPr>
          <p:cNvPr id="95" name="Chu tuyen moi GD3"/>
          <p:cNvSpPr txBox="1"/>
          <p:nvPr/>
        </p:nvSpPr>
        <p:spPr>
          <a:xfrm>
            <a:off x="5806440" y="5449824"/>
            <a:ext cx="1280160" cy="365760"/>
          </a:xfrm>
          <a:prstGeom prst="rect">
            <a:avLst/>
          </a:prstGeom>
          <a:noFill/>
          <a:ln/>
        </p:spPr>
        <p:txBody>
          <a:bodyPr wrap="square" lIns="0" tIns="0" rIns="0" bIns="0" rtlCol="0" anchor="ctr"/>
          <a:lstStyle/>
          <a:p>
            <a:pPr marL="0" indent="0" algn="ctr">
              <a:buNone/>
            </a:pPr>
            <a:r>
              <a:rPr lang="en-US" sz="1400" b="1" dirty="0">
                <a:solidFill>
                  <a:schemeClr val="accent6"/>
                </a:solidFill>
              </a:rPr>
              <a:t>+6–8</a:t>
            </a:r>
            <a:endParaRPr lang="en-US" sz="1400" dirty="0"/>
          </a:p>
        </p:txBody>
      </p:sp>
      <p:sp>
        <p:nvSpPr>
          <p:cNvPr id="96" name="Cot khoang GD3"/>
          <p:cNvSpPr/>
          <p:nvPr/>
        </p:nvSpPr>
        <p:spPr>
          <a:xfrm>
            <a:off x="10204133" y="3090672"/>
            <a:ext cx="502920" cy="658368"/>
          </a:xfrm>
          <a:prstGeom prst="rect">
            <a:avLst/>
          </a:prstGeom>
          <a:solidFill>
            <a:srgbClr val="FBF1D8"/>
          </a:solidFill>
          <a:ln w="12700">
            <a:solidFill>
              <a:srgbClr val="E4A92A"/>
            </a:solidFill>
            <a:prstDash val="solid"/>
          </a:ln>
        </p:spPr>
      </p:sp>
      <p:sp>
        <p:nvSpPr>
          <p:cNvPr id="97" name="Cot thap GD3"/>
          <p:cNvSpPr/>
          <p:nvPr/>
        </p:nvSpPr>
        <p:spPr>
          <a:xfrm>
            <a:off x="10204133" y="3749040"/>
            <a:ext cx="502920" cy="1645920"/>
          </a:xfrm>
          <a:prstGeom prst="rect">
            <a:avLst/>
          </a:prstGeom>
          <a:solidFill>
            <a:srgbClr val="E4A92A"/>
          </a:solidFill>
          <a:ln/>
        </p:spPr>
      </p:sp>
      <p:sp>
        <p:nvSpPr>
          <p:cNvPr id="98" name="Nhan cot GD3"/>
          <p:cNvSpPr txBox="1"/>
          <p:nvPr/>
        </p:nvSpPr>
        <p:spPr>
          <a:xfrm>
            <a:off x="10066973" y="2816352"/>
            <a:ext cx="777240" cy="256032"/>
          </a:xfrm>
          <a:prstGeom prst="rect">
            <a:avLst/>
          </a:prstGeom>
          <a:noFill/>
          <a:ln/>
        </p:spPr>
        <p:txBody>
          <a:bodyPr wrap="square" lIns="0" tIns="0" rIns="0" bIns="0" rtlCol="0" anchor="ctr"/>
          <a:lstStyle/>
          <a:p>
            <a:pPr marL="0" indent="0" algn="ctr">
              <a:buNone/>
            </a:pPr>
            <a:r>
              <a:rPr lang="en-US" sz="1400" b="1" dirty="0">
                <a:solidFill>
                  <a:schemeClr val="accent1"/>
                </a:solidFill>
              </a:rPr>
              <a:t>25–35</a:t>
            </a:r>
            <a:endParaRPr lang="en-US" sz="1400" dirty="0"/>
          </a:p>
        </p:txBody>
      </p:sp>
      <p:sp>
        <p:nvSpPr>
          <p:cNvPr id="99" name="Nhan truc GD3"/>
          <p:cNvSpPr txBox="1"/>
          <p:nvPr/>
        </p:nvSpPr>
        <p:spPr>
          <a:xfrm>
            <a:off x="10066973" y="5431536"/>
            <a:ext cx="777240" cy="237744"/>
          </a:xfrm>
          <a:prstGeom prst="rect">
            <a:avLst/>
          </a:prstGeom>
          <a:noFill/>
          <a:ln/>
        </p:spPr>
        <p:txBody>
          <a:bodyPr wrap="square" lIns="0" tIns="0" rIns="0" bIns="0" rtlCol="0" anchor="ctr"/>
          <a:lstStyle/>
          <a:p>
            <a:pPr marL="0" indent="0" algn="ctr">
              <a:buNone/>
            </a:pPr>
            <a:r>
              <a:rPr lang="en-US" sz="1200" b="1" dirty="0">
                <a:solidFill>
                  <a:srgbClr val="5C6F66"/>
                </a:solidFill>
              </a:rPr>
              <a:t>GĐ3</a:t>
            </a:r>
            <a:endParaRPr lang="en-US" sz="1200" dirty="0"/>
          </a:p>
        </p:txBody>
      </p:sp>
      <p:sp>
        <p:nvSpPr>
          <p:cNvPr id="100" name="Dau cot GD4"/>
          <p:cNvSpPr/>
          <p:nvPr/>
        </p:nvSpPr>
        <p:spPr>
          <a:xfrm>
            <a:off x="7141464" y="1691640"/>
            <a:ext cx="1280160" cy="502920"/>
          </a:xfrm>
          <a:prstGeom prst="roundRect">
            <a:avLst>
              <a:gd name="adj" fmla="val 14545"/>
            </a:avLst>
          </a:prstGeom>
          <a:solidFill>
            <a:srgbClr val="7A3E8F"/>
          </a:solidFill>
          <a:ln/>
        </p:spPr>
      </p:sp>
      <p:sp>
        <p:nvSpPr>
          <p:cNvPr id="101" name="Chu dau cot GD4"/>
          <p:cNvSpPr txBox="1"/>
          <p:nvPr/>
        </p:nvSpPr>
        <p:spPr>
          <a:xfrm>
            <a:off x="7141464" y="1691640"/>
            <a:ext cx="1280160" cy="502920"/>
          </a:xfrm>
          <a:prstGeom prst="rect">
            <a:avLst/>
          </a:prstGeom>
          <a:noFill/>
          <a:ln/>
        </p:spPr>
        <p:txBody>
          <a:bodyPr wrap="square" lIns="0" tIns="0" rIns="0" bIns="0" rtlCol="0" anchor="ctr"/>
          <a:lstStyle/>
          <a:p>
            <a:pPr marL="0" indent="0" algn="ctr">
              <a:buNone/>
            </a:pPr>
            <a:r>
              <a:rPr lang="en-US" sz="1500" b="1" dirty="0">
                <a:solidFill>
                  <a:srgbClr val="FFFFFF"/>
                </a:solidFill>
              </a:rPr>
              <a:t>GĐ4</a:t>
            </a:r>
            <a:endParaRPr lang="en-US" sz="1400" dirty="0"/>
          </a:p>
          <a:p>
            <a:pPr marL="0" indent="0" algn="ctr">
              <a:buNone/>
            </a:pPr>
            <a:r>
              <a:rPr lang="en-US" sz="1200" dirty="0">
                <a:solidFill>
                  <a:srgbClr val="FFFFFF"/>
                </a:solidFill>
              </a:rPr>
              <a:t>Xuất khẩu</a:t>
            </a:r>
            <a:endParaRPr lang="en-US" sz="1400" dirty="0"/>
          </a:p>
        </p:txBody>
      </p:sp>
      <p:sp>
        <p:nvSpPr>
          <p:cNvPr id="102" name="O 1 GD4"/>
          <p:cNvSpPr/>
          <p:nvPr/>
        </p:nvSpPr>
        <p:spPr>
          <a:xfrm>
            <a:off x="7141464" y="2249424"/>
            <a:ext cx="1280160" cy="347472"/>
          </a:xfrm>
          <a:prstGeom prst="roundRect">
            <a:avLst>
              <a:gd name="adj" fmla="val 15789"/>
            </a:avLst>
          </a:prstGeom>
          <a:solidFill>
            <a:schemeClr val="bg2"/>
          </a:solidFill>
          <a:ln/>
        </p:spPr>
      </p:sp>
      <p:sp>
        <p:nvSpPr>
          <p:cNvPr id="103" name="Chu o 1 GD4"/>
          <p:cNvSpPr txBox="1"/>
          <p:nvPr/>
        </p:nvSpPr>
        <p:spPr>
          <a:xfrm>
            <a:off x="7141464" y="2249424"/>
            <a:ext cx="1280160" cy="347472"/>
          </a:xfrm>
          <a:prstGeom prst="rect">
            <a:avLst/>
          </a:prstGeom>
          <a:noFill/>
          <a:ln/>
        </p:spPr>
        <p:txBody>
          <a:bodyPr wrap="square" lIns="0" tIns="0" rIns="0" bIns="0" rtlCol="0" anchor="ctr"/>
          <a:lstStyle/>
          <a:p>
            <a:pPr marL="0" indent="0" algn="ctr">
              <a:buNone/>
            </a:pPr>
            <a:r>
              <a:rPr lang="en-US" sz="1400" dirty="0">
                <a:solidFill>
                  <a:schemeClr val="tx1"/>
                </a:solidFill>
              </a:rPr>
              <a:t>1</a:t>
            </a:r>
            <a:endParaRPr lang="en-US" sz="1400" dirty="0"/>
          </a:p>
        </p:txBody>
      </p:sp>
      <p:sp>
        <p:nvSpPr>
          <p:cNvPr id="104" name="O 2 GD4"/>
          <p:cNvSpPr/>
          <p:nvPr/>
        </p:nvSpPr>
        <p:spPr>
          <a:xfrm>
            <a:off x="7141464" y="2633472"/>
            <a:ext cx="1280160" cy="347472"/>
          </a:xfrm>
          <a:prstGeom prst="roundRect">
            <a:avLst>
              <a:gd name="adj" fmla="val 15789"/>
            </a:avLst>
          </a:prstGeom>
          <a:solidFill>
            <a:srgbClr val="EEE3F2"/>
          </a:solidFill>
          <a:ln/>
        </p:spPr>
      </p:sp>
      <p:sp>
        <p:nvSpPr>
          <p:cNvPr id="105" name="Chu o 2 GD4"/>
          <p:cNvSpPr txBox="1"/>
          <p:nvPr/>
        </p:nvSpPr>
        <p:spPr>
          <a:xfrm>
            <a:off x="7141464" y="2633472"/>
            <a:ext cx="1280160" cy="347472"/>
          </a:xfrm>
          <a:prstGeom prst="rect">
            <a:avLst/>
          </a:prstGeom>
          <a:noFill/>
          <a:ln/>
        </p:spPr>
        <p:txBody>
          <a:bodyPr wrap="square" lIns="0" tIns="0" rIns="0" bIns="0" rtlCol="0" anchor="ctr"/>
          <a:lstStyle/>
          <a:p>
            <a:pPr marL="0" indent="0" algn="ctr">
              <a:buNone/>
            </a:pPr>
            <a:r>
              <a:rPr lang="en-US" sz="1400" b="1" dirty="0">
                <a:solidFill>
                  <a:schemeClr val="tx1"/>
                </a:solidFill>
              </a:rPr>
              <a:t>14–20</a:t>
            </a:r>
            <a:endParaRPr lang="en-US" sz="1400" dirty="0"/>
          </a:p>
        </p:txBody>
      </p:sp>
      <p:sp>
        <p:nvSpPr>
          <p:cNvPr id="106" name="O 3 GD4"/>
          <p:cNvSpPr/>
          <p:nvPr/>
        </p:nvSpPr>
        <p:spPr>
          <a:xfrm>
            <a:off x="7141464" y="3017520"/>
            <a:ext cx="1280160" cy="347472"/>
          </a:xfrm>
          <a:prstGeom prst="roundRect">
            <a:avLst>
              <a:gd name="adj" fmla="val 15789"/>
            </a:avLst>
          </a:prstGeom>
          <a:solidFill>
            <a:schemeClr val="bg2"/>
          </a:solidFill>
          <a:ln/>
        </p:spPr>
      </p:sp>
      <p:sp>
        <p:nvSpPr>
          <p:cNvPr id="107" name="Chu o 3 GD4"/>
          <p:cNvSpPr txBox="1"/>
          <p:nvPr/>
        </p:nvSpPr>
        <p:spPr>
          <a:xfrm>
            <a:off x="7141464" y="3017520"/>
            <a:ext cx="1280160" cy="347472"/>
          </a:xfrm>
          <a:prstGeom prst="rect">
            <a:avLst/>
          </a:prstGeom>
          <a:noFill/>
          <a:ln/>
        </p:spPr>
        <p:txBody>
          <a:bodyPr wrap="square" lIns="0" tIns="0" rIns="0" bIns="0" rtlCol="0" anchor="ctr"/>
          <a:lstStyle/>
          <a:p>
            <a:pPr marL="0" indent="0" algn="ctr">
              <a:buNone/>
            </a:pPr>
            <a:r>
              <a:rPr lang="en-US" sz="1400" dirty="0">
                <a:solidFill>
                  <a:schemeClr val="tx1"/>
                </a:solidFill>
              </a:rPr>
              <a:t>3–4</a:t>
            </a:r>
            <a:endParaRPr lang="en-US" sz="1400" dirty="0"/>
          </a:p>
        </p:txBody>
      </p:sp>
      <p:sp>
        <p:nvSpPr>
          <p:cNvPr id="108" name="O 4 GD4"/>
          <p:cNvSpPr/>
          <p:nvPr/>
        </p:nvSpPr>
        <p:spPr>
          <a:xfrm>
            <a:off x="7141464" y="3401568"/>
            <a:ext cx="1280160" cy="347472"/>
          </a:xfrm>
          <a:prstGeom prst="roundRect">
            <a:avLst>
              <a:gd name="adj" fmla="val 15789"/>
            </a:avLst>
          </a:prstGeom>
          <a:solidFill>
            <a:schemeClr val="bg2"/>
          </a:solidFill>
          <a:ln/>
        </p:spPr>
      </p:sp>
      <p:sp>
        <p:nvSpPr>
          <p:cNvPr id="109" name="Chu o 4 GD4"/>
          <p:cNvSpPr txBox="1"/>
          <p:nvPr/>
        </p:nvSpPr>
        <p:spPr>
          <a:xfrm>
            <a:off x="7141464" y="3401568"/>
            <a:ext cx="1280160" cy="347472"/>
          </a:xfrm>
          <a:prstGeom prst="rect">
            <a:avLst/>
          </a:prstGeom>
          <a:noFill/>
          <a:ln/>
        </p:spPr>
        <p:txBody>
          <a:bodyPr wrap="square" lIns="0" tIns="0" rIns="0" bIns="0" rtlCol="0" anchor="ctr"/>
          <a:lstStyle/>
          <a:p>
            <a:pPr marL="0" indent="0" algn="ctr">
              <a:buNone/>
            </a:pPr>
            <a:r>
              <a:rPr lang="en-US" sz="1400" dirty="0">
                <a:solidFill>
                  <a:schemeClr val="tx1"/>
                </a:solidFill>
              </a:rPr>
              <a:t>3–5</a:t>
            </a:r>
            <a:endParaRPr lang="en-US" sz="1400" dirty="0"/>
          </a:p>
        </p:txBody>
      </p:sp>
      <p:sp>
        <p:nvSpPr>
          <p:cNvPr id="110" name="O 5 GD4"/>
          <p:cNvSpPr/>
          <p:nvPr/>
        </p:nvSpPr>
        <p:spPr>
          <a:xfrm>
            <a:off x="7141464" y="3785616"/>
            <a:ext cx="1280160" cy="347472"/>
          </a:xfrm>
          <a:prstGeom prst="roundRect">
            <a:avLst>
              <a:gd name="adj" fmla="val 15789"/>
            </a:avLst>
          </a:prstGeom>
          <a:solidFill>
            <a:schemeClr val="bg2"/>
          </a:solidFill>
          <a:ln/>
        </p:spPr>
      </p:sp>
      <p:sp>
        <p:nvSpPr>
          <p:cNvPr id="111" name="Chu o 5 GD4"/>
          <p:cNvSpPr txBox="1"/>
          <p:nvPr/>
        </p:nvSpPr>
        <p:spPr>
          <a:xfrm>
            <a:off x="7141464" y="3785616"/>
            <a:ext cx="1280160" cy="347472"/>
          </a:xfrm>
          <a:prstGeom prst="rect">
            <a:avLst/>
          </a:prstGeom>
          <a:noFill/>
          <a:ln/>
        </p:spPr>
        <p:txBody>
          <a:bodyPr wrap="square" lIns="0" tIns="0" rIns="0" bIns="0" rtlCol="0" anchor="ctr"/>
          <a:lstStyle/>
          <a:p>
            <a:pPr marL="0" indent="0" algn="ctr">
              <a:buNone/>
            </a:pPr>
            <a:r>
              <a:rPr lang="en-US" sz="1400" dirty="0">
                <a:solidFill>
                  <a:schemeClr val="tx1"/>
                </a:solidFill>
              </a:rPr>
              <a:t>2–3</a:t>
            </a:r>
            <a:endParaRPr lang="en-US" sz="1400" dirty="0"/>
          </a:p>
        </p:txBody>
      </p:sp>
      <p:sp>
        <p:nvSpPr>
          <p:cNvPr id="112" name="O 6 GD4"/>
          <p:cNvSpPr/>
          <p:nvPr/>
        </p:nvSpPr>
        <p:spPr>
          <a:xfrm>
            <a:off x="7141464" y="4169664"/>
            <a:ext cx="1280160" cy="347472"/>
          </a:xfrm>
          <a:prstGeom prst="roundRect">
            <a:avLst>
              <a:gd name="adj" fmla="val 15789"/>
            </a:avLst>
          </a:prstGeom>
          <a:solidFill>
            <a:srgbClr val="EEE3F2"/>
          </a:solidFill>
          <a:ln/>
        </p:spPr>
      </p:sp>
      <p:sp>
        <p:nvSpPr>
          <p:cNvPr id="113" name="Chu o 6 GD4"/>
          <p:cNvSpPr txBox="1"/>
          <p:nvPr/>
        </p:nvSpPr>
        <p:spPr>
          <a:xfrm>
            <a:off x="7141464" y="4169664"/>
            <a:ext cx="1280160" cy="347472"/>
          </a:xfrm>
          <a:prstGeom prst="rect">
            <a:avLst/>
          </a:prstGeom>
          <a:noFill/>
          <a:ln/>
        </p:spPr>
        <p:txBody>
          <a:bodyPr wrap="square" lIns="0" tIns="0" rIns="0" bIns="0" rtlCol="0" anchor="ctr"/>
          <a:lstStyle/>
          <a:p>
            <a:pPr marL="0" indent="0" algn="ctr">
              <a:buNone/>
            </a:pPr>
            <a:r>
              <a:rPr lang="en-US" sz="1400" b="1" dirty="0">
                <a:solidFill>
                  <a:schemeClr val="tx1"/>
                </a:solidFill>
              </a:rPr>
              <a:t>3–4</a:t>
            </a:r>
            <a:endParaRPr lang="en-US" sz="1400" dirty="0"/>
          </a:p>
        </p:txBody>
      </p:sp>
      <p:sp>
        <p:nvSpPr>
          <p:cNvPr id="114" name="O 7 GD4"/>
          <p:cNvSpPr/>
          <p:nvPr/>
        </p:nvSpPr>
        <p:spPr>
          <a:xfrm>
            <a:off x="7141464" y="4553712"/>
            <a:ext cx="1280160" cy="347472"/>
          </a:xfrm>
          <a:prstGeom prst="roundRect">
            <a:avLst>
              <a:gd name="adj" fmla="val 15789"/>
            </a:avLst>
          </a:prstGeom>
          <a:solidFill>
            <a:schemeClr val="bg2"/>
          </a:solidFill>
          <a:ln/>
        </p:spPr>
      </p:sp>
      <p:sp>
        <p:nvSpPr>
          <p:cNvPr id="115" name="Chu o 7 GD4"/>
          <p:cNvSpPr txBox="1"/>
          <p:nvPr/>
        </p:nvSpPr>
        <p:spPr>
          <a:xfrm>
            <a:off x="7141464" y="4553712"/>
            <a:ext cx="1280160" cy="347472"/>
          </a:xfrm>
          <a:prstGeom prst="rect">
            <a:avLst/>
          </a:prstGeom>
          <a:noFill/>
          <a:ln/>
        </p:spPr>
        <p:txBody>
          <a:bodyPr wrap="square" lIns="0" tIns="0" rIns="0" bIns="0" rtlCol="0" anchor="ctr"/>
          <a:lstStyle/>
          <a:p>
            <a:pPr marL="0" indent="0" algn="ctr">
              <a:buNone/>
            </a:pPr>
            <a:r>
              <a:rPr lang="en-US" sz="1400" dirty="0">
                <a:solidFill>
                  <a:schemeClr val="tx1"/>
                </a:solidFill>
              </a:rPr>
              <a:t>2–3</a:t>
            </a:r>
            <a:endParaRPr lang="en-US" sz="1400" dirty="0"/>
          </a:p>
        </p:txBody>
      </p:sp>
      <p:sp>
        <p:nvSpPr>
          <p:cNvPr id="116" name="O tong GD4"/>
          <p:cNvSpPr/>
          <p:nvPr/>
        </p:nvSpPr>
        <p:spPr>
          <a:xfrm>
            <a:off x="7141464" y="4974336"/>
            <a:ext cx="1280160" cy="420624"/>
          </a:xfrm>
          <a:prstGeom prst="roundRect">
            <a:avLst>
              <a:gd name="adj" fmla="val 13043"/>
            </a:avLst>
          </a:prstGeom>
          <a:solidFill>
            <a:schemeClr val="accent1"/>
          </a:solidFill>
          <a:ln/>
        </p:spPr>
      </p:sp>
      <p:sp>
        <p:nvSpPr>
          <p:cNvPr id="117" name="Chu tong GD4"/>
          <p:cNvSpPr txBox="1"/>
          <p:nvPr/>
        </p:nvSpPr>
        <p:spPr>
          <a:xfrm>
            <a:off x="7141464" y="4974336"/>
            <a:ext cx="1280160" cy="420624"/>
          </a:xfrm>
          <a:prstGeom prst="rect">
            <a:avLst/>
          </a:prstGeom>
          <a:noFill/>
          <a:ln/>
        </p:spPr>
        <p:txBody>
          <a:bodyPr wrap="square" lIns="0" tIns="0" rIns="0" bIns="0" rtlCol="0" anchor="ctr"/>
          <a:lstStyle/>
          <a:p>
            <a:pPr marL="0" indent="0" algn="ctr">
              <a:buNone/>
            </a:pPr>
            <a:r>
              <a:rPr lang="en-US" sz="1600" b="1" dirty="0">
                <a:solidFill>
                  <a:schemeClr val="bg1"/>
                </a:solidFill>
              </a:rPr>
              <a:t>28–40</a:t>
            </a:r>
            <a:endParaRPr lang="en-US" sz="1600" dirty="0"/>
          </a:p>
        </p:txBody>
      </p:sp>
      <p:sp>
        <p:nvSpPr>
          <p:cNvPr id="118" name="O tuyen moi GD4"/>
          <p:cNvSpPr/>
          <p:nvPr/>
        </p:nvSpPr>
        <p:spPr>
          <a:xfrm>
            <a:off x="7141464" y="5449824"/>
            <a:ext cx="1280160" cy="365760"/>
          </a:xfrm>
          <a:prstGeom prst="roundRect">
            <a:avLst>
              <a:gd name="adj" fmla="val 15000"/>
            </a:avLst>
          </a:prstGeom>
          <a:solidFill>
            <a:srgbClr val="FBF1D8"/>
          </a:solidFill>
          <a:ln/>
        </p:spPr>
      </p:sp>
      <p:sp>
        <p:nvSpPr>
          <p:cNvPr id="119" name="Chu tuyen moi GD4"/>
          <p:cNvSpPr txBox="1"/>
          <p:nvPr/>
        </p:nvSpPr>
        <p:spPr>
          <a:xfrm>
            <a:off x="7141464" y="5449824"/>
            <a:ext cx="1280160" cy="365760"/>
          </a:xfrm>
          <a:prstGeom prst="rect">
            <a:avLst/>
          </a:prstGeom>
          <a:noFill/>
          <a:ln/>
        </p:spPr>
        <p:txBody>
          <a:bodyPr wrap="square" lIns="0" tIns="0" rIns="0" bIns="0" rtlCol="0" anchor="ctr"/>
          <a:lstStyle/>
          <a:p>
            <a:pPr marL="0" indent="0" algn="ctr">
              <a:buNone/>
            </a:pPr>
            <a:r>
              <a:rPr lang="en-US" sz="1400" b="1" dirty="0">
                <a:solidFill>
                  <a:schemeClr val="accent6"/>
                </a:solidFill>
              </a:rPr>
              <a:t>+3–5</a:t>
            </a:r>
            <a:endParaRPr lang="en-US" sz="1400" dirty="0"/>
          </a:p>
        </p:txBody>
      </p:sp>
      <p:sp>
        <p:nvSpPr>
          <p:cNvPr id="120" name="Cot khoang GD4"/>
          <p:cNvSpPr/>
          <p:nvPr/>
        </p:nvSpPr>
        <p:spPr>
          <a:xfrm>
            <a:off x="10904334" y="2761488"/>
            <a:ext cx="502920" cy="790042"/>
          </a:xfrm>
          <a:prstGeom prst="rect">
            <a:avLst/>
          </a:prstGeom>
          <a:solidFill>
            <a:srgbClr val="EEE3F2"/>
          </a:solidFill>
          <a:ln w="12700">
            <a:solidFill>
              <a:srgbClr val="7A3E8F"/>
            </a:solidFill>
            <a:prstDash val="solid"/>
          </a:ln>
        </p:spPr>
      </p:sp>
      <p:sp>
        <p:nvSpPr>
          <p:cNvPr id="121" name="Cot thap GD4"/>
          <p:cNvSpPr/>
          <p:nvPr/>
        </p:nvSpPr>
        <p:spPr>
          <a:xfrm>
            <a:off x="10904334" y="3551530"/>
            <a:ext cx="502920" cy="1843430"/>
          </a:xfrm>
          <a:prstGeom prst="rect">
            <a:avLst/>
          </a:prstGeom>
          <a:solidFill>
            <a:srgbClr val="7A3E8F"/>
          </a:solidFill>
          <a:ln/>
        </p:spPr>
      </p:sp>
      <p:sp>
        <p:nvSpPr>
          <p:cNvPr id="122" name="Nhan cot GD4"/>
          <p:cNvSpPr txBox="1"/>
          <p:nvPr/>
        </p:nvSpPr>
        <p:spPr>
          <a:xfrm>
            <a:off x="10767174" y="2487168"/>
            <a:ext cx="777240" cy="256032"/>
          </a:xfrm>
          <a:prstGeom prst="rect">
            <a:avLst/>
          </a:prstGeom>
          <a:noFill/>
          <a:ln/>
        </p:spPr>
        <p:txBody>
          <a:bodyPr wrap="square" lIns="0" tIns="0" rIns="0" bIns="0" rtlCol="0" anchor="ctr"/>
          <a:lstStyle/>
          <a:p>
            <a:pPr marL="0" indent="0" algn="ctr">
              <a:buNone/>
            </a:pPr>
            <a:r>
              <a:rPr lang="en-US" sz="1400" b="1" dirty="0">
                <a:solidFill>
                  <a:schemeClr val="accent1"/>
                </a:solidFill>
              </a:rPr>
              <a:t>28–40</a:t>
            </a:r>
            <a:endParaRPr lang="en-US" sz="1400" dirty="0"/>
          </a:p>
        </p:txBody>
      </p:sp>
      <p:sp>
        <p:nvSpPr>
          <p:cNvPr id="123" name="Nhan truc GD4"/>
          <p:cNvSpPr txBox="1"/>
          <p:nvPr/>
        </p:nvSpPr>
        <p:spPr>
          <a:xfrm>
            <a:off x="10767174" y="5431536"/>
            <a:ext cx="777240" cy="237744"/>
          </a:xfrm>
          <a:prstGeom prst="rect">
            <a:avLst/>
          </a:prstGeom>
          <a:noFill/>
          <a:ln/>
        </p:spPr>
        <p:txBody>
          <a:bodyPr wrap="square" lIns="0" tIns="0" rIns="0" bIns="0" rtlCol="0" anchor="ctr"/>
          <a:lstStyle/>
          <a:p>
            <a:pPr marL="0" indent="0" algn="ctr">
              <a:buNone/>
            </a:pPr>
            <a:r>
              <a:rPr lang="en-US" sz="1200" b="1" dirty="0">
                <a:solidFill>
                  <a:srgbClr val="5C6F66"/>
                </a:solidFill>
              </a:rPr>
              <a:t>GĐ4</a:t>
            </a:r>
            <a:endParaRPr lang="en-US" sz="1200" dirty="0"/>
          </a:p>
        </p:txBody>
      </p:sp>
      <p:sp>
        <p:nvSpPr>
          <p:cNvPr id="124" name="Chu thich bang"/>
          <p:cNvSpPr txBox="1"/>
          <p:nvPr/>
        </p:nvSpPr>
        <p:spPr>
          <a:xfrm>
            <a:off x="548640" y="5879592"/>
            <a:ext cx="11094415" cy="548640"/>
          </a:xfrm>
          <a:prstGeom prst="rect">
            <a:avLst/>
          </a:prstGeom>
          <a:noFill/>
          <a:ln/>
        </p:spPr>
        <p:txBody>
          <a:bodyPr wrap="square" lIns="0" tIns="0" rIns="0" bIns="0" rtlCol="0" anchor="t"/>
          <a:lstStyle/>
          <a:p>
            <a:pPr marL="0" indent="0" algn="l">
              <a:buNone/>
            </a:pPr>
            <a:r>
              <a:rPr lang="en-US" sz="1200" dirty="0">
                <a:solidFill>
                  <a:srgbClr val="5C6F66"/>
                </a:solidFill>
              </a:rPr>
              <a:t>Ước tính của tư vấn, chưa kể lao động thời vụ mùa cao điểm; chốt theo công suất và phương án xưởng. Tham chiếu công khai duy nhất: khoảng 20 lao động thường xuyên ở Green Tropical (Gia Lai, 2025). Ô tô màu: thay đổi so với giai đoạn trước; cột: phần đặc là mức thấp, phần nhạt là khoảng đến mức cao.</a:t>
            </a:r>
            <a:endParaRPr lang="en-US" sz="1200" dirty="0"/>
          </a:p>
        </p:txBody>
      </p:sp>
      <p:sp>
        <p:nvSpPr>
          <p:cNvPr id="2" name="Slide Number Placeholder 0"/>
          <p:cNvSpPr>
            <a:spLocks noGrp="1"/>
          </p:cNvSpPr>
          <p:nvPr>
            <p:ph type="sldNum" sz="quarter" idx="4294967295"/>
          </p:nvPr>
        </p:nvSpPr>
        <p:spPr>
          <a:xfrm>
            <a:off x="10972800" y="6492240"/>
            <a:ext cx="667512" cy="237744"/>
          </a:xfrm>
          <a:prstGeom prst="rect">
            <a:avLst/>
          </a:prstGeom>
          <a:extLst>
            <a:ext uri="{C572A759-6A51-4108-AA02-DFA0A04FC94B}">
              <ma14:wrappingTextBoxFlag xmlns:ma14="http://schemas.microsoft.com/office/mac/drawingml/2011/main" xmlns="" val="0"/>
            </a:ext>
          </a:extLst>
        </p:spPr>
        <p:txBody>
          <a:bodyPr/>
          <a:lstStyle>
            <a:lvl1pPr>
              <a:defRPr sz="1000">
                <a:solidFill>
                  <a:srgbClr val="5C6F66"/>
                </a:solidFill>
              </a:defRPr>
            </a:lvl1pPr>
          </a:lstStyle>
          <a:p>
            <a:pPr algn="r"/>
            <a:fld id="{F7021451-1387-4CA6-816F-3879F97B5CBC}" type="slidenum">
              <a:rPr lang="en-US" b="0"/>
              <a:t>9</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Dau cham"/>
          <p:cNvSpPr/>
          <p:nvPr/>
        </p:nvSpPr>
        <p:spPr>
          <a:xfrm>
            <a:off x="548640" y="429768"/>
            <a:ext cx="118872" cy="118872"/>
          </a:xfrm>
          <a:prstGeom prst="ellipse">
            <a:avLst/>
          </a:prstGeom>
          <a:solidFill>
            <a:schemeClr val="accent2"/>
          </a:solidFill>
          <a:ln/>
        </p:spPr>
      </p:sp>
      <p:sp>
        <p:nvSpPr>
          <p:cNvPr id="4" name="Nhan chuyen muc"/>
          <p:cNvSpPr txBox="1"/>
          <p:nvPr/>
        </p:nvSpPr>
        <p:spPr>
          <a:xfrm>
            <a:off x="777240" y="347472"/>
            <a:ext cx="6949440" cy="274320"/>
          </a:xfrm>
          <a:prstGeom prst="rect">
            <a:avLst/>
          </a:prstGeom>
          <a:noFill/>
          <a:ln/>
        </p:spPr>
        <p:txBody>
          <a:bodyPr wrap="square" lIns="0" tIns="0" rIns="0" bIns="0" rtlCol="0" anchor="ctr"/>
          <a:lstStyle/>
          <a:p>
            <a:pPr marL="0" indent="0" algn="l">
              <a:buNone/>
            </a:pPr>
            <a:r>
              <a:rPr lang="en-US" sz="1200" b="1" kern="0" spc="200" dirty="0">
                <a:solidFill>
                  <a:schemeClr val="accent1"/>
                </a:solidFill>
              </a:rPr>
              <a:t>ĐỐI CHIẾU THỰC TẾ</a:t>
            </a:r>
            <a:endParaRPr lang="en-US" sz="1200" dirty="0"/>
          </a:p>
        </p:txBody>
      </p:sp>
      <p:sp>
        <p:nvSpPr>
          <p:cNvPr id="5" name="Text 0"/>
          <p:cNvSpPr>
            <a:spLocks noGrp="1"/>
          </p:cNvSpPr>
          <p:nvPr>
            <p:ph type="title" idx="100" hasCustomPrompt="1"/>
          </p:nvPr>
        </p:nvSpPr>
        <p:spPr>
          <a:xfrm>
            <a:off x="548640" y="658368"/>
            <a:ext cx="11094415" cy="777240"/>
          </a:xfrm>
          <a:prstGeom prst="rect">
            <a:avLst/>
          </a:prstGeom>
          <a:noFill/>
          <a:ln/>
        </p:spPr>
        <p:txBody>
          <a:bodyPr wrap="square" lIns="0" tIns="0" rIns="0" bIns="0" rtlCol="0" anchor="ctr"/>
          <a:lstStyle/>
          <a:p>
            <a:pPr marL="0" indent="0" algn="l">
              <a:buNone/>
            </a:pPr>
            <a:r>
              <a:rPr lang="en-US" sz="3000" b="1" dirty="0">
                <a:solidFill>
                  <a:schemeClr val="tx2"/>
                </a:solidFill>
              </a:rPr>
              <a:t>Doanh nghiệp tương tự đã đi như thế nào</a:t>
            </a:r>
            <a:endParaRPr lang="en-US" sz="3000" dirty="0"/>
          </a:p>
        </p:txBody>
      </p:sp>
      <p:sp>
        <p:nvSpPr>
          <p:cNvPr id="6" name="The 1"/>
          <p:cNvSpPr/>
          <p:nvPr/>
        </p:nvSpPr>
        <p:spPr>
          <a:xfrm>
            <a:off x="548640" y="1691640"/>
            <a:ext cx="3576218" cy="3154680"/>
          </a:xfrm>
          <a:prstGeom prst="roundRect">
            <a:avLst>
              <a:gd name="adj" fmla="val 3478"/>
            </a:avLst>
          </a:prstGeom>
          <a:solidFill>
            <a:schemeClr val="bg2"/>
          </a:solidFill>
          <a:ln/>
        </p:spPr>
      </p:sp>
      <p:sp>
        <p:nvSpPr>
          <p:cNvPr id="7" name="Vach the 1"/>
          <p:cNvSpPr/>
          <p:nvPr/>
        </p:nvSpPr>
        <p:spPr>
          <a:xfrm>
            <a:off x="548640" y="1691640"/>
            <a:ext cx="3576218" cy="82296"/>
          </a:xfrm>
          <a:prstGeom prst="rect">
            <a:avLst/>
          </a:prstGeom>
          <a:solidFill>
            <a:schemeClr val="accent4"/>
          </a:solidFill>
          <a:ln/>
        </p:spPr>
      </p:sp>
      <p:sp>
        <p:nvSpPr>
          <p:cNvPr id="8" name="Ten dn 1"/>
          <p:cNvSpPr txBox="1"/>
          <p:nvPr/>
        </p:nvSpPr>
        <p:spPr>
          <a:xfrm>
            <a:off x="731520" y="1847088"/>
            <a:ext cx="3210458" cy="310896"/>
          </a:xfrm>
          <a:prstGeom prst="rect">
            <a:avLst/>
          </a:prstGeom>
          <a:noFill/>
          <a:ln/>
        </p:spPr>
        <p:txBody>
          <a:bodyPr wrap="square" lIns="0" tIns="0" rIns="0" bIns="0" rtlCol="0" anchor="t"/>
          <a:lstStyle/>
          <a:p>
            <a:pPr marL="0" indent="0" algn="l">
              <a:buNone/>
            </a:pPr>
            <a:r>
              <a:rPr lang="en-US" sz="1700" b="1" dirty="0">
                <a:solidFill>
                  <a:schemeClr val="accent1"/>
                </a:solidFill>
              </a:rPr>
              <a:t>Green Tropical</a:t>
            </a:r>
            <a:endParaRPr lang="en-US" sz="1700" dirty="0"/>
          </a:p>
        </p:txBody>
      </p:sp>
      <p:sp>
        <p:nvSpPr>
          <p:cNvPr id="9" name="Mo ta dn 1"/>
          <p:cNvSpPr txBox="1"/>
          <p:nvPr/>
        </p:nvSpPr>
        <p:spPr>
          <a:xfrm>
            <a:off x="731520" y="2194560"/>
            <a:ext cx="3210458" cy="457200"/>
          </a:xfrm>
          <a:prstGeom prst="rect">
            <a:avLst/>
          </a:prstGeom>
          <a:noFill/>
          <a:ln/>
        </p:spPr>
        <p:txBody>
          <a:bodyPr wrap="square" lIns="0" tIns="0" rIns="0" bIns="0" rtlCol="0" anchor="t"/>
          <a:lstStyle/>
          <a:p>
            <a:pPr marL="0" indent="0" algn="l">
              <a:buNone/>
            </a:pPr>
            <a:r>
              <a:rPr lang="en-US" sz="1300" dirty="0">
                <a:solidFill>
                  <a:srgbClr val="5C6F66"/>
                </a:solidFill>
              </a:rPr>
              <a:t>Chư Sê, Gia Lai · sầu riêng sấy thăng hoa (Tropi Durian)</a:t>
            </a:r>
            <a:endParaRPr lang="en-US" sz="1300" dirty="0"/>
          </a:p>
        </p:txBody>
      </p:sp>
      <p:sp>
        <p:nvSpPr>
          <p:cNvPr id="10" name="Y chinh 1"/>
          <p:cNvSpPr txBox="1"/>
          <p:nvPr/>
        </p:nvSpPr>
        <p:spPr>
          <a:xfrm>
            <a:off x="731520" y="2724912"/>
            <a:ext cx="3210458" cy="1737360"/>
          </a:xfrm>
          <a:prstGeom prst="rect">
            <a:avLst/>
          </a:prstGeom>
          <a:noFill/>
          <a:ln/>
        </p:spPr>
        <p:txBody>
          <a:bodyPr wrap="square" lIns="0" tIns="0" rIns="0" bIns="0" rtlCol="0" anchor="t"/>
          <a:lstStyle/>
          <a:p>
            <a:pPr marL="177800" indent="-177800" algn="l">
              <a:spcAft>
                <a:spcPts val="400"/>
              </a:spcAft>
              <a:buSzPct val="100000"/>
              <a:buChar char="•"/>
            </a:pPr>
            <a:r>
              <a:rPr lang="en-US" sz="1400" dirty="0">
                <a:solidFill>
                  <a:schemeClr val="tx1"/>
                </a:solidFill>
              </a:rPr>
              <a:t>Khoảng 20 lao động thường xuyên</a:t>
            </a:r>
            <a:endParaRPr lang="en-US" sz="1400" dirty="0"/>
          </a:p>
          <a:p>
            <a:pPr marL="177800" indent="-177800" algn="l">
              <a:spcAft>
                <a:spcPts val="400"/>
              </a:spcAft>
              <a:buSzPct val="100000"/>
              <a:buChar char="•"/>
            </a:pPr>
            <a:r>
              <a:rPr lang="en-US" sz="1400" dirty="0">
                <a:solidFill>
                  <a:schemeClr val="tx1"/>
                </a:solidFill>
              </a:rPr>
              <a:t>Liên kết hộ và HTX trồng, thu mua toàn bộ sản phẩm</a:t>
            </a:r>
            <a:endParaRPr lang="en-US" sz="1400" dirty="0"/>
          </a:p>
          <a:p>
            <a:pPr marL="177800" indent="-177800" algn="l">
              <a:spcAft>
                <a:spcPts val="400"/>
              </a:spcAft>
              <a:buSzPct val="100000"/>
              <a:buChar char="•"/>
            </a:pPr>
            <a:r>
              <a:rPr lang="en-US" sz="1400" dirty="0">
                <a:solidFill>
                  <a:schemeClr val="tx1"/>
                </a:solidFill>
              </a:rPr>
              <a:t>ISO, HACCP, FDA (2/2025); thử công thức 3 tháng, hao hụt cao</a:t>
            </a:r>
            <a:endParaRPr lang="en-US" sz="1400" dirty="0"/>
          </a:p>
        </p:txBody>
      </p:sp>
      <p:sp>
        <p:nvSpPr>
          <p:cNvPr id="11" name="Nguon dn 1"/>
          <p:cNvSpPr txBox="1"/>
          <p:nvPr/>
        </p:nvSpPr>
        <p:spPr>
          <a:xfrm>
            <a:off x="731520" y="4526280"/>
            <a:ext cx="3210458" cy="274320"/>
          </a:xfrm>
          <a:prstGeom prst="rect">
            <a:avLst/>
          </a:prstGeom>
          <a:noFill/>
          <a:ln/>
        </p:spPr>
        <p:txBody>
          <a:bodyPr wrap="square" lIns="0" tIns="0" rIns="0" bIns="0" rtlCol="0" anchor="t"/>
          <a:lstStyle/>
          <a:p>
            <a:pPr marL="0" indent="0" algn="l">
              <a:buNone/>
            </a:pPr>
            <a:r>
              <a:rPr lang="en-US" sz="1100" dirty="0">
                <a:solidFill>
                  <a:srgbClr val="5C6F66"/>
                </a:solidFill>
              </a:rPr>
              <a:t>Nguồn: Báo Gia Lai, 2025</a:t>
            </a:r>
            <a:endParaRPr lang="en-US" sz="1100" dirty="0"/>
          </a:p>
        </p:txBody>
      </p:sp>
      <p:sp>
        <p:nvSpPr>
          <p:cNvPr id="12" name="The 2"/>
          <p:cNvSpPr/>
          <p:nvPr/>
        </p:nvSpPr>
        <p:spPr>
          <a:xfrm>
            <a:off x="4307738" y="1691640"/>
            <a:ext cx="3576218" cy="3154680"/>
          </a:xfrm>
          <a:prstGeom prst="roundRect">
            <a:avLst>
              <a:gd name="adj" fmla="val 3478"/>
            </a:avLst>
          </a:prstGeom>
          <a:solidFill>
            <a:schemeClr val="bg2"/>
          </a:solidFill>
          <a:ln/>
        </p:spPr>
      </p:sp>
      <p:sp>
        <p:nvSpPr>
          <p:cNvPr id="13" name="Vach the 2"/>
          <p:cNvSpPr/>
          <p:nvPr/>
        </p:nvSpPr>
        <p:spPr>
          <a:xfrm>
            <a:off x="4307738" y="1691640"/>
            <a:ext cx="3576218" cy="82296"/>
          </a:xfrm>
          <a:prstGeom prst="rect">
            <a:avLst/>
          </a:prstGeom>
          <a:solidFill>
            <a:schemeClr val="accent1"/>
          </a:solidFill>
          <a:ln/>
        </p:spPr>
      </p:sp>
      <p:sp>
        <p:nvSpPr>
          <p:cNvPr id="14" name="Ten dn 2"/>
          <p:cNvSpPr txBox="1"/>
          <p:nvPr/>
        </p:nvSpPr>
        <p:spPr>
          <a:xfrm>
            <a:off x="4490618" y="1847088"/>
            <a:ext cx="3210458" cy="310896"/>
          </a:xfrm>
          <a:prstGeom prst="rect">
            <a:avLst/>
          </a:prstGeom>
          <a:noFill/>
          <a:ln/>
        </p:spPr>
        <p:txBody>
          <a:bodyPr wrap="square" lIns="0" tIns="0" rIns="0" bIns="0" rtlCol="0" anchor="t"/>
          <a:lstStyle/>
          <a:p>
            <a:pPr marL="0" indent="0" algn="l">
              <a:buNone/>
            </a:pPr>
            <a:r>
              <a:rPr lang="en-US" sz="1700" b="1" dirty="0">
                <a:solidFill>
                  <a:schemeClr val="accent1"/>
                </a:solidFill>
              </a:rPr>
              <a:t>Vinamit (từ 1991)</a:t>
            </a:r>
            <a:endParaRPr lang="en-US" sz="1700" dirty="0"/>
          </a:p>
        </p:txBody>
      </p:sp>
      <p:sp>
        <p:nvSpPr>
          <p:cNvPr id="15" name="Mo ta dn 2"/>
          <p:cNvSpPr txBox="1"/>
          <p:nvPr/>
        </p:nvSpPr>
        <p:spPr>
          <a:xfrm>
            <a:off x="4490618" y="2194560"/>
            <a:ext cx="3210458" cy="457200"/>
          </a:xfrm>
          <a:prstGeom prst="rect">
            <a:avLst/>
          </a:prstGeom>
          <a:noFill/>
          <a:ln/>
        </p:spPr>
        <p:txBody>
          <a:bodyPr wrap="square" lIns="0" tIns="0" rIns="0" bIns="0" rtlCol="0" anchor="t"/>
          <a:lstStyle/>
          <a:p>
            <a:pPr marL="0" indent="0" algn="l">
              <a:buNone/>
            </a:pPr>
            <a:r>
              <a:rPr lang="en-US" sz="1300" dirty="0">
                <a:solidFill>
                  <a:srgbClr val="5C6F66"/>
                </a:solidFill>
              </a:rPr>
              <a:t>Trái cây sấy · 3 nhà máy: Bình Dương, Đắk Lắk, Kiên Giang</a:t>
            </a:r>
            <a:endParaRPr lang="en-US" sz="1300" dirty="0"/>
          </a:p>
        </p:txBody>
      </p:sp>
      <p:sp>
        <p:nvSpPr>
          <p:cNvPr id="16" name="Y chinh 2"/>
          <p:cNvSpPr txBox="1"/>
          <p:nvPr/>
        </p:nvSpPr>
        <p:spPr>
          <a:xfrm>
            <a:off x="4490618" y="2724912"/>
            <a:ext cx="3210458" cy="1737360"/>
          </a:xfrm>
          <a:prstGeom prst="rect">
            <a:avLst/>
          </a:prstGeom>
          <a:noFill/>
          <a:ln/>
        </p:spPr>
        <p:txBody>
          <a:bodyPr wrap="square" lIns="0" tIns="0" rIns="0" bIns="0" rtlCol="0" anchor="t"/>
          <a:lstStyle/>
          <a:p>
            <a:pPr marL="177800" indent="-177800" algn="l">
              <a:spcAft>
                <a:spcPts val="400"/>
              </a:spcAft>
              <a:buSzPct val="100000"/>
              <a:buChar char="•"/>
            </a:pPr>
            <a:r>
              <a:rPr lang="en-US" sz="1400" dirty="0">
                <a:solidFill>
                  <a:schemeClr val="tx1"/>
                </a:solidFill>
              </a:rPr>
              <a:t>Sấy mít là một trong 3 sản phẩm đầu tiên</a:t>
            </a:r>
            <a:endParaRPr lang="en-US" sz="1400" dirty="0"/>
          </a:p>
          <a:p>
            <a:pPr marL="177800" indent="-177800" algn="l">
              <a:spcAft>
                <a:spcPts val="400"/>
              </a:spcAft>
              <a:buSzPct val="100000"/>
              <a:buChar char="•"/>
            </a:pPr>
            <a:r>
              <a:rPr lang="en-US" sz="1400" dirty="0">
                <a:solidFill>
                  <a:schemeClr val="tx1"/>
                </a:solidFill>
              </a:rPr>
              <a:t>Bán trong nước hơn 10 năm; xuất sang Trung Quốc, Nhật, Mỹ, EU</a:t>
            </a:r>
            <a:endParaRPr lang="en-US" sz="1400" dirty="0"/>
          </a:p>
          <a:p>
            <a:pPr marL="177800" indent="-177800" algn="l">
              <a:spcAft>
                <a:spcPts val="400"/>
              </a:spcAft>
              <a:buSzPct val="100000"/>
              <a:buChar char="•"/>
            </a:pPr>
            <a:r>
              <a:rPr lang="en-US" sz="1400" dirty="0">
                <a:solidFill>
                  <a:schemeClr val="tx1"/>
                </a:solidFill>
              </a:rPr>
              <a:t>HACCP, ISO 9001; hữu cơ USDA và EU (2016)</a:t>
            </a:r>
            <a:endParaRPr lang="en-US" sz="1400" dirty="0"/>
          </a:p>
        </p:txBody>
      </p:sp>
      <p:sp>
        <p:nvSpPr>
          <p:cNvPr id="17" name="Nguon dn 2"/>
          <p:cNvSpPr txBox="1"/>
          <p:nvPr/>
        </p:nvSpPr>
        <p:spPr>
          <a:xfrm>
            <a:off x="4490618" y="4526280"/>
            <a:ext cx="3210458" cy="274320"/>
          </a:xfrm>
          <a:prstGeom prst="rect">
            <a:avLst/>
          </a:prstGeom>
          <a:noFill/>
          <a:ln/>
        </p:spPr>
        <p:txBody>
          <a:bodyPr wrap="square" lIns="0" tIns="0" rIns="0" bIns="0" rtlCol="0" anchor="t"/>
          <a:lstStyle/>
          <a:p>
            <a:pPr marL="0" indent="0" algn="l">
              <a:buNone/>
            </a:pPr>
            <a:r>
              <a:rPr lang="en-US" sz="1100" dirty="0">
                <a:solidFill>
                  <a:srgbClr val="5C6F66"/>
                </a:solidFill>
              </a:rPr>
              <a:t>Nguồn: VAN, 4/2022; VNA, 2016</a:t>
            </a:r>
            <a:endParaRPr lang="en-US" sz="1100" dirty="0"/>
          </a:p>
        </p:txBody>
      </p:sp>
      <p:sp>
        <p:nvSpPr>
          <p:cNvPr id="18" name="The 3"/>
          <p:cNvSpPr/>
          <p:nvPr/>
        </p:nvSpPr>
        <p:spPr>
          <a:xfrm>
            <a:off x="8066837" y="1691640"/>
            <a:ext cx="3576218" cy="3154680"/>
          </a:xfrm>
          <a:prstGeom prst="roundRect">
            <a:avLst>
              <a:gd name="adj" fmla="val 3478"/>
            </a:avLst>
          </a:prstGeom>
          <a:solidFill>
            <a:schemeClr val="bg2"/>
          </a:solidFill>
          <a:ln/>
        </p:spPr>
      </p:sp>
      <p:sp>
        <p:nvSpPr>
          <p:cNvPr id="19" name="Vach the 3"/>
          <p:cNvSpPr/>
          <p:nvPr/>
        </p:nvSpPr>
        <p:spPr>
          <a:xfrm>
            <a:off x="8066837" y="1691640"/>
            <a:ext cx="3576218" cy="82296"/>
          </a:xfrm>
          <a:prstGeom prst="rect">
            <a:avLst/>
          </a:prstGeom>
          <a:solidFill>
            <a:schemeClr val="accent3"/>
          </a:solidFill>
          <a:ln/>
        </p:spPr>
      </p:sp>
      <p:sp>
        <p:nvSpPr>
          <p:cNvPr id="20" name="Ten dn 3"/>
          <p:cNvSpPr txBox="1"/>
          <p:nvPr/>
        </p:nvSpPr>
        <p:spPr>
          <a:xfrm>
            <a:off x="8249717" y="1847088"/>
            <a:ext cx="3210458" cy="310896"/>
          </a:xfrm>
          <a:prstGeom prst="rect">
            <a:avLst/>
          </a:prstGeom>
          <a:noFill/>
          <a:ln/>
        </p:spPr>
        <p:txBody>
          <a:bodyPr wrap="square" lIns="0" tIns="0" rIns="0" bIns="0" rtlCol="0" anchor="t"/>
          <a:lstStyle/>
          <a:p>
            <a:pPr marL="0" indent="0" algn="l">
              <a:buNone/>
            </a:pPr>
            <a:r>
              <a:rPr lang="en-US" sz="1700" b="1" dirty="0">
                <a:solidFill>
                  <a:schemeClr val="accent1"/>
                </a:solidFill>
              </a:rPr>
              <a:t>Nafoods Group</a:t>
            </a:r>
            <a:endParaRPr lang="en-US" sz="1700" dirty="0"/>
          </a:p>
        </p:txBody>
      </p:sp>
      <p:sp>
        <p:nvSpPr>
          <p:cNvPr id="21" name="Mo ta dn 3"/>
          <p:cNvSpPr txBox="1"/>
          <p:nvPr/>
        </p:nvSpPr>
        <p:spPr>
          <a:xfrm>
            <a:off x="8249717" y="2194560"/>
            <a:ext cx="3210458" cy="457200"/>
          </a:xfrm>
          <a:prstGeom prst="rect">
            <a:avLst/>
          </a:prstGeom>
          <a:noFill/>
          <a:ln/>
        </p:spPr>
        <p:txBody>
          <a:bodyPr wrap="square" lIns="0" tIns="0" rIns="0" bIns="0" rtlCol="0" anchor="t"/>
          <a:lstStyle/>
          <a:p>
            <a:pPr marL="0" indent="0" algn="l">
              <a:buNone/>
            </a:pPr>
            <a:r>
              <a:rPr lang="en-US" sz="1300" dirty="0">
                <a:solidFill>
                  <a:srgbClr val="5C6F66"/>
                </a:solidFill>
              </a:rPr>
              <a:t>Chanh dây · từ vùng nguyên liệu đến 4 nhà máy</a:t>
            </a:r>
            <a:endParaRPr lang="en-US" sz="1300" dirty="0"/>
          </a:p>
        </p:txBody>
      </p:sp>
      <p:sp>
        <p:nvSpPr>
          <p:cNvPr id="22" name="Y chinh 3"/>
          <p:cNvSpPr txBox="1"/>
          <p:nvPr/>
        </p:nvSpPr>
        <p:spPr>
          <a:xfrm>
            <a:off x="8249717" y="2724912"/>
            <a:ext cx="3210458" cy="1737360"/>
          </a:xfrm>
          <a:prstGeom prst="rect">
            <a:avLst/>
          </a:prstGeom>
          <a:noFill/>
          <a:ln/>
        </p:spPr>
        <p:txBody>
          <a:bodyPr wrap="square" lIns="0" tIns="0" rIns="0" bIns="0" rtlCol="0" anchor="t"/>
          <a:lstStyle/>
          <a:p>
            <a:pPr marL="177800" indent="-177800" algn="l">
              <a:spcAft>
                <a:spcPts val="400"/>
              </a:spcAft>
              <a:buSzPct val="100000"/>
              <a:buChar char="•"/>
            </a:pPr>
            <a:r>
              <a:rPr lang="en-US" sz="1400" dirty="0">
                <a:solidFill>
                  <a:schemeClr val="tx1"/>
                </a:solidFill>
              </a:rPr>
              <a:t>2015: 650 ha tự quản; nước ép 5.000 tấn, IQF 2.000 tấn/năm</a:t>
            </a:r>
            <a:endParaRPr lang="en-US" sz="1400" dirty="0"/>
          </a:p>
          <a:p>
            <a:pPr marL="177800" indent="-177800" algn="l">
              <a:spcAft>
                <a:spcPts val="400"/>
              </a:spcAft>
              <a:buSzPct val="100000"/>
              <a:buChar char="•"/>
            </a:pPr>
            <a:r>
              <a:rPr lang="en-US" sz="1400" dirty="0">
                <a:solidFill>
                  <a:schemeClr val="tx1"/>
                </a:solidFill>
              </a:rPr>
              <a:t>2024: 4 nhà máy, 40.000 tấn/năm; liên kết trên 5.000 ha</a:t>
            </a:r>
            <a:endParaRPr lang="en-US" sz="1400" dirty="0"/>
          </a:p>
          <a:p>
            <a:pPr marL="177800" indent="-177800" algn="l">
              <a:spcAft>
                <a:spcPts val="400"/>
              </a:spcAft>
              <a:buSzPct val="100000"/>
              <a:buChar char="•"/>
            </a:pPr>
            <a:r>
              <a:rPr lang="en-US" sz="1400" dirty="0">
                <a:solidFill>
                  <a:schemeClr val="tx1"/>
                </a:solidFill>
              </a:rPr>
              <a:t>Hơn 12 mã vùng trồng sang Trung Quốc; có sản phẩm sấy</a:t>
            </a:r>
            <a:endParaRPr lang="en-US" sz="1400" dirty="0"/>
          </a:p>
        </p:txBody>
      </p:sp>
      <p:sp>
        <p:nvSpPr>
          <p:cNvPr id="23" name="Nguon dn 3"/>
          <p:cNvSpPr txBox="1"/>
          <p:nvPr/>
        </p:nvSpPr>
        <p:spPr>
          <a:xfrm>
            <a:off x="8249717" y="4526280"/>
            <a:ext cx="3210458" cy="274320"/>
          </a:xfrm>
          <a:prstGeom prst="rect">
            <a:avLst/>
          </a:prstGeom>
          <a:noFill/>
          <a:ln/>
        </p:spPr>
        <p:txBody>
          <a:bodyPr wrap="square" lIns="0" tIns="0" rIns="0" bIns="0" rtlCol="0" anchor="t"/>
          <a:lstStyle/>
          <a:p>
            <a:pPr marL="0" indent="0" algn="l">
              <a:buNone/>
            </a:pPr>
            <a:r>
              <a:rPr lang="en-US" sz="1100" dirty="0">
                <a:solidFill>
                  <a:srgbClr val="5C6F66"/>
                </a:solidFill>
              </a:rPr>
              <a:t>Nguồn: Vietstock 2015; nongnghiepmoitruong.vn 7/2024; Tạp chí Công Thương 2024</a:t>
            </a:r>
            <a:endParaRPr lang="en-US" sz="1100" dirty="0"/>
          </a:p>
        </p:txBody>
      </p:sp>
      <p:sp>
        <p:nvSpPr>
          <p:cNvPr id="24" name="Khung bai hoc"/>
          <p:cNvSpPr/>
          <p:nvPr/>
        </p:nvSpPr>
        <p:spPr>
          <a:xfrm>
            <a:off x="548640" y="4983480"/>
            <a:ext cx="5486400" cy="1161288"/>
          </a:xfrm>
          <a:prstGeom prst="roundRect">
            <a:avLst>
              <a:gd name="adj" fmla="val 9449"/>
            </a:avLst>
          </a:prstGeom>
          <a:solidFill>
            <a:srgbClr val="E3EDE6"/>
          </a:solidFill>
          <a:ln/>
        </p:spPr>
      </p:sp>
      <p:sp>
        <p:nvSpPr>
          <p:cNvPr id="25" name="Chu bai hoc"/>
          <p:cNvSpPr txBox="1"/>
          <p:nvPr/>
        </p:nvSpPr>
        <p:spPr>
          <a:xfrm>
            <a:off x="731520" y="5029200"/>
            <a:ext cx="5120640" cy="1069848"/>
          </a:xfrm>
          <a:prstGeom prst="rect">
            <a:avLst/>
          </a:prstGeom>
          <a:noFill/>
          <a:ln/>
        </p:spPr>
        <p:txBody>
          <a:bodyPr wrap="square" lIns="0" tIns="0" rIns="0" bIns="0" rtlCol="0" anchor="ctr"/>
          <a:lstStyle/>
          <a:p>
            <a:pPr marL="0" indent="0" algn="l">
              <a:buNone/>
            </a:pPr>
            <a:r>
              <a:rPr lang="en-US" sz="1200" b="1" kern="0" spc="100" dirty="0">
                <a:solidFill>
                  <a:schemeClr val="accent1"/>
                </a:solidFill>
              </a:rPr>
              <a:t>RÚT RA CHO HERAGRAIN</a:t>
            </a:r>
            <a:endParaRPr lang="en-US" sz="1400" dirty="0"/>
          </a:p>
          <a:p>
            <a:pPr marL="0" indent="0" algn="l">
              <a:buNone/>
            </a:pPr>
            <a:r>
              <a:rPr lang="en-US" sz="1400" dirty="0">
                <a:solidFill>
                  <a:schemeClr val="tx1"/>
                </a:solidFill>
              </a:rPr>
              <a:t>Cả ba đều gắn chế biến với vùng nguyên liệu liên kết. Chứng nhận đi theo thị trường: Vinamit vào Mỹ, EU bằng hữu cơ; Green Tropical bắt đầu từ ISO, HACCP, FDA.</a:t>
            </a:r>
            <a:endParaRPr lang="en-US" sz="1400" dirty="0"/>
          </a:p>
        </p:txBody>
      </p:sp>
      <p:sp>
        <p:nvSpPr>
          <p:cNvPr id="26" name="Khung chua co"/>
          <p:cNvSpPr/>
          <p:nvPr/>
        </p:nvSpPr>
        <p:spPr>
          <a:xfrm>
            <a:off x="6156655" y="4983480"/>
            <a:ext cx="5486400" cy="1161288"/>
          </a:xfrm>
          <a:prstGeom prst="roundRect">
            <a:avLst>
              <a:gd name="adj" fmla="val 9449"/>
            </a:avLst>
          </a:prstGeom>
          <a:solidFill>
            <a:srgbClr val="FBF1D8"/>
          </a:solidFill>
          <a:ln/>
        </p:spPr>
      </p:sp>
      <p:sp>
        <p:nvSpPr>
          <p:cNvPr id="27" name="Chu chua co"/>
          <p:cNvSpPr txBox="1"/>
          <p:nvPr/>
        </p:nvSpPr>
        <p:spPr>
          <a:xfrm>
            <a:off x="6339535" y="5029200"/>
            <a:ext cx="5120640" cy="1069848"/>
          </a:xfrm>
          <a:prstGeom prst="rect">
            <a:avLst/>
          </a:prstGeom>
          <a:noFill/>
          <a:ln/>
        </p:spPr>
        <p:txBody>
          <a:bodyPr wrap="square" lIns="0" tIns="0" rIns="0" bIns="0" rtlCol="0" anchor="ctr"/>
          <a:lstStyle/>
          <a:p>
            <a:pPr marL="0" indent="0" algn="l">
              <a:buNone/>
            </a:pPr>
            <a:r>
              <a:rPr lang="en-US" sz="1200" b="1" kern="0" spc="100" dirty="0">
                <a:solidFill>
                  <a:schemeClr val="accent6"/>
                </a:solidFill>
              </a:rPr>
              <a:t>CHƯA CÓ THAM CHIẾU CÔNG KHAI</a:t>
            </a:r>
            <a:endParaRPr lang="en-US" sz="1400" dirty="0"/>
          </a:p>
          <a:p>
            <a:pPr marL="0" indent="0" algn="l">
              <a:buNone/>
            </a:pPr>
            <a:r>
              <a:rPr lang="en-US" sz="1400" dirty="0">
                <a:solidFill>
                  <a:schemeClr val="tx1"/>
                </a:solidFill>
              </a:rPr>
              <a:t>Lộ trình thuê gia công rồi tự xây xưởng, thời gian lấy mã GACC, thời gian chuẩn bị BRCGS. Bốn giai đoạn và mốc thời gian là đề xuất của tư vấn.</a:t>
            </a:r>
            <a:endParaRPr lang="en-US" sz="1400" dirty="0"/>
          </a:p>
        </p:txBody>
      </p:sp>
      <p:sp>
        <p:nvSpPr>
          <p:cNvPr id="2" name="Slide Number Placeholder 0"/>
          <p:cNvSpPr>
            <a:spLocks noGrp="1"/>
          </p:cNvSpPr>
          <p:nvPr>
            <p:ph type="sldNum" sz="quarter" idx="4294967295"/>
          </p:nvPr>
        </p:nvSpPr>
        <p:spPr>
          <a:xfrm>
            <a:off x="10972800" y="6492240"/>
            <a:ext cx="667512" cy="237744"/>
          </a:xfrm>
          <a:prstGeom prst="rect">
            <a:avLst/>
          </a:prstGeom>
          <a:extLst>
            <a:ext uri="{C572A759-6A51-4108-AA02-DFA0A04FC94B}">
              <ma14:wrappingTextBoxFlag xmlns:ma14="http://schemas.microsoft.com/office/mac/drawingml/2011/main" xmlns="" val="0"/>
            </a:ext>
          </a:extLst>
        </p:spPr>
        <p:txBody>
          <a:bodyPr/>
          <a:lstStyle>
            <a:lvl1pPr>
              <a:defRPr sz="1000">
                <a:solidFill>
                  <a:srgbClr val="5C6F66"/>
                </a:solidFill>
              </a:defRPr>
            </a:lvl1pPr>
          </a:lstStyle>
          <a:p>
            <a:pPr algn="r"/>
            <a:fld id="{F7021451-1387-4CA6-816F-3879F97B5CBC}" type="slidenum">
              <a:rPr lang="en-US" b="0"/>
              <a:t>10</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Dau cham"/>
          <p:cNvSpPr/>
          <p:nvPr/>
        </p:nvSpPr>
        <p:spPr>
          <a:xfrm>
            <a:off x="548640" y="429768"/>
            <a:ext cx="118872" cy="118872"/>
          </a:xfrm>
          <a:prstGeom prst="ellipse">
            <a:avLst/>
          </a:prstGeom>
          <a:solidFill>
            <a:schemeClr val="accent2"/>
          </a:solidFill>
          <a:ln/>
        </p:spPr>
      </p:sp>
      <p:sp>
        <p:nvSpPr>
          <p:cNvPr id="4" name="Nhan chuyen muc"/>
          <p:cNvSpPr txBox="1"/>
          <p:nvPr/>
        </p:nvSpPr>
        <p:spPr>
          <a:xfrm>
            <a:off x="777240" y="347472"/>
            <a:ext cx="6949440" cy="274320"/>
          </a:xfrm>
          <a:prstGeom prst="rect">
            <a:avLst/>
          </a:prstGeom>
          <a:noFill/>
          <a:ln/>
        </p:spPr>
        <p:txBody>
          <a:bodyPr wrap="square" lIns="0" tIns="0" rIns="0" bIns="0" rtlCol="0" anchor="ctr"/>
          <a:lstStyle/>
          <a:p>
            <a:pPr marL="0" indent="0" algn="l">
              <a:buNone/>
            </a:pPr>
            <a:r>
              <a:rPr lang="en-US" sz="1200" b="1" kern="0" spc="200" dirty="0">
                <a:solidFill>
                  <a:schemeClr val="accent1"/>
                </a:solidFill>
              </a:rPr>
              <a:t>TRỤ CỘT 1 · PHÁP LÝ</a:t>
            </a:r>
            <a:endParaRPr lang="en-US" sz="1200" dirty="0"/>
          </a:p>
        </p:txBody>
      </p:sp>
      <p:sp>
        <p:nvSpPr>
          <p:cNvPr id="5" name="Nhan giai doan"/>
          <p:cNvSpPr txBox="1"/>
          <p:nvPr/>
        </p:nvSpPr>
        <p:spPr>
          <a:xfrm>
            <a:off x="9475927" y="347472"/>
            <a:ext cx="868680" cy="274320"/>
          </a:xfrm>
          <a:prstGeom prst="rect">
            <a:avLst/>
          </a:prstGeom>
          <a:noFill/>
          <a:ln/>
        </p:spPr>
        <p:txBody>
          <a:bodyPr wrap="square" lIns="0" tIns="0" rIns="0" bIns="0" rtlCol="0" anchor="ctr"/>
          <a:lstStyle/>
          <a:p>
            <a:pPr marL="0" indent="0" algn="r">
              <a:buNone/>
            </a:pPr>
            <a:r>
              <a:rPr lang="en-US" sz="1200" dirty="0">
                <a:solidFill>
                  <a:srgbClr val="5C6F66"/>
                </a:solidFill>
              </a:rPr>
              <a:t>Thực hiện ở</a:t>
            </a:r>
            <a:endParaRPr lang="en-US" sz="1200" dirty="0"/>
          </a:p>
        </p:txBody>
      </p:sp>
      <p:sp>
        <p:nvSpPr>
          <p:cNvPr id="6" name="Giai doan 1"/>
          <p:cNvSpPr/>
          <p:nvPr/>
        </p:nvSpPr>
        <p:spPr>
          <a:xfrm>
            <a:off x="10436047" y="356616"/>
            <a:ext cx="566928" cy="256032"/>
          </a:xfrm>
          <a:prstGeom prst="roundRect">
            <a:avLst>
              <a:gd name="adj" fmla="val 21429"/>
            </a:avLst>
          </a:prstGeom>
          <a:solidFill>
            <a:srgbClr val="5E9E68"/>
          </a:solidFill>
          <a:ln/>
        </p:spPr>
      </p:sp>
      <p:sp>
        <p:nvSpPr>
          <p:cNvPr id="7" name="Chu giai doan 1"/>
          <p:cNvSpPr txBox="1"/>
          <p:nvPr/>
        </p:nvSpPr>
        <p:spPr>
          <a:xfrm>
            <a:off x="10436047" y="356616"/>
            <a:ext cx="566928" cy="256032"/>
          </a:xfrm>
          <a:prstGeom prst="rect">
            <a:avLst/>
          </a:prstGeom>
          <a:noFill/>
          <a:ln/>
        </p:spPr>
        <p:txBody>
          <a:bodyPr wrap="square" lIns="0" tIns="0" rIns="0" bIns="0" rtlCol="0" anchor="ctr"/>
          <a:lstStyle/>
          <a:p>
            <a:pPr marL="0" indent="0" algn="ctr">
              <a:buNone/>
            </a:pPr>
            <a:r>
              <a:rPr lang="en-US" sz="1200" b="1" dirty="0">
                <a:solidFill>
                  <a:srgbClr val="1B2B24"/>
                </a:solidFill>
              </a:rPr>
              <a:t>GĐ1</a:t>
            </a:r>
            <a:endParaRPr lang="en-US" sz="1200" dirty="0"/>
          </a:p>
        </p:txBody>
      </p:sp>
      <p:sp>
        <p:nvSpPr>
          <p:cNvPr id="8" name="Giai doan 2"/>
          <p:cNvSpPr/>
          <p:nvPr/>
        </p:nvSpPr>
        <p:spPr>
          <a:xfrm>
            <a:off x="11076127" y="356616"/>
            <a:ext cx="566928" cy="256032"/>
          </a:xfrm>
          <a:prstGeom prst="roundRect">
            <a:avLst>
              <a:gd name="adj" fmla="val 21429"/>
            </a:avLst>
          </a:prstGeom>
          <a:solidFill>
            <a:srgbClr val="1D4B3A"/>
          </a:solidFill>
          <a:ln/>
        </p:spPr>
      </p:sp>
      <p:sp>
        <p:nvSpPr>
          <p:cNvPr id="9" name="Chu giai doan 2"/>
          <p:cNvSpPr txBox="1"/>
          <p:nvPr/>
        </p:nvSpPr>
        <p:spPr>
          <a:xfrm>
            <a:off x="11076127" y="356616"/>
            <a:ext cx="566928" cy="256032"/>
          </a:xfrm>
          <a:prstGeom prst="rect">
            <a:avLst/>
          </a:prstGeom>
          <a:noFill/>
          <a:ln/>
        </p:spPr>
        <p:txBody>
          <a:bodyPr wrap="square" lIns="0" tIns="0" rIns="0" bIns="0" rtlCol="0" anchor="ctr"/>
          <a:lstStyle/>
          <a:p>
            <a:pPr marL="0" indent="0" algn="ctr">
              <a:buNone/>
            </a:pPr>
            <a:r>
              <a:rPr lang="en-US" sz="1200" b="1" dirty="0">
                <a:solidFill>
                  <a:srgbClr val="FFFFFF"/>
                </a:solidFill>
              </a:rPr>
              <a:t>GĐ2</a:t>
            </a:r>
            <a:endParaRPr lang="en-US" sz="1200" dirty="0"/>
          </a:p>
        </p:txBody>
      </p:sp>
      <p:sp>
        <p:nvSpPr>
          <p:cNvPr id="10" name="Text 0"/>
          <p:cNvSpPr>
            <a:spLocks noGrp="1"/>
          </p:cNvSpPr>
          <p:nvPr>
            <p:ph type="title" idx="100" hasCustomPrompt="1"/>
          </p:nvPr>
        </p:nvSpPr>
        <p:spPr>
          <a:xfrm>
            <a:off x="548640" y="658368"/>
            <a:ext cx="11094415" cy="777240"/>
          </a:xfrm>
          <a:prstGeom prst="rect">
            <a:avLst/>
          </a:prstGeom>
          <a:noFill/>
          <a:ln/>
        </p:spPr>
        <p:txBody>
          <a:bodyPr wrap="square" lIns="0" tIns="0" rIns="0" bIns="0" rtlCol="0" anchor="ctr"/>
          <a:lstStyle/>
          <a:p>
            <a:pPr marL="0" indent="0" algn="l">
              <a:buNone/>
            </a:pPr>
            <a:r>
              <a:rPr lang="en-US" sz="3000" b="1" dirty="0">
                <a:solidFill>
                  <a:schemeClr val="tx2"/>
                </a:solidFill>
              </a:rPr>
              <a:t>Pháp lý và giấy phép nền tảng phải xong đầu tiên</a:t>
            </a:r>
            <a:endParaRPr lang="en-US" sz="3000" dirty="0"/>
          </a:p>
        </p:txBody>
      </p:sp>
      <p:sp>
        <p:nvSpPr>
          <p:cNvPr id="11" name="Khoi 1"/>
          <p:cNvSpPr/>
          <p:nvPr/>
        </p:nvSpPr>
        <p:spPr>
          <a:xfrm>
            <a:off x="548640" y="1783080"/>
            <a:ext cx="4480560" cy="868680"/>
          </a:xfrm>
          <a:prstGeom prst="roundRect">
            <a:avLst>
              <a:gd name="adj" fmla="val 12632"/>
            </a:avLst>
          </a:prstGeom>
          <a:solidFill>
            <a:schemeClr val="bg2"/>
          </a:solidFill>
          <a:ln/>
        </p:spPr>
      </p:sp>
      <p:sp>
        <p:nvSpPr>
          <p:cNvPr id="12" name="Chu khoi 1"/>
          <p:cNvSpPr txBox="1"/>
          <p:nvPr/>
        </p:nvSpPr>
        <p:spPr>
          <a:xfrm>
            <a:off x="777240" y="1874520"/>
            <a:ext cx="4023360" cy="685800"/>
          </a:xfrm>
          <a:prstGeom prst="rect">
            <a:avLst/>
          </a:prstGeom>
          <a:noFill/>
          <a:ln/>
        </p:spPr>
        <p:txBody>
          <a:bodyPr wrap="square" lIns="0" tIns="0" rIns="0" bIns="0" rtlCol="0" anchor="ctr"/>
          <a:lstStyle/>
          <a:p>
            <a:pPr marL="0" indent="0" algn="l">
              <a:buNone/>
            </a:pPr>
            <a:r>
              <a:rPr lang="en-US" sz="1700" b="1" dirty="0">
                <a:solidFill>
                  <a:schemeClr val="accent1"/>
                </a:solidFill>
              </a:rPr>
              <a:t>Viện STP</a:t>
            </a:r>
            <a:endParaRPr lang="en-US" sz="1400" dirty="0"/>
          </a:p>
          <a:p>
            <a:pPr marL="0" indent="0" algn="l">
              <a:buNone/>
            </a:pPr>
            <a:r>
              <a:rPr lang="en-US" sz="1400" dirty="0">
                <a:solidFill>
                  <a:schemeClr val="tx1"/>
                </a:solidFill>
              </a:rPr>
              <a:t>Nhà đầu tư, giám sát dự án</a:t>
            </a:r>
            <a:endParaRPr lang="en-US" sz="1400" dirty="0"/>
          </a:p>
        </p:txBody>
      </p:sp>
      <p:sp>
        <p:nvSpPr>
          <p:cNvPr id="13" name="Khoi 2"/>
          <p:cNvSpPr/>
          <p:nvPr/>
        </p:nvSpPr>
        <p:spPr>
          <a:xfrm>
            <a:off x="548640" y="2971800"/>
            <a:ext cx="4480560" cy="1051560"/>
          </a:xfrm>
          <a:prstGeom prst="roundRect">
            <a:avLst>
              <a:gd name="adj" fmla="val 10435"/>
            </a:avLst>
          </a:prstGeom>
          <a:solidFill>
            <a:schemeClr val="accent1"/>
          </a:solidFill>
          <a:ln/>
        </p:spPr>
      </p:sp>
      <p:sp>
        <p:nvSpPr>
          <p:cNvPr id="14" name="Chu khoi 2"/>
          <p:cNvSpPr txBox="1"/>
          <p:nvPr/>
        </p:nvSpPr>
        <p:spPr>
          <a:xfrm>
            <a:off x="777240" y="3063240"/>
            <a:ext cx="4023360" cy="868680"/>
          </a:xfrm>
          <a:prstGeom prst="rect">
            <a:avLst/>
          </a:prstGeom>
          <a:noFill/>
          <a:ln/>
        </p:spPr>
        <p:txBody>
          <a:bodyPr wrap="square" lIns="0" tIns="0" rIns="0" bIns="0" rtlCol="0" anchor="ctr"/>
          <a:lstStyle/>
          <a:p>
            <a:pPr marL="0" indent="0" algn="l">
              <a:buNone/>
            </a:pPr>
            <a:r>
              <a:rPr lang="en-US" sz="1700" b="1" dirty="0">
                <a:solidFill>
                  <a:schemeClr val="bg1"/>
                </a:solidFill>
              </a:rPr>
              <a:t>HTX Heragrain</a:t>
            </a:r>
            <a:endParaRPr lang="en-US" sz="1400" dirty="0"/>
          </a:p>
          <a:p>
            <a:pPr marL="0" indent="0" algn="l">
              <a:buNone/>
            </a:pPr>
            <a:r>
              <a:rPr lang="en-US" sz="1400" dirty="0">
                <a:solidFill>
                  <a:schemeClr val="bg2"/>
                </a:solidFill>
              </a:rPr>
              <a:t>Pháp nhân sản xuất, đứng tên mã đăng ký xuất khẩu</a:t>
            </a:r>
            <a:endParaRPr lang="en-US" sz="1400" dirty="0"/>
          </a:p>
        </p:txBody>
      </p:sp>
      <p:sp>
        <p:nvSpPr>
          <p:cNvPr id="15" name="Khoi 3"/>
          <p:cNvSpPr/>
          <p:nvPr/>
        </p:nvSpPr>
        <p:spPr>
          <a:xfrm>
            <a:off x="548640" y="4343400"/>
            <a:ext cx="4480560" cy="868680"/>
          </a:xfrm>
          <a:prstGeom prst="roundRect">
            <a:avLst>
              <a:gd name="adj" fmla="val 12632"/>
            </a:avLst>
          </a:prstGeom>
          <a:solidFill>
            <a:schemeClr val="bg2"/>
          </a:solidFill>
          <a:ln/>
        </p:spPr>
      </p:sp>
      <p:sp>
        <p:nvSpPr>
          <p:cNvPr id="16" name="Chu khoi 3"/>
          <p:cNvSpPr txBox="1"/>
          <p:nvPr/>
        </p:nvSpPr>
        <p:spPr>
          <a:xfrm>
            <a:off x="777240" y="4434840"/>
            <a:ext cx="4023360" cy="685800"/>
          </a:xfrm>
          <a:prstGeom prst="rect">
            <a:avLst/>
          </a:prstGeom>
          <a:noFill/>
          <a:ln/>
        </p:spPr>
        <p:txBody>
          <a:bodyPr wrap="square" lIns="0" tIns="0" rIns="0" bIns="0" rtlCol="0" anchor="ctr"/>
          <a:lstStyle/>
          <a:p>
            <a:pPr marL="0" indent="0" algn="l">
              <a:buNone/>
            </a:pPr>
            <a:r>
              <a:rPr lang="en-US" sz="1700" b="1" dirty="0">
                <a:solidFill>
                  <a:schemeClr val="accent1"/>
                </a:solidFill>
              </a:rPr>
              <a:t>Nhà vườn liên kết</a:t>
            </a:r>
            <a:endParaRPr lang="en-US" sz="1400" dirty="0"/>
          </a:p>
          <a:p>
            <a:pPr marL="0" indent="0" algn="l">
              <a:buNone/>
            </a:pPr>
            <a:r>
              <a:rPr lang="en-US" sz="1400" dirty="0">
                <a:solidFill>
                  <a:schemeClr val="tx1"/>
                </a:solidFill>
              </a:rPr>
              <a:t>Hợp đồng thu mua, danh sách vùng nguyên liệu</a:t>
            </a:r>
            <a:endParaRPr lang="en-US" sz="1400" dirty="0"/>
          </a:p>
        </p:txBody>
      </p:sp>
      <p:sp>
        <p:nvSpPr>
          <p:cNvPr id="17" name="Mui ten 1"/>
          <p:cNvSpPr/>
          <p:nvPr/>
        </p:nvSpPr>
        <p:spPr>
          <a:xfrm>
            <a:off x="2560320" y="2679192"/>
            <a:ext cx="320040" cy="274320"/>
          </a:xfrm>
          <a:prstGeom prst="downArrow">
            <a:avLst/>
          </a:prstGeom>
          <a:solidFill>
            <a:schemeClr val="accent2"/>
          </a:solidFill>
          <a:ln/>
        </p:spPr>
      </p:sp>
      <p:sp>
        <p:nvSpPr>
          <p:cNvPr id="18" name="Mui ten 2"/>
          <p:cNvSpPr/>
          <p:nvPr/>
        </p:nvSpPr>
        <p:spPr>
          <a:xfrm>
            <a:off x="2560320" y="4050792"/>
            <a:ext cx="320040" cy="274320"/>
          </a:xfrm>
          <a:prstGeom prst="downArrow">
            <a:avLst/>
          </a:prstGeom>
          <a:solidFill>
            <a:schemeClr val="accent2"/>
          </a:solidFill>
          <a:ln/>
        </p:spPr>
      </p:sp>
      <p:sp>
        <p:nvSpPr>
          <p:cNvPr id="19" name="Khung luu y"/>
          <p:cNvSpPr/>
          <p:nvPr/>
        </p:nvSpPr>
        <p:spPr>
          <a:xfrm>
            <a:off x="548640" y="5349240"/>
            <a:ext cx="4480560" cy="777240"/>
          </a:xfrm>
          <a:prstGeom prst="roundRect">
            <a:avLst>
              <a:gd name="adj" fmla="val 14118"/>
            </a:avLst>
          </a:prstGeom>
          <a:solidFill>
            <a:srgbClr val="FBF1D8"/>
          </a:solidFill>
          <a:ln/>
        </p:spPr>
      </p:sp>
      <p:sp>
        <p:nvSpPr>
          <p:cNvPr id="20" name="Noi dung luu y"/>
          <p:cNvSpPr txBox="1"/>
          <p:nvPr/>
        </p:nvSpPr>
        <p:spPr>
          <a:xfrm>
            <a:off x="731520" y="5394960"/>
            <a:ext cx="4114800" cy="685800"/>
          </a:xfrm>
          <a:prstGeom prst="rect">
            <a:avLst/>
          </a:prstGeom>
          <a:noFill/>
          <a:ln/>
        </p:spPr>
        <p:txBody>
          <a:bodyPr wrap="square" lIns="0" tIns="0" rIns="0" bIns="0" rtlCol="0" anchor="ctr"/>
          <a:lstStyle/>
          <a:p>
            <a:pPr marL="0" indent="0" algn="l">
              <a:buNone/>
            </a:pPr>
            <a:r>
              <a:rPr lang="en-US" sz="1400" b="1" dirty="0">
                <a:solidFill>
                  <a:schemeClr val="accent6"/>
                </a:solidFill>
              </a:rPr>
              <a:t>Lưu ý: </a:t>
            </a:r>
            <a:r>
              <a:rPr lang="en-US" sz="1400" dirty="0">
                <a:solidFill>
                  <a:schemeClr val="tx1"/>
                </a:solidFill>
              </a:rPr>
              <a:t>dời địa điểm xưởng hoặc đổi người đại diện pháp luật là thay đổi lớn, có thể phải đăng ký lại mã GACC.</a:t>
            </a:r>
            <a:endParaRPr lang="en-US" sz="1400" dirty="0"/>
          </a:p>
        </p:txBody>
      </p:sp>
      <p:sp>
        <p:nvSpPr>
          <p:cNvPr id="21" name="The giay phep 1"/>
          <p:cNvSpPr/>
          <p:nvPr/>
        </p:nvSpPr>
        <p:spPr>
          <a:xfrm>
            <a:off x="5349240" y="1783080"/>
            <a:ext cx="3063240" cy="1325880"/>
          </a:xfrm>
          <a:prstGeom prst="roundRect">
            <a:avLst>
              <a:gd name="adj" fmla="val 8276"/>
            </a:avLst>
          </a:prstGeom>
          <a:solidFill>
            <a:schemeClr val="bg2"/>
          </a:solidFill>
          <a:ln/>
        </p:spPr>
      </p:sp>
      <p:sp>
        <p:nvSpPr>
          <p:cNvPr id="22" name="Vong so 1"/>
          <p:cNvSpPr/>
          <p:nvPr/>
        </p:nvSpPr>
        <p:spPr>
          <a:xfrm>
            <a:off x="5486400" y="1920240"/>
            <a:ext cx="411480" cy="411480"/>
          </a:xfrm>
          <a:prstGeom prst="ellipse">
            <a:avLst/>
          </a:prstGeom>
          <a:solidFill>
            <a:schemeClr val="accent1"/>
          </a:solidFill>
          <a:ln/>
        </p:spPr>
      </p:sp>
      <p:sp>
        <p:nvSpPr>
          <p:cNvPr id="23" name="So 1"/>
          <p:cNvSpPr txBox="1"/>
          <p:nvPr/>
        </p:nvSpPr>
        <p:spPr>
          <a:xfrm>
            <a:off x="5486400" y="1920240"/>
            <a:ext cx="411480" cy="411480"/>
          </a:xfrm>
          <a:prstGeom prst="rect">
            <a:avLst/>
          </a:prstGeom>
          <a:no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24" name="Ten 1"/>
          <p:cNvSpPr txBox="1"/>
          <p:nvPr/>
        </p:nvSpPr>
        <p:spPr>
          <a:xfrm>
            <a:off x="6007608" y="1892808"/>
            <a:ext cx="2286000" cy="457200"/>
          </a:xfrm>
          <a:prstGeom prst="rect">
            <a:avLst/>
          </a:prstGeom>
          <a:noFill/>
          <a:ln/>
        </p:spPr>
        <p:txBody>
          <a:bodyPr wrap="square" lIns="0" tIns="0" rIns="0" bIns="0" rtlCol="0" anchor="ctr"/>
          <a:lstStyle/>
          <a:p>
            <a:pPr marL="0" indent="0" algn="l">
              <a:buNone/>
            </a:pPr>
            <a:r>
              <a:rPr lang="en-US" sz="1400" b="1" dirty="0">
                <a:solidFill>
                  <a:schemeClr val="accent1"/>
                </a:solidFill>
              </a:rPr>
              <a:t>Ngành nghề và hải quan</a:t>
            </a:r>
            <a:endParaRPr lang="en-US" sz="1400" dirty="0"/>
          </a:p>
        </p:txBody>
      </p:sp>
      <p:sp>
        <p:nvSpPr>
          <p:cNvPr id="25" name="Mo ta 1"/>
          <p:cNvSpPr txBox="1"/>
          <p:nvPr/>
        </p:nvSpPr>
        <p:spPr>
          <a:xfrm>
            <a:off x="5486400" y="2441448"/>
            <a:ext cx="2816352" cy="640080"/>
          </a:xfrm>
          <a:prstGeom prst="rect">
            <a:avLst/>
          </a:prstGeom>
          <a:noFill/>
          <a:ln/>
        </p:spPr>
        <p:txBody>
          <a:bodyPr wrap="square" lIns="0" tIns="0" rIns="0" bIns="0" rtlCol="0" anchor="t"/>
          <a:lstStyle/>
          <a:p>
            <a:pPr marL="0" indent="0" algn="l">
              <a:buNone/>
            </a:pPr>
            <a:r>
              <a:rPr lang="en-US" sz="1400" dirty="0">
                <a:solidFill>
                  <a:schemeClr val="tx1"/>
                </a:solidFill>
              </a:rPr>
              <a:t>Ngành chế biến, xuất khẩu; chữ ký số, tài khoản hải quan</a:t>
            </a:r>
            <a:endParaRPr lang="en-US" sz="1400" dirty="0"/>
          </a:p>
        </p:txBody>
      </p:sp>
      <p:sp>
        <p:nvSpPr>
          <p:cNvPr id="26" name="The giay phep 2"/>
          <p:cNvSpPr/>
          <p:nvPr/>
        </p:nvSpPr>
        <p:spPr>
          <a:xfrm>
            <a:off x="8622792" y="1783080"/>
            <a:ext cx="3063240" cy="1325880"/>
          </a:xfrm>
          <a:prstGeom prst="roundRect">
            <a:avLst>
              <a:gd name="adj" fmla="val 8276"/>
            </a:avLst>
          </a:prstGeom>
          <a:solidFill>
            <a:schemeClr val="bg2"/>
          </a:solidFill>
          <a:ln/>
        </p:spPr>
      </p:sp>
      <p:sp>
        <p:nvSpPr>
          <p:cNvPr id="27" name="Vong so 2"/>
          <p:cNvSpPr/>
          <p:nvPr/>
        </p:nvSpPr>
        <p:spPr>
          <a:xfrm>
            <a:off x="8759952" y="1920240"/>
            <a:ext cx="411480" cy="411480"/>
          </a:xfrm>
          <a:prstGeom prst="ellipse">
            <a:avLst/>
          </a:prstGeom>
          <a:solidFill>
            <a:schemeClr val="accent1"/>
          </a:solidFill>
          <a:ln/>
        </p:spPr>
      </p:sp>
      <p:sp>
        <p:nvSpPr>
          <p:cNvPr id="28" name="So 2"/>
          <p:cNvSpPr txBox="1"/>
          <p:nvPr/>
        </p:nvSpPr>
        <p:spPr>
          <a:xfrm>
            <a:off x="8759952" y="1920240"/>
            <a:ext cx="411480" cy="411480"/>
          </a:xfrm>
          <a:prstGeom prst="rect">
            <a:avLst/>
          </a:prstGeom>
          <a:no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29" name="Ten 2"/>
          <p:cNvSpPr txBox="1"/>
          <p:nvPr/>
        </p:nvSpPr>
        <p:spPr>
          <a:xfrm>
            <a:off x="9281160" y="1892808"/>
            <a:ext cx="2286000" cy="457200"/>
          </a:xfrm>
          <a:prstGeom prst="rect">
            <a:avLst/>
          </a:prstGeom>
          <a:noFill/>
          <a:ln/>
        </p:spPr>
        <p:txBody>
          <a:bodyPr wrap="square" lIns="0" tIns="0" rIns="0" bIns="0" rtlCol="0" anchor="ctr"/>
          <a:lstStyle/>
          <a:p>
            <a:pPr marL="0" indent="0" algn="l">
              <a:buNone/>
            </a:pPr>
            <a:r>
              <a:rPr lang="en-US" sz="1400" b="1" dirty="0">
                <a:solidFill>
                  <a:schemeClr val="accent1"/>
                </a:solidFill>
              </a:rPr>
              <a:t>GCN cơ sở đủ điều kiện ATTP</a:t>
            </a:r>
            <a:endParaRPr lang="en-US" sz="1400" dirty="0"/>
          </a:p>
        </p:txBody>
      </p:sp>
      <p:sp>
        <p:nvSpPr>
          <p:cNvPr id="30" name="Mo ta 2"/>
          <p:cNvSpPr txBox="1"/>
          <p:nvPr/>
        </p:nvSpPr>
        <p:spPr>
          <a:xfrm>
            <a:off x="8759952" y="2441448"/>
            <a:ext cx="2816352" cy="640080"/>
          </a:xfrm>
          <a:prstGeom prst="rect">
            <a:avLst/>
          </a:prstGeom>
          <a:noFill/>
          <a:ln/>
        </p:spPr>
        <p:txBody>
          <a:bodyPr wrap="square" lIns="0" tIns="0" rIns="0" bIns="0" rtlCol="0" anchor="t"/>
          <a:lstStyle/>
          <a:p>
            <a:pPr marL="0" indent="0" algn="l">
              <a:buNone/>
            </a:pPr>
            <a:r>
              <a:rPr lang="en-US" sz="1400" dirty="0">
                <a:solidFill>
                  <a:schemeClr val="tx1"/>
                </a:solidFill>
              </a:rPr>
              <a:t>Theo NĐ 15/2018; miễn nếu đã có HACCP/ISO 22000 còn hiệu lực</a:t>
            </a:r>
            <a:endParaRPr lang="en-US" sz="1400" dirty="0"/>
          </a:p>
        </p:txBody>
      </p:sp>
      <p:sp>
        <p:nvSpPr>
          <p:cNvPr id="31" name="The giay phep 3"/>
          <p:cNvSpPr/>
          <p:nvPr/>
        </p:nvSpPr>
        <p:spPr>
          <a:xfrm>
            <a:off x="5349240" y="3200400"/>
            <a:ext cx="3063240" cy="1325880"/>
          </a:xfrm>
          <a:prstGeom prst="roundRect">
            <a:avLst>
              <a:gd name="adj" fmla="val 8276"/>
            </a:avLst>
          </a:prstGeom>
          <a:solidFill>
            <a:schemeClr val="bg2"/>
          </a:solidFill>
          <a:ln/>
        </p:spPr>
      </p:sp>
      <p:sp>
        <p:nvSpPr>
          <p:cNvPr id="32" name="Vong so 3"/>
          <p:cNvSpPr/>
          <p:nvPr/>
        </p:nvSpPr>
        <p:spPr>
          <a:xfrm>
            <a:off x="5486400" y="3337560"/>
            <a:ext cx="411480" cy="411480"/>
          </a:xfrm>
          <a:prstGeom prst="ellipse">
            <a:avLst/>
          </a:prstGeom>
          <a:solidFill>
            <a:schemeClr val="accent1"/>
          </a:solidFill>
          <a:ln/>
        </p:spPr>
      </p:sp>
      <p:sp>
        <p:nvSpPr>
          <p:cNvPr id="33" name="So 3"/>
          <p:cNvSpPr txBox="1"/>
          <p:nvPr/>
        </p:nvSpPr>
        <p:spPr>
          <a:xfrm>
            <a:off x="5486400" y="3337560"/>
            <a:ext cx="411480" cy="411480"/>
          </a:xfrm>
          <a:prstGeom prst="rect">
            <a:avLst/>
          </a:prstGeom>
          <a:noFill/>
          <a:ln/>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34" name="Ten 3"/>
          <p:cNvSpPr txBox="1"/>
          <p:nvPr/>
        </p:nvSpPr>
        <p:spPr>
          <a:xfrm>
            <a:off x="6007608" y="3310128"/>
            <a:ext cx="2286000" cy="457200"/>
          </a:xfrm>
          <a:prstGeom prst="rect">
            <a:avLst/>
          </a:prstGeom>
          <a:noFill/>
          <a:ln/>
        </p:spPr>
        <p:txBody>
          <a:bodyPr wrap="square" lIns="0" tIns="0" rIns="0" bIns="0" rtlCol="0" anchor="ctr"/>
          <a:lstStyle/>
          <a:p>
            <a:pPr marL="0" indent="0" algn="l">
              <a:buNone/>
            </a:pPr>
            <a:r>
              <a:rPr lang="en-US" sz="1400" b="1" dirty="0">
                <a:solidFill>
                  <a:schemeClr val="accent1"/>
                </a:solidFill>
              </a:rPr>
              <a:t>Tự công bố sản phẩm</a:t>
            </a:r>
            <a:endParaRPr lang="en-US" sz="1400" dirty="0"/>
          </a:p>
        </p:txBody>
      </p:sp>
      <p:sp>
        <p:nvSpPr>
          <p:cNvPr id="35" name="Mo ta 3"/>
          <p:cNvSpPr txBox="1"/>
          <p:nvPr/>
        </p:nvSpPr>
        <p:spPr>
          <a:xfrm>
            <a:off x="5486400" y="3858768"/>
            <a:ext cx="2816352" cy="640080"/>
          </a:xfrm>
          <a:prstGeom prst="rect">
            <a:avLst/>
          </a:prstGeom>
          <a:noFill/>
          <a:ln/>
        </p:spPr>
        <p:txBody>
          <a:bodyPr wrap="square" lIns="0" tIns="0" rIns="0" bIns="0" rtlCol="0" anchor="t"/>
          <a:lstStyle/>
          <a:p>
            <a:pPr marL="0" indent="0" algn="l">
              <a:buNone/>
            </a:pPr>
            <a:r>
              <a:rPr lang="en-US" sz="1400" dirty="0">
                <a:solidFill>
                  <a:schemeClr val="tx1"/>
                </a:solidFill>
              </a:rPr>
              <a:t>Mỗi sản phẩm một bản, kèm phiếu kiểm nghiệm trong 12 tháng</a:t>
            </a:r>
            <a:endParaRPr lang="en-US" sz="1400" dirty="0"/>
          </a:p>
        </p:txBody>
      </p:sp>
      <p:sp>
        <p:nvSpPr>
          <p:cNvPr id="36" name="The giay phep 4"/>
          <p:cNvSpPr/>
          <p:nvPr/>
        </p:nvSpPr>
        <p:spPr>
          <a:xfrm>
            <a:off x="8622792" y="3200400"/>
            <a:ext cx="3063240" cy="1325880"/>
          </a:xfrm>
          <a:prstGeom prst="roundRect">
            <a:avLst>
              <a:gd name="adj" fmla="val 8276"/>
            </a:avLst>
          </a:prstGeom>
          <a:solidFill>
            <a:schemeClr val="bg2"/>
          </a:solidFill>
          <a:ln/>
        </p:spPr>
      </p:sp>
      <p:sp>
        <p:nvSpPr>
          <p:cNvPr id="37" name="Vong so 4"/>
          <p:cNvSpPr/>
          <p:nvPr/>
        </p:nvSpPr>
        <p:spPr>
          <a:xfrm>
            <a:off x="8759952" y="3337560"/>
            <a:ext cx="411480" cy="411480"/>
          </a:xfrm>
          <a:prstGeom prst="ellipse">
            <a:avLst/>
          </a:prstGeom>
          <a:solidFill>
            <a:schemeClr val="accent1"/>
          </a:solidFill>
          <a:ln/>
        </p:spPr>
      </p:sp>
      <p:sp>
        <p:nvSpPr>
          <p:cNvPr id="38" name="So 4"/>
          <p:cNvSpPr txBox="1"/>
          <p:nvPr/>
        </p:nvSpPr>
        <p:spPr>
          <a:xfrm>
            <a:off x="8759952" y="3337560"/>
            <a:ext cx="411480" cy="411480"/>
          </a:xfrm>
          <a:prstGeom prst="rect">
            <a:avLst/>
          </a:prstGeom>
          <a:noFill/>
          <a:ln/>
        </p:spPr>
        <p:txBody>
          <a:bodyPr wrap="square" lIns="0" tIns="0" rIns="0" bIns="0" rtlCol="0" anchor="ctr"/>
          <a:lstStyle/>
          <a:p>
            <a:pPr marL="0" indent="0" algn="ctr">
              <a:buNone/>
            </a:pPr>
            <a:r>
              <a:rPr lang="en-US" sz="1400" b="1" dirty="0">
                <a:solidFill>
                  <a:schemeClr val="bg1"/>
                </a:solidFill>
              </a:rPr>
              <a:t>4</a:t>
            </a:r>
            <a:endParaRPr lang="en-US" sz="1400" dirty="0"/>
          </a:p>
        </p:txBody>
      </p:sp>
      <p:sp>
        <p:nvSpPr>
          <p:cNvPr id="39" name="Ten 4"/>
          <p:cNvSpPr txBox="1"/>
          <p:nvPr/>
        </p:nvSpPr>
        <p:spPr>
          <a:xfrm>
            <a:off x="9281160" y="3310128"/>
            <a:ext cx="2286000" cy="457200"/>
          </a:xfrm>
          <a:prstGeom prst="rect">
            <a:avLst/>
          </a:prstGeom>
          <a:noFill/>
          <a:ln/>
        </p:spPr>
        <p:txBody>
          <a:bodyPr wrap="square" lIns="0" tIns="0" rIns="0" bIns="0" rtlCol="0" anchor="ctr"/>
          <a:lstStyle/>
          <a:p>
            <a:pPr marL="0" indent="0" algn="l">
              <a:buNone/>
            </a:pPr>
            <a:r>
              <a:rPr lang="en-US" sz="1400" b="1" dirty="0">
                <a:solidFill>
                  <a:schemeClr val="accent1"/>
                </a:solidFill>
              </a:rPr>
              <a:t>Nhãn hiệu Heragrain</a:t>
            </a:r>
            <a:endParaRPr lang="en-US" sz="1400" dirty="0"/>
          </a:p>
        </p:txBody>
      </p:sp>
      <p:sp>
        <p:nvSpPr>
          <p:cNvPr id="40" name="Mo ta 4"/>
          <p:cNvSpPr txBox="1"/>
          <p:nvPr/>
        </p:nvSpPr>
        <p:spPr>
          <a:xfrm>
            <a:off x="8759952" y="3858768"/>
            <a:ext cx="2816352" cy="640080"/>
          </a:xfrm>
          <a:prstGeom prst="rect">
            <a:avLst/>
          </a:prstGeom>
          <a:noFill/>
          <a:ln/>
        </p:spPr>
        <p:txBody>
          <a:bodyPr wrap="square" lIns="0" tIns="0" rIns="0" bIns="0" rtlCol="0" anchor="t"/>
          <a:lstStyle/>
          <a:p>
            <a:pPr marL="0" indent="0" algn="l">
              <a:buNone/>
            </a:pPr>
            <a:r>
              <a:rPr lang="en-US" sz="1400" dirty="0">
                <a:solidFill>
                  <a:schemeClr val="tx1"/>
                </a:solidFill>
              </a:rPr>
              <a:t>Đăng ký sớm tại Việt Nam, Trung Quốc và EU</a:t>
            </a:r>
            <a:endParaRPr lang="en-US" sz="1400" dirty="0"/>
          </a:p>
        </p:txBody>
      </p:sp>
      <p:sp>
        <p:nvSpPr>
          <p:cNvPr id="41" name="The giay phep 5"/>
          <p:cNvSpPr/>
          <p:nvPr/>
        </p:nvSpPr>
        <p:spPr>
          <a:xfrm>
            <a:off x="5349240" y="4617720"/>
            <a:ext cx="3063240" cy="1325880"/>
          </a:xfrm>
          <a:prstGeom prst="roundRect">
            <a:avLst>
              <a:gd name="adj" fmla="val 8276"/>
            </a:avLst>
          </a:prstGeom>
          <a:solidFill>
            <a:schemeClr val="bg2"/>
          </a:solidFill>
          <a:ln/>
        </p:spPr>
      </p:sp>
      <p:sp>
        <p:nvSpPr>
          <p:cNvPr id="42" name="Vong so 5"/>
          <p:cNvSpPr/>
          <p:nvPr/>
        </p:nvSpPr>
        <p:spPr>
          <a:xfrm>
            <a:off x="5486400" y="4754880"/>
            <a:ext cx="411480" cy="411480"/>
          </a:xfrm>
          <a:prstGeom prst="ellipse">
            <a:avLst/>
          </a:prstGeom>
          <a:solidFill>
            <a:schemeClr val="accent1"/>
          </a:solidFill>
          <a:ln/>
        </p:spPr>
      </p:sp>
      <p:sp>
        <p:nvSpPr>
          <p:cNvPr id="43" name="So 5"/>
          <p:cNvSpPr txBox="1"/>
          <p:nvPr/>
        </p:nvSpPr>
        <p:spPr>
          <a:xfrm>
            <a:off x="5486400" y="4754880"/>
            <a:ext cx="411480" cy="411480"/>
          </a:xfrm>
          <a:prstGeom prst="rect">
            <a:avLst/>
          </a:prstGeom>
          <a:noFill/>
          <a:ln/>
        </p:spPr>
        <p:txBody>
          <a:bodyPr wrap="square" lIns="0" tIns="0" rIns="0" bIns="0" rtlCol="0" anchor="ctr"/>
          <a:lstStyle/>
          <a:p>
            <a:pPr marL="0" indent="0" algn="ctr">
              <a:buNone/>
            </a:pPr>
            <a:r>
              <a:rPr lang="en-US" sz="1400" b="1" dirty="0">
                <a:solidFill>
                  <a:schemeClr val="bg1"/>
                </a:solidFill>
              </a:rPr>
              <a:t>5</a:t>
            </a:r>
            <a:endParaRPr lang="en-US" sz="1400" dirty="0"/>
          </a:p>
        </p:txBody>
      </p:sp>
      <p:sp>
        <p:nvSpPr>
          <p:cNvPr id="44" name="Ten 5"/>
          <p:cNvSpPr txBox="1"/>
          <p:nvPr/>
        </p:nvSpPr>
        <p:spPr>
          <a:xfrm>
            <a:off x="6007608" y="4727448"/>
            <a:ext cx="2286000" cy="457200"/>
          </a:xfrm>
          <a:prstGeom prst="rect">
            <a:avLst/>
          </a:prstGeom>
          <a:noFill/>
          <a:ln/>
        </p:spPr>
        <p:txBody>
          <a:bodyPr wrap="square" lIns="0" tIns="0" rIns="0" bIns="0" rtlCol="0" anchor="ctr"/>
          <a:lstStyle/>
          <a:p>
            <a:pPr marL="0" indent="0" algn="l">
              <a:buNone/>
            </a:pPr>
            <a:r>
              <a:rPr lang="en-US" sz="1400" b="1" dirty="0">
                <a:solidFill>
                  <a:schemeClr val="accent1"/>
                </a:solidFill>
              </a:rPr>
              <a:t>Mã số mã vạch GS1</a:t>
            </a:r>
            <a:endParaRPr lang="en-US" sz="1400" dirty="0"/>
          </a:p>
        </p:txBody>
      </p:sp>
      <p:sp>
        <p:nvSpPr>
          <p:cNvPr id="45" name="Mo ta 5"/>
          <p:cNvSpPr txBox="1"/>
          <p:nvPr/>
        </p:nvSpPr>
        <p:spPr>
          <a:xfrm>
            <a:off x="5486400" y="5276088"/>
            <a:ext cx="2816352" cy="640080"/>
          </a:xfrm>
          <a:prstGeom prst="rect">
            <a:avLst/>
          </a:prstGeom>
          <a:noFill/>
          <a:ln/>
        </p:spPr>
        <p:txBody>
          <a:bodyPr wrap="square" lIns="0" tIns="0" rIns="0" bIns="0" rtlCol="0" anchor="t"/>
          <a:lstStyle/>
          <a:p>
            <a:pPr marL="0" indent="0" algn="l">
              <a:buNone/>
            </a:pPr>
            <a:r>
              <a:rPr lang="en-US" sz="1400" dirty="0">
                <a:solidFill>
                  <a:schemeClr val="tx1"/>
                </a:solidFill>
              </a:rPr>
              <a:t>GTIN cho từng sản phẩm, liên kết hệ thống TXNG</a:t>
            </a:r>
            <a:endParaRPr lang="en-US" sz="1400" dirty="0"/>
          </a:p>
        </p:txBody>
      </p:sp>
      <p:sp>
        <p:nvSpPr>
          <p:cNvPr id="46" name="The giay phep 6"/>
          <p:cNvSpPr/>
          <p:nvPr/>
        </p:nvSpPr>
        <p:spPr>
          <a:xfrm>
            <a:off x="8622792" y="4617720"/>
            <a:ext cx="3063240" cy="1325880"/>
          </a:xfrm>
          <a:prstGeom prst="roundRect">
            <a:avLst>
              <a:gd name="adj" fmla="val 8276"/>
            </a:avLst>
          </a:prstGeom>
          <a:solidFill>
            <a:schemeClr val="bg2"/>
          </a:solidFill>
          <a:ln/>
        </p:spPr>
      </p:sp>
      <p:sp>
        <p:nvSpPr>
          <p:cNvPr id="47" name="Vong so 6"/>
          <p:cNvSpPr/>
          <p:nvPr/>
        </p:nvSpPr>
        <p:spPr>
          <a:xfrm>
            <a:off x="8759952" y="4754880"/>
            <a:ext cx="411480" cy="411480"/>
          </a:xfrm>
          <a:prstGeom prst="ellipse">
            <a:avLst/>
          </a:prstGeom>
          <a:solidFill>
            <a:schemeClr val="accent1"/>
          </a:solidFill>
          <a:ln/>
        </p:spPr>
      </p:sp>
      <p:sp>
        <p:nvSpPr>
          <p:cNvPr id="48" name="So 6"/>
          <p:cNvSpPr txBox="1"/>
          <p:nvPr/>
        </p:nvSpPr>
        <p:spPr>
          <a:xfrm>
            <a:off x="8759952" y="4754880"/>
            <a:ext cx="411480" cy="411480"/>
          </a:xfrm>
          <a:prstGeom prst="rect">
            <a:avLst/>
          </a:prstGeom>
          <a:noFill/>
          <a:ln/>
        </p:spPr>
        <p:txBody>
          <a:bodyPr wrap="square" lIns="0" tIns="0" rIns="0" bIns="0" rtlCol="0" anchor="ctr"/>
          <a:lstStyle/>
          <a:p>
            <a:pPr marL="0" indent="0" algn="ctr">
              <a:buNone/>
            </a:pPr>
            <a:r>
              <a:rPr lang="en-US" sz="1400" b="1" dirty="0">
                <a:solidFill>
                  <a:schemeClr val="bg1"/>
                </a:solidFill>
              </a:rPr>
              <a:t>6</a:t>
            </a:r>
            <a:endParaRPr lang="en-US" sz="1400" dirty="0"/>
          </a:p>
        </p:txBody>
      </p:sp>
      <p:sp>
        <p:nvSpPr>
          <p:cNvPr id="49" name="Ten 6"/>
          <p:cNvSpPr txBox="1"/>
          <p:nvPr/>
        </p:nvSpPr>
        <p:spPr>
          <a:xfrm>
            <a:off x="9281160" y="4727448"/>
            <a:ext cx="2286000" cy="457200"/>
          </a:xfrm>
          <a:prstGeom prst="rect">
            <a:avLst/>
          </a:prstGeom>
          <a:noFill/>
          <a:ln/>
        </p:spPr>
        <p:txBody>
          <a:bodyPr wrap="square" lIns="0" tIns="0" rIns="0" bIns="0" rtlCol="0" anchor="ctr"/>
          <a:lstStyle/>
          <a:p>
            <a:pPr marL="0" indent="0" algn="l">
              <a:buNone/>
            </a:pPr>
            <a:r>
              <a:rPr lang="en-US" sz="1400" b="1" dirty="0">
                <a:solidFill>
                  <a:schemeClr val="accent1"/>
                </a:solidFill>
              </a:rPr>
              <a:t>Hợp đồng vùng nguyên liệu</a:t>
            </a:r>
            <a:endParaRPr lang="en-US" sz="1400" dirty="0"/>
          </a:p>
        </p:txBody>
      </p:sp>
      <p:sp>
        <p:nvSpPr>
          <p:cNvPr id="50" name="Mo ta 6"/>
          <p:cNvSpPr txBox="1"/>
          <p:nvPr/>
        </p:nvSpPr>
        <p:spPr>
          <a:xfrm>
            <a:off x="8759952" y="5276088"/>
            <a:ext cx="2816352" cy="640080"/>
          </a:xfrm>
          <a:prstGeom prst="rect">
            <a:avLst/>
          </a:prstGeom>
          <a:noFill/>
          <a:ln/>
        </p:spPr>
        <p:txBody>
          <a:bodyPr wrap="square" lIns="0" tIns="0" rIns="0" bIns="0" rtlCol="0" anchor="t"/>
          <a:lstStyle/>
          <a:p>
            <a:pPr marL="0" indent="0" algn="l">
              <a:buNone/>
            </a:pPr>
            <a:r>
              <a:rPr lang="en-US" sz="1400" dirty="0">
                <a:solidFill>
                  <a:schemeClr val="tx1"/>
                </a:solidFill>
              </a:rPr>
              <a:t>Hợp đồng thu mua, danh sách nhà vườn, nhật ký sản xuất</a:t>
            </a:r>
            <a:endParaRPr lang="en-US" sz="1400" dirty="0"/>
          </a:p>
        </p:txBody>
      </p:sp>
      <p:sp>
        <p:nvSpPr>
          <p:cNvPr id="51" name="Nguon"/>
          <p:cNvSpPr txBox="1"/>
          <p:nvPr/>
        </p:nvSpPr>
        <p:spPr>
          <a:xfrm>
            <a:off x="548640" y="6217920"/>
            <a:ext cx="11094415" cy="201168"/>
          </a:xfrm>
          <a:prstGeom prst="rect">
            <a:avLst/>
          </a:prstGeom>
          <a:noFill/>
          <a:ln/>
        </p:spPr>
        <p:txBody>
          <a:bodyPr wrap="square" lIns="0" tIns="0" rIns="0" bIns="0" rtlCol="0" anchor="t"/>
          <a:lstStyle/>
          <a:p>
            <a:pPr marL="0" indent="0" algn="l">
              <a:buNone/>
            </a:pPr>
            <a:r>
              <a:rPr lang="en-US" sz="1000" dirty="0">
                <a:solidFill>
                  <a:srgbClr val="5C6F66"/>
                </a:solidFill>
              </a:rPr>
              <a:t>Nguồn: Nghị định 15/2018/NĐ-CP (Điều 4, 5, 12); Nghị quyết 15/2026/NQ-CP; Tạp chí Công Thương, Doanh nghiệp và Hội nhập về Lệnh 280 của GACC.</a:t>
            </a:r>
            <a:endParaRPr lang="en-US" sz="1000" dirty="0"/>
          </a:p>
        </p:txBody>
      </p:sp>
      <p:sp>
        <p:nvSpPr>
          <p:cNvPr id="2" name="Slide Number Placeholder 0"/>
          <p:cNvSpPr>
            <a:spLocks noGrp="1"/>
          </p:cNvSpPr>
          <p:nvPr>
            <p:ph type="sldNum" sz="quarter" idx="4294967295"/>
          </p:nvPr>
        </p:nvSpPr>
        <p:spPr>
          <a:xfrm>
            <a:off x="10972800" y="6492240"/>
            <a:ext cx="667512" cy="237744"/>
          </a:xfrm>
          <a:prstGeom prst="rect">
            <a:avLst/>
          </a:prstGeom>
          <a:extLst>
            <a:ext uri="{C572A759-6A51-4108-AA02-DFA0A04FC94B}">
              <ma14:wrappingTextBoxFlag xmlns:ma14="http://schemas.microsoft.com/office/mac/drawingml/2011/main" xmlns="" val="0"/>
            </a:ext>
          </a:extLst>
        </p:spPr>
        <p:txBody>
          <a:bodyPr/>
          <a:lstStyle>
            <a:lvl1pPr>
              <a:defRPr sz="1000">
                <a:solidFill>
                  <a:srgbClr val="5C6F66"/>
                </a:solidFill>
              </a:defRPr>
            </a:lvl1pPr>
          </a:lstStyle>
          <a:p>
            <a:pPr algn="r"/>
            <a:fld id="{F7021451-1387-4CA6-816F-3879F97B5CBC}" type="slidenum">
              <a:rPr lang="en-US" b="0"/>
              <a:t>11</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Dau cham"/>
          <p:cNvSpPr/>
          <p:nvPr/>
        </p:nvSpPr>
        <p:spPr>
          <a:xfrm>
            <a:off x="548640" y="429768"/>
            <a:ext cx="118872" cy="118872"/>
          </a:xfrm>
          <a:prstGeom prst="ellipse">
            <a:avLst/>
          </a:prstGeom>
          <a:solidFill>
            <a:schemeClr val="accent2"/>
          </a:solidFill>
          <a:ln/>
        </p:spPr>
      </p:sp>
      <p:sp>
        <p:nvSpPr>
          <p:cNvPr id="4" name="Nhan chuyen muc"/>
          <p:cNvSpPr txBox="1"/>
          <p:nvPr/>
        </p:nvSpPr>
        <p:spPr>
          <a:xfrm>
            <a:off x="777240" y="347472"/>
            <a:ext cx="6949440" cy="274320"/>
          </a:xfrm>
          <a:prstGeom prst="rect">
            <a:avLst/>
          </a:prstGeom>
          <a:noFill/>
          <a:ln/>
        </p:spPr>
        <p:txBody>
          <a:bodyPr wrap="square" lIns="0" tIns="0" rIns="0" bIns="0" rtlCol="0" anchor="ctr"/>
          <a:lstStyle/>
          <a:p>
            <a:pPr marL="0" indent="0" algn="l">
              <a:buNone/>
            </a:pPr>
            <a:r>
              <a:rPr lang="en-US" sz="1200" b="1" kern="0" spc="200" dirty="0">
                <a:solidFill>
                  <a:schemeClr val="accent1"/>
                </a:solidFill>
              </a:rPr>
              <a:t>TRỤ CỘT 2 · BỘ MÁY VÀ NHÂN SỰ</a:t>
            </a:r>
            <a:endParaRPr lang="en-US" sz="1200" dirty="0"/>
          </a:p>
        </p:txBody>
      </p:sp>
      <p:sp>
        <p:nvSpPr>
          <p:cNvPr id="5" name="Nhan giai doan"/>
          <p:cNvSpPr txBox="1"/>
          <p:nvPr/>
        </p:nvSpPr>
        <p:spPr>
          <a:xfrm>
            <a:off x="8195767" y="347472"/>
            <a:ext cx="868680" cy="274320"/>
          </a:xfrm>
          <a:prstGeom prst="rect">
            <a:avLst/>
          </a:prstGeom>
          <a:noFill/>
          <a:ln/>
        </p:spPr>
        <p:txBody>
          <a:bodyPr wrap="square" lIns="0" tIns="0" rIns="0" bIns="0" rtlCol="0" anchor="ctr"/>
          <a:lstStyle/>
          <a:p>
            <a:pPr marL="0" indent="0" algn="r">
              <a:buNone/>
            </a:pPr>
            <a:r>
              <a:rPr lang="en-US" sz="1200" dirty="0">
                <a:solidFill>
                  <a:srgbClr val="5C6F66"/>
                </a:solidFill>
              </a:rPr>
              <a:t>Thực hiện ở</a:t>
            </a:r>
            <a:endParaRPr lang="en-US" sz="1200" dirty="0"/>
          </a:p>
        </p:txBody>
      </p:sp>
      <p:sp>
        <p:nvSpPr>
          <p:cNvPr id="6" name="Giai doan 1"/>
          <p:cNvSpPr/>
          <p:nvPr/>
        </p:nvSpPr>
        <p:spPr>
          <a:xfrm>
            <a:off x="9155887" y="356616"/>
            <a:ext cx="566928" cy="256032"/>
          </a:xfrm>
          <a:prstGeom prst="roundRect">
            <a:avLst>
              <a:gd name="adj" fmla="val 21429"/>
            </a:avLst>
          </a:prstGeom>
          <a:solidFill>
            <a:srgbClr val="5E9E68"/>
          </a:solidFill>
          <a:ln/>
        </p:spPr>
      </p:sp>
      <p:sp>
        <p:nvSpPr>
          <p:cNvPr id="7" name="Chu giai doan 1"/>
          <p:cNvSpPr txBox="1"/>
          <p:nvPr/>
        </p:nvSpPr>
        <p:spPr>
          <a:xfrm>
            <a:off x="9155887" y="356616"/>
            <a:ext cx="566928" cy="256032"/>
          </a:xfrm>
          <a:prstGeom prst="rect">
            <a:avLst/>
          </a:prstGeom>
          <a:noFill/>
          <a:ln/>
        </p:spPr>
        <p:txBody>
          <a:bodyPr wrap="square" lIns="0" tIns="0" rIns="0" bIns="0" rtlCol="0" anchor="ctr"/>
          <a:lstStyle/>
          <a:p>
            <a:pPr marL="0" indent="0" algn="ctr">
              <a:buNone/>
            </a:pPr>
            <a:r>
              <a:rPr lang="en-US" sz="1200" b="1" dirty="0">
                <a:solidFill>
                  <a:srgbClr val="1B2B24"/>
                </a:solidFill>
              </a:rPr>
              <a:t>GĐ1</a:t>
            </a:r>
            <a:endParaRPr lang="en-US" sz="1200" dirty="0"/>
          </a:p>
        </p:txBody>
      </p:sp>
      <p:sp>
        <p:nvSpPr>
          <p:cNvPr id="8" name="Giai doan 2"/>
          <p:cNvSpPr/>
          <p:nvPr/>
        </p:nvSpPr>
        <p:spPr>
          <a:xfrm>
            <a:off x="9795967" y="356616"/>
            <a:ext cx="566928" cy="256032"/>
          </a:xfrm>
          <a:prstGeom prst="roundRect">
            <a:avLst>
              <a:gd name="adj" fmla="val 21429"/>
            </a:avLst>
          </a:prstGeom>
          <a:solidFill>
            <a:srgbClr val="1D4B3A"/>
          </a:solidFill>
          <a:ln/>
        </p:spPr>
      </p:sp>
      <p:sp>
        <p:nvSpPr>
          <p:cNvPr id="9" name="Chu giai doan 2"/>
          <p:cNvSpPr txBox="1"/>
          <p:nvPr/>
        </p:nvSpPr>
        <p:spPr>
          <a:xfrm>
            <a:off x="9795967" y="356616"/>
            <a:ext cx="566928" cy="256032"/>
          </a:xfrm>
          <a:prstGeom prst="rect">
            <a:avLst/>
          </a:prstGeom>
          <a:noFill/>
          <a:ln/>
        </p:spPr>
        <p:txBody>
          <a:bodyPr wrap="square" lIns="0" tIns="0" rIns="0" bIns="0" rtlCol="0" anchor="ctr"/>
          <a:lstStyle/>
          <a:p>
            <a:pPr marL="0" indent="0" algn="ctr">
              <a:buNone/>
            </a:pPr>
            <a:r>
              <a:rPr lang="en-US" sz="1200" b="1" dirty="0">
                <a:solidFill>
                  <a:srgbClr val="FFFFFF"/>
                </a:solidFill>
              </a:rPr>
              <a:t>GĐ2</a:t>
            </a:r>
            <a:endParaRPr lang="en-US" sz="1200" dirty="0"/>
          </a:p>
        </p:txBody>
      </p:sp>
      <p:sp>
        <p:nvSpPr>
          <p:cNvPr id="10" name="Giai doan 3"/>
          <p:cNvSpPr/>
          <p:nvPr/>
        </p:nvSpPr>
        <p:spPr>
          <a:xfrm>
            <a:off x="10436047" y="356616"/>
            <a:ext cx="566928" cy="256032"/>
          </a:xfrm>
          <a:prstGeom prst="roundRect">
            <a:avLst>
              <a:gd name="adj" fmla="val 21429"/>
            </a:avLst>
          </a:prstGeom>
          <a:solidFill>
            <a:srgbClr val="E4A92A"/>
          </a:solidFill>
          <a:ln/>
        </p:spPr>
      </p:sp>
      <p:sp>
        <p:nvSpPr>
          <p:cNvPr id="11" name="Chu giai doan 3"/>
          <p:cNvSpPr txBox="1"/>
          <p:nvPr/>
        </p:nvSpPr>
        <p:spPr>
          <a:xfrm>
            <a:off x="10436047" y="356616"/>
            <a:ext cx="566928" cy="256032"/>
          </a:xfrm>
          <a:prstGeom prst="rect">
            <a:avLst/>
          </a:prstGeom>
          <a:noFill/>
          <a:ln/>
        </p:spPr>
        <p:txBody>
          <a:bodyPr wrap="square" lIns="0" tIns="0" rIns="0" bIns="0" rtlCol="0" anchor="ctr"/>
          <a:lstStyle/>
          <a:p>
            <a:pPr marL="0" indent="0" algn="ctr">
              <a:buNone/>
            </a:pPr>
            <a:r>
              <a:rPr lang="en-US" sz="1200" b="1" dirty="0">
                <a:solidFill>
                  <a:srgbClr val="1B2B24"/>
                </a:solidFill>
              </a:rPr>
              <a:t>GĐ3</a:t>
            </a:r>
            <a:endParaRPr lang="en-US" sz="1200" dirty="0"/>
          </a:p>
        </p:txBody>
      </p:sp>
      <p:sp>
        <p:nvSpPr>
          <p:cNvPr id="12" name="Giai doan 4"/>
          <p:cNvSpPr/>
          <p:nvPr/>
        </p:nvSpPr>
        <p:spPr>
          <a:xfrm>
            <a:off x="11076127" y="356616"/>
            <a:ext cx="566928" cy="256032"/>
          </a:xfrm>
          <a:prstGeom prst="roundRect">
            <a:avLst>
              <a:gd name="adj" fmla="val 21429"/>
            </a:avLst>
          </a:prstGeom>
          <a:solidFill>
            <a:srgbClr val="7A3E8F"/>
          </a:solidFill>
          <a:ln/>
        </p:spPr>
      </p:sp>
      <p:sp>
        <p:nvSpPr>
          <p:cNvPr id="13" name="Chu giai doan 4"/>
          <p:cNvSpPr txBox="1"/>
          <p:nvPr/>
        </p:nvSpPr>
        <p:spPr>
          <a:xfrm>
            <a:off x="11076127" y="356616"/>
            <a:ext cx="566928" cy="256032"/>
          </a:xfrm>
          <a:prstGeom prst="rect">
            <a:avLst/>
          </a:prstGeom>
          <a:noFill/>
          <a:ln/>
        </p:spPr>
        <p:txBody>
          <a:bodyPr wrap="square" lIns="0" tIns="0" rIns="0" bIns="0" rtlCol="0" anchor="ctr"/>
          <a:lstStyle/>
          <a:p>
            <a:pPr marL="0" indent="0" algn="ctr">
              <a:buNone/>
            </a:pPr>
            <a:r>
              <a:rPr lang="en-US" sz="1200" b="1" dirty="0">
                <a:solidFill>
                  <a:srgbClr val="FFFFFF"/>
                </a:solidFill>
              </a:rPr>
              <a:t>GĐ4</a:t>
            </a:r>
            <a:endParaRPr lang="en-US" sz="1200" dirty="0"/>
          </a:p>
        </p:txBody>
      </p:sp>
      <p:sp>
        <p:nvSpPr>
          <p:cNvPr id="14" name="Text 0"/>
          <p:cNvSpPr>
            <a:spLocks noGrp="1"/>
          </p:cNvSpPr>
          <p:nvPr>
            <p:ph type="title" idx="100" hasCustomPrompt="1"/>
          </p:nvPr>
        </p:nvSpPr>
        <p:spPr>
          <a:xfrm>
            <a:off x="548640" y="658368"/>
            <a:ext cx="11094415" cy="777240"/>
          </a:xfrm>
          <a:prstGeom prst="rect">
            <a:avLst/>
          </a:prstGeom>
          <a:noFill/>
          <a:ln/>
        </p:spPr>
        <p:txBody>
          <a:bodyPr wrap="square" lIns="0" tIns="0" rIns="0" bIns="0" rtlCol="0" anchor="ctr"/>
          <a:lstStyle/>
          <a:p>
            <a:pPr marL="0" indent="0" algn="l">
              <a:buNone/>
            </a:pPr>
            <a:r>
              <a:rPr lang="en-US" sz="3000" b="1" dirty="0">
                <a:solidFill>
                  <a:schemeClr val="tx2"/>
                </a:solidFill>
              </a:rPr>
              <a:t>Bộ máy đích: 28–40 người, dựng dần theo giai đoạn</a:t>
            </a:r>
            <a:endParaRPr lang="en-US" sz="3000" dirty="0"/>
          </a:p>
        </p:txBody>
      </p:sp>
      <p:sp>
        <p:nvSpPr>
          <p:cNvPr id="15" name="Hoi dong quan tri"/>
          <p:cNvSpPr/>
          <p:nvPr/>
        </p:nvSpPr>
        <p:spPr>
          <a:xfrm>
            <a:off x="548640" y="1783080"/>
            <a:ext cx="2560320" cy="1463040"/>
          </a:xfrm>
          <a:prstGeom prst="roundRect">
            <a:avLst>
              <a:gd name="adj" fmla="val 7500"/>
            </a:avLst>
          </a:prstGeom>
          <a:solidFill>
            <a:schemeClr val="accent1"/>
          </a:solidFill>
          <a:ln/>
        </p:spPr>
      </p:sp>
      <p:sp>
        <p:nvSpPr>
          <p:cNvPr id="16" name="Chu HDQT"/>
          <p:cNvSpPr txBox="1"/>
          <p:nvPr/>
        </p:nvSpPr>
        <p:spPr>
          <a:xfrm>
            <a:off x="731520" y="1874520"/>
            <a:ext cx="2194560" cy="1280160"/>
          </a:xfrm>
          <a:prstGeom prst="rect">
            <a:avLst/>
          </a:prstGeom>
          <a:noFill/>
          <a:ln/>
        </p:spPr>
        <p:txBody>
          <a:bodyPr wrap="square" lIns="0" tIns="0" rIns="0" bIns="0" rtlCol="0" anchor="ctr"/>
          <a:lstStyle/>
          <a:p>
            <a:pPr marL="0" indent="0" algn="l">
              <a:buNone/>
            </a:pPr>
            <a:r>
              <a:rPr lang="en-US" sz="1600" b="1" dirty="0">
                <a:solidFill>
                  <a:schemeClr val="bg1"/>
                </a:solidFill>
              </a:rPr>
              <a:t>Hội đồng quản trị HTX</a:t>
            </a:r>
            <a:endParaRPr lang="en-US" sz="1400" dirty="0"/>
          </a:p>
          <a:p>
            <a:pPr marL="0" indent="0" algn="l">
              <a:buNone/>
            </a:pPr>
            <a:r>
              <a:rPr lang="en-US" sz="1400" dirty="0">
                <a:solidFill>
                  <a:schemeClr val="bg2"/>
                </a:solidFill>
              </a:rPr>
              <a:t>Đại diện Viện STP giám sát đầu tư</a:t>
            </a:r>
            <a:endParaRPr lang="en-US" sz="1400" dirty="0"/>
          </a:p>
        </p:txBody>
      </p:sp>
      <p:sp>
        <p:nvSpPr>
          <p:cNvPr id="17" name="Mui ten HDQT"/>
          <p:cNvSpPr/>
          <p:nvPr/>
        </p:nvSpPr>
        <p:spPr>
          <a:xfrm>
            <a:off x="1645920" y="3291840"/>
            <a:ext cx="365760" cy="438912"/>
          </a:xfrm>
          <a:prstGeom prst="downArrow">
            <a:avLst/>
          </a:prstGeom>
          <a:solidFill>
            <a:schemeClr val="accent2"/>
          </a:solidFill>
          <a:ln/>
        </p:spPr>
      </p:sp>
      <p:sp>
        <p:nvSpPr>
          <p:cNvPr id="18" name="Giam doc dieu hanh"/>
          <p:cNvSpPr/>
          <p:nvPr/>
        </p:nvSpPr>
        <p:spPr>
          <a:xfrm>
            <a:off x="548640" y="3767328"/>
            <a:ext cx="2560320" cy="1828800"/>
          </a:xfrm>
          <a:prstGeom prst="roundRect">
            <a:avLst>
              <a:gd name="adj" fmla="val 6000"/>
            </a:avLst>
          </a:prstGeom>
          <a:solidFill>
            <a:schemeClr val="accent2"/>
          </a:solidFill>
          <a:ln/>
        </p:spPr>
      </p:sp>
      <p:sp>
        <p:nvSpPr>
          <p:cNvPr id="19" name="Chu GDDH"/>
          <p:cNvSpPr txBox="1"/>
          <p:nvPr/>
        </p:nvSpPr>
        <p:spPr>
          <a:xfrm>
            <a:off x="731520" y="3858768"/>
            <a:ext cx="2194560" cy="1645920"/>
          </a:xfrm>
          <a:prstGeom prst="rect">
            <a:avLst/>
          </a:prstGeom>
          <a:noFill/>
          <a:ln/>
        </p:spPr>
        <p:txBody>
          <a:bodyPr wrap="square" lIns="0" tIns="0" rIns="0" bIns="0" rtlCol="0" anchor="ctr"/>
          <a:lstStyle/>
          <a:p>
            <a:pPr marL="0" indent="0" algn="l">
              <a:buNone/>
            </a:pPr>
            <a:r>
              <a:rPr lang="en-US" sz="1600" b="1" dirty="0">
                <a:solidFill>
                  <a:schemeClr val="tx1"/>
                </a:solidFill>
              </a:rPr>
              <a:t>Giám đốc điều hành</a:t>
            </a:r>
            <a:endParaRPr lang="en-US" sz="1400" dirty="0"/>
          </a:p>
          <a:p>
            <a:pPr marL="0" indent="0" algn="l">
              <a:buNone/>
            </a:pPr>
            <a:r>
              <a:rPr lang="en-US" sz="1400" dirty="0">
                <a:solidFill>
                  <a:schemeClr val="tx1"/>
                </a:solidFill>
              </a:rPr>
              <a:t>Chịu trách nhiệm hệ thống an toàn thực phẩm và duyệt lô hàng xuất</a:t>
            </a:r>
            <a:endParaRPr lang="en-US" sz="1400" dirty="0"/>
          </a:p>
          <a:p>
            <a:pPr marL="0" indent="0" algn="l">
              <a:buNone/>
            </a:pPr>
            <a:r>
              <a:rPr lang="en-US" sz="1400" b="1" dirty="0">
                <a:solidFill>
                  <a:schemeClr val="tx1"/>
                </a:solidFill>
              </a:rPr>
              <a:t>Bổ nhiệm ở giai đoạn 1</a:t>
            </a:r>
            <a:endParaRPr lang="en-US" sz="1400" dirty="0"/>
          </a:p>
        </p:txBody>
      </p:sp>
      <p:sp>
        <p:nvSpPr>
          <p:cNvPr id="20" name="Phong ban 1"/>
          <p:cNvSpPr/>
          <p:nvPr/>
        </p:nvSpPr>
        <p:spPr>
          <a:xfrm>
            <a:off x="3383280" y="1783080"/>
            <a:ext cx="2615184" cy="1828800"/>
          </a:xfrm>
          <a:prstGeom prst="roundRect">
            <a:avLst>
              <a:gd name="adj" fmla="val 6000"/>
            </a:avLst>
          </a:prstGeom>
          <a:solidFill>
            <a:schemeClr val="bg2"/>
          </a:solidFill>
          <a:ln/>
        </p:spPr>
      </p:sp>
      <p:pic>
        <p:nvPicPr>
          <p:cNvPr id="21" name="Bieu tuong PB 1" descr="Sản xuất và kỹ thuật"/>
          <p:cNvPicPr>
            <a:picLocks noChangeAspect="1"/>
          </p:cNvPicPr>
          <p:nvPr/>
        </p:nvPicPr>
        <p:blipFill>
          <a:blip r:embed="rId3"/>
          <a:stretch>
            <a:fillRect/>
          </a:stretch>
        </p:blipFill>
        <p:spPr>
          <a:xfrm>
            <a:off x="3547872" y="1947672"/>
            <a:ext cx="502920" cy="502920"/>
          </a:xfrm>
          <a:prstGeom prst="rect">
            <a:avLst/>
          </a:prstGeom>
        </p:spPr>
      </p:pic>
      <p:sp>
        <p:nvSpPr>
          <p:cNvPr id="22" name="Ten PB 1"/>
          <p:cNvSpPr txBox="1"/>
          <p:nvPr/>
        </p:nvSpPr>
        <p:spPr>
          <a:xfrm>
            <a:off x="4160520" y="1920240"/>
            <a:ext cx="1737360" cy="548640"/>
          </a:xfrm>
          <a:prstGeom prst="rect">
            <a:avLst/>
          </a:prstGeom>
          <a:noFill/>
          <a:ln/>
        </p:spPr>
        <p:txBody>
          <a:bodyPr wrap="square" lIns="0" tIns="0" rIns="0" bIns="0" rtlCol="0" anchor="ctr"/>
          <a:lstStyle/>
          <a:p>
            <a:pPr marL="0" indent="0" algn="l">
              <a:buNone/>
            </a:pPr>
            <a:r>
              <a:rPr lang="en-US" sz="1500" b="1" dirty="0">
                <a:solidFill>
                  <a:schemeClr val="accent1"/>
                </a:solidFill>
              </a:rPr>
              <a:t>Sản xuất và kỹ thuật</a:t>
            </a:r>
            <a:endParaRPr lang="en-US" sz="1500" dirty="0"/>
          </a:p>
        </p:txBody>
      </p:sp>
      <p:sp>
        <p:nvSpPr>
          <p:cNvPr id="23" name="So nguoi 1"/>
          <p:cNvSpPr txBox="1"/>
          <p:nvPr/>
        </p:nvSpPr>
        <p:spPr>
          <a:xfrm>
            <a:off x="3547872" y="2587752"/>
            <a:ext cx="2286000" cy="256032"/>
          </a:xfrm>
          <a:prstGeom prst="rect">
            <a:avLst/>
          </a:prstGeom>
          <a:noFill/>
          <a:ln/>
        </p:spPr>
        <p:txBody>
          <a:bodyPr wrap="square" lIns="0" tIns="0" rIns="0" bIns="0" rtlCol="0" anchor="t"/>
          <a:lstStyle/>
          <a:p>
            <a:pPr marL="0" indent="0" algn="l">
              <a:buNone/>
            </a:pPr>
            <a:r>
              <a:rPr lang="en-US" sz="1400" b="1" dirty="0">
                <a:solidFill>
                  <a:schemeClr val="accent6"/>
                </a:solidFill>
              </a:rPr>
              <a:t>14–20 người</a:t>
            </a:r>
            <a:endParaRPr lang="en-US" sz="1400" dirty="0"/>
          </a:p>
        </p:txBody>
      </p:sp>
      <p:sp>
        <p:nvSpPr>
          <p:cNvPr id="24" name="Vai tro 1"/>
          <p:cNvSpPr txBox="1"/>
          <p:nvPr/>
        </p:nvSpPr>
        <p:spPr>
          <a:xfrm>
            <a:off x="3547872" y="2898648"/>
            <a:ext cx="2304288" cy="658368"/>
          </a:xfrm>
          <a:prstGeom prst="rect">
            <a:avLst/>
          </a:prstGeom>
          <a:noFill/>
          <a:ln/>
        </p:spPr>
        <p:txBody>
          <a:bodyPr wrap="square" lIns="0" tIns="0" rIns="0" bIns="0" rtlCol="0" anchor="t"/>
          <a:lstStyle/>
          <a:p>
            <a:pPr marL="0" indent="0" algn="l">
              <a:buNone/>
            </a:pPr>
            <a:r>
              <a:rPr lang="en-US" sz="1400" dirty="0">
                <a:solidFill>
                  <a:schemeClr val="tx1"/>
                </a:solidFill>
              </a:rPr>
              <a:t>Quản đốc (từ GĐ2), tổ trưởng, vận hành sấy, đóng gói</a:t>
            </a:r>
            <a:endParaRPr lang="en-US" sz="1400" dirty="0"/>
          </a:p>
        </p:txBody>
      </p:sp>
      <p:sp>
        <p:nvSpPr>
          <p:cNvPr id="25" name="Phong ban 2"/>
          <p:cNvSpPr/>
          <p:nvPr/>
        </p:nvSpPr>
        <p:spPr>
          <a:xfrm>
            <a:off x="6195060" y="1783080"/>
            <a:ext cx="2615184" cy="1828800"/>
          </a:xfrm>
          <a:prstGeom prst="roundRect">
            <a:avLst>
              <a:gd name="adj" fmla="val 6000"/>
            </a:avLst>
          </a:prstGeom>
          <a:solidFill>
            <a:schemeClr val="bg2"/>
          </a:solidFill>
          <a:ln/>
        </p:spPr>
      </p:sp>
      <p:pic>
        <p:nvPicPr>
          <p:cNvPr id="26" name="Bieu tuong PB 2" descr="QA/QC và ATTP"/>
          <p:cNvPicPr>
            <a:picLocks noChangeAspect="1"/>
          </p:cNvPicPr>
          <p:nvPr/>
        </p:nvPicPr>
        <p:blipFill>
          <a:blip r:embed="rId4"/>
          <a:stretch>
            <a:fillRect/>
          </a:stretch>
        </p:blipFill>
        <p:spPr>
          <a:xfrm>
            <a:off x="6359652" y="1947672"/>
            <a:ext cx="502920" cy="502920"/>
          </a:xfrm>
          <a:prstGeom prst="rect">
            <a:avLst/>
          </a:prstGeom>
        </p:spPr>
      </p:pic>
      <p:sp>
        <p:nvSpPr>
          <p:cNvPr id="27" name="Ten PB 2"/>
          <p:cNvSpPr txBox="1"/>
          <p:nvPr/>
        </p:nvSpPr>
        <p:spPr>
          <a:xfrm>
            <a:off x="6972300" y="1920240"/>
            <a:ext cx="1737360" cy="548640"/>
          </a:xfrm>
          <a:prstGeom prst="rect">
            <a:avLst/>
          </a:prstGeom>
          <a:noFill/>
          <a:ln/>
        </p:spPr>
        <p:txBody>
          <a:bodyPr wrap="square" lIns="0" tIns="0" rIns="0" bIns="0" rtlCol="0" anchor="ctr"/>
          <a:lstStyle/>
          <a:p>
            <a:pPr marL="0" indent="0" algn="l">
              <a:buNone/>
            </a:pPr>
            <a:r>
              <a:rPr lang="en-US" sz="1500" b="1" dirty="0">
                <a:solidFill>
                  <a:schemeClr val="accent1"/>
                </a:solidFill>
              </a:rPr>
              <a:t>QA/QC và ATTP</a:t>
            </a:r>
            <a:endParaRPr lang="en-US" sz="1500" dirty="0"/>
          </a:p>
        </p:txBody>
      </p:sp>
      <p:sp>
        <p:nvSpPr>
          <p:cNvPr id="28" name="So nguoi 2"/>
          <p:cNvSpPr txBox="1"/>
          <p:nvPr/>
        </p:nvSpPr>
        <p:spPr>
          <a:xfrm>
            <a:off x="6359652" y="2587752"/>
            <a:ext cx="2286000" cy="256032"/>
          </a:xfrm>
          <a:prstGeom prst="rect">
            <a:avLst/>
          </a:prstGeom>
          <a:noFill/>
          <a:ln/>
        </p:spPr>
        <p:txBody>
          <a:bodyPr wrap="square" lIns="0" tIns="0" rIns="0" bIns="0" rtlCol="0" anchor="t"/>
          <a:lstStyle/>
          <a:p>
            <a:pPr marL="0" indent="0" algn="l">
              <a:buNone/>
            </a:pPr>
            <a:r>
              <a:rPr lang="en-US" sz="1400" b="1" dirty="0">
                <a:solidFill>
                  <a:schemeClr val="accent6"/>
                </a:solidFill>
              </a:rPr>
              <a:t>3–4 người</a:t>
            </a:r>
            <a:endParaRPr lang="en-US" sz="1400" dirty="0"/>
          </a:p>
        </p:txBody>
      </p:sp>
      <p:sp>
        <p:nvSpPr>
          <p:cNvPr id="29" name="Vai tro 2"/>
          <p:cNvSpPr txBox="1"/>
          <p:nvPr/>
        </p:nvSpPr>
        <p:spPr>
          <a:xfrm>
            <a:off x="6359652" y="2898648"/>
            <a:ext cx="2304288" cy="658368"/>
          </a:xfrm>
          <a:prstGeom prst="rect">
            <a:avLst/>
          </a:prstGeom>
          <a:noFill/>
          <a:ln/>
        </p:spPr>
        <p:txBody>
          <a:bodyPr wrap="square" lIns="0" tIns="0" rIns="0" bIns="0" rtlCol="0" anchor="t"/>
          <a:lstStyle/>
          <a:p>
            <a:pPr marL="0" indent="0" algn="l">
              <a:buNone/>
            </a:pPr>
            <a:r>
              <a:rPr lang="en-US" sz="1400" dirty="0">
                <a:solidFill>
                  <a:schemeClr val="tx1"/>
                </a:solidFill>
              </a:rPr>
              <a:t>Trưởng QA (từ GĐ1), nhóm HACCP, nhân viên QC</a:t>
            </a:r>
            <a:endParaRPr lang="en-US" sz="1400" dirty="0"/>
          </a:p>
        </p:txBody>
      </p:sp>
      <p:sp>
        <p:nvSpPr>
          <p:cNvPr id="30" name="Phong ban 3"/>
          <p:cNvSpPr/>
          <p:nvPr/>
        </p:nvSpPr>
        <p:spPr>
          <a:xfrm>
            <a:off x="9006840" y="1783080"/>
            <a:ext cx="2615184" cy="1828800"/>
          </a:xfrm>
          <a:prstGeom prst="roundRect">
            <a:avLst>
              <a:gd name="adj" fmla="val 6000"/>
            </a:avLst>
          </a:prstGeom>
          <a:solidFill>
            <a:schemeClr val="bg2"/>
          </a:solidFill>
          <a:ln/>
        </p:spPr>
      </p:sp>
      <p:pic>
        <p:nvPicPr>
          <p:cNvPr id="31" name="Bieu tuong PB 3" descr="Vùng nguyên liệu và TXNG"/>
          <p:cNvPicPr>
            <a:picLocks noChangeAspect="1"/>
          </p:cNvPicPr>
          <p:nvPr/>
        </p:nvPicPr>
        <p:blipFill>
          <a:blip r:embed="rId5"/>
          <a:stretch>
            <a:fillRect/>
          </a:stretch>
        </p:blipFill>
        <p:spPr>
          <a:xfrm>
            <a:off x="9171432" y="1947672"/>
            <a:ext cx="502920" cy="502920"/>
          </a:xfrm>
          <a:prstGeom prst="rect">
            <a:avLst/>
          </a:prstGeom>
        </p:spPr>
      </p:pic>
      <p:sp>
        <p:nvSpPr>
          <p:cNvPr id="32" name="Ten PB 3"/>
          <p:cNvSpPr txBox="1"/>
          <p:nvPr/>
        </p:nvSpPr>
        <p:spPr>
          <a:xfrm>
            <a:off x="9784080" y="1920240"/>
            <a:ext cx="1737360" cy="548640"/>
          </a:xfrm>
          <a:prstGeom prst="rect">
            <a:avLst/>
          </a:prstGeom>
          <a:noFill/>
          <a:ln/>
        </p:spPr>
        <p:txBody>
          <a:bodyPr wrap="square" lIns="0" tIns="0" rIns="0" bIns="0" rtlCol="0" anchor="ctr"/>
          <a:lstStyle/>
          <a:p>
            <a:pPr marL="0" indent="0" algn="l">
              <a:buNone/>
            </a:pPr>
            <a:r>
              <a:rPr lang="en-US" sz="1500" b="1" dirty="0">
                <a:solidFill>
                  <a:schemeClr val="accent1"/>
                </a:solidFill>
              </a:rPr>
              <a:t>Vùng nguyên liệu và TXNG</a:t>
            </a:r>
            <a:endParaRPr lang="en-US" sz="1500" dirty="0"/>
          </a:p>
        </p:txBody>
      </p:sp>
      <p:sp>
        <p:nvSpPr>
          <p:cNvPr id="33" name="So nguoi 3"/>
          <p:cNvSpPr txBox="1"/>
          <p:nvPr/>
        </p:nvSpPr>
        <p:spPr>
          <a:xfrm>
            <a:off x="9171432" y="2587752"/>
            <a:ext cx="2286000" cy="256032"/>
          </a:xfrm>
          <a:prstGeom prst="rect">
            <a:avLst/>
          </a:prstGeom>
          <a:noFill/>
          <a:ln/>
        </p:spPr>
        <p:txBody>
          <a:bodyPr wrap="square" lIns="0" tIns="0" rIns="0" bIns="0" rtlCol="0" anchor="t"/>
          <a:lstStyle/>
          <a:p>
            <a:pPr marL="0" indent="0" algn="l">
              <a:buNone/>
            </a:pPr>
            <a:r>
              <a:rPr lang="en-US" sz="1400" b="1" dirty="0">
                <a:solidFill>
                  <a:schemeClr val="accent6"/>
                </a:solidFill>
              </a:rPr>
              <a:t>3–5 người</a:t>
            </a:r>
            <a:endParaRPr lang="en-US" sz="1400" dirty="0"/>
          </a:p>
        </p:txBody>
      </p:sp>
      <p:sp>
        <p:nvSpPr>
          <p:cNvPr id="34" name="Vai tro 3"/>
          <p:cNvSpPr txBox="1"/>
          <p:nvPr/>
        </p:nvSpPr>
        <p:spPr>
          <a:xfrm>
            <a:off x="9171432" y="2898648"/>
            <a:ext cx="2304288" cy="658368"/>
          </a:xfrm>
          <a:prstGeom prst="rect">
            <a:avLst/>
          </a:prstGeom>
          <a:noFill/>
          <a:ln/>
        </p:spPr>
        <p:txBody>
          <a:bodyPr wrap="square" lIns="0" tIns="0" rIns="0" bIns="0" rtlCol="0" anchor="t"/>
          <a:lstStyle/>
          <a:p>
            <a:pPr marL="0" indent="0" algn="l">
              <a:buNone/>
            </a:pPr>
            <a:r>
              <a:rPr lang="en-US" sz="1400" dirty="0">
                <a:solidFill>
                  <a:schemeClr val="tx1"/>
                </a:solidFill>
              </a:rPr>
              <a:t>Kỹ thuật viên, thu mua, nhập dữ liệu TXNG</a:t>
            </a:r>
            <a:endParaRPr lang="en-US" sz="1400" dirty="0"/>
          </a:p>
        </p:txBody>
      </p:sp>
      <p:sp>
        <p:nvSpPr>
          <p:cNvPr id="35" name="Phong ban 4"/>
          <p:cNvSpPr/>
          <p:nvPr/>
        </p:nvSpPr>
        <p:spPr>
          <a:xfrm>
            <a:off x="3383280" y="3767328"/>
            <a:ext cx="2615184" cy="1828800"/>
          </a:xfrm>
          <a:prstGeom prst="roundRect">
            <a:avLst>
              <a:gd name="adj" fmla="val 6000"/>
            </a:avLst>
          </a:prstGeom>
          <a:solidFill>
            <a:schemeClr val="bg2"/>
          </a:solidFill>
          <a:ln/>
        </p:spPr>
      </p:sp>
      <p:pic>
        <p:nvPicPr>
          <p:cNvPr id="36" name="Bieu tuong PB 4" descr="Kho và logistics"/>
          <p:cNvPicPr>
            <a:picLocks noChangeAspect="1"/>
          </p:cNvPicPr>
          <p:nvPr/>
        </p:nvPicPr>
        <p:blipFill>
          <a:blip r:embed="rId6"/>
          <a:stretch>
            <a:fillRect/>
          </a:stretch>
        </p:blipFill>
        <p:spPr>
          <a:xfrm>
            <a:off x="3547872" y="3931920"/>
            <a:ext cx="502920" cy="502920"/>
          </a:xfrm>
          <a:prstGeom prst="rect">
            <a:avLst/>
          </a:prstGeom>
        </p:spPr>
      </p:pic>
      <p:sp>
        <p:nvSpPr>
          <p:cNvPr id="37" name="Ten PB 4"/>
          <p:cNvSpPr txBox="1"/>
          <p:nvPr/>
        </p:nvSpPr>
        <p:spPr>
          <a:xfrm>
            <a:off x="4160520" y="3904488"/>
            <a:ext cx="1737360" cy="548640"/>
          </a:xfrm>
          <a:prstGeom prst="rect">
            <a:avLst/>
          </a:prstGeom>
          <a:noFill/>
          <a:ln/>
        </p:spPr>
        <p:txBody>
          <a:bodyPr wrap="square" lIns="0" tIns="0" rIns="0" bIns="0" rtlCol="0" anchor="ctr"/>
          <a:lstStyle/>
          <a:p>
            <a:pPr marL="0" indent="0" algn="l">
              <a:buNone/>
            </a:pPr>
            <a:r>
              <a:rPr lang="en-US" sz="1500" b="1" dirty="0">
                <a:solidFill>
                  <a:schemeClr val="accent1"/>
                </a:solidFill>
              </a:rPr>
              <a:t>Kho và logistics</a:t>
            </a:r>
            <a:endParaRPr lang="en-US" sz="1500" dirty="0"/>
          </a:p>
        </p:txBody>
      </p:sp>
      <p:sp>
        <p:nvSpPr>
          <p:cNvPr id="38" name="So nguoi 4"/>
          <p:cNvSpPr txBox="1"/>
          <p:nvPr/>
        </p:nvSpPr>
        <p:spPr>
          <a:xfrm>
            <a:off x="3547872" y="4572000"/>
            <a:ext cx="2286000" cy="256032"/>
          </a:xfrm>
          <a:prstGeom prst="rect">
            <a:avLst/>
          </a:prstGeom>
          <a:noFill/>
          <a:ln/>
        </p:spPr>
        <p:txBody>
          <a:bodyPr wrap="square" lIns="0" tIns="0" rIns="0" bIns="0" rtlCol="0" anchor="t"/>
          <a:lstStyle/>
          <a:p>
            <a:pPr marL="0" indent="0" algn="l">
              <a:buNone/>
            </a:pPr>
            <a:r>
              <a:rPr lang="en-US" sz="1400" b="1" dirty="0">
                <a:solidFill>
                  <a:schemeClr val="accent6"/>
                </a:solidFill>
              </a:rPr>
              <a:t>2–3 người</a:t>
            </a:r>
            <a:endParaRPr lang="en-US" sz="1400" dirty="0"/>
          </a:p>
        </p:txBody>
      </p:sp>
      <p:sp>
        <p:nvSpPr>
          <p:cNvPr id="39" name="Vai tro 4"/>
          <p:cNvSpPr txBox="1"/>
          <p:nvPr/>
        </p:nvSpPr>
        <p:spPr>
          <a:xfrm>
            <a:off x="3547872" y="4882896"/>
            <a:ext cx="2304288" cy="658368"/>
          </a:xfrm>
          <a:prstGeom prst="rect">
            <a:avLst/>
          </a:prstGeom>
          <a:noFill/>
          <a:ln/>
        </p:spPr>
        <p:txBody>
          <a:bodyPr wrap="square" lIns="0" tIns="0" rIns="0" bIns="0" rtlCol="0" anchor="t"/>
          <a:lstStyle/>
          <a:p>
            <a:pPr marL="0" indent="0" algn="l">
              <a:buNone/>
            </a:pPr>
            <a:r>
              <a:rPr lang="en-US" sz="1400" dirty="0">
                <a:solidFill>
                  <a:schemeClr val="tx1"/>
                </a:solidFill>
              </a:rPr>
              <a:t>Thủ kho, FIFO/FEFO, điều phối xuất hàng</a:t>
            </a:r>
            <a:endParaRPr lang="en-US" sz="1400" dirty="0"/>
          </a:p>
        </p:txBody>
      </p:sp>
      <p:sp>
        <p:nvSpPr>
          <p:cNvPr id="40" name="Phong ban 5"/>
          <p:cNvSpPr/>
          <p:nvPr/>
        </p:nvSpPr>
        <p:spPr>
          <a:xfrm>
            <a:off x="6195060" y="3767328"/>
            <a:ext cx="2615184" cy="1828800"/>
          </a:xfrm>
          <a:prstGeom prst="roundRect">
            <a:avLst>
              <a:gd name="adj" fmla="val 6000"/>
            </a:avLst>
          </a:prstGeom>
          <a:solidFill>
            <a:schemeClr val="bg2"/>
          </a:solidFill>
          <a:ln/>
        </p:spPr>
      </p:sp>
      <p:pic>
        <p:nvPicPr>
          <p:cNvPr id="41" name="Bieu tuong PB 5" descr="Xuất nhập khẩu và thị trường"/>
          <p:cNvPicPr>
            <a:picLocks noChangeAspect="1"/>
          </p:cNvPicPr>
          <p:nvPr/>
        </p:nvPicPr>
        <p:blipFill>
          <a:blip r:embed="rId7"/>
          <a:stretch>
            <a:fillRect/>
          </a:stretch>
        </p:blipFill>
        <p:spPr>
          <a:xfrm>
            <a:off x="6359652" y="3931920"/>
            <a:ext cx="502920" cy="502920"/>
          </a:xfrm>
          <a:prstGeom prst="rect">
            <a:avLst/>
          </a:prstGeom>
        </p:spPr>
      </p:pic>
      <p:sp>
        <p:nvSpPr>
          <p:cNvPr id="42" name="Ten PB 5"/>
          <p:cNvSpPr txBox="1"/>
          <p:nvPr/>
        </p:nvSpPr>
        <p:spPr>
          <a:xfrm>
            <a:off x="6972300" y="3904488"/>
            <a:ext cx="1737360" cy="548640"/>
          </a:xfrm>
          <a:prstGeom prst="rect">
            <a:avLst/>
          </a:prstGeom>
          <a:noFill/>
          <a:ln/>
        </p:spPr>
        <p:txBody>
          <a:bodyPr wrap="square" lIns="0" tIns="0" rIns="0" bIns="0" rtlCol="0" anchor="ctr"/>
          <a:lstStyle/>
          <a:p>
            <a:pPr marL="0" indent="0" algn="l">
              <a:buNone/>
            </a:pPr>
            <a:r>
              <a:rPr lang="en-US" sz="1500" b="1" dirty="0">
                <a:solidFill>
                  <a:schemeClr val="accent1"/>
                </a:solidFill>
              </a:rPr>
              <a:t>Xuất nhập khẩu và thị trường</a:t>
            </a:r>
            <a:endParaRPr lang="en-US" sz="1500" dirty="0"/>
          </a:p>
        </p:txBody>
      </p:sp>
      <p:sp>
        <p:nvSpPr>
          <p:cNvPr id="43" name="So nguoi 5"/>
          <p:cNvSpPr txBox="1"/>
          <p:nvPr/>
        </p:nvSpPr>
        <p:spPr>
          <a:xfrm>
            <a:off x="6359652" y="4572000"/>
            <a:ext cx="2286000" cy="256032"/>
          </a:xfrm>
          <a:prstGeom prst="rect">
            <a:avLst/>
          </a:prstGeom>
          <a:noFill/>
          <a:ln/>
        </p:spPr>
        <p:txBody>
          <a:bodyPr wrap="square" lIns="0" tIns="0" rIns="0" bIns="0" rtlCol="0" anchor="t"/>
          <a:lstStyle/>
          <a:p>
            <a:pPr marL="0" indent="0" algn="l">
              <a:buNone/>
            </a:pPr>
            <a:r>
              <a:rPr lang="en-US" sz="1400" b="1" dirty="0">
                <a:solidFill>
                  <a:schemeClr val="accent6"/>
                </a:solidFill>
              </a:rPr>
              <a:t>3–4 người</a:t>
            </a:r>
            <a:endParaRPr lang="en-US" sz="1400" dirty="0"/>
          </a:p>
        </p:txBody>
      </p:sp>
      <p:sp>
        <p:nvSpPr>
          <p:cNvPr id="44" name="Vai tro 5"/>
          <p:cNvSpPr txBox="1"/>
          <p:nvPr/>
        </p:nvSpPr>
        <p:spPr>
          <a:xfrm>
            <a:off x="6359652" y="4882896"/>
            <a:ext cx="2304288" cy="658368"/>
          </a:xfrm>
          <a:prstGeom prst="rect">
            <a:avLst/>
          </a:prstGeom>
          <a:noFill/>
          <a:ln/>
        </p:spPr>
        <p:txBody>
          <a:bodyPr wrap="square" lIns="0" tIns="0" rIns="0" bIns="0" rtlCol="0" anchor="t"/>
          <a:lstStyle/>
          <a:p>
            <a:pPr marL="0" indent="0" algn="l">
              <a:buNone/>
            </a:pPr>
            <a:r>
              <a:rPr lang="en-US" sz="1400" dirty="0">
                <a:solidFill>
                  <a:schemeClr val="tx1"/>
                </a:solidFill>
              </a:rPr>
              <a:t>Quản lý xuất khẩu (từ GĐ2), chứng từ, thương hiệu</a:t>
            </a:r>
            <a:endParaRPr lang="en-US" sz="1400" dirty="0"/>
          </a:p>
        </p:txBody>
      </p:sp>
      <p:sp>
        <p:nvSpPr>
          <p:cNvPr id="45" name="Phong ban 6"/>
          <p:cNvSpPr/>
          <p:nvPr/>
        </p:nvSpPr>
        <p:spPr>
          <a:xfrm>
            <a:off x="9006840" y="3767328"/>
            <a:ext cx="2615184" cy="1828800"/>
          </a:xfrm>
          <a:prstGeom prst="roundRect">
            <a:avLst>
              <a:gd name="adj" fmla="val 6000"/>
            </a:avLst>
          </a:prstGeom>
          <a:solidFill>
            <a:schemeClr val="bg2"/>
          </a:solidFill>
          <a:ln/>
        </p:spPr>
      </p:sp>
      <p:pic>
        <p:nvPicPr>
          <p:cNvPr id="46" name="Bieu tuong PB 6" descr="Hành chính, kế toán"/>
          <p:cNvPicPr>
            <a:picLocks noChangeAspect="1"/>
          </p:cNvPicPr>
          <p:nvPr/>
        </p:nvPicPr>
        <p:blipFill>
          <a:blip r:embed="rId8"/>
          <a:stretch>
            <a:fillRect/>
          </a:stretch>
        </p:blipFill>
        <p:spPr>
          <a:xfrm>
            <a:off x="9171432" y="3931920"/>
            <a:ext cx="502920" cy="502920"/>
          </a:xfrm>
          <a:prstGeom prst="rect">
            <a:avLst/>
          </a:prstGeom>
        </p:spPr>
      </p:pic>
      <p:sp>
        <p:nvSpPr>
          <p:cNvPr id="47" name="Ten PB 6"/>
          <p:cNvSpPr txBox="1"/>
          <p:nvPr/>
        </p:nvSpPr>
        <p:spPr>
          <a:xfrm>
            <a:off x="9784080" y="3904488"/>
            <a:ext cx="1737360" cy="548640"/>
          </a:xfrm>
          <a:prstGeom prst="rect">
            <a:avLst/>
          </a:prstGeom>
          <a:noFill/>
          <a:ln/>
        </p:spPr>
        <p:txBody>
          <a:bodyPr wrap="square" lIns="0" tIns="0" rIns="0" bIns="0" rtlCol="0" anchor="ctr"/>
          <a:lstStyle/>
          <a:p>
            <a:pPr marL="0" indent="0" algn="l">
              <a:buNone/>
            </a:pPr>
            <a:r>
              <a:rPr lang="en-US" sz="1500" b="1" dirty="0">
                <a:solidFill>
                  <a:schemeClr val="accent1"/>
                </a:solidFill>
              </a:rPr>
              <a:t>Hành chính, kế toán</a:t>
            </a:r>
            <a:endParaRPr lang="en-US" sz="1500" dirty="0"/>
          </a:p>
        </p:txBody>
      </p:sp>
      <p:sp>
        <p:nvSpPr>
          <p:cNvPr id="48" name="So nguoi 6"/>
          <p:cNvSpPr txBox="1"/>
          <p:nvPr/>
        </p:nvSpPr>
        <p:spPr>
          <a:xfrm>
            <a:off x="9171432" y="4572000"/>
            <a:ext cx="2286000" cy="256032"/>
          </a:xfrm>
          <a:prstGeom prst="rect">
            <a:avLst/>
          </a:prstGeom>
          <a:noFill/>
          <a:ln/>
        </p:spPr>
        <p:txBody>
          <a:bodyPr wrap="square" lIns="0" tIns="0" rIns="0" bIns="0" rtlCol="0" anchor="t"/>
          <a:lstStyle/>
          <a:p>
            <a:pPr marL="0" indent="0" algn="l">
              <a:buNone/>
            </a:pPr>
            <a:r>
              <a:rPr lang="en-US" sz="1400" b="1" dirty="0">
                <a:solidFill>
                  <a:schemeClr val="accent6"/>
                </a:solidFill>
              </a:rPr>
              <a:t>2–3 người</a:t>
            </a:r>
            <a:endParaRPr lang="en-US" sz="1400" dirty="0"/>
          </a:p>
        </p:txBody>
      </p:sp>
      <p:sp>
        <p:nvSpPr>
          <p:cNvPr id="49" name="Vai tro 6"/>
          <p:cNvSpPr txBox="1"/>
          <p:nvPr/>
        </p:nvSpPr>
        <p:spPr>
          <a:xfrm>
            <a:off x="9171432" y="4882896"/>
            <a:ext cx="2304288" cy="658368"/>
          </a:xfrm>
          <a:prstGeom prst="rect">
            <a:avLst/>
          </a:prstGeom>
          <a:noFill/>
          <a:ln/>
        </p:spPr>
        <p:txBody>
          <a:bodyPr wrap="square" lIns="0" tIns="0" rIns="0" bIns="0" rtlCol="0" anchor="t"/>
          <a:lstStyle/>
          <a:p>
            <a:pPr marL="0" indent="0" algn="l">
              <a:buNone/>
            </a:pPr>
            <a:r>
              <a:rPr lang="en-US" sz="1400" dirty="0">
                <a:solidFill>
                  <a:schemeClr val="tx1"/>
                </a:solidFill>
              </a:rPr>
              <a:t>Nhân sự, kế toán, mua sắm, hồ sơ pháp lý</a:t>
            </a:r>
            <a:endParaRPr lang="en-US" sz="1400" dirty="0"/>
          </a:p>
        </p:txBody>
      </p:sp>
      <p:sp>
        <p:nvSpPr>
          <p:cNvPr id="50" name="Khung tong hop"/>
          <p:cNvSpPr/>
          <p:nvPr/>
        </p:nvSpPr>
        <p:spPr>
          <a:xfrm>
            <a:off x="3383280" y="5669280"/>
            <a:ext cx="8257032" cy="512064"/>
          </a:xfrm>
          <a:prstGeom prst="roundRect">
            <a:avLst>
              <a:gd name="adj" fmla="val 21429"/>
            </a:avLst>
          </a:prstGeom>
          <a:solidFill>
            <a:srgbClr val="FBF1D8"/>
          </a:solidFill>
          <a:ln/>
        </p:spPr>
      </p:sp>
      <p:sp>
        <p:nvSpPr>
          <p:cNvPr id="51" name="Chu tong hop"/>
          <p:cNvSpPr txBox="1"/>
          <p:nvPr/>
        </p:nvSpPr>
        <p:spPr>
          <a:xfrm>
            <a:off x="3520440" y="5669280"/>
            <a:ext cx="8046720" cy="512064"/>
          </a:xfrm>
          <a:prstGeom prst="rect">
            <a:avLst/>
          </a:prstGeom>
          <a:noFill/>
          <a:ln/>
        </p:spPr>
        <p:txBody>
          <a:bodyPr wrap="square" lIns="0" tIns="0" rIns="0" bIns="0" rtlCol="0" anchor="ctr"/>
          <a:lstStyle/>
          <a:p>
            <a:pPr marL="0" indent="0" algn="l">
              <a:buNone/>
            </a:pPr>
            <a:r>
              <a:rPr lang="en-US" sz="1400" b="1" dirty="0">
                <a:solidFill>
                  <a:schemeClr val="tx1"/>
                </a:solidFill>
              </a:rPr>
              <a:t>Đủ toàn chuỗi: 28–40 người, </a:t>
            </a:r>
            <a:r>
              <a:rPr lang="en-US" sz="1400" dirty="0">
                <a:solidFill>
                  <a:schemeClr val="tx1"/>
                </a:solidFill>
              </a:rPr>
              <a:t>dựng dần 9–12 → 19–27 → 25–35 → 28–40 qua 4 giai đoạn. Bắt buộc có HACCP, đánh giá viên nội bộ, khám sức khỏe, tập huấn ATTP.</a:t>
            </a:r>
            <a:endParaRPr lang="en-US" sz="1400" dirty="0"/>
          </a:p>
        </p:txBody>
      </p:sp>
      <p:sp>
        <p:nvSpPr>
          <p:cNvPr id="52" name="Nguon"/>
          <p:cNvSpPr txBox="1"/>
          <p:nvPr/>
        </p:nvSpPr>
        <p:spPr>
          <a:xfrm>
            <a:off x="548640" y="6217920"/>
            <a:ext cx="11094415" cy="201168"/>
          </a:xfrm>
          <a:prstGeom prst="rect">
            <a:avLst/>
          </a:prstGeom>
          <a:noFill/>
          <a:ln/>
        </p:spPr>
        <p:txBody>
          <a:bodyPr wrap="square" lIns="0" tIns="0" rIns="0" bIns="0" rtlCol="0" anchor="t"/>
          <a:lstStyle/>
          <a:p>
            <a:pPr marL="0" indent="0" algn="l">
              <a:buNone/>
            </a:pPr>
            <a:r>
              <a:rPr lang="en-US" sz="1000" dirty="0">
                <a:solidFill>
                  <a:srgbClr val="5C6F66"/>
                </a:solidFill>
              </a:rPr>
              <a:t>Ước tính của tư vấn. Tham chiếu công khai duy nhất: khoảng 20 lao động thường xuyên tại Green Tropical (sầu riêng sấy thăng hoa, Báo Gia Lai 2025).</a:t>
            </a:r>
            <a:endParaRPr lang="en-US" sz="1000" dirty="0"/>
          </a:p>
        </p:txBody>
      </p:sp>
      <p:sp>
        <p:nvSpPr>
          <p:cNvPr id="2" name="Slide Number Placeholder 0"/>
          <p:cNvSpPr>
            <a:spLocks noGrp="1"/>
          </p:cNvSpPr>
          <p:nvPr>
            <p:ph type="sldNum" sz="quarter" idx="4294967295"/>
          </p:nvPr>
        </p:nvSpPr>
        <p:spPr>
          <a:xfrm>
            <a:off x="10972800" y="6492240"/>
            <a:ext cx="667512" cy="237744"/>
          </a:xfrm>
          <a:prstGeom prst="rect">
            <a:avLst/>
          </a:prstGeom>
          <a:extLst>
            <a:ext uri="{C572A759-6A51-4108-AA02-DFA0A04FC94B}">
              <ma14:wrappingTextBoxFlag xmlns:ma14="http://schemas.microsoft.com/office/mac/drawingml/2011/main" xmlns="" val="0"/>
            </a:ext>
          </a:extLst>
        </p:spPr>
        <p:txBody>
          <a:bodyPr/>
          <a:lstStyle>
            <a:lvl1pPr>
              <a:defRPr sz="1000">
                <a:solidFill>
                  <a:srgbClr val="5C6F66"/>
                </a:solidFill>
              </a:defRPr>
            </a:lvl1pPr>
          </a:lstStyle>
          <a:p>
            <a:pPr algn="r"/>
            <a:fld id="{F7021451-1387-4CA6-816F-3879F97B5CBC}" type="slidenum">
              <a:rPr lang="en-US" b="0"/>
              <a:t>12</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Dau cham"/>
          <p:cNvSpPr/>
          <p:nvPr/>
        </p:nvSpPr>
        <p:spPr>
          <a:xfrm>
            <a:off x="548640" y="429768"/>
            <a:ext cx="118872" cy="118872"/>
          </a:xfrm>
          <a:prstGeom prst="ellipse">
            <a:avLst/>
          </a:prstGeom>
          <a:solidFill>
            <a:schemeClr val="accent2"/>
          </a:solidFill>
          <a:ln/>
        </p:spPr>
      </p:sp>
      <p:sp>
        <p:nvSpPr>
          <p:cNvPr id="4" name="Nhan chuyen muc"/>
          <p:cNvSpPr txBox="1"/>
          <p:nvPr/>
        </p:nvSpPr>
        <p:spPr>
          <a:xfrm>
            <a:off x="777240" y="347472"/>
            <a:ext cx="6949440" cy="274320"/>
          </a:xfrm>
          <a:prstGeom prst="rect">
            <a:avLst/>
          </a:prstGeom>
          <a:noFill/>
          <a:ln/>
        </p:spPr>
        <p:txBody>
          <a:bodyPr wrap="square" lIns="0" tIns="0" rIns="0" bIns="0" rtlCol="0" anchor="ctr"/>
          <a:lstStyle/>
          <a:p>
            <a:pPr marL="0" indent="0" algn="l">
              <a:buNone/>
            </a:pPr>
            <a:r>
              <a:rPr lang="en-US" sz="1200" b="1" kern="0" spc="200" dirty="0">
                <a:solidFill>
                  <a:schemeClr val="accent1"/>
                </a:solidFill>
              </a:rPr>
              <a:t>TRỤ CỘT 3 · NGUYÊN LIỆU VÀ TRUY XUẤT</a:t>
            </a:r>
            <a:endParaRPr lang="en-US" sz="1200" dirty="0"/>
          </a:p>
        </p:txBody>
      </p:sp>
      <p:sp>
        <p:nvSpPr>
          <p:cNvPr id="5" name="Nhan giai doan"/>
          <p:cNvSpPr txBox="1"/>
          <p:nvPr/>
        </p:nvSpPr>
        <p:spPr>
          <a:xfrm>
            <a:off x="8835847" y="347472"/>
            <a:ext cx="868680" cy="274320"/>
          </a:xfrm>
          <a:prstGeom prst="rect">
            <a:avLst/>
          </a:prstGeom>
          <a:noFill/>
          <a:ln/>
        </p:spPr>
        <p:txBody>
          <a:bodyPr wrap="square" lIns="0" tIns="0" rIns="0" bIns="0" rtlCol="0" anchor="ctr"/>
          <a:lstStyle/>
          <a:p>
            <a:pPr marL="0" indent="0" algn="r">
              <a:buNone/>
            </a:pPr>
            <a:r>
              <a:rPr lang="en-US" sz="1200" dirty="0">
                <a:solidFill>
                  <a:srgbClr val="5C6F66"/>
                </a:solidFill>
              </a:rPr>
              <a:t>Thực hiện ở</a:t>
            </a:r>
            <a:endParaRPr lang="en-US" sz="1200" dirty="0"/>
          </a:p>
        </p:txBody>
      </p:sp>
      <p:sp>
        <p:nvSpPr>
          <p:cNvPr id="6" name="Giai doan 1"/>
          <p:cNvSpPr/>
          <p:nvPr/>
        </p:nvSpPr>
        <p:spPr>
          <a:xfrm>
            <a:off x="9795967" y="356616"/>
            <a:ext cx="566928" cy="256032"/>
          </a:xfrm>
          <a:prstGeom prst="roundRect">
            <a:avLst>
              <a:gd name="adj" fmla="val 21429"/>
            </a:avLst>
          </a:prstGeom>
          <a:solidFill>
            <a:srgbClr val="5E9E68"/>
          </a:solidFill>
          <a:ln/>
        </p:spPr>
      </p:sp>
      <p:sp>
        <p:nvSpPr>
          <p:cNvPr id="7" name="Chu giai doan 1"/>
          <p:cNvSpPr txBox="1"/>
          <p:nvPr/>
        </p:nvSpPr>
        <p:spPr>
          <a:xfrm>
            <a:off x="9795967" y="356616"/>
            <a:ext cx="566928" cy="256032"/>
          </a:xfrm>
          <a:prstGeom prst="rect">
            <a:avLst/>
          </a:prstGeom>
          <a:noFill/>
          <a:ln/>
        </p:spPr>
        <p:txBody>
          <a:bodyPr wrap="square" lIns="0" tIns="0" rIns="0" bIns="0" rtlCol="0" anchor="ctr"/>
          <a:lstStyle/>
          <a:p>
            <a:pPr marL="0" indent="0" algn="ctr">
              <a:buNone/>
            </a:pPr>
            <a:r>
              <a:rPr lang="en-US" sz="1200" b="1" dirty="0">
                <a:solidFill>
                  <a:srgbClr val="1B2B24"/>
                </a:solidFill>
              </a:rPr>
              <a:t>GĐ1</a:t>
            </a:r>
            <a:endParaRPr lang="en-US" sz="1200" dirty="0"/>
          </a:p>
        </p:txBody>
      </p:sp>
      <p:sp>
        <p:nvSpPr>
          <p:cNvPr id="8" name="Giai doan 2"/>
          <p:cNvSpPr/>
          <p:nvPr/>
        </p:nvSpPr>
        <p:spPr>
          <a:xfrm>
            <a:off x="10436047" y="356616"/>
            <a:ext cx="566928" cy="256032"/>
          </a:xfrm>
          <a:prstGeom prst="roundRect">
            <a:avLst>
              <a:gd name="adj" fmla="val 21429"/>
            </a:avLst>
          </a:prstGeom>
          <a:solidFill>
            <a:srgbClr val="1D4B3A"/>
          </a:solidFill>
          <a:ln/>
        </p:spPr>
      </p:sp>
      <p:sp>
        <p:nvSpPr>
          <p:cNvPr id="9" name="Chu giai doan 2"/>
          <p:cNvSpPr txBox="1"/>
          <p:nvPr/>
        </p:nvSpPr>
        <p:spPr>
          <a:xfrm>
            <a:off x="10436047" y="356616"/>
            <a:ext cx="566928" cy="256032"/>
          </a:xfrm>
          <a:prstGeom prst="rect">
            <a:avLst/>
          </a:prstGeom>
          <a:noFill/>
          <a:ln/>
        </p:spPr>
        <p:txBody>
          <a:bodyPr wrap="square" lIns="0" tIns="0" rIns="0" bIns="0" rtlCol="0" anchor="ctr"/>
          <a:lstStyle/>
          <a:p>
            <a:pPr marL="0" indent="0" algn="ctr">
              <a:buNone/>
            </a:pPr>
            <a:r>
              <a:rPr lang="en-US" sz="1200" b="1" dirty="0">
                <a:solidFill>
                  <a:srgbClr val="FFFFFF"/>
                </a:solidFill>
              </a:rPr>
              <a:t>GĐ2</a:t>
            </a:r>
            <a:endParaRPr lang="en-US" sz="1200" dirty="0"/>
          </a:p>
        </p:txBody>
      </p:sp>
      <p:sp>
        <p:nvSpPr>
          <p:cNvPr id="10" name="Giai doan 3"/>
          <p:cNvSpPr/>
          <p:nvPr/>
        </p:nvSpPr>
        <p:spPr>
          <a:xfrm>
            <a:off x="11076127" y="356616"/>
            <a:ext cx="566928" cy="256032"/>
          </a:xfrm>
          <a:prstGeom prst="roundRect">
            <a:avLst>
              <a:gd name="adj" fmla="val 21429"/>
            </a:avLst>
          </a:prstGeom>
          <a:solidFill>
            <a:srgbClr val="E4A92A"/>
          </a:solidFill>
          <a:ln/>
        </p:spPr>
      </p:sp>
      <p:sp>
        <p:nvSpPr>
          <p:cNvPr id="11" name="Chu giai doan 3"/>
          <p:cNvSpPr txBox="1"/>
          <p:nvPr/>
        </p:nvSpPr>
        <p:spPr>
          <a:xfrm>
            <a:off x="11076127" y="356616"/>
            <a:ext cx="566928" cy="256032"/>
          </a:xfrm>
          <a:prstGeom prst="rect">
            <a:avLst/>
          </a:prstGeom>
          <a:noFill/>
          <a:ln/>
        </p:spPr>
        <p:txBody>
          <a:bodyPr wrap="square" lIns="0" tIns="0" rIns="0" bIns="0" rtlCol="0" anchor="ctr"/>
          <a:lstStyle/>
          <a:p>
            <a:pPr marL="0" indent="0" algn="ctr">
              <a:buNone/>
            </a:pPr>
            <a:r>
              <a:rPr lang="en-US" sz="1200" b="1" dirty="0">
                <a:solidFill>
                  <a:srgbClr val="1B2B24"/>
                </a:solidFill>
              </a:rPr>
              <a:t>GĐ3</a:t>
            </a:r>
            <a:endParaRPr lang="en-US" sz="1200" dirty="0"/>
          </a:p>
        </p:txBody>
      </p:sp>
      <p:sp>
        <p:nvSpPr>
          <p:cNvPr id="12" name="Text 0"/>
          <p:cNvSpPr>
            <a:spLocks noGrp="1"/>
          </p:cNvSpPr>
          <p:nvPr>
            <p:ph type="title" idx="100" hasCustomPrompt="1"/>
          </p:nvPr>
        </p:nvSpPr>
        <p:spPr>
          <a:xfrm>
            <a:off x="548640" y="658368"/>
            <a:ext cx="11094415" cy="777240"/>
          </a:xfrm>
          <a:prstGeom prst="rect">
            <a:avLst/>
          </a:prstGeom>
          <a:noFill/>
          <a:ln/>
        </p:spPr>
        <p:txBody>
          <a:bodyPr wrap="square" lIns="0" tIns="0" rIns="0" bIns="0" rtlCol="0" anchor="ctr"/>
          <a:lstStyle/>
          <a:p>
            <a:pPr marL="0" indent="0" algn="l">
              <a:buNone/>
            </a:pPr>
            <a:r>
              <a:rPr lang="en-US" sz="3000" b="1" dirty="0">
                <a:solidFill>
                  <a:schemeClr val="tx2"/>
                </a:solidFill>
              </a:rPr>
              <a:t>Chất lượng thành phẩm bắt đầu từ nhà vườn</a:t>
            </a:r>
            <a:endParaRPr lang="en-US" sz="3000" dirty="0"/>
          </a:p>
        </p:txBody>
      </p:sp>
      <p:pic>
        <p:nvPicPr>
          <p:cNvPr id="13" name="Nut 1" descr="Nhà vườn"/>
          <p:cNvPicPr>
            <a:picLocks noChangeAspect="1"/>
          </p:cNvPicPr>
          <p:nvPr/>
        </p:nvPicPr>
        <p:blipFill>
          <a:blip r:embed="rId3"/>
          <a:stretch>
            <a:fillRect/>
          </a:stretch>
        </p:blipFill>
        <p:spPr>
          <a:xfrm>
            <a:off x="1246602" y="1783080"/>
            <a:ext cx="822960" cy="822960"/>
          </a:xfrm>
          <a:prstGeom prst="rect">
            <a:avLst/>
          </a:prstGeom>
        </p:spPr>
      </p:pic>
      <p:sp>
        <p:nvSpPr>
          <p:cNvPr id="14" name="Chu nut 1"/>
          <p:cNvSpPr txBox="1"/>
          <p:nvPr/>
        </p:nvSpPr>
        <p:spPr>
          <a:xfrm>
            <a:off x="606522" y="2697480"/>
            <a:ext cx="2103120" cy="640080"/>
          </a:xfrm>
          <a:prstGeom prst="rect">
            <a:avLst/>
          </a:prstGeom>
          <a:noFill/>
          <a:ln/>
        </p:spPr>
        <p:txBody>
          <a:bodyPr wrap="square" lIns="0" tIns="0" rIns="0" bIns="0" rtlCol="0" anchor="t"/>
          <a:lstStyle/>
          <a:p>
            <a:pPr marL="0" indent="0" algn="ctr">
              <a:buNone/>
            </a:pPr>
            <a:r>
              <a:rPr lang="en-US" sz="1400" b="1" dirty="0">
                <a:solidFill>
                  <a:schemeClr val="accent1"/>
                </a:solidFill>
              </a:rPr>
              <a:t>Nhà vườn</a:t>
            </a:r>
            <a:endParaRPr lang="en-US" sz="1400" dirty="0"/>
          </a:p>
          <a:p>
            <a:pPr marL="0" indent="0" algn="ctr">
              <a:buNone/>
            </a:pPr>
            <a:r>
              <a:rPr lang="en-US" sz="1400" dirty="0">
                <a:solidFill>
                  <a:schemeClr val="tx1"/>
                </a:solidFill>
              </a:rPr>
              <a:t>đạt chuẩn, có nhật ký</a:t>
            </a:r>
            <a:endParaRPr lang="en-US" sz="1400" dirty="0"/>
          </a:p>
        </p:txBody>
      </p:sp>
      <p:sp>
        <p:nvSpPr>
          <p:cNvPr id="15" name="Mui ten 1"/>
          <p:cNvSpPr/>
          <p:nvPr/>
        </p:nvSpPr>
        <p:spPr>
          <a:xfrm>
            <a:off x="2572482" y="2057400"/>
            <a:ext cx="457200" cy="274320"/>
          </a:xfrm>
          <a:prstGeom prst="rightArrow">
            <a:avLst/>
          </a:prstGeom>
          <a:solidFill>
            <a:schemeClr val="accent2"/>
          </a:solidFill>
          <a:ln/>
        </p:spPr>
      </p:sp>
      <p:pic>
        <p:nvPicPr>
          <p:cNvPr id="16" name="Nut 2" descr="Thu mua"/>
          <p:cNvPicPr>
            <a:picLocks noChangeAspect="1"/>
          </p:cNvPicPr>
          <p:nvPr/>
        </p:nvPicPr>
        <p:blipFill>
          <a:blip r:embed="rId4"/>
          <a:stretch>
            <a:fillRect/>
          </a:stretch>
        </p:blipFill>
        <p:spPr>
          <a:xfrm>
            <a:off x="3465485" y="1783080"/>
            <a:ext cx="822960" cy="822960"/>
          </a:xfrm>
          <a:prstGeom prst="rect">
            <a:avLst/>
          </a:prstGeom>
        </p:spPr>
      </p:pic>
      <p:sp>
        <p:nvSpPr>
          <p:cNvPr id="17" name="Chu nut 2"/>
          <p:cNvSpPr txBox="1"/>
          <p:nvPr/>
        </p:nvSpPr>
        <p:spPr>
          <a:xfrm>
            <a:off x="2825405" y="2697480"/>
            <a:ext cx="2103120" cy="640080"/>
          </a:xfrm>
          <a:prstGeom prst="rect">
            <a:avLst/>
          </a:prstGeom>
          <a:noFill/>
          <a:ln/>
        </p:spPr>
        <p:txBody>
          <a:bodyPr wrap="square" lIns="0" tIns="0" rIns="0" bIns="0" rtlCol="0" anchor="t"/>
          <a:lstStyle/>
          <a:p>
            <a:pPr marL="0" indent="0" algn="ctr">
              <a:buNone/>
            </a:pPr>
            <a:r>
              <a:rPr lang="en-US" sz="1400" b="1" dirty="0">
                <a:solidFill>
                  <a:schemeClr val="accent1"/>
                </a:solidFill>
              </a:rPr>
              <a:t>Thu mua</a:t>
            </a:r>
            <a:endParaRPr lang="en-US" sz="1400" dirty="0"/>
          </a:p>
          <a:p>
            <a:pPr marL="0" indent="0" algn="ctr">
              <a:buNone/>
            </a:pPr>
            <a:r>
              <a:rPr lang="en-US" sz="1400" dirty="0">
                <a:solidFill>
                  <a:schemeClr val="tx1"/>
                </a:solidFill>
              </a:rPr>
              <a:t>kiểm dư lượng từng lô</a:t>
            </a:r>
            <a:endParaRPr lang="en-US" sz="1400" dirty="0"/>
          </a:p>
        </p:txBody>
      </p:sp>
      <p:sp>
        <p:nvSpPr>
          <p:cNvPr id="18" name="Mui ten 2"/>
          <p:cNvSpPr/>
          <p:nvPr/>
        </p:nvSpPr>
        <p:spPr>
          <a:xfrm>
            <a:off x="4791365" y="2057400"/>
            <a:ext cx="457200" cy="274320"/>
          </a:xfrm>
          <a:prstGeom prst="rightArrow">
            <a:avLst/>
          </a:prstGeom>
          <a:solidFill>
            <a:schemeClr val="accent2"/>
          </a:solidFill>
          <a:ln/>
        </p:spPr>
      </p:sp>
      <p:pic>
        <p:nvPicPr>
          <p:cNvPr id="19" name="Nut 3" descr="Lô sản xuất"/>
          <p:cNvPicPr>
            <a:picLocks noChangeAspect="1"/>
          </p:cNvPicPr>
          <p:nvPr/>
        </p:nvPicPr>
        <p:blipFill>
          <a:blip r:embed="rId5"/>
          <a:stretch>
            <a:fillRect/>
          </a:stretch>
        </p:blipFill>
        <p:spPr>
          <a:xfrm>
            <a:off x="5684368" y="1783080"/>
            <a:ext cx="822960" cy="822960"/>
          </a:xfrm>
          <a:prstGeom prst="rect">
            <a:avLst/>
          </a:prstGeom>
        </p:spPr>
      </p:pic>
      <p:sp>
        <p:nvSpPr>
          <p:cNvPr id="20" name="Chu nut 3"/>
          <p:cNvSpPr txBox="1"/>
          <p:nvPr/>
        </p:nvSpPr>
        <p:spPr>
          <a:xfrm>
            <a:off x="5044288" y="2697480"/>
            <a:ext cx="2103120" cy="640080"/>
          </a:xfrm>
          <a:prstGeom prst="rect">
            <a:avLst/>
          </a:prstGeom>
          <a:noFill/>
          <a:ln/>
        </p:spPr>
        <p:txBody>
          <a:bodyPr wrap="square" lIns="0" tIns="0" rIns="0" bIns="0" rtlCol="0" anchor="t"/>
          <a:lstStyle/>
          <a:p>
            <a:pPr marL="0" indent="0" algn="ctr">
              <a:buNone/>
            </a:pPr>
            <a:r>
              <a:rPr lang="en-US" sz="1400" b="1" dirty="0">
                <a:solidFill>
                  <a:schemeClr val="accent1"/>
                </a:solidFill>
              </a:rPr>
              <a:t>Lô sản xuất</a:t>
            </a:r>
            <a:endParaRPr lang="en-US" sz="1400" dirty="0"/>
          </a:p>
          <a:p>
            <a:pPr marL="0" indent="0" algn="ctr">
              <a:buNone/>
            </a:pPr>
            <a:r>
              <a:rPr lang="en-US" sz="1400" dirty="0">
                <a:solidFill>
                  <a:schemeClr val="tx1"/>
                </a:solidFill>
              </a:rPr>
              <a:t>gắn mã lô duy nhất</a:t>
            </a:r>
            <a:endParaRPr lang="en-US" sz="1400" dirty="0"/>
          </a:p>
        </p:txBody>
      </p:sp>
      <p:sp>
        <p:nvSpPr>
          <p:cNvPr id="21" name="Mui ten 3"/>
          <p:cNvSpPr/>
          <p:nvPr/>
        </p:nvSpPr>
        <p:spPr>
          <a:xfrm>
            <a:off x="7010248" y="2057400"/>
            <a:ext cx="457200" cy="274320"/>
          </a:xfrm>
          <a:prstGeom prst="rightArrow">
            <a:avLst/>
          </a:prstGeom>
          <a:solidFill>
            <a:schemeClr val="accent2"/>
          </a:solidFill>
          <a:ln/>
        </p:spPr>
      </p:sp>
      <p:pic>
        <p:nvPicPr>
          <p:cNvPr id="22" name="Nut 4" descr="Thành phẩm"/>
          <p:cNvPicPr>
            <a:picLocks noChangeAspect="1"/>
          </p:cNvPicPr>
          <p:nvPr/>
        </p:nvPicPr>
        <p:blipFill>
          <a:blip r:embed="rId6"/>
          <a:stretch>
            <a:fillRect/>
          </a:stretch>
        </p:blipFill>
        <p:spPr>
          <a:xfrm>
            <a:off x="7903251" y="1783080"/>
            <a:ext cx="822960" cy="822960"/>
          </a:xfrm>
          <a:prstGeom prst="rect">
            <a:avLst/>
          </a:prstGeom>
        </p:spPr>
      </p:pic>
      <p:sp>
        <p:nvSpPr>
          <p:cNvPr id="23" name="Chu nut 4"/>
          <p:cNvSpPr txBox="1"/>
          <p:nvPr/>
        </p:nvSpPr>
        <p:spPr>
          <a:xfrm>
            <a:off x="7263171" y="2697480"/>
            <a:ext cx="2103120" cy="640080"/>
          </a:xfrm>
          <a:prstGeom prst="rect">
            <a:avLst/>
          </a:prstGeom>
          <a:noFill/>
          <a:ln/>
        </p:spPr>
        <p:txBody>
          <a:bodyPr wrap="square" lIns="0" tIns="0" rIns="0" bIns="0" rtlCol="0" anchor="t"/>
          <a:lstStyle/>
          <a:p>
            <a:pPr marL="0" indent="0" algn="ctr">
              <a:buNone/>
            </a:pPr>
            <a:r>
              <a:rPr lang="en-US" sz="1400" b="1" dirty="0">
                <a:solidFill>
                  <a:schemeClr val="accent1"/>
                </a:solidFill>
              </a:rPr>
              <a:t>Thành phẩm</a:t>
            </a:r>
            <a:endParaRPr lang="en-US" sz="1400" dirty="0"/>
          </a:p>
          <a:p>
            <a:pPr marL="0" indent="0" algn="ctr">
              <a:buNone/>
            </a:pPr>
            <a:r>
              <a:rPr lang="en-US" sz="1400" dirty="0">
                <a:solidFill>
                  <a:schemeClr val="tx1"/>
                </a:solidFill>
              </a:rPr>
              <a:t>tem QR, mã vạch GS1</a:t>
            </a:r>
            <a:endParaRPr lang="en-US" sz="1400" dirty="0"/>
          </a:p>
        </p:txBody>
      </p:sp>
      <p:sp>
        <p:nvSpPr>
          <p:cNvPr id="24" name="Mui ten 4"/>
          <p:cNvSpPr/>
          <p:nvPr/>
        </p:nvSpPr>
        <p:spPr>
          <a:xfrm>
            <a:off x="9229131" y="2057400"/>
            <a:ext cx="457200" cy="274320"/>
          </a:xfrm>
          <a:prstGeom prst="rightArrow">
            <a:avLst/>
          </a:prstGeom>
          <a:solidFill>
            <a:schemeClr val="accent2"/>
          </a:solidFill>
          <a:ln/>
        </p:spPr>
      </p:sp>
      <p:pic>
        <p:nvPicPr>
          <p:cNvPr id="25" name="Nut 5" descr="Nhà nhập khẩu"/>
          <p:cNvPicPr>
            <a:picLocks noChangeAspect="1"/>
          </p:cNvPicPr>
          <p:nvPr/>
        </p:nvPicPr>
        <p:blipFill>
          <a:blip r:embed="rId7"/>
          <a:stretch>
            <a:fillRect/>
          </a:stretch>
        </p:blipFill>
        <p:spPr>
          <a:xfrm>
            <a:off x="10122134" y="1783080"/>
            <a:ext cx="822960" cy="822960"/>
          </a:xfrm>
          <a:prstGeom prst="rect">
            <a:avLst/>
          </a:prstGeom>
        </p:spPr>
      </p:pic>
      <p:sp>
        <p:nvSpPr>
          <p:cNvPr id="26" name="Chu nut 5"/>
          <p:cNvSpPr txBox="1"/>
          <p:nvPr/>
        </p:nvSpPr>
        <p:spPr>
          <a:xfrm>
            <a:off x="9482054" y="2697480"/>
            <a:ext cx="2103120" cy="640080"/>
          </a:xfrm>
          <a:prstGeom prst="rect">
            <a:avLst/>
          </a:prstGeom>
          <a:noFill/>
          <a:ln/>
        </p:spPr>
        <p:txBody>
          <a:bodyPr wrap="square" lIns="0" tIns="0" rIns="0" bIns="0" rtlCol="0" anchor="t"/>
          <a:lstStyle/>
          <a:p>
            <a:pPr marL="0" indent="0" algn="ctr">
              <a:buNone/>
            </a:pPr>
            <a:r>
              <a:rPr lang="en-US" sz="1400" b="1" dirty="0">
                <a:solidFill>
                  <a:schemeClr val="accent1"/>
                </a:solidFill>
              </a:rPr>
              <a:t>Nhà nhập khẩu</a:t>
            </a:r>
            <a:endParaRPr lang="en-US" sz="1400" dirty="0"/>
          </a:p>
          <a:p>
            <a:pPr marL="0" indent="0" algn="ctr">
              <a:buNone/>
            </a:pPr>
            <a:r>
              <a:rPr lang="en-US" sz="1400" dirty="0">
                <a:solidFill>
                  <a:schemeClr val="tx1"/>
                </a:solidFill>
              </a:rPr>
              <a:t>quét QR xem nguồn gốc</a:t>
            </a:r>
            <a:endParaRPr lang="en-US" sz="1400" dirty="0"/>
          </a:p>
        </p:txBody>
      </p:sp>
      <p:sp>
        <p:nvSpPr>
          <p:cNvPr id="27" name="Khung tieu chuan"/>
          <p:cNvSpPr/>
          <p:nvPr/>
        </p:nvSpPr>
        <p:spPr>
          <a:xfrm>
            <a:off x="548640" y="3657600"/>
            <a:ext cx="5486400" cy="2423160"/>
          </a:xfrm>
          <a:prstGeom prst="roundRect">
            <a:avLst>
              <a:gd name="adj" fmla="val 4528"/>
            </a:avLst>
          </a:prstGeom>
          <a:solidFill>
            <a:schemeClr val="bg2"/>
          </a:solidFill>
          <a:ln/>
        </p:spPr>
      </p:sp>
      <p:sp>
        <p:nvSpPr>
          <p:cNvPr id="28" name="Tieu de tieu chuan"/>
          <p:cNvSpPr txBox="1"/>
          <p:nvPr/>
        </p:nvSpPr>
        <p:spPr>
          <a:xfrm>
            <a:off x="777240" y="3767328"/>
            <a:ext cx="5029200" cy="256032"/>
          </a:xfrm>
          <a:prstGeom prst="rect">
            <a:avLst/>
          </a:prstGeom>
          <a:noFill/>
          <a:ln/>
        </p:spPr>
        <p:txBody>
          <a:bodyPr wrap="square" lIns="0" tIns="0" rIns="0" bIns="0" rtlCol="0" anchor="t"/>
          <a:lstStyle/>
          <a:p>
            <a:pPr marL="0" indent="0" algn="l">
              <a:buNone/>
            </a:pPr>
            <a:r>
              <a:rPr lang="en-US" sz="1200" b="1" kern="0" spc="100" dirty="0">
                <a:solidFill>
                  <a:schemeClr val="accent1"/>
                </a:solidFill>
              </a:rPr>
              <a:t>TIÊU CHUẨN NHÀ VƯỜN VÀ KIỂM SOÁT ĐẦU VÀO</a:t>
            </a:r>
            <a:endParaRPr lang="en-US" sz="1200" dirty="0"/>
          </a:p>
        </p:txBody>
      </p:sp>
      <p:sp>
        <p:nvSpPr>
          <p:cNvPr id="29" name="Noi dung tieu chuan"/>
          <p:cNvSpPr txBox="1"/>
          <p:nvPr/>
        </p:nvSpPr>
        <p:spPr>
          <a:xfrm>
            <a:off x="777240" y="4096512"/>
            <a:ext cx="5029200" cy="1920240"/>
          </a:xfrm>
          <a:prstGeom prst="rect">
            <a:avLst/>
          </a:prstGeom>
          <a:noFill/>
          <a:ln/>
        </p:spPr>
        <p:txBody>
          <a:bodyPr wrap="square" lIns="0" tIns="0" rIns="0" bIns="0" rtlCol="0" anchor="t"/>
          <a:lstStyle/>
          <a:p>
            <a:pPr marL="177800" indent="-177800" algn="l">
              <a:spcAft>
                <a:spcPts val="400"/>
              </a:spcAft>
              <a:buSzPct val="100000"/>
              <a:buChar char="•"/>
            </a:pPr>
            <a:r>
              <a:rPr lang="en-US" sz="1400" dirty="0">
                <a:solidFill>
                  <a:schemeClr val="tx1"/>
                </a:solidFill>
              </a:rPr>
              <a:t>Chọn nhà vườn theo VietGAP/GlobalG.A.P hoặc cam kết lộ trình</a:t>
            </a:r>
            <a:endParaRPr lang="en-US" sz="1400" dirty="0"/>
          </a:p>
          <a:p>
            <a:pPr marL="177800" indent="-177800" algn="l">
              <a:spcAft>
                <a:spcPts val="400"/>
              </a:spcAft>
              <a:buSzPct val="100000"/>
              <a:buChar char="•"/>
            </a:pPr>
            <a:r>
              <a:rPr lang="en-US" sz="1400" dirty="0">
                <a:solidFill>
                  <a:schemeClr val="tx1"/>
                </a:solidFill>
              </a:rPr>
              <a:t>Sổ nhật ký: giống, phân, thuốc BVTV (chỉ dùng hoạt chất được phép ở thị trường đích)</a:t>
            </a:r>
            <a:endParaRPr lang="en-US" sz="1400" dirty="0"/>
          </a:p>
          <a:p>
            <a:pPr marL="177800" indent="-177800" algn="l">
              <a:spcAft>
                <a:spcPts val="400"/>
              </a:spcAft>
              <a:buSzPct val="100000"/>
              <a:buChar char="•"/>
            </a:pPr>
            <a:r>
              <a:rPr lang="en-US" sz="1400" dirty="0">
                <a:solidFill>
                  <a:schemeClr val="tx1"/>
                </a:solidFill>
              </a:rPr>
              <a:t>Kiểm nghiệm dư lượng, kim loại nặng trước khi nhận từng lô</a:t>
            </a:r>
            <a:endParaRPr lang="en-US" sz="1400" dirty="0"/>
          </a:p>
          <a:p>
            <a:pPr marL="177800" indent="-177800" algn="l">
              <a:spcAft>
                <a:spcPts val="400"/>
              </a:spcAft>
              <a:buSzPct val="100000"/>
              <a:buChar char="•"/>
            </a:pPr>
            <a:r>
              <a:rPr lang="en-US" sz="1400" dirty="0">
                <a:solidFill>
                  <a:schemeClr val="tx1"/>
                </a:solidFill>
              </a:rPr>
              <a:t>Mã lô nối nhà vườn, ngày thu hoạch, ngày sấy</a:t>
            </a:r>
            <a:endParaRPr lang="en-US" sz="1400" dirty="0"/>
          </a:p>
        </p:txBody>
      </p:sp>
      <p:sp>
        <p:nvSpPr>
          <p:cNvPr id="30" name="The 32 phan tram"/>
          <p:cNvSpPr/>
          <p:nvPr/>
        </p:nvSpPr>
        <p:spPr>
          <a:xfrm>
            <a:off x="6263640" y="3657600"/>
            <a:ext cx="2596896" cy="1417320"/>
          </a:xfrm>
          <a:prstGeom prst="roundRect">
            <a:avLst>
              <a:gd name="adj" fmla="val 7742"/>
            </a:avLst>
          </a:prstGeom>
          <a:solidFill>
            <a:srgbClr val="EEE3F2"/>
          </a:solidFill>
          <a:ln/>
        </p:spPr>
      </p:sp>
      <p:sp>
        <p:nvSpPr>
          <p:cNvPr id="31" name="So 32"/>
          <p:cNvSpPr txBox="1"/>
          <p:nvPr/>
        </p:nvSpPr>
        <p:spPr>
          <a:xfrm>
            <a:off x="6446520" y="3730752"/>
            <a:ext cx="2286000" cy="548640"/>
          </a:xfrm>
          <a:prstGeom prst="rect">
            <a:avLst/>
          </a:prstGeom>
          <a:noFill/>
          <a:ln/>
        </p:spPr>
        <p:txBody>
          <a:bodyPr wrap="square" lIns="0" tIns="0" rIns="0" bIns="0" rtlCol="0" anchor="t"/>
          <a:lstStyle/>
          <a:p>
            <a:pPr marL="0" indent="0" algn="l">
              <a:buNone/>
            </a:pPr>
            <a:r>
              <a:rPr lang="en-US" sz="3600" b="1" dirty="0">
                <a:solidFill>
                  <a:schemeClr val="accent3"/>
                </a:solidFill>
                <a:latin typeface="+mj-lt" pitchFamily="34" charset="0"/>
                <a:ea typeface="+mj-lt" pitchFamily="34" charset="-122"/>
                <a:cs typeface="+mj-lt" pitchFamily="34" charset="-120"/>
              </a:rPr>
              <a:t>32%</a:t>
            </a:r>
            <a:endParaRPr lang="en-US" sz="3600" dirty="0"/>
          </a:p>
        </p:txBody>
      </p:sp>
      <p:sp>
        <p:nvSpPr>
          <p:cNvPr id="32" name="Nhan 32"/>
          <p:cNvSpPr txBox="1"/>
          <p:nvPr/>
        </p:nvSpPr>
        <p:spPr>
          <a:xfrm>
            <a:off x="6446520" y="4315968"/>
            <a:ext cx="2286000" cy="713232"/>
          </a:xfrm>
          <a:prstGeom prst="rect">
            <a:avLst/>
          </a:prstGeom>
          <a:noFill/>
          <a:ln/>
        </p:spPr>
        <p:txBody>
          <a:bodyPr wrap="square" lIns="0" tIns="0" rIns="0" bIns="0" rtlCol="0" anchor="t"/>
          <a:lstStyle/>
          <a:p>
            <a:pPr marL="0" indent="0" algn="l">
              <a:buNone/>
            </a:pPr>
            <a:r>
              <a:rPr lang="en-US" sz="1400" dirty="0">
                <a:solidFill>
                  <a:schemeClr val="tx1"/>
                </a:solidFill>
              </a:rPr>
              <a:t>mẫu chanh dây Việt Nam vượt MRL của EU (15/47 mẫu, năm 2024)</a:t>
            </a:r>
            <a:endParaRPr lang="en-US" sz="1400" dirty="0"/>
          </a:p>
        </p:txBody>
      </p:sp>
      <p:sp>
        <p:nvSpPr>
          <p:cNvPr id="33" name="The 0,01"/>
          <p:cNvSpPr/>
          <p:nvPr/>
        </p:nvSpPr>
        <p:spPr>
          <a:xfrm>
            <a:off x="9043416" y="3657600"/>
            <a:ext cx="2596896" cy="1417320"/>
          </a:xfrm>
          <a:prstGeom prst="roundRect">
            <a:avLst>
              <a:gd name="adj" fmla="val 7742"/>
            </a:avLst>
          </a:prstGeom>
          <a:solidFill>
            <a:srgbClr val="EEE3F2"/>
          </a:solidFill>
          <a:ln/>
        </p:spPr>
      </p:sp>
      <p:sp>
        <p:nvSpPr>
          <p:cNvPr id="34" name="So 0,01"/>
          <p:cNvSpPr txBox="1"/>
          <p:nvPr/>
        </p:nvSpPr>
        <p:spPr>
          <a:xfrm>
            <a:off x="9226296" y="3730752"/>
            <a:ext cx="2286000" cy="548640"/>
          </a:xfrm>
          <a:prstGeom prst="rect">
            <a:avLst/>
          </a:prstGeom>
          <a:noFill/>
          <a:ln/>
        </p:spPr>
        <p:txBody>
          <a:bodyPr wrap="square" lIns="0" tIns="0" rIns="0" bIns="0" rtlCol="0" anchor="t"/>
          <a:lstStyle/>
          <a:p>
            <a:pPr marL="0" indent="0" algn="l">
              <a:buNone/>
            </a:pPr>
            <a:r>
              <a:rPr lang="en-US" sz="3000" b="1" dirty="0">
                <a:solidFill>
                  <a:schemeClr val="accent3"/>
                </a:solidFill>
                <a:latin typeface="+mj-lt" pitchFamily="34" charset="0"/>
                <a:ea typeface="+mj-lt" pitchFamily="34" charset="-122"/>
                <a:cs typeface="+mj-lt" pitchFamily="34" charset="-120"/>
              </a:rPr>
              <a:t>0,01 mg/kg</a:t>
            </a:r>
            <a:endParaRPr lang="en-US" sz="3000" dirty="0"/>
          </a:p>
        </p:txBody>
      </p:sp>
      <p:sp>
        <p:nvSpPr>
          <p:cNvPr id="35" name="Nhan 0,01"/>
          <p:cNvSpPr txBox="1"/>
          <p:nvPr/>
        </p:nvSpPr>
        <p:spPr>
          <a:xfrm>
            <a:off x="9226296" y="4315968"/>
            <a:ext cx="2286000" cy="713232"/>
          </a:xfrm>
          <a:prstGeom prst="rect">
            <a:avLst/>
          </a:prstGeom>
          <a:noFill/>
          <a:ln/>
        </p:spPr>
        <p:txBody>
          <a:bodyPr wrap="square" lIns="0" tIns="0" rIns="0" bIns="0" rtlCol="0" anchor="t"/>
          <a:lstStyle/>
          <a:p>
            <a:pPr marL="0" indent="0" algn="l">
              <a:buNone/>
            </a:pPr>
            <a:r>
              <a:rPr lang="en-US" sz="1400" dirty="0">
                <a:solidFill>
                  <a:schemeClr val="tx1"/>
                </a:solidFill>
              </a:rPr>
              <a:t>mức mặc định EU đang đề xuất (dự thảo, chưa có hiệu lực)</a:t>
            </a:r>
            <a:endParaRPr lang="en-US" sz="1400" dirty="0"/>
          </a:p>
        </p:txBody>
      </p:sp>
      <p:sp>
        <p:nvSpPr>
          <p:cNvPr id="36" name="Khung sau rieng"/>
          <p:cNvSpPr/>
          <p:nvPr/>
        </p:nvSpPr>
        <p:spPr>
          <a:xfrm>
            <a:off x="6263640" y="5212080"/>
            <a:ext cx="5376672" cy="868680"/>
          </a:xfrm>
          <a:prstGeom prst="roundRect">
            <a:avLst>
              <a:gd name="adj" fmla="val 12632"/>
            </a:avLst>
          </a:prstGeom>
          <a:solidFill>
            <a:srgbClr val="F8E6E1"/>
          </a:solidFill>
          <a:ln/>
        </p:spPr>
      </p:sp>
      <p:pic>
        <p:nvPicPr>
          <p:cNvPr id="37" name="Canh bao" descr="Cảnh báo"/>
          <p:cNvPicPr>
            <a:picLocks noChangeAspect="1"/>
          </p:cNvPicPr>
          <p:nvPr/>
        </p:nvPicPr>
        <p:blipFill>
          <a:blip r:embed="rId8"/>
          <a:stretch>
            <a:fillRect/>
          </a:stretch>
        </p:blipFill>
        <p:spPr>
          <a:xfrm>
            <a:off x="6419088" y="5440680"/>
            <a:ext cx="411480" cy="411480"/>
          </a:xfrm>
          <a:prstGeom prst="rect">
            <a:avLst/>
          </a:prstGeom>
        </p:spPr>
      </p:pic>
      <p:sp>
        <p:nvSpPr>
          <p:cNvPr id="38" name="Chu sau rieng"/>
          <p:cNvSpPr txBox="1"/>
          <p:nvPr/>
        </p:nvSpPr>
        <p:spPr>
          <a:xfrm>
            <a:off x="6995160" y="5257800"/>
            <a:ext cx="4526280" cy="777240"/>
          </a:xfrm>
          <a:prstGeom prst="rect">
            <a:avLst/>
          </a:prstGeom>
          <a:noFill/>
          <a:ln/>
        </p:spPr>
        <p:txBody>
          <a:bodyPr wrap="square" lIns="0" tIns="0" rIns="0" bIns="0" rtlCol="0" anchor="ctr"/>
          <a:lstStyle/>
          <a:p>
            <a:pPr marL="0" indent="0" algn="l">
              <a:buNone/>
            </a:pPr>
            <a:r>
              <a:rPr lang="en-US" sz="1400" b="1" dirty="0">
                <a:solidFill>
                  <a:schemeClr val="accent5"/>
                </a:solidFill>
              </a:rPr>
              <a:t>Sầu riêng: </a:t>
            </a:r>
            <a:r>
              <a:rPr lang="en-US" sz="1400" dirty="0">
                <a:solidFill>
                  <a:schemeClr val="tx1"/>
                </a:solidFill>
              </a:rPr>
              <a:t>sầu riêng tươi sang Trung Quốc bị siết kiểm nghiệm cadimi, vàng O (ùn tắc 5/2026); với sầu riêng sấy cần hỏi lại nhà nhập khẩu.</a:t>
            </a:r>
            <a:endParaRPr lang="en-US" sz="1400" dirty="0"/>
          </a:p>
        </p:txBody>
      </p:sp>
      <p:sp>
        <p:nvSpPr>
          <p:cNvPr id="39" name="Nguon"/>
          <p:cNvSpPr txBox="1"/>
          <p:nvPr/>
        </p:nvSpPr>
        <p:spPr>
          <a:xfrm>
            <a:off x="548640" y="6217920"/>
            <a:ext cx="11094415" cy="201168"/>
          </a:xfrm>
          <a:prstGeom prst="rect">
            <a:avLst/>
          </a:prstGeom>
          <a:noFill/>
          <a:ln/>
        </p:spPr>
        <p:txBody>
          <a:bodyPr wrap="square" lIns="0" tIns="0" rIns="0" bIns="0" rtlCol="0" anchor="t"/>
          <a:lstStyle/>
          <a:p>
            <a:pPr marL="0" indent="0" algn="l">
              <a:buNone/>
            </a:pPr>
            <a:r>
              <a:rPr lang="en-US" sz="1000" dirty="0">
                <a:solidFill>
                  <a:srgbClr val="5C6F66"/>
                </a:solidFill>
              </a:rPr>
              <a:t>Nguồn: Tuổi Trẻ (24/3/2026; báo cáo DGAL Pháp 2/2026, mẫu năm 2024); Vietnam News (đề xuất MRL của EU, thông báo WTO 29/1/2026); trungtamwto.vn (5/2026).</a:t>
            </a:r>
            <a:endParaRPr lang="en-US" sz="1000" dirty="0"/>
          </a:p>
        </p:txBody>
      </p:sp>
      <p:sp>
        <p:nvSpPr>
          <p:cNvPr id="2" name="Slide Number Placeholder 0"/>
          <p:cNvSpPr>
            <a:spLocks noGrp="1"/>
          </p:cNvSpPr>
          <p:nvPr>
            <p:ph type="sldNum" sz="quarter" idx="4294967295"/>
          </p:nvPr>
        </p:nvSpPr>
        <p:spPr>
          <a:xfrm>
            <a:off x="10972800" y="6492240"/>
            <a:ext cx="667512" cy="237744"/>
          </a:xfrm>
          <a:prstGeom prst="rect">
            <a:avLst/>
          </a:prstGeom>
          <a:extLst>
            <a:ext uri="{C572A759-6A51-4108-AA02-DFA0A04FC94B}">
              <ma14:wrappingTextBoxFlag xmlns:ma14="http://schemas.microsoft.com/office/mac/drawingml/2011/main" xmlns="" val="0"/>
            </a:ext>
          </a:extLst>
        </p:spPr>
        <p:txBody>
          <a:bodyPr/>
          <a:lstStyle>
            <a:lvl1pPr>
              <a:defRPr sz="1000">
                <a:solidFill>
                  <a:srgbClr val="5C6F66"/>
                </a:solidFill>
              </a:defRPr>
            </a:lvl1pPr>
          </a:lstStyle>
          <a:p>
            <a:pPr algn="r"/>
            <a:fld id="{F7021451-1387-4CA6-816F-3879F97B5CBC}" type="slidenum">
              <a:rPr lang="en-US" b="0"/>
              <a:t>13</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Dau cham"/>
          <p:cNvSpPr/>
          <p:nvPr/>
        </p:nvSpPr>
        <p:spPr>
          <a:xfrm>
            <a:off x="548640" y="429768"/>
            <a:ext cx="118872" cy="118872"/>
          </a:xfrm>
          <a:prstGeom prst="ellipse">
            <a:avLst/>
          </a:prstGeom>
          <a:solidFill>
            <a:schemeClr val="accent2"/>
          </a:solidFill>
          <a:ln/>
        </p:spPr>
      </p:sp>
      <p:sp>
        <p:nvSpPr>
          <p:cNvPr id="4" name="Nhan chuyen muc"/>
          <p:cNvSpPr txBox="1"/>
          <p:nvPr/>
        </p:nvSpPr>
        <p:spPr>
          <a:xfrm>
            <a:off x="777240" y="347472"/>
            <a:ext cx="6949440" cy="274320"/>
          </a:xfrm>
          <a:prstGeom prst="rect">
            <a:avLst/>
          </a:prstGeom>
          <a:noFill/>
          <a:ln/>
        </p:spPr>
        <p:txBody>
          <a:bodyPr wrap="square" lIns="0" tIns="0" rIns="0" bIns="0" rtlCol="0" anchor="ctr"/>
          <a:lstStyle/>
          <a:p>
            <a:pPr marL="0" indent="0" algn="l">
              <a:buNone/>
            </a:pPr>
            <a:r>
              <a:rPr lang="en-US" sz="1200" b="1" kern="0" spc="200" dirty="0">
                <a:solidFill>
                  <a:schemeClr val="accent1"/>
                </a:solidFill>
              </a:rPr>
              <a:t>TRỤ CỘT 4 · NHÀ MÁY VÀ QUY TRÌNH</a:t>
            </a:r>
            <a:endParaRPr lang="en-US" sz="1200" dirty="0"/>
          </a:p>
        </p:txBody>
      </p:sp>
      <p:sp>
        <p:nvSpPr>
          <p:cNvPr id="5" name="Nhan giai doan"/>
          <p:cNvSpPr txBox="1"/>
          <p:nvPr/>
        </p:nvSpPr>
        <p:spPr>
          <a:xfrm>
            <a:off x="9475927" y="347472"/>
            <a:ext cx="868680" cy="274320"/>
          </a:xfrm>
          <a:prstGeom prst="rect">
            <a:avLst/>
          </a:prstGeom>
          <a:noFill/>
          <a:ln/>
        </p:spPr>
        <p:txBody>
          <a:bodyPr wrap="square" lIns="0" tIns="0" rIns="0" bIns="0" rtlCol="0" anchor="ctr"/>
          <a:lstStyle/>
          <a:p>
            <a:pPr marL="0" indent="0" algn="r">
              <a:buNone/>
            </a:pPr>
            <a:r>
              <a:rPr lang="en-US" sz="1200" dirty="0">
                <a:solidFill>
                  <a:srgbClr val="5C6F66"/>
                </a:solidFill>
              </a:rPr>
              <a:t>Thực hiện ở</a:t>
            </a:r>
            <a:endParaRPr lang="en-US" sz="1200" dirty="0"/>
          </a:p>
        </p:txBody>
      </p:sp>
      <p:sp>
        <p:nvSpPr>
          <p:cNvPr id="6" name="Giai doan 2"/>
          <p:cNvSpPr/>
          <p:nvPr/>
        </p:nvSpPr>
        <p:spPr>
          <a:xfrm>
            <a:off x="10436047" y="356616"/>
            <a:ext cx="566928" cy="256032"/>
          </a:xfrm>
          <a:prstGeom prst="roundRect">
            <a:avLst>
              <a:gd name="adj" fmla="val 21429"/>
            </a:avLst>
          </a:prstGeom>
          <a:solidFill>
            <a:srgbClr val="1D4B3A"/>
          </a:solidFill>
          <a:ln/>
        </p:spPr>
      </p:sp>
      <p:sp>
        <p:nvSpPr>
          <p:cNvPr id="7" name="Chu giai doan 2"/>
          <p:cNvSpPr txBox="1"/>
          <p:nvPr/>
        </p:nvSpPr>
        <p:spPr>
          <a:xfrm>
            <a:off x="10436047" y="356616"/>
            <a:ext cx="566928" cy="256032"/>
          </a:xfrm>
          <a:prstGeom prst="rect">
            <a:avLst/>
          </a:prstGeom>
          <a:noFill/>
          <a:ln/>
        </p:spPr>
        <p:txBody>
          <a:bodyPr wrap="square" lIns="0" tIns="0" rIns="0" bIns="0" rtlCol="0" anchor="ctr"/>
          <a:lstStyle/>
          <a:p>
            <a:pPr marL="0" indent="0" algn="ctr">
              <a:buNone/>
            </a:pPr>
            <a:r>
              <a:rPr lang="en-US" sz="1200" b="1" dirty="0">
                <a:solidFill>
                  <a:srgbClr val="FFFFFF"/>
                </a:solidFill>
              </a:rPr>
              <a:t>GĐ2</a:t>
            </a:r>
            <a:endParaRPr lang="en-US" sz="1200" dirty="0"/>
          </a:p>
        </p:txBody>
      </p:sp>
      <p:sp>
        <p:nvSpPr>
          <p:cNvPr id="8" name="Giai doan 3"/>
          <p:cNvSpPr/>
          <p:nvPr/>
        </p:nvSpPr>
        <p:spPr>
          <a:xfrm>
            <a:off x="11076127" y="356616"/>
            <a:ext cx="566928" cy="256032"/>
          </a:xfrm>
          <a:prstGeom prst="roundRect">
            <a:avLst>
              <a:gd name="adj" fmla="val 21429"/>
            </a:avLst>
          </a:prstGeom>
          <a:solidFill>
            <a:srgbClr val="E4A92A"/>
          </a:solidFill>
          <a:ln/>
        </p:spPr>
      </p:sp>
      <p:sp>
        <p:nvSpPr>
          <p:cNvPr id="9" name="Chu giai doan 3"/>
          <p:cNvSpPr txBox="1"/>
          <p:nvPr/>
        </p:nvSpPr>
        <p:spPr>
          <a:xfrm>
            <a:off x="11076127" y="356616"/>
            <a:ext cx="566928" cy="256032"/>
          </a:xfrm>
          <a:prstGeom prst="rect">
            <a:avLst/>
          </a:prstGeom>
          <a:noFill/>
          <a:ln/>
        </p:spPr>
        <p:txBody>
          <a:bodyPr wrap="square" lIns="0" tIns="0" rIns="0" bIns="0" rtlCol="0" anchor="ctr"/>
          <a:lstStyle/>
          <a:p>
            <a:pPr marL="0" indent="0" algn="ctr">
              <a:buNone/>
            </a:pPr>
            <a:r>
              <a:rPr lang="en-US" sz="1200" b="1" dirty="0">
                <a:solidFill>
                  <a:srgbClr val="1B2B24"/>
                </a:solidFill>
              </a:rPr>
              <a:t>GĐ3</a:t>
            </a:r>
            <a:endParaRPr lang="en-US" sz="1200" dirty="0"/>
          </a:p>
        </p:txBody>
      </p:sp>
      <p:sp>
        <p:nvSpPr>
          <p:cNvPr id="10" name="Text 0"/>
          <p:cNvSpPr>
            <a:spLocks noGrp="1"/>
          </p:cNvSpPr>
          <p:nvPr>
            <p:ph type="title" idx="100" hasCustomPrompt="1"/>
          </p:nvPr>
        </p:nvSpPr>
        <p:spPr>
          <a:xfrm>
            <a:off x="548640" y="658368"/>
            <a:ext cx="11094415" cy="777240"/>
          </a:xfrm>
          <a:prstGeom prst="rect">
            <a:avLst/>
          </a:prstGeom>
          <a:noFill/>
          <a:ln/>
        </p:spPr>
        <p:txBody>
          <a:bodyPr wrap="square" lIns="0" tIns="0" rIns="0" bIns="0" rtlCol="0" anchor="ctr"/>
          <a:lstStyle/>
          <a:p>
            <a:pPr marL="0" indent="0" algn="l">
              <a:buNone/>
            </a:pPr>
            <a:r>
              <a:rPr lang="en-US" sz="3000" b="1" dirty="0">
                <a:solidFill>
                  <a:schemeClr val="tx2"/>
                </a:solidFill>
              </a:rPr>
              <a:t>Dòng chảy một chiều, mỗi bước có kiểm soát</a:t>
            </a:r>
            <a:endParaRPr lang="en-US" sz="3000" dirty="0"/>
          </a:p>
        </p:txBody>
      </p:sp>
      <p:sp>
        <p:nvSpPr>
          <p:cNvPr id="11" name="Khu 1"/>
          <p:cNvSpPr/>
          <p:nvPr/>
        </p:nvSpPr>
        <p:spPr>
          <a:xfrm>
            <a:off x="548640" y="1737360"/>
            <a:ext cx="11094415" cy="1600200"/>
          </a:xfrm>
          <a:prstGeom prst="roundRect">
            <a:avLst>
              <a:gd name="adj" fmla="val 6857"/>
            </a:avLst>
          </a:prstGeom>
          <a:solidFill>
            <a:schemeClr val="bg2"/>
          </a:solidFill>
          <a:ln/>
        </p:spPr>
      </p:sp>
      <p:sp>
        <p:nvSpPr>
          <p:cNvPr id="12" name="Nhan khu 1"/>
          <p:cNvSpPr txBox="1"/>
          <p:nvPr/>
        </p:nvSpPr>
        <p:spPr>
          <a:xfrm>
            <a:off x="731520" y="1810512"/>
            <a:ext cx="5486400" cy="237744"/>
          </a:xfrm>
          <a:prstGeom prst="rect">
            <a:avLst/>
          </a:prstGeom>
          <a:noFill/>
          <a:ln/>
        </p:spPr>
        <p:txBody>
          <a:bodyPr wrap="square" lIns="0" tIns="0" rIns="0" bIns="0" rtlCol="0" anchor="t"/>
          <a:lstStyle/>
          <a:p>
            <a:pPr marL="0" indent="0" algn="l">
              <a:buNone/>
            </a:pPr>
            <a:r>
              <a:rPr lang="en-US" sz="1200" b="1" kern="0" spc="100" dirty="0">
                <a:solidFill>
                  <a:schemeClr val="accent6"/>
                </a:solidFill>
              </a:rPr>
              <a:t>KHU SƠ CHẾ · nguy cơ cao</a:t>
            </a:r>
            <a:endParaRPr lang="en-US" sz="1200" dirty="0"/>
          </a:p>
        </p:txBody>
      </p:sp>
      <p:sp>
        <p:nvSpPr>
          <p:cNvPr id="13" name="Buoc 1"/>
          <p:cNvSpPr/>
          <p:nvPr/>
        </p:nvSpPr>
        <p:spPr>
          <a:xfrm>
            <a:off x="704088" y="2121408"/>
            <a:ext cx="2011680" cy="822960"/>
          </a:xfrm>
          <a:prstGeom prst="roundRect">
            <a:avLst>
              <a:gd name="adj" fmla="val 13333"/>
            </a:avLst>
          </a:prstGeom>
          <a:solidFill>
            <a:schemeClr val="bg1"/>
          </a:solidFill>
          <a:ln w="9525">
            <a:solidFill>
              <a:srgbClr val="D5DED8"/>
            </a:solidFill>
            <a:prstDash val="solid"/>
          </a:ln>
        </p:spPr>
      </p:sp>
      <p:sp>
        <p:nvSpPr>
          <p:cNvPr id="14" name="Vong buoc 1"/>
          <p:cNvSpPr/>
          <p:nvPr/>
        </p:nvSpPr>
        <p:spPr>
          <a:xfrm>
            <a:off x="813816" y="2231136"/>
            <a:ext cx="310896" cy="310896"/>
          </a:xfrm>
          <a:prstGeom prst="ellipse">
            <a:avLst/>
          </a:prstGeom>
          <a:solidFill>
            <a:schemeClr val="accent1"/>
          </a:solidFill>
          <a:ln/>
        </p:spPr>
      </p:sp>
      <p:sp>
        <p:nvSpPr>
          <p:cNvPr id="15" name="So buoc 1"/>
          <p:cNvSpPr txBox="1"/>
          <p:nvPr/>
        </p:nvSpPr>
        <p:spPr>
          <a:xfrm>
            <a:off x="813816" y="2231136"/>
            <a:ext cx="310896" cy="310896"/>
          </a:xfrm>
          <a:prstGeom prst="rect">
            <a:avLst/>
          </a:prstGeom>
          <a:noFill/>
          <a:ln/>
        </p:spPr>
        <p:txBody>
          <a:bodyPr wrap="square" lIns="0" tIns="0" rIns="0" bIns="0" rtlCol="0" anchor="ctr"/>
          <a:lstStyle/>
          <a:p>
            <a:pPr marL="0" indent="0" algn="ctr">
              <a:buNone/>
            </a:pPr>
            <a:r>
              <a:rPr lang="en-US" sz="1200" b="1" dirty="0">
                <a:solidFill>
                  <a:schemeClr val="bg1"/>
                </a:solidFill>
              </a:rPr>
              <a:t>1</a:t>
            </a:r>
            <a:endParaRPr lang="en-US" sz="1200" dirty="0"/>
          </a:p>
        </p:txBody>
      </p:sp>
      <p:sp>
        <p:nvSpPr>
          <p:cNvPr id="16" name="Ten buoc 1"/>
          <p:cNvSpPr txBox="1"/>
          <p:nvPr/>
        </p:nvSpPr>
        <p:spPr>
          <a:xfrm>
            <a:off x="1207008" y="2157984"/>
            <a:ext cx="1444752" cy="749808"/>
          </a:xfrm>
          <a:prstGeom prst="rect">
            <a:avLst/>
          </a:prstGeom>
          <a:noFill/>
          <a:ln/>
        </p:spPr>
        <p:txBody>
          <a:bodyPr wrap="square" lIns="0" tIns="0" rIns="0" bIns="0" rtlCol="0" anchor="ctr"/>
          <a:lstStyle/>
          <a:p>
            <a:pPr marL="0" indent="0" algn="l">
              <a:buNone/>
            </a:pPr>
            <a:r>
              <a:rPr lang="en-US" sz="1400" b="1" dirty="0">
                <a:solidFill>
                  <a:schemeClr val="tx1"/>
                </a:solidFill>
              </a:rPr>
              <a:t>Tiếp nhận, kiểm nguyên liệu</a:t>
            </a:r>
            <a:endParaRPr lang="en-US" sz="1400" dirty="0"/>
          </a:p>
        </p:txBody>
      </p:sp>
      <p:sp>
        <p:nvSpPr>
          <p:cNvPr id="17" name="Chip 1"/>
          <p:cNvSpPr/>
          <p:nvPr/>
        </p:nvSpPr>
        <p:spPr>
          <a:xfrm>
            <a:off x="704088" y="2999232"/>
            <a:ext cx="2011680" cy="256032"/>
          </a:xfrm>
          <a:prstGeom prst="roundRect">
            <a:avLst>
              <a:gd name="adj" fmla="val 21429"/>
            </a:avLst>
          </a:prstGeom>
          <a:solidFill>
            <a:srgbClr val="E3EDE6"/>
          </a:solidFill>
          <a:ln/>
        </p:spPr>
      </p:sp>
      <p:sp>
        <p:nvSpPr>
          <p:cNvPr id="18" name="Chu chip 1"/>
          <p:cNvSpPr txBox="1"/>
          <p:nvPr/>
        </p:nvSpPr>
        <p:spPr>
          <a:xfrm>
            <a:off x="777240" y="2999232"/>
            <a:ext cx="1874520" cy="256032"/>
          </a:xfrm>
          <a:prstGeom prst="rect">
            <a:avLst/>
          </a:prstGeom>
          <a:noFill/>
          <a:ln/>
        </p:spPr>
        <p:txBody>
          <a:bodyPr wrap="square" lIns="0" tIns="0" rIns="0" bIns="0" rtlCol="0" anchor="ctr"/>
          <a:lstStyle/>
          <a:p>
            <a:pPr marL="0" indent="0" algn="l">
              <a:buNone/>
            </a:pPr>
            <a:r>
              <a:rPr lang="en-US" sz="1200" dirty="0">
                <a:solidFill>
                  <a:schemeClr val="tx1"/>
                </a:solidFill>
              </a:rPr>
              <a:t>Kiểm dư lượng, độc tố</a:t>
            </a:r>
            <a:endParaRPr lang="en-US" sz="1200" dirty="0"/>
          </a:p>
        </p:txBody>
      </p:sp>
      <p:sp>
        <p:nvSpPr>
          <p:cNvPr id="19" name="Buoc 2"/>
          <p:cNvSpPr/>
          <p:nvPr/>
        </p:nvSpPr>
        <p:spPr>
          <a:xfrm>
            <a:off x="2898648" y="2121408"/>
            <a:ext cx="2011680" cy="822960"/>
          </a:xfrm>
          <a:prstGeom prst="roundRect">
            <a:avLst>
              <a:gd name="adj" fmla="val 13333"/>
            </a:avLst>
          </a:prstGeom>
          <a:solidFill>
            <a:schemeClr val="bg1"/>
          </a:solidFill>
          <a:ln w="9525">
            <a:solidFill>
              <a:srgbClr val="D5DED8"/>
            </a:solidFill>
            <a:prstDash val="solid"/>
          </a:ln>
        </p:spPr>
      </p:sp>
      <p:sp>
        <p:nvSpPr>
          <p:cNvPr id="20" name="Vong buoc 2"/>
          <p:cNvSpPr/>
          <p:nvPr/>
        </p:nvSpPr>
        <p:spPr>
          <a:xfrm>
            <a:off x="3008376" y="2231136"/>
            <a:ext cx="310896" cy="310896"/>
          </a:xfrm>
          <a:prstGeom prst="ellipse">
            <a:avLst/>
          </a:prstGeom>
          <a:solidFill>
            <a:schemeClr val="accent1"/>
          </a:solidFill>
          <a:ln/>
        </p:spPr>
      </p:sp>
      <p:sp>
        <p:nvSpPr>
          <p:cNvPr id="21" name="So buoc 2"/>
          <p:cNvSpPr txBox="1"/>
          <p:nvPr/>
        </p:nvSpPr>
        <p:spPr>
          <a:xfrm>
            <a:off x="3008376" y="2231136"/>
            <a:ext cx="310896" cy="310896"/>
          </a:xfrm>
          <a:prstGeom prst="rect">
            <a:avLst/>
          </a:prstGeom>
          <a:noFill/>
          <a:ln/>
        </p:spPr>
        <p:txBody>
          <a:bodyPr wrap="square" lIns="0" tIns="0" rIns="0" bIns="0" rtlCol="0" anchor="ctr"/>
          <a:lstStyle/>
          <a:p>
            <a:pPr marL="0" indent="0" algn="ctr">
              <a:buNone/>
            </a:pPr>
            <a:r>
              <a:rPr lang="en-US" sz="1200" b="1" dirty="0">
                <a:solidFill>
                  <a:schemeClr val="bg1"/>
                </a:solidFill>
              </a:rPr>
              <a:t>2</a:t>
            </a:r>
            <a:endParaRPr lang="en-US" sz="1200" dirty="0"/>
          </a:p>
        </p:txBody>
      </p:sp>
      <p:sp>
        <p:nvSpPr>
          <p:cNvPr id="22" name="Ten buoc 2"/>
          <p:cNvSpPr txBox="1"/>
          <p:nvPr/>
        </p:nvSpPr>
        <p:spPr>
          <a:xfrm>
            <a:off x="3401568" y="2157984"/>
            <a:ext cx="1444752" cy="749808"/>
          </a:xfrm>
          <a:prstGeom prst="rect">
            <a:avLst/>
          </a:prstGeom>
          <a:noFill/>
          <a:ln/>
        </p:spPr>
        <p:txBody>
          <a:bodyPr wrap="square" lIns="0" tIns="0" rIns="0" bIns="0" rtlCol="0" anchor="ctr"/>
          <a:lstStyle/>
          <a:p>
            <a:pPr marL="0" indent="0" algn="l">
              <a:buNone/>
            </a:pPr>
            <a:r>
              <a:rPr lang="en-US" sz="1400" b="1" dirty="0">
                <a:solidFill>
                  <a:schemeClr val="tx1"/>
                </a:solidFill>
              </a:rPr>
              <a:t>Rửa, phân loại</a:t>
            </a:r>
            <a:endParaRPr lang="en-US" sz="1400" dirty="0"/>
          </a:p>
        </p:txBody>
      </p:sp>
      <p:sp>
        <p:nvSpPr>
          <p:cNvPr id="23" name="Chip 2"/>
          <p:cNvSpPr/>
          <p:nvPr/>
        </p:nvSpPr>
        <p:spPr>
          <a:xfrm>
            <a:off x="2898648" y="2999232"/>
            <a:ext cx="2011680" cy="256032"/>
          </a:xfrm>
          <a:prstGeom prst="roundRect">
            <a:avLst>
              <a:gd name="adj" fmla="val 21429"/>
            </a:avLst>
          </a:prstGeom>
          <a:solidFill>
            <a:srgbClr val="E3EDE6"/>
          </a:solidFill>
          <a:ln/>
        </p:spPr>
      </p:sp>
      <p:sp>
        <p:nvSpPr>
          <p:cNvPr id="24" name="Chu chip 2"/>
          <p:cNvSpPr txBox="1"/>
          <p:nvPr/>
        </p:nvSpPr>
        <p:spPr>
          <a:xfrm>
            <a:off x="2971800" y="2999232"/>
            <a:ext cx="1874520" cy="256032"/>
          </a:xfrm>
          <a:prstGeom prst="rect">
            <a:avLst/>
          </a:prstGeom>
          <a:noFill/>
          <a:ln/>
        </p:spPr>
        <p:txBody>
          <a:bodyPr wrap="square" lIns="0" tIns="0" rIns="0" bIns="0" rtlCol="0" anchor="ctr"/>
          <a:lstStyle/>
          <a:p>
            <a:pPr marL="0" indent="0" algn="l">
              <a:buNone/>
            </a:pPr>
            <a:r>
              <a:rPr lang="en-US" sz="1200" dirty="0">
                <a:solidFill>
                  <a:schemeClr val="tx1"/>
                </a:solidFill>
              </a:rPr>
              <a:t>Nước đạt chuẩn</a:t>
            </a:r>
            <a:endParaRPr lang="en-US" sz="1200" dirty="0"/>
          </a:p>
        </p:txBody>
      </p:sp>
      <p:sp>
        <p:nvSpPr>
          <p:cNvPr id="25" name="Buoc 3"/>
          <p:cNvSpPr/>
          <p:nvPr/>
        </p:nvSpPr>
        <p:spPr>
          <a:xfrm>
            <a:off x="5093208" y="2121408"/>
            <a:ext cx="2011680" cy="822960"/>
          </a:xfrm>
          <a:prstGeom prst="roundRect">
            <a:avLst>
              <a:gd name="adj" fmla="val 13333"/>
            </a:avLst>
          </a:prstGeom>
          <a:solidFill>
            <a:schemeClr val="bg1"/>
          </a:solidFill>
          <a:ln w="9525">
            <a:solidFill>
              <a:srgbClr val="D5DED8"/>
            </a:solidFill>
            <a:prstDash val="solid"/>
          </a:ln>
        </p:spPr>
      </p:sp>
      <p:sp>
        <p:nvSpPr>
          <p:cNvPr id="26" name="Vong buoc 3"/>
          <p:cNvSpPr/>
          <p:nvPr/>
        </p:nvSpPr>
        <p:spPr>
          <a:xfrm>
            <a:off x="5202936" y="2231136"/>
            <a:ext cx="310896" cy="310896"/>
          </a:xfrm>
          <a:prstGeom prst="ellipse">
            <a:avLst/>
          </a:prstGeom>
          <a:solidFill>
            <a:schemeClr val="accent1"/>
          </a:solidFill>
          <a:ln/>
        </p:spPr>
      </p:sp>
      <p:sp>
        <p:nvSpPr>
          <p:cNvPr id="27" name="So buoc 3"/>
          <p:cNvSpPr txBox="1"/>
          <p:nvPr/>
        </p:nvSpPr>
        <p:spPr>
          <a:xfrm>
            <a:off x="5202936" y="2231136"/>
            <a:ext cx="310896" cy="310896"/>
          </a:xfrm>
          <a:prstGeom prst="rect">
            <a:avLst/>
          </a:prstGeom>
          <a:noFill/>
          <a:ln/>
        </p:spPr>
        <p:txBody>
          <a:bodyPr wrap="square" lIns="0" tIns="0" rIns="0" bIns="0" rtlCol="0" anchor="ctr"/>
          <a:lstStyle/>
          <a:p>
            <a:pPr marL="0" indent="0" algn="ctr">
              <a:buNone/>
            </a:pPr>
            <a:r>
              <a:rPr lang="en-US" sz="1200" b="1" dirty="0">
                <a:solidFill>
                  <a:schemeClr val="bg1"/>
                </a:solidFill>
              </a:rPr>
              <a:t>3</a:t>
            </a:r>
            <a:endParaRPr lang="en-US" sz="1200" dirty="0"/>
          </a:p>
        </p:txBody>
      </p:sp>
      <p:sp>
        <p:nvSpPr>
          <p:cNvPr id="28" name="Ten buoc 3"/>
          <p:cNvSpPr txBox="1"/>
          <p:nvPr/>
        </p:nvSpPr>
        <p:spPr>
          <a:xfrm>
            <a:off x="5596128" y="2157984"/>
            <a:ext cx="1444752" cy="749808"/>
          </a:xfrm>
          <a:prstGeom prst="rect">
            <a:avLst/>
          </a:prstGeom>
          <a:noFill/>
          <a:ln/>
        </p:spPr>
        <p:txBody>
          <a:bodyPr wrap="square" lIns="0" tIns="0" rIns="0" bIns="0" rtlCol="0" anchor="ctr"/>
          <a:lstStyle/>
          <a:p>
            <a:pPr marL="0" indent="0" algn="l">
              <a:buNone/>
            </a:pPr>
            <a:r>
              <a:rPr lang="en-US" sz="1400" b="1" dirty="0">
                <a:solidFill>
                  <a:schemeClr val="tx1"/>
                </a:solidFill>
              </a:rPr>
              <a:t>Gọt, tách, cắt</a:t>
            </a:r>
            <a:endParaRPr lang="en-US" sz="1400" dirty="0"/>
          </a:p>
        </p:txBody>
      </p:sp>
      <p:sp>
        <p:nvSpPr>
          <p:cNvPr id="29" name="Chip 3"/>
          <p:cNvSpPr/>
          <p:nvPr/>
        </p:nvSpPr>
        <p:spPr>
          <a:xfrm>
            <a:off x="5093208" y="2999232"/>
            <a:ext cx="2011680" cy="256032"/>
          </a:xfrm>
          <a:prstGeom prst="roundRect">
            <a:avLst>
              <a:gd name="adj" fmla="val 21429"/>
            </a:avLst>
          </a:prstGeom>
          <a:solidFill>
            <a:srgbClr val="E3EDE6"/>
          </a:solidFill>
          <a:ln/>
        </p:spPr>
      </p:sp>
      <p:sp>
        <p:nvSpPr>
          <p:cNvPr id="30" name="Chu chip 3"/>
          <p:cNvSpPr txBox="1"/>
          <p:nvPr/>
        </p:nvSpPr>
        <p:spPr>
          <a:xfrm>
            <a:off x="5166360" y="2999232"/>
            <a:ext cx="1874520" cy="256032"/>
          </a:xfrm>
          <a:prstGeom prst="rect">
            <a:avLst/>
          </a:prstGeom>
          <a:noFill/>
          <a:ln/>
        </p:spPr>
        <p:txBody>
          <a:bodyPr wrap="square" lIns="0" tIns="0" rIns="0" bIns="0" rtlCol="0" anchor="ctr"/>
          <a:lstStyle/>
          <a:p>
            <a:pPr marL="0" indent="0" algn="l">
              <a:buNone/>
            </a:pPr>
            <a:r>
              <a:rPr lang="en-US" sz="1200" dirty="0">
                <a:solidFill>
                  <a:schemeClr val="tx1"/>
                </a:solidFill>
              </a:rPr>
              <a:t>Vệ sinh dụng cụ</a:t>
            </a:r>
            <a:endParaRPr lang="en-US" sz="1200" dirty="0"/>
          </a:p>
        </p:txBody>
      </p:sp>
      <p:sp>
        <p:nvSpPr>
          <p:cNvPr id="31" name="Buoc 4"/>
          <p:cNvSpPr/>
          <p:nvPr/>
        </p:nvSpPr>
        <p:spPr>
          <a:xfrm>
            <a:off x="7287768" y="2121408"/>
            <a:ext cx="2011680" cy="822960"/>
          </a:xfrm>
          <a:prstGeom prst="roundRect">
            <a:avLst>
              <a:gd name="adj" fmla="val 13333"/>
            </a:avLst>
          </a:prstGeom>
          <a:solidFill>
            <a:schemeClr val="bg1"/>
          </a:solidFill>
          <a:ln w="9525">
            <a:solidFill>
              <a:srgbClr val="D5DED8"/>
            </a:solidFill>
            <a:prstDash val="solid"/>
          </a:ln>
        </p:spPr>
      </p:sp>
      <p:sp>
        <p:nvSpPr>
          <p:cNvPr id="32" name="Vong buoc 4"/>
          <p:cNvSpPr/>
          <p:nvPr/>
        </p:nvSpPr>
        <p:spPr>
          <a:xfrm>
            <a:off x="7397496" y="2231136"/>
            <a:ext cx="310896" cy="310896"/>
          </a:xfrm>
          <a:prstGeom prst="ellipse">
            <a:avLst/>
          </a:prstGeom>
          <a:solidFill>
            <a:schemeClr val="accent1"/>
          </a:solidFill>
          <a:ln/>
        </p:spPr>
      </p:sp>
      <p:sp>
        <p:nvSpPr>
          <p:cNvPr id="33" name="So buoc 4"/>
          <p:cNvSpPr txBox="1"/>
          <p:nvPr/>
        </p:nvSpPr>
        <p:spPr>
          <a:xfrm>
            <a:off x="7397496" y="2231136"/>
            <a:ext cx="310896" cy="310896"/>
          </a:xfrm>
          <a:prstGeom prst="rect">
            <a:avLst/>
          </a:prstGeom>
          <a:noFill/>
          <a:ln/>
        </p:spPr>
        <p:txBody>
          <a:bodyPr wrap="square" lIns="0" tIns="0" rIns="0" bIns="0" rtlCol="0" anchor="ctr"/>
          <a:lstStyle/>
          <a:p>
            <a:pPr marL="0" indent="0" algn="ctr">
              <a:buNone/>
            </a:pPr>
            <a:r>
              <a:rPr lang="en-US" sz="1200" b="1" dirty="0">
                <a:solidFill>
                  <a:schemeClr val="bg1"/>
                </a:solidFill>
              </a:rPr>
              <a:t>4</a:t>
            </a:r>
            <a:endParaRPr lang="en-US" sz="1200" dirty="0"/>
          </a:p>
        </p:txBody>
      </p:sp>
      <p:sp>
        <p:nvSpPr>
          <p:cNvPr id="34" name="Ten buoc 4"/>
          <p:cNvSpPr txBox="1"/>
          <p:nvPr/>
        </p:nvSpPr>
        <p:spPr>
          <a:xfrm>
            <a:off x="7790688" y="2157984"/>
            <a:ext cx="1444752" cy="749808"/>
          </a:xfrm>
          <a:prstGeom prst="rect">
            <a:avLst/>
          </a:prstGeom>
          <a:noFill/>
          <a:ln/>
        </p:spPr>
        <p:txBody>
          <a:bodyPr wrap="square" lIns="0" tIns="0" rIns="0" bIns="0" rtlCol="0" anchor="ctr"/>
          <a:lstStyle/>
          <a:p>
            <a:pPr marL="0" indent="0" algn="l">
              <a:buNone/>
            </a:pPr>
            <a:r>
              <a:rPr lang="en-US" sz="1400" b="1" dirty="0">
                <a:solidFill>
                  <a:schemeClr val="tx1"/>
                </a:solidFill>
              </a:rPr>
              <a:t>Xử lý trước khi sấy</a:t>
            </a:r>
            <a:endParaRPr lang="en-US" sz="1400" dirty="0"/>
          </a:p>
        </p:txBody>
      </p:sp>
      <p:sp>
        <p:nvSpPr>
          <p:cNvPr id="35" name="Chip 4"/>
          <p:cNvSpPr/>
          <p:nvPr/>
        </p:nvSpPr>
        <p:spPr>
          <a:xfrm>
            <a:off x="7287768" y="2999232"/>
            <a:ext cx="2011680" cy="256032"/>
          </a:xfrm>
          <a:prstGeom prst="roundRect">
            <a:avLst>
              <a:gd name="adj" fmla="val 21429"/>
            </a:avLst>
          </a:prstGeom>
          <a:solidFill>
            <a:srgbClr val="E3EDE6"/>
          </a:solidFill>
          <a:ln/>
        </p:spPr>
      </p:sp>
      <p:sp>
        <p:nvSpPr>
          <p:cNvPr id="36" name="Chu chip 4"/>
          <p:cNvSpPr txBox="1"/>
          <p:nvPr/>
        </p:nvSpPr>
        <p:spPr>
          <a:xfrm>
            <a:off x="7360920" y="2999232"/>
            <a:ext cx="1874520" cy="256032"/>
          </a:xfrm>
          <a:prstGeom prst="rect">
            <a:avLst/>
          </a:prstGeom>
          <a:noFill/>
          <a:ln/>
        </p:spPr>
        <p:txBody>
          <a:bodyPr wrap="square" lIns="0" tIns="0" rIns="0" bIns="0" rtlCol="0" anchor="ctr"/>
          <a:lstStyle/>
          <a:p>
            <a:pPr marL="0" indent="0" algn="l">
              <a:buNone/>
            </a:pPr>
            <a:r>
              <a:rPr lang="en-US" sz="1200" dirty="0">
                <a:solidFill>
                  <a:schemeClr val="tx1"/>
                </a:solidFill>
              </a:rPr>
              <a:t>Phụ gia đúng danh mục</a:t>
            </a:r>
            <a:endParaRPr lang="en-US" sz="1200" dirty="0"/>
          </a:p>
        </p:txBody>
      </p:sp>
      <p:sp>
        <p:nvSpPr>
          <p:cNvPr id="37" name="Buoc 5"/>
          <p:cNvSpPr/>
          <p:nvPr/>
        </p:nvSpPr>
        <p:spPr>
          <a:xfrm>
            <a:off x="9482328" y="2121408"/>
            <a:ext cx="2011680" cy="822960"/>
          </a:xfrm>
          <a:prstGeom prst="roundRect">
            <a:avLst>
              <a:gd name="adj" fmla="val 13333"/>
            </a:avLst>
          </a:prstGeom>
          <a:solidFill>
            <a:schemeClr val="bg1"/>
          </a:solidFill>
          <a:ln w="9525">
            <a:solidFill>
              <a:srgbClr val="D5DED8"/>
            </a:solidFill>
            <a:prstDash val="solid"/>
          </a:ln>
        </p:spPr>
      </p:sp>
      <p:sp>
        <p:nvSpPr>
          <p:cNvPr id="38" name="Vong buoc 5"/>
          <p:cNvSpPr/>
          <p:nvPr/>
        </p:nvSpPr>
        <p:spPr>
          <a:xfrm>
            <a:off x="9592056" y="2231136"/>
            <a:ext cx="310896" cy="310896"/>
          </a:xfrm>
          <a:prstGeom prst="ellipse">
            <a:avLst/>
          </a:prstGeom>
          <a:solidFill>
            <a:schemeClr val="accent1"/>
          </a:solidFill>
          <a:ln/>
        </p:spPr>
      </p:sp>
      <p:sp>
        <p:nvSpPr>
          <p:cNvPr id="39" name="So buoc 5"/>
          <p:cNvSpPr txBox="1"/>
          <p:nvPr/>
        </p:nvSpPr>
        <p:spPr>
          <a:xfrm>
            <a:off x="9592056" y="2231136"/>
            <a:ext cx="310896" cy="310896"/>
          </a:xfrm>
          <a:prstGeom prst="rect">
            <a:avLst/>
          </a:prstGeom>
          <a:noFill/>
          <a:ln/>
        </p:spPr>
        <p:txBody>
          <a:bodyPr wrap="square" lIns="0" tIns="0" rIns="0" bIns="0" rtlCol="0" anchor="ctr"/>
          <a:lstStyle/>
          <a:p>
            <a:pPr marL="0" indent="0" algn="ctr">
              <a:buNone/>
            </a:pPr>
            <a:r>
              <a:rPr lang="en-US" sz="1200" b="1" dirty="0">
                <a:solidFill>
                  <a:schemeClr val="bg1"/>
                </a:solidFill>
              </a:rPr>
              <a:t>5</a:t>
            </a:r>
            <a:endParaRPr lang="en-US" sz="1200" dirty="0"/>
          </a:p>
        </p:txBody>
      </p:sp>
      <p:sp>
        <p:nvSpPr>
          <p:cNvPr id="40" name="Ten buoc 5"/>
          <p:cNvSpPr txBox="1"/>
          <p:nvPr/>
        </p:nvSpPr>
        <p:spPr>
          <a:xfrm>
            <a:off x="9985248" y="2157984"/>
            <a:ext cx="1444752" cy="749808"/>
          </a:xfrm>
          <a:prstGeom prst="rect">
            <a:avLst/>
          </a:prstGeom>
          <a:noFill/>
          <a:ln/>
        </p:spPr>
        <p:txBody>
          <a:bodyPr wrap="square" lIns="0" tIns="0" rIns="0" bIns="0" rtlCol="0" anchor="ctr"/>
          <a:lstStyle/>
          <a:p>
            <a:pPr marL="0" indent="0" algn="l">
              <a:buNone/>
            </a:pPr>
            <a:r>
              <a:rPr lang="en-US" sz="1400" b="1" dirty="0">
                <a:solidFill>
                  <a:schemeClr val="tx1"/>
                </a:solidFill>
              </a:rPr>
              <a:t>Sấy</a:t>
            </a:r>
            <a:endParaRPr lang="en-US" sz="1400" dirty="0"/>
          </a:p>
        </p:txBody>
      </p:sp>
      <p:sp>
        <p:nvSpPr>
          <p:cNvPr id="41" name="Chip 5"/>
          <p:cNvSpPr/>
          <p:nvPr/>
        </p:nvSpPr>
        <p:spPr>
          <a:xfrm>
            <a:off x="9482328" y="2999232"/>
            <a:ext cx="2011680" cy="256032"/>
          </a:xfrm>
          <a:prstGeom prst="roundRect">
            <a:avLst>
              <a:gd name="adj" fmla="val 21429"/>
            </a:avLst>
          </a:prstGeom>
          <a:solidFill>
            <a:srgbClr val="FBF1D8"/>
          </a:solidFill>
          <a:ln/>
        </p:spPr>
      </p:sp>
      <p:sp>
        <p:nvSpPr>
          <p:cNvPr id="42" name="Chu chip 5"/>
          <p:cNvSpPr txBox="1"/>
          <p:nvPr/>
        </p:nvSpPr>
        <p:spPr>
          <a:xfrm>
            <a:off x="9555480" y="2999232"/>
            <a:ext cx="1874520" cy="256032"/>
          </a:xfrm>
          <a:prstGeom prst="rect">
            <a:avLst/>
          </a:prstGeom>
          <a:noFill/>
          <a:ln/>
        </p:spPr>
        <p:txBody>
          <a:bodyPr wrap="square" lIns="0" tIns="0" rIns="0" bIns="0" rtlCol="0" anchor="ctr"/>
          <a:lstStyle/>
          <a:p>
            <a:pPr marL="0" indent="0" algn="l">
              <a:buNone/>
            </a:pPr>
            <a:r>
              <a:rPr lang="en-US" sz="1200" b="1" dirty="0">
                <a:solidFill>
                  <a:schemeClr val="accent6"/>
                </a:solidFill>
              </a:rPr>
              <a:t>CCP: nhiệt độ, độ ẩm</a:t>
            </a:r>
            <a:endParaRPr lang="en-US" sz="1200" dirty="0"/>
          </a:p>
        </p:txBody>
      </p:sp>
      <p:sp>
        <p:nvSpPr>
          <p:cNvPr id="43" name="Khu 2"/>
          <p:cNvSpPr/>
          <p:nvPr/>
        </p:nvSpPr>
        <p:spPr>
          <a:xfrm>
            <a:off x="548640" y="3611880"/>
            <a:ext cx="11094415" cy="1600200"/>
          </a:xfrm>
          <a:prstGeom prst="roundRect">
            <a:avLst>
              <a:gd name="adj" fmla="val 6857"/>
            </a:avLst>
          </a:prstGeom>
          <a:solidFill>
            <a:schemeClr val="bg2"/>
          </a:solidFill>
          <a:ln/>
        </p:spPr>
      </p:sp>
      <p:sp>
        <p:nvSpPr>
          <p:cNvPr id="44" name="Nhan khu 2"/>
          <p:cNvSpPr txBox="1"/>
          <p:nvPr/>
        </p:nvSpPr>
        <p:spPr>
          <a:xfrm>
            <a:off x="731520" y="3685032"/>
            <a:ext cx="5486400" cy="237744"/>
          </a:xfrm>
          <a:prstGeom prst="rect">
            <a:avLst/>
          </a:prstGeom>
          <a:noFill/>
          <a:ln/>
        </p:spPr>
        <p:txBody>
          <a:bodyPr wrap="square" lIns="0" tIns="0" rIns="0" bIns="0" rtlCol="0" anchor="t"/>
          <a:lstStyle/>
          <a:p>
            <a:pPr marL="0" indent="0" algn="l">
              <a:buNone/>
            </a:pPr>
            <a:r>
              <a:rPr lang="en-US" sz="1200" b="1" kern="0" spc="100" dirty="0">
                <a:solidFill>
                  <a:schemeClr val="accent1"/>
                </a:solidFill>
              </a:rPr>
              <a:t>KHU SẠCH · nguy cơ thấp</a:t>
            </a:r>
            <a:endParaRPr lang="en-US" sz="1200" dirty="0"/>
          </a:p>
        </p:txBody>
      </p:sp>
      <p:sp>
        <p:nvSpPr>
          <p:cNvPr id="45" name="Buoc 6"/>
          <p:cNvSpPr/>
          <p:nvPr/>
        </p:nvSpPr>
        <p:spPr>
          <a:xfrm>
            <a:off x="704088" y="3995928"/>
            <a:ext cx="2011680" cy="822960"/>
          </a:xfrm>
          <a:prstGeom prst="roundRect">
            <a:avLst>
              <a:gd name="adj" fmla="val 13333"/>
            </a:avLst>
          </a:prstGeom>
          <a:solidFill>
            <a:schemeClr val="bg1"/>
          </a:solidFill>
          <a:ln w="9525">
            <a:solidFill>
              <a:srgbClr val="D5DED8"/>
            </a:solidFill>
            <a:prstDash val="solid"/>
          </a:ln>
        </p:spPr>
      </p:sp>
      <p:sp>
        <p:nvSpPr>
          <p:cNvPr id="46" name="Vong buoc 6"/>
          <p:cNvSpPr/>
          <p:nvPr/>
        </p:nvSpPr>
        <p:spPr>
          <a:xfrm>
            <a:off x="813816" y="4105656"/>
            <a:ext cx="310896" cy="310896"/>
          </a:xfrm>
          <a:prstGeom prst="ellipse">
            <a:avLst/>
          </a:prstGeom>
          <a:solidFill>
            <a:schemeClr val="accent1"/>
          </a:solidFill>
          <a:ln/>
        </p:spPr>
      </p:sp>
      <p:sp>
        <p:nvSpPr>
          <p:cNvPr id="47" name="So buoc 6"/>
          <p:cNvSpPr txBox="1"/>
          <p:nvPr/>
        </p:nvSpPr>
        <p:spPr>
          <a:xfrm>
            <a:off x="813816" y="4105656"/>
            <a:ext cx="310896" cy="310896"/>
          </a:xfrm>
          <a:prstGeom prst="rect">
            <a:avLst/>
          </a:prstGeom>
          <a:noFill/>
          <a:ln/>
        </p:spPr>
        <p:txBody>
          <a:bodyPr wrap="square" lIns="0" tIns="0" rIns="0" bIns="0" rtlCol="0" anchor="ctr"/>
          <a:lstStyle/>
          <a:p>
            <a:pPr marL="0" indent="0" algn="ctr">
              <a:buNone/>
            </a:pPr>
            <a:r>
              <a:rPr lang="en-US" sz="1200" b="1" dirty="0">
                <a:solidFill>
                  <a:schemeClr val="bg1"/>
                </a:solidFill>
              </a:rPr>
              <a:t>6</a:t>
            </a:r>
            <a:endParaRPr lang="en-US" sz="1200" dirty="0"/>
          </a:p>
        </p:txBody>
      </p:sp>
      <p:sp>
        <p:nvSpPr>
          <p:cNvPr id="48" name="Ten buoc 6"/>
          <p:cNvSpPr txBox="1"/>
          <p:nvPr/>
        </p:nvSpPr>
        <p:spPr>
          <a:xfrm>
            <a:off x="1207008" y="4032504"/>
            <a:ext cx="1444752" cy="749808"/>
          </a:xfrm>
          <a:prstGeom prst="rect">
            <a:avLst/>
          </a:prstGeom>
          <a:noFill/>
          <a:ln/>
        </p:spPr>
        <p:txBody>
          <a:bodyPr wrap="square" lIns="0" tIns="0" rIns="0" bIns="0" rtlCol="0" anchor="ctr"/>
          <a:lstStyle/>
          <a:p>
            <a:pPr marL="0" indent="0" algn="l">
              <a:buNone/>
            </a:pPr>
            <a:r>
              <a:rPr lang="en-US" sz="1400" b="1" dirty="0">
                <a:solidFill>
                  <a:schemeClr val="tx1"/>
                </a:solidFill>
              </a:rPr>
              <a:t>Làm nguội, chọn lọc</a:t>
            </a:r>
            <a:endParaRPr lang="en-US" sz="1400" dirty="0"/>
          </a:p>
        </p:txBody>
      </p:sp>
      <p:sp>
        <p:nvSpPr>
          <p:cNvPr id="49" name="Chip 6"/>
          <p:cNvSpPr/>
          <p:nvPr/>
        </p:nvSpPr>
        <p:spPr>
          <a:xfrm>
            <a:off x="704088" y="4873752"/>
            <a:ext cx="2011680" cy="256032"/>
          </a:xfrm>
          <a:prstGeom prst="roundRect">
            <a:avLst>
              <a:gd name="adj" fmla="val 21429"/>
            </a:avLst>
          </a:prstGeom>
          <a:solidFill>
            <a:srgbClr val="E3EDE6"/>
          </a:solidFill>
          <a:ln/>
        </p:spPr>
      </p:sp>
      <p:sp>
        <p:nvSpPr>
          <p:cNvPr id="50" name="Chu chip 6"/>
          <p:cNvSpPr txBox="1"/>
          <p:nvPr/>
        </p:nvSpPr>
        <p:spPr>
          <a:xfrm>
            <a:off x="777240" y="4873752"/>
            <a:ext cx="1874520" cy="256032"/>
          </a:xfrm>
          <a:prstGeom prst="rect">
            <a:avLst/>
          </a:prstGeom>
          <a:noFill/>
          <a:ln/>
        </p:spPr>
        <p:txBody>
          <a:bodyPr wrap="square" lIns="0" tIns="0" rIns="0" bIns="0" rtlCol="0" anchor="ctr"/>
          <a:lstStyle/>
          <a:p>
            <a:pPr marL="0" indent="0" algn="l">
              <a:buNone/>
            </a:pPr>
            <a:r>
              <a:rPr lang="en-US" sz="1200" dirty="0">
                <a:solidFill>
                  <a:schemeClr val="tx1"/>
                </a:solidFill>
              </a:rPr>
              <a:t>Loại bỏ dị vật</a:t>
            </a:r>
            <a:endParaRPr lang="en-US" sz="1200" dirty="0"/>
          </a:p>
        </p:txBody>
      </p:sp>
      <p:sp>
        <p:nvSpPr>
          <p:cNvPr id="51" name="Buoc 7"/>
          <p:cNvSpPr/>
          <p:nvPr/>
        </p:nvSpPr>
        <p:spPr>
          <a:xfrm>
            <a:off x="2898648" y="3995928"/>
            <a:ext cx="2011680" cy="822960"/>
          </a:xfrm>
          <a:prstGeom prst="roundRect">
            <a:avLst>
              <a:gd name="adj" fmla="val 13333"/>
            </a:avLst>
          </a:prstGeom>
          <a:solidFill>
            <a:schemeClr val="bg1"/>
          </a:solidFill>
          <a:ln w="9525">
            <a:solidFill>
              <a:srgbClr val="D5DED8"/>
            </a:solidFill>
            <a:prstDash val="solid"/>
          </a:ln>
        </p:spPr>
      </p:sp>
      <p:sp>
        <p:nvSpPr>
          <p:cNvPr id="52" name="Vong buoc 7"/>
          <p:cNvSpPr/>
          <p:nvPr/>
        </p:nvSpPr>
        <p:spPr>
          <a:xfrm>
            <a:off x="3008376" y="4105656"/>
            <a:ext cx="310896" cy="310896"/>
          </a:xfrm>
          <a:prstGeom prst="ellipse">
            <a:avLst/>
          </a:prstGeom>
          <a:solidFill>
            <a:schemeClr val="accent1"/>
          </a:solidFill>
          <a:ln/>
        </p:spPr>
      </p:sp>
      <p:sp>
        <p:nvSpPr>
          <p:cNvPr id="53" name="So buoc 7"/>
          <p:cNvSpPr txBox="1"/>
          <p:nvPr/>
        </p:nvSpPr>
        <p:spPr>
          <a:xfrm>
            <a:off x="3008376" y="4105656"/>
            <a:ext cx="310896" cy="310896"/>
          </a:xfrm>
          <a:prstGeom prst="rect">
            <a:avLst/>
          </a:prstGeom>
          <a:noFill/>
          <a:ln/>
        </p:spPr>
        <p:txBody>
          <a:bodyPr wrap="square" lIns="0" tIns="0" rIns="0" bIns="0" rtlCol="0" anchor="ctr"/>
          <a:lstStyle/>
          <a:p>
            <a:pPr marL="0" indent="0" algn="ctr">
              <a:buNone/>
            </a:pPr>
            <a:r>
              <a:rPr lang="en-US" sz="1200" b="1" dirty="0">
                <a:solidFill>
                  <a:schemeClr val="bg1"/>
                </a:solidFill>
              </a:rPr>
              <a:t>7</a:t>
            </a:r>
            <a:endParaRPr lang="en-US" sz="1200" dirty="0"/>
          </a:p>
        </p:txBody>
      </p:sp>
      <p:sp>
        <p:nvSpPr>
          <p:cNvPr id="54" name="Ten buoc 7"/>
          <p:cNvSpPr txBox="1"/>
          <p:nvPr/>
        </p:nvSpPr>
        <p:spPr>
          <a:xfrm>
            <a:off x="3401568" y="4032504"/>
            <a:ext cx="1444752" cy="749808"/>
          </a:xfrm>
          <a:prstGeom prst="rect">
            <a:avLst/>
          </a:prstGeom>
          <a:noFill/>
          <a:ln/>
        </p:spPr>
        <p:txBody>
          <a:bodyPr wrap="square" lIns="0" tIns="0" rIns="0" bIns="0" rtlCol="0" anchor="ctr"/>
          <a:lstStyle/>
          <a:p>
            <a:pPr marL="0" indent="0" algn="l">
              <a:buNone/>
            </a:pPr>
            <a:r>
              <a:rPr lang="en-US" sz="1400" b="1" dirty="0">
                <a:solidFill>
                  <a:schemeClr val="tx1"/>
                </a:solidFill>
              </a:rPr>
              <a:t>Dò kim loại</a:t>
            </a:r>
            <a:endParaRPr lang="en-US" sz="1400" dirty="0"/>
          </a:p>
        </p:txBody>
      </p:sp>
      <p:sp>
        <p:nvSpPr>
          <p:cNvPr id="55" name="Chip 7"/>
          <p:cNvSpPr/>
          <p:nvPr/>
        </p:nvSpPr>
        <p:spPr>
          <a:xfrm>
            <a:off x="2898648" y="4873752"/>
            <a:ext cx="2011680" cy="256032"/>
          </a:xfrm>
          <a:prstGeom prst="roundRect">
            <a:avLst>
              <a:gd name="adj" fmla="val 21429"/>
            </a:avLst>
          </a:prstGeom>
          <a:solidFill>
            <a:srgbClr val="FBF1D8"/>
          </a:solidFill>
          <a:ln/>
        </p:spPr>
      </p:sp>
      <p:sp>
        <p:nvSpPr>
          <p:cNvPr id="56" name="Chu chip 7"/>
          <p:cNvSpPr txBox="1"/>
          <p:nvPr/>
        </p:nvSpPr>
        <p:spPr>
          <a:xfrm>
            <a:off x="2971800" y="4873752"/>
            <a:ext cx="1874520" cy="256032"/>
          </a:xfrm>
          <a:prstGeom prst="rect">
            <a:avLst/>
          </a:prstGeom>
          <a:noFill/>
          <a:ln/>
        </p:spPr>
        <p:txBody>
          <a:bodyPr wrap="square" lIns="0" tIns="0" rIns="0" bIns="0" rtlCol="0" anchor="ctr"/>
          <a:lstStyle/>
          <a:p>
            <a:pPr marL="0" indent="0" algn="l">
              <a:buNone/>
            </a:pPr>
            <a:r>
              <a:rPr lang="en-US" sz="1200" b="1" dirty="0">
                <a:solidFill>
                  <a:schemeClr val="accent6"/>
                </a:solidFill>
              </a:rPr>
              <a:t>CCP: dò kim loại</a:t>
            </a:r>
            <a:endParaRPr lang="en-US" sz="1200" dirty="0"/>
          </a:p>
        </p:txBody>
      </p:sp>
      <p:sp>
        <p:nvSpPr>
          <p:cNvPr id="57" name="Buoc 8"/>
          <p:cNvSpPr/>
          <p:nvPr/>
        </p:nvSpPr>
        <p:spPr>
          <a:xfrm>
            <a:off x="5093208" y="3995928"/>
            <a:ext cx="2011680" cy="822960"/>
          </a:xfrm>
          <a:prstGeom prst="roundRect">
            <a:avLst>
              <a:gd name="adj" fmla="val 13333"/>
            </a:avLst>
          </a:prstGeom>
          <a:solidFill>
            <a:schemeClr val="bg1"/>
          </a:solidFill>
          <a:ln w="9525">
            <a:solidFill>
              <a:srgbClr val="D5DED8"/>
            </a:solidFill>
            <a:prstDash val="solid"/>
          </a:ln>
        </p:spPr>
      </p:sp>
      <p:sp>
        <p:nvSpPr>
          <p:cNvPr id="58" name="Vong buoc 8"/>
          <p:cNvSpPr/>
          <p:nvPr/>
        </p:nvSpPr>
        <p:spPr>
          <a:xfrm>
            <a:off x="5202936" y="4105656"/>
            <a:ext cx="310896" cy="310896"/>
          </a:xfrm>
          <a:prstGeom prst="ellipse">
            <a:avLst/>
          </a:prstGeom>
          <a:solidFill>
            <a:schemeClr val="accent1"/>
          </a:solidFill>
          <a:ln/>
        </p:spPr>
      </p:sp>
      <p:sp>
        <p:nvSpPr>
          <p:cNvPr id="59" name="So buoc 8"/>
          <p:cNvSpPr txBox="1"/>
          <p:nvPr/>
        </p:nvSpPr>
        <p:spPr>
          <a:xfrm>
            <a:off x="5202936" y="4105656"/>
            <a:ext cx="310896" cy="310896"/>
          </a:xfrm>
          <a:prstGeom prst="rect">
            <a:avLst/>
          </a:prstGeom>
          <a:noFill/>
          <a:ln/>
        </p:spPr>
        <p:txBody>
          <a:bodyPr wrap="square" lIns="0" tIns="0" rIns="0" bIns="0" rtlCol="0" anchor="ctr"/>
          <a:lstStyle/>
          <a:p>
            <a:pPr marL="0" indent="0" algn="ctr">
              <a:buNone/>
            </a:pPr>
            <a:r>
              <a:rPr lang="en-US" sz="1200" b="1" dirty="0">
                <a:solidFill>
                  <a:schemeClr val="bg1"/>
                </a:solidFill>
              </a:rPr>
              <a:t>8</a:t>
            </a:r>
            <a:endParaRPr lang="en-US" sz="1200" dirty="0"/>
          </a:p>
        </p:txBody>
      </p:sp>
      <p:sp>
        <p:nvSpPr>
          <p:cNvPr id="60" name="Ten buoc 8"/>
          <p:cNvSpPr txBox="1"/>
          <p:nvPr/>
        </p:nvSpPr>
        <p:spPr>
          <a:xfrm>
            <a:off x="5596128" y="4032504"/>
            <a:ext cx="1444752" cy="749808"/>
          </a:xfrm>
          <a:prstGeom prst="rect">
            <a:avLst/>
          </a:prstGeom>
          <a:noFill/>
          <a:ln/>
        </p:spPr>
        <p:txBody>
          <a:bodyPr wrap="square" lIns="0" tIns="0" rIns="0" bIns="0" rtlCol="0" anchor="ctr"/>
          <a:lstStyle/>
          <a:p>
            <a:pPr marL="0" indent="0" algn="l">
              <a:buNone/>
            </a:pPr>
            <a:r>
              <a:rPr lang="en-US" sz="1400" b="1" dirty="0">
                <a:solidFill>
                  <a:schemeClr val="tx1"/>
                </a:solidFill>
              </a:rPr>
              <a:t>Đóng gói kín, hút chân không</a:t>
            </a:r>
            <a:endParaRPr lang="en-US" sz="1400" dirty="0"/>
          </a:p>
        </p:txBody>
      </p:sp>
      <p:sp>
        <p:nvSpPr>
          <p:cNvPr id="61" name="Chip 8"/>
          <p:cNvSpPr/>
          <p:nvPr/>
        </p:nvSpPr>
        <p:spPr>
          <a:xfrm>
            <a:off x="5093208" y="4873752"/>
            <a:ext cx="2011680" cy="256032"/>
          </a:xfrm>
          <a:prstGeom prst="roundRect">
            <a:avLst>
              <a:gd name="adj" fmla="val 21429"/>
            </a:avLst>
          </a:prstGeom>
          <a:solidFill>
            <a:srgbClr val="E3EDE6"/>
          </a:solidFill>
          <a:ln/>
        </p:spPr>
      </p:sp>
      <p:sp>
        <p:nvSpPr>
          <p:cNvPr id="62" name="Chu chip 8"/>
          <p:cNvSpPr txBox="1"/>
          <p:nvPr/>
        </p:nvSpPr>
        <p:spPr>
          <a:xfrm>
            <a:off x="5166360" y="4873752"/>
            <a:ext cx="1874520" cy="256032"/>
          </a:xfrm>
          <a:prstGeom prst="rect">
            <a:avLst/>
          </a:prstGeom>
          <a:noFill/>
          <a:ln/>
        </p:spPr>
        <p:txBody>
          <a:bodyPr wrap="square" lIns="0" tIns="0" rIns="0" bIns="0" rtlCol="0" anchor="ctr"/>
          <a:lstStyle/>
          <a:p>
            <a:pPr marL="0" indent="0" algn="l">
              <a:buNone/>
            </a:pPr>
            <a:r>
              <a:rPr lang="en-US" sz="1200" dirty="0">
                <a:solidFill>
                  <a:schemeClr val="tx1"/>
                </a:solidFill>
              </a:rPr>
              <a:t>Kiểm tra kín túi</a:t>
            </a:r>
            <a:endParaRPr lang="en-US" sz="1200" dirty="0"/>
          </a:p>
        </p:txBody>
      </p:sp>
      <p:sp>
        <p:nvSpPr>
          <p:cNvPr id="63" name="Buoc 9"/>
          <p:cNvSpPr/>
          <p:nvPr/>
        </p:nvSpPr>
        <p:spPr>
          <a:xfrm>
            <a:off x="7287768" y="3995928"/>
            <a:ext cx="2011680" cy="822960"/>
          </a:xfrm>
          <a:prstGeom prst="roundRect">
            <a:avLst>
              <a:gd name="adj" fmla="val 13333"/>
            </a:avLst>
          </a:prstGeom>
          <a:solidFill>
            <a:schemeClr val="bg1"/>
          </a:solidFill>
          <a:ln w="9525">
            <a:solidFill>
              <a:srgbClr val="D5DED8"/>
            </a:solidFill>
            <a:prstDash val="solid"/>
          </a:ln>
        </p:spPr>
      </p:sp>
      <p:sp>
        <p:nvSpPr>
          <p:cNvPr id="64" name="Vong buoc 9"/>
          <p:cNvSpPr/>
          <p:nvPr/>
        </p:nvSpPr>
        <p:spPr>
          <a:xfrm>
            <a:off x="7397496" y="4105656"/>
            <a:ext cx="310896" cy="310896"/>
          </a:xfrm>
          <a:prstGeom prst="ellipse">
            <a:avLst/>
          </a:prstGeom>
          <a:solidFill>
            <a:schemeClr val="accent1"/>
          </a:solidFill>
          <a:ln/>
        </p:spPr>
      </p:sp>
      <p:sp>
        <p:nvSpPr>
          <p:cNvPr id="65" name="So buoc 9"/>
          <p:cNvSpPr txBox="1"/>
          <p:nvPr/>
        </p:nvSpPr>
        <p:spPr>
          <a:xfrm>
            <a:off x="7397496" y="4105656"/>
            <a:ext cx="310896" cy="310896"/>
          </a:xfrm>
          <a:prstGeom prst="rect">
            <a:avLst/>
          </a:prstGeom>
          <a:noFill/>
          <a:ln/>
        </p:spPr>
        <p:txBody>
          <a:bodyPr wrap="square" lIns="0" tIns="0" rIns="0" bIns="0" rtlCol="0" anchor="ctr"/>
          <a:lstStyle/>
          <a:p>
            <a:pPr marL="0" indent="0" algn="ctr">
              <a:buNone/>
            </a:pPr>
            <a:r>
              <a:rPr lang="en-US" sz="1200" b="1" dirty="0">
                <a:solidFill>
                  <a:schemeClr val="bg1"/>
                </a:solidFill>
              </a:rPr>
              <a:t>9</a:t>
            </a:r>
            <a:endParaRPr lang="en-US" sz="1200" dirty="0"/>
          </a:p>
        </p:txBody>
      </p:sp>
      <p:sp>
        <p:nvSpPr>
          <p:cNvPr id="66" name="Ten buoc 9"/>
          <p:cNvSpPr txBox="1"/>
          <p:nvPr/>
        </p:nvSpPr>
        <p:spPr>
          <a:xfrm>
            <a:off x="7790688" y="4032504"/>
            <a:ext cx="1444752" cy="749808"/>
          </a:xfrm>
          <a:prstGeom prst="rect">
            <a:avLst/>
          </a:prstGeom>
          <a:noFill/>
          <a:ln/>
        </p:spPr>
        <p:txBody>
          <a:bodyPr wrap="square" lIns="0" tIns="0" rIns="0" bIns="0" rtlCol="0" anchor="ctr"/>
          <a:lstStyle/>
          <a:p>
            <a:pPr marL="0" indent="0" algn="l">
              <a:buNone/>
            </a:pPr>
            <a:r>
              <a:rPr lang="en-US" sz="1400" b="1" dirty="0">
                <a:solidFill>
                  <a:schemeClr val="tx1"/>
                </a:solidFill>
              </a:rPr>
              <a:t>Dán nhãn, gắn mã lô</a:t>
            </a:r>
            <a:endParaRPr lang="en-US" sz="1400" dirty="0"/>
          </a:p>
        </p:txBody>
      </p:sp>
      <p:sp>
        <p:nvSpPr>
          <p:cNvPr id="67" name="Chip 9"/>
          <p:cNvSpPr/>
          <p:nvPr/>
        </p:nvSpPr>
        <p:spPr>
          <a:xfrm>
            <a:off x="7287768" y="4873752"/>
            <a:ext cx="2011680" cy="256032"/>
          </a:xfrm>
          <a:prstGeom prst="roundRect">
            <a:avLst>
              <a:gd name="adj" fmla="val 21429"/>
            </a:avLst>
          </a:prstGeom>
          <a:solidFill>
            <a:srgbClr val="E3EDE6"/>
          </a:solidFill>
          <a:ln/>
        </p:spPr>
      </p:sp>
      <p:sp>
        <p:nvSpPr>
          <p:cNvPr id="68" name="Chu chip 9"/>
          <p:cNvSpPr txBox="1"/>
          <p:nvPr/>
        </p:nvSpPr>
        <p:spPr>
          <a:xfrm>
            <a:off x="7360920" y="4873752"/>
            <a:ext cx="1874520" cy="256032"/>
          </a:xfrm>
          <a:prstGeom prst="rect">
            <a:avLst/>
          </a:prstGeom>
          <a:noFill/>
          <a:ln/>
        </p:spPr>
        <p:txBody>
          <a:bodyPr wrap="square" lIns="0" tIns="0" rIns="0" bIns="0" rtlCol="0" anchor="ctr"/>
          <a:lstStyle/>
          <a:p>
            <a:pPr marL="0" indent="0" algn="l">
              <a:buNone/>
            </a:pPr>
            <a:r>
              <a:rPr lang="en-US" sz="1200" dirty="0">
                <a:solidFill>
                  <a:schemeClr val="tx1"/>
                </a:solidFill>
              </a:rPr>
              <a:t>Nhãn khớp sản phẩm</a:t>
            </a:r>
            <a:endParaRPr lang="en-US" sz="1200" dirty="0"/>
          </a:p>
        </p:txBody>
      </p:sp>
      <p:sp>
        <p:nvSpPr>
          <p:cNvPr id="69" name="Buoc 10"/>
          <p:cNvSpPr/>
          <p:nvPr/>
        </p:nvSpPr>
        <p:spPr>
          <a:xfrm>
            <a:off x="9482328" y="3995928"/>
            <a:ext cx="2011680" cy="822960"/>
          </a:xfrm>
          <a:prstGeom prst="roundRect">
            <a:avLst>
              <a:gd name="adj" fmla="val 13333"/>
            </a:avLst>
          </a:prstGeom>
          <a:solidFill>
            <a:schemeClr val="bg1"/>
          </a:solidFill>
          <a:ln w="9525">
            <a:solidFill>
              <a:srgbClr val="D5DED8"/>
            </a:solidFill>
            <a:prstDash val="solid"/>
          </a:ln>
        </p:spPr>
      </p:sp>
      <p:sp>
        <p:nvSpPr>
          <p:cNvPr id="70" name="Vong buoc 10"/>
          <p:cNvSpPr/>
          <p:nvPr/>
        </p:nvSpPr>
        <p:spPr>
          <a:xfrm>
            <a:off x="9592056" y="4105656"/>
            <a:ext cx="310896" cy="310896"/>
          </a:xfrm>
          <a:prstGeom prst="ellipse">
            <a:avLst/>
          </a:prstGeom>
          <a:solidFill>
            <a:schemeClr val="accent1"/>
          </a:solidFill>
          <a:ln/>
        </p:spPr>
      </p:sp>
      <p:sp>
        <p:nvSpPr>
          <p:cNvPr id="71" name="So buoc 10"/>
          <p:cNvSpPr txBox="1"/>
          <p:nvPr/>
        </p:nvSpPr>
        <p:spPr>
          <a:xfrm>
            <a:off x="9592056" y="4105656"/>
            <a:ext cx="310896" cy="310896"/>
          </a:xfrm>
          <a:prstGeom prst="rect">
            <a:avLst/>
          </a:prstGeom>
          <a:noFill/>
          <a:ln/>
        </p:spPr>
        <p:txBody>
          <a:bodyPr wrap="square" lIns="0" tIns="0" rIns="0" bIns="0" rtlCol="0" anchor="ctr"/>
          <a:lstStyle/>
          <a:p>
            <a:pPr marL="0" indent="0" algn="ctr">
              <a:buNone/>
            </a:pPr>
            <a:r>
              <a:rPr lang="en-US" sz="1200" b="1" dirty="0">
                <a:solidFill>
                  <a:schemeClr val="bg1"/>
                </a:solidFill>
              </a:rPr>
              <a:t>10</a:t>
            </a:r>
            <a:endParaRPr lang="en-US" sz="1200" dirty="0"/>
          </a:p>
        </p:txBody>
      </p:sp>
      <p:sp>
        <p:nvSpPr>
          <p:cNvPr id="72" name="Ten buoc 10"/>
          <p:cNvSpPr txBox="1"/>
          <p:nvPr/>
        </p:nvSpPr>
        <p:spPr>
          <a:xfrm>
            <a:off x="9985248" y="4032504"/>
            <a:ext cx="1444752" cy="749808"/>
          </a:xfrm>
          <a:prstGeom prst="rect">
            <a:avLst/>
          </a:prstGeom>
          <a:noFill/>
          <a:ln/>
        </p:spPr>
        <p:txBody>
          <a:bodyPr wrap="square" lIns="0" tIns="0" rIns="0" bIns="0" rtlCol="0" anchor="ctr"/>
          <a:lstStyle/>
          <a:p>
            <a:pPr marL="0" indent="0" algn="l">
              <a:buNone/>
            </a:pPr>
            <a:r>
              <a:rPr lang="en-US" sz="1400" b="1" dirty="0">
                <a:solidFill>
                  <a:schemeClr val="tx1"/>
                </a:solidFill>
              </a:rPr>
              <a:t>Kho thành phẩm, xuất hàng</a:t>
            </a:r>
            <a:endParaRPr lang="en-US" sz="1400" dirty="0"/>
          </a:p>
        </p:txBody>
      </p:sp>
      <p:sp>
        <p:nvSpPr>
          <p:cNvPr id="73" name="Chip 10"/>
          <p:cNvSpPr/>
          <p:nvPr/>
        </p:nvSpPr>
        <p:spPr>
          <a:xfrm>
            <a:off x="9482328" y="4873752"/>
            <a:ext cx="2011680" cy="256032"/>
          </a:xfrm>
          <a:prstGeom prst="roundRect">
            <a:avLst>
              <a:gd name="adj" fmla="val 21429"/>
            </a:avLst>
          </a:prstGeom>
          <a:solidFill>
            <a:srgbClr val="E3EDE6"/>
          </a:solidFill>
          <a:ln/>
        </p:spPr>
      </p:sp>
      <p:sp>
        <p:nvSpPr>
          <p:cNvPr id="74" name="Chu chip 10"/>
          <p:cNvSpPr txBox="1"/>
          <p:nvPr/>
        </p:nvSpPr>
        <p:spPr>
          <a:xfrm>
            <a:off x="9555480" y="4873752"/>
            <a:ext cx="1874520" cy="256032"/>
          </a:xfrm>
          <a:prstGeom prst="rect">
            <a:avLst/>
          </a:prstGeom>
          <a:noFill/>
          <a:ln/>
        </p:spPr>
        <p:txBody>
          <a:bodyPr wrap="square" lIns="0" tIns="0" rIns="0" bIns="0" rtlCol="0" anchor="ctr"/>
          <a:lstStyle/>
          <a:p>
            <a:pPr marL="0" indent="0" algn="l">
              <a:buNone/>
            </a:pPr>
            <a:r>
              <a:rPr lang="en-US" sz="1200" dirty="0">
                <a:solidFill>
                  <a:schemeClr val="tx1"/>
                </a:solidFill>
              </a:rPr>
              <a:t>FIFO/FEFO, nhiệt độ kho</a:t>
            </a:r>
            <a:endParaRPr lang="en-US" sz="1200" dirty="0"/>
          </a:p>
        </p:txBody>
      </p:sp>
      <p:sp>
        <p:nvSpPr>
          <p:cNvPr id="75" name="Mui ten phong dem"/>
          <p:cNvSpPr/>
          <p:nvPr/>
        </p:nvSpPr>
        <p:spPr>
          <a:xfrm>
            <a:off x="2834640" y="3355848"/>
            <a:ext cx="201168" cy="219456"/>
          </a:xfrm>
          <a:prstGeom prst="downArrow">
            <a:avLst/>
          </a:prstGeom>
          <a:solidFill>
            <a:schemeClr val="accent2"/>
          </a:solidFill>
          <a:ln/>
        </p:spPr>
      </p:sp>
      <p:sp>
        <p:nvSpPr>
          <p:cNvPr id="76" name="Chu phong dem"/>
          <p:cNvSpPr txBox="1"/>
          <p:nvPr/>
        </p:nvSpPr>
        <p:spPr>
          <a:xfrm>
            <a:off x="3108960" y="3337560"/>
            <a:ext cx="5486400" cy="256032"/>
          </a:xfrm>
          <a:prstGeom prst="rect">
            <a:avLst/>
          </a:prstGeom>
          <a:noFill/>
          <a:ln/>
        </p:spPr>
        <p:txBody>
          <a:bodyPr wrap="square" lIns="0" tIns="0" rIns="0" bIns="0" rtlCol="0" anchor="ctr"/>
          <a:lstStyle/>
          <a:p>
            <a:pPr marL="0" indent="0" algn="l">
              <a:buNone/>
            </a:pPr>
            <a:r>
              <a:rPr lang="en-US" sz="1200" b="1" dirty="0">
                <a:solidFill>
                  <a:schemeClr val="accent1"/>
                </a:solidFill>
              </a:rPr>
              <a:t>Đi qua phòng đệm: thay bảo hộ, sát khuẩn tay</a:t>
            </a:r>
            <a:endParaRPr lang="en-US" sz="1200" dirty="0"/>
          </a:p>
        </p:txBody>
      </p:sp>
      <p:sp>
        <p:nvSpPr>
          <p:cNvPr id="77" name="Ha tang 1"/>
          <p:cNvSpPr/>
          <p:nvPr/>
        </p:nvSpPr>
        <p:spPr>
          <a:xfrm>
            <a:off x="548640" y="5349240"/>
            <a:ext cx="2651760" cy="777240"/>
          </a:xfrm>
          <a:prstGeom prst="roundRect">
            <a:avLst>
              <a:gd name="adj" fmla="val 14118"/>
            </a:avLst>
          </a:prstGeom>
          <a:solidFill>
            <a:schemeClr val="accent1"/>
          </a:solidFill>
          <a:ln/>
        </p:spPr>
      </p:sp>
      <p:pic>
        <p:nvPicPr>
          <p:cNvPr id="78" name="Bieu tuong ha tang 1" descr="Nước đạt chuẩn, xử lý nước thải"/>
          <p:cNvPicPr>
            <a:picLocks noChangeAspect="1"/>
          </p:cNvPicPr>
          <p:nvPr/>
        </p:nvPicPr>
        <p:blipFill>
          <a:blip r:embed="rId3"/>
          <a:stretch>
            <a:fillRect/>
          </a:stretch>
        </p:blipFill>
        <p:spPr>
          <a:xfrm>
            <a:off x="713232" y="5513832"/>
            <a:ext cx="457200" cy="457200"/>
          </a:xfrm>
          <a:prstGeom prst="rect">
            <a:avLst/>
          </a:prstGeom>
        </p:spPr>
      </p:pic>
      <p:sp>
        <p:nvSpPr>
          <p:cNvPr id="79" name="Chu ha tang 1"/>
          <p:cNvSpPr txBox="1"/>
          <p:nvPr/>
        </p:nvSpPr>
        <p:spPr>
          <a:xfrm>
            <a:off x="1261872" y="5394960"/>
            <a:ext cx="1828800" cy="685800"/>
          </a:xfrm>
          <a:prstGeom prst="rect">
            <a:avLst/>
          </a:prstGeom>
          <a:noFill/>
          <a:ln/>
        </p:spPr>
        <p:txBody>
          <a:bodyPr wrap="square" lIns="0" tIns="0" rIns="0" bIns="0" rtlCol="0" anchor="ctr"/>
          <a:lstStyle/>
          <a:p>
            <a:pPr marL="0" indent="0" algn="l">
              <a:buNone/>
            </a:pPr>
            <a:r>
              <a:rPr lang="en-US" sz="1400" b="1" dirty="0">
                <a:solidFill>
                  <a:schemeClr val="bg1"/>
                </a:solidFill>
              </a:rPr>
              <a:t>Nước đạt chuẩn, xử lý nước thải</a:t>
            </a:r>
            <a:endParaRPr lang="en-US" sz="1400" dirty="0"/>
          </a:p>
        </p:txBody>
      </p:sp>
      <p:sp>
        <p:nvSpPr>
          <p:cNvPr id="80" name="Ha tang 2"/>
          <p:cNvSpPr/>
          <p:nvPr/>
        </p:nvSpPr>
        <p:spPr>
          <a:xfrm>
            <a:off x="3362249" y="5349240"/>
            <a:ext cx="2651760" cy="777240"/>
          </a:xfrm>
          <a:prstGeom prst="roundRect">
            <a:avLst>
              <a:gd name="adj" fmla="val 14118"/>
            </a:avLst>
          </a:prstGeom>
          <a:solidFill>
            <a:schemeClr val="accent1"/>
          </a:solidFill>
          <a:ln/>
        </p:spPr>
      </p:sp>
      <p:pic>
        <p:nvPicPr>
          <p:cNvPr id="81" name="Bieu tuong ha tang 2" descr="Chống côn trùng, dị vật"/>
          <p:cNvPicPr>
            <a:picLocks noChangeAspect="1"/>
          </p:cNvPicPr>
          <p:nvPr/>
        </p:nvPicPr>
        <p:blipFill>
          <a:blip r:embed="rId4"/>
          <a:stretch>
            <a:fillRect/>
          </a:stretch>
        </p:blipFill>
        <p:spPr>
          <a:xfrm>
            <a:off x="3526841" y="5513832"/>
            <a:ext cx="457200" cy="457200"/>
          </a:xfrm>
          <a:prstGeom prst="rect">
            <a:avLst/>
          </a:prstGeom>
        </p:spPr>
      </p:pic>
      <p:sp>
        <p:nvSpPr>
          <p:cNvPr id="82" name="Chu ha tang 2"/>
          <p:cNvSpPr txBox="1"/>
          <p:nvPr/>
        </p:nvSpPr>
        <p:spPr>
          <a:xfrm>
            <a:off x="4075481" y="5394960"/>
            <a:ext cx="1828800" cy="685800"/>
          </a:xfrm>
          <a:prstGeom prst="rect">
            <a:avLst/>
          </a:prstGeom>
          <a:noFill/>
          <a:ln/>
        </p:spPr>
        <p:txBody>
          <a:bodyPr wrap="square" lIns="0" tIns="0" rIns="0" bIns="0" rtlCol="0" anchor="ctr"/>
          <a:lstStyle/>
          <a:p>
            <a:pPr marL="0" indent="0" algn="l">
              <a:buNone/>
            </a:pPr>
            <a:r>
              <a:rPr lang="en-US" sz="1400" b="1" dirty="0">
                <a:solidFill>
                  <a:schemeClr val="bg1"/>
                </a:solidFill>
              </a:rPr>
              <a:t>Chống côn trùng, dị vật</a:t>
            </a:r>
            <a:endParaRPr lang="en-US" sz="1400" dirty="0"/>
          </a:p>
        </p:txBody>
      </p:sp>
      <p:sp>
        <p:nvSpPr>
          <p:cNvPr id="83" name="Ha tang 3"/>
          <p:cNvSpPr/>
          <p:nvPr/>
        </p:nvSpPr>
        <p:spPr>
          <a:xfrm>
            <a:off x="6175858" y="5349240"/>
            <a:ext cx="2651760" cy="777240"/>
          </a:xfrm>
          <a:prstGeom prst="roundRect">
            <a:avLst>
              <a:gd name="adj" fmla="val 14118"/>
            </a:avLst>
          </a:prstGeom>
          <a:solidFill>
            <a:schemeClr val="accent1"/>
          </a:solidFill>
          <a:ln/>
        </p:spPr>
      </p:sp>
      <p:pic>
        <p:nvPicPr>
          <p:cNvPr id="84" name="Bieu tuong ha tang 3" descr="Phòng QC, máy dò kim loại"/>
          <p:cNvPicPr>
            <a:picLocks noChangeAspect="1"/>
          </p:cNvPicPr>
          <p:nvPr/>
        </p:nvPicPr>
        <p:blipFill>
          <a:blip r:embed="rId5"/>
          <a:stretch>
            <a:fillRect/>
          </a:stretch>
        </p:blipFill>
        <p:spPr>
          <a:xfrm>
            <a:off x="6340450" y="5513832"/>
            <a:ext cx="457200" cy="457200"/>
          </a:xfrm>
          <a:prstGeom prst="rect">
            <a:avLst/>
          </a:prstGeom>
        </p:spPr>
      </p:pic>
      <p:sp>
        <p:nvSpPr>
          <p:cNvPr id="85" name="Chu ha tang 3"/>
          <p:cNvSpPr txBox="1"/>
          <p:nvPr/>
        </p:nvSpPr>
        <p:spPr>
          <a:xfrm>
            <a:off x="6889090" y="5394960"/>
            <a:ext cx="1828800" cy="685800"/>
          </a:xfrm>
          <a:prstGeom prst="rect">
            <a:avLst/>
          </a:prstGeom>
          <a:noFill/>
          <a:ln/>
        </p:spPr>
        <p:txBody>
          <a:bodyPr wrap="square" lIns="0" tIns="0" rIns="0" bIns="0" rtlCol="0" anchor="ctr"/>
          <a:lstStyle/>
          <a:p>
            <a:pPr marL="0" indent="0" algn="l">
              <a:buNone/>
            </a:pPr>
            <a:r>
              <a:rPr lang="en-US" sz="1400" b="1" dirty="0">
                <a:solidFill>
                  <a:schemeClr val="bg1"/>
                </a:solidFill>
              </a:rPr>
              <a:t>Phòng QC, máy dò kim loại</a:t>
            </a:r>
            <a:endParaRPr lang="en-US" sz="1400" dirty="0"/>
          </a:p>
        </p:txBody>
      </p:sp>
      <p:sp>
        <p:nvSpPr>
          <p:cNvPr id="86" name="Ha tang 4"/>
          <p:cNvSpPr/>
          <p:nvPr/>
        </p:nvSpPr>
        <p:spPr>
          <a:xfrm>
            <a:off x="8989466" y="5349240"/>
            <a:ext cx="2651760" cy="777240"/>
          </a:xfrm>
          <a:prstGeom prst="roundRect">
            <a:avLst>
              <a:gd name="adj" fmla="val 14118"/>
            </a:avLst>
          </a:prstGeom>
          <a:solidFill>
            <a:schemeClr val="accent1"/>
          </a:solidFill>
          <a:ln/>
        </p:spPr>
      </p:sp>
      <p:pic>
        <p:nvPicPr>
          <p:cNvPr id="87" name="Bieu tuong ha tang 4" descr="Kho khô, mát; FIFO/FEFO"/>
          <p:cNvPicPr>
            <a:picLocks noChangeAspect="1"/>
          </p:cNvPicPr>
          <p:nvPr/>
        </p:nvPicPr>
        <p:blipFill>
          <a:blip r:embed="rId6"/>
          <a:stretch>
            <a:fillRect/>
          </a:stretch>
        </p:blipFill>
        <p:spPr>
          <a:xfrm>
            <a:off x="9154058" y="5513832"/>
            <a:ext cx="457200" cy="457200"/>
          </a:xfrm>
          <a:prstGeom prst="rect">
            <a:avLst/>
          </a:prstGeom>
        </p:spPr>
      </p:pic>
      <p:sp>
        <p:nvSpPr>
          <p:cNvPr id="88" name="Chu ha tang 4"/>
          <p:cNvSpPr txBox="1"/>
          <p:nvPr/>
        </p:nvSpPr>
        <p:spPr>
          <a:xfrm>
            <a:off x="9702698" y="5394960"/>
            <a:ext cx="1828800" cy="685800"/>
          </a:xfrm>
          <a:prstGeom prst="rect">
            <a:avLst/>
          </a:prstGeom>
          <a:noFill/>
          <a:ln/>
        </p:spPr>
        <p:txBody>
          <a:bodyPr wrap="square" lIns="0" tIns="0" rIns="0" bIns="0" rtlCol="0" anchor="ctr"/>
          <a:lstStyle/>
          <a:p>
            <a:pPr marL="0" indent="0" algn="l">
              <a:buNone/>
            </a:pPr>
            <a:r>
              <a:rPr lang="en-US" sz="1400" b="1" dirty="0">
                <a:solidFill>
                  <a:schemeClr val="bg1"/>
                </a:solidFill>
              </a:rPr>
              <a:t>Kho khô, mát; FIFO/FEFO</a:t>
            </a:r>
            <a:endParaRPr lang="en-US" sz="1400" dirty="0"/>
          </a:p>
        </p:txBody>
      </p:sp>
      <p:sp>
        <p:nvSpPr>
          <p:cNvPr id="2" name="Slide Number Placeholder 0"/>
          <p:cNvSpPr>
            <a:spLocks noGrp="1"/>
          </p:cNvSpPr>
          <p:nvPr>
            <p:ph type="sldNum" sz="quarter" idx="4294967295"/>
          </p:nvPr>
        </p:nvSpPr>
        <p:spPr>
          <a:xfrm>
            <a:off x="10972800" y="6492240"/>
            <a:ext cx="667512" cy="237744"/>
          </a:xfrm>
          <a:prstGeom prst="rect">
            <a:avLst/>
          </a:prstGeom>
          <a:extLst>
            <a:ext uri="{C572A759-6A51-4108-AA02-DFA0A04FC94B}">
              <ma14:wrappingTextBoxFlag xmlns:ma14="http://schemas.microsoft.com/office/mac/drawingml/2011/main" xmlns="" val="0"/>
            </a:ext>
          </a:extLst>
        </p:spPr>
        <p:txBody>
          <a:bodyPr/>
          <a:lstStyle>
            <a:lvl1pPr>
              <a:defRPr sz="1000">
                <a:solidFill>
                  <a:srgbClr val="5C6F66"/>
                </a:solidFill>
              </a:defRPr>
            </a:lvl1pPr>
          </a:lstStyle>
          <a:p>
            <a:pPr algn="r"/>
            <a:fld id="{F7021451-1387-4CA6-816F-3879F97B5CBC}" type="slidenum">
              <a:rPr lang="en-US" b="0"/>
              <a:t>14</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Dau cham"/>
          <p:cNvSpPr/>
          <p:nvPr/>
        </p:nvSpPr>
        <p:spPr>
          <a:xfrm>
            <a:off x="548640" y="429768"/>
            <a:ext cx="118872" cy="118872"/>
          </a:xfrm>
          <a:prstGeom prst="ellipse">
            <a:avLst/>
          </a:prstGeom>
          <a:solidFill>
            <a:schemeClr val="accent2"/>
          </a:solidFill>
          <a:ln/>
        </p:spPr>
      </p:sp>
      <p:sp>
        <p:nvSpPr>
          <p:cNvPr id="4" name="Nhan chuyen muc"/>
          <p:cNvSpPr txBox="1"/>
          <p:nvPr/>
        </p:nvSpPr>
        <p:spPr>
          <a:xfrm>
            <a:off x="777240" y="347472"/>
            <a:ext cx="6949440" cy="274320"/>
          </a:xfrm>
          <a:prstGeom prst="rect">
            <a:avLst/>
          </a:prstGeom>
          <a:noFill/>
          <a:ln/>
        </p:spPr>
        <p:txBody>
          <a:bodyPr wrap="square" lIns="0" tIns="0" rIns="0" bIns="0" rtlCol="0" anchor="ctr"/>
          <a:lstStyle/>
          <a:p>
            <a:pPr marL="0" indent="0" algn="l">
              <a:buNone/>
            </a:pPr>
            <a:r>
              <a:rPr lang="en-US" sz="1200" b="1" kern="0" spc="200" dirty="0">
                <a:solidFill>
                  <a:schemeClr val="accent1"/>
                </a:solidFill>
              </a:rPr>
              <a:t>TRỤ CỘT 5 · HỆ THỐNG CHẤT LƯỢNG</a:t>
            </a:r>
            <a:endParaRPr lang="en-US" sz="1200" dirty="0"/>
          </a:p>
        </p:txBody>
      </p:sp>
      <p:sp>
        <p:nvSpPr>
          <p:cNvPr id="5" name="Nhan giai doan"/>
          <p:cNvSpPr txBox="1"/>
          <p:nvPr/>
        </p:nvSpPr>
        <p:spPr>
          <a:xfrm>
            <a:off x="8835847" y="347472"/>
            <a:ext cx="868680" cy="274320"/>
          </a:xfrm>
          <a:prstGeom prst="rect">
            <a:avLst/>
          </a:prstGeom>
          <a:noFill/>
          <a:ln/>
        </p:spPr>
        <p:txBody>
          <a:bodyPr wrap="square" lIns="0" tIns="0" rIns="0" bIns="0" rtlCol="0" anchor="ctr"/>
          <a:lstStyle/>
          <a:p>
            <a:pPr marL="0" indent="0" algn="r">
              <a:buNone/>
            </a:pPr>
            <a:r>
              <a:rPr lang="en-US" sz="1200" dirty="0">
                <a:solidFill>
                  <a:srgbClr val="5C6F66"/>
                </a:solidFill>
              </a:rPr>
              <a:t>Thực hiện ở</a:t>
            </a:r>
            <a:endParaRPr lang="en-US" sz="1200" dirty="0"/>
          </a:p>
        </p:txBody>
      </p:sp>
      <p:sp>
        <p:nvSpPr>
          <p:cNvPr id="6" name="Giai doan 2"/>
          <p:cNvSpPr/>
          <p:nvPr/>
        </p:nvSpPr>
        <p:spPr>
          <a:xfrm>
            <a:off x="9795967" y="356616"/>
            <a:ext cx="566928" cy="256032"/>
          </a:xfrm>
          <a:prstGeom prst="roundRect">
            <a:avLst>
              <a:gd name="adj" fmla="val 21429"/>
            </a:avLst>
          </a:prstGeom>
          <a:solidFill>
            <a:srgbClr val="1D4B3A"/>
          </a:solidFill>
          <a:ln/>
        </p:spPr>
      </p:sp>
      <p:sp>
        <p:nvSpPr>
          <p:cNvPr id="7" name="Chu giai doan 2"/>
          <p:cNvSpPr txBox="1"/>
          <p:nvPr/>
        </p:nvSpPr>
        <p:spPr>
          <a:xfrm>
            <a:off x="9795967" y="356616"/>
            <a:ext cx="566928" cy="256032"/>
          </a:xfrm>
          <a:prstGeom prst="rect">
            <a:avLst/>
          </a:prstGeom>
          <a:noFill/>
          <a:ln/>
        </p:spPr>
        <p:txBody>
          <a:bodyPr wrap="square" lIns="0" tIns="0" rIns="0" bIns="0" rtlCol="0" anchor="ctr"/>
          <a:lstStyle/>
          <a:p>
            <a:pPr marL="0" indent="0" algn="ctr">
              <a:buNone/>
            </a:pPr>
            <a:r>
              <a:rPr lang="en-US" sz="1200" b="1" dirty="0">
                <a:solidFill>
                  <a:srgbClr val="FFFFFF"/>
                </a:solidFill>
              </a:rPr>
              <a:t>GĐ2</a:t>
            </a:r>
            <a:endParaRPr lang="en-US" sz="1200" dirty="0"/>
          </a:p>
        </p:txBody>
      </p:sp>
      <p:sp>
        <p:nvSpPr>
          <p:cNvPr id="8" name="Giai doan 3"/>
          <p:cNvSpPr/>
          <p:nvPr/>
        </p:nvSpPr>
        <p:spPr>
          <a:xfrm>
            <a:off x="10436047" y="356616"/>
            <a:ext cx="566928" cy="256032"/>
          </a:xfrm>
          <a:prstGeom prst="roundRect">
            <a:avLst>
              <a:gd name="adj" fmla="val 21429"/>
            </a:avLst>
          </a:prstGeom>
          <a:solidFill>
            <a:srgbClr val="E4A92A"/>
          </a:solidFill>
          <a:ln/>
        </p:spPr>
      </p:sp>
      <p:sp>
        <p:nvSpPr>
          <p:cNvPr id="9" name="Chu giai doan 3"/>
          <p:cNvSpPr txBox="1"/>
          <p:nvPr/>
        </p:nvSpPr>
        <p:spPr>
          <a:xfrm>
            <a:off x="10436047" y="356616"/>
            <a:ext cx="566928" cy="256032"/>
          </a:xfrm>
          <a:prstGeom prst="rect">
            <a:avLst/>
          </a:prstGeom>
          <a:noFill/>
          <a:ln/>
        </p:spPr>
        <p:txBody>
          <a:bodyPr wrap="square" lIns="0" tIns="0" rIns="0" bIns="0" rtlCol="0" anchor="ctr"/>
          <a:lstStyle/>
          <a:p>
            <a:pPr marL="0" indent="0" algn="ctr">
              <a:buNone/>
            </a:pPr>
            <a:r>
              <a:rPr lang="en-US" sz="1200" b="1" dirty="0">
                <a:solidFill>
                  <a:srgbClr val="1B2B24"/>
                </a:solidFill>
              </a:rPr>
              <a:t>GĐ3</a:t>
            </a:r>
            <a:endParaRPr lang="en-US" sz="1200" dirty="0"/>
          </a:p>
        </p:txBody>
      </p:sp>
      <p:sp>
        <p:nvSpPr>
          <p:cNvPr id="10" name="Giai doan 4"/>
          <p:cNvSpPr/>
          <p:nvPr/>
        </p:nvSpPr>
        <p:spPr>
          <a:xfrm>
            <a:off x="11076127" y="356616"/>
            <a:ext cx="566928" cy="256032"/>
          </a:xfrm>
          <a:prstGeom prst="roundRect">
            <a:avLst>
              <a:gd name="adj" fmla="val 21429"/>
            </a:avLst>
          </a:prstGeom>
          <a:solidFill>
            <a:srgbClr val="7A3E8F"/>
          </a:solidFill>
          <a:ln/>
        </p:spPr>
      </p:sp>
      <p:sp>
        <p:nvSpPr>
          <p:cNvPr id="11" name="Chu giai doan 4"/>
          <p:cNvSpPr txBox="1"/>
          <p:nvPr/>
        </p:nvSpPr>
        <p:spPr>
          <a:xfrm>
            <a:off x="11076127" y="356616"/>
            <a:ext cx="566928" cy="256032"/>
          </a:xfrm>
          <a:prstGeom prst="rect">
            <a:avLst/>
          </a:prstGeom>
          <a:noFill/>
          <a:ln/>
        </p:spPr>
        <p:txBody>
          <a:bodyPr wrap="square" lIns="0" tIns="0" rIns="0" bIns="0" rtlCol="0" anchor="ctr"/>
          <a:lstStyle/>
          <a:p>
            <a:pPr marL="0" indent="0" algn="ctr">
              <a:buNone/>
            </a:pPr>
            <a:r>
              <a:rPr lang="en-US" sz="1200" b="1" dirty="0">
                <a:solidFill>
                  <a:srgbClr val="FFFFFF"/>
                </a:solidFill>
              </a:rPr>
              <a:t>GĐ4</a:t>
            </a:r>
            <a:endParaRPr lang="en-US" sz="1200" dirty="0"/>
          </a:p>
        </p:txBody>
      </p:sp>
      <p:sp>
        <p:nvSpPr>
          <p:cNvPr id="12" name="Text 0"/>
          <p:cNvSpPr>
            <a:spLocks noGrp="1"/>
          </p:cNvSpPr>
          <p:nvPr>
            <p:ph type="title" idx="100" hasCustomPrompt="1"/>
          </p:nvPr>
        </p:nvSpPr>
        <p:spPr>
          <a:xfrm>
            <a:off x="548640" y="658368"/>
            <a:ext cx="11094415" cy="777240"/>
          </a:xfrm>
          <a:prstGeom prst="rect">
            <a:avLst/>
          </a:prstGeom>
          <a:noFill/>
          <a:ln/>
        </p:spPr>
        <p:txBody>
          <a:bodyPr wrap="square" lIns="0" tIns="0" rIns="0" bIns="0" rtlCol="0" anchor="ctr"/>
          <a:lstStyle/>
          <a:p>
            <a:pPr marL="0" indent="0" algn="l">
              <a:buNone/>
            </a:pPr>
            <a:r>
              <a:rPr lang="en-US" sz="3000" b="1" dirty="0">
                <a:solidFill>
                  <a:schemeClr val="tx2"/>
                </a:solidFill>
              </a:rPr>
              <a:t>Thang chứng nhận: từ nền tảng đến chuẩn quốc tế</a:t>
            </a:r>
            <a:endParaRPr lang="en-US" sz="3000" dirty="0"/>
          </a:p>
        </p:txBody>
      </p:sp>
      <p:sp>
        <p:nvSpPr>
          <p:cNvPr id="13" name="Bac 1"/>
          <p:cNvSpPr/>
          <p:nvPr/>
        </p:nvSpPr>
        <p:spPr>
          <a:xfrm>
            <a:off x="548640" y="1783080"/>
            <a:ext cx="1828800" cy="4343400"/>
          </a:xfrm>
          <a:prstGeom prst="roundRect">
            <a:avLst>
              <a:gd name="adj" fmla="val 6000"/>
            </a:avLst>
          </a:prstGeom>
          <a:solidFill>
            <a:schemeClr val="bg2"/>
          </a:solidFill>
          <a:ln/>
        </p:spPr>
      </p:sp>
      <p:sp>
        <p:nvSpPr>
          <p:cNvPr id="14" name="So bac 1 (vòng)"/>
          <p:cNvSpPr/>
          <p:nvPr/>
        </p:nvSpPr>
        <p:spPr>
          <a:xfrm>
            <a:off x="685800" y="1920240"/>
            <a:ext cx="365760" cy="365760"/>
          </a:xfrm>
          <a:prstGeom prst="ellipse">
            <a:avLst/>
          </a:prstGeom>
          <a:solidFill>
            <a:srgbClr val="1D4B3A"/>
          </a:solidFill>
          <a:ln/>
        </p:spPr>
      </p:sp>
      <p:sp>
        <p:nvSpPr>
          <p:cNvPr id="15" name="So bac 1 (số)"/>
          <p:cNvSpPr txBox="1"/>
          <p:nvPr/>
        </p:nvSpPr>
        <p:spPr>
          <a:xfrm>
            <a:off x="685800" y="1920240"/>
            <a:ext cx="365760" cy="365760"/>
          </a:xfrm>
          <a:prstGeom prst="rect">
            <a:avLst/>
          </a:prstGeom>
          <a:no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16" name="Nhan bac 1"/>
          <p:cNvSpPr txBox="1"/>
          <p:nvPr/>
        </p:nvSpPr>
        <p:spPr>
          <a:xfrm>
            <a:off x="1143000" y="1920240"/>
            <a:ext cx="1097280" cy="365760"/>
          </a:xfrm>
          <a:prstGeom prst="rect">
            <a:avLst/>
          </a:prstGeom>
          <a:noFill/>
          <a:ln/>
        </p:spPr>
        <p:txBody>
          <a:bodyPr wrap="square" lIns="0" tIns="0" rIns="0" bIns="0" rtlCol="0" anchor="ctr"/>
          <a:lstStyle/>
          <a:p>
            <a:pPr marL="0" indent="0" algn="l">
              <a:buNone/>
            </a:pPr>
            <a:r>
              <a:rPr lang="en-US" sz="1200" b="1" kern="0" spc="100" dirty="0">
                <a:solidFill>
                  <a:schemeClr val="accent6"/>
                </a:solidFill>
              </a:rPr>
              <a:t>NỀN TẢNG</a:t>
            </a:r>
            <a:endParaRPr lang="en-US" sz="1200" dirty="0"/>
          </a:p>
        </p:txBody>
      </p:sp>
      <p:sp>
        <p:nvSpPr>
          <p:cNvPr id="17" name="Ten bac 1"/>
          <p:cNvSpPr txBox="1"/>
          <p:nvPr/>
        </p:nvSpPr>
        <p:spPr>
          <a:xfrm>
            <a:off x="685800" y="2350008"/>
            <a:ext cx="1554480" cy="530352"/>
          </a:xfrm>
          <a:prstGeom prst="rect">
            <a:avLst/>
          </a:prstGeom>
          <a:noFill/>
          <a:ln/>
        </p:spPr>
        <p:txBody>
          <a:bodyPr wrap="square" lIns="0" tIns="0" rIns="0" bIns="0" rtlCol="0" anchor="t"/>
          <a:lstStyle/>
          <a:p>
            <a:pPr marL="0" indent="0" algn="l">
              <a:buNone/>
            </a:pPr>
            <a:r>
              <a:rPr lang="en-US" sz="1500" b="1" dirty="0">
                <a:solidFill>
                  <a:schemeClr val="accent1"/>
                </a:solidFill>
              </a:rPr>
              <a:t>GCN cơ sở đủ điều kiện ATTP</a:t>
            </a:r>
            <a:endParaRPr lang="en-US" sz="1500" dirty="0"/>
          </a:p>
        </p:txBody>
      </p:sp>
      <p:sp>
        <p:nvSpPr>
          <p:cNvPr id="18" name="Mẫu GCN ATTP theo NĐ 46/2026 (đang tạm ngưng) (khung)"/>
          <p:cNvSpPr/>
          <p:nvPr/>
        </p:nvSpPr>
        <p:spPr>
          <a:xfrm>
            <a:off x="675416" y="2898648"/>
            <a:ext cx="1575248" cy="2157984"/>
          </a:xfrm>
          <a:prstGeom prst="rect">
            <a:avLst/>
          </a:prstGeom>
          <a:solidFill>
            <a:srgbClr val="FFFFFF"/>
          </a:solidFill>
          <a:ln w="9525">
            <a:solidFill>
              <a:srgbClr val="D5DED8"/>
            </a:solidFill>
            <a:prstDash val="solid"/>
          </a:ln>
          <a:effectLst>
            <a:outerShdw blurRad="76200" dist="25400" dir="5400000" algn="bl" rotWithShape="0">
              <a:srgbClr val="000000">
                <a:alpha val="16000"/>
              </a:srgbClr>
            </a:outerShdw>
          </a:effectLst>
        </p:spPr>
      </p:sp>
      <p:pic>
        <p:nvPicPr>
          <p:cNvPr id="19" name="Mẫu GCN ATTP theo NĐ 46/2026 (đang tạm ngưng)" descr="Mẫu GCN ATTP theo NĐ 46/2026 (đang tạm ngưng)"/>
          <p:cNvPicPr>
            <a:picLocks noChangeAspect="1"/>
          </p:cNvPicPr>
          <p:nvPr/>
        </p:nvPicPr>
        <p:blipFill>
          <a:blip r:embed="rId3"/>
          <a:stretch>
            <a:fillRect/>
          </a:stretch>
        </p:blipFill>
        <p:spPr>
          <a:xfrm>
            <a:off x="702848" y="2926080"/>
            <a:ext cx="1520384" cy="2103120"/>
          </a:xfrm>
          <a:prstGeom prst="rect">
            <a:avLst/>
          </a:prstGeom>
        </p:spPr>
      </p:pic>
      <p:sp>
        <p:nvSpPr>
          <p:cNvPr id="20" name="Chu thich Mẫu GCN ATTP theo NĐ 46/2026 (đang tạm ngưng)"/>
          <p:cNvSpPr txBox="1"/>
          <p:nvPr/>
        </p:nvSpPr>
        <p:spPr>
          <a:xfrm>
            <a:off x="685800" y="5074920"/>
            <a:ext cx="1554480" cy="457200"/>
          </a:xfrm>
          <a:prstGeom prst="rect">
            <a:avLst/>
          </a:prstGeom>
          <a:noFill/>
          <a:ln/>
        </p:spPr>
        <p:txBody>
          <a:bodyPr wrap="square" lIns="0" tIns="0" rIns="0" bIns="0" rtlCol="0" anchor="t"/>
          <a:lstStyle/>
          <a:p>
            <a:pPr marL="0" indent="0" algn="ctr">
              <a:buNone/>
            </a:pPr>
            <a:r>
              <a:rPr lang="en-US" sz="1100" dirty="0">
                <a:solidFill>
                  <a:srgbClr val="5C6F66"/>
                </a:solidFill>
              </a:rPr>
              <a:t>Mẫu GCN ATTP theo NĐ 46/2026 (đang tạm ngưng)</a:t>
            </a:r>
            <a:endParaRPr lang="en-US" sz="1100" dirty="0"/>
          </a:p>
        </p:txBody>
      </p:sp>
      <p:sp>
        <p:nvSpPr>
          <p:cNvPr id="21" name="Mo ta bac 1"/>
          <p:cNvSpPr txBox="1"/>
          <p:nvPr/>
        </p:nvSpPr>
        <p:spPr>
          <a:xfrm>
            <a:off x="685800" y="5550408"/>
            <a:ext cx="1554480" cy="502920"/>
          </a:xfrm>
          <a:prstGeom prst="rect">
            <a:avLst/>
          </a:prstGeom>
          <a:noFill/>
          <a:ln/>
        </p:spPr>
        <p:txBody>
          <a:bodyPr wrap="square" lIns="0" tIns="0" rIns="0" bIns="0" rtlCol="0" anchor="t"/>
          <a:lstStyle/>
          <a:p>
            <a:pPr marL="0" indent="0" algn="l">
              <a:buNone/>
            </a:pPr>
            <a:r>
              <a:rPr lang="en-US" sz="1400" b="1" dirty="0">
                <a:solidFill>
                  <a:schemeClr val="tx1"/>
                </a:solidFill>
              </a:rPr>
              <a:t>Trong nước (NĐ 15/2018)</a:t>
            </a:r>
            <a:endParaRPr lang="en-US" sz="1400" dirty="0"/>
          </a:p>
        </p:txBody>
      </p:sp>
      <p:sp>
        <p:nvSpPr>
          <p:cNvPr id="22" name="Bac 2"/>
          <p:cNvSpPr/>
          <p:nvPr/>
        </p:nvSpPr>
        <p:spPr>
          <a:xfrm>
            <a:off x="2505456" y="1783080"/>
            <a:ext cx="3401568" cy="4343400"/>
          </a:xfrm>
          <a:prstGeom prst="roundRect">
            <a:avLst>
              <a:gd name="adj" fmla="val 3226"/>
            </a:avLst>
          </a:prstGeom>
          <a:solidFill>
            <a:schemeClr val="bg2"/>
          </a:solidFill>
          <a:ln/>
        </p:spPr>
      </p:sp>
      <p:sp>
        <p:nvSpPr>
          <p:cNvPr id="23" name="So bac 2 (vòng)"/>
          <p:cNvSpPr/>
          <p:nvPr/>
        </p:nvSpPr>
        <p:spPr>
          <a:xfrm>
            <a:off x="2642616" y="1920240"/>
            <a:ext cx="365760" cy="365760"/>
          </a:xfrm>
          <a:prstGeom prst="ellipse">
            <a:avLst/>
          </a:prstGeom>
          <a:solidFill>
            <a:srgbClr val="1D4B3A"/>
          </a:solidFill>
          <a:ln/>
        </p:spPr>
      </p:sp>
      <p:sp>
        <p:nvSpPr>
          <p:cNvPr id="24" name="So bac 2 (số)"/>
          <p:cNvSpPr txBox="1"/>
          <p:nvPr/>
        </p:nvSpPr>
        <p:spPr>
          <a:xfrm>
            <a:off x="2642616" y="1920240"/>
            <a:ext cx="365760" cy="365760"/>
          </a:xfrm>
          <a:prstGeom prst="rect">
            <a:avLst/>
          </a:prstGeom>
          <a:no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25" name="Nhan bac 2"/>
          <p:cNvSpPr txBox="1"/>
          <p:nvPr/>
        </p:nvSpPr>
        <p:spPr>
          <a:xfrm>
            <a:off x="3099816" y="1920240"/>
            <a:ext cx="2670048" cy="365760"/>
          </a:xfrm>
          <a:prstGeom prst="rect">
            <a:avLst/>
          </a:prstGeom>
          <a:noFill/>
          <a:ln/>
        </p:spPr>
        <p:txBody>
          <a:bodyPr wrap="square" lIns="0" tIns="0" rIns="0" bIns="0" rtlCol="0" anchor="ctr"/>
          <a:lstStyle/>
          <a:p>
            <a:pPr marL="0" indent="0" algn="l">
              <a:buNone/>
            </a:pPr>
            <a:r>
              <a:rPr lang="en-US" sz="1200" b="1" kern="0" spc="100" dirty="0">
                <a:solidFill>
                  <a:schemeClr val="accent6"/>
                </a:solidFill>
              </a:rPr>
              <a:t>HACCP</a:t>
            </a:r>
            <a:endParaRPr lang="en-US" sz="1200" dirty="0"/>
          </a:p>
        </p:txBody>
      </p:sp>
      <p:sp>
        <p:nvSpPr>
          <p:cNvPr id="26" name="Ten bac 2"/>
          <p:cNvSpPr txBox="1"/>
          <p:nvPr/>
        </p:nvSpPr>
        <p:spPr>
          <a:xfrm>
            <a:off x="2642616" y="2350008"/>
            <a:ext cx="3127248" cy="530352"/>
          </a:xfrm>
          <a:prstGeom prst="rect">
            <a:avLst/>
          </a:prstGeom>
          <a:noFill/>
          <a:ln/>
        </p:spPr>
        <p:txBody>
          <a:bodyPr wrap="square" lIns="0" tIns="0" rIns="0" bIns="0" rtlCol="0" anchor="t"/>
          <a:lstStyle/>
          <a:p>
            <a:pPr marL="0" indent="0" algn="l">
              <a:buNone/>
            </a:pPr>
            <a:r>
              <a:rPr lang="en-US" sz="1500" b="1" dirty="0">
                <a:solidFill>
                  <a:schemeClr val="accent1"/>
                </a:solidFill>
              </a:rPr>
              <a:t>ISO 22000:2018 / HACCP</a:t>
            </a:r>
            <a:endParaRPr lang="en-US" sz="1500" dirty="0"/>
          </a:p>
        </p:txBody>
      </p:sp>
      <p:sp>
        <p:nvSpPr>
          <p:cNvPr id="27" name="ISO 22000:2018 (bản tiếng Anh) (khung)"/>
          <p:cNvSpPr/>
          <p:nvPr/>
        </p:nvSpPr>
        <p:spPr>
          <a:xfrm>
            <a:off x="2615184" y="2898648"/>
            <a:ext cx="1572768" cy="2154699"/>
          </a:xfrm>
          <a:prstGeom prst="rect">
            <a:avLst/>
          </a:prstGeom>
          <a:solidFill>
            <a:srgbClr val="FFFFFF"/>
          </a:solidFill>
          <a:ln w="9525">
            <a:solidFill>
              <a:srgbClr val="D5DED8"/>
            </a:solidFill>
            <a:prstDash val="solid"/>
          </a:ln>
          <a:effectLst>
            <a:outerShdw blurRad="76200" dist="25400" dir="5400000" algn="bl" rotWithShape="0">
              <a:srgbClr val="000000">
                <a:alpha val="16000"/>
              </a:srgbClr>
            </a:outerShdw>
          </a:effectLst>
        </p:spPr>
      </p:sp>
      <p:pic>
        <p:nvPicPr>
          <p:cNvPr id="28" name="ISO 22000:2018 (bản tiếng Anh)" descr="ISO 22000:2018 (bản tiếng Anh)"/>
          <p:cNvPicPr>
            <a:picLocks noChangeAspect="1"/>
          </p:cNvPicPr>
          <p:nvPr/>
        </p:nvPicPr>
        <p:blipFill>
          <a:blip r:embed="rId4"/>
          <a:stretch>
            <a:fillRect/>
          </a:stretch>
        </p:blipFill>
        <p:spPr>
          <a:xfrm>
            <a:off x="2642616" y="2926080"/>
            <a:ext cx="1517904" cy="2099835"/>
          </a:xfrm>
          <a:prstGeom prst="rect">
            <a:avLst/>
          </a:prstGeom>
        </p:spPr>
      </p:pic>
      <p:sp>
        <p:nvSpPr>
          <p:cNvPr id="29" name="Chu thich ISO 22000:2018 (bản tiếng Anh)"/>
          <p:cNvSpPr txBox="1"/>
          <p:nvPr/>
        </p:nvSpPr>
        <p:spPr>
          <a:xfrm>
            <a:off x="2642616" y="5074920"/>
            <a:ext cx="1517904" cy="457200"/>
          </a:xfrm>
          <a:prstGeom prst="rect">
            <a:avLst/>
          </a:prstGeom>
          <a:noFill/>
          <a:ln/>
        </p:spPr>
        <p:txBody>
          <a:bodyPr wrap="square" lIns="0" tIns="0" rIns="0" bIns="0" rtlCol="0" anchor="t"/>
          <a:lstStyle/>
          <a:p>
            <a:pPr marL="0" indent="0" algn="ctr">
              <a:buNone/>
            </a:pPr>
            <a:r>
              <a:rPr lang="en-US" sz="1100" dirty="0">
                <a:solidFill>
                  <a:srgbClr val="5C6F66"/>
                </a:solidFill>
              </a:rPr>
              <a:t>ISO 22000:2018 (bản tiếng Anh)</a:t>
            </a:r>
            <a:endParaRPr lang="en-US" sz="1100" dirty="0"/>
          </a:p>
        </p:txBody>
      </p:sp>
      <p:sp>
        <p:nvSpPr>
          <p:cNvPr id="30" name="ISO 22000:2018 (bản tiếng Việt) (khung)"/>
          <p:cNvSpPr/>
          <p:nvPr/>
        </p:nvSpPr>
        <p:spPr>
          <a:xfrm>
            <a:off x="4224811" y="2898648"/>
            <a:ext cx="1572202" cy="2157984"/>
          </a:xfrm>
          <a:prstGeom prst="rect">
            <a:avLst/>
          </a:prstGeom>
          <a:solidFill>
            <a:srgbClr val="FFFFFF"/>
          </a:solidFill>
          <a:ln w="9525">
            <a:solidFill>
              <a:srgbClr val="D5DED8"/>
            </a:solidFill>
            <a:prstDash val="solid"/>
          </a:ln>
          <a:effectLst>
            <a:outerShdw blurRad="76200" dist="25400" dir="5400000" algn="bl" rotWithShape="0">
              <a:srgbClr val="000000">
                <a:alpha val="16000"/>
              </a:srgbClr>
            </a:outerShdw>
          </a:effectLst>
        </p:spPr>
      </p:sp>
      <p:pic>
        <p:nvPicPr>
          <p:cNvPr id="31" name="ISO 22000:2018 (bản tiếng Việt)" descr="ISO 22000:2018 (bản tiếng Việt)"/>
          <p:cNvPicPr>
            <a:picLocks noChangeAspect="1"/>
          </p:cNvPicPr>
          <p:nvPr/>
        </p:nvPicPr>
        <p:blipFill>
          <a:blip r:embed="rId5"/>
          <a:stretch>
            <a:fillRect/>
          </a:stretch>
        </p:blipFill>
        <p:spPr>
          <a:xfrm>
            <a:off x="4252243" y="2926080"/>
            <a:ext cx="1517338" cy="2103120"/>
          </a:xfrm>
          <a:prstGeom prst="rect">
            <a:avLst/>
          </a:prstGeom>
        </p:spPr>
      </p:pic>
      <p:sp>
        <p:nvSpPr>
          <p:cNvPr id="32" name="Chu thich ISO 22000:2018 (bản tiếng Việt)"/>
          <p:cNvSpPr txBox="1"/>
          <p:nvPr/>
        </p:nvSpPr>
        <p:spPr>
          <a:xfrm>
            <a:off x="4251960" y="5074920"/>
            <a:ext cx="1517904" cy="457200"/>
          </a:xfrm>
          <a:prstGeom prst="rect">
            <a:avLst/>
          </a:prstGeom>
          <a:noFill/>
          <a:ln/>
        </p:spPr>
        <p:txBody>
          <a:bodyPr wrap="square" lIns="0" tIns="0" rIns="0" bIns="0" rtlCol="0" anchor="t"/>
          <a:lstStyle/>
          <a:p>
            <a:pPr marL="0" indent="0" algn="ctr">
              <a:buNone/>
            </a:pPr>
            <a:r>
              <a:rPr lang="en-US" sz="1100" dirty="0">
                <a:solidFill>
                  <a:srgbClr val="5C6F66"/>
                </a:solidFill>
              </a:rPr>
              <a:t>ISO 22000:2018 (bản tiếng Việt)</a:t>
            </a:r>
            <a:endParaRPr lang="en-US" sz="1100" dirty="0"/>
          </a:p>
        </p:txBody>
      </p:sp>
      <p:sp>
        <p:nvSpPr>
          <p:cNvPr id="33" name="Mo ta bac 2"/>
          <p:cNvSpPr txBox="1"/>
          <p:nvPr/>
        </p:nvSpPr>
        <p:spPr>
          <a:xfrm>
            <a:off x="2642616" y="5550408"/>
            <a:ext cx="3127248" cy="502920"/>
          </a:xfrm>
          <a:prstGeom prst="rect">
            <a:avLst/>
          </a:prstGeom>
          <a:noFill/>
          <a:ln/>
        </p:spPr>
        <p:txBody>
          <a:bodyPr wrap="square" lIns="0" tIns="0" rIns="0" bIns="0" rtlCol="0" anchor="t"/>
          <a:lstStyle/>
          <a:p>
            <a:pPr marL="0" indent="0" algn="l">
              <a:buNone/>
            </a:pPr>
            <a:r>
              <a:rPr lang="en-US" sz="1400" b="1" dirty="0">
                <a:solidFill>
                  <a:schemeClr val="tx1"/>
                </a:solidFill>
              </a:rPr>
              <a:t>Hệ thống an toàn thực phẩm có đánh giá độc lập</a:t>
            </a:r>
            <a:endParaRPr lang="en-US" sz="1400" dirty="0"/>
          </a:p>
        </p:txBody>
      </p:sp>
      <p:sp>
        <p:nvSpPr>
          <p:cNvPr id="34" name="Bac 3"/>
          <p:cNvSpPr/>
          <p:nvPr/>
        </p:nvSpPr>
        <p:spPr>
          <a:xfrm>
            <a:off x="6035040" y="1783080"/>
            <a:ext cx="3474720" cy="4343400"/>
          </a:xfrm>
          <a:prstGeom prst="roundRect">
            <a:avLst>
              <a:gd name="adj" fmla="val 3158"/>
            </a:avLst>
          </a:prstGeom>
          <a:solidFill>
            <a:schemeClr val="bg2"/>
          </a:solidFill>
          <a:ln/>
        </p:spPr>
      </p:sp>
      <p:sp>
        <p:nvSpPr>
          <p:cNvPr id="35" name="So bac 3 (vòng)"/>
          <p:cNvSpPr/>
          <p:nvPr/>
        </p:nvSpPr>
        <p:spPr>
          <a:xfrm>
            <a:off x="6172200" y="1920240"/>
            <a:ext cx="365760" cy="365760"/>
          </a:xfrm>
          <a:prstGeom prst="ellipse">
            <a:avLst/>
          </a:prstGeom>
          <a:solidFill>
            <a:srgbClr val="1D4B3A"/>
          </a:solidFill>
          <a:ln/>
        </p:spPr>
      </p:sp>
      <p:sp>
        <p:nvSpPr>
          <p:cNvPr id="36" name="So bac 3 (số)"/>
          <p:cNvSpPr txBox="1"/>
          <p:nvPr/>
        </p:nvSpPr>
        <p:spPr>
          <a:xfrm>
            <a:off x="6172200" y="1920240"/>
            <a:ext cx="365760" cy="365760"/>
          </a:xfrm>
          <a:prstGeom prst="rect">
            <a:avLst/>
          </a:prstGeom>
          <a:noFill/>
          <a:ln/>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37" name="Nhan bac 3"/>
          <p:cNvSpPr txBox="1"/>
          <p:nvPr/>
        </p:nvSpPr>
        <p:spPr>
          <a:xfrm>
            <a:off x="6629400" y="1920240"/>
            <a:ext cx="2743200" cy="365760"/>
          </a:xfrm>
          <a:prstGeom prst="rect">
            <a:avLst/>
          </a:prstGeom>
          <a:noFill/>
          <a:ln/>
        </p:spPr>
        <p:txBody>
          <a:bodyPr wrap="square" lIns="0" tIns="0" rIns="0" bIns="0" rtlCol="0" anchor="ctr"/>
          <a:lstStyle/>
          <a:p>
            <a:pPr marL="0" indent="0" algn="l">
              <a:buNone/>
            </a:pPr>
            <a:r>
              <a:rPr lang="en-US" sz="1200" b="1" kern="0" spc="100" dirty="0">
                <a:solidFill>
                  <a:schemeClr val="accent6"/>
                </a:solidFill>
              </a:rPr>
              <a:t>CHUẨN GFSI</a:t>
            </a:r>
            <a:endParaRPr lang="en-US" sz="1200" dirty="0"/>
          </a:p>
        </p:txBody>
      </p:sp>
      <p:sp>
        <p:nvSpPr>
          <p:cNvPr id="38" name="Ten bac 3"/>
          <p:cNvSpPr txBox="1"/>
          <p:nvPr/>
        </p:nvSpPr>
        <p:spPr>
          <a:xfrm>
            <a:off x="6172200" y="2350008"/>
            <a:ext cx="3200400" cy="530352"/>
          </a:xfrm>
          <a:prstGeom prst="rect">
            <a:avLst/>
          </a:prstGeom>
          <a:noFill/>
          <a:ln/>
        </p:spPr>
        <p:txBody>
          <a:bodyPr wrap="square" lIns="0" tIns="0" rIns="0" bIns="0" rtlCol="0" anchor="t"/>
          <a:lstStyle/>
          <a:p>
            <a:pPr marL="0" indent="0" algn="l">
              <a:buNone/>
            </a:pPr>
            <a:r>
              <a:rPr lang="en-US" sz="1500" b="1" dirty="0">
                <a:solidFill>
                  <a:schemeClr val="accent1"/>
                </a:solidFill>
              </a:rPr>
              <a:t>BRCGS hoặc FSSC 22000</a:t>
            </a:r>
            <a:endParaRPr lang="en-US" sz="1500" dirty="0"/>
          </a:p>
        </p:txBody>
      </p:sp>
      <p:sp>
        <p:nvSpPr>
          <p:cNvPr id="39" name="BRCGS Food Safety (SGS cấp) (khung)"/>
          <p:cNvSpPr/>
          <p:nvPr/>
        </p:nvSpPr>
        <p:spPr>
          <a:xfrm>
            <a:off x="6178617" y="2898648"/>
            <a:ext cx="1541645" cy="2157984"/>
          </a:xfrm>
          <a:prstGeom prst="rect">
            <a:avLst/>
          </a:prstGeom>
          <a:solidFill>
            <a:srgbClr val="FFFFFF"/>
          </a:solidFill>
          <a:ln w="9525">
            <a:solidFill>
              <a:srgbClr val="D5DED8"/>
            </a:solidFill>
            <a:prstDash val="solid"/>
          </a:ln>
          <a:effectLst>
            <a:outerShdw blurRad="76200" dist="25400" dir="5400000" algn="bl" rotWithShape="0">
              <a:srgbClr val="000000">
                <a:alpha val="16000"/>
              </a:srgbClr>
            </a:outerShdw>
          </a:effectLst>
        </p:spPr>
      </p:sp>
      <p:pic>
        <p:nvPicPr>
          <p:cNvPr id="40" name="BRCGS Food Safety (SGS cấp)" descr="BRCGS Food Safety (SGS cấp)"/>
          <p:cNvPicPr>
            <a:picLocks noChangeAspect="1"/>
          </p:cNvPicPr>
          <p:nvPr/>
        </p:nvPicPr>
        <p:blipFill>
          <a:blip r:embed="rId6"/>
          <a:stretch>
            <a:fillRect/>
          </a:stretch>
        </p:blipFill>
        <p:spPr>
          <a:xfrm>
            <a:off x="6206049" y="2926080"/>
            <a:ext cx="1486781" cy="2103120"/>
          </a:xfrm>
          <a:prstGeom prst="rect">
            <a:avLst/>
          </a:prstGeom>
        </p:spPr>
      </p:pic>
      <p:sp>
        <p:nvSpPr>
          <p:cNvPr id="41" name="Chu thich BRCGS Food Safety (SGS cấp)"/>
          <p:cNvSpPr txBox="1"/>
          <p:nvPr/>
        </p:nvSpPr>
        <p:spPr>
          <a:xfrm>
            <a:off x="6172200" y="5074920"/>
            <a:ext cx="1554480" cy="457200"/>
          </a:xfrm>
          <a:prstGeom prst="rect">
            <a:avLst/>
          </a:prstGeom>
          <a:noFill/>
          <a:ln/>
        </p:spPr>
        <p:txBody>
          <a:bodyPr wrap="square" lIns="0" tIns="0" rIns="0" bIns="0" rtlCol="0" anchor="t"/>
          <a:lstStyle/>
          <a:p>
            <a:pPr marL="0" indent="0" algn="ctr">
              <a:buNone/>
            </a:pPr>
            <a:r>
              <a:rPr lang="en-US" sz="1100" dirty="0">
                <a:solidFill>
                  <a:srgbClr val="5C6F66"/>
                </a:solidFill>
              </a:rPr>
              <a:t>BRCGS Food Safety (SGS cấp)</a:t>
            </a:r>
            <a:endParaRPr lang="en-US" sz="1100" dirty="0"/>
          </a:p>
        </p:txBody>
      </p:sp>
      <p:sp>
        <p:nvSpPr>
          <p:cNvPr id="42" name="FSSC 22000 (SGS cấp) (khung)"/>
          <p:cNvSpPr/>
          <p:nvPr/>
        </p:nvSpPr>
        <p:spPr>
          <a:xfrm>
            <a:off x="7790688" y="2898648"/>
            <a:ext cx="1609344" cy="2067238"/>
          </a:xfrm>
          <a:prstGeom prst="rect">
            <a:avLst/>
          </a:prstGeom>
          <a:solidFill>
            <a:srgbClr val="FFFFFF"/>
          </a:solidFill>
          <a:ln w="9525">
            <a:solidFill>
              <a:srgbClr val="D5DED8"/>
            </a:solidFill>
            <a:prstDash val="solid"/>
          </a:ln>
          <a:effectLst>
            <a:outerShdw blurRad="76200" dist="25400" dir="5400000" algn="bl" rotWithShape="0">
              <a:srgbClr val="000000">
                <a:alpha val="16000"/>
              </a:srgbClr>
            </a:outerShdw>
          </a:effectLst>
        </p:spPr>
      </p:sp>
      <p:pic>
        <p:nvPicPr>
          <p:cNvPr id="43" name="FSSC 22000 (SGS cấp)" descr="FSSC 22000 (SGS cấp)"/>
          <p:cNvPicPr>
            <a:picLocks noChangeAspect="1"/>
          </p:cNvPicPr>
          <p:nvPr/>
        </p:nvPicPr>
        <p:blipFill>
          <a:blip r:embed="rId7"/>
          <a:stretch>
            <a:fillRect/>
          </a:stretch>
        </p:blipFill>
        <p:spPr>
          <a:xfrm>
            <a:off x="7818120" y="2926080"/>
            <a:ext cx="1554480" cy="2012374"/>
          </a:xfrm>
          <a:prstGeom prst="rect">
            <a:avLst/>
          </a:prstGeom>
        </p:spPr>
      </p:pic>
      <p:sp>
        <p:nvSpPr>
          <p:cNvPr id="44" name="Chu thich FSSC 22000 (SGS cấp)"/>
          <p:cNvSpPr txBox="1"/>
          <p:nvPr/>
        </p:nvSpPr>
        <p:spPr>
          <a:xfrm>
            <a:off x="7818120" y="5074920"/>
            <a:ext cx="1554480" cy="457200"/>
          </a:xfrm>
          <a:prstGeom prst="rect">
            <a:avLst/>
          </a:prstGeom>
          <a:noFill/>
          <a:ln/>
        </p:spPr>
        <p:txBody>
          <a:bodyPr wrap="square" lIns="0" tIns="0" rIns="0" bIns="0" rtlCol="0" anchor="t"/>
          <a:lstStyle/>
          <a:p>
            <a:pPr marL="0" indent="0" algn="ctr">
              <a:buNone/>
            </a:pPr>
            <a:r>
              <a:rPr lang="en-US" sz="1100" dirty="0">
                <a:solidFill>
                  <a:srgbClr val="5C6F66"/>
                </a:solidFill>
              </a:rPr>
              <a:t>FSSC 22000 (SGS cấp)</a:t>
            </a:r>
            <a:endParaRPr lang="en-US" sz="1100" dirty="0"/>
          </a:p>
        </p:txBody>
      </p:sp>
      <p:sp>
        <p:nvSpPr>
          <p:cNvPr id="45" name="Mo ta bac 3"/>
          <p:cNvSpPr txBox="1"/>
          <p:nvPr/>
        </p:nvSpPr>
        <p:spPr>
          <a:xfrm>
            <a:off x="6172200" y="5550408"/>
            <a:ext cx="3200400" cy="502920"/>
          </a:xfrm>
          <a:prstGeom prst="rect">
            <a:avLst/>
          </a:prstGeom>
          <a:noFill/>
          <a:ln/>
        </p:spPr>
        <p:txBody>
          <a:bodyPr wrap="square" lIns="0" tIns="0" rIns="0" bIns="0" rtlCol="0" anchor="t"/>
          <a:lstStyle/>
          <a:p>
            <a:pPr marL="0" indent="0" algn="l">
              <a:buNone/>
            </a:pPr>
            <a:r>
              <a:rPr lang="en-US" sz="1400" b="1" dirty="0">
                <a:solidFill>
                  <a:schemeClr val="tx1"/>
                </a:solidFill>
              </a:rPr>
              <a:t>Người mua EU thường yêu cầu</a:t>
            </a:r>
            <a:endParaRPr lang="en-US" sz="1400" dirty="0"/>
          </a:p>
        </p:txBody>
      </p:sp>
      <p:sp>
        <p:nvSpPr>
          <p:cNvPr id="46" name="Bac 4"/>
          <p:cNvSpPr/>
          <p:nvPr/>
        </p:nvSpPr>
        <p:spPr>
          <a:xfrm>
            <a:off x="9637776" y="1783080"/>
            <a:ext cx="2005279" cy="4343400"/>
          </a:xfrm>
          <a:prstGeom prst="roundRect">
            <a:avLst>
              <a:gd name="adj" fmla="val 5472"/>
            </a:avLst>
          </a:prstGeom>
          <a:solidFill>
            <a:schemeClr val="bg2"/>
          </a:solidFill>
          <a:ln/>
        </p:spPr>
      </p:sp>
      <p:sp>
        <p:nvSpPr>
          <p:cNvPr id="47" name="So bac 4 (vòng)"/>
          <p:cNvSpPr/>
          <p:nvPr/>
        </p:nvSpPr>
        <p:spPr>
          <a:xfrm>
            <a:off x="9774936" y="1920240"/>
            <a:ext cx="365760" cy="365760"/>
          </a:xfrm>
          <a:prstGeom prst="ellipse">
            <a:avLst/>
          </a:prstGeom>
          <a:solidFill>
            <a:srgbClr val="1D4B3A"/>
          </a:solidFill>
          <a:ln/>
        </p:spPr>
      </p:sp>
      <p:sp>
        <p:nvSpPr>
          <p:cNvPr id="48" name="So bac 4 (số)"/>
          <p:cNvSpPr txBox="1"/>
          <p:nvPr/>
        </p:nvSpPr>
        <p:spPr>
          <a:xfrm>
            <a:off x="9774936" y="1920240"/>
            <a:ext cx="365760" cy="365760"/>
          </a:xfrm>
          <a:prstGeom prst="rect">
            <a:avLst/>
          </a:prstGeom>
          <a:noFill/>
          <a:ln/>
        </p:spPr>
        <p:txBody>
          <a:bodyPr wrap="square" lIns="0" tIns="0" rIns="0" bIns="0" rtlCol="0" anchor="ctr"/>
          <a:lstStyle/>
          <a:p>
            <a:pPr marL="0" indent="0" algn="ctr">
              <a:buNone/>
            </a:pPr>
            <a:r>
              <a:rPr lang="en-US" sz="1400" b="1" dirty="0">
                <a:solidFill>
                  <a:schemeClr val="bg1"/>
                </a:solidFill>
              </a:rPr>
              <a:t>4</a:t>
            </a:r>
            <a:endParaRPr lang="en-US" sz="1400" dirty="0"/>
          </a:p>
        </p:txBody>
      </p:sp>
      <p:sp>
        <p:nvSpPr>
          <p:cNvPr id="49" name="Nhan bac 4"/>
          <p:cNvSpPr txBox="1"/>
          <p:nvPr/>
        </p:nvSpPr>
        <p:spPr>
          <a:xfrm>
            <a:off x="10232136" y="1920240"/>
            <a:ext cx="1273759" cy="365760"/>
          </a:xfrm>
          <a:prstGeom prst="rect">
            <a:avLst/>
          </a:prstGeom>
          <a:noFill/>
          <a:ln/>
        </p:spPr>
        <p:txBody>
          <a:bodyPr wrap="square" lIns="0" tIns="0" rIns="0" bIns="0" rtlCol="0" anchor="ctr"/>
          <a:lstStyle/>
          <a:p>
            <a:pPr marL="0" indent="0" algn="l">
              <a:buNone/>
            </a:pPr>
            <a:r>
              <a:rPr lang="en-US" sz="1200" b="1" kern="0" spc="100" dirty="0">
                <a:solidFill>
                  <a:schemeClr val="accent6"/>
                </a:solidFill>
              </a:rPr>
              <a:t>TÙY CHỌN</a:t>
            </a:r>
            <a:endParaRPr lang="en-US" sz="1200" dirty="0"/>
          </a:p>
        </p:txBody>
      </p:sp>
      <p:sp>
        <p:nvSpPr>
          <p:cNvPr id="50" name="Ten bac 4"/>
          <p:cNvSpPr txBox="1"/>
          <p:nvPr/>
        </p:nvSpPr>
        <p:spPr>
          <a:xfrm>
            <a:off x="9774936" y="2350008"/>
            <a:ext cx="1730959" cy="530352"/>
          </a:xfrm>
          <a:prstGeom prst="rect">
            <a:avLst/>
          </a:prstGeom>
          <a:noFill/>
          <a:ln/>
        </p:spPr>
        <p:txBody>
          <a:bodyPr wrap="square" lIns="0" tIns="0" rIns="0" bIns="0" rtlCol="0" anchor="t"/>
          <a:lstStyle/>
          <a:p>
            <a:pPr marL="0" indent="0" algn="l">
              <a:buNone/>
            </a:pPr>
            <a:r>
              <a:rPr lang="en-US" sz="1500" b="1" dirty="0">
                <a:solidFill>
                  <a:schemeClr val="accent1"/>
                </a:solidFill>
              </a:rPr>
              <a:t>Giá trị gia tăng</a:t>
            </a:r>
            <a:endParaRPr lang="en-US" sz="1500" dirty="0"/>
          </a:p>
        </p:txBody>
      </p:sp>
      <p:pic>
        <p:nvPicPr>
          <p:cNvPr id="51" name="Bieu tuong bac 4" descr="Chứng nhận tùy chọn"/>
          <p:cNvPicPr>
            <a:picLocks noChangeAspect="1"/>
          </p:cNvPicPr>
          <p:nvPr/>
        </p:nvPicPr>
        <p:blipFill>
          <a:blip r:embed="rId8"/>
          <a:stretch>
            <a:fillRect/>
          </a:stretch>
        </p:blipFill>
        <p:spPr>
          <a:xfrm>
            <a:off x="10137496" y="3200400"/>
            <a:ext cx="1005840" cy="1005840"/>
          </a:xfrm>
          <a:prstGeom prst="rect">
            <a:avLst/>
          </a:prstGeom>
        </p:spPr>
      </p:pic>
      <p:sp>
        <p:nvSpPr>
          <p:cNvPr id="52" name="Noi dung bac 4"/>
          <p:cNvSpPr txBox="1"/>
          <p:nvPr/>
        </p:nvSpPr>
        <p:spPr>
          <a:xfrm>
            <a:off x="9774936" y="4526280"/>
            <a:ext cx="1730959" cy="1508760"/>
          </a:xfrm>
          <a:prstGeom prst="rect">
            <a:avLst/>
          </a:prstGeom>
          <a:noFill/>
          <a:ln/>
        </p:spPr>
        <p:txBody>
          <a:bodyPr wrap="square" lIns="0" tIns="0" rIns="0" bIns="0" rtlCol="0" anchor="t"/>
          <a:lstStyle/>
          <a:p>
            <a:pPr marL="177800" indent="-177800" algn="l">
              <a:spcAft>
                <a:spcPts val="400"/>
              </a:spcAft>
              <a:buSzPct val="100000"/>
              <a:buChar char="•"/>
            </a:pPr>
            <a:r>
              <a:rPr lang="en-US" sz="1400" dirty="0">
                <a:solidFill>
                  <a:schemeClr val="tx1"/>
                </a:solidFill>
              </a:rPr>
              <a:t>Organic (EU, USDA)</a:t>
            </a:r>
            <a:endParaRPr lang="en-US" sz="1400" dirty="0"/>
          </a:p>
          <a:p>
            <a:pPr marL="177800" indent="-177800" algn="l">
              <a:spcAft>
                <a:spcPts val="400"/>
              </a:spcAft>
              <a:buSzPct val="100000"/>
              <a:buChar char="•"/>
            </a:pPr>
            <a:r>
              <a:rPr lang="en-US" sz="1400" dirty="0">
                <a:solidFill>
                  <a:schemeClr val="tx1"/>
                </a:solidFill>
              </a:rPr>
              <a:t>VietGAP, GlobalG.A.P cho vùng trồng</a:t>
            </a:r>
            <a:endParaRPr lang="en-US" sz="1400" dirty="0"/>
          </a:p>
          <a:p>
            <a:pPr marL="177800" indent="-177800" algn="l">
              <a:spcAft>
                <a:spcPts val="400"/>
              </a:spcAft>
              <a:buSzPct val="100000"/>
              <a:buChar char="•"/>
            </a:pPr>
            <a:r>
              <a:rPr lang="en-US" sz="1400" dirty="0">
                <a:solidFill>
                  <a:schemeClr val="tx1"/>
                </a:solidFill>
              </a:rPr>
              <a:t>Chọn theo thị trường mục tiêu</a:t>
            </a:r>
            <a:endParaRPr lang="en-US" sz="1400" dirty="0"/>
          </a:p>
        </p:txBody>
      </p:sp>
      <p:sp>
        <p:nvSpPr>
          <p:cNvPr id="53" name="Nguon"/>
          <p:cNvSpPr txBox="1"/>
          <p:nvPr/>
        </p:nvSpPr>
        <p:spPr>
          <a:xfrm>
            <a:off x="548640" y="6217920"/>
            <a:ext cx="11094415" cy="201168"/>
          </a:xfrm>
          <a:prstGeom prst="rect">
            <a:avLst/>
          </a:prstGeom>
          <a:noFill/>
          <a:ln/>
        </p:spPr>
        <p:txBody>
          <a:bodyPr wrap="square" lIns="0" tIns="0" rIns="0" bIns="0" rtlCol="0" anchor="t"/>
          <a:lstStyle/>
          <a:p>
            <a:pPr marL="0" indent="0" algn="l">
              <a:buNone/>
            </a:pPr>
            <a:r>
              <a:rPr lang="en-US" sz="1000" dirty="0">
                <a:solidFill>
                  <a:srgbClr val="5C6F66"/>
                </a:solidFill>
              </a:rPr>
              <a:t>Hình là mẫu thực tế của doanh nghiệp khác (TQC, SGS) và mẫu GCN ATTP theo NĐ 46/2026 (đang tạm ngưng, hiện áp dụng NĐ 15/2018), dùng minh họa hình thức; không phải chứng nhận của Heragrain.</a:t>
            </a:r>
            <a:endParaRPr lang="en-US" sz="1000" dirty="0"/>
          </a:p>
        </p:txBody>
      </p:sp>
      <p:sp>
        <p:nvSpPr>
          <p:cNvPr id="2" name="Slide Number Placeholder 0"/>
          <p:cNvSpPr>
            <a:spLocks noGrp="1"/>
          </p:cNvSpPr>
          <p:nvPr>
            <p:ph type="sldNum" sz="quarter" idx="4294967295"/>
          </p:nvPr>
        </p:nvSpPr>
        <p:spPr>
          <a:xfrm>
            <a:off x="10972800" y="6492240"/>
            <a:ext cx="667512" cy="237744"/>
          </a:xfrm>
          <a:prstGeom prst="rect">
            <a:avLst/>
          </a:prstGeom>
          <a:extLst>
            <a:ext uri="{C572A759-6A51-4108-AA02-DFA0A04FC94B}">
              <ma14:wrappingTextBoxFlag xmlns:ma14="http://schemas.microsoft.com/office/mac/drawingml/2011/main" xmlns="" val="0"/>
            </a:ext>
          </a:extLst>
        </p:spPr>
        <p:txBody>
          <a:bodyPr/>
          <a:lstStyle>
            <a:lvl1pPr>
              <a:defRPr sz="1000">
                <a:solidFill>
                  <a:srgbClr val="5C6F66"/>
                </a:solidFill>
              </a:defRPr>
            </a:lvl1pPr>
          </a:lstStyle>
          <a:p>
            <a:pPr algn="r"/>
            <a:fld id="{F7021451-1387-4CA6-816F-3879F97B5CBC}" type="slidenum">
              <a:rPr lang="en-US" b="0"/>
              <a:t>15</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Dau cham"/>
          <p:cNvSpPr/>
          <p:nvPr/>
        </p:nvSpPr>
        <p:spPr>
          <a:xfrm>
            <a:off x="548640" y="429768"/>
            <a:ext cx="118872" cy="118872"/>
          </a:xfrm>
          <a:prstGeom prst="ellipse">
            <a:avLst/>
          </a:prstGeom>
          <a:solidFill>
            <a:schemeClr val="accent2"/>
          </a:solidFill>
          <a:ln/>
        </p:spPr>
      </p:sp>
      <p:sp>
        <p:nvSpPr>
          <p:cNvPr id="4" name="Nhan chuyen muc"/>
          <p:cNvSpPr txBox="1"/>
          <p:nvPr/>
        </p:nvSpPr>
        <p:spPr>
          <a:xfrm>
            <a:off x="777240" y="347472"/>
            <a:ext cx="6949440" cy="274320"/>
          </a:xfrm>
          <a:prstGeom prst="rect">
            <a:avLst/>
          </a:prstGeom>
          <a:noFill/>
          <a:ln/>
        </p:spPr>
        <p:txBody>
          <a:bodyPr wrap="square" lIns="0" tIns="0" rIns="0" bIns="0" rtlCol="0" anchor="ctr"/>
          <a:lstStyle/>
          <a:p>
            <a:pPr marL="0" indent="0" algn="l">
              <a:buNone/>
            </a:pPr>
            <a:r>
              <a:rPr lang="en-US" sz="1200" b="1" kern="0" spc="200" dirty="0">
                <a:solidFill>
                  <a:schemeClr val="accent1"/>
                </a:solidFill>
              </a:rPr>
              <a:t>THỊ TRƯỜNG · SO SÁNH NHANH</a:t>
            </a:r>
            <a:endParaRPr lang="en-US" sz="1200" dirty="0"/>
          </a:p>
        </p:txBody>
      </p:sp>
      <p:sp>
        <p:nvSpPr>
          <p:cNvPr id="5" name="Nhan giai doan"/>
          <p:cNvSpPr txBox="1"/>
          <p:nvPr/>
        </p:nvSpPr>
        <p:spPr>
          <a:xfrm>
            <a:off x="9475927" y="347472"/>
            <a:ext cx="868680" cy="274320"/>
          </a:xfrm>
          <a:prstGeom prst="rect">
            <a:avLst/>
          </a:prstGeom>
          <a:noFill/>
          <a:ln/>
        </p:spPr>
        <p:txBody>
          <a:bodyPr wrap="square" lIns="0" tIns="0" rIns="0" bIns="0" rtlCol="0" anchor="ctr"/>
          <a:lstStyle/>
          <a:p>
            <a:pPr marL="0" indent="0" algn="r">
              <a:buNone/>
            </a:pPr>
            <a:r>
              <a:rPr lang="en-US" sz="1200" dirty="0">
                <a:solidFill>
                  <a:srgbClr val="5C6F66"/>
                </a:solidFill>
              </a:rPr>
              <a:t>Thực hiện ở</a:t>
            </a:r>
            <a:endParaRPr lang="en-US" sz="1200" dirty="0"/>
          </a:p>
        </p:txBody>
      </p:sp>
      <p:sp>
        <p:nvSpPr>
          <p:cNvPr id="6" name="Giai doan 3"/>
          <p:cNvSpPr/>
          <p:nvPr/>
        </p:nvSpPr>
        <p:spPr>
          <a:xfrm>
            <a:off x="10436047" y="356616"/>
            <a:ext cx="566928" cy="256032"/>
          </a:xfrm>
          <a:prstGeom prst="roundRect">
            <a:avLst>
              <a:gd name="adj" fmla="val 21429"/>
            </a:avLst>
          </a:prstGeom>
          <a:solidFill>
            <a:srgbClr val="E4A92A"/>
          </a:solidFill>
          <a:ln/>
        </p:spPr>
      </p:sp>
      <p:sp>
        <p:nvSpPr>
          <p:cNvPr id="7" name="Chu giai doan 3"/>
          <p:cNvSpPr txBox="1"/>
          <p:nvPr/>
        </p:nvSpPr>
        <p:spPr>
          <a:xfrm>
            <a:off x="10436047" y="356616"/>
            <a:ext cx="566928" cy="256032"/>
          </a:xfrm>
          <a:prstGeom prst="rect">
            <a:avLst/>
          </a:prstGeom>
          <a:noFill/>
          <a:ln/>
        </p:spPr>
        <p:txBody>
          <a:bodyPr wrap="square" lIns="0" tIns="0" rIns="0" bIns="0" rtlCol="0" anchor="ctr"/>
          <a:lstStyle/>
          <a:p>
            <a:pPr marL="0" indent="0" algn="ctr">
              <a:buNone/>
            </a:pPr>
            <a:r>
              <a:rPr lang="en-US" sz="1200" b="1" dirty="0">
                <a:solidFill>
                  <a:srgbClr val="1B2B24"/>
                </a:solidFill>
              </a:rPr>
              <a:t>GĐ3</a:t>
            </a:r>
            <a:endParaRPr lang="en-US" sz="1200" dirty="0"/>
          </a:p>
        </p:txBody>
      </p:sp>
      <p:sp>
        <p:nvSpPr>
          <p:cNvPr id="8" name="Giai doan 4"/>
          <p:cNvSpPr/>
          <p:nvPr/>
        </p:nvSpPr>
        <p:spPr>
          <a:xfrm>
            <a:off x="11076127" y="356616"/>
            <a:ext cx="566928" cy="256032"/>
          </a:xfrm>
          <a:prstGeom prst="roundRect">
            <a:avLst>
              <a:gd name="adj" fmla="val 21429"/>
            </a:avLst>
          </a:prstGeom>
          <a:solidFill>
            <a:srgbClr val="7A3E8F"/>
          </a:solidFill>
          <a:ln/>
        </p:spPr>
      </p:sp>
      <p:sp>
        <p:nvSpPr>
          <p:cNvPr id="9" name="Chu giai doan 4"/>
          <p:cNvSpPr txBox="1"/>
          <p:nvPr/>
        </p:nvSpPr>
        <p:spPr>
          <a:xfrm>
            <a:off x="11076127" y="356616"/>
            <a:ext cx="566928" cy="256032"/>
          </a:xfrm>
          <a:prstGeom prst="rect">
            <a:avLst/>
          </a:prstGeom>
          <a:noFill/>
          <a:ln/>
        </p:spPr>
        <p:txBody>
          <a:bodyPr wrap="square" lIns="0" tIns="0" rIns="0" bIns="0" rtlCol="0" anchor="ctr"/>
          <a:lstStyle/>
          <a:p>
            <a:pPr marL="0" indent="0" algn="ctr">
              <a:buNone/>
            </a:pPr>
            <a:r>
              <a:rPr lang="en-US" sz="1200" b="1" dirty="0">
                <a:solidFill>
                  <a:srgbClr val="FFFFFF"/>
                </a:solidFill>
              </a:rPr>
              <a:t>GĐ4</a:t>
            </a:r>
            <a:endParaRPr lang="en-US" sz="1200" dirty="0"/>
          </a:p>
        </p:txBody>
      </p:sp>
      <p:sp>
        <p:nvSpPr>
          <p:cNvPr id="10" name="Text 0"/>
          <p:cNvSpPr>
            <a:spLocks noGrp="1"/>
          </p:cNvSpPr>
          <p:nvPr>
            <p:ph type="title" idx="100" hasCustomPrompt="1"/>
          </p:nvPr>
        </p:nvSpPr>
        <p:spPr>
          <a:xfrm>
            <a:off x="548640" y="658368"/>
            <a:ext cx="11094415" cy="777240"/>
          </a:xfrm>
          <a:prstGeom prst="rect">
            <a:avLst/>
          </a:prstGeom>
          <a:noFill/>
          <a:ln/>
        </p:spPr>
        <p:txBody>
          <a:bodyPr wrap="square" lIns="0" tIns="0" rIns="0" bIns="0" rtlCol="0" anchor="ctr"/>
          <a:lstStyle/>
          <a:p>
            <a:pPr marL="0" indent="0" algn="l">
              <a:buNone/>
            </a:pPr>
            <a:r>
              <a:rPr lang="en-US" sz="3000" b="1" dirty="0">
                <a:solidFill>
                  <a:schemeClr val="tx2"/>
                </a:solidFill>
              </a:rPr>
              <a:t>Hai cửa thị trường đầu tiên, hai mức độ khó khác nhau</a:t>
            </a:r>
            <a:endParaRPr lang="en-US" sz="3000" dirty="0"/>
          </a:p>
        </p:txBody>
      </p:sp>
      <p:sp>
        <p:nvSpPr>
          <p:cNvPr id="11" name="Nhan hang 1"/>
          <p:cNvSpPr/>
          <p:nvPr/>
        </p:nvSpPr>
        <p:spPr>
          <a:xfrm>
            <a:off x="548640" y="2340864"/>
            <a:ext cx="1920240" cy="676656"/>
          </a:xfrm>
          <a:prstGeom prst="roundRect">
            <a:avLst>
              <a:gd name="adj" fmla="val 16216"/>
            </a:avLst>
          </a:prstGeom>
          <a:solidFill>
            <a:schemeClr val="bg2"/>
          </a:solidFill>
          <a:ln/>
        </p:spPr>
      </p:sp>
      <p:sp>
        <p:nvSpPr>
          <p:cNvPr id="12" name="Chu nhan hang 1"/>
          <p:cNvSpPr txBox="1"/>
          <p:nvPr/>
        </p:nvSpPr>
        <p:spPr>
          <a:xfrm>
            <a:off x="685800" y="2340864"/>
            <a:ext cx="1691640" cy="676656"/>
          </a:xfrm>
          <a:prstGeom prst="rect">
            <a:avLst/>
          </a:prstGeom>
          <a:noFill/>
          <a:ln/>
        </p:spPr>
        <p:txBody>
          <a:bodyPr wrap="square" lIns="0" tIns="0" rIns="0" bIns="0" rtlCol="0" anchor="ctr"/>
          <a:lstStyle/>
          <a:p>
            <a:pPr marL="0" indent="0" algn="l">
              <a:buNone/>
            </a:pPr>
            <a:r>
              <a:rPr lang="en-US" sz="1400" b="1" dirty="0">
                <a:solidFill>
                  <a:schemeClr val="accent1"/>
                </a:solidFill>
              </a:rPr>
              <a:t>Cửa pháp lý</a:t>
            </a:r>
            <a:endParaRPr lang="en-US" sz="1400" dirty="0"/>
          </a:p>
        </p:txBody>
      </p:sp>
      <p:sp>
        <p:nvSpPr>
          <p:cNvPr id="13" name="Nhan hang 2"/>
          <p:cNvSpPr/>
          <p:nvPr/>
        </p:nvSpPr>
        <p:spPr>
          <a:xfrm>
            <a:off x="548640" y="3072384"/>
            <a:ext cx="1920240" cy="676656"/>
          </a:xfrm>
          <a:prstGeom prst="roundRect">
            <a:avLst>
              <a:gd name="adj" fmla="val 16216"/>
            </a:avLst>
          </a:prstGeom>
          <a:solidFill>
            <a:schemeClr val="bg2"/>
          </a:solidFill>
          <a:ln/>
        </p:spPr>
      </p:sp>
      <p:sp>
        <p:nvSpPr>
          <p:cNvPr id="14" name="Chu nhan hang 2"/>
          <p:cNvSpPr txBox="1"/>
          <p:nvPr/>
        </p:nvSpPr>
        <p:spPr>
          <a:xfrm>
            <a:off x="685800" y="3072384"/>
            <a:ext cx="1691640" cy="676656"/>
          </a:xfrm>
          <a:prstGeom prst="rect">
            <a:avLst/>
          </a:prstGeom>
          <a:noFill/>
          <a:ln/>
        </p:spPr>
        <p:txBody>
          <a:bodyPr wrap="square" lIns="0" tIns="0" rIns="0" bIns="0" rtlCol="0" anchor="ctr"/>
          <a:lstStyle/>
          <a:p>
            <a:pPr marL="0" indent="0" algn="l">
              <a:buNone/>
            </a:pPr>
            <a:r>
              <a:rPr lang="en-US" sz="1400" b="1" dirty="0">
                <a:solidFill>
                  <a:schemeClr val="accent1"/>
                </a:solidFill>
              </a:rPr>
              <a:t>Chứng nhận then chốt</a:t>
            </a:r>
            <a:endParaRPr lang="en-US" sz="1400" dirty="0"/>
          </a:p>
        </p:txBody>
      </p:sp>
      <p:sp>
        <p:nvSpPr>
          <p:cNvPr id="15" name="Nhan hang 3"/>
          <p:cNvSpPr/>
          <p:nvPr/>
        </p:nvSpPr>
        <p:spPr>
          <a:xfrm>
            <a:off x="548640" y="3803904"/>
            <a:ext cx="1920240" cy="676656"/>
          </a:xfrm>
          <a:prstGeom prst="roundRect">
            <a:avLst>
              <a:gd name="adj" fmla="val 16216"/>
            </a:avLst>
          </a:prstGeom>
          <a:solidFill>
            <a:schemeClr val="bg2"/>
          </a:solidFill>
          <a:ln/>
        </p:spPr>
      </p:sp>
      <p:sp>
        <p:nvSpPr>
          <p:cNvPr id="16" name="Chu nhan hang 3"/>
          <p:cNvSpPr txBox="1"/>
          <p:nvPr/>
        </p:nvSpPr>
        <p:spPr>
          <a:xfrm>
            <a:off x="685800" y="3803904"/>
            <a:ext cx="1691640" cy="676656"/>
          </a:xfrm>
          <a:prstGeom prst="rect">
            <a:avLst/>
          </a:prstGeom>
          <a:noFill/>
          <a:ln/>
        </p:spPr>
        <p:txBody>
          <a:bodyPr wrap="square" lIns="0" tIns="0" rIns="0" bIns="0" rtlCol="0" anchor="ctr"/>
          <a:lstStyle/>
          <a:p>
            <a:pPr marL="0" indent="0" algn="l">
              <a:buNone/>
            </a:pPr>
            <a:r>
              <a:rPr lang="en-US" sz="1400" b="1" dirty="0">
                <a:solidFill>
                  <a:schemeClr val="accent1"/>
                </a:solidFill>
              </a:rPr>
              <a:t>Nhãn mác</a:t>
            </a:r>
            <a:endParaRPr lang="en-US" sz="1400" dirty="0"/>
          </a:p>
        </p:txBody>
      </p:sp>
      <p:sp>
        <p:nvSpPr>
          <p:cNvPr id="17" name="Nhan hang 4"/>
          <p:cNvSpPr/>
          <p:nvPr/>
        </p:nvSpPr>
        <p:spPr>
          <a:xfrm>
            <a:off x="548640" y="4535424"/>
            <a:ext cx="1920240" cy="676656"/>
          </a:xfrm>
          <a:prstGeom prst="roundRect">
            <a:avLst>
              <a:gd name="adj" fmla="val 16216"/>
            </a:avLst>
          </a:prstGeom>
          <a:solidFill>
            <a:schemeClr val="bg2"/>
          </a:solidFill>
          <a:ln/>
        </p:spPr>
      </p:sp>
      <p:sp>
        <p:nvSpPr>
          <p:cNvPr id="18" name="Chu nhan hang 4"/>
          <p:cNvSpPr txBox="1"/>
          <p:nvPr/>
        </p:nvSpPr>
        <p:spPr>
          <a:xfrm>
            <a:off x="685800" y="4535424"/>
            <a:ext cx="1691640" cy="676656"/>
          </a:xfrm>
          <a:prstGeom prst="rect">
            <a:avLst/>
          </a:prstGeom>
          <a:noFill/>
          <a:ln/>
        </p:spPr>
        <p:txBody>
          <a:bodyPr wrap="square" lIns="0" tIns="0" rIns="0" bIns="0" rtlCol="0" anchor="ctr"/>
          <a:lstStyle/>
          <a:p>
            <a:pPr marL="0" indent="0" algn="l">
              <a:buNone/>
            </a:pPr>
            <a:r>
              <a:rPr lang="en-US" sz="1400" b="1" dirty="0">
                <a:solidFill>
                  <a:schemeClr val="accent1"/>
                </a:solidFill>
              </a:rPr>
              <a:t>Điểm dễ vướng</a:t>
            </a:r>
            <a:endParaRPr lang="en-US" sz="1400" dirty="0"/>
          </a:p>
        </p:txBody>
      </p:sp>
      <p:sp>
        <p:nvSpPr>
          <p:cNvPr id="19" name="Nhan hang 5"/>
          <p:cNvSpPr/>
          <p:nvPr/>
        </p:nvSpPr>
        <p:spPr>
          <a:xfrm>
            <a:off x="548640" y="5266944"/>
            <a:ext cx="1920240" cy="676656"/>
          </a:xfrm>
          <a:prstGeom prst="roundRect">
            <a:avLst>
              <a:gd name="adj" fmla="val 16216"/>
            </a:avLst>
          </a:prstGeom>
          <a:solidFill>
            <a:schemeClr val="bg2"/>
          </a:solidFill>
          <a:ln/>
        </p:spPr>
      </p:sp>
      <p:sp>
        <p:nvSpPr>
          <p:cNvPr id="20" name="Chu nhan hang 5"/>
          <p:cNvSpPr txBox="1"/>
          <p:nvPr/>
        </p:nvSpPr>
        <p:spPr>
          <a:xfrm>
            <a:off x="685800" y="5266944"/>
            <a:ext cx="1691640" cy="676656"/>
          </a:xfrm>
          <a:prstGeom prst="rect">
            <a:avLst/>
          </a:prstGeom>
          <a:noFill/>
          <a:ln/>
        </p:spPr>
        <p:txBody>
          <a:bodyPr wrap="square" lIns="0" tIns="0" rIns="0" bIns="0" rtlCol="0" anchor="ctr"/>
          <a:lstStyle/>
          <a:p>
            <a:pPr marL="0" indent="0" algn="l">
              <a:buNone/>
            </a:pPr>
            <a:r>
              <a:rPr lang="en-US" sz="1400" b="1" dirty="0">
                <a:solidFill>
                  <a:schemeClr val="accent1"/>
                </a:solidFill>
              </a:rPr>
              <a:t>Mức độ khó</a:t>
            </a:r>
            <a:endParaRPr lang="en-US" sz="1400" dirty="0"/>
          </a:p>
        </p:txBody>
      </p:sp>
      <p:sp>
        <p:nvSpPr>
          <p:cNvPr id="21" name="Dau cot"/>
          <p:cNvSpPr/>
          <p:nvPr/>
        </p:nvSpPr>
        <p:spPr>
          <a:xfrm>
            <a:off x="2651760" y="1737360"/>
            <a:ext cx="4389120" cy="548640"/>
          </a:xfrm>
          <a:prstGeom prst="roundRect">
            <a:avLst>
              <a:gd name="adj" fmla="val 20000"/>
            </a:avLst>
          </a:prstGeom>
          <a:solidFill>
            <a:schemeClr val="accent5"/>
          </a:solidFill>
          <a:ln/>
        </p:spPr>
      </p:sp>
      <p:sp>
        <p:nvSpPr>
          <p:cNvPr id="22" name="Ten thi truong"/>
          <p:cNvSpPr txBox="1"/>
          <p:nvPr/>
        </p:nvSpPr>
        <p:spPr>
          <a:xfrm>
            <a:off x="2651760" y="1737360"/>
            <a:ext cx="4389120" cy="548640"/>
          </a:xfrm>
          <a:prstGeom prst="rect">
            <a:avLst/>
          </a:prstGeom>
          <a:noFill/>
          <a:ln/>
        </p:spPr>
        <p:txBody>
          <a:bodyPr wrap="square" lIns="0" tIns="0" rIns="0" bIns="0" rtlCol="0" anchor="ctr"/>
          <a:lstStyle/>
          <a:p>
            <a:pPr marL="0" indent="0" algn="ctr">
              <a:buNone/>
            </a:pPr>
            <a:r>
              <a:rPr lang="en-US" sz="1700" b="1" dirty="0">
                <a:solidFill>
                  <a:schemeClr val="bg1"/>
                </a:solidFill>
              </a:rPr>
              <a:t>Trung Quốc</a:t>
            </a:r>
            <a:endParaRPr lang="en-US" sz="1700" dirty="0"/>
          </a:p>
        </p:txBody>
      </p:sp>
      <p:sp>
        <p:nvSpPr>
          <p:cNvPr id="23" name="O 1"/>
          <p:cNvSpPr/>
          <p:nvPr/>
        </p:nvSpPr>
        <p:spPr>
          <a:xfrm>
            <a:off x="2651760" y="2340864"/>
            <a:ext cx="4389120" cy="676656"/>
          </a:xfrm>
          <a:prstGeom prst="roundRect">
            <a:avLst>
              <a:gd name="adj" fmla="val 16216"/>
            </a:avLst>
          </a:prstGeom>
          <a:solidFill>
            <a:schemeClr val="bg2"/>
          </a:solidFill>
          <a:ln/>
        </p:spPr>
      </p:sp>
      <p:sp>
        <p:nvSpPr>
          <p:cNvPr id="24" name="Chu o 1"/>
          <p:cNvSpPr txBox="1"/>
          <p:nvPr/>
        </p:nvSpPr>
        <p:spPr>
          <a:xfrm>
            <a:off x="2816352" y="2340864"/>
            <a:ext cx="4078224" cy="676656"/>
          </a:xfrm>
          <a:prstGeom prst="rect">
            <a:avLst/>
          </a:prstGeom>
          <a:noFill/>
          <a:ln/>
        </p:spPr>
        <p:txBody>
          <a:bodyPr wrap="square" lIns="0" tIns="0" rIns="0" bIns="0" rtlCol="0" anchor="ctr"/>
          <a:lstStyle/>
          <a:p>
            <a:pPr marL="0" indent="0" algn="l">
              <a:buNone/>
            </a:pPr>
            <a:r>
              <a:rPr lang="en-US" sz="1400" dirty="0">
                <a:solidFill>
                  <a:schemeClr val="tx1"/>
                </a:solidFill>
              </a:rPr>
              <a:t>Đăng ký cơ sở tại GACC qua hệ thống CIFER (Lệnh 280)</a:t>
            </a:r>
            <a:endParaRPr lang="en-US" sz="1400" dirty="0"/>
          </a:p>
        </p:txBody>
      </p:sp>
      <p:sp>
        <p:nvSpPr>
          <p:cNvPr id="25" name="O 2"/>
          <p:cNvSpPr/>
          <p:nvPr/>
        </p:nvSpPr>
        <p:spPr>
          <a:xfrm>
            <a:off x="2651760" y="3072384"/>
            <a:ext cx="4389120" cy="676656"/>
          </a:xfrm>
          <a:prstGeom prst="roundRect">
            <a:avLst>
              <a:gd name="adj" fmla="val 16216"/>
            </a:avLst>
          </a:prstGeom>
          <a:solidFill>
            <a:schemeClr val="bg2"/>
          </a:solidFill>
          <a:ln/>
        </p:spPr>
      </p:sp>
      <p:sp>
        <p:nvSpPr>
          <p:cNvPr id="26" name="Chu o 2"/>
          <p:cNvSpPr txBox="1"/>
          <p:nvPr/>
        </p:nvSpPr>
        <p:spPr>
          <a:xfrm>
            <a:off x="2816352" y="3072384"/>
            <a:ext cx="4078224" cy="676656"/>
          </a:xfrm>
          <a:prstGeom prst="rect">
            <a:avLst/>
          </a:prstGeom>
          <a:noFill/>
          <a:ln/>
        </p:spPr>
        <p:txBody>
          <a:bodyPr wrap="square" lIns="0" tIns="0" rIns="0" bIns="0" rtlCol="0" anchor="ctr"/>
          <a:lstStyle/>
          <a:p>
            <a:pPr marL="0" indent="0" algn="l">
              <a:buNone/>
            </a:pPr>
            <a:r>
              <a:rPr lang="en-US" sz="1400" dirty="0">
                <a:solidFill>
                  <a:schemeClr val="tx1"/>
                </a:solidFill>
              </a:rPr>
              <a:t>Cơ quan Việt Nam giới thiệu và đánh giá nhà máy; ATTP, HACCP</a:t>
            </a:r>
            <a:endParaRPr lang="en-US" sz="1400" dirty="0"/>
          </a:p>
        </p:txBody>
      </p:sp>
      <p:sp>
        <p:nvSpPr>
          <p:cNvPr id="27" name="O 3"/>
          <p:cNvSpPr/>
          <p:nvPr/>
        </p:nvSpPr>
        <p:spPr>
          <a:xfrm>
            <a:off x="2651760" y="3803904"/>
            <a:ext cx="4389120" cy="676656"/>
          </a:xfrm>
          <a:prstGeom prst="roundRect">
            <a:avLst>
              <a:gd name="adj" fmla="val 16216"/>
            </a:avLst>
          </a:prstGeom>
          <a:solidFill>
            <a:schemeClr val="bg2"/>
          </a:solidFill>
          <a:ln/>
        </p:spPr>
      </p:sp>
      <p:sp>
        <p:nvSpPr>
          <p:cNvPr id="28" name="Chu o 3"/>
          <p:cNvSpPr txBox="1"/>
          <p:nvPr/>
        </p:nvSpPr>
        <p:spPr>
          <a:xfrm>
            <a:off x="2816352" y="3803904"/>
            <a:ext cx="4078224" cy="676656"/>
          </a:xfrm>
          <a:prstGeom prst="rect">
            <a:avLst/>
          </a:prstGeom>
          <a:noFill/>
          <a:ln/>
        </p:spPr>
        <p:txBody>
          <a:bodyPr wrap="square" lIns="0" tIns="0" rIns="0" bIns="0" rtlCol="0" anchor="ctr"/>
          <a:lstStyle/>
          <a:p>
            <a:pPr marL="0" indent="0" algn="l">
              <a:buNone/>
            </a:pPr>
            <a:r>
              <a:rPr lang="en-US" sz="1400" dirty="0">
                <a:solidFill>
                  <a:schemeClr val="tx1"/>
                </a:solidFill>
              </a:rPr>
              <a:t>Nhãn tiếng Trung theo tiêu chuẩn GB; in mã đăng ký GACC</a:t>
            </a:r>
            <a:endParaRPr lang="en-US" sz="1400" dirty="0"/>
          </a:p>
        </p:txBody>
      </p:sp>
      <p:sp>
        <p:nvSpPr>
          <p:cNvPr id="29" name="O 4"/>
          <p:cNvSpPr/>
          <p:nvPr/>
        </p:nvSpPr>
        <p:spPr>
          <a:xfrm>
            <a:off x="2651760" y="4535424"/>
            <a:ext cx="4389120" cy="676656"/>
          </a:xfrm>
          <a:prstGeom prst="roundRect">
            <a:avLst>
              <a:gd name="adj" fmla="val 16216"/>
            </a:avLst>
          </a:prstGeom>
          <a:solidFill>
            <a:schemeClr val="bg2"/>
          </a:solidFill>
          <a:ln/>
        </p:spPr>
      </p:sp>
      <p:sp>
        <p:nvSpPr>
          <p:cNvPr id="30" name="Chu o 4"/>
          <p:cNvSpPr txBox="1"/>
          <p:nvPr/>
        </p:nvSpPr>
        <p:spPr>
          <a:xfrm>
            <a:off x="2816352" y="4535424"/>
            <a:ext cx="4078224" cy="676656"/>
          </a:xfrm>
          <a:prstGeom prst="rect">
            <a:avLst/>
          </a:prstGeom>
          <a:noFill/>
          <a:ln/>
        </p:spPr>
        <p:txBody>
          <a:bodyPr wrap="square" lIns="0" tIns="0" rIns="0" bIns="0" rtlCol="0" anchor="ctr"/>
          <a:lstStyle/>
          <a:p>
            <a:pPr marL="0" indent="0" algn="l">
              <a:buNone/>
            </a:pPr>
            <a:r>
              <a:rPr lang="en-US" sz="1400" dirty="0">
                <a:solidFill>
                  <a:schemeClr val="tx1"/>
                </a:solidFill>
              </a:rPr>
              <a:t>Dư lượng, kim loại nặng; dời địa điểm hoặc đổi người đại diện có thể phải đăng ký lại</a:t>
            </a:r>
            <a:endParaRPr lang="en-US" sz="1400" dirty="0"/>
          </a:p>
        </p:txBody>
      </p:sp>
      <p:sp>
        <p:nvSpPr>
          <p:cNvPr id="31" name="O muc do"/>
          <p:cNvSpPr/>
          <p:nvPr/>
        </p:nvSpPr>
        <p:spPr>
          <a:xfrm>
            <a:off x="2651760" y="5266944"/>
            <a:ext cx="4389120" cy="676656"/>
          </a:xfrm>
          <a:prstGeom prst="roundRect">
            <a:avLst>
              <a:gd name="adj" fmla="val 16216"/>
            </a:avLst>
          </a:prstGeom>
          <a:solidFill>
            <a:schemeClr val="bg2"/>
          </a:solidFill>
          <a:ln/>
        </p:spPr>
      </p:sp>
      <p:sp>
        <p:nvSpPr>
          <p:cNvPr id="32" name="Cham 1"/>
          <p:cNvSpPr/>
          <p:nvPr/>
        </p:nvSpPr>
        <p:spPr>
          <a:xfrm>
            <a:off x="2834640" y="5513832"/>
            <a:ext cx="182880" cy="182880"/>
          </a:xfrm>
          <a:prstGeom prst="ellipse">
            <a:avLst/>
          </a:prstGeom>
          <a:solidFill>
            <a:schemeClr val="accent5"/>
          </a:solidFill>
          <a:ln w="12700">
            <a:solidFill>
              <a:schemeClr val="accent5"/>
            </a:solidFill>
            <a:prstDash val="solid"/>
          </a:ln>
        </p:spPr>
      </p:sp>
      <p:sp>
        <p:nvSpPr>
          <p:cNvPr id="33" name="Cham 2"/>
          <p:cNvSpPr/>
          <p:nvPr/>
        </p:nvSpPr>
        <p:spPr>
          <a:xfrm>
            <a:off x="3108960" y="5513832"/>
            <a:ext cx="182880" cy="182880"/>
          </a:xfrm>
          <a:prstGeom prst="ellipse">
            <a:avLst/>
          </a:prstGeom>
          <a:solidFill>
            <a:schemeClr val="accent5"/>
          </a:solidFill>
          <a:ln w="12700">
            <a:solidFill>
              <a:schemeClr val="accent5"/>
            </a:solidFill>
            <a:prstDash val="solid"/>
          </a:ln>
        </p:spPr>
      </p:sp>
      <p:sp>
        <p:nvSpPr>
          <p:cNvPr id="34" name="Cham 3"/>
          <p:cNvSpPr/>
          <p:nvPr/>
        </p:nvSpPr>
        <p:spPr>
          <a:xfrm>
            <a:off x="3383280" y="5513832"/>
            <a:ext cx="182880" cy="182880"/>
          </a:xfrm>
          <a:prstGeom prst="ellipse">
            <a:avLst/>
          </a:prstGeom>
          <a:solidFill>
            <a:schemeClr val="bg1"/>
          </a:solidFill>
          <a:ln w="12700">
            <a:solidFill>
              <a:schemeClr val="accent5"/>
            </a:solidFill>
            <a:prstDash val="solid"/>
          </a:ln>
        </p:spPr>
      </p:sp>
      <p:sp>
        <p:nvSpPr>
          <p:cNvPr id="35" name="Chu muc do"/>
          <p:cNvSpPr txBox="1"/>
          <p:nvPr/>
        </p:nvSpPr>
        <p:spPr>
          <a:xfrm>
            <a:off x="3749040" y="5266944"/>
            <a:ext cx="3108960" cy="676656"/>
          </a:xfrm>
          <a:prstGeom prst="rect">
            <a:avLst/>
          </a:prstGeom>
          <a:noFill/>
          <a:ln/>
        </p:spPr>
        <p:txBody>
          <a:bodyPr wrap="square" lIns="0" tIns="0" rIns="0" bIns="0" rtlCol="0" anchor="ctr"/>
          <a:lstStyle/>
          <a:p>
            <a:pPr marL="0" indent="0" algn="l">
              <a:buNone/>
            </a:pPr>
            <a:r>
              <a:rPr lang="en-US" sz="1400" b="1" dirty="0">
                <a:solidFill>
                  <a:schemeClr val="accent5"/>
                </a:solidFill>
              </a:rPr>
              <a:t>Trung bình</a:t>
            </a:r>
            <a:endParaRPr lang="en-US" sz="1400" dirty="0"/>
          </a:p>
        </p:txBody>
      </p:sp>
      <p:sp>
        <p:nvSpPr>
          <p:cNvPr id="36" name="Dau cot"/>
          <p:cNvSpPr/>
          <p:nvPr/>
        </p:nvSpPr>
        <p:spPr>
          <a:xfrm>
            <a:off x="7253935" y="1737360"/>
            <a:ext cx="4389120" cy="548640"/>
          </a:xfrm>
          <a:prstGeom prst="roundRect">
            <a:avLst>
              <a:gd name="adj" fmla="val 20000"/>
            </a:avLst>
          </a:prstGeom>
          <a:solidFill>
            <a:schemeClr val="accent3"/>
          </a:solidFill>
          <a:ln/>
        </p:spPr>
      </p:sp>
      <p:sp>
        <p:nvSpPr>
          <p:cNvPr id="37" name="Ten thi truong"/>
          <p:cNvSpPr txBox="1"/>
          <p:nvPr/>
        </p:nvSpPr>
        <p:spPr>
          <a:xfrm>
            <a:off x="7253935" y="1737360"/>
            <a:ext cx="4389120" cy="548640"/>
          </a:xfrm>
          <a:prstGeom prst="rect">
            <a:avLst/>
          </a:prstGeom>
          <a:noFill/>
          <a:ln/>
        </p:spPr>
        <p:txBody>
          <a:bodyPr wrap="square" lIns="0" tIns="0" rIns="0" bIns="0" rtlCol="0" anchor="ctr"/>
          <a:lstStyle/>
          <a:p>
            <a:pPr marL="0" indent="0" algn="ctr">
              <a:buNone/>
            </a:pPr>
            <a:r>
              <a:rPr lang="en-US" sz="1700" b="1" dirty="0">
                <a:solidFill>
                  <a:schemeClr val="bg1"/>
                </a:solidFill>
              </a:rPr>
              <a:t>Châu Âu</a:t>
            </a:r>
            <a:endParaRPr lang="en-US" sz="1700" dirty="0"/>
          </a:p>
        </p:txBody>
      </p:sp>
      <p:sp>
        <p:nvSpPr>
          <p:cNvPr id="38" name="O 1"/>
          <p:cNvSpPr/>
          <p:nvPr/>
        </p:nvSpPr>
        <p:spPr>
          <a:xfrm>
            <a:off x="7253935" y="2340864"/>
            <a:ext cx="4389120" cy="676656"/>
          </a:xfrm>
          <a:prstGeom prst="roundRect">
            <a:avLst>
              <a:gd name="adj" fmla="val 16216"/>
            </a:avLst>
          </a:prstGeom>
          <a:solidFill>
            <a:schemeClr val="bg2"/>
          </a:solidFill>
          <a:ln/>
        </p:spPr>
      </p:sp>
      <p:sp>
        <p:nvSpPr>
          <p:cNvPr id="39" name="Chu o 1"/>
          <p:cNvSpPr txBox="1"/>
          <p:nvPr/>
        </p:nvSpPr>
        <p:spPr>
          <a:xfrm>
            <a:off x="7418527" y="2340864"/>
            <a:ext cx="4078224" cy="676656"/>
          </a:xfrm>
          <a:prstGeom prst="rect">
            <a:avLst/>
          </a:prstGeom>
          <a:noFill/>
          <a:ln/>
        </p:spPr>
        <p:txBody>
          <a:bodyPr wrap="square" lIns="0" tIns="0" rIns="0" bIns="0" rtlCol="0" anchor="ctr"/>
          <a:lstStyle/>
          <a:p>
            <a:pPr marL="0" indent="0" algn="l">
              <a:buNone/>
            </a:pPr>
            <a:r>
              <a:rPr lang="en-US" sz="1400" dirty="0">
                <a:solidFill>
                  <a:schemeClr val="tx1"/>
                </a:solidFill>
              </a:rPr>
              <a:t>Không đăng ký nhà máy; nhà nhập khẩu EU chịu trách nhiệm pháp lý</a:t>
            </a:r>
            <a:endParaRPr lang="en-US" sz="1400" dirty="0"/>
          </a:p>
        </p:txBody>
      </p:sp>
      <p:sp>
        <p:nvSpPr>
          <p:cNvPr id="40" name="O 2"/>
          <p:cNvSpPr/>
          <p:nvPr/>
        </p:nvSpPr>
        <p:spPr>
          <a:xfrm>
            <a:off x="7253935" y="3072384"/>
            <a:ext cx="4389120" cy="676656"/>
          </a:xfrm>
          <a:prstGeom prst="roundRect">
            <a:avLst>
              <a:gd name="adj" fmla="val 16216"/>
            </a:avLst>
          </a:prstGeom>
          <a:solidFill>
            <a:schemeClr val="bg2"/>
          </a:solidFill>
          <a:ln/>
        </p:spPr>
      </p:sp>
      <p:sp>
        <p:nvSpPr>
          <p:cNvPr id="41" name="Chu o 2"/>
          <p:cNvSpPr txBox="1"/>
          <p:nvPr/>
        </p:nvSpPr>
        <p:spPr>
          <a:xfrm>
            <a:off x="7418527" y="3072384"/>
            <a:ext cx="4078224" cy="676656"/>
          </a:xfrm>
          <a:prstGeom prst="rect">
            <a:avLst/>
          </a:prstGeom>
          <a:noFill/>
          <a:ln/>
        </p:spPr>
        <p:txBody>
          <a:bodyPr wrap="square" lIns="0" tIns="0" rIns="0" bIns="0" rtlCol="0" anchor="ctr"/>
          <a:lstStyle/>
          <a:p>
            <a:pPr marL="0" indent="0" algn="l">
              <a:buNone/>
            </a:pPr>
            <a:r>
              <a:rPr lang="en-US" sz="1400" dirty="0">
                <a:solidFill>
                  <a:schemeClr val="tx1"/>
                </a:solidFill>
              </a:rPr>
              <a:t>BRCGS hoặc FSSC 22000 theo yêu cầu người mua; EUR.1 hưởng thuế EVFTA</a:t>
            </a:r>
            <a:endParaRPr lang="en-US" sz="1400" dirty="0"/>
          </a:p>
        </p:txBody>
      </p:sp>
      <p:sp>
        <p:nvSpPr>
          <p:cNvPr id="42" name="O 3"/>
          <p:cNvSpPr/>
          <p:nvPr/>
        </p:nvSpPr>
        <p:spPr>
          <a:xfrm>
            <a:off x="7253935" y="3803904"/>
            <a:ext cx="4389120" cy="676656"/>
          </a:xfrm>
          <a:prstGeom prst="roundRect">
            <a:avLst>
              <a:gd name="adj" fmla="val 16216"/>
            </a:avLst>
          </a:prstGeom>
          <a:solidFill>
            <a:schemeClr val="bg2"/>
          </a:solidFill>
          <a:ln/>
        </p:spPr>
      </p:sp>
      <p:sp>
        <p:nvSpPr>
          <p:cNvPr id="43" name="Chu o 3"/>
          <p:cNvSpPr txBox="1"/>
          <p:nvPr/>
        </p:nvSpPr>
        <p:spPr>
          <a:xfrm>
            <a:off x="7418527" y="3803904"/>
            <a:ext cx="4078224" cy="676656"/>
          </a:xfrm>
          <a:prstGeom prst="rect">
            <a:avLst/>
          </a:prstGeom>
          <a:noFill/>
          <a:ln/>
        </p:spPr>
        <p:txBody>
          <a:bodyPr wrap="square" lIns="0" tIns="0" rIns="0" bIns="0" rtlCol="0" anchor="ctr"/>
          <a:lstStyle/>
          <a:p>
            <a:pPr marL="0" indent="0" algn="l">
              <a:buNone/>
            </a:pPr>
            <a:r>
              <a:rPr lang="en-US" sz="1400" dirty="0">
                <a:solidFill>
                  <a:schemeClr val="tx1"/>
                </a:solidFill>
              </a:rPr>
              <a:t>Quy định 1169/2011: dị ứng, sulphite, mã lô, nước xuất xứ</a:t>
            </a:r>
            <a:endParaRPr lang="en-US" sz="1400" dirty="0"/>
          </a:p>
        </p:txBody>
      </p:sp>
      <p:sp>
        <p:nvSpPr>
          <p:cNvPr id="44" name="O 4"/>
          <p:cNvSpPr/>
          <p:nvPr/>
        </p:nvSpPr>
        <p:spPr>
          <a:xfrm>
            <a:off x="7253935" y="4535424"/>
            <a:ext cx="4389120" cy="676656"/>
          </a:xfrm>
          <a:prstGeom prst="roundRect">
            <a:avLst>
              <a:gd name="adj" fmla="val 16216"/>
            </a:avLst>
          </a:prstGeom>
          <a:solidFill>
            <a:schemeClr val="bg2"/>
          </a:solidFill>
          <a:ln/>
        </p:spPr>
      </p:sp>
      <p:sp>
        <p:nvSpPr>
          <p:cNvPr id="45" name="Chu o 4"/>
          <p:cNvSpPr txBox="1"/>
          <p:nvPr/>
        </p:nvSpPr>
        <p:spPr>
          <a:xfrm>
            <a:off x="7418527" y="4535424"/>
            <a:ext cx="4078224" cy="676656"/>
          </a:xfrm>
          <a:prstGeom prst="rect">
            <a:avLst/>
          </a:prstGeom>
          <a:noFill/>
          <a:ln/>
        </p:spPr>
        <p:txBody>
          <a:bodyPr wrap="square" lIns="0" tIns="0" rIns="0" bIns="0" rtlCol="0" anchor="ctr"/>
          <a:lstStyle/>
          <a:p>
            <a:pPr marL="0" indent="0" algn="l">
              <a:buNone/>
            </a:pPr>
            <a:r>
              <a:rPr lang="en-US" sz="1400" dirty="0">
                <a:solidFill>
                  <a:schemeClr val="tx1"/>
                </a:solidFill>
              </a:rPr>
              <a:t>MRL siết chặt, độc tố nấm mốc, bao bì (PPWR từ 12/8/2026)</a:t>
            </a:r>
            <a:endParaRPr lang="en-US" sz="1400" dirty="0"/>
          </a:p>
        </p:txBody>
      </p:sp>
      <p:sp>
        <p:nvSpPr>
          <p:cNvPr id="46" name="O muc do"/>
          <p:cNvSpPr/>
          <p:nvPr/>
        </p:nvSpPr>
        <p:spPr>
          <a:xfrm>
            <a:off x="7253935" y="5266944"/>
            <a:ext cx="4389120" cy="676656"/>
          </a:xfrm>
          <a:prstGeom prst="roundRect">
            <a:avLst>
              <a:gd name="adj" fmla="val 16216"/>
            </a:avLst>
          </a:prstGeom>
          <a:solidFill>
            <a:schemeClr val="bg2"/>
          </a:solidFill>
          <a:ln/>
        </p:spPr>
      </p:sp>
      <p:sp>
        <p:nvSpPr>
          <p:cNvPr id="47" name="Cham 1"/>
          <p:cNvSpPr/>
          <p:nvPr/>
        </p:nvSpPr>
        <p:spPr>
          <a:xfrm>
            <a:off x="7436815" y="5513832"/>
            <a:ext cx="182880" cy="182880"/>
          </a:xfrm>
          <a:prstGeom prst="ellipse">
            <a:avLst/>
          </a:prstGeom>
          <a:solidFill>
            <a:schemeClr val="accent3"/>
          </a:solidFill>
          <a:ln w="12700">
            <a:solidFill>
              <a:schemeClr val="accent3"/>
            </a:solidFill>
            <a:prstDash val="solid"/>
          </a:ln>
        </p:spPr>
      </p:sp>
      <p:sp>
        <p:nvSpPr>
          <p:cNvPr id="48" name="Cham 2"/>
          <p:cNvSpPr/>
          <p:nvPr/>
        </p:nvSpPr>
        <p:spPr>
          <a:xfrm>
            <a:off x="7711135" y="5513832"/>
            <a:ext cx="182880" cy="182880"/>
          </a:xfrm>
          <a:prstGeom prst="ellipse">
            <a:avLst/>
          </a:prstGeom>
          <a:solidFill>
            <a:schemeClr val="accent3"/>
          </a:solidFill>
          <a:ln w="12700">
            <a:solidFill>
              <a:schemeClr val="accent3"/>
            </a:solidFill>
            <a:prstDash val="solid"/>
          </a:ln>
        </p:spPr>
      </p:sp>
      <p:sp>
        <p:nvSpPr>
          <p:cNvPr id="49" name="Cham 3"/>
          <p:cNvSpPr/>
          <p:nvPr/>
        </p:nvSpPr>
        <p:spPr>
          <a:xfrm>
            <a:off x="7985455" y="5513832"/>
            <a:ext cx="182880" cy="182880"/>
          </a:xfrm>
          <a:prstGeom prst="ellipse">
            <a:avLst/>
          </a:prstGeom>
          <a:solidFill>
            <a:schemeClr val="accent3"/>
          </a:solidFill>
          <a:ln w="12700">
            <a:solidFill>
              <a:schemeClr val="accent3"/>
            </a:solidFill>
            <a:prstDash val="solid"/>
          </a:ln>
        </p:spPr>
      </p:sp>
      <p:sp>
        <p:nvSpPr>
          <p:cNvPr id="50" name="Chu muc do"/>
          <p:cNvSpPr txBox="1"/>
          <p:nvPr/>
        </p:nvSpPr>
        <p:spPr>
          <a:xfrm>
            <a:off x="8351215" y="5266944"/>
            <a:ext cx="3108960" cy="676656"/>
          </a:xfrm>
          <a:prstGeom prst="rect">
            <a:avLst/>
          </a:prstGeom>
          <a:noFill/>
          <a:ln/>
        </p:spPr>
        <p:txBody>
          <a:bodyPr wrap="square" lIns="0" tIns="0" rIns="0" bIns="0" rtlCol="0" anchor="ctr"/>
          <a:lstStyle/>
          <a:p>
            <a:pPr marL="0" indent="0" algn="l">
              <a:buNone/>
            </a:pPr>
            <a:r>
              <a:rPr lang="en-US" sz="1400" b="1" dirty="0">
                <a:solidFill>
                  <a:schemeClr val="accent3"/>
                </a:solidFill>
              </a:rPr>
              <a:t>Cao</a:t>
            </a:r>
            <a:endParaRPr lang="en-US" sz="1400" dirty="0"/>
          </a:p>
        </p:txBody>
      </p:sp>
      <p:sp>
        <p:nvSpPr>
          <p:cNvPr id="51" name="Nguon"/>
          <p:cNvSpPr txBox="1"/>
          <p:nvPr/>
        </p:nvSpPr>
        <p:spPr>
          <a:xfrm>
            <a:off x="548640" y="6217920"/>
            <a:ext cx="11094415" cy="201168"/>
          </a:xfrm>
          <a:prstGeom prst="rect">
            <a:avLst/>
          </a:prstGeom>
          <a:noFill/>
          <a:ln/>
        </p:spPr>
        <p:txBody>
          <a:bodyPr wrap="square" lIns="0" tIns="0" rIns="0" bIns="0" rtlCol="0" anchor="t"/>
          <a:lstStyle/>
          <a:p>
            <a:pPr marL="0" indent="0" algn="l">
              <a:buNone/>
            </a:pPr>
            <a:r>
              <a:rPr lang="en-US" sz="1000" dirty="0">
                <a:solidFill>
                  <a:srgbClr val="5C6F66"/>
                </a:solidFill>
              </a:rPr>
              <a:t>Châu Á: mở rộng ở giai đoạn sau, xét riêng. Mức độ khó là đánh giá của đơn vị tư vấn; thủ tục cần được nhà nhập khẩu xác nhận lại khi nộp hồ sơ.</a:t>
            </a:r>
            <a:endParaRPr lang="en-US" sz="1000" dirty="0"/>
          </a:p>
        </p:txBody>
      </p:sp>
      <p:sp>
        <p:nvSpPr>
          <p:cNvPr id="2" name="Slide Number Placeholder 0"/>
          <p:cNvSpPr>
            <a:spLocks noGrp="1"/>
          </p:cNvSpPr>
          <p:nvPr>
            <p:ph type="sldNum" sz="quarter" idx="4294967295"/>
          </p:nvPr>
        </p:nvSpPr>
        <p:spPr>
          <a:xfrm>
            <a:off x="10972800" y="6492240"/>
            <a:ext cx="667512" cy="237744"/>
          </a:xfrm>
          <a:prstGeom prst="rect">
            <a:avLst/>
          </a:prstGeom>
          <a:extLst>
            <a:ext uri="{C572A759-6A51-4108-AA02-DFA0A04FC94B}">
              <ma14:wrappingTextBoxFlag xmlns:ma14="http://schemas.microsoft.com/office/mac/drawingml/2011/main" xmlns="" val="0"/>
            </a:ext>
          </a:extLst>
        </p:spPr>
        <p:txBody>
          <a:bodyPr/>
          <a:lstStyle>
            <a:lvl1pPr>
              <a:defRPr sz="1000">
                <a:solidFill>
                  <a:srgbClr val="5C6F66"/>
                </a:solidFill>
              </a:defRPr>
            </a:lvl1pPr>
          </a:lstStyle>
          <a:p>
            <a:pPr algn="r"/>
            <a:fld id="{F7021451-1387-4CA6-816F-3879F97B5CBC}" type="slidenum">
              <a:rPr lang="en-US" b="0"/>
              <a:t>16</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Dau cham"/>
          <p:cNvSpPr/>
          <p:nvPr/>
        </p:nvSpPr>
        <p:spPr>
          <a:xfrm>
            <a:off x="548640" y="429768"/>
            <a:ext cx="118872" cy="118872"/>
          </a:xfrm>
          <a:prstGeom prst="ellipse">
            <a:avLst/>
          </a:prstGeom>
          <a:solidFill>
            <a:schemeClr val="accent2"/>
          </a:solidFill>
          <a:ln/>
        </p:spPr>
      </p:sp>
      <p:sp>
        <p:nvSpPr>
          <p:cNvPr id="4" name="Nhan chuyen muc"/>
          <p:cNvSpPr txBox="1"/>
          <p:nvPr/>
        </p:nvSpPr>
        <p:spPr>
          <a:xfrm>
            <a:off x="777240" y="347472"/>
            <a:ext cx="6949440" cy="274320"/>
          </a:xfrm>
          <a:prstGeom prst="rect">
            <a:avLst/>
          </a:prstGeom>
          <a:noFill/>
          <a:ln/>
        </p:spPr>
        <p:txBody>
          <a:bodyPr wrap="square" lIns="0" tIns="0" rIns="0" bIns="0" rtlCol="0" anchor="ctr"/>
          <a:lstStyle/>
          <a:p>
            <a:pPr marL="0" indent="0" algn="l">
              <a:buNone/>
            </a:pPr>
            <a:r>
              <a:rPr lang="en-US" sz="1200" b="1" kern="0" spc="200" dirty="0">
                <a:solidFill>
                  <a:schemeClr val="accent1"/>
                </a:solidFill>
              </a:rPr>
              <a:t>THỊ TRƯỜNG 1 · TRUNG QUỐC</a:t>
            </a:r>
            <a:endParaRPr lang="en-US" sz="1200" dirty="0"/>
          </a:p>
        </p:txBody>
      </p:sp>
      <p:sp>
        <p:nvSpPr>
          <p:cNvPr id="5" name="Nhan giai doan"/>
          <p:cNvSpPr txBox="1"/>
          <p:nvPr/>
        </p:nvSpPr>
        <p:spPr>
          <a:xfrm>
            <a:off x="9475927" y="347472"/>
            <a:ext cx="868680" cy="274320"/>
          </a:xfrm>
          <a:prstGeom prst="rect">
            <a:avLst/>
          </a:prstGeom>
          <a:noFill/>
          <a:ln/>
        </p:spPr>
        <p:txBody>
          <a:bodyPr wrap="square" lIns="0" tIns="0" rIns="0" bIns="0" rtlCol="0" anchor="ctr"/>
          <a:lstStyle/>
          <a:p>
            <a:pPr marL="0" indent="0" algn="r">
              <a:buNone/>
            </a:pPr>
            <a:r>
              <a:rPr lang="en-US" sz="1200" dirty="0">
                <a:solidFill>
                  <a:srgbClr val="5C6F66"/>
                </a:solidFill>
              </a:rPr>
              <a:t>Thực hiện ở</a:t>
            </a:r>
            <a:endParaRPr lang="en-US" sz="1200" dirty="0"/>
          </a:p>
        </p:txBody>
      </p:sp>
      <p:sp>
        <p:nvSpPr>
          <p:cNvPr id="6" name="Giai doan 3"/>
          <p:cNvSpPr/>
          <p:nvPr/>
        </p:nvSpPr>
        <p:spPr>
          <a:xfrm>
            <a:off x="10436047" y="356616"/>
            <a:ext cx="566928" cy="256032"/>
          </a:xfrm>
          <a:prstGeom prst="roundRect">
            <a:avLst>
              <a:gd name="adj" fmla="val 21429"/>
            </a:avLst>
          </a:prstGeom>
          <a:solidFill>
            <a:srgbClr val="E4A92A"/>
          </a:solidFill>
          <a:ln/>
        </p:spPr>
      </p:sp>
      <p:sp>
        <p:nvSpPr>
          <p:cNvPr id="7" name="Chu giai doan 3"/>
          <p:cNvSpPr txBox="1"/>
          <p:nvPr/>
        </p:nvSpPr>
        <p:spPr>
          <a:xfrm>
            <a:off x="10436047" y="356616"/>
            <a:ext cx="566928" cy="256032"/>
          </a:xfrm>
          <a:prstGeom prst="rect">
            <a:avLst/>
          </a:prstGeom>
          <a:noFill/>
          <a:ln/>
        </p:spPr>
        <p:txBody>
          <a:bodyPr wrap="square" lIns="0" tIns="0" rIns="0" bIns="0" rtlCol="0" anchor="ctr"/>
          <a:lstStyle/>
          <a:p>
            <a:pPr marL="0" indent="0" algn="ctr">
              <a:buNone/>
            </a:pPr>
            <a:r>
              <a:rPr lang="en-US" sz="1200" b="1" dirty="0">
                <a:solidFill>
                  <a:srgbClr val="1B2B24"/>
                </a:solidFill>
              </a:rPr>
              <a:t>GĐ3</a:t>
            </a:r>
            <a:endParaRPr lang="en-US" sz="1200" dirty="0"/>
          </a:p>
        </p:txBody>
      </p:sp>
      <p:sp>
        <p:nvSpPr>
          <p:cNvPr id="8" name="Giai doan 4"/>
          <p:cNvSpPr/>
          <p:nvPr/>
        </p:nvSpPr>
        <p:spPr>
          <a:xfrm>
            <a:off x="11076127" y="356616"/>
            <a:ext cx="566928" cy="256032"/>
          </a:xfrm>
          <a:prstGeom prst="roundRect">
            <a:avLst>
              <a:gd name="adj" fmla="val 21429"/>
            </a:avLst>
          </a:prstGeom>
          <a:solidFill>
            <a:srgbClr val="7A3E8F"/>
          </a:solidFill>
          <a:ln/>
        </p:spPr>
      </p:sp>
      <p:sp>
        <p:nvSpPr>
          <p:cNvPr id="9" name="Chu giai doan 4"/>
          <p:cNvSpPr txBox="1"/>
          <p:nvPr/>
        </p:nvSpPr>
        <p:spPr>
          <a:xfrm>
            <a:off x="11076127" y="356616"/>
            <a:ext cx="566928" cy="256032"/>
          </a:xfrm>
          <a:prstGeom prst="rect">
            <a:avLst/>
          </a:prstGeom>
          <a:noFill/>
          <a:ln/>
        </p:spPr>
        <p:txBody>
          <a:bodyPr wrap="square" lIns="0" tIns="0" rIns="0" bIns="0" rtlCol="0" anchor="ctr"/>
          <a:lstStyle/>
          <a:p>
            <a:pPr marL="0" indent="0" algn="ctr">
              <a:buNone/>
            </a:pPr>
            <a:r>
              <a:rPr lang="en-US" sz="1200" b="1" dirty="0">
                <a:solidFill>
                  <a:srgbClr val="FFFFFF"/>
                </a:solidFill>
              </a:rPr>
              <a:t>GĐ4</a:t>
            </a:r>
            <a:endParaRPr lang="en-US" sz="1200" dirty="0"/>
          </a:p>
        </p:txBody>
      </p:sp>
      <p:sp>
        <p:nvSpPr>
          <p:cNvPr id="10" name="Text 0"/>
          <p:cNvSpPr>
            <a:spLocks noGrp="1"/>
          </p:cNvSpPr>
          <p:nvPr>
            <p:ph type="title" idx="100" hasCustomPrompt="1"/>
          </p:nvPr>
        </p:nvSpPr>
        <p:spPr>
          <a:xfrm>
            <a:off x="548640" y="658368"/>
            <a:ext cx="11094415" cy="777240"/>
          </a:xfrm>
          <a:prstGeom prst="rect">
            <a:avLst/>
          </a:prstGeom>
          <a:noFill/>
          <a:ln/>
        </p:spPr>
        <p:txBody>
          <a:bodyPr wrap="square" lIns="0" tIns="0" rIns="0" bIns="0" rtlCol="0" anchor="ctr"/>
          <a:lstStyle/>
          <a:p>
            <a:pPr marL="0" indent="0" algn="l">
              <a:buNone/>
            </a:pPr>
            <a:r>
              <a:rPr lang="en-US" sz="3000" b="1" dirty="0">
                <a:solidFill>
                  <a:schemeClr val="tx2"/>
                </a:solidFill>
              </a:rPr>
              <a:t>Trung Quốc: đăng ký GACC là cửa bắt buộc</a:t>
            </a:r>
            <a:endParaRPr lang="en-US" sz="3000" dirty="0"/>
          </a:p>
        </p:txBody>
      </p:sp>
      <p:sp>
        <p:nvSpPr>
          <p:cNvPr id="11" name="Quy trình đăng ký mã GACC trên CIFER (khung)"/>
          <p:cNvSpPr/>
          <p:nvPr/>
        </p:nvSpPr>
        <p:spPr>
          <a:xfrm>
            <a:off x="521208" y="1755648"/>
            <a:ext cx="3490409" cy="2203704"/>
          </a:xfrm>
          <a:prstGeom prst="rect">
            <a:avLst/>
          </a:prstGeom>
          <a:solidFill>
            <a:srgbClr val="FFFFFF"/>
          </a:solidFill>
          <a:ln w="9525">
            <a:solidFill>
              <a:srgbClr val="D5DED8"/>
            </a:solidFill>
            <a:prstDash val="solid"/>
          </a:ln>
          <a:effectLst>
            <a:outerShdw blurRad="76200" dist="25400" dir="5400000" algn="bl" rotWithShape="0">
              <a:srgbClr val="000000">
                <a:alpha val="16000"/>
              </a:srgbClr>
            </a:outerShdw>
          </a:effectLst>
        </p:spPr>
      </p:sp>
      <p:pic>
        <p:nvPicPr>
          <p:cNvPr id="12" name="Quy trình đăng ký mã GACC trên CIFER" descr="Quy trình đăng ký mã GACC trên CIFER"/>
          <p:cNvPicPr>
            <a:picLocks noChangeAspect="1"/>
          </p:cNvPicPr>
          <p:nvPr/>
        </p:nvPicPr>
        <p:blipFill>
          <a:blip r:embed="rId3"/>
          <a:stretch>
            <a:fillRect/>
          </a:stretch>
        </p:blipFill>
        <p:spPr>
          <a:xfrm>
            <a:off x="548640" y="1783080"/>
            <a:ext cx="3435545" cy="2148840"/>
          </a:xfrm>
          <a:prstGeom prst="rect">
            <a:avLst/>
          </a:prstGeom>
        </p:spPr>
      </p:pic>
      <p:sp>
        <p:nvSpPr>
          <p:cNvPr id="13" name="Cấu trúc mã đăng ký GACC (khung)"/>
          <p:cNvSpPr/>
          <p:nvPr/>
        </p:nvSpPr>
        <p:spPr>
          <a:xfrm>
            <a:off x="4160520" y="1755648"/>
            <a:ext cx="3686006" cy="2203704"/>
          </a:xfrm>
          <a:prstGeom prst="rect">
            <a:avLst/>
          </a:prstGeom>
          <a:solidFill>
            <a:srgbClr val="FFFFFF"/>
          </a:solidFill>
          <a:ln w="9525">
            <a:solidFill>
              <a:srgbClr val="D5DED8"/>
            </a:solidFill>
            <a:prstDash val="solid"/>
          </a:ln>
          <a:effectLst>
            <a:outerShdw blurRad="76200" dist="25400" dir="5400000" algn="bl" rotWithShape="0">
              <a:srgbClr val="000000">
                <a:alpha val="16000"/>
              </a:srgbClr>
            </a:outerShdw>
          </a:effectLst>
        </p:spPr>
      </p:sp>
      <p:pic>
        <p:nvPicPr>
          <p:cNvPr id="14" name="Cấu trúc mã đăng ký GACC" descr="Cấu trúc mã đăng ký GACC"/>
          <p:cNvPicPr>
            <a:picLocks noChangeAspect="1"/>
          </p:cNvPicPr>
          <p:nvPr/>
        </p:nvPicPr>
        <p:blipFill>
          <a:blip r:embed="rId4"/>
          <a:stretch>
            <a:fillRect/>
          </a:stretch>
        </p:blipFill>
        <p:spPr>
          <a:xfrm>
            <a:off x="4187952" y="1783080"/>
            <a:ext cx="3631142" cy="2148840"/>
          </a:xfrm>
          <a:prstGeom prst="rect">
            <a:avLst/>
          </a:prstGeom>
        </p:spPr>
      </p:pic>
      <p:sp>
        <p:nvSpPr>
          <p:cNvPr id="15" name="Chu thich quy trinh"/>
          <p:cNvSpPr txBox="1"/>
          <p:nvPr/>
        </p:nvSpPr>
        <p:spPr>
          <a:xfrm>
            <a:off x="548640" y="4023360"/>
            <a:ext cx="3435545" cy="411480"/>
          </a:xfrm>
          <a:prstGeom prst="rect">
            <a:avLst/>
          </a:prstGeom>
          <a:noFill/>
          <a:ln/>
        </p:spPr>
        <p:txBody>
          <a:bodyPr wrap="square" lIns="0" tIns="0" rIns="0" bIns="0" rtlCol="0" anchor="t"/>
          <a:lstStyle/>
          <a:p>
            <a:pPr marL="0" indent="0" algn="l">
              <a:buNone/>
            </a:pPr>
            <a:r>
              <a:rPr lang="en-US" sz="1200" dirty="0">
                <a:solidFill>
                  <a:srgbClr val="5C6F66"/>
                </a:solidFill>
              </a:rPr>
              <a:t>Quy trình đăng ký mã GACC trên CIFER (nguồn: Q-CERT)</a:t>
            </a:r>
            <a:endParaRPr lang="en-US" sz="1200" dirty="0"/>
          </a:p>
        </p:txBody>
      </p:sp>
      <p:sp>
        <p:nvSpPr>
          <p:cNvPr id="16" name="Chu thich cau truc"/>
          <p:cNvSpPr txBox="1"/>
          <p:nvPr/>
        </p:nvSpPr>
        <p:spPr>
          <a:xfrm>
            <a:off x="4187952" y="4023360"/>
            <a:ext cx="3631142" cy="411480"/>
          </a:xfrm>
          <a:prstGeom prst="rect">
            <a:avLst/>
          </a:prstGeom>
          <a:noFill/>
          <a:ln/>
        </p:spPr>
        <p:txBody>
          <a:bodyPr wrap="square" lIns="0" tIns="0" rIns="0" bIns="0" rtlCol="0" anchor="t"/>
          <a:lstStyle/>
          <a:p>
            <a:pPr marL="0" indent="0" algn="l">
              <a:buNone/>
            </a:pPr>
            <a:r>
              <a:rPr lang="en-US" sz="1200" dirty="0">
                <a:solidFill>
                  <a:srgbClr val="5C6F66"/>
                </a:solidFill>
              </a:rPr>
              <a:t>Cấu trúc mã đăng ký GACC 18 ký tự (nguồn: GACC Association)</a:t>
            </a:r>
            <a:endParaRPr lang="en-US" sz="1200" dirty="0"/>
          </a:p>
        </p:txBody>
      </p:sp>
      <p:sp>
        <p:nvSpPr>
          <p:cNvPr id="17" name="Khung Lenh 280"/>
          <p:cNvSpPr/>
          <p:nvPr/>
        </p:nvSpPr>
        <p:spPr>
          <a:xfrm>
            <a:off x="8001000" y="1783080"/>
            <a:ext cx="3639312" cy="1051560"/>
          </a:xfrm>
          <a:prstGeom prst="roundRect">
            <a:avLst>
              <a:gd name="adj" fmla="val 10435"/>
            </a:avLst>
          </a:prstGeom>
          <a:solidFill>
            <a:srgbClr val="F8E6E1"/>
          </a:solidFill>
          <a:ln/>
        </p:spPr>
      </p:sp>
      <p:sp>
        <p:nvSpPr>
          <p:cNvPr id="18" name="Chu Lenh 280"/>
          <p:cNvSpPr txBox="1"/>
          <p:nvPr/>
        </p:nvSpPr>
        <p:spPr>
          <a:xfrm>
            <a:off x="8183880" y="1828800"/>
            <a:ext cx="3291840" cy="960120"/>
          </a:xfrm>
          <a:prstGeom prst="rect">
            <a:avLst/>
          </a:prstGeom>
          <a:noFill/>
          <a:ln/>
        </p:spPr>
        <p:txBody>
          <a:bodyPr wrap="square" lIns="0" tIns="0" rIns="0" bIns="0" rtlCol="0" anchor="ctr"/>
          <a:lstStyle/>
          <a:p>
            <a:pPr marL="0" indent="0" algn="l">
              <a:buNone/>
            </a:pPr>
            <a:r>
              <a:rPr lang="en-US" sz="1400" b="1" dirty="0">
                <a:solidFill>
                  <a:schemeClr val="accent5"/>
                </a:solidFill>
              </a:rPr>
              <a:t>Lệnh 280 </a:t>
            </a:r>
            <a:r>
              <a:rPr lang="en-US" sz="1400" dirty="0">
                <a:solidFill>
                  <a:schemeClr val="tx1"/>
                </a:solidFill>
              </a:rPr>
              <a:t>hiệu lực từ 1/6/2026, thay Lệnh 248. Trái cây sấy thuộc nhóm phải có giới thiệu của cơ quan có thẩm quyền; mã có hiệu lực 5 năm.</a:t>
            </a:r>
            <a:endParaRPr lang="en-US" sz="1400" dirty="0"/>
          </a:p>
        </p:txBody>
      </p:sp>
      <p:sp>
        <p:nvSpPr>
          <p:cNvPr id="19" name="Khung rui ro"/>
          <p:cNvSpPr/>
          <p:nvPr/>
        </p:nvSpPr>
        <p:spPr>
          <a:xfrm>
            <a:off x="8001000" y="2971800"/>
            <a:ext cx="3639312" cy="1463040"/>
          </a:xfrm>
          <a:prstGeom prst="roundRect">
            <a:avLst>
              <a:gd name="adj" fmla="val 7500"/>
            </a:avLst>
          </a:prstGeom>
          <a:solidFill>
            <a:srgbClr val="F8E6E1"/>
          </a:solidFill>
          <a:ln/>
        </p:spPr>
      </p:sp>
      <p:pic>
        <p:nvPicPr>
          <p:cNvPr id="20" name="Canh bao" descr="Cảnh báo"/>
          <p:cNvPicPr>
            <a:picLocks noChangeAspect="1"/>
          </p:cNvPicPr>
          <p:nvPr/>
        </p:nvPicPr>
        <p:blipFill>
          <a:blip r:embed="rId5"/>
          <a:stretch>
            <a:fillRect/>
          </a:stretch>
        </p:blipFill>
        <p:spPr>
          <a:xfrm>
            <a:off x="8165592" y="3154680"/>
            <a:ext cx="411480" cy="411480"/>
          </a:xfrm>
          <a:prstGeom prst="rect">
            <a:avLst/>
          </a:prstGeom>
        </p:spPr>
      </p:pic>
      <p:sp>
        <p:nvSpPr>
          <p:cNvPr id="21" name="Chu rui ro"/>
          <p:cNvSpPr txBox="1"/>
          <p:nvPr/>
        </p:nvSpPr>
        <p:spPr>
          <a:xfrm>
            <a:off x="8686800" y="3017520"/>
            <a:ext cx="2834640" cy="1371600"/>
          </a:xfrm>
          <a:prstGeom prst="rect">
            <a:avLst/>
          </a:prstGeom>
          <a:noFill/>
          <a:ln/>
        </p:spPr>
        <p:txBody>
          <a:bodyPr wrap="square" lIns="0" tIns="0" rIns="0" bIns="0" rtlCol="0" anchor="ctr"/>
          <a:lstStyle/>
          <a:p>
            <a:pPr marL="0" indent="0" algn="l">
              <a:buNone/>
            </a:pPr>
            <a:r>
              <a:rPr lang="en-US" sz="1400" b="1" dirty="0">
                <a:solidFill>
                  <a:schemeClr val="accent5"/>
                </a:solidFill>
              </a:rPr>
              <a:t>Rủi ro sầu riêng: </a:t>
            </a:r>
            <a:r>
              <a:rPr lang="en-US" sz="1400" dirty="0">
                <a:solidFill>
                  <a:schemeClr val="tx1"/>
                </a:solidFill>
              </a:rPr>
              <a:t>sầu riêng tươi bị siết kiểm nghiệm cadimi, vàng O (ùn tắc 5/2026); với sản phẩm sấy cần hỏi lại nhà nhập khẩu.</a:t>
            </a:r>
            <a:endParaRPr lang="en-US" sz="1400" dirty="0"/>
          </a:p>
        </p:txBody>
      </p:sp>
      <p:sp>
        <p:nvSpPr>
          <p:cNvPr id="22" name="Buoc 1"/>
          <p:cNvSpPr/>
          <p:nvPr/>
        </p:nvSpPr>
        <p:spPr>
          <a:xfrm>
            <a:off x="548640" y="4572000"/>
            <a:ext cx="2109155" cy="1554480"/>
          </a:xfrm>
          <a:prstGeom prst="roundRect">
            <a:avLst>
              <a:gd name="adj" fmla="val 7059"/>
            </a:avLst>
          </a:prstGeom>
          <a:solidFill>
            <a:schemeClr val="bg2"/>
          </a:solidFill>
          <a:ln/>
        </p:spPr>
      </p:sp>
      <p:sp>
        <p:nvSpPr>
          <p:cNvPr id="23" name="So buoc 1 (vòng)"/>
          <p:cNvSpPr/>
          <p:nvPr/>
        </p:nvSpPr>
        <p:spPr>
          <a:xfrm>
            <a:off x="676656" y="4700016"/>
            <a:ext cx="402336" cy="402336"/>
          </a:xfrm>
          <a:prstGeom prst="ellipse">
            <a:avLst/>
          </a:prstGeom>
          <a:solidFill>
            <a:srgbClr val="B4432F"/>
          </a:solidFill>
          <a:ln/>
        </p:spPr>
      </p:sp>
      <p:sp>
        <p:nvSpPr>
          <p:cNvPr id="24" name="So buoc 1 (số)"/>
          <p:cNvSpPr txBox="1"/>
          <p:nvPr/>
        </p:nvSpPr>
        <p:spPr>
          <a:xfrm>
            <a:off x="676656" y="4700016"/>
            <a:ext cx="402336" cy="402336"/>
          </a:xfrm>
          <a:prstGeom prst="rect">
            <a:avLst/>
          </a:prstGeom>
          <a:no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25" name="Ten buoc 1"/>
          <p:cNvSpPr txBox="1"/>
          <p:nvPr/>
        </p:nvSpPr>
        <p:spPr>
          <a:xfrm>
            <a:off x="1170432" y="4700016"/>
            <a:ext cx="1395923" cy="402336"/>
          </a:xfrm>
          <a:prstGeom prst="rect">
            <a:avLst/>
          </a:prstGeom>
          <a:noFill/>
          <a:ln/>
        </p:spPr>
        <p:txBody>
          <a:bodyPr wrap="square" lIns="0" tIns="0" rIns="0" bIns="0" rtlCol="0" anchor="ctr"/>
          <a:lstStyle/>
          <a:p>
            <a:pPr marL="0" indent="0" algn="l">
              <a:buNone/>
            </a:pPr>
            <a:r>
              <a:rPr lang="en-US" sz="1400" b="1" dirty="0">
                <a:solidFill>
                  <a:schemeClr val="accent5"/>
                </a:solidFill>
              </a:rPr>
              <a:t>Chuẩn bị hồ sơ</a:t>
            </a:r>
            <a:endParaRPr lang="en-US" sz="1400" dirty="0"/>
          </a:p>
        </p:txBody>
      </p:sp>
      <p:sp>
        <p:nvSpPr>
          <p:cNvPr id="26" name="Chu buoc 1"/>
          <p:cNvSpPr txBox="1"/>
          <p:nvPr/>
        </p:nvSpPr>
        <p:spPr>
          <a:xfrm>
            <a:off x="676656" y="5175504"/>
            <a:ext cx="1871411" cy="914400"/>
          </a:xfrm>
          <a:prstGeom prst="rect">
            <a:avLst/>
          </a:prstGeom>
          <a:noFill/>
          <a:ln/>
        </p:spPr>
        <p:txBody>
          <a:bodyPr wrap="square" lIns="0" tIns="0" rIns="0" bIns="0" rtlCol="0" anchor="t"/>
          <a:lstStyle/>
          <a:p>
            <a:pPr marL="0" indent="0" algn="l">
              <a:buNone/>
            </a:pPr>
            <a:r>
              <a:rPr lang="en-US" sz="1400" dirty="0">
                <a:solidFill>
                  <a:schemeClr val="tx1"/>
                </a:solidFill>
              </a:rPr>
              <a:t>HACCP đầy đủ, truy xuất từng lô đến nhà vườn, nhân sự được đào tạo</a:t>
            </a:r>
            <a:endParaRPr lang="en-US" sz="1400" dirty="0"/>
          </a:p>
        </p:txBody>
      </p:sp>
      <p:sp>
        <p:nvSpPr>
          <p:cNvPr id="27" name="Buoc 2"/>
          <p:cNvSpPr/>
          <p:nvPr/>
        </p:nvSpPr>
        <p:spPr>
          <a:xfrm>
            <a:off x="2794955" y="4572000"/>
            <a:ext cx="2109155" cy="1554480"/>
          </a:xfrm>
          <a:prstGeom prst="roundRect">
            <a:avLst>
              <a:gd name="adj" fmla="val 7059"/>
            </a:avLst>
          </a:prstGeom>
          <a:solidFill>
            <a:schemeClr val="bg2"/>
          </a:solidFill>
          <a:ln/>
        </p:spPr>
      </p:sp>
      <p:sp>
        <p:nvSpPr>
          <p:cNvPr id="28" name="So buoc 2 (vòng)"/>
          <p:cNvSpPr/>
          <p:nvPr/>
        </p:nvSpPr>
        <p:spPr>
          <a:xfrm>
            <a:off x="2922971" y="4700016"/>
            <a:ext cx="402336" cy="402336"/>
          </a:xfrm>
          <a:prstGeom prst="ellipse">
            <a:avLst/>
          </a:prstGeom>
          <a:solidFill>
            <a:srgbClr val="B4432F"/>
          </a:solidFill>
          <a:ln/>
        </p:spPr>
      </p:sp>
      <p:sp>
        <p:nvSpPr>
          <p:cNvPr id="29" name="So buoc 2 (số)"/>
          <p:cNvSpPr txBox="1"/>
          <p:nvPr/>
        </p:nvSpPr>
        <p:spPr>
          <a:xfrm>
            <a:off x="2922971" y="4700016"/>
            <a:ext cx="402336" cy="402336"/>
          </a:xfrm>
          <a:prstGeom prst="rect">
            <a:avLst/>
          </a:prstGeom>
          <a:no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30" name="Ten buoc 2"/>
          <p:cNvSpPr txBox="1"/>
          <p:nvPr/>
        </p:nvSpPr>
        <p:spPr>
          <a:xfrm>
            <a:off x="3416747" y="4700016"/>
            <a:ext cx="1395923" cy="402336"/>
          </a:xfrm>
          <a:prstGeom prst="rect">
            <a:avLst/>
          </a:prstGeom>
          <a:noFill/>
          <a:ln/>
        </p:spPr>
        <p:txBody>
          <a:bodyPr wrap="square" lIns="0" tIns="0" rIns="0" bIns="0" rtlCol="0" anchor="ctr"/>
          <a:lstStyle/>
          <a:p>
            <a:pPr marL="0" indent="0" algn="l">
              <a:buNone/>
            </a:pPr>
            <a:r>
              <a:rPr lang="en-US" sz="1400" b="1" dirty="0">
                <a:solidFill>
                  <a:schemeClr val="accent5"/>
                </a:solidFill>
              </a:rPr>
              <a:t>Giới thiệu</a:t>
            </a:r>
            <a:endParaRPr lang="en-US" sz="1400" dirty="0"/>
          </a:p>
        </p:txBody>
      </p:sp>
      <p:sp>
        <p:nvSpPr>
          <p:cNvPr id="31" name="Chu buoc 2"/>
          <p:cNvSpPr txBox="1"/>
          <p:nvPr/>
        </p:nvSpPr>
        <p:spPr>
          <a:xfrm>
            <a:off x="2922971" y="5175504"/>
            <a:ext cx="1871411" cy="914400"/>
          </a:xfrm>
          <a:prstGeom prst="rect">
            <a:avLst/>
          </a:prstGeom>
          <a:noFill/>
          <a:ln/>
        </p:spPr>
        <p:txBody>
          <a:bodyPr wrap="square" lIns="0" tIns="0" rIns="0" bIns="0" rtlCol="0" anchor="t"/>
          <a:lstStyle/>
          <a:p>
            <a:pPr marL="0" indent="0" algn="l">
              <a:buNone/>
            </a:pPr>
            <a:r>
              <a:rPr lang="en-US" sz="1400" dirty="0">
                <a:solidFill>
                  <a:schemeClr val="tx1"/>
                </a:solidFill>
              </a:rPr>
              <a:t>Cơ quan có thẩm quyền Việt Nam đánh giá và giới thiệu nhà máy</a:t>
            </a:r>
            <a:endParaRPr lang="en-US" sz="1400" dirty="0"/>
          </a:p>
        </p:txBody>
      </p:sp>
      <p:sp>
        <p:nvSpPr>
          <p:cNvPr id="32" name="Buoc 3"/>
          <p:cNvSpPr/>
          <p:nvPr/>
        </p:nvSpPr>
        <p:spPr>
          <a:xfrm>
            <a:off x="5041270" y="4572000"/>
            <a:ext cx="2109155" cy="1554480"/>
          </a:xfrm>
          <a:prstGeom prst="roundRect">
            <a:avLst>
              <a:gd name="adj" fmla="val 7059"/>
            </a:avLst>
          </a:prstGeom>
          <a:solidFill>
            <a:schemeClr val="bg2"/>
          </a:solidFill>
          <a:ln/>
        </p:spPr>
      </p:sp>
      <p:sp>
        <p:nvSpPr>
          <p:cNvPr id="33" name="So buoc 3 (vòng)"/>
          <p:cNvSpPr/>
          <p:nvPr/>
        </p:nvSpPr>
        <p:spPr>
          <a:xfrm>
            <a:off x="5169286" y="4700016"/>
            <a:ext cx="402336" cy="402336"/>
          </a:xfrm>
          <a:prstGeom prst="ellipse">
            <a:avLst/>
          </a:prstGeom>
          <a:solidFill>
            <a:srgbClr val="B4432F"/>
          </a:solidFill>
          <a:ln/>
        </p:spPr>
      </p:sp>
      <p:sp>
        <p:nvSpPr>
          <p:cNvPr id="34" name="So buoc 3 (số)"/>
          <p:cNvSpPr txBox="1"/>
          <p:nvPr/>
        </p:nvSpPr>
        <p:spPr>
          <a:xfrm>
            <a:off x="5169286" y="4700016"/>
            <a:ext cx="402336" cy="402336"/>
          </a:xfrm>
          <a:prstGeom prst="rect">
            <a:avLst/>
          </a:prstGeom>
          <a:noFill/>
          <a:ln/>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35" name="Ten buoc 3"/>
          <p:cNvSpPr txBox="1"/>
          <p:nvPr/>
        </p:nvSpPr>
        <p:spPr>
          <a:xfrm>
            <a:off x="5663062" y="4700016"/>
            <a:ext cx="1395923" cy="402336"/>
          </a:xfrm>
          <a:prstGeom prst="rect">
            <a:avLst/>
          </a:prstGeom>
          <a:noFill/>
          <a:ln/>
        </p:spPr>
        <p:txBody>
          <a:bodyPr wrap="square" lIns="0" tIns="0" rIns="0" bIns="0" rtlCol="0" anchor="ctr"/>
          <a:lstStyle/>
          <a:p>
            <a:pPr marL="0" indent="0" algn="l">
              <a:buNone/>
            </a:pPr>
            <a:r>
              <a:rPr lang="en-US" sz="1400" b="1" dirty="0">
                <a:solidFill>
                  <a:schemeClr val="accent5"/>
                </a:solidFill>
              </a:rPr>
              <a:t>Đăng ký CIFER</a:t>
            </a:r>
            <a:endParaRPr lang="en-US" sz="1400" dirty="0"/>
          </a:p>
        </p:txBody>
      </p:sp>
      <p:sp>
        <p:nvSpPr>
          <p:cNvPr id="36" name="Chu buoc 3"/>
          <p:cNvSpPr txBox="1"/>
          <p:nvPr/>
        </p:nvSpPr>
        <p:spPr>
          <a:xfrm>
            <a:off x="5169286" y="5175504"/>
            <a:ext cx="1871411" cy="914400"/>
          </a:xfrm>
          <a:prstGeom prst="rect">
            <a:avLst/>
          </a:prstGeom>
          <a:noFill/>
          <a:ln/>
        </p:spPr>
        <p:txBody>
          <a:bodyPr wrap="square" lIns="0" tIns="0" rIns="0" bIns="0" rtlCol="0" anchor="t"/>
          <a:lstStyle/>
          <a:p>
            <a:pPr marL="0" indent="0" algn="l">
              <a:buNone/>
            </a:pPr>
            <a:r>
              <a:rPr lang="en-US" sz="1400" dirty="0">
                <a:solidFill>
                  <a:schemeClr val="tx1"/>
                </a:solidFill>
              </a:rPr>
              <a:t>Chọn đúng nhóm hàng (gừng sấy cần xác nhận) và nhận mã GACC</a:t>
            </a:r>
            <a:endParaRPr lang="en-US" sz="1400" dirty="0"/>
          </a:p>
        </p:txBody>
      </p:sp>
      <p:sp>
        <p:nvSpPr>
          <p:cNvPr id="37" name="Buoc 4"/>
          <p:cNvSpPr/>
          <p:nvPr/>
        </p:nvSpPr>
        <p:spPr>
          <a:xfrm>
            <a:off x="7287585" y="4572000"/>
            <a:ext cx="2109155" cy="1554480"/>
          </a:xfrm>
          <a:prstGeom prst="roundRect">
            <a:avLst>
              <a:gd name="adj" fmla="val 7059"/>
            </a:avLst>
          </a:prstGeom>
          <a:solidFill>
            <a:schemeClr val="bg2"/>
          </a:solidFill>
          <a:ln/>
        </p:spPr>
      </p:sp>
      <p:sp>
        <p:nvSpPr>
          <p:cNvPr id="38" name="So buoc 4 (vòng)"/>
          <p:cNvSpPr/>
          <p:nvPr/>
        </p:nvSpPr>
        <p:spPr>
          <a:xfrm>
            <a:off x="7415601" y="4700016"/>
            <a:ext cx="402336" cy="402336"/>
          </a:xfrm>
          <a:prstGeom prst="ellipse">
            <a:avLst/>
          </a:prstGeom>
          <a:solidFill>
            <a:srgbClr val="B4432F"/>
          </a:solidFill>
          <a:ln/>
        </p:spPr>
      </p:sp>
      <p:sp>
        <p:nvSpPr>
          <p:cNvPr id="39" name="So buoc 4 (số)"/>
          <p:cNvSpPr txBox="1"/>
          <p:nvPr/>
        </p:nvSpPr>
        <p:spPr>
          <a:xfrm>
            <a:off x="7415601" y="4700016"/>
            <a:ext cx="402336" cy="402336"/>
          </a:xfrm>
          <a:prstGeom prst="rect">
            <a:avLst/>
          </a:prstGeom>
          <a:noFill/>
          <a:ln/>
        </p:spPr>
        <p:txBody>
          <a:bodyPr wrap="square" lIns="0" tIns="0" rIns="0" bIns="0" rtlCol="0" anchor="ctr"/>
          <a:lstStyle/>
          <a:p>
            <a:pPr marL="0" indent="0" algn="ctr">
              <a:buNone/>
            </a:pPr>
            <a:r>
              <a:rPr lang="en-US" sz="1400" b="1" dirty="0">
                <a:solidFill>
                  <a:schemeClr val="bg1"/>
                </a:solidFill>
              </a:rPr>
              <a:t>4</a:t>
            </a:r>
            <a:endParaRPr lang="en-US" sz="1400" dirty="0"/>
          </a:p>
        </p:txBody>
      </p:sp>
      <p:sp>
        <p:nvSpPr>
          <p:cNvPr id="40" name="Ten buoc 4"/>
          <p:cNvSpPr txBox="1"/>
          <p:nvPr/>
        </p:nvSpPr>
        <p:spPr>
          <a:xfrm>
            <a:off x="7909377" y="4700016"/>
            <a:ext cx="1395923" cy="402336"/>
          </a:xfrm>
          <a:prstGeom prst="rect">
            <a:avLst/>
          </a:prstGeom>
          <a:noFill/>
          <a:ln/>
        </p:spPr>
        <p:txBody>
          <a:bodyPr wrap="square" lIns="0" tIns="0" rIns="0" bIns="0" rtlCol="0" anchor="ctr"/>
          <a:lstStyle/>
          <a:p>
            <a:pPr marL="0" indent="0" algn="l">
              <a:buNone/>
            </a:pPr>
            <a:r>
              <a:rPr lang="en-US" sz="1400" b="1" dirty="0">
                <a:solidFill>
                  <a:schemeClr val="accent5"/>
                </a:solidFill>
              </a:rPr>
              <a:t>Nhãn mác</a:t>
            </a:r>
            <a:endParaRPr lang="en-US" sz="1400" dirty="0"/>
          </a:p>
        </p:txBody>
      </p:sp>
      <p:sp>
        <p:nvSpPr>
          <p:cNvPr id="41" name="Chu buoc 4"/>
          <p:cNvSpPr txBox="1"/>
          <p:nvPr/>
        </p:nvSpPr>
        <p:spPr>
          <a:xfrm>
            <a:off x="7415601" y="5175504"/>
            <a:ext cx="1871411" cy="914400"/>
          </a:xfrm>
          <a:prstGeom prst="rect">
            <a:avLst/>
          </a:prstGeom>
          <a:noFill/>
          <a:ln/>
        </p:spPr>
        <p:txBody>
          <a:bodyPr wrap="square" lIns="0" tIns="0" rIns="0" bIns="0" rtlCol="0" anchor="t"/>
          <a:lstStyle/>
          <a:p>
            <a:pPr marL="0" indent="0" algn="l">
              <a:buNone/>
            </a:pPr>
            <a:r>
              <a:rPr lang="en-US" sz="1400" dirty="0">
                <a:solidFill>
                  <a:schemeClr val="tx1"/>
                </a:solidFill>
              </a:rPr>
              <a:t>Nhãn tiếng Trung (GB), in mã GACC; chọn nhà nhập khẩu đủ năng lực</a:t>
            </a:r>
            <a:endParaRPr lang="en-US" sz="1400" dirty="0"/>
          </a:p>
        </p:txBody>
      </p:sp>
      <p:sp>
        <p:nvSpPr>
          <p:cNvPr id="42" name="Buoc 5"/>
          <p:cNvSpPr/>
          <p:nvPr/>
        </p:nvSpPr>
        <p:spPr>
          <a:xfrm>
            <a:off x="9533900" y="4572000"/>
            <a:ext cx="2109155" cy="1554480"/>
          </a:xfrm>
          <a:prstGeom prst="roundRect">
            <a:avLst>
              <a:gd name="adj" fmla="val 7059"/>
            </a:avLst>
          </a:prstGeom>
          <a:solidFill>
            <a:schemeClr val="bg2"/>
          </a:solidFill>
          <a:ln/>
        </p:spPr>
      </p:sp>
      <p:sp>
        <p:nvSpPr>
          <p:cNvPr id="43" name="So buoc 5 (vòng)"/>
          <p:cNvSpPr/>
          <p:nvPr/>
        </p:nvSpPr>
        <p:spPr>
          <a:xfrm>
            <a:off x="9661916" y="4700016"/>
            <a:ext cx="402336" cy="402336"/>
          </a:xfrm>
          <a:prstGeom prst="ellipse">
            <a:avLst/>
          </a:prstGeom>
          <a:solidFill>
            <a:srgbClr val="B4432F"/>
          </a:solidFill>
          <a:ln/>
        </p:spPr>
      </p:sp>
      <p:sp>
        <p:nvSpPr>
          <p:cNvPr id="44" name="So buoc 5 (số)"/>
          <p:cNvSpPr txBox="1"/>
          <p:nvPr/>
        </p:nvSpPr>
        <p:spPr>
          <a:xfrm>
            <a:off x="9661916" y="4700016"/>
            <a:ext cx="402336" cy="402336"/>
          </a:xfrm>
          <a:prstGeom prst="rect">
            <a:avLst/>
          </a:prstGeom>
          <a:noFill/>
          <a:ln/>
        </p:spPr>
        <p:txBody>
          <a:bodyPr wrap="square" lIns="0" tIns="0" rIns="0" bIns="0" rtlCol="0" anchor="ctr"/>
          <a:lstStyle/>
          <a:p>
            <a:pPr marL="0" indent="0" algn="ctr">
              <a:buNone/>
            </a:pPr>
            <a:r>
              <a:rPr lang="en-US" sz="1400" b="1" dirty="0">
                <a:solidFill>
                  <a:schemeClr val="bg1"/>
                </a:solidFill>
              </a:rPr>
              <a:t>5</a:t>
            </a:r>
            <a:endParaRPr lang="en-US" sz="1400" dirty="0"/>
          </a:p>
        </p:txBody>
      </p:sp>
      <p:sp>
        <p:nvSpPr>
          <p:cNvPr id="45" name="Ten buoc 5"/>
          <p:cNvSpPr txBox="1"/>
          <p:nvPr/>
        </p:nvSpPr>
        <p:spPr>
          <a:xfrm>
            <a:off x="10155692" y="4700016"/>
            <a:ext cx="1395923" cy="402336"/>
          </a:xfrm>
          <a:prstGeom prst="rect">
            <a:avLst/>
          </a:prstGeom>
          <a:noFill/>
          <a:ln/>
        </p:spPr>
        <p:txBody>
          <a:bodyPr wrap="square" lIns="0" tIns="0" rIns="0" bIns="0" rtlCol="0" anchor="ctr"/>
          <a:lstStyle/>
          <a:p>
            <a:pPr marL="0" indent="0" algn="l">
              <a:buNone/>
            </a:pPr>
            <a:r>
              <a:rPr lang="en-US" sz="1400" b="1" dirty="0">
                <a:solidFill>
                  <a:schemeClr val="accent5"/>
                </a:solidFill>
              </a:rPr>
              <a:t>Khai báo lô hàng</a:t>
            </a:r>
            <a:endParaRPr lang="en-US" sz="1400" dirty="0"/>
          </a:p>
        </p:txBody>
      </p:sp>
      <p:sp>
        <p:nvSpPr>
          <p:cNvPr id="46" name="Chu buoc 5"/>
          <p:cNvSpPr txBox="1"/>
          <p:nvPr/>
        </p:nvSpPr>
        <p:spPr>
          <a:xfrm>
            <a:off x="9661916" y="5175504"/>
            <a:ext cx="1871411" cy="914400"/>
          </a:xfrm>
          <a:prstGeom prst="rect">
            <a:avLst/>
          </a:prstGeom>
          <a:noFill/>
          <a:ln/>
        </p:spPr>
        <p:txBody>
          <a:bodyPr wrap="square" lIns="0" tIns="0" rIns="0" bIns="0" rtlCol="0" anchor="t"/>
          <a:lstStyle/>
          <a:p>
            <a:pPr marL="0" indent="0" algn="l">
              <a:buNone/>
            </a:pPr>
            <a:r>
              <a:rPr lang="en-US" sz="1400" dirty="0">
                <a:solidFill>
                  <a:schemeClr val="tx1"/>
                </a:solidFill>
              </a:rPr>
              <a:t>Mỗi lô: nhà nhập khẩu khai mã GACC trên tờ khai hải quan</a:t>
            </a:r>
            <a:endParaRPr lang="en-US" sz="1400" dirty="0"/>
          </a:p>
        </p:txBody>
      </p:sp>
      <p:sp>
        <p:nvSpPr>
          <p:cNvPr id="47" name="Nguon"/>
          <p:cNvSpPr txBox="1"/>
          <p:nvPr/>
        </p:nvSpPr>
        <p:spPr>
          <a:xfrm>
            <a:off x="548640" y="6217920"/>
            <a:ext cx="11094415" cy="201168"/>
          </a:xfrm>
          <a:prstGeom prst="rect">
            <a:avLst/>
          </a:prstGeom>
          <a:noFill/>
          <a:ln/>
        </p:spPr>
        <p:txBody>
          <a:bodyPr wrap="square" lIns="0" tIns="0" rIns="0" bIns="0" rtlCol="0" anchor="t"/>
          <a:lstStyle/>
          <a:p>
            <a:pPr marL="0" indent="0" algn="l">
              <a:buNone/>
            </a:pPr>
            <a:r>
              <a:rPr lang="en-US" sz="1000" dirty="0">
                <a:solidFill>
                  <a:srgbClr val="5C6F66"/>
                </a:solidFill>
              </a:rPr>
              <a:t>Nguồn: VCCI (Lệnh 280, Thông báo 219); Văn phòng SPS Việt Nam (Thông báo 27/2026); trungtamwto.vn (5/2026); tài liệu của Q-CERT và GACC Association do Viện STP cung cấp.</a:t>
            </a:r>
            <a:endParaRPr lang="en-US" sz="1000" dirty="0"/>
          </a:p>
        </p:txBody>
      </p:sp>
      <p:sp>
        <p:nvSpPr>
          <p:cNvPr id="2" name="Slide Number Placeholder 0"/>
          <p:cNvSpPr>
            <a:spLocks noGrp="1"/>
          </p:cNvSpPr>
          <p:nvPr>
            <p:ph type="sldNum" sz="quarter" idx="4294967295"/>
          </p:nvPr>
        </p:nvSpPr>
        <p:spPr>
          <a:xfrm>
            <a:off x="10972800" y="6492240"/>
            <a:ext cx="667512" cy="237744"/>
          </a:xfrm>
          <a:prstGeom prst="rect">
            <a:avLst/>
          </a:prstGeom>
          <a:extLst>
            <a:ext uri="{C572A759-6A51-4108-AA02-DFA0A04FC94B}">
              <ma14:wrappingTextBoxFlag xmlns:ma14="http://schemas.microsoft.com/office/mac/drawingml/2011/main" xmlns="" val="0"/>
            </a:ext>
          </a:extLst>
        </p:spPr>
        <p:txBody>
          <a:bodyPr/>
          <a:lstStyle>
            <a:lvl1pPr>
              <a:defRPr sz="1000">
                <a:solidFill>
                  <a:srgbClr val="5C6F66"/>
                </a:solidFill>
              </a:defRPr>
            </a:lvl1pPr>
          </a:lstStyle>
          <a:p>
            <a:pPr algn="r"/>
            <a:fld id="{F7021451-1387-4CA6-816F-3879F97B5CBC}" type="slidenum">
              <a:rPr lang="en-US" b="0"/>
              <a:t>17</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Dau cham"/>
          <p:cNvSpPr/>
          <p:nvPr/>
        </p:nvSpPr>
        <p:spPr>
          <a:xfrm>
            <a:off x="548640" y="429768"/>
            <a:ext cx="118872" cy="118872"/>
          </a:xfrm>
          <a:prstGeom prst="ellipse">
            <a:avLst/>
          </a:prstGeom>
          <a:solidFill>
            <a:schemeClr val="accent2"/>
          </a:solidFill>
          <a:ln/>
        </p:spPr>
      </p:sp>
      <p:sp>
        <p:nvSpPr>
          <p:cNvPr id="4" name="Nhan chuyen muc"/>
          <p:cNvSpPr txBox="1"/>
          <p:nvPr/>
        </p:nvSpPr>
        <p:spPr>
          <a:xfrm>
            <a:off x="777240" y="347472"/>
            <a:ext cx="6949440" cy="274320"/>
          </a:xfrm>
          <a:prstGeom prst="rect">
            <a:avLst/>
          </a:prstGeom>
          <a:noFill/>
          <a:ln/>
        </p:spPr>
        <p:txBody>
          <a:bodyPr wrap="square" lIns="0" tIns="0" rIns="0" bIns="0" rtlCol="0" anchor="ctr"/>
          <a:lstStyle/>
          <a:p>
            <a:pPr marL="0" indent="0" algn="l">
              <a:buNone/>
            </a:pPr>
            <a:r>
              <a:rPr lang="en-US" sz="1200" b="1" kern="0" spc="200" dirty="0">
                <a:solidFill>
                  <a:schemeClr val="accent1"/>
                </a:solidFill>
              </a:rPr>
              <a:t>THỊ TRƯỜNG 2 · CHÂU ÂU</a:t>
            </a:r>
            <a:endParaRPr lang="en-US" sz="1200" dirty="0"/>
          </a:p>
        </p:txBody>
      </p:sp>
      <p:sp>
        <p:nvSpPr>
          <p:cNvPr id="5" name="Nhan giai doan"/>
          <p:cNvSpPr txBox="1"/>
          <p:nvPr/>
        </p:nvSpPr>
        <p:spPr>
          <a:xfrm>
            <a:off x="9475927" y="347472"/>
            <a:ext cx="868680" cy="274320"/>
          </a:xfrm>
          <a:prstGeom prst="rect">
            <a:avLst/>
          </a:prstGeom>
          <a:noFill/>
          <a:ln/>
        </p:spPr>
        <p:txBody>
          <a:bodyPr wrap="square" lIns="0" tIns="0" rIns="0" bIns="0" rtlCol="0" anchor="ctr"/>
          <a:lstStyle/>
          <a:p>
            <a:pPr marL="0" indent="0" algn="r">
              <a:buNone/>
            </a:pPr>
            <a:r>
              <a:rPr lang="en-US" sz="1200" dirty="0">
                <a:solidFill>
                  <a:srgbClr val="5C6F66"/>
                </a:solidFill>
              </a:rPr>
              <a:t>Thực hiện ở</a:t>
            </a:r>
            <a:endParaRPr lang="en-US" sz="1200" dirty="0"/>
          </a:p>
        </p:txBody>
      </p:sp>
      <p:sp>
        <p:nvSpPr>
          <p:cNvPr id="6" name="Giai doan 3"/>
          <p:cNvSpPr/>
          <p:nvPr/>
        </p:nvSpPr>
        <p:spPr>
          <a:xfrm>
            <a:off x="10436047" y="356616"/>
            <a:ext cx="566928" cy="256032"/>
          </a:xfrm>
          <a:prstGeom prst="roundRect">
            <a:avLst>
              <a:gd name="adj" fmla="val 21429"/>
            </a:avLst>
          </a:prstGeom>
          <a:solidFill>
            <a:srgbClr val="E4A92A"/>
          </a:solidFill>
          <a:ln/>
        </p:spPr>
      </p:sp>
      <p:sp>
        <p:nvSpPr>
          <p:cNvPr id="7" name="Chu giai doan 3"/>
          <p:cNvSpPr txBox="1"/>
          <p:nvPr/>
        </p:nvSpPr>
        <p:spPr>
          <a:xfrm>
            <a:off x="10436047" y="356616"/>
            <a:ext cx="566928" cy="256032"/>
          </a:xfrm>
          <a:prstGeom prst="rect">
            <a:avLst/>
          </a:prstGeom>
          <a:noFill/>
          <a:ln/>
        </p:spPr>
        <p:txBody>
          <a:bodyPr wrap="square" lIns="0" tIns="0" rIns="0" bIns="0" rtlCol="0" anchor="ctr"/>
          <a:lstStyle/>
          <a:p>
            <a:pPr marL="0" indent="0" algn="ctr">
              <a:buNone/>
            </a:pPr>
            <a:r>
              <a:rPr lang="en-US" sz="1200" b="1" dirty="0">
                <a:solidFill>
                  <a:srgbClr val="1B2B24"/>
                </a:solidFill>
              </a:rPr>
              <a:t>GĐ3</a:t>
            </a:r>
            <a:endParaRPr lang="en-US" sz="1200" dirty="0"/>
          </a:p>
        </p:txBody>
      </p:sp>
      <p:sp>
        <p:nvSpPr>
          <p:cNvPr id="8" name="Giai doan 4"/>
          <p:cNvSpPr/>
          <p:nvPr/>
        </p:nvSpPr>
        <p:spPr>
          <a:xfrm>
            <a:off x="11076127" y="356616"/>
            <a:ext cx="566928" cy="256032"/>
          </a:xfrm>
          <a:prstGeom prst="roundRect">
            <a:avLst>
              <a:gd name="adj" fmla="val 21429"/>
            </a:avLst>
          </a:prstGeom>
          <a:solidFill>
            <a:srgbClr val="7A3E8F"/>
          </a:solidFill>
          <a:ln/>
        </p:spPr>
      </p:sp>
      <p:sp>
        <p:nvSpPr>
          <p:cNvPr id="9" name="Chu giai doan 4"/>
          <p:cNvSpPr txBox="1"/>
          <p:nvPr/>
        </p:nvSpPr>
        <p:spPr>
          <a:xfrm>
            <a:off x="11076127" y="356616"/>
            <a:ext cx="566928" cy="256032"/>
          </a:xfrm>
          <a:prstGeom prst="rect">
            <a:avLst/>
          </a:prstGeom>
          <a:noFill/>
          <a:ln/>
        </p:spPr>
        <p:txBody>
          <a:bodyPr wrap="square" lIns="0" tIns="0" rIns="0" bIns="0" rtlCol="0" anchor="ctr"/>
          <a:lstStyle/>
          <a:p>
            <a:pPr marL="0" indent="0" algn="ctr">
              <a:buNone/>
            </a:pPr>
            <a:r>
              <a:rPr lang="en-US" sz="1200" b="1" dirty="0">
                <a:solidFill>
                  <a:srgbClr val="FFFFFF"/>
                </a:solidFill>
              </a:rPr>
              <a:t>GĐ4</a:t>
            </a:r>
            <a:endParaRPr lang="en-US" sz="1200" dirty="0"/>
          </a:p>
        </p:txBody>
      </p:sp>
      <p:sp>
        <p:nvSpPr>
          <p:cNvPr id="10" name="Text 0"/>
          <p:cNvSpPr>
            <a:spLocks noGrp="1"/>
          </p:cNvSpPr>
          <p:nvPr>
            <p:ph type="title" idx="100" hasCustomPrompt="1"/>
          </p:nvPr>
        </p:nvSpPr>
        <p:spPr>
          <a:xfrm>
            <a:off x="548640" y="658368"/>
            <a:ext cx="11094415" cy="777240"/>
          </a:xfrm>
          <a:prstGeom prst="rect">
            <a:avLst/>
          </a:prstGeom>
          <a:noFill/>
          <a:ln/>
        </p:spPr>
        <p:txBody>
          <a:bodyPr wrap="square" lIns="0" tIns="0" rIns="0" bIns="0" rtlCol="0" anchor="ctr"/>
          <a:lstStyle/>
          <a:p>
            <a:pPr marL="0" indent="0" algn="l">
              <a:buNone/>
            </a:pPr>
            <a:r>
              <a:rPr lang="en-US" sz="3000" b="1" dirty="0">
                <a:solidFill>
                  <a:schemeClr val="tx2"/>
                </a:solidFill>
              </a:rPr>
              <a:t>Châu Âu: không đăng ký nhà máy, chuẩn rất cao</a:t>
            </a:r>
            <a:endParaRPr lang="en-US" sz="3000" dirty="0"/>
          </a:p>
        </p:txBody>
      </p:sp>
      <p:sp>
        <p:nvSpPr>
          <p:cNvPr id="11" name="BRCGS Food Safety (khung)"/>
          <p:cNvSpPr/>
          <p:nvPr/>
        </p:nvSpPr>
        <p:spPr>
          <a:xfrm>
            <a:off x="521208" y="1755648"/>
            <a:ext cx="1994144" cy="2798064"/>
          </a:xfrm>
          <a:prstGeom prst="rect">
            <a:avLst/>
          </a:prstGeom>
          <a:solidFill>
            <a:srgbClr val="FFFFFF"/>
          </a:solidFill>
          <a:ln w="9525">
            <a:solidFill>
              <a:srgbClr val="D5DED8"/>
            </a:solidFill>
            <a:prstDash val="solid"/>
          </a:ln>
          <a:effectLst>
            <a:outerShdw blurRad="76200" dist="25400" dir="5400000" algn="bl" rotWithShape="0">
              <a:srgbClr val="000000">
                <a:alpha val="16000"/>
              </a:srgbClr>
            </a:outerShdw>
          </a:effectLst>
        </p:spPr>
      </p:sp>
      <p:pic>
        <p:nvPicPr>
          <p:cNvPr id="12" name="BRCGS Food Safety" descr="BRCGS Food Safety"/>
          <p:cNvPicPr>
            <a:picLocks noChangeAspect="1"/>
          </p:cNvPicPr>
          <p:nvPr/>
        </p:nvPicPr>
        <p:blipFill>
          <a:blip r:embed="rId3"/>
          <a:stretch>
            <a:fillRect/>
          </a:stretch>
        </p:blipFill>
        <p:spPr>
          <a:xfrm>
            <a:off x="548640" y="1783080"/>
            <a:ext cx="1939280" cy="2743200"/>
          </a:xfrm>
          <a:prstGeom prst="rect">
            <a:avLst/>
          </a:prstGeom>
        </p:spPr>
      </p:pic>
      <p:sp>
        <p:nvSpPr>
          <p:cNvPr id="13" name="FSSC 22000 (khung)"/>
          <p:cNvSpPr/>
          <p:nvPr/>
        </p:nvSpPr>
        <p:spPr>
          <a:xfrm>
            <a:off x="2660904" y="1755648"/>
            <a:ext cx="2157984" cy="2777487"/>
          </a:xfrm>
          <a:prstGeom prst="rect">
            <a:avLst/>
          </a:prstGeom>
          <a:solidFill>
            <a:srgbClr val="FFFFFF"/>
          </a:solidFill>
          <a:ln w="9525">
            <a:solidFill>
              <a:srgbClr val="D5DED8"/>
            </a:solidFill>
            <a:prstDash val="solid"/>
          </a:ln>
          <a:effectLst>
            <a:outerShdw blurRad="76200" dist="25400" dir="5400000" algn="bl" rotWithShape="0">
              <a:srgbClr val="000000">
                <a:alpha val="16000"/>
              </a:srgbClr>
            </a:outerShdw>
          </a:effectLst>
        </p:spPr>
      </p:sp>
      <p:pic>
        <p:nvPicPr>
          <p:cNvPr id="14" name="FSSC 22000" descr="FSSC 22000"/>
          <p:cNvPicPr>
            <a:picLocks noChangeAspect="1"/>
          </p:cNvPicPr>
          <p:nvPr/>
        </p:nvPicPr>
        <p:blipFill>
          <a:blip r:embed="rId4"/>
          <a:stretch>
            <a:fillRect/>
          </a:stretch>
        </p:blipFill>
        <p:spPr>
          <a:xfrm>
            <a:off x="2688336" y="1783080"/>
            <a:ext cx="2103120" cy="2722623"/>
          </a:xfrm>
          <a:prstGeom prst="rect">
            <a:avLst/>
          </a:prstGeom>
        </p:spPr>
      </p:pic>
      <p:sp>
        <p:nvSpPr>
          <p:cNvPr id="15" name="Chu thich BRCGS"/>
          <p:cNvSpPr txBox="1"/>
          <p:nvPr/>
        </p:nvSpPr>
        <p:spPr>
          <a:xfrm>
            <a:off x="548640" y="4590288"/>
            <a:ext cx="2011680" cy="384048"/>
          </a:xfrm>
          <a:prstGeom prst="rect">
            <a:avLst/>
          </a:prstGeom>
          <a:noFill/>
          <a:ln/>
        </p:spPr>
        <p:txBody>
          <a:bodyPr wrap="square" lIns="0" tIns="0" rIns="0" bIns="0" rtlCol="0" anchor="t"/>
          <a:lstStyle/>
          <a:p>
            <a:pPr marL="0" indent="0" algn="l">
              <a:buNone/>
            </a:pPr>
            <a:r>
              <a:rPr lang="en-US" sz="1200" dirty="0">
                <a:solidFill>
                  <a:srgbClr val="5C6F66"/>
                </a:solidFill>
              </a:rPr>
              <a:t>BRCGS Food Safety (SGS cấp)</a:t>
            </a:r>
            <a:endParaRPr lang="en-US" sz="1200" dirty="0"/>
          </a:p>
        </p:txBody>
      </p:sp>
      <p:sp>
        <p:nvSpPr>
          <p:cNvPr id="16" name="Chu thich FSSC"/>
          <p:cNvSpPr txBox="1"/>
          <p:nvPr/>
        </p:nvSpPr>
        <p:spPr>
          <a:xfrm>
            <a:off x="2688336" y="4590288"/>
            <a:ext cx="2103120" cy="384048"/>
          </a:xfrm>
          <a:prstGeom prst="rect">
            <a:avLst/>
          </a:prstGeom>
          <a:noFill/>
          <a:ln/>
        </p:spPr>
        <p:txBody>
          <a:bodyPr wrap="square" lIns="0" tIns="0" rIns="0" bIns="0" rtlCol="0" anchor="t"/>
          <a:lstStyle/>
          <a:p>
            <a:pPr marL="0" indent="0" algn="l">
              <a:buNone/>
            </a:pPr>
            <a:r>
              <a:rPr lang="en-US" sz="1200" dirty="0">
                <a:solidFill>
                  <a:srgbClr val="5C6F66"/>
                </a:solidFill>
              </a:rPr>
              <a:t>FSSC 22000 (SGS cấp)</a:t>
            </a:r>
            <a:endParaRPr lang="en-US" sz="1200" dirty="0"/>
          </a:p>
        </p:txBody>
      </p:sp>
      <p:sp>
        <p:nvSpPr>
          <p:cNvPr id="17" name="Khung luu y EU"/>
          <p:cNvSpPr/>
          <p:nvPr/>
        </p:nvSpPr>
        <p:spPr>
          <a:xfrm>
            <a:off x="548640" y="5029200"/>
            <a:ext cx="4242816" cy="1097280"/>
          </a:xfrm>
          <a:prstGeom prst="roundRect">
            <a:avLst>
              <a:gd name="adj" fmla="val 10000"/>
            </a:avLst>
          </a:prstGeom>
          <a:solidFill>
            <a:srgbClr val="EEE3F2"/>
          </a:solidFill>
          <a:ln/>
        </p:spPr>
      </p:sp>
      <p:sp>
        <p:nvSpPr>
          <p:cNvPr id="18" name="Chu luu y EU"/>
          <p:cNvSpPr txBox="1"/>
          <p:nvPr/>
        </p:nvSpPr>
        <p:spPr>
          <a:xfrm>
            <a:off x="731520" y="5074920"/>
            <a:ext cx="3877056" cy="1005840"/>
          </a:xfrm>
          <a:prstGeom prst="rect">
            <a:avLst/>
          </a:prstGeom>
          <a:noFill/>
          <a:ln/>
        </p:spPr>
        <p:txBody>
          <a:bodyPr wrap="square" lIns="0" tIns="0" rIns="0" bIns="0" rtlCol="0" anchor="ctr"/>
          <a:lstStyle/>
          <a:p>
            <a:pPr marL="0" indent="0" algn="l">
              <a:buNone/>
            </a:pPr>
            <a:r>
              <a:rPr lang="en-US" sz="1400" b="1" dirty="0">
                <a:solidFill>
                  <a:schemeClr val="accent3"/>
                </a:solidFill>
              </a:rPr>
              <a:t>Lưu ý: </a:t>
            </a:r>
            <a:r>
              <a:rPr lang="en-US" sz="1400" dirty="0">
                <a:solidFill>
                  <a:schemeClr val="tx1"/>
                </a:solidFill>
              </a:rPr>
              <a:t>15/47 mẫu chanh dây Việt Nam vượt MRL của EU (mẫu 2024); EU đang giảm kiểm tra biên giới với trái cây chế biến nguy cơ thấp.</a:t>
            </a:r>
            <a:endParaRPr lang="en-US" sz="1400" dirty="0"/>
          </a:p>
        </p:txBody>
      </p:sp>
      <p:sp>
        <p:nvSpPr>
          <p:cNvPr id="19" name="The EU 1"/>
          <p:cNvSpPr/>
          <p:nvPr/>
        </p:nvSpPr>
        <p:spPr>
          <a:xfrm>
            <a:off x="4983480" y="1783080"/>
            <a:ext cx="3246120" cy="1325880"/>
          </a:xfrm>
          <a:prstGeom prst="roundRect">
            <a:avLst>
              <a:gd name="adj" fmla="val 8276"/>
            </a:avLst>
          </a:prstGeom>
          <a:solidFill>
            <a:schemeClr val="bg2"/>
          </a:solidFill>
          <a:ln/>
        </p:spPr>
      </p:sp>
      <p:sp>
        <p:nvSpPr>
          <p:cNvPr id="20" name="Ten EU 1"/>
          <p:cNvSpPr txBox="1"/>
          <p:nvPr/>
        </p:nvSpPr>
        <p:spPr>
          <a:xfrm>
            <a:off x="5166360" y="1892808"/>
            <a:ext cx="2880360" cy="274320"/>
          </a:xfrm>
          <a:prstGeom prst="rect">
            <a:avLst/>
          </a:prstGeom>
          <a:noFill/>
          <a:ln/>
        </p:spPr>
        <p:txBody>
          <a:bodyPr wrap="square" lIns="0" tIns="0" rIns="0" bIns="0" rtlCol="0" anchor="t"/>
          <a:lstStyle/>
          <a:p>
            <a:pPr marL="0" indent="0" algn="l">
              <a:buNone/>
            </a:pPr>
            <a:r>
              <a:rPr lang="en-US" sz="1500" b="1" dirty="0">
                <a:solidFill>
                  <a:schemeClr val="accent3"/>
                </a:solidFill>
              </a:rPr>
              <a:t>An toàn thực phẩm</a:t>
            </a:r>
            <a:endParaRPr lang="en-US" sz="1500" dirty="0"/>
          </a:p>
        </p:txBody>
      </p:sp>
      <p:sp>
        <p:nvSpPr>
          <p:cNvPr id="21" name="Mo ta EU 1"/>
          <p:cNvSpPr txBox="1"/>
          <p:nvPr/>
        </p:nvSpPr>
        <p:spPr>
          <a:xfrm>
            <a:off x="5166360" y="2212848"/>
            <a:ext cx="2880360" cy="850392"/>
          </a:xfrm>
          <a:prstGeom prst="rect">
            <a:avLst/>
          </a:prstGeom>
          <a:noFill/>
          <a:ln/>
        </p:spPr>
        <p:txBody>
          <a:bodyPr wrap="square" lIns="0" tIns="0" rIns="0" bIns="0" rtlCol="0" anchor="t"/>
          <a:lstStyle/>
          <a:p>
            <a:pPr marL="0" indent="0" algn="l">
              <a:buNone/>
            </a:pPr>
            <a:r>
              <a:rPr lang="en-US" sz="1400" dirty="0">
                <a:solidFill>
                  <a:schemeClr val="tx1"/>
                </a:solidFill>
              </a:rPr>
              <a:t>HACCP bắt buộc (Quy định 852/2004); BRCGS, FSSC 22000, IFS do người mua yêu cầu</a:t>
            </a:r>
            <a:endParaRPr lang="en-US" sz="1400" dirty="0"/>
          </a:p>
        </p:txBody>
      </p:sp>
      <p:sp>
        <p:nvSpPr>
          <p:cNvPr id="22" name="The EU 2"/>
          <p:cNvSpPr/>
          <p:nvPr/>
        </p:nvSpPr>
        <p:spPr>
          <a:xfrm>
            <a:off x="8394192" y="1783080"/>
            <a:ext cx="3246120" cy="1325880"/>
          </a:xfrm>
          <a:prstGeom prst="roundRect">
            <a:avLst>
              <a:gd name="adj" fmla="val 8276"/>
            </a:avLst>
          </a:prstGeom>
          <a:solidFill>
            <a:schemeClr val="bg2"/>
          </a:solidFill>
          <a:ln/>
        </p:spPr>
      </p:sp>
      <p:sp>
        <p:nvSpPr>
          <p:cNvPr id="23" name="Ten EU 2"/>
          <p:cNvSpPr txBox="1"/>
          <p:nvPr/>
        </p:nvSpPr>
        <p:spPr>
          <a:xfrm>
            <a:off x="8577072" y="1892808"/>
            <a:ext cx="2880360" cy="274320"/>
          </a:xfrm>
          <a:prstGeom prst="rect">
            <a:avLst/>
          </a:prstGeom>
          <a:noFill/>
          <a:ln/>
        </p:spPr>
        <p:txBody>
          <a:bodyPr wrap="square" lIns="0" tIns="0" rIns="0" bIns="0" rtlCol="0" anchor="t"/>
          <a:lstStyle/>
          <a:p>
            <a:pPr marL="0" indent="0" algn="l">
              <a:buNone/>
            </a:pPr>
            <a:r>
              <a:rPr lang="en-US" sz="1500" b="1" dirty="0">
                <a:solidFill>
                  <a:schemeClr val="accent3"/>
                </a:solidFill>
              </a:rPr>
              <a:t>Dư lượng thuốc BVTV</a:t>
            </a:r>
            <a:endParaRPr lang="en-US" sz="1500" dirty="0"/>
          </a:p>
        </p:txBody>
      </p:sp>
      <p:sp>
        <p:nvSpPr>
          <p:cNvPr id="24" name="Mo ta EU 2"/>
          <p:cNvSpPr txBox="1"/>
          <p:nvPr/>
        </p:nvSpPr>
        <p:spPr>
          <a:xfrm>
            <a:off x="8577072" y="2212848"/>
            <a:ext cx="2880360" cy="850392"/>
          </a:xfrm>
          <a:prstGeom prst="rect">
            <a:avLst/>
          </a:prstGeom>
          <a:noFill/>
          <a:ln/>
        </p:spPr>
        <p:txBody>
          <a:bodyPr wrap="square" lIns="0" tIns="0" rIns="0" bIns="0" rtlCol="0" anchor="t"/>
          <a:lstStyle/>
          <a:p>
            <a:pPr marL="0" indent="0" algn="l">
              <a:buNone/>
            </a:pPr>
            <a:r>
              <a:rPr lang="en-US" sz="1400" dirty="0">
                <a:solidFill>
                  <a:schemeClr val="tx1"/>
                </a:solidFill>
              </a:rPr>
              <a:t>Quy định 396/2005 đang áp dụng; EU đề xuất mức mặc định 0,01 mg/kg (dự thảo)</a:t>
            </a:r>
            <a:endParaRPr lang="en-US" sz="1400" dirty="0"/>
          </a:p>
        </p:txBody>
      </p:sp>
      <p:sp>
        <p:nvSpPr>
          <p:cNvPr id="25" name="The EU 3"/>
          <p:cNvSpPr/>
          <p:nvPr/>
        </p:nvSpPr>
        <p:spPr>
          <a:xfrm>
            <a:off x="4983480" y="3200400"/>
            <a:ext cx="3246120" cy="1325880"/>
          </a:xfrm>
          <a:prstGeom prst="roundRect">
            <a:avLst>
              <a:gd name="adj" fmla="val 8276"/>
            </a:avLst>
          </a:prstGeom>
          <a:solidFill>
            <a:schemeClr val="bg2"/>
          </a:solidFill>
          <a:ln/>
        </p:spPr>
      </p:sp>
      <p:sp>
        <p:nvSpPr>
          <p:cNvPr id="26" name="Ten EU 3"/>
          <p:cNvSpPr txBox="1"/>
          <p:nvPr/>
        </p:nvSpPr>
        <p:spPr>
          <a:xfrm>
            <a:off x="5166360" y="3310128"/>
            <a:ext cx="2880360" cy="274320"/>
          </a:xfrm>
          <a:prstGeom prst="rect">
            <a:avLst/>
          </a:prstGeom>
          <a:noFill/>
          <a:ln/>
        </p:spPr>
        <p:txBody>
          <a:bodyPr wrap="square" lIns="0" tIns="0" rIns="0" bIns="0" rtlCol="0" anchor="t"/>
          <a:lstStyle/>
          <a:p>
            <a:pPr marL="0" indent="0" algn="l">
              <a:buNone/>
            </a:pPr>
            <a:r>
              <a:rPr lang="en-US" sz="1500" b="1" dirty="0">
                <a:solidFill>
                  <a:schemeClr val="accent3"/>
                </a:solidFill>
              </a:rPr>
              <a:t>Độc tố nấm mốc</a:t>
            </a:r>
            <a:endParaRPr lang="en-US" sz="1500" dirty="0"/>
          </a:p>
        </p:txBody>
      </p:sp>
      <p:sp>
        <p:nvSpPr>
          <p:cNvPr id="27" name="Mo ta EU 3"/>
          <p:cNvSpPr txBox="1"/>
          <p:nvPr/>
        </p:nvSpPr>
        <p:spPr>
          <a:xfrm>
            <a:off x="5166360" y="3630168"/>
            <a:ext cx="2880360" cy="850392"/>
          </a:xfrm>
          <a:prstGeom prst="rect">
            <a:avLst/>
          </a:prstGeom>
          <a:noFill/>
          <a:ln/>
        </p:spPr>
        <p:txBody>
          <a:bodyPr wrap="square" lIns="0" tIns="0" rIns="0" bIns="0" rtlCol="0" anchor="t"/>
          <a:lstStyle/>
          <a:p>
            <a:pPr marL="0" indent="0" algn="l">
              <a:buNone/>
            </a:pPr>
            <a:r>
              <a:rPr lang="en-US" sz="1400" dirty="0">
                <a:solidFill>
                  <a:schemeClr val="tx1"/>
                </a:solidFill>
              </a:rPr>
              <a:t>Aflatoxin có giới hạn pháp lý cho trái cây sấy (B1 dưới 2 µg/kg theo CBI); nên kiểm từng lô</a:t>
            </a:r>
            <a:endParaRPr lang="en-US" sz="1400" dirty="0"/>
          </a:p>
        </p:txBody>
      </p:sp>
      <p:sp>
        <p:nvSpPr>
          <p:cNvPr id="28" name="The EU 4"/>
          <p:cNvSpPr/>
          <p:nvPr/>
        </p:nvSpPr>
        <p:spPr>
          <a:xfrm>
            <a:off x="8394192" y="3200400"/>
            <a:ext cx="3246120" cy="1325880"/>
          </a:xfrm>
          <a:prstGeom prst="roundRect">
            <a:avLst>
              <a:gd name="adj" fmla="val 8276"/>
            </a:avLst>
          </a:prstGeom>
          <a:solidFill>
            <a:schemeClr val="bg2"/>
          </a:solidFill>
          <a:ln/>
        </p:spPr>
      </p:sp>
      <p:sp>
        <p:nvSpPr>
          <p:cNvPr id="29" name="Ten EU 4"/>
          <p:cNvSpPr txBox="1"/>
          <p:nvPr/>
        </p:nvSpPr>
        <p:spPr>
          <a:xfrm>
            <a:off x="8577072" y="3310128"/>
            <a:ext cx="2880360" cy="274320"/>
          </a:xfrm>
          <a:prstGeom prst="rect">
            <a:avLst/>
          </a:prstGeom>
          <a:noFill/>
          <a:ln/>
        </p:spPr>
        <p:txBody>
          <a:bodyPr wrap="square" lIns="0" tIns="0" rIns="0" bIns="0" rtlCol="0" anchor="t"/>
          <a:lstStyle/>
          <a:p>
            <a:pPr marL="0" indent="0" algn="l">
              <a:buNone/>
            </a:pPr>
            <a:r>
              <a:rPr lang="en-US" sz="1500" b="1" dirty="0">
                <a:solidFill>
                  <a:schemeClr val="accent3"/>
                </a:solidFill>
              </a:rPr>
              <a:t>Sulphite, chất gây dị ứng</a:t>
            </a:r>
            <a:endParaRPr lang="en-US" sz="1500" dirty="0"/>
          </a:p>
        </p:txBody>
      </p:sp>
      <p:sp>
        <p:nvSpPr>
          <p:cNvPr id="30" name="Mo ta EU 4"/>
          <p:cNvSpPr txBox="1"/>
          <p:nvPr/>
        </p:nvSpPr>
        <p:spPr>
          <a:xfrm>
            <a:off x="8577072" y="3630168"/>
            <a:ext cx="2880360" cy="850392"/>
          </a:xfrm>
          <a:prstGeom prst="rect">
            <a:avLst/>
          </a:prstGeom>
          <a:noFill/>
          <a:ln/>
        </p:spPr>
        <p:txBody>
          <a:bodyPr wrap="square" lIns="0" tIns="0" rIns="0" bIns="0" rtlCol="0" anchor="t"/>
          <a:lstStyle/>
          <a:p>
            <a:pPr marL="0" indent="0" algn="l">
              <a:buNone/>
            </a:pPr>
            <a:r>
              <a:rPr lang="en-US" sz="1400" dirty="0">
                <a:solidFill>
                  <a:schemeClr val="tx1"/>
                </a:solidFill>
              </a:rPr>
              <a:t>Khai báo sulphite trên nhãn; EU từng siết kiểm sulphite ở trái cây sấy (mơ sấy Uzbekistan, theo CBI)</a:t>
            </a:r>
            <a:endParaRPr lang="en-US" sz="1400" dirty="0"/>
          </a:p>
        </p:txBody>
      </p:sp>
      <p:sp>
        <p:nvSpPr>
          <p:cNvPr id="31" name="The EU 5"/>
          <p:cNvSpPr/>
          <p:nvPr/>
        </p:nvSpPr>
        <p:spPr>
          <a:xfrm>
            <a:off x="4983480" y="4617720"/>
            <a:ext cx="3246120" cy="1325880"/>
          </a:xfrm>
          <a:prstGeom prst="roundRect">
            <a:avLst>
              <a:gd name="adj" fmla="val 8276"/>
            </a:avLst>
          </a:prstGeom>
          <a:solidFill>
            <a:schemeClr val="bg2"/>
          </a:solidFill>
          <a:ln/>
        </p:spPr>
      </p:sp>
      <p:sp>
        <p:nvSpPr>
          <p:cNvPr id="32" name="Ten EU 5"/>
          <p:cNvSpPr txBox="1"/>
          <p:nvPr/>
        </p:nvSpPr>
        <p:spPr>
          <a:xfrm>
            <a:off x="5166360" y="4727448"/>
            <a:ext cx="2880360" cy="274320"/>
          </a:xfrm>
          <a:prstGeom prst="rect">
            <a:avLst/>
          </a:prstGeom>
          <a:noFill/>
          <a:ln/>
        </p:spPr>
        <p:txBody>
          <a:bodyPr wrap="square" lIns="0" tIns="0" rIns="0" bIns="0" rtlCol="0" anchor="t"/>
          <a:lstStyle/>
          <a:p>
            <a:pPr marL="0" indent="0" algn="l">
              <a:buNone/>
            </a:pPr>
            <a:r>
              <a:rPr lang="en-US" sz="1500" b="1" dirty="0">
                <a:solidFill>
                  <a:schemeClr val="accent3"/>
                </a:solidFill>
              </a:rPr>
              <a:t>Nhãn mác</a:t>
            </a:r>
            <a:endParaRPr lang="en-US" sz="1500" dirty="0"/>
          </a:p>
        </p:txBody>
      </p:sp>
      <p:sp>
        <p:nvSpPr>
          <p:cNvPr id="33" name="Mo ta EU 5"/>
          <p:cNvSpPr txBox="1"/>
          <p:nvPr/>
        </p:nvSpPr>
        <p:spPr>
          <a:xfrm>
            <a:off x="5166360" y="5047488"/>
            <a:ext cx="2880360" cy="850392"/>
          </a:xfrm>
          <a:prstGeom prst="rect">
            <a:avLst/>
          </a:prstGeom>
          <a:noFill/>
          <a:ln/>
        </p:spPr>
        <p:txBody>
          <a:bodyPr wrap="square" lIns="0" tIns="0" rIns="0" bIns="0" rtlCol="0" anchor="t"/>
          <a:lstStyle/>
          <a:p>
            <a:pPr marL="0" indent="0" algn="l">
              <a:buNone/>
            </a:pPr>
            <a:r>
              <a:rPr lang="en-US" sz="1400" dirty="0">
                <a:solidFill>
                  <a:schemeClr val="tx1"/>
                </a:solidFill>
              </a:rPr>
              <a:t>Quy định 1169/2011: thành phần, chất gây dị ứng, hạn dùng, giá trị dinh dưỡng; mã lô</a:t>
            </a:r>
            <a:endParaRPr lang="en-US" sz="1400" dirty="0"/>
          </a:p>
        </p:txBody>
      </p:sp>
      <p:sp>
        <p:nvSpPr>
          <p:cNvPr id="34" name="The EU 6"/>
          <p:cNvSpPr/>
          <p:nvPr/>
        </p:nvSpPr>
        <p:spPr>
          <a:xfrm>
            <a:off x="8394192" y="4617720"/>
            <a:ext cx="3246120" cy="1325880"/>
          </a:xfrm>
          <a:prstGeom prst="roundRect">
            <a:avLst>
              <a:gd name="adj" fmla="val 8276"/>
            </a:avLst>
          </a:prstGeom>
          <a:solidFill>
            <a:schemeClr val="bg2"/>
          </a:solidFill>
          <a:ln/>
        </p:spPr>
      </p:sp>
      <p:sp>
        <p:nvSpPr>
          <p:cNvPr id="35" name="Ten EU 6"/>
          <p:cNvSpPr txBox="1"/>
          <p:nvPr/>
        </p:nvSpPr>
        <p:spPr>
          <a:xfrm>
            <a:off x="8577072" y="4727448"/>
            <a:ext cx="2880360" cy="274320"/>
          </a:xfrm>
          <a:prstGeom prst="rect">
            <a:avLst/>
          </a:prstGeom>
          <a:noFill/>
          <a:ln/>
        </p:spPr>
        <p:txBody>
          <a:bodyPr wrap="square" lIns="0" tIns="0" rIns="0" bIns="0" rtlCol="0" anchor="t"/>
          <a:lstStyle/>
          <a:p>
            <a:pPr marL="0" indent="0" algn="l">
              <a:buNone/>
            </a:pPr>
            <a:r>
              <a:rPr lang="en-US" sz="1500" b="1" dirty="0">
                <a:solidFill>
                  <a:schemeClr val="accent3"/>
                </a:solidFill>
              </a:rPr>
              <a:t>Bao bì</a:t>
            </a:r>
            <a:endParaRPr lang="en-US" sz="1500" dirty="0"/>
          </a:p>
        </p:txBody>
      </p:sp>
      <p:sp>
        <p:nvSpPr>
          <p:cNvPr id="36" name="Mo ta EU 6"/>
          <p:cNvSpPr txBox="1"/>
          <p:nvPr/>
        </p:nvSpPr>
        <p:spPr>
          <a:xfrm>
            <a:off x="8577072" y="5047488"/>
            <a:ext cx="2880360" cy="850392"/>
          </a:xfrm>
          <a:prstGeom prst="rect">
            <a:avLst/>
          </a:prstGeom>
          <a:noFill/>
          <a:ln/>
        </p:spPr>
        <p:txBody>
          <a:bodyPr wrap="square" lIns="0" tIns="0" rIns="0" bIns="0" rtlCol="0" anchor="t"/>
          <a:lstStyle/>
          <a:p>
            <a:pPr marL="0" indent="0" algn="l">
              <a:buNone/>
            </a:pPr>
            <a:r>
              <a:rPr lang="en-US" sz="1400" dirty="0">
                <a:solidFill>
                  <a:schemeClr val="tx1"/>
                </a:solidFill>
              </a:rPr>
              <a:t>PPWR áp dụng từ 12/8/2026: đăng ký EPR, giới hạn PFAS và kim loại nặng</a:t>
            </a:r>
            <a:endParaRPr lang="en-US" sz="1400" dirty="0"/>
          </a:p>
        </p:txBody>
      </p:sp>
      <p:sp>
        <p:nvSpPr>
          <p:cNvPr id="37" name="Nguon"/>
          <p:cNvSpPr txBox="1"/>
          <p:nvPr/>
        </p:nvSpPr>
        <p:spPr>
          <a:xfrm>
            <a:off x="548640" y="6217920"/>
            <a:ext cx="11094415" cy="201168"/>
          </a:xfrm>
          <a:prstGeom prst="rect">
            <a:avLst/>
          </a:prstGeom>
          <a:noFill/>
          <a:ln/>
        </p:spPr>
        <p:txBody>
          <a:bodyPr wrap="square" lIns="0" tIns="0" rIns="0" bIns="0" rtlCol="0" anchor="t"/>
          <a:lstStyle/>
          <a:p>
            <a:pPr marL="0" indent="0" algn="l">
              <a:buNone/>
            </a:pPr>
            <a:r>
              <a:rPr lang="en-US" sz="1000" dirty="0">
                <a:solidFill>
                  <a:srgbClr val="5C6F66"/>
                </a:solidFill>
              </a:rPr>
              <a:t>Nguồn: CBI (cbi.eu); Vietnam News (9–10/2026); Tuổi Trẻ (3/2026); Shypple (PPWR, Quy định EU 2025/40). Hình: chứng nhận thực tế do Viện STP cung cấp.</a:t>
            </a:r>
            <a:endParaRPr lang="en-US" sz="1000" dirty="0"/>
          </a:p>
        </p:txBody>
      </p:sp>
      <p:sp>
        <p:nvSpPr>
          <p:cNvPr id="2" name="Slide Number Placeholder 0"/>
          <p:cNvSpPr>
            <a:spLocks noGrp="1"/>
          </p:cNvSpPr>
          <p:nvPr>
            <p:ph type="sldNum" sz="quarter" idx="4294967295"/>
          </p:nvPr>
        </p:nvSpPr>
        <p:spPr>
          <a:xfrm>
            <a:off x="10972800" y="6492240"/>
            <a:ext cx="667512" cy="237744"/>
          </a:xfrm>
          <a:prstGeom prst="rect">
            <a:avLst/>
          </a:prstGeom>
          <a:extLst>
            <a:ext uri="{C572A759-6A51-4108-AA02-DFA0A04FC94B}">
              <ma14:wrappingTextBoxFlag xmlns:ma14="http://schemas.microsoft.com/office/mac/drawingml/2011/main" xmlns="" val="0"/>
            </a:ext>
          </a:extLst>
        </p:spPr>
        <p:txBody>
          <a:bodyPr/>
          <a:lstStyle>
            <a:lvl1pPr>
              <a:defRPr sz="1000">
                <a:solidFill>
                  <a:srgbClr val="5C6F66"/>
                </a:solidFill>
              </a:defRPr>
            </a:lvl1pPr>
          </a:lstStyle>
          <a:p>
            <a:pPr algn="r"/>
            <a:fld id="{F7021451-1387-4CA6-816F-3879F97B5CBC}" type="slidenum">
              <a:rPr lang="en-US" b="0"/>
              <a:t>18</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Dau cham"/>
          <p:cNvSpPr/>
          <p:nvPr/>
        </p:nvSpPr>
        <p:spPr>
          <a:xfrm>
            <a:off x="548640" y="429768"/>
            <a:ext cx="118872" cy="118872"/>
          </a:xfrm>
          <a:prstGeom prst="ellipse">
            <a:avLst/>
          </a:prstGeom>
          <a:solidFill>
            <a:schemeClr val="accent2"/>
          </a:solidFill>
          <a:ln/>
        </p:spPr>
      </p:sp>
      <p:sp>
        <p:nvSpPr>
          <p:cNvPr id="4" name="Nhan chuyen muc"/>
          <p:cNvSpPr txBox="1"/>
          <p:nvPr/>
        </p:nvSpPr>
        <p:spPr>
          <a:xfrm>
            <a:off x="777240" y="347472"/>
            <a:ext cx="6949440" cy="274320"/>
          </a:xfrm>
          <a:prstGeom prst="rect">
            <a:avLst/>
          </a:prstGeom>
          <a:noFill/>
          <a:ln/>
        </p:spPr>
        <p:txBody>
          <a:bodyPr wrap="square" lIns="0" tIns="0" rIns="0" bIns="0" rtlCol="0" anchor="ctr"/>
          <a:lstStyle/>
          <a:p>
            <a:pPr marL="0" indent="0" algn="l">
              <a:buNone/>
            </a:pPr>
            <a:r>
              <a:rPr lang="en-US" sz="1200" b="1" kern="0" spc="200" dirty="0">
                <a:solidFill>
                  <a:schemeClr val="accent1"/>
                </a:solidFill>
              </a:rPr>
              <a:t>HỒ SƠ XUẤT KHẨU</a:t>
            </a:r>
            <a:endParaRPr lang="en-US" sz="1200" dirty="0"/>
          </a:p>
        </p:txBody>
      </p:sp>
      <p:sp>
        <p:nvSpPr>
          <p:cNvPr id="5" name="Nhan giai doan"/>
          <p:cNvSpPr txBox="1"/>
          <p:nvPr/>
        </p:nvSpPr>
        <p:spPr>
          <a:xfrm>
            <a:off x="10116007" y="347472"/>
            <a:ext cx="868680" cy="274320"/>
          </a:xfrm>
          <a:prstGeom prst="rect">
            <a:avLst/>
          </a:prstGeom>
          <a:noFill/>
          <a:ln/>
        </p:spPr>
        <p:txBody>
          <a:bodyPr wrap="square" lIns="0" tIns="0" rIns="0" bIns="0" rtlCol="0" anchor="ctr"/>
          <a:lstStyle/>
          <a:p>
            <a:pPr marL="0" indent="0" algn="r">
              <a:buNone/>
            </a:pPr>
            <a:r>
              <a:rPr lang="en-US" sz="1200" dirty="0">
                <a:solidFill>
                  <a:srgbClr val="5C6F66"/>
                </a:solidFill>
              </a:rPr>
              <a:t>Thực hiện ở</a:t>
            </a:r>
            <a:endParaRPr lang="en-US" sz="1200" dirty="0"/>
          </a:p>
        </p:txBody>
      </p:sp>
      <p:sp>
        <p:nvSpPr>
          <p:cNvPr id="6" name="Giai doan 4"/>
          <p:cNvSpPr/>
          <p:nvPr/>
        </p:nvSpPr>
        <p:spPr>
          <a:xfrm>
            <a:off x="11076127" y="356616"/>
            <a:ext cx="566928" cy="256032"/>
          </a:xfrm>
          <a:prstGeom prst="roundRect">
            <a:avLst>
              <a:gd name="adj" fmla="val 21429"/>
            </a:avLst>
          </a:prstGeom>
          <a:solidFill>
            <a:srgbClr val="7A3E8F"/>
          </a:solidFill>
          <a:ln/>
        </p:spPr>
      </p:sp>
      <p:sp>
        <p:nvSpPr>
          <p:cNvPr id="7" name="Chu giai doan 4"/>
          <p:cNvSpPr txBox="1"/>
          <p:nvPr/>
        </p:nvSpPr>
        <p:spPr>
          <a:xfrm>
            <a:off x="11076127" y="356616"/>
            <a:ext cx="566928" cy="256032"/>
          </a:xfrm>
          <a:prstGeom prst="rect">
            <a:avLst/>
          </a:prstGeom>
          <a:noFill/>
          <a:ln/>
        </p:spPr>
        <p:txBody>
          <a:bodyPr wrap="square" lIns="0" tIns="0" rIns="0" bIns="0" rtlCol="0" anchor="ctr"/>
          <a:lstStyle/>
          <a:p>
            <a:pPr marL="0" indent="0" algn="ctr">
              <a:buNone/>
            </a:pPr>
            <a:r>
              <a:rPr lang="en-US" sz="1200" b="1" dirty="0">
                <a:solidFill>
                  <a:srgbClr val="FFFFFF"/>
                </a:solidFill>
              </a:rPr>
              <a:t>GĐ4</a:t>
            </a:r>
            <a:endParaRPr lang="en-US" sz="1200" dirty="0"/>
          </a:p>
        </p:txBody>
      </p:sp>
      <p:sp>
        <p:nvSpPr>
          <p:cNvPr id="8" name="Text 0"/>
          <p:cNvSpPr>
            <a:spLocks noGrp="1"/>
          </p:cNvSpPr>
          <p:nvPr>
            <p:ph type="title" idx="100" hasCustomPrompt="1"/>
          </p:nvPr>
        </p:nvSpPr>
        <p:spPr>
          <a:xfrm>
            <a:off x="548640" y="658368"/>
            <a:ext cx="11094415" cy="777240"/>
          </a:xfrm>
          <a:prstGeom prst="rect">
            <a:avLst/>
          </a:prstGeom>
          <a:noFill/>
          <a:ln/>
        </p:spPr>
        <p:txBody>
          <a:bodyPr wrap="square" lIns="0" tIns="0" rIns="0" bIns="0" rtlCol="0" anchor="ctr"/>
          <a:lstStyle/>
          <a:p>
            <a:pPr marL="0" indent="0" algn="l">
              <a:buNone/>
            </a:pPr>
            <a:r>
              <a:rPr lang="en-US" sz="3000" b="1" dirty="0">
                <a:solidFill>
                  <a:schemeClr val="tx2"/>
                </a:solidFill>
              </a:rPr>
              <a:t>C/O EUR.1 và mã số mã vạch cho mỗi lô hàng</a:t>
            </a:r>
            <a:endParaRPr lang="en-US" sz="3000" dirty="0"/>
          </a:p>
        </p:txBody>
      </p:sp>
      <p:sp>
        <p:nvSpPr>
          <p:cNvPr id="9" name="EUR.1 đã cấp thực tế (lô hàng sang Pháp) (khung)"/>
          <p:cNvSpPr/>
          <p:nvPr/>
        </p:nvSpPr>
        <p:spPr>
          <a:xfrm>
            <a:off x="521208" y="1755648"/>
            <a:ext cx="2194560" cy="3049524"/>
          </a:xfrm>
          <a:prstGeom prst="rect">
            <a:avLst/>
          </a:prstGeom>
          <a:solidFill>
            <a:srgbClr val="FFFFFF"/>
          </a:solidFill>
          <a:ln w="9525">
            <a:solidFill>
              <a:srgbClr val="D5DED8"/>
            </a:solidFill>
            <a:prstDash val="solid"/>
          </a:ln>
          <a:effectLst>
            <a:outerShdw blurRad="76200" dist="25400" dir="5400000" algn="bl" rotWithShape="0">
              <a:srgbClr val="000000">
                <a:alpha val="16000"/>
              </a:srgbClr>
            </a:outerShdw>
          </a:effectLst>
        </p:spPr>
      </p:sp>
      <p:pic>
        <p:nvPicPr>
          <p:cNvPr id="10" name="EUR.1 đã cấp thực tế (lô hàng sang Pháp)" descr="EUR.1 đã cấp thực tế (lô hàng sang Pháp)"/>
          <p:cNvPicPr>
            <a:picLocks noChangeAspect="1"/>
          </p:cNvPicPr>
          <p:nvPr/>
        </p:nvPicPr>
        <p:blipFill>
          <a:blip r:embed="rId3"/>
          <a:stretch>
            <a:fillRect/>
          </a:stretch>
        </p:blipFill>
        <p:spPr>
          <a:xfrm>
            <a:off x="548640" y="1783080"/>
            <a:ext cx="2139696" cy="2994660"/>
          </a:xfrm>
          <a:prstGeom prst="rect">
            <a:avLst/>
          </a:prstGeom>
        </p:spPr>
      </p:pic>
      <p:sp>
        <p:nvSpPr>
          <p:cNvPr id="11" name="Chu thich EUR.1 1"/>
          <p:cNvSpPr txBox="1"/>
          <p:nvPr/>
        </p:nvSpPr>
        <p:spPr>
          <a:xfrm>
            <a:off x="548640" y="4892040"/>
            <a:ext cx="2139696" cy="548640"/>
          </a:xfrm>
          <a:prstGeom prst="rect">
            <a:avLst/>
          </a:prstGeom>
          <a:noFill/>
          <a:ln/>
        </p:spPr>
        <p:txBody>
          <a:bodyPr wrap="square" lIns="0" tIns="0" rIns="0" bIns="0" rtlCol="0" anchor="t"/>
          <a:lstStyle/>
          <a:p>
            <a:pPr marL="0" indent="0" algn="l">
              <a:buNone/>
            </a:pPr>
            <a:r>
              <a:rPr lang="en-US" sz="1200" dirty="0">
                <a:solidFill>
                  <a:srgbClr val="5C6F66"/>
                </a:solidFill>
              </a:rPr>
              <a:t>EUR.1 đã cấp thực tế (lô hàng sang Pháp)</a:t>
            </a:r>
            <a:endParaRPr lang="en-US" sz="1200" dirty="0"/>
          </a:p>
        </p:txBody>
      </p:sp>
      <p:sp>
        <p:nvSpPr>
          <p:cNvPr id="12" name="Hướng dẫn kê khai ô 1–10 (TT 11/2020/TT-BCT) (khung)"/>
          <p:cNvSpPr/>
          <p:nvPr/>
        </p:nvSpPr>
        <p:spPr>
          <a:xfrm>
            <a:off x="2798064" y="1755648"/>
            <a:ext cx="2442641" cy="3072384"/>
          </a:xfrm>
          <a:prstGeom prst="rect">
            <a:avLst/>
          </a:prstGeom>
          <a:solidFill>
            <a:srgbClr val="FFFFFF"/>
          </a:solidFill>
          <a:ln w="9525">
            <a:solidFill>
              <a:srgbClr val="D5DED8"/>
            </a:solidFill>
            <a:prstDash val="solid"/>
          </a:ln>
          <a:effectLst>
            <a:outerShdw blurRad="76200" dist="25400" dir="5400000" algn="bl" rotWithShape="0">
              <a:srgbClr val="000000">
                <a:alpha val="16000"/>
              </a:srgbClr>
            </a:outerShdw>
          </a:effectLst>
        </p:spPr>
      </p:sp>
      <p:pic>
        <p:nvPicPr>
          <p:cNvPr id="13" name="Hướng dẫn kê khai ô 1–10 (TT 11/2020/TT-BCT)" descr="Hướng dẫn kê khai ô 1–10 (TT 11/2020/TT-BCT)"/>
          <p:cNvPicPr>
            <a:picLocks noChangeAspect="1"/>
          </p:cNvPicPr>
          <p:nvPr/>
        </p:nvPicPr>
        <p:blipFill>
          <a:blip r:embed="rId4"/>
          <a:stretch>
            <a:fillRect/>
          </a:stretch>
        </p:blipFill>
        <p:spPr>
          <a:xfrm>
            <a:off x="2825496" y="1783080"/>
            <a:ext cx="2387777" cy="3017520"/>
          </a:xfrm>
          <a:prstGeom prst="rect">
            <a:avLst/>
          </a:prstGeom>
        </p:spPr>
      </p:pic>
      <p:sp>
        <p:nvSpPr>
          <p:cNvPr id="14" name="Chu thich EUR.1 2"/>
          <p:cNvSpPr txBox="1"/>
          <p:nvPr/>
        </p:nvSpPr>
        <p:spPr>
          <a:xfrm>
            <a:off x="2825496" y="4892040"/>
            <a:ext cx="2395728" cy="548640"/>
          </a:xfrm>
          <a:prstGeom prst="rect">
            <a:avLst/>
          </a:prstGeom>
          <a:noFill/>
          <a:ln/>
        </p:spPr>
        <p:txBody>
          <a:bodyPr wrap="square" lIns="0" tIns="0" rIns="0" bIns="0" rtlCol="0" anchor="t"/>
          <a:lstStyle/>
          <a:p>
            <a:pPr marL="0" indent="0" algn="l">
              <a:buNone/>
            </a:pPr>
            <a:r>
              <a:rPr lang="en-US" sz="1200" dirty="0">
                <a:solidFill>
                  <a:srgbClr val="5C6F66"/>
                </a:solidFill>
              </a:rPr>
              <a:t>Hướng dẫn kê khai ô 1–10 (TT 11/2020/TT-BCT)</a:t>
            </a:r>
            <a:endParaRPr lang="en-US" sz="1200" dirty="0"/>
          </a:p>
        </p:txBody>
      </p:sp>
      <p:sp>
        <p:nvSpPr>
          <p:cNvPr id="15" name="Hướng dẫn ô 11–14: cơ quan cấp và xác minh (khung)"/>
          <p:cNvSpPr/>
          <p:nvPr/>
        </p:nvSpPr>
        <p:spPr>
          <a:xfrm>
            <a:off x="5330952" y="1755648"/>
            <a:ext cx="2706624" cy="3056958"/>
          </a:xfrm>
          <a:prstGeom prst="rect">
            <a:avLst/>
          </a:prstGeom>
          <a:solidFill>
            <a:srgbClr val="FFFFFF"/>
          </a:solidFill>
          <a:ln w="9525">
            <a:solidFill>
              <a:srgbClr val="D5DED8"/>
            </a:solidFill>
            <a:prstDash val="solid"/>
          </a:ln>
          <a:effectLst>
            <a:outerShdw blurRad="76200" dist="25400" dir="5400000" algn="bl" rotWithShape="0">
              <a:srgbClr val="000000">
                <a:alpha val="16000"/>
              </a:srgbClr>
            </a:outerShdw>
          </a:effectLst>
        </p:spPr>
      </p:sp>
      <p:pic>
        <p:nvPicPr>
          <p:cNvPr id="16" name="Hướng dẫn ô 11–14: cơ quan cấp và xác minh" descr="Hướng dẫn ô 11–14: cơ quan cấp và xác minh"/>
          <p:cNvPicPr>
            <a:picLocks noChangeAspect="1"/>
          </p:cNvPicPr>
          <p:nvPr/>
        </p:nvPicPr>
        <p:blipFill>
          <a:blip r:embed="rId5"/>
          <a:stretch>
            <a:fillRect/>
          </a:stretch>
        </p:blipFill>
        <p:spPr>
          <a:xfrm>
            <a:off x="5358384" y="1783080"/>
            <a:ext cx="2651760" cy="3002094"/>
          </a:xfrm>
          <a:prstGeom prst="rect">
            <a:avLst/>
          </a:prstGeom>
        </p:spPr>
      </p:pic>
      <p:sp>
        <p:nvSpPr>
          <p:cNvPr id="17" name="Chu thich EUR.1 3"/>
          <p:cNvSpPr txBox="1"/>
          <p:nvPr/>
        </p:nvSpPr>
        <p:spPr>
          <a:xfrm>
            <a:off x="5358384" y="4892040"/>
            <a:ext cx="2651760" cy="548640"/>
          </a:xfrm>
          <a:prstGeom prst="rect">
            <a:avLst/>
          </a:prstGeom>
          <a:noFill/>
          <a:ln/>
        </p:spPr>
        <p:txBody>
          <a:bodyPr wrap="square" lIns="0" tIns="0" rIns="0" bIns="0" rtlCol="0" anchor="t"/>
          <a:lstStyle/>
          <a:p>
            <a:pPr marL="0" indent="0" algn="l">
              <a:buNone/>
            </a:pPr>
            <a:r>
              <a:rPr lang="en-US" sz="1200" dirty="0">
                <a:solidFill>
                  <a:srgbClr val="5C6F66"/>
                </a:solidFill>
              </a:rPr>
              <a:t>Hướng dẫn ô 11–14: cơ quan cấp và xác minh</a:t>
            </a:r>
            <a:endParaRPr lang="en-US" sz="1200" dirty="0"/>
          </a:p>
        </p:txBody>
      </p:sp>
      <p:sp>
        <p:nvSpPr>
          <p:cNvPr id="18" name="Khung co quan cap"/>
          <p:cNvSpPr/>
          <p:nvPr/>
        </p:nvSpPr>
        <p:spPr>
          <a:xfrm>
            <a:off x="548640" y="5532120"/>
            <a:ext cx="7452360" cy="594360"/>
          </a:xfrm>
          <a:prstGeom prst="roundRect">
            <a:avLst>
              <a:gd name="adj" fmla="val 18462"/>
            </a:avLst>
          </a:prstGeom>
          <a:solidFill>
            <a:srgbClr val="FBF1D8"/>
          </a:solidFill>
          <a:ln/>
        </p:spPr>
      </p:sp>
      <p:sp>
        <p:nvSpPr>
          <p:cNvPr id="19" name="Chu co quan cap"/>
          <p:cNvSpPr txBox="1"/>
          <p:nvPr/>
        </p:nvSpPr>
        <p:spPr>
          <a:xfrm>
            <a:off x="731520" y="5550408"/>
            <a:ext cx="7086600" cy="557784"/>
          </a:xfrm>
          <a:prstGeom prst="rect">
            <a:avLst/>
          </a:prstGeom>
          <a:noFill/>
          <a:ln/>
        </p:spPr>
        <p:txBody>
          <a:bodyPr wrap="square" lIns="0" tIns="0" rIns="0" bIns="0" rtlCol="0" anchor="ctr"/>
          <a:lstStyle/>
          <a:p>
            <a:pPr marL="0" indent="0" algn="l">
              <a:buNone/>
            </a:pPr>
            <a:r>
              <a:rPr lang="en-US" sz="1400" b="1" dirty="0">
                <a:solidFill>
                  <a:schemeClr val="accent6"/>
                </a:solidFill>
              </a:rPr>
              <a:t>Cơ quan cấp: </a:t>
            </a:r>
            <a:r>
              <a:rPr lang="en-US" sz="1400" dirty="0">
                <a:solidFill>
                  <a:schemeClr val="tx1"/>
                </a:solidFill>
              </a:rPr>
              <a:t>theo mẫu thực tế, do Phòng Quản lý xuất nhập khẩu khu vực (Cục Xuất nhập khẩu, Bộ Công Thương) cấp.</a:t>
            </a:r>
            <a:endParaRPr lang="en-US" sz="1400" dirty="0"/>
          </a:p>
        </p:txBody>
      </p:sp>
      <p:sp>
        <p:nvSpPr>
          <p:cNvPr id="20" name="Mẫu giấy chứng nhận GS1 Việt Nam (khung)"/>
          <p:cNvSpPr/>
          <p:nvPr/>
        </p:nvSpPr>
        <p:spPr>
          <a:xfrm>
            <a:off x="8247888" y="1755648"/>
            <a:ext cx="3419856" cy="2472050"/>
          </a:xfrm>
          <a:prstGeom prst="rect">
            <a:avLst/>
          </a:prstGeom>
          <a:solidFill>
            <a:srgbClr val="FFFFFF"/>
          </a:solidFill>
          <a:ln w="9525">
            <a:solidFill>
              <a:srgbClr val="D5DED8"/>
            </a:solidFill>
            <a:prstDash val="solid"/>
          </a:ln>
          <a:effectLst>
            <a:outerShdw blurRad="76200" dist="25400" dir="5400000" algn="bl" rotWithShape="0">
              <a:srgbClr val="000000">
                <a:alpha val="16000"/>
              </a:srgbClr>
            </a:outerShdw>
          </a:effectLst>
        </p:spPr>
      </p:sp>
      <p:pic>
        <p:nvPicPr>
          <p:cNvPr id="21" name="Mẫu giấy chứng nhận GS1 Việt Nam" descr="Mẫu giấy chứng nhận GS1 Việt Nam"/>
          <p:cNvPicPr>
            <a:picLocks noChangeAspect="1"/>
          </p:cNvPicPr>
          <p:nvPr/>
        </p:nvPicPr>
        <p:blipFill>
          <a:blip r:embed="rId6"/>
          <a:stretch>
            <a:fillRect/>
          </a:stretch>
        </p:blipFill>
        <p:spPr>
          <a:xfrm>
            <a:off x="8275320" y="1783080"/>
            <a:ext cx="3364992" cy="2417186"/>
          </a:xfrm>
          <a:prstGeom prst="rect">
            <a:avLst/>
          </a:prstGeom>
        </p:spPr>
      </p:pic>
      <p:sp>
        <p:nvSpPr>
          <p:cNvPr id="22" name="Chu thich GS1"/>
          <p:cNvSpPr txBox="1"/>
          <p:nvPr/>
        </p:nvSpPr>
        <p:spPr>
          <a:xfrm>
            <a:off x="8275320" y="4279392"/>
            <a:ext cx="3364992" cy="548640"/>
          </a:xfrm>
          <a:prstGeom prst="rect">
            <a:avLst/>
          </a:prstGeom>
          <a:noFill/>
          <a:ln/>
        </p:spPr>
        <p:txBody>
          <a:bodyPr wrap="square" lIns="0" tIns="0" rIns="0" bIns="0" rtlCol="0" anchor="t"/>
          <a:lstStyle/>
          <a:p>
            <a:pPr marL="0" indent="0" algn="l">
              <a:buNone/>
            </a:pPr>
            <a:r>
              <a:rPr lang="en-US" sz="1200" dirty="0">
                <a:solidFill>
                  <a:srgbClr val="5C6F66"/>
                </a:solidFill>
              </a:rPr>
              <a:t>Mẫu giấy chứng nhận mã doanh nghiệp GS1 Việt Nam (tiền tố 893); mẫu hiện hành có thể khác</a:t>
            </a:r>
            <a:endParaRPr lang="en-US" sz="1200" dirty="0"/>
          </a:p>
        </p:txBody>
      </p:sp>
      <p:sp>
        <p:nvSpPr>
          <p:cNvPr id="23" name="Khung chung tu"/>
          <p:cNvSpPr/>
          <p:nvPr/>
        </p:nvSpPr>
        <p:spPr>
          <a:xfrm>
            <a:off x="8275320" y="4937760"/>
            <a:ext cx="3364992" cy="1188720"/>
          </a:xfrm>
          <a:prstGeom prst="roundRect">
            <a:avLst>
              <a:gd name="adj" fmla="val 9231"/>
            </a:avLst>
          </a:prstGeom>
          <a:solidFill>
            <a:schemeClr val="bg2"/>
          </a:solidFill>
          <a:ln/>
        </p:spPr>
      </p:sp>
      <p:sp>
        <p:nvSpPr>
          <p:cNvPr id="24" name="Chu chung tu"/>
          <p:cNvSpPr txBox="1"/>
          <p:nvPr/>
        </p:nvSpPr>
        <p:spPr>
          <a:xfrm>
            <a:off x="8412480" y="4983480"/>
            <a:ext cx="3108960" cy="1097280"/>
          </a:xfrm>
          <a:prstGeom prst="rect">
            <a:avLst/>
          </a:prstGeom>
          <a:noFill/>
          <a:ln/>
        </p:spPr>
        <p:txBody>
          <a:bodyPr wrap="square" lIns="0" tIns="0" rIns="0" bIns="0" rtlCol="0" anchor="ctr"/>
          <a:lstStyle/>
          <a:p>
            <a:pPr marL="0" indent="0" algn="l">
              <a:buNone/>
            </a:pPr>
            <a:r>
              <a:rPr lang="en-US" sz="1400" b="1" dirty="0">
                <a:solidFill>
                  <a:schemeClr val="accent1"/>
                </a:solidFill>
              </a:rPr>
              <a:t>Chứng từ đi kèm mỗi lô</a:t>
            </a:r>
            <a:endParaRPr lang="en-US" sz="1400" dirty="0"/>
          </a:p>
          <a:p>
            <a:pPr marL="0" indent="0" algn="l">
              <a:buNone/>
            </a:pPr>
            <a:r>
              <a:rPr lang="en-US" sz="1400" dirty="0">
                <a:solidFill>
                  <a:schemeClr val="tx1"/>
                </a:solidFill>
              </a:rPr>
              <a:t>Hợp đồng, hóa đơn, packing list, vận đơn, tờ khai hải quan; phiếu kiểm nghiệm lô (COA)</a:t>
            </a:r>
            <a:endParaRPr lang="en-US" sz="1400" dirty="0"/>
          </a:p>
        </p:txBody>
      </p:sp>
      <p:sp>
        <p:nvSpPr>
          <p:cNvPr id="25" name="Nguon"/>
          <p:cNvSpPr txBox="1"/>
          <p:nvPr/>
        </p:nvSpPr>
        <p:spPr>
          <a:xfrm>
            <a:off x="548640" y="6217920"/>
            <a:ext cx="11094415" cy="201168"/>
          </a:xfrm>
          <a:prstGeom prst="rect">
            <a:avLst/>
          </a:prstGeom>
          <a:noFill/>
          <a:ln/>
        </p:spPr>
        <p:txBody>
          <a:bodyPr wrap="square" lIns="0" tIns="0" rIns="0" bIns="0" rtlCol="0" anchor="t"/>
          <a:lstStyle/>
          <a:p>
            <a:pPr marL="0" indent="0" algn="l">
              <a:buNone/>
            </a:pPr>
            <a:r>
              <a:rPr lang="en-US" sz="1000" dirty="0">
                <a:solidFill>
                  <a:srgbClr val="5C6F66"/>
                </a:solidFill>
              </a:rPr>
              <a:t>Nguồn: Thông tư 11/2020/TT-BCT (hướng dẫn kê khai EUR.1, EVFTA); hình EUR.1 và mẫu GS1 do Viện STP cung cấp.</a:t>
            </a:r>
            <a:endParaRPr lang="en-US" sz="1000" dirty="0"/>
          </a:p>
        </p:txBody>
      </p:sp>
      <p:sp>
        <p:nvSpPr>
          <p:cNvPr id="2" name="Slide Number Placeholder 0"/>
          <p:cNvSpPr>
            <a:spLocks noGrp="1"/>
          </p:cNvSpPr>
          <p:nvPr>
            <p:ph type="sldNum" sz="quarter" idx="4294967295"/>
          </p:nvPr>
        </p:nvSpPr>
        <p:spPr>
          <a:xfrm>
            <a:off x="10972800" y="6492240"/>
            <a:ext cx="667512" cy="237744"/>
          </a:xfrm>
          <a:prstGeom prst="rect">
            <a:avLst/>
          </a:prstGeom>
          <a:extLst>
            <a:ext uri="{C572A759-6A51-4108-AA02-DFA0A04FC94B}">
              <ma14:wrappingTextBoxFlag xmlns:ma14="http://schemas.microsoft.com/office/mac/drawingml/2011/main" xmlns="" val="0"/>
            </a:ext>
          </a:extLst>
        </p:spPr>
        <p:txBody>
          <a:bodyPr/>
          <a:lstStyle>
            <a:lvl1pPr>
              <a:defRPr sz="1000">
                <a:solidFill>
                  <a:srgbClr val="5C6F66"/>
                </a:solidFill>
              </a:defRPr>
            </a:lvl1pPr>
          </a:lstStyle>
          <a:p>
            <a:pPr algn="r"/>
            <a:fld id="{F7021451-1387-4CA6-816F-3879F97B5CBC}" type="slidenum">
              <a:rPr lang="en-US" b="0"/>
              <a:t>19</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Dau cham"/>
          <p:cNvSpPr/>
          <p:nvPr/>
        </p:nvSpPr>
        <p:spPr>
          <a:xfrm>
            <a:off x="548640" y="429768"/>
            <a:ext cx="118872" cy="118872"/>
          </a:xfrm>
          <a:prstGeom prst="ellipse">
            <a:avLst/>
          </a:prstGeom>
          <a:solidFill>
            <a:schemeClr val="accent2"/>
          </a:solidFill>
          <a:ln/>
        </p:spPr>
      </p:sp>
      <p:sp>
        <p:nvSpPr>
          <p:cNvPr id="4" name="Nhan chuyen muc"/>
          <p:cNvSpPr txBox="1"/>
          <p:nvPr/>
        </p:nvSpPr>
        <p:spPr>
          <a:xfrm>
            <a:off x="777240" y="347472"/>
            <a:ext cx="6949440" cy="274320"/>
          </a:xfrm>
          <a:prstGeom prst="rect">
            <a:avLst/>
          </a:prstGeom>
          <a:noFill/>
          <a:ln/>
        </p:spPr>
        <p:txBody>
          <a:bodyPr wrap="square" lIns="0" tIns="0" rIns="0" bIns="0" rtlCol="0" anchor="ctr"/>
          <a:lstStyle/>
          <a:p>
            <a:pPr marL="0" indent="0" algn="l">
              <a:buNone/>
            </a:pPr>
            <a:r>
              <a:rPr lang="en-US" sz="1200" b="1" kern="0" spc="200" dirty="0">
                <a:solidFill>
                  <a:schemeClr val="accent1"/>
                </a:solidFill>
              </a:rPr>
              <a:t>THƯƠNG HIỆU VÀ NHÃN MÁC</a:t>
            </a:r>
            <a:endParaRPr lang="en-US" sz="1200" dirty="0"/>
          </a:p>
        </p:txBody>
      </p:sp>
      <p:sp>
        <p:nvSpPr>
          <p:cNvPr id="5" name="Nhan giai doan"/>
          <p:cNvSpPr txBox="1"/>
          <p:nvPr/>
        </p:nvSpPr>
        <p:spPr>
          <a:xfrm>
            <a:off x="8835847" y="347472"/>
            <a:ext cx="868680" cy="274320"/>
          </a:xfrm>
          <a:prstGeom prst="rect">
            <a:avLst/>
          </a:prstGeom>
          <a:noFill/>
          <a:ln/>
        </p:spPr>
        <p:txBody>
          <a:bodyPr wrap="square" lIns="0" tIns="0" rIns="0" bIns="0" rtlCol="0" anchor="ctr"/>
          <a:lstStyle/>
          <a:p>
            <a:pPr marL="0" indent="0" algn="r">
              <a:buNone/>
            </a:pPr>
            <a:r>
              <a:rPr lang="en-US" sz="1200" dirty="0">
                <a:solidFill>
                  <a:srgbClr val="5C6F66"/>
                </a:solidFill>
              </a:rPr>
              <a:t>Thực hiện ở</a:t>
            </a:r>
            <a:endParaRPr lang="en-US" sz="1200" dirty="0"/>
          </a:p>
        </p:txBody>
      </p:sp>
      <p:sp>
        <p:nvSpPr>
          <p:cNvPr id="6" name="Giai doan 1"/>
          <p:cNvSpPr/>
          <p:nvPr/>
        </p:nvSpPr>
        <p:spPr>
          <a:xfrm>
            <a:off x="9795967" y="356616"/>
            <a:ext cx="566928" cy="256032"/>
          </a:xfrm>
          <a:prstGeom prst="roundRect">
            <a:avLst>
              <a:gd name="adj" fmla="val 21429"/>
            </a:avLst>
          </a:prstGeom>
          <a:solidFill>
            <a:srgbClr val="5E9E68"/>
          </a:solidFill>
          <a:ln/>
        </p:spPr>
      </p:sp>
      <p:sp>
        <p:nvSpPr>
          <p:cNvPr id="7" name="Chu giai doan 1"/>
          <p:cNvSpPr txBox="1"/>
          <p:nvPr/>
        </p:nvSpPr>
        <p:spPr>
          <a:xfrm>
            <a:off x="9795967" y="356616"/>
            <a:ext cx="566928" cy="256032"/>
          </a:xfrm>
          <a:prstGeom prst="rect">
            <a:avLst/>
          </a:prstGeom>
          <a:noFill/>
          <a:ln/>
        </p:spPr>
        <p:txBody>
          <a:bodyPr wrap="square" lIns="0" tIns="0" rIns="0" bIns="0" rtlCol="0" anchor="ctr"/>
          <a:lstStyle/>
          <a:p>
            <a:pPr marL="0" indent="0" algn="ctr">
              <a:buNone/>
            </a:pPr>
            <a:r>
              <a:rPr lang="en-US" sz="1200" b="1" dirty="0">
                <a:solidFill>
                  <a:srgbClr val="1B2B24"/>
                </a:solidFill>
              </a:rPr>
              <a:t>GĐ1</a:t>
            </a:r>
            <a:endParaRPr lang="en-US" sz="1200" dirty="0"/>
          </a:p>
        </p:txBody>
      </p:sp>
      <p:sp>
        <p:nvSpPr>
          <p:cNvPr id="8" name="Giai doan 3"/>
          <p:cNvSpPr/>
          <p:nvPr/>
        </p:nvSpPr>
        <p:spPr>
          <a:xfrm>
            <a:off x="10436047" y="356616"/>
            <a:ext cx="566928" cy="256032"/>
          </a:xfrm>
          <a:prstGeom prst="roundRect">
            <a:avLst>
              <a:gd name="adj" fmla="val 21429"/>
            </a:avLst>
          </a:prstGeom>
          <a:solidFill>
            <a:srgbClr val="E4A92A"/>
          </a:solidFill>
          <a:ln/>
        </p:spPr>
      </p:sp>
      <p:sp>
        <p:nvSpPr>
          <p:cNvPr id="9" name="Chu giai doan 3"/>
          <p:cNvSpPr txBox="1"/>
          <p:nvPr/>
        </p:nvSpPr>
        <p:spPr>
          <a:xfrm>
            <a:off x="10436047" y="356616"/>
            <a:ext cx="566928" cy="256032"/>
          </a:xfrm>
          <a:prstGeom prst="rect">
            <a:avLst/>
          </a:prstGeom>
          <a:noFill/>
          <a:ln/>
        </p:spPr>
        <p:txBody>
          <a:bodyPr wrap="square" lIns="0" tIns="0" rIns="0" bIns="0" rtlCol="0" anchor="ctr"/>
          <a:lstStyle/>
          <a:p>
            <a:pPr marL="0" indent="0" algn="ctr">
              <a:buNone/>
            </a:pPr>
            <a:r>
              <a:rPr lang="en-US" sz="1200" b="1" dirty="0">
                <a:solidFill>
                  <a:srgbClr val="1B2B24"/>
                </a:solidFill>
              </a:rPr>
              <a:t>GĐ3</a:t>
            </a:r>
            <a:endParaRPr lang="en-US" sz="1200" dirty="0"/>
          </a:p>
        </p:txBody>
      </p:sp>
      <p:sp>
        <p:nvSpPr>
          <p:cNvPr id="10" name="Giai doan 4"/>
          <p:cNvSpPr/>
          <p:nvPr/>
        </p:nvSpPr>
        <p:spPr>
          <a:xfrm>
            <a:off x="11076127" y="356616"/>
            <a:ext cx="566928" cy="256032"/>
          </a:xfrm>
          <a:prstGeom prst="roundRect">
            <a:avLst>
              <a:gd name="adj" fmla="val 21429"/>
            </a:avLst>
          </a:prstGeom>
          <a:solidFill>
            <a:srgbClr val="7A3E8F"/>
          </a:solidFill>
          <a:ln/>
        </p:spPr>
      </p:sp>
      <p:sp>
        <p:nvSpPr>
          <p:cNvPr id="11" name="Chu giai doan 4"/>
          <p:cNvSpPr txBox="1"/>
          <p:nvPr/>
        </p:nvSpPr>
        <p:spPr>
          <a:xfrm>
            <a:off x="11076127" y="356616"/>
            <a:ext cx="566928" cy="256032"/>
          </a:xfrm>
          <a:prstGeom prst="rect">
            <a:avLst/>
          </a:prstGeom>
          <a:noFill/>
          <a:ln/>
        </p:spPr>
        <p:txBody>
          <a:bodyPr wrap="square" lIns="0" tIns="0" rIns="0" bIns="0" rtlCol="0" anchor="ctr"/>
          <a:lstStyle/>
          <a:p>
            <a:pPr marL="0" indent="0" algn="ctr">
              <a:buNone/>
            </a:pPr>
            <a:r>
              <a:rPr lang="en-US" sz="1200" b="1" dirty="0">
                <a:solidFill>
                  <a:srgbClr val="FFFFFF"/>
                </a:solidFill>
              </a:rPr>
              <a:t>GĐ4</a:t>
            </a:r>
            <a:endParaRPr lang="en-US" sz="1200" dirty="0"/>
          </a:p>
        </p:txBody>
      </p:sp>
      <p:sp>
        <p:nvSpPr>
          <p:cNvPr id="12" name="Text 0"/>
          <p:cNvSpPr>
            <a:spLocks noGrp="1"/>
          </p:cNvSpPr>
          <p:nvPr>
            <p:ph type="title" idx="100" hasCustomPrompt="1"/>
          </p:nvPr>
        </p:nvSpPr>
        <p:spPr>
          <a:xfrm>
            <a:off x="548640" y="658368"/>
            <a:ext cx="11094415" cy="777240"/>
          </a:xfrm>
          <a:prstGeom prst="rect">
            <a:avLst/>
          </a:prstGeom>
          <a:noFill/>
          <a:ln/>
        </p:spPr>
        <p:txBody>
          <a:bodyPr wrap="square" lIns="0" tIns="0" rIns="0" bIns="0" rtlCol="0" anchor="ctr"/>
          <a:lstStyle/>
          <a:p>
            <a:pPr marL="0" indent="0" algn="l">
              <a:buNone/>
            </a:pPr>
            <a:r>
              <a:rPr lang="en-US" sz="3000" b="1" dirty="0">
                <a:solidFill>
                  <a:schemeClr val="tx2"/>
                </a:solidFill>
              </a:rPr>
              <a:t>Bao bì đẹp chưa đủ: cần thêm lớp tuân thủ</a:t>
            </a:r>
            <a:endParaRPr lang="en-US" sz="3000" dirty="0"/>
          </a:p>
        </p:txBody>
      </p:sp>
      <p:pic>
        <p:nvPicPr>
          <p:cNvPr id="13" name="Anh bao bi" descr="Concept bao bì Heragrain"/>
          <p:cNvPicPr>
            <a:picLocks noChangeAspect="1"/>
          </p:cNvPicPr>
          <p:nvPr/>
        </p:nvPicPr>
        <p:blipFill>
          <a:blip r:embed="rId3"/>
          <a:stretch>
            <a:fillRect/>
          </a:stretch>
        </p:blipFill>
        <p:spPr>
          <a:xfrm>
            <a:off x="548640" y="1783080"/>
            <a:ext cx="6766560" cy="2572207"/>
          </a:xfrm>
          <a:prstGeom prst="rect">
            <a:avLst/>
          </a:prstGeom>
        </p:spPr>
      </p:pic>
      <p:sp>
        <p:nvSpPr>
          <p:cNvPr id="14" name="Chu thich bao bi"/>
          <p:cNvSpPr txBox="1"/>
          <p:nvPr/>
        </p:nvSpPr>
        <p:spPr>
          <a:xfrm>
            <a:off x="548640" y="4434840"/>
            <a:ext cx="6766560" cy="274320"/>
          </a:xfrm>
          <a:prstGeom prst="rect">
            <a:avLst/>
          </a:prstGeom>
          <a:noFill/>
          <a:ln/>
        </p:spPr>
        <p:txBody>
          <a:bodyPr wrap="square" lIns="0" tIns="0" rIns="0" bIns="0" rtlCol="0" anchor="t"/>
          <a:lstStyle/>
          <a:p>
            <a:pPr marL="0" indent="0" algn="l">
              <a:buNone/>
            </a:pPr>
            <a:r>
              <a:rPr lang="en-US" sz="1200" dirty="0">
                <a:solidFill>
                  <a:srgbClr val="5C6F66"/>
                </a:solidFill>
              </a:rPr>
              <a:t>Concept bao bì Heragrain (bản demo)</a:t>
            </a:r>
            <a:endParaRPr lang="en-US" sz="1200" dirty="0"/>
          </a:p>
        </p:txBody>
      </p:sp>
      <p:sp>
        <p:nvSpPr>
          <p:cNvPr id="15" name="Tieu de checklist"/>
          <p:cNvSpPr txBox="1"/>
          <p:nvPr/>
        </p:nvSpPr>
        <p:spPr>
          <a:xfrm>
            <a:off x="7589520" y="1783080"/>
            <a:ext cx="4050792" cy="320040"/>
          </a:xfrm>
          <a:prstGeom prst="rect">
            <a:avLst/>
          </a:prstGeom>
          <a:noFill/>
          <a:ln/>
        </p:spPr>
        <p:txBody>
          <a:bodyPr wrap="square" lIns="0" tIns="0" rIns="0" bIns="0" rtlCol="0" anchor="t"/>
          <a:lstStyle/>
          <a:p>
            <a:pPr marL="0" indent="0" algn="l">
              <a:buNone/>
            </a:pPr>
            <a:r>
              <a:rPr lang="en-US" sz="1600" b="1" dirty="0">
                <a:solidFill>
                  <a:schemeClr val="accent1"/>
                </a:solidFill>
              </a:rPr>
              <a:t>Checklist nhãn mác từng thị trường</a:t>
            </a:r>
            <a:endParaRPr lang="en-US" sz="1600" dirty="0"/>
          </a:p>
        </p:txBody>
      </p:sp>
      <p:sp>
        <p:nvSpPr>
          <p:cNvPr id="16" name="Noi dung checklist"/>
          <p:cNvSpPr txBox="1"/>
          <p:nvPr/>
        </p:nvSpPr>
        <p:spPr>
          <a:xfrm>
            <a:off x="7589520" y="2212848"/>
            <a:ext cx="4050792" cy="2011680"/>
          </a:xfrm>
          <a:prstGeom prst="rect">
            <a:avLst/>
          </a:prstGeom>
          <a:noFill/>
          <a:ln/>
        </p:spPr>
        <p:txBody>
          <a:bodyPr wrap="square" lIns="0" tIns="0" rIns="0" bIns="0" rtlCol="0" anchor="t"/>
          <a:lstStyle/>
          <a:p>
            <a:pPr marL="177800" indent="-177800" algn="l">
              <a:spcAft>
                <a:spcPts val="600"/>
              </a:spcAft>
              <a:buSzPct val="100000"/>
              <a:buChar char="•"/>
            </a:pPr>
            <a:r>
              <a:rPr lang="en-US" sz="1400" dirty="0">
                <a:solidFill>
                  <a:schemeClr val="tx1"/>
                </a:solidFill>
              </a:rPr>
              <a:t>Tên sản phẩm, thành phần, khối lượng tịnh</a:t>
            </a:r>
            <a:endParaRPr lang="en-US" sz="1400" dirty="0"/>
          </a:p>
          <a:p>
            <a:pPr marL="177800" indent="-177800" algn="l">
              <a:spcAft>
                <a:spcPts val="600"/>
              </a:spcAft>
              <a:buSzPct val="100000"/>
              <a:buChar char="•"/>
            </a:pPr>
            <a:r>
              <a:rPr lang="en-US" sz="1400" dirty="0">
                <a:solidFill>
                  <a:schemeClr val="tx1"/>
                </a:solidFill>
              </a:rPr>
              <a:t>Chất gây dị ứng, sulphite nếu có sử dụng</a:t>
            </a:r>
            <a:endParaRPr lang="en-US" sz="1400" dirty="0"/>
          </a:p>
          <a:p>
            <a:pPr marL="177800" indent="-177800" algn="l">
              <a:spcAft>
                <a:spcPts val="600"/>
              </a:spcAft>
              <a:buSzPct val="100000"/>
              <a:buChar char="•"/>
            </a:pPr>
            <a:r>
              <a:rPr lang="en-US" sz="1400" dirty="0">
                <a:solidFill>
                  <a:schemeClr val="tx1"/>
                </a:solidFill>
              </a:rPr>
              <a:t>Hạn dùng, mã lô, nơi sản xuất</a:t>
            </a:r>
            <a:endParaRPr lang="en-US" sz="1400" dirty="0"/>
          </a:p>
          <a:p>
            <a:pPr marL="177800" indent="-177800" algn="l">
              <a:spcAft>
                <a:spcPts val="600"/>
              </a:spcAft>
              <a:buSzPct val="100000"/>
              <a:buChar char="•"/>
            </a:pPr>
            <a:r>
              <a:rPr lang="en-US" sz="1400" dirty="0">
                <a:solidFill>
                  <a:schemeClr val="tx1"/>
                </a:solidFill>
              </a:rPr>
              <a:t>Nhãn bản địa: tiếng Trung hoặc theo quy định EU</a:t>
            </a:r>
            <a:endParaRPr lang="en-US" sz="1400" dirty="0"/>
          </a:p>
          <a:p>
            <a:pPr marL="177800" indent="-177800" algn="l">
              <a:spcAft>
                <a:spcPts val="600"/>
              </a:spcAft>
              <a:buSzPct val="100000"/>
              <a:buChar char="•"/>
            </a:pPr>
            <a:r>
              <a:rPr lang="en-US" sz="1400" dirty="0">
                <a:solidFill>
                  <a:schemeClr val="tx1"/>
                </a:solidFill>
              </a:rPr>
              <a:t>Mã vạch GS1 và mã QR truy xuất</a:t>
            </a:r>
            <a:endParaRPr lang="en-US" sz="1400" dirty="0"/>
          </a:p>
        </p:txBody>
      </p:sp>
      <p:sp>
        <p:nvSpPr>
          <p:cNvPr id="17" name="Khung nhan hieu"/>
          <p:cNvSpPr/>
          <p:nvPr/>
        </p:nvSpPr>
        <p:spPr>
          <a:xfrm>
            <a:off x="548640" y="4983480"/>
            <a:ext cx="6766560" cy="1097280"/>
          </a:xfrm>
          <a:prstGeom prst="roundRect">
            <a:avLst>
              <a:gd name="adj" fmla="val 10000"/>
            </a:avLst>
          </a:prstGeom>
          <a:solidFill>
            <a:srgbClr val="FBF1D8"/>
          </a:solidFill>
          <a:ln/>
        </p:spPr>
      </p:sp>
      <p:sp>
        <p:nvSpPr>
          <p:cNvPr id="18" name="Chu nhan hieu"/>
          <p:cNvSpPr txBox="1"/>
          <p:nvPr/>
        </p:nvSpPr>
        <p:spPr>
          <a:xfrm>
            <a:off x="777240" y="5029200"/>
            <a:ext cx="6355080" cy="1005840"/>
          </a:xfrm>
          <a:prstGeom prst="rect">
            <a:avLst/>
          </a:prstGeom>
          <a:noFill/>
          <a:ln/>
        </p:spPr>
        <p:txBody>
          <a:bodyPr wrap="square" lIns="0" tIns="0" rIns="0" bIns="0" rtlCol="0" anchor="ctr"/>
          <a:lstStyle/>
          <a:p>
            <a:pPr marL="0" indent="0" algn="l">
              <a:buNone/>
            </a:pPr>
            <a:r>
              <a:rPr lang="en-US" sz="1400" b="1" dirty="0">
                <a:solidFill>
                  <a:schemeClr val="accent6"/>
                </a:solidFill>
              </a:rPr>
              <a:t>Bảo hộ nhãn hiệu sớm</a:t>
            </a:r>
            <a:endParaRPr lang="en-US" sz="1400" dirty="0"/>
          </a:p>
          <a:p>
            <a:pPr marL="0" indent="0" algn="l">
              <a:buNone/>
            </a:pPr>
            <a:r>
              <a:rPr lang="en-US" sz="1400" dirty="0">
                <a:solidFill>
                  <a:schemeClr val="tx1"/>
                </a:solidFill>
              </a:rPr>
              <a:t>Trung Quốc xét ưu tiên người nộp đơn trước, nên đăng ký "Heragrain" và logo chữ H tại đây ngay từ đầu.</a:t>
            </a:r>
            <a:endParaRPr lang="en-US" sz="1400" dirty="0"/>
          </a:p>
        </p:txBody>
      </p:sp>
      <p:sp>
        <p:nvSpPr>
          <p:cNvPr id="19" name="Khung canh bao claim"/>
          <p:cNvSpPr/>
          <p:nvPr/>
        </p:nvSpPr>
        <p:spPr>
          <a:xfrm>
            <a:off x="7589520" y="4343400"/>
            <a:ext cx="4050792" cy="1737360"/>
          </a:xfrm>
          <a:prstGeom prst="roundRect">
            <a:avLst>
              <a:gd name="adj" fmla="val 6316"/>
            </a:avLst>
          </a:prstGeom>
          <a:solidFill>
            <a:srgbClr val="F8E6E1"/>
          </a:solidFill>
          <a:ln/>
        </p:spPr>
      </p:sp>
      <p:pic>
        <p:nvPicPr>
          <p:cNvPr id="20" name="Canh bao" descr="Cảnh báo"/>
          <p:cNvPicPr>
            <a:picLocks noChangeAspect="1"/>
          </p:cNvPicPr>
          <p:nvPr/>
        </p:nvPicPr>
        <p:blipFill>
          <a:blip r:embed="rId4"/>
          <a:stretch>
            <a:fillRect/>
          </a:stretch>
        </p:blipFill>
        <p:spPr>
          <a:xfrm>
            <a:off x="7772400" y="4498848"/>
            <a:ext cx="411480" cy="411480"/>
          </a:xfrm>
          <a:prstGeom prst="rect">
            <a:avLst/>
          </a:prstGeom>
        </p:spPr>
      </p:pic>
      <p:sp>
        <p:nvSpPr>
          <p:cNvPr id="21" name="Tieu de canh bao"/>
          <p:cNvSpPr txBox="1"/>
          <p:nvPr/>
        </p:nvSpPr>
        <p:spPr>
          <a:xfrm>
            <a:off x="8321040" y="4498848"/>
            <a:ext cx="3200400" cy="411480"/>
          </a:xfrm>
          <a:prstGeom prst="rect">
            <a:avLst/>
          </a:prstGeom>
          <a:noFill/>
          <a:ln/>
        </p:spPr>
        <p:txBody>
          <a:bodyPr wrap="square" lIns="0" tIns="0" rIns="0" bIns="0" rtlCol="0" anchor="ctr"/>
          <a:lstStyle/>
          <a:p>
            <a:pPr marL="0" indent="0" algn="l">
              <a:buNone/>
            </a:pPr>
            <a:r>
              <a:rPr lang="en-US" sz="1400" b="1" dirty="0">
                <a:solidFill>
                  <a:schemeClr val="accent5"/>
                </a:solidFill>
              </a:rPr>
              <a:t>Cảnh báo thông điệp</a:t>
            </a:r>
            <a:endParaRPr lang="en-US" sz="1400" dirty="0"/>
          </a:p>
        </p:txBody>
      </p:sp>
      <p:sp>
        <p:nvSpPr>
          <p:cNvPr id="22" name="Noi dung canh bao"/>
          <p:cNvSpPr txBox="1"/>
          <p:nvPr/>
        </p:nvSpPr>
        <p:spPr>
          <a:xfrm>
            <a:off x="7772400" y="4983480"/>
            <a:ext cx="3703320" cy="1051560"/>
          </a:xfrm>
          <a:prstGeom prst="rect">
            <a:avLst/>
          </a:prstGeom>
          <a:noFill/>
          <a:ln/>
        </p:spPr>
        <p:txBody>
          <a:bodyPr wrap="square" lIns="0" tIns="0" rIns="0" bIns="0" rtlCol="0" anchor="t"/>
          <a:lstStyle/>
          <a:p>
            <a:pPr marL="0" indent="0" algn="l">
              <a:buNone/>
            </a:pPr>
            <a:r>
              <a:rPr lang="en-US" sz="1400" dirty="0">
                <a:solidFill>
                  <a:schemeClr val="tx1"/>
                </a:solidFill>
              </a:rPr>
              <a:t>"100% tự nhiên, không chất bảo quản" trên bao bì chỉ giữ khi có kết quả kiểm nghiệm chứng minh; nếu dùng sulphite phải bỏ câu này và khai báo trên nhãn.</a:t>
            </a:r>
            <a:endParaRPr lang="en-US" sz="1400" dirty="0"/>
          </a:p>
        </p:txBody>
      </p:sp>
      <p:sp>
        <p:nvSpPr>
          <p:cNvPr id="25" name="Slide Number Placeholder 0"/>
          <p:cNvSpPr>
            <a:spLocks noGrp="1"/>
          </p:cNvSpPr>
          <p:nvPr>
            <p:ph type="sldNum" sz="quarter" idx="4294967295"/>
          </p:nvPr>
        </p:nvSpPr>
        <p:spPr>
          <a:xfrm>
            <a:off x="10972800" y="6492240"/>
            <a:ext cx="667512" cy="237744"/>
          </a:xfrm>
          <a:prstGeom prst="rect">
            <a:avLst/>
          </a:prstGeom>
          <a:extLst>
            <a:ext uri="{C572A759-6A51-4108-AA02-DFA0A04FC94B}">
              <ma14:wrappingTextBoxFlag xmlns:ma14="http://schemas.microsoft.com/office/mac/drawingml/2011/main" xmlns="" val="0"/>
            </a:ext>
          </a:extLst>
        </p:spPr>
        <p:txBody>
          <a:bodyPr/>
          <a:lstStyle>
            <a:lvl1pPr>
              <a:defRPr sz="1000">
                <a:solidFill>
                  <a:srgbClr val="5C6F66"/>
                </a:solidFill>
              </a:defRPr>
            </a:lvl1pPr>
          </a:lstStyle>
          <a:p>
            <a:pPr algn="r"/>
            <a:fld id="{F7021451-1387-4CA6-816F-3879F97B5CBC}" type="slidenum">
              <a:rPr lang="en-US" b="0"/>
              <a:t>20</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Dau cham"/>
          <p:cNvSpPr/>
          <p:nvPr/>
        </p:nvSpPr>
        <p:spPr>
          <a:xfrm>
            <a:off x="548640" y="429768"/>
            <a:ext cx="118872" cy="118872"/>
          </a:xfrm>
          <a:prstGeom prst="ellipse">
            <a:avLst/>
          </a:prstGeom>
          <a:solidFill>
            <a:schemeClr val="accent2"/>
          </a:solidFill>
          <a:ln/>
        </p:spPr>
      </p:sp>
      <p:sp>
        <p:nvSpPr>
          <p:cNvPr id="4" name="Nhan chuyen muc"/>
          <p:cNvSpPr txBox="1"/>
          <p:nvPr/>
        </p:nvSpPr>
        <p:spPr>
          <a:xfrm>
            <a:off x="777240" y="347472"/>
            <a:ext cx="6949440" cy="274320"/>
          </a:xfrm>
          <a:prstGeom prst="rect">
            <a:avLst/>
          </a:prstGeom>
          <a:noFill/>
          <a:ln/>
        </p:spPr>
        <p:txBody>
          <a:bodyPr wrap="square" lIns="0" tIns="0" rIns="0" bIns="0" rtlCol="0" anchor="ctr"/>
          <a:lstStyle/>
          <a:p>
            <a:pPr marL="0" indent="0" algn="l">
              <a:buNone/>
            </a:pPr>
            <a:r>
              <a:rPr lang="en-US" sz="1200" b="1" kern="0" spc="200" dirty="0">
                <a:solidFill>
                  <a:schemeClr val="accent1"/>
                </a:solidFill>
              </a:rPr>
              <a:t>LỘ TRÌNH</a:t>
            </a:r>
            <a:endParaRPr lang="en-US" sz="1200" dirty="0"/>
          </a:p>
        </p:txBody>
      </p:sp>
      <p:sp>
        <p:nvSpPr>
          <p:cNvPr id="5" name="Text 0"/>
          <p:cNvSpPr>
            <a:spLocks noGrp="1"/>
          </p:cNvSpPr>
          <p:nvPr>
            <p:ph type="title" idx="100" hasCustomPrompt="1"/>
          </p:nvPr>
        </p:nvSpPr>
        <p:spPr>
          <a:xfrm>
            <a:off x="548640" y="658368"/>
            <a:ext cx="11094415" cy="777240"/>
          </a:xfrm>
          <a:prstGeom prst="rect">
            <a:avLst/>
          </a:prstGeom>
          <a:noFill/>
          <a:ln/>
        </p:spPr>
        <p:txBody>
          <a:bodyPr wrap="square" lIns="0" tIns="0" rIns="0" bIns="0" rtlCol="0" anchor="ctr"/>
          <a:lstStyle/>
          <a:p>
            <a:pPr marL="0" indent="0" algn="l">
              <a:buNone/>
            </a:pPr>
            <a:r>
              <a:rPr lang="en-US" sz="3000" b="1" dirty="0">
                <a:solidFill>
                  <a:schemeClr val="tx2"/>
                </a:solidFill>
              </a:rPr>
              <a:t>Lộ trình 24 tháng theo 4 giai đoạn</a:t>
            </a:r>
            <a:endParaRPr lang="en-US" sz="3000" dirty="0"/>
          </a:p>
        </p:txBody>
      </p:sp>
      <p:sp>
        <p:nvSpPr>
          <p:cNvPr id="6" name="Dai giai doan 1"/>
          <p:cNvSpPr/>
          <p:nvPr/>
        </p:nvSpPr>
        <p:spPr>
          <a:xfrm>
            <a:off x="3401568" y="1554480"/>
            <a:ext cx="2028368" cy="329184"/>
          </a:xfrm>
          <a:prstGeom prst="rect">
            <a:avLst/>
          </a:prstGeom>
          <a:solidFill>
            <a:srgbClr val="5E9E68"/>
          </a:solidFill>
          <a:ln/>
        </p:spPr>
      </p:sp>
      <p:sp>
        <p:nvSpPr>
          <p:cNvPr id="7" name="Ten giai doan 1"/>
          <p:cNvSpPr txBox="1"/>
          <p:nvPr/>
        </p:nvSpPr>
        <p:spPr>
          <a:xfrm>
            <a:off x="3383280" y="1554480"/>
            <a:ext cx="2064944" cy="329184"/>
          </a:xfrm>
          <a:prstGeom prst="rect">
            <a:avLst/>
          </a:prstGeom>
          <a:noFill/>
          <a:ln/>
        </p:spPr>
        <p:txBody>
          <a:bodyPr wrap="square" lIns="0" tIns="0" rIns="0" bIns="0" rtlCol="0" anchor="ctr"/>
          <a:lstStyle/>
          <a:p>
            <a:pPr marL="0" indent="0" algn="ctr">
              <a:buNone/>
            </a:pPr>
            <a:r>
              <a:rPr lang="en-US" sz="1200" b="1" dirty="0">
                <a:solidFill>
                  <a:srgbClr val="1B2B24"/>
                </a:solidFill>
              </a:rPr>
              <a:t>GĐ1 · Thu mua</a:t>
            </a:r>
            <a:endParaRPr lang="en-US" sz="1200" dirty="0"/>
          </a:p>
        </p:txBody>
      </p:sp>
      <p:sp>
        <p:nvSpPr>
          <p:cNvPr id="8" name="Dai giai doan 2"/>
          <p:cNvSpPr/>
          <p:nvPr/>
        </p:nvSpPr>
        <p:spPr>
          <a:xfrm>
            <a:off x="5466512" y="1554480"/>
            <a:ext cx="2028368" cy="329184"/>
          </a:xfrm>
          <a:prstGeom prst="rect">
            <a:avLst/>
          </a:prstGeom>
          <a:solidFill>
            <a:srgbClr val="1D4B3A"/>
          </a:solidFill>
          <a:ln/>
        </p:spPr>
      </p:sp>
      <p:sp>
        <p:nvSpPr>
          <p:cNvPr id="9" name="Ten giai doan 2"/>
          <p:cNvSpPr txBox="1"/>
          <p:nvPr/>
        </p:nvSpPr>
        <p:spPr>
          <a:xfrm>
            <a:off x="5448224" y="1554480"/>
            <a:ext cx="2064944" cy="329184"/>
          </a:xfrm>
          <a:prstGeom prst="rect">
            <a:avLst/>
          </a:prstGeom>
          <a:noFill/>
          <a:ln/>
        </p:spPr>
        <p:txBody>
          <a:bodyPr wrap="square" lIns="0" tIns="0" rIns="0" bIns="0" rtlCol="0" anchor="ctr"/>
          <a:lstStyle/>
          <a:p>
            <a:pPr marL="0" indent="0" algn="ctr">
              <a:buNone/>
            </a:pPr>
            <a:r>
              <a:rPr lang="en-US" sz="1200" b="1" dirty="0">
                <a:solidFill>
                  <a:srgbClr val="FFFFFF"/>
                </a:solidFill>
              </a:rPr>
              <a:t>GĐ2 · Chế biến</a:t>
            </a:r>
            <a:endParaRPr lang="en-US" sz="1200" dirty="0"/>
          </a:p>
        </p:txBody>
      </p:sp>
      <p:sp>
        <p:nvSpPr>
          <p:cNvPr id="10" name="Dai giai doan 3"/>
          <p:cNvSpPr/>
          <p:nvPr/>
        </p:nvSpPr>
        <p:spPr>
          <a:xfrm>
            <a:off x="7531456" y="1554480"/>
            <a:ext cx="2028368" cy="329184"/>
          </a:xfrm>
          <a:prstGeom prst="rect">
            <a:avLst/>
          </a:prstGeom>
          <a:solidFill>
            <a:srgbClr val="E4A92A"/>
          </a:solidFill>
          <a:ln/>
        </p:spPr>
      </p:sp>
      <p:sp>
        <p:nvSpPr>
          <p:cNvPr id="11" name="Ten giai doan 3"/>
          <p:cNvSpPr txBox="1"/>
          <p:nvPr/>
        </p:nvSpPr>
        <p:spPr>
          <a:xfrm>
            <a:off x="7513168" y="1554480"/>
            <a:ext cx="2064944" cy="329184"/>
          </a:xfrm>
          <a:prstGeom prst="rect">
            <a:avLst/>
          </a:prstGeom>
          <a:noFill/>
          <a:ln/>
        </p:spPr>
        <p:txBody>
          <a:bodyPr wrap="square" lIns="0" tIns="0" rIns="0" bIns="0" rtlCol="0" anchor="ctr"/>
          <a:lstStyle/>
          <a:p>
            <a:pPr marL="0" indent="0" algn="ctr">
              <a:buNone/>
            </a:pPr>
            <a:r>
              <a:rPr lang="en-US" sz="1200" b="1" dirty="0">
                <a:solidFill>
                  <a:srgbClr val="1B2B24"/>
                </a:solidFill>
              </a:rPr>
              <a:t>GĐ3 · Sản xuất đạt chuẩn</a:t>
            </a:r>
            <a:endParaRPr lang="en-US" sz="1200" dirty="0"/>
          </a:p>
        </p:txBody>
      </p:sp>
      <p:sp>
        <p:nvSpPr>
          <p:cNvPr id="12" name="Dai giai doan 4"/>
          <p:cNvSpPr/>
          <p:nvPr/>
        </p:nvSpPr>
        <p:spPr>
          <a:xfrm>
            <a:off x="9596399" y="1554480"/>
            <a:ext cx="2028368" cy="329184"/>
          </a:xfrm>
          <a:prstGeom prst="rect">
            <a:avLst/>
          </a:prstGeom>
          <a:solidFill>
            <a:srgbClr val="7A3E8F"/>
          </a:solidFill>
          <a:ln/>
        </p:spPr>
      </p:sp>
      <p:sp>
        <p:nvSpPr>
          <p:cNvPr id="13" name="Ten giai doan 4"/>
          <p:cNvSpPr txBox="1"/>
          <p:nvPr/>
        </p:nvSpPr>
        <p:spPr>
          <a:xfrm>
            <a:off x="9578111" y="1554480"/>
            <a:ext cx="2064944" cy="329184"/>
          </a:xfrm>
          <a:prstGeom prst="rect">
            <a:avLst/>
          </a:prstGeom>
          <a:noFill/>
          <a:ln/>
        </p:spPr>
        <p:txBody>
          <a:bodyPr wrap="square" lIns="0" tIns="0" rIns="0" bIns="0" rtlCol="0" anchor="ctr"/>
          <a:lstStyle/>
          <a:p>
            <a:pPr marL="0" indent="0" algn="ctr">
              <a:buNone/>
            </a:pPr>
            <a:r>
              <a:rPr lang="en-US" sz="1200" b="1" dirty="0">
                <a:solidFill>
                  <a:srgbClr val="FFFFFF"/>
                </a:solidFill>
              </a:rPr>
              <a:t>GĐ4 · Xuất khẩu</a:t>
            </a:r>
            <a:endParaRPr lang="en-US" sz="1200" dirty="0"/>
          </a:p>
        </p:txBody>
      </p:sp>
      <p:sp>
        <p:nvSpPr>
          <p:cNvPr id="14" name="Qui 1"/>
          <p:cNvSpPr/>
          <p:nvPr/>
        </p:nvSpPr>
        <p:spPr>
          <a:xfrm>
            <a:off x="3401568" y="1920240"/>
            <a:ext cx="995896" cy="310896"/>
          </a:xfrm>
          <a:prstGeom prst="rect">
            <a:avLst/>
          </a:prstGeom>
          <a:solidFill>
            <a:schemeClr val="accent1"/>
          </a:solidFill>
          <a:ln/>
        </p:spPr>
      </p:sp>
      <p:sp>
        <p:nvSpPr>
          <p:cNvPr id="15" name="Ten qui 1"/>
          <p:cNvSpPr txBox="1"/>
          <p:nvPr/>
        </p:nvSpPr>
        <p:spPr>
          <a:xfrm>
            <a:off x="3383280" y="1920240"/>
            <a:ext cx="1032472" cy="310896"/>
          </a:xfrm>
          <a:prstGeom prst="rect">
            <a:avLst/>
          </a:prstGeom>
          <a:noFill/>
          <a:ln/>
        </p:spPr>
        <p:txBody>
          <a:bodyPr wrap="square" lIns="0" tIns="0" rIns="0" bIns="0" rtlCol="0" anchor="ctr"/>
          <a:lstStyle/>
          <a:p>
            <a:pPr marL="0" indent="0" algn="ctr">
              <a:buNone/>
            </a:pPr>
            <a:r>
              <a:rPr lang="en-US" sz="1200" b="1" dirty="0">
                <a:solidFill>
                  <a:schemeClr val="bg1"/>
                </a:solidFill>
              </a:rPr>
              <a:t>Q4/2026</a:t>
            </a:r>
            <a:endParaRPr lang="en-US" sz="1200" dirty="0"/>
          </a:p>
        </p:txBody>
      </p:sp>
      <p:sp>
        <p:nvSpPr>
          <p:cNvPr id="16" name="Qui 2"/>
          <p:cNvSpPr/>
          <p:nvPr/>
        </p:nvSpPr>
        <p:spPr>
          <a:xfrm>
            <a:off x="4434040" y="1920240"/>
            <a:ext cx="995896" cy="310896"/>
          </a:xfrm>
          <a:prstGeom prst="rect">
            <a:avLst/>
          </a:prstGeom>
          <a:solidFill>
            <a:schemeClr val="accent1"/>
          </a:solidFill>
          <a:ln/>
        </p:spPr>
      </p:sp>
      <p:sp>
        <p:nvSpPr>
          <p:cNvPr id="17" name="Ten qui 2"/>
          <p:cNvSpPr txBox="1"/>
          <p:nvPr/>
        </p:nvSpPr>
        <p:spPr>
          <a:xfrm>
            <a:off x="4415752" y="1920240"/>
            <a:ext cx="1032472" cy="310896"/>
          </a:xfrm>
          <a:prstGeom prst="rect">
            <a:avLst/>
          </a:prstGeom>
          <a:noFill/>
          <a:ln/>
        </p:spPr>
        <p:txBody>
          <a:bodyPr wrap="square" lIns="0" tIns="0" rIns="0" bIns="0" rtlCol="0" anchor="ctr"/>
          <a:lstStyle/>
          <a:p>
            <a:pPr marL="0" indent="0" algn="ctr">
              <a:buNone/>
            </a:pPr>
            <a:r>
              <a:rPr lang="en-US" sz="1200" b="1" dirty="0">
                <a:solidFill>
                  <a:schemeClr val="bg1"/>
                </a:solidFill>
              </a:rPr>
              <a:t>Q1/2027</a:t>
            </a:r>
            <a:endParaRPr lang="en-US" sz="1200" dirty="0"/>
          </a:p>
        </p:txBody>
      </p:sp>
      <p:sp>
        <p:nvSpPr>
          <p:cNvPr id="18" name="Qui 3"/>
          <p:cNvSpPr/>
          <p:nvPr/>
        </p:nvSpPr>
        <p:spPr>
          <a:xfrm>
            <a:off x="5466512" y="1920240"/>
            <a:ext cx="995896" cy="310896"/>
          </a:xfrm>
          <a:prstGeom prst="rect">
            <a:avLst/>
          </a:prstGeom>
          <a:solidFill>
            <a:schemeClr val="accent1"/>
          </a:solidFill>
          <a:ln/>
        </p:spPr>
      </p:sp>
      <p:sp>
        <p:nvSpPr>
          <p:cNvPr id="19" name="Ten qui 3"/>
          <p:cNvSpPr txBox="1"/>
          <p:nvPr/>
        </p:nvSpPr>
        <p:spPr>
          <a:xfrm>
            <a:off x="5448224" y="1920240"/>
            <a:ext cx="1032472" cy="310896"/>
          </a:xfrm>
          <a:prstGeom prst="rect">
            <a:avLst/>
          </a:prstGeom>
          <a:noFill/>
          <a:ln/>
        </p:spPr>
        <p:txBody>
          <a:bodyPr wrap="square" lIns="0" tIns="0" rIns="0" bIns="0" rtlCol="0" anchor="ctr"/>
          <a:lstStyle/>
          <a:p>
            <a:pPr marL="0" indent="0" algn="ctr">
              <a:buNone/>
            </a:pPr>
            <a:r>
              <a:rPr lang="en-US" sz="1200" b="1" dirty="0">
                <a:solidFill>
                  <a:schemeClr val="bg1"/>
                </a:solidFill>
              </a:rPr>
              <a:t>Q2/2027</a:t>
            </a:r>
            <a:endParaRPr lang="en-US" sz="1200" dirty="0"/>
          </a:p>
        </p:txBody>
      </p:sp>
      <p:sp>
        <p:nvSpPr>
          <p:cNvPr id="20" name="Qui 4"/>
          <p:cNvSpPr/>
          <p:nvPr/>
        </p:nvSpPr>
        <p:spPr>
          <a:xfrm>
            <a:off x="6498984" y="1920240"/>
            <a:ext cx="995896" cy="310896"/>
          </a:xfrm>
          <a:prstGeom prst="rect">
            <a:avLst/>
          </a:prstGeom>
          <a:solidFill>
            <a:schemeClr val="accent1"/>
          </a:solidFill>
          <a:ln/>
        </p:spPr>
      </p:sp>
      <p:sp>
        <p:nvSpPr>
          <p:cNvPr id="21" name="Ten qui 4"/>
          <p:cNvSpPr txBox="1"/>
          <p:nvPr/>
        </p:nvSpPr>
        <p:spPr>
          <a:xfrm>
            <a:off x="6480696" y="1920240"/>
            <a:ext cx="1032472" cy="310896"/>
          </a:xfrm>
          <a:prstGeom prst="rect">
            <a:avLst/>
          </a:prstGeom>
          <a:noFill/>
          <a:ln/>
        </p:spPr>
        <p:txBody>
          <a:bodyPr wrap="square" lIns="0" tIns="0" rIns="0" bIns="0" rtlCol="0" anchor="ctr"/>
          <a:lstStyle/>
          <a:p>
            <a:pPr marL="0" indent="0" algn="ctr">
              <a:buNone/>
            </a:pPr>
            <a:r>
              <a:rPr lang="en-US" sz="1200" b="1" dirty="0">
                <a:solidFill>
                  <a:schemeClr val="bg1"/>
                </a:solidFill>
              </a:rPr>
              <a:t>Q3/2027</a:t>
            </a:r>
            <a:endParaRPr lang="en-US" sz="1200" dirty="0"/>
          </a:p>
        </p:txBody>
      </p:sp>
      <p:sp>
        <p:nvSpPr>
          <p:cNvPr id="22" name="Qui 5"/>
          <p:cNvSpPr/>
          <p:nvPr/>
        </p:nvSpPr>
        <p:spPr>
          <a:xfrm>
            <a:off x="7531456" y="1920240"/>
            <a:ext cx="995896" cy="310896"/>
          </a:xfrm>
          <a:prstGeom prst="rect">
            <a:avLst/>
          </a:prstGeom>
          <a:solidFill>
            <a:schemeClr val="accent1"/>
          </a:solidFill>
          <a:ln/>
        </p:spPr>
      </p:sp>
      <p:sp>
        <p:nvSpPr>
          <p:cNvPr id="23" name="Ten qui 5"/>
          <p:cNvSpPr txBox="1"/>
          <p:nvPr/>
        </p:nvSpPr>
        <p:spPr>
          <a:xfrm>
            <a:off x="7513168" y="1920240"/>
            <a:ext cx="1032472" cy="310896"/>
          </a:xfrm>
          <a:prstGeom prst="rect">
            <a:avLst/>
          </a:prstGeom>
          <a:noFill/>
          <a:ln/>
        </p:spPr>
        <p:txBody>
          <a:bodyPr wrap="square" lIns="0" tIns="0" rIns="0" bIns="0" rtlCol="0" anchor="ctr"/>
          <a:lstStyle/>
          <a:p>
            <a:pPr marL="0" indent="0" algn="ctr">
              <a:buNone/>
            </a:pPr>
            <a:r>
              <a:rPr lang="en-US" sz="1200" b="1" dirty="0">
                <a:solidFill>
                  <a:schemeClr val="bg1"/>
                </a:solidFill>
              </a:rPr>
              <a:t>Q4/2027</a:t>
            </a:r>
            <a:endParaRPr lang="en-US" sz="1200" dirty="0"/>
          </a:p>
        </p:txBody>
      </p:sp>
      <p:sp>
        <p:nvSpPr>
          <p:cNvPr id="24" name="Qui 6"/>
          <p:cNvSpPr/>
          <p:nvPr/>
        </p:nvSpPr>
        <p:spPr>
          <a:xfrm>
            <a:off x="8563928" y="1920240"/>
            <a:ext cx="995896" cy="310896"/>
          </a:xfrm>
          <a:prstGeom prst="rect">
            <a:avLst/>
          </a:prstGeom>
          <a:solidFill>
            <a:schemeClr val="accent1"/>
          </a:solidFill>
          <a:ln/>
        </p:spPr>
      </p:sp>
      <p:sp>
        <p:nvSpPr>
          <p:cNvPr id="25" name="Ten qui 6"/>
          <p:cNvSpPr txBox="1"/>
          <p:nvPr/>
        </p:nvSpPr>
        <p:spPr>
          <a:xfrm>
            <a:off x="8545640" y="1920240"/>
            <a:ext cx="1032472" cy="310896"/>
          </a:xfrm>
          <a:prstGeom prst="rect">
            <a:avLst/>
          </a:prstGeom>
          <a:noFill/>
          <a:ln/>
        </p:spPr>
        <p:txBody>
          <a:bodyPr wrap="square" lIns="0" tIns="0" rIns="0" bIns="0" rtlCol="0" anchor="ctr"/>
          <a:lstStyle/>
          <a:p>
            <a:pPr marL="0" indent="0" algn="ctr">
              <a:buNone/>
            </a:pPr>
            <a:r>
              <a:rPr lang="en-US" sz="1200" b="1" dirty="0">
                <a:solidFill>
                  <a:schemeClr val="bg1"/>
                </a:solidFill>
              </a:rPr>
              <a:t>Q1/2028</a:t>
            </a:r>
            <a:endParaRPr lang="en-US" sz="1200" dirty="0"/>
          </a:p>
        </p:txBody>
      </p:sp>
      <p:sp>
        <p:nvSpPr>
          <p:cNvPr id="26" name="Qui 7"/>
          <p:cNvSpPr/>
          <p:nvPr/>
        </p:nvSpPr>
        <p:spPr>
          <a:xfrm>
            <a:off x="9596399" y="1920240"/>
            <a:ext cx="995896" cy="310896"/>
          </a:xfrm>
          <a:prstGeom prst="rect">
            <a:avLst/>
          </a:prstGeom>
          <a:solidFill>
            <a:schemeClr val="accent1"/>
          </a:solidFill>
          <a:ln/>
        </p:spPr>
      </p:sp>
      <p:sp>
        <p:nvSpPr>
          <p:cNvPr id="27" name="Ten qui 7"/>
          <p:cNvSpPr txBox="1"/>
          <p:nvPr/>
        </p:nvSpPr>
        <p:spPr>
          <a:xfrm>
            <a:off x="9578111" y="1920240"/>
            <a:ext cx="1032472" cy="310896"/>
          </a:xfrm>
          <a:prstGeom prst="rect">
            <a:avLst/>
          </a:prstGeom>
          <a:noFill/>
          <a:ln/>
        </p:spPr>
        <p:txBody>
          <a:bodyPr wrap="square" lIns="0" tIns="0" rIns="0" bIns="0" rtlCol="0" anchor="ctr"/>
          <a:lstStyle/>
          <a:p>
            <a:pPr marL="0" indent="0" algn="ctr">
              <a:buNone/>
            </a:pPr>
            <a:r>
              <a:rPr lang="en-US" sz="1200" b="1" dirty="0">
                <a:solidFill>
                  <a:schemeClr val="bg1"/>
                </a:solidFill>
              </a:rPr>
              <a:t>Q2/2028</a:t>
            </a:r>
            <a:endParaRPr lang="en-US" sz="1200" dirty="0"/>
          </a:p>
        </p:txBody>
      </p:sp>
      <p:sp>
        <p:nvSpPr>
          <p:cNvPr id="28" name="Qui 8"/>
          <p:cNvSpPr/>
          <p:nvPr/>
        </p:nvSpPr>
        <p:spPr>
          <a:xfrm>
            <a:off x="10628871" y="1920240"/>
            <a:ext cx="995896" cy="310896"/>
          </a:xfrm>
          <a:prstGeom prst="rect">
            <a:avLst/>
          </a:prstGeom>
          <a:solidFill>
            <a:schemeClr val="accent1"/>
          </a:solidFill>
          <a:ln/>
        </p:spPr>
      </p:sp>
      <p:sp>
        <p:nvSpPr>
          <p:cNvPr id="29" name="Ten qui 8"/>
          <p:cNvSpPr txBox="1"/>
          <p:nvPr/>
        </p:nvSpPr>
        <p:spPr>
          <a:xfrm>
            <a:off x="10610583" y="1920240"/>
            <a:ext cx="1032472" cy="310896"/>
          </a:xfrm>
          <a:prstGeom prst="rect">
            <a:avLst/>
          </a:prstGeom>
          <a:noFill/>
          <a:ln/>
        </p:spPr>
        <p:txBody>
          <a:bodyPr wrap="square" lIns="0" tIns="0" rIns="0" bIns="0" rtlCol="0" anchor="ctr"/>
          <a:lstStyle/>
          <a:p>
            <a:pPr marL="0" indent="0" algn="ctr">
              <a:buNone/>
            </a:pPr>
            <a:r>
              <a:rPr lang="en-US" sz="1200" b="1" dirty="0">
                <a:solidFill>
                  <a:schemeClr val="bg1"/>
                </a:solidFill>
              </a:rPr>
              <a:t>Q3/2028</a:t>
            </a:r>
            <a:endParaRPr lang="en-US" sz="1200" dirty="0"/>
          </a:p>
        </p:txBody>
      </p:sp>
      <p:sp>
        <p:nvSpPr>
          <p:cNvPr id="30" name="Dai hang 1"/>
          <p:cNvSpPr/>
          <p:nvPr/>
        </p:nvSpPr>
        <p:spPr>
          <a:xfrm>
            <a:off x="548640" y="2304288"/>
            <a:ext cx="11094415" cy="411480"/>
          </a:xfrm>
          <a:prstGeom prst="rect">
            <a:avLst/>
          </a:prstGeom>
          <a:solidFill>
            <a:schemeClr val="bg2"/>
          </a:solidFill>
          <a:ln/>
        </p:spPr>
      </p:sp>
      <p:sp>
        <p:nvSpPr>
          <p:cNvPr id="31" name="Nhan hang 1"/>
          <p:cNvSpPr txBox="1"/>
          <p:nvPr/>
        </p:nvSpPr>
        <p:spPr>
          <a:xfrm>
            <a:off x="685800" y="2304288"/>
            <a:ext cx="2697480" cy="411480"/>
          </a:xfrm>
          <a:prstGeom prst="rect">
            <a:avLst/>
          </a:prstGeom>
          <a:noFill/>
          <a:ln/>
        </p:spPr>
        <p:txBody>
          <a:bodyPr wrap="square" lIns="0" tIns="0" rIns="0" bIns="0" rtlCol="0" anchor="ctr"/>
          <a:lstStyle/>
          <a:p>
            <a:pPr marL="0" indent="0" algn="l">
              <a:buNone/>
            </a:pPr>
            <a:r>
              <a:rPr lang="en-US" sz="1400" b="1" dirty="0">
                <a:solidFill>
                  <a:schemeClr val="accent1"/>
                </a:solidFill>
              </a:rPr>
              <a:t>Pháp lý, nhãn hiệu, GS1</a:t>
            </a:r>
            <a:endParaRPr lang="en-US" sz="1400" dirty="0"/>
          </a:p>
        </p:txBody>
      </p:sp>
      <p:sp>
        <p:nvSpPr>
          <p:cNvPr id="32" name="Nhan hang 2"/>
          <p:cNvSpPr txBox="1"/>
          <p:nvPr/>
        </p:nvSpPr>
        <p:spPr>
          <a:xfrm>
            <a:off x="685800" y="2761488"/>
            <a:ext cx="2697480" cy="411480"/>
          </a:xfrm>
          <a:prstGeom prst="rect">
            <a:avLst/>
          </a:prstGeom>
          <a:noFill/>
          <a:ln/>
        </p:spPr>
        <p:txBody>
          <a:bodyPr wrap="square" lIns="0" tIns="0" rIns="0" bIns="0" rtlCol="0" anchor="ctr"/>
          <a:lstStyle/>
          <a:p>
            <a:pPr marL="0" indent="0" algn="l">
              <a:buNone/>
            </a:pPr>
            <a:r>
              <a:rPr lang="en-US" sz="1400" b="1" dirty="0">
                <a:solidFill>
                  <a:schemeClr val="accent1"/>
                </a:solidFill>
              </a:rPr>
              <a:t>Thu mua, nhà vườn, TXNG</a:t>
            </a:r>
            <a:endParaRPr lang="en-US" sz="1400" dirty="0"/>
          </a:p>
        </p:txBody>
      </p:sp>
      <p:sp>
        <p:nvSpPr>
          <p:cNvPr id="33" name="Dai hang 3"/>
          <p:cNvSpPr/>
          <p:nvPr/>
        </p:nvSpPr>
        <p:spPr>
          <a:xfrm>
            <a:off x="548640" y="3218688"/>
            <a:ext cx="11094415" cy="411480"/>
          </a:xfrm>
          <a:prstGeom prst="rect">
            <a:avLst/>
          </a:prstGeom>
          <a:solidFill>
            <a:schemeClr val="bg2"/>
          </a:solidFill>
          <a:ln/>
        </p:spPr>
      </p:sp>
      <p:sp>
        <p:nvSpPr>
          <p:cNvPr id="34" name="Nhan hang 3"/>
          <p:cNvSpPr txBox="1"/>
          <p:nvPr/>
        </p:nvSpPr>
        <p:spPr>
          <a:xfrm>
            <a:off x="685800" y="3218688"/>
            <a:ext cx="2697480" cy="411480"/>
          </a:xfrm>
          <a:prstGeom prst="rect">
            <a:avLst/>
          </a:prstGeom>
          <a:noFill/>
          <a:ln/>
        </p:spPr>
        <p:txBody>
          <a:bodyPr wrap="square" lIns="0" tIns="0" rIns="0" bIns="0" rtlCol="0" anchor="ctr"/>
          <a:lstStyle/>
          <a:p>
            <a:pPr marL="0" indent="0" algn="l">
              <a:buNone/>
            </a:pPr>
            <a:r>
              <a:rPr lang="en-US" sz="1400" b="1" dirty="0">
                <a:solidFill>
                  <a:schemeClr val="accent1"/>
                </a:solidFill>
              </a:rPr>
              <a:t>Gia công liên kết</a:t>
            </a:r>
            <a:endParaRPr lang="en-US" sz="1400" dirty="0"/>
          </a:p>
        </p:txBody>
      </p:sp>
      <p:sp>
        <p:nvSpPr>
          <p:cNvPr id="35" name="Nhan hang 4"/>
          <p:cNvSpPr txBox="1"/>
          <p:nvPr/>
        </p:nvSpPr>
        <p:spPr>
          <a:xfrm>
            <a:off x="685800" y="3675888"/>
            <a:ext cx="2697480" cy="411480"/>
          </a:xfrm>
          <a:prstGeom prst="rect">
            <a:avLst/>
          </a:prstGeom>
          <a:noFill/>
          <a:ln/>
        </p:spPr>
        <p:txBody>
          <a:bodyPr wrap="square" lIns="0" tIns="0" rIns="0" bIns="0" rtlCol="0" anchor="ctr"/>
          <a:lstStyle/>
          <a:p>
            <a:pPr marL="0" indent="0" algn="l">
              <a:buNone/>
            </a:pPr>
            <a:r>
              <a:rPr lang="en-US" sz="1400" b="1" dirty="0">
                <a:solidFill>
                  <a:schemeClr val="accent1"/>
                </a:solidFill>
              </a:rPr>
              <a:t>Xưởng và dây chuyền</a:t>
            </a:r>
            <a:endParaRPr lang="en-US" sz="1400" dirty="0"/>
          </a:p>
        </p:txBody>
      </p:sp>
      <p:sp>
        <p:nvSpPr>
          <p:cNvPr id="36" name="Dai hang 5"/>
          <p:cNvSpPr/>
          <p:nvPr/>
        </p:nvSpPr>
        <p:spPr>
          <a:xfrm>
            <a:off x="548640" y="4133088"/>
            <a:ext cx="11094415" cy="411480"/>
          </a:xfrm>
          <a:prstGeom prst="rect">
            <a:avLst/>
          </a:prstGeom>
          <a:solidFill>
            <a:schemeClr val="bg2"/>
          </a:solidFill>
          <a:ln/>
        </p:spPr>
      </p:sp>
      <p:sp>
        <p:nvSpPr>
          <p:cNvPr id="37" name="Nhan hang 5"/>
          <p:cNvSpPr txBox="1"/>
          <p:nvPr/>
        </p:nvSpPr>
        <p:spPr>
          <a:xfrm>
            <a:off x="685800" y="4133088"/>
            <a:ext cx="2697480" cy="411480"/>
          </a:xfrm>
          <a:prstGeom prst="rect">
            <a:avLst/>
          </a:prstGeom>
          <a:noFill/>
          <a:ln/>
        </p:spPr>
        <p:txBody>
          <a:bodyPr wrap="square" lIns="0" tIns="0" rIns="0" bIns="0" rtlCol="0" anchor="ctr"/>
          <a:lstStyle/>
          <a:p>
            <a:pPr marL="0" indent="0" algn="l">
              <a:buNone/>
            </a:pPr>
            <a:r>
              <a:rPr lang="en-US" sz="1400" b="1" dirty="0">
                <a:solidFill>
                  <a:schemeClr val="accent1"/>
                </a:solidFill>
              </a:rPr>
              <a:t>Bộ máy và nhân sự</a:t>
            </a:r>
            <a:endParaRPr lang="en-US" sz="1400" dirty="0"/>
          </a:p>
        </p:txBody>
      </p:sp>
      <p:sp>
        <p:nvSpPr>
          <p:cNvPr id="38" name="Nhan hang 6"/>
          <p:cNvSpPr txBox="1"/>
          <p:nvPr/>
        </p:nvSpPr>
        <p:spPr>
          <a:xfrm>
            <a:off x="685800" y="4590288"/>
            <a:ext cx="2697480" cy="411480"/>
          </a:xfrm>
          <a:prstGeom prst="rect">
            <a:avLst/>
          </a:prstGeom>
          <a:noFill/>
          <a:ln/>
        </p:spPr>
        <p:txBody>
          <a:bodyPr wrap="square" lIns="0" tIns="0" rIns="0" bIns="0" rtlCol="0" anchor="ctr"/>
          <a:lstStyle/>
          <a:p>
            <a:pPr marL="0" indent="0" algn="l">
              <a:buNone/>
            </a:pPr>
            <a:r>
              <a:rPr lang="en-US" sz="1400" b="1" dirty="0">
                <a:solidFill>
                  <a:schemeClr val="accent1"/>
                </a:solidFill>
              </a:rPr>
              <a:t>ATTP, HACCP, ISO 22000</a:t>
            </a:r>
            <a:endParaRPr lang="en-US" sz="1400" dirty="0"/>
          </a:p>
        </p:txBody>
      </p:sp>
      <p:sp>
        <p:nvSpPr>
          <p:cNvPr id="39" name="Dai hang 7"/>
          <p:cNvSpPr/>
          <p:nvPr/>
        </p:nvSpPr>
        <p:spPr>
          <a:xfrm>
            <a:off x="548640" y="5047488"/>
            <a:ext cx="11094415" cy="411480"/>
          </a:xfrm>
          <a:prstGeom prst="rect">
            <a:avLst/>
          </a:prstGeom>
          <a:solidFill>
            <a:schemeClr val="bg2"/>
          </a:solidFill>
          <a:ln/>
        </p:spPr>
      </p:sp>
      <p:sp>
        <p:nvSpPr>
          <p:cNvPr id="40" name="Nhan hang 7"/>
          <p:cNvSpPr txBox="1"/>
          <p:nvPr/>
        </p:nvSpPr>
        <p:spPr>
          <a:xfrm>
            <a:off x="685800" y="5047488"/>
            <a:ext cx="2697480" cy="411480"/>
          </a:xfrm>
          <a:prstGeom prst="rect">
            <a:avLst/>
          </a:prstGeom>
          <a:noFill/>
          <a:ln/>
        </p:spPr>
        <p:txBody>
          <a:bodyPr wrap="square" lIns="0" tIns="0" rIns="0" bIns="0" rtlCol="0" anchor="ctr"/>
          <a:lstStyle/>
          <a:p>
            <a:pPr marL="0" indent="0" algn="l">
              <a:buNone/>
            </a:pPr>
            <a:r>
              <a:rPr lang="en-US" sz="1400" b="1" dirty="0">
                <a:solidFill>
                  <a:schemeClr val="accent1"/>
                </a:solidFill>
              </a:rPr>
              <a:t>Trung Quốc (GACC)</a:t>
            </a:r>
            <a:endParaRPr lang="en-US" sz="1400" dirty="0"/>
          </a:p>
        </p:txBody>
      </p:sp>
      <p:sp>
        <p:nvSpPr>
          <p:cNvPr id="41" name="Nhan hang 8"/>
          <p:cNvSpPr txBox="1"/>
          <p:nvPr/>
        </p:nvSpPr>
        <p:spPr>
          <a:xfrm>
            <a:off x="685800" y="5504688"/>
            <a:ext cx="2697480" cy="411480"/>
          </a:xfrm>
          <a:prstGeom prst="rect">
            <a:avLst/>
          </a:prstGeom>
          <a:noFill/>
          <a:ln/>
        </p:spPr>
        <p:txBody>
          <a:bodyPr wrap="square" lIns="0" tIns="0" rIns="0" bIns="0" rtlCol="0" anchor="ctr"/>
          <a:lstStyle/>
          <a:p>
            <a:pPr marL="0" indent="0" algn="l">
              <a:buNone/>
            </a:pPr>
            <a:r>
              <a:rPr lang="en-US" sz="1400" b="1" dirty="0">
                <a:solidFill>
                  <a:schemeClr val="accent1"/>
                </a:solidFill>
              </a:rPr>
              <a:t>BRCGS/FSSC 22000 và EU</a:t>
            </a:r>
            <a:endParaRPr lang="en-US" sz="1400" dirty="0"/>
          </a:p>
        </p:txBody>
      </p:sp>
      <p:sp>
        <p:nvSpPr>
          <p:cNvPr id="42" name="Luoi 1"/>
          <p:cNvSpPr/>
          <p:nvPr/>
        </p:nvSpPr>
        <p:spPr>
          <a:xfrm>
            <a:off x="4415752" y="2304288"/>
            <a:ext cx="0" cy="3611880"/>
          </a:xfrm>
          <a:prstGeom prst="line">
            <a:avLst/>
          </a:prstGeom>
          <a:noFill/>
          <a:ln w="6350">
            <a:solidFill>
              <a:srgbClr val="D5DED8"/>
            </a:solidFill>
            <a:prstDash val="solid"/>
          </a:ln>
        </p:spPr>
      </p:sp>
      <p:sp>
        <p:nvSpPr>
          <p:cNvPr id="43" name="Luoi 2"/>
          <p:cNvSpPr/>
          <p:nvPr/>
        </p:nvSpPr>
        <p:spPr>
          <a:xfrm>
            <a:off x="5448224" y="2304288"/>
            <a:ext cx="0" cy="3611880"/>
          </a:xfrm>
          <a:prstGeom prst="line">
            <a:avLst/>
          </a:prstGeom>
          <a:noFill/>
          <a:ln w="6350">
            <a:solidFill>
              <a:srgbClr val="D5DED8"/>
            </a:solidFill>
            <a:prstDash val="solid"/>
          </a:ln>
        </p:spPr>
      </p:sp>
      <p:sp>
        <p:nvSpPr>
          <p:cNvPr id="44" name="Luoi 3"/>
          <p:cNvSpPr/>
          <p:nvPr/>
        </p:nvSpPr>
        <p:spPr>
          <a:xfrm>
            <a:off x="6480696" y="2304288"/>
            <a:ext cx="0" cy="3611880"/>
          </a:xfrm>
          <a:prstGeom prst="line">
            <a:avLst/>
          </a:prstGeom>
          <a:noFill/>
          <a:ln w="6350">
            <a:solidFill>
              <a:srgbClr val="D5DED8"/>
            </a:solidFill>
            <a:prstDash val="solid"/>
          </a:ln>
        </p:spPr>
      </p:sp>
      <p:sp>
        <p:nvSpPr>
          <p:cNvPr id="45" name="Luoi 4"/>
          <p:cNvSpPr/>
          <p:nvPr/>
        </p:nvSpPr>
        <p:spPr>
          <a:xfrm>
            <a:off x="7513168" y="2304288"/>
            <a:ext cx="0" cy="3611880"/>
          </a:xfrm>
          <a:prstGeom prst="line">
            <a:avLst/>
          </a:prstGeom>
          <a:noFill/>
          <a:ln w="6350">
            <a:solidFill>
              <a:srgbClr val="D5DED8"/>
            </a:solidFill>
            <a:prstDash val="solid"/>
          </a:ln>
        </p:spPr>
      </p:sp>
      <p:sp>
        <p:nvSpPr>
          <p:cNvPr id="46" name="Luoi 5"/>
          <p:cNvSpPr/>
          <p:nvPr/>
        </p:nvSpPr>
        <p:spPr>
          <a:xfrm>
            <a:off x="8545640" y="2304288"/>
            <a:ext cx="0" cy="3611880"/>
          </a:xfrm>
          <a:prstGeom prst="line">
            <a:avLst/>
          </a:prstGeom>
          <a:noFill/>
          <a:ln w="6350">
            <a:solidFill>
              <a:srgbClr val="D5DED8"/>
            </a:solidFill>
            <a:prstDash val="solid"/>
          </a:ln>
        </p:spPr>
      </p:sp>
      <p:sp>
        <p:nvSpPr>
          <p:cNvPr id="47" name="Luoi 6"/>
          <p:cNvSpPr/>
          <p:nvPr/>
        </p:nvSpPr>
        <p:spPr>
          <a:xfrm>
            <a:off x="9578111" y="2304288"/>
            <a:ext cx="0" cy="3611880"/>
          </a:xfrm>
          <a:prstGeom prst="line">
            <a:avLst/>
          </a:prstGeom>
          <a:noFill/>
          <a:ln w="6350">
            <a:solidFill>
              <a:srgbClr val="D5DED8"/>
            </a:solidFill>
            <a:prstDash val="solid"/>
          </a:ln>
        </p:spPr>
      </p:sp>
      <p:sp>
        <p:nvSpPr>
          <p:cNvPr id="48" name="Luoi 7"/>
          <p:cNvSpPr/>
          <p:nvPr/>
        </p:nvSpPr>
        <p:spPr>
          <a:xfrm>
            <a:off x="10610583" y="2304288"/>
            <a:ext cx="0" cy="3611880"/>
          </a:xfrm>
          <a:prstGeom prst="line">
            <a:avLst/>
          </a:prstGeom>
          <a:noFill/>
          <a:ln w="6350">
            <a:solidFill>
              <a:srgbClr val="D5DED8"/>
            </a:solidFill>
            <a:prstDash val="solid"/>
          </a:ln>
        </p:spPr>
      </p:sp>
      <p:sp>
        <p:nvSpPr>
          <p:cNvPr id="49" name="Thanh 1"/>
          <p:cNvSpPr/>
          <p:nvPr/>
        </p:nvSpPr>
        <p:spPr>
          <a:xfrm>
            <a:off x="3410712" y="2340864"/>
            <a:ext cx="2010080" cy="329184"/>
          </a:xfrm>
          <a:prstGeom prst="roundRect">
            <a:avLst>
              <a:gd name="adj" fmla="val 22222"/>
            </a:avLst>
          </a:prstGeom>
          <a:solidFill>
            <a:schemeClr val="accent1"/>
          </a:solidFill>
          <a:ln/>
        </p:spPr>
      </p:sp>
      <p:sp>
        <p:nvSpPr>
          <p:cNvPr id="50" name="Chu thanh 1"/>
          <p:cNvSpPr txBox="1"/>
          <p:nvPr/>
        </p:nvSpPr>
        <p:spPr>
          <a:xfrm>
            <a:off x="3474720" y="2340864"/>
            <a:ext cx="1882064" cy="329184"/>
          </a:xfrm>
          <a:prstGeom prst="rect">
            <a:avLst/>
          </a:prstGeom>
          <a:noFill/>
          <a:ln/>
        </p:spPr>
        <p:txBody>
          <a:bodyPr wrap="square" lIns="0" tIns="0" rIns="0" bIns="0" rtlCol="0" anchor="ctr"/>
          <a:lstStyle/>
          <a:p>
            <a:pPr marL="0" indent="0" algn="l">
              <a:buNone/>
            </a:pPr>
            <a:r>
              <a:rPr lang="en-US" sz="1200" b="1" dirty="0">
                <a:solidFill>
                  <a:schemeClr val="bg1"/>
                </a:solidFill>
              </a:rPr>
              <a:t>Hoàn thiện hồ sơ</a:t>
            </a:r>
            <a:endParaRPr lang="en-US" sz="1200" dirty="0"/>
          </a:p>
        </p:txBody>
      </p:sp>
      <p:sp>
        <p:nvSpPr>
          <p:cNvPr id="51" name="Thanh 2"/>
          <p:cNvSpPr/>
          <p:nvPr/>
        </p:nvSpPr>
        <p:spPr>
          <a:xfrm>
            <a:off x="3410712" y="2798064"/>
            <a:ext cx="6139967" cy="329184"/>
          </a:xfrm>
          <a:prstGeom prst="roundRect">
            <a:avLst>
              <a:gd name="adj" fmla="val 22222"/>
            </a:avLst>
          </a:prstGeom>
          <a:solidFill>
            <a:schemeClr val="accent4"/>
          </a:solidFill>
          <a:ln/>
        </p:spPr>
      </p:sp>
      <p:sp>
        <p:nvSpPr>
          <p:cNvPr id="52" name="Chu thanh 2"/>
          <p:cNvSpPr txBox="1"/>
          <p:nvPr/>
        </p:nvSpPr>
        <p:spPr>
          <a:xfrm>
            <a:off x="3474720" y="2798064"/>
            <a:ext cx="6011951" cy="329184"/>
          </a:xfrm>
          <a:prstGeom prst="rect">
            <a:avLst/>
          </a:prstGeom>
          <a:noFill/>
          <a:ln/>
        </p:spPr>
        <p:txBody>
          <a:bodyPr wrap="square" lIns="0" tIns="0" rIns="0" bIns="0" rtlCol="0" anchor="ctr"/>
          <a:lstStyle/>
          <a:p>
            <a:pPr marL="0" indent="0" algn="l">
              <a:buNone/>
            </a:pPr>
            <a:r>
              <a:rPr lang="en-US" sz="1200" b="1" dirty="0">
                <a:solidFill>
                  <a:schemeClr val="tx1"/>
                </a:solidFill>
              </a:rPr>
              <a:t>Thu mua từ GĐ1; chuẩn hóa vùng, nhật ký, TXNG đến GĐ3</a:t>
            </a:r>
            <a:endParaRPr lang="en-US" sz="1200" dirty="0"/>
          </a:p>
        </p:txBody>
      </p:sp>
      <p:sp>
        <p:nvSpPr>
          <p:cNvPr id="53" name="Thanh 3"/>
          <p:cNvSpPr/>
          <p:nvPr/>
        </p:nvSpPr>
        <p:spPr>
          <a:xfrm>
            <a:off x="3410712" y="3255264"/>
            <a:ext cx="3042552" cy="329184"/>
          </a:xfrm>
          <a:prstGeom prst="roundRect">
            <a:avLst>
              <a:gd name="adj" fmla="val 22222"/>
            </a:avLst>
          </a:prstGeom>
          <a:solidFill>
            <a:schemeClr val="accent2"/>
          </a:solidFill>
          <a:ln/>
        </p:spPr>
      </p:sp>
      <p:sp>
        <p:nvSpPr>
          <p:cNvPr id="54" name="Chu thanh 3"/>
          <p:cNvSpPr txBox="1"/>
          <p:nvPr/>
        </p:nvSpPr>
        <p:spPr>
          <a:xfrm>
            <a:off x="3474720" y="3255264"/>
            <a:ext cx="2914536" cy="329184"/>
          </a:xfrm>
          <a:prstGeom prst="rect">
            <a:avLst/>
          </a:prstGeom>
          <a:noFill/>
          <a:ln/>
        </p:spPr>
        <p:txBody>
          <a:bodyPr wrap="square" lIns="0" tIns="0" rIns="0" bIns="0" rtlCol="0" anchor="ctr"/>
          <a:lstStyle/>
          <a:p>
            <a:pPr marL="0" indent="0" algn="l">
              <a:buNone/>
            </a:pPr>
            <a:r>
              <a:rPr lang="en-US" sz="1200" b="1" dirty="0">
                <a:solidFill>
                  <a:schemeClr val="tx1"/>
                </a:solidFill>
              </a:rPr>
              <a:t>Gia công liên kết, lô thử</a:t>
            </a:r>
            <a:endParaRPr lang="en-US" sz="1200" dirty="0"/>
          </a:p>
        </p:txBody>
      </p:sp>
      <p:sp>
        <p:nvSpPr>
          <p:cNvPr id="55" name="Thanh 4"/>
          <p:cNvSpPr/>
          <p:nvPr/>
        </p:nvSpPr>
        <p:spPr>
          <a:xfrm>
            <a:off x="4443184" y="3712464"/>
            <a:ext cx="3042552" cy="329184"/>
          </a:xfrm>
          <a:prstGeom prst="roundRect">
            <a:avLst>
              <a:gd name="adj" fmla="val 22222"/>
            </a:avLst>
          </a:prstGeom>
          <a:solidFill>
            <a:schemeClr val="accent1"/>
          </a:solidFill>
          <a:ln/>
        </p:spPr>
      </p:sp>
      <p:sp>
        <p:nvSpPr>
          <p:cNvPr id="56" name="Chu thanh 4"/>
          <p:cNvSpPr txBox="1"/>
          <p:nvPr/>
        </p:nvSpPr>
        <p:spPr>
          <a:xfrm>
            <a:off x="4507192" y="3712464"/>
            <a:ext cx="2914536" cy="329184"/>
          </a:xfrm>
          <a:prstGeom prst="rect">
            <a:avLst/>
          </a:prstGeom>
          <a:noFill/>
          <a:ln/>
        </p:spPr>
        <p:txBody>
          <a:bodyPr wrap="square" lIns="0" tIns="0" rIns="0" bIns="0" rtlCol="0" anchor="ctr"/>
          <a:lstStyle/>
          <a:p>
            <a:pPr marL="0" indent="0" algn="l">
              <a:buNone/>
            </a:pPr>
            <a:r>
              <a:rPr lang="en-US" sz="1200" b="1" dirty="0">
                <a:solidFill>
                  <a:schemeClr val="bg1"/>
                </a:solidFill>
              </a:rPr>
              <a:t>Thiết kế, xây/thuê, lắp, chạy thử</a:t>
            </a:r>
            <a:endParaRPr lang="en-US" sz="1200" dirty="0"/>
          </a:p>
        </p:txBody>
      </p:sp>
      <p:sp>
        <p:nvSpPr>
          <p:cNvPr id="57" name="Thanh 5"/>
          <p:cNvSpPr/>
          <p:nvPr/>
        </p:nvSpPr>
        <p:spPr>
          <a:xfrm>
            <a:off x="3410712" y="4169664"/>
            <a:ext cx="8204911" cy="329184"/>
          </a:xfrm>
          <a:prstGeom prst="roundRect">
            <a:avLst>
              <a:gd name="adj" fmla="val 22222"/>
            </a:avLst>
          </a:prstGeom>
          <a:solidFill>
            <a:schemeClr val="accent1"/>
          </a:solidFill>
          <a:ln/>
        </p:spPr>
      </p:sp>
      <p:sp>
        <p:nvSpPr>
          <p:cNvPr id="58" name="Chu thanh 5"/>
          <p:cNvSpPr txBox="1"/>
          <p:nvPr/>
        </p:nvSpPr>
        <p:spPr>
          <a:xfrm>
            <a:off x="3474720" y="4169664"/>
            <a:ext cx="8076895" cy="329184"/>
          </a:xfrm>
          <a:prstGeom prst="rect">
            <a:avLst/>
          </a:prstGeom>
          <a:noFill/>
          <a:ln/>
        </p:spPr>
        <p:txBody>
          <a:bodyPr wrap="square" lIns="0" tIns="0" rIns="0" bIns="0" rtlCol="0" anchor="ctr"/>
          <a:lstStyle/>
          <a:p>
            <a:pPr marL="0" indent="0" algn="l">
              <a:buNone/>
            </a:pPr>
            <a:r>
              <a:rPr lang="en-US" sz="1200" b="1" dirty="0">
                <a:solidFill>
                  <a:schemeClr val="bg1"/>
                </a:solidFill>
              </a:rPr>
              <a:t>Tuyển theo giai đoạn: 9–12 → 19–27 → 25–35 → 28–40 người</a:t>
            </a:r>
            <a:endParaRPr lang="en-US" sz="1200" dirty="0"/>
          </a:p>
        </p:txBody>
      </p:sp>
      <p:sp>
        <p:nvSpPr>
          <p:cNvPr id="59" name="Thanh 6"/>
          <p:cNvSpPr/>
          <p:nvPr/>
        </p:nvSpPr>
        <p:spPr>
          <a:xfrm>
            <a:off x="5475656" y="4626864"/>
            <a:ext cx="2010080" cy="329184"/>
          </a:xfrm>
          <a:prstGeom prst="roundRect">
            <a:avLst>
              <a:gd name="adj" fmla="val 22222"/>
            </a:avLst>
          </a:prstGeom>
          <a:solidFill>
            <a:schemeClr val="accent1"/>
          </a:solidFill>
          <a:ln/>
        </p:spPr>
      </p:sp>
      <p:sp>
        <p:nvSpPr>
          <p:cNvPr id="60" name="Chu thanh 6"/>
          <p:cNvSpPr txBox="1"/>
          <p:nvPr/>
        </p:nvSpPr>
        <p:spPr>
          <a:xfrm>
            <a:off x="5539664" y="4626864"/>
            <a:ext cx="1882064" cy="329184"/>
          </a:xfrm>
          <a:prstGeom prst="rect">
            <a:avLst/>
          </a:prstGeom>
          <a:noFill/>
          <a:ln/>
        </p:spPr>
        <p:txBody>
          <a:bodyPr wrap="square" lIns="0" tIns="0" rIns="0" bIns="0" rtlCol="0" anchor="ctr"/>
          <a:lstStyle/>
          <a:p>
            <a:pPr marL="0" indent="0" algn="l">
              <a:buNone/>
            </a:pPr>
            <a:r>
              <a:rPr lang="en-US" sz="1200" b="1" dirty="0">
                <a:solidFill>
                  <a:schemeClr val="bg1"/>
                </a:solidFill>
              </a:rPr>
              <a:t>ATTP, HACCP</a:t>
            </a:r>
            <a:endParaRPr lang="en-US" sz="1200" dirty="0"/>
          </a:p>
        </p:txBody>
      </p:sp>
      <p:sp>
        <p:nvSpPr>
          <p:cNvPr id="61" name="Thanh 6"/>
          <p:cNvSpPr/>
          <p:nvPr/>
        </p:nvSpPr>
        <p:spPr>
          <a:xfrm>
            <a:off x="7540600" y="4626864"/>
            <a:ext cx="2010080" cy="329184"/>
          </a:xfrm>
          <a:prstGeom prst="roundRect">
            <a:avLst>
              <a:gd name="adj" fmla="val 22222"/>
            </a:avLst>
          </a:prstGeom>
          <a:solidFill>
            <a:srgbClr val="DCE9DF"/>
          </a:solidFill>
          <a:ln/>
        </p:spPr>
      </p:sp>
      <p:sp>
        <p:nvSpPr>
          <p:cNvPr id="62" name="Chu thanh 6"/>
          <p:cNvSpPr txBox="1"/>
          <p:nvPr/>
        </p:nvSpPr>
        <p:spPr>
          <a:xfrm>
            <a:off x="7604608" y="4626864"/>
            <a:ext cx="1882064" cy="329184"/>
          </a:xfrm>
          <a:prstGeom prst="rect">
            <a:avLst/>
          </a:prstGeom>
          <a:noFill/>
          <a:ln/>
        </p:spPr>
        <p:txBody>
          <a:bodyPr wrap="square" lIns="0" tIns="0" rIns="0" bIns="0" rtlCol="0" anchor="ctr"/>
          <a:lstStyle/>
          <a:p>
            <a:pPr marL="0" indent="0" algn="l">
              <a:buNone/>
            </a:pPr>
            <a:r>
              <a:rPr lang="en-US" sz="1200" b="1" dirty="0">
                <a:solidFill>
                  <a:schemeClr val="tx1"/>
                </a:solidFill>
              </a:rPr>
              <a:t>ISO 22000</a:t>
            </a:r>
            <a:endParaRPr lang="en-US" sz="1200" dirty="0"/>
          </a:p>
        </p:txBody>
      </p:sp>
      <p:sp>
        <p:nvSpPr>
          <p:cNvPr id="63" name="Thanh 7"/>
          <p:cNvSpPr/>
          <p:nvPr/>
        </p:nvSpPr>
        <p:spPr>
          <a:xfrm>
            <a:off x="7540600" y="5084064"/>
            <a:ext cx="2010080" cy="329184"/>
          </a:xfrm>
          <a:prstGeom prst="roundRect">
            <a:avLst>
              <a:gd name="adj" fmla="val 22222"/>
            </a:avLst>
          </a:prstGeom>
          <a:solidFill>
            <a:schemeClr val="accent5"/>
          </a:solidFill>
          <a:ln/>
        </p:spPr>
      </p:sp>
      <p:sp>
        <p:nvSpPr>
          <p:cNvPr id="64" name="Chu thanh 7"/>
          <p:cNvSpPr txBox="1"/>
          <p:nvPr/>
        </p:nvSpPr>
        <p:spPr>
          <a:xfrm>
            <a:off x="7604608" y="5084064"/>
            <a:ext cx="1882064" cy="329184"/>
          </a:xfrm>
          <a:prstGeom prst="rect">
            <a:avLst/>
          </a:prstGeom>
          <a:noFill/>
          <a:ln/>
        </p:spPr>
        <p:txBody>
          <a:bodyPr wrap="square" lIns="0" tIns="0" rIns="0" bIns="0" rtlCol="0" anchor="ctr"/>
          <a:lstStyle/>
          <a:p>
            <a:pPr marL="0" indent="0" algn="l">
              <a:buNone/>
            </a:pPr>
            <a:r>
              <a:rPr lang="en-US" sz="1200" b="1" dirty="0">
                <a:solidFill>
                  <a:schemeClr val="bg1"/>
                </a:solidFill>
              </a:rPr>
              <a:t>CIFER, mã GACC, lô đầu</a:t>
            </a:r>
            <a:endParaRPr lang="en-US" sz="1200" dirty="0"/>
          </a:p>
        </p:txBody>
      </p:sp>
      <p:sp>
        <p:nvSpPr>
          <p:cNvPr id="65" name="Thanh 7"/>
          <p:cNvSpPr/>
          <p:nvPr/>
        </p:nvSpPr>
        <p:spPr>
          <a:xfrm>
            <a:off x="9605543" y="5084064"/>
            <a:ext cx="2010080" cy="329184"/>
          </a:xfrm>
          <a:prstGeom prst="roundRect">
            <a:avLst>
              <a:gd name="adj" fmla="val 22222"/>
            </a:avLst>
          </a:prstGeom>
          <a:solidFill>
            <a:srgbClr val="E3A79B"/>
          </a:solidFill>
          <a:ln/>
        </p:spPr>
      </p:sp>
      <p:sp>
        <p:nvSpPr>
          <p:cNvPr id="66" name="Chu thanh 7"/>
          <p:cNvSpPr txBox="1"/>
          <p:nvPr/>
        </p:nvSpPr>
        <p:spPr>
          <a:xfrm>
            <a:off x="9669551" y="5084064"/>
            <a:ext cx="1882064" cy="329184"/>
          </a:xfrm>
          <a:prstGeom prst="rect">
            <a:avLst/>
          </a:prstGeom>
          <a:noFill/>
          <a:ln/>
        </p:spPr>
        <p:txBody>
          <a:bodyPr wrap="square" lIns="0" tIns="0" rIns="0" bIns="0" rtlCol="0" anchor="ctr"/>
          <a:lstStyle/>
          <a:p>
            <a:pPr marL="0" indent="0" algn="l">
              <a:buNone/>
            </a:pPr>
            <a:r>
              <a:rPr lang="en-US" sz="1200" b="1" dirty="0">
                <a:solidFill>
                  <a:schemeClr val="tx1"/>
                </a:solidFill>
              </a:rPr>
              <a:t>Xuất khẩu đều</a:t>
            </a:r>
            <a:endParaRPr lang="en-US" sz="1200" dirty="0"/>
          </a:p>
        </p:txBody>
      </p:sp>
      <p:sp>
        <p:nvSpPr>
          <p:cNvPr id="67" name="Thanh 8"/>
          <p:cNvSpPr/>
          <p:nvPr/>
        </p:nvSpPr>
        <p:spPr>
          <a:xfrm>
            <a:off x="7540600" y="5541264"/>
            <a:ext cx="3042552" cy="329184"/>
          </a:xfrm>
          <a:prstGeom prst="roundRect">
            <a:avLst>
              <a:gd name="adj" fmla="val 22222"/>
            </a:avLst>
          </a:prstGeom>
          <a:solidFill>
            <a:schemeClr val="accent3"/>
          </a:solidFill>
          <a:ln/>
        </p:spPr>
      </p:sp>
      <p:sp>
        <p:nvSpPr>
          <p:cNvPr id="68" name="Chu thanh 8"/>
          <p:cNvSpPr txBox="1"/>
          <p:nvPr/>
        </p:nvSpPr>
        <p:spPr>
          <a:xfrm>
            <a:off x="7604608" y="5541264"/>
            <a:ext cx="2914536" cy="329184"/>
          </a:xfrm>
          <a:prstGeom prst="rect">
            <a:avLst/>
          </a:prstGeom>
          <a:noFill/>
          <a:ln/>
        </p:spPr>
        <p:txBody>
          <a:bodyPr wrap="square" lIns="0" tIns="0" rIns="0" bIns="0" rtlCol="0" anchor="ctr"/>
          <a:lstStyle/>
          <a:p>
            <a:pPr marL="0" indent="0" algn="l">
              <a:buNone/>
            </a:pPr>
            <a:r>
              <a:rPr lang="en-US" sz="1200" b="1" dirty="0">
                <a:solidFill>
                  <a:schemeClr val="bg1"/>
                </a:solidFill>
              </a:rPr>
              <a:t>Chuẩn bị, chứng nhận GFSI</a:t>
            </a:r>
            <a:endParaRPr lang="en-US" sz="1200" dirty="0"/>
          </a:p>
        </p:txBody>
      </p:sp>
      <p:sp>
        <p:nvSpPr>
          <p:cNvPr id="69" name="Thanh 8"/>
          <p:cNvSpPr/>
          <p:nvPr/>
        </p:nvSpPr>
        <p:spPr>
          <a:xfrm>
            <a:off x="10638015" y="5541264"/>
            <a:ext cx="977608" cy="329184"/>
          </a:xfrm>
          <a:prstGeom prst="roundRect">
            <a:avLst>
              <a:gd name="adj" fmla="val 22222"/>
            </a:avLst>
          </a:prstGeom>
          <a:solidFill>
            <a:schemeClr val="accent2"/>
          </a:solidFill>
          <a:ln/>
        </p:spPr>
      </p:sp>
      <p:sp>
        <p:nvSpPr>
          <p:cNvPr id="70" name="Chu thanh 8"/>
          <p:cNvSpPr txBox="1"/>
          <p:nvPr/>
        </p:nvSpPr>
        <p:spPr>
          <a:xfrm>
            <a:off x="10702023" y="5541264"/>
            <a:ext cx="849592" cy="329184"/>
          </a:xfrm>
          <a:prstGeom prst="rect">
            <a:avLst/>
          </a:prstGeom>
          <a:noFill/>
          <a:ln/>
        </p:spPr>
        <p:txBody>
          <a:bodyPr wrap="square" lIns="0" tIns="0" rIns="0" bIns="0" rtlCol="0" anchor="ctr"/>
          <a:lstStyle/>
          <a:p>
            <a:pPr marL="0" indent="0" algn="l">
              <a:buNone/>
            </a:pPr>
            <a:r>
              <a:rPr lang="en-US" sz="1200" b="1" dirty="0">
                <a:solidFill>
                  <a:schemeClr val="tx1"/>
                </a:solidFill>
              </a:rPr>
              <a:t>Lô đầu EU</a:t>
            </a:r>
            <a:endParaRPr lang="en-US" sz="1200" dirty="0"/>
          </a:p>
        </p:txBody>
      </p:sp>
      <p:sp>
        <p:nvSpPr>
          <p:cNvPr id="71" name="Nguon"/>
          <p:cNvSpPr txBox="1"/>
          <p:nvPr/>
        </p:nvSpPr>
        <p:spPr>
          <a:xfrm>
            <a:off x="548640" y="6217920"/>
            <a:ext cx="11094415" cy="201168"/>
          </a:xfrm>
          <a:prstGeom prst="rect">
            <a:avLst/>
          </a:prstGeom>
          <a:noFill/>
          <a:ln/>
        </p:spPr>
        <p:txBody>
          <a:bodyPr wrap="square" lIns="0" tIns="0" rIns="0" bIns="0" rtlCol="0" anchor="t"/>
          <a:lstStyle/>
          <a:p>
            <a:pPr marL="0" indent="0" algn="l">
              <a:buNone/>
            </a:pPr>
            <a:r>
              <a:rPr lang="en-US" sz="1000" dirty="0">
                <a:solidFill>
                  <a:srgbClr val="5C6F66"/>
                </a:solidFill>
              </a:rPr>
              <a:t>Mốc dự kiến, phụ thuộc tiến độ nhà xưởng và nguồn vốn; chốt lại sau khi Ban lãnh đạo duyệt phương án đầu tư. Châu Á: xét sau giai đoạn 4.</a:t>
            </a:r>
            <a:endParaRPr lang="en-US" sz="1000" dirty="0"/>
          </a:p>
        </p:txBody>
      </p:sp>
      <p:sp>
        <p:nvSpPr>
          <p:cNvPr id="2" name="Slide Number Placeholder 0"/>
          <p:cNvSpPr>
            <a:spLocks noGrp="1"/>
          </p:cNvSpPr>
          <p:nvPr>
            <p:ph type="sldNum" sz="quarter" idx="4294967295"/>
          </p:nvPr>
        </p:nvSpPr>
        <p:spPr>
          <a:xfrm>
            <a:off x="10972800" y="6492240"/>
            <a:ext cx="667512" cy="237744"/>
          </a:xfrm>
          <a:prstGeom prst="rect">
            <a:avLst/>
          </a:prstGeom>
          <a:extLst>
            <a:ext uri="{C572A759-6A51-4108-AA02-DFA0A04FC94B}">
              <ma14:wrappingTextBoxFlag xmlns:ma14="http://schemas.microsoft.com/office/mac/drawingml/2011/main" xmlns="" val="0"/>
            </a:ext>
          </a:extLst>
        </p:spPr>
        <p:txBody>
          <a:bodyPr/>
          <a:lstStyle>
            <a:lvl1pPr>
              <a:defRPr sz="1000">
                <a:solidFill>
                  <a:srgbClr val="5C6F66"/>
                </a:solidFill>
              </a:defRPr>
            </a:lvl1pPr>
          </a:lstStyle>
          <a:p>
            <a:pPr algn="r"/>
            <a:fld id="{F7021451-1387-4CA6-816F-3879F97B5CBC}" type="slidenum">
              <a:rPr lang="en-US" b="0"/>
              <a:t>21</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3" name="Dau cham"/>
          <p:cNvSpPr/>
          <p:nvPr/>
        </p:nvSpPr>
        <p:spPr>
          <a:xfrm>
            <a:off x="548640" y="429768"/>
            <a:ext cx="118872" cy="118872"/>
          </a:xfrm>
          <a:prstGeom prst="ellipse">
            <a:avLst/>
          </a:prstGeom>
          <a:solidFill>
            <a:schemeClr val="accent2"/>
          </a:solidFill>
          <a:ln/>
        </p:spPr>
      </p:sp>
      <p:sp>
        <p:nvSpPr>
          <p:cNvPr id="4" name="Nhan chuyen muc"/>
          <p:cNvSpPr txBox="1"/>
          <p:nvPr/>
        </p:nvSpPr>
        <p:spPr>
          <a:xfrm>
            <a:off x="777240" y="347472"/>
            <a:ext cx="6949440" cy="274320"/>
          </a:xfrm>
          <a:prstGeom prst="rect">
            <a:avLst/>
          </a:prstGeom>
          <a:noFill/>
          <a:ln/>
        </p:spPr>
        <p:txBody>
          <a:bodyPr wrap="square" lIns="0" tIns="0" rIns="0" bIns="0" rtlCol="0" anchor="ctr"/>
          <a:lstStyle/>
          <a:p>
            <a:pPr marL="0" indent="0" algn="l">
              <a:buNone/>
            </a:pPr>
            <a:r>
              <a:rPr lang="en-US" sz="1200" b="1" kern="0" spc="200" dirty="0">
                <a:solidFill>
                  <a:schemeClr val="accent1"/>
                </a:solidFill>
              </a:rPr>
              <a:t>MỨC ĐỘ CĂN CỨ</a:t>
            </a:r>
            <a:endParaRPr lang="en-US" sz="1200" dirty="0"/>
          </a:p>
        </p:txBody>
      </p:sp>
      <p:sp>
        <p:nvSpPr>
          <p:cNvPr id="5" name="Text 0"/>
          <p:cNvSpPr>
            <a:spLocks noGrp="1"/>
          </p:cNvSpPr>
          <p:nvPr>
            <p:ph type="title" idx="100" hasCustomPrompt="1"/>
          </p:nvPr>
        </p:nvSpPr>
        <p:spPr>
          <a:xfrm>
            <a:off x="548640" y="658368"/>
            <a:ext cx="11094415" cy="777240"/>
          </a:xfrm>
          <a:prstGeom prst="rect">
            <a:avLst/>
          </a:prstGeom>
          <a:noFill/>
          <a:ln/>
        </p:spPr>
        <p:txBody>
          <a:bodyPr wrap="square" lIns="0" tIns="0" rIns="0" bIns="0" rtlCol="0" anchor="ctr"/>
          <a:lstStyle/>
          <a:p>
            <a:pPr marL="0" indent="0" algn="l">
              <a:buNone/>
            </a:pPr>
            <a:r>
              <a:rPr lang="en-US" sz="3000" b="1" dirty="0">
                <a:solidFill>
                  <a:schemeClr val="tx2"/>
                </a:solidFill>
              </a:rPr>
              <a:t>Điều đã kiểm chứng và điều còn là đề xuất</a:t>
            </a:r>
            <a:endParaRPr lang="en-US" sz="3000" dirty="0"/>
          </a:p>
        </p:txBody>
      </p:sp>
      <p:sp>
        <p:nvSpPr>
          <p:cNvPr id="6" name="Dau cot 1"/>
          <p:cNvSpPr/>
          <p:nvPr/>
        </p:nvSpPr>
        <p:spPr>
          <a:xfrm>
            <a:off x="548640" y="1691640"/>
            <a:ext cx="2670734" cy="548640"/>
          </a:xfrm>
          <a:prstGeom prst="roundRect">
            <a:avLst>
              <a:gd name="adj" fmla="val 20000"/>
            </a:avLst>
          </a:prstGeom>
          <a:solidFill>
            <a:schemeClr val="accent1"/>
          </a:solidFill>
          <a:ln/>
        </p:spPr>
      </p:sp>
      <p:sp>
        <p:nvSpPr>
          <p:cNvPr id="7" name="Chu dau cot 1"/>
          <p:cNvSpPr txBox="1"/>
          <p:nvPr/>
        </p:nvSpPr>
        <p:spPr>
          <a:xfrm>
            <a:off x="658368" y="1691640"/>
            <a:ext cx="2451278" cy="548640"/>
          </a:xfrm>
          <a:prstGeom prst="rect">
            <a:avLst/>
          </a:prstGeom>
          <a:noFill/>
          <a:ln/>
        </p:spPr>
        <p:txBody>
          <a:bodyPr wrap="square" lIns="0" tIns="0" rIns="0" bIns="0" rtlCol="0" anchor="ctr"/>
          <a:lstStyle/>
          <a:p>
            <a:pPr marL="0" indent="0" algn="ctr">
              <a:buNone/>
            </a:pPr>
            <a:r>
              <a:rPr lang="en-US" sz="1200" b="1" kern="0" spc="50" dirty="0">
                <a:solidFill>
                  <a:schemeClr val="bg1"/>
                </a:solidFill>
              </a:rPr>
              <a:t>CÓ NGUỒN KIỂM CHỨNG</a:t>
            </a:r>
            <a:endParaRPr lang="en-US" sz="1200" dirty="0"/>
          </a:p>
        </p:txBody>
      </p:sp>
      <p:sp>
        <p:nvSpPr>
          <p:cNvPr id="8" name="Khung cot 1"/>
          <p:cNvSpPr/>
          <p:nvPr/>
        </p:nvSpPr>
        <p:spPr>
          <a:xfrm>
            <a:off x="548640" y="2286000"/>
            <a:ext cx="2670734" cy="3840480"/>
          </a:xfrm>
          <a:prstGeom prst="roundRect">
            <a:avLst>
              <a:gd name="adj" fmla="val 4109"/>
            </a:avLst>
          </a:prstGeom>
          <a:solidFill>
            <a:srgbClr val="E3EDE6"/>
          </a:solidFill>
          <a:ln/>
        </p:spPr>
      </p:sp>
      <p:sp>
        <p:nvSpPr>
          <p:cNvPr id="9" name="Noi dung cot 1"/>
          <p:cNvSpPr txBox="1"/>
          <p:nvPr/>
        </p:nvSpPr>
        <p:spPr>
          <a:xfrm>
            <a:off x="685800" y="2395728"/>
            <a:ext cx="2396414" cy="3657600"/>
          </a:xfrm>
          <a:prstGeom prst="rect">
            <a:avLst/>
          </a:prstGeom>
          <a:noFill/>
          <a:ln/>
        </p:spPr>
        <p:txBody>
          <a:bodyPr wrap="square" lIns="0" tIns="0" rIns="0" bIns="0" rtlCol="0" anchor="t"/>
          <a:lstStyle/>
          <a:p>
            <a:pPr marL="177800" indent="-177800" algn="l">
              <a:spcAft>
                <a:spcPts val="600"/>
              </a:spcAft>
              <a:buSzPct val="100000"/>
              <a:buChar char="•"/>
            </a:pPr>
            <a:r>
              <a:rPr lang="en-US" sz="1400" dirty="0">
                <a:solidFill>
                  <a:schemeClr val="tx1"/>
                </a:solidFill>
              </a:rPr>
              <a:t>Lệnh 280: hiệu lực 1/6/2026; trái cây sấy thuộc nhóm phải có giới thiệu; mã có hiệu lực 5 năm</a:t>
            </a:r>
            <a:endParaRPr lang="en-US" sz="1400" dirty="0"/>
          </a:p>
          <a:p>
            <a:pPr marL="177800" indent="-177800" algn="l">
              <a:spcAft>
                <a:spcPts val="600"/>
              </a:spcAft>
              <a:buSzPct val="100000"/>
              <a:buChar char="•"/>
            </a:pPr>
            <a:r>
              <a:rPr lang="en-US" sz="1400" dirty="0">
                <a:solidFill>
                  <a:schemeClr val="tx1"/>
                </a:solidFill>
              </a:rPr>
              <a:t>EU: HACCP bắt buộc, chứng nhận GFSI do người mua yêu cầu (CBI)</a:t>
            </a:r>
            <a:endParaRPr lang="en-US" sz="1400" dirty="0"/>
          </a:p>
          <a:p>
            <a:pPr marL="177800" indent="-177800" algn="l">
              <a:spcAft>
                <a:spcPts val="600"/>
              </a:spcAft>
              <a:buSzPct val="100000"/>
              <a:buChar char="•"/>
            </a:pPr>
            <a:r>
              <a:rPr lang="en-US" sz="1400" dirty="0">
                <a:solidFill>
                  <a:schemeClr val="tx1"/>
                </a:solidFill>
              </a:rPr>
              <a:t>Nghị định 15/2018 đang áp dụng; Nghị định 46/2026 tạm ngưng</a:t>
            </a:r>
            <a:endParaRPr lang="en-US" sz="1400" dirty="0"/>
          </a:p>
          <a:p>
            <a:pPr marL="177800" indent="-177800" algn="l">
              <a:spcAft>
                <a:spcPts val="600"/>
              </a:spcAft>
              <a:buSzPct val="100000"/>
              <a:buChar char="•"/>
            </a:pPr>
            <a:r>
              <a:rPr lang="en-US" sz="1400" dirty="0">
                <a:solidFill>
                  <a:schemeClr val="tx1"/>
                </a:solidFill>
              </a:rPr>
              <a:t>BRCGS: chứng nhận trong 49 ngày sau đánh giá (QIMA)</a:t>
            </a:r>
            <a:endParaRPr lang="en-US" sz="1400" dirty="0"/>
          </a:p>
        </p:txBody>
      </p:sp>
      <p:sp>
        <p:nvSpPr>
          <p:cNvPr id="10" name="Dau cot 2"/>
          <p:cNvSpPr/>
          <p:nvPr/>
        </p:nvSpPr>
        <p:spPr>
          <a:xfrm>
            <a:off x="3356534" y="1691640"/>
            <a:ext cx="2670734" cy="548640"/>
          </a:xfrm>
          <a:prstGeom prst="roundRect">
            <a:avLst>
              <a:gd name="adj" fmla="val 20000"/>
            </a:avLst>
          </a:prstGeom>
          <a:solidFill>
            <a:schemeClr val="accent4"/>
          </a:solidFill>
          <a:ln/>
        </p:spPr>
      </p:sp>
      <p:sp>
        <p:nvSpPr>
          <p:cNvPr id="11" name="Chu dau cot 2"/>
          <p:cNvSpPr txBox="1"/>
          <p:nvPr/>
        </p:nvSpPr>
        <p:spPr>
          <a:xfrm>
            <a:off x="3466262" y="1691640"/>
            <a:ext cx="2451278" cy="548640"/>
          </a:xfrm>
          <a:prstGeom prst="rect">
            <a:avLst/>
          </a:prstGeom>
          <a:noFill/>
          <a:ln/>
        </p:spPr>
        <p:txBody>
          <a:bodyPr wrap="square" lIns="0" tIns="0" rIns="0" bIns="0" rtlCol="0" anchor="ctr"/>
          <a:lstStyle/>
          <a:p>
            <a:pPr marL="0" indent="0" algn="ctr">
              <a:buNone/>
            </a:pPr>
            <a:r>
              <a:rPr lang="en-US" sz="1200" b="1" kern="0" spc="50" dirty="0">
                <a:solidFill>
                  <a:schemeClr val="tx1"/>
                </a:solidFill>
              </a:rPr>
              <a:t>CÓ THAM CHIẾU DOANH NGHIỆP</a:t>
            </a:r>
            <a:endParaRPr lang="en-US" sz="1200" dirty="0"/>
          </a:p>
        </p:txBody>
      </p:sp>
      <p:sp>
        <p:nvSpPr>
          <p:cNvPr id="12" name="Khung cot 2"/>
          <p:cNvSpPr/>
          <p:nvPr/>
        </p:nvSpPr>
        <p:spPr>
          <a:xfrm>
            <a:off x="3356534" y="2286000"/>
            <a:ext cx="2670734" cy="3840480"/>
          </a:xfrm>
          <a:prstGeom prst="roundRect">
            <a:avLst>
              <a:gd name="adj" fmla="val 4109"/>
            </a:avLst>
          </a:prstGeom>
          <a:solidFill>
            <a:srgbClr val="DCE9DF"/>
          </a:solidFill>
          <a:ln/>
        </p:spPr>
      </p:sp>
      <p:sp>
        <p:nvSpPr>
          <p:cNvPr id="13" name="Noi dung cot 2"/>
          <p:cNvSpPr txBox="1"/>
          <p:nvPr/>
        </p:nvSpPr>
        <p:spPr>
          <a:xfrm>
            <a:off x="3493694" y="2395728"/>
            <a:ext cx="2396414" cy="3657600"/>
          </a:xfrm>
          <a:prstGeom prst="rect">
            <a:avLst/>
          </a:prstGeom>
          <a:noFill/>
          <a:ln/>
        </p:spPr>
        <p:txBody>
          <a:bodyPr wrap="square" lIns="0" tIns="0" rIns="0" bIns="0" rtlCol="0" anchor="t"/>
          <a:lstStyle/>
          <a:p>
            <a:pPr marL="177800" indent="-177800" algn="l">
              <a:spcAft>
                <a:spcPts val="600"/>
              </a:spcAft>
              <a:buSzPct val="100000"/>
              <a:buChar char="•"/>
            </a:pPr>
            <a:r>
              <a:rPr lang="en-US" sz="1400" dirty="0">
                <a:solidFill>
                  <a:schemeClr val="tx1"/>
                </a:solidFill>
              </a:rPr>
              <a:t>Chế biến gắn với vùng nguyên liệu liên kết (Green Tropical, Vinamit, Nafoods)</a:t>
            </a:r>
            <a:endParaRPr lang="en-US" sz="1400" dirty="0"/>
          </a:p>
          <a:p>
            <a:pPr marL="177800" indent="-177800" algn="l">
              <a:spcAft>
                <a:spcPts val="600"/>
              </a:spcAft>
              <a:buSzPct val="100000"/>
              <a:buChar char="•"/>
            </a:pPr>
            <a:r>
              <a:rPr lang="en-US" sz="1400" dirty="0">
                <a:solidFill>
                  <a:schemeClr val="tx1"/>
                </a:solidFill>
              </a:rPr>
              <a:t>ISO 22000/HACCP là bước chứng nhận đầu của cơ sở sấy (Green Tropical 2025; Đắk Lắk 2026)</a:t>
            </a:r>
            <a:endParaRPr lang="en-US" sz="1400" dirty="0"/>
          </a:p>
          <a:p>
            <a:pPr marL="177800" indent="-177800" algn="l">
              <a:spcAft>
                <a:spcPts val="600"/>
              </a:spcAft>
              <a:buSzPct val="100000"/>
              <a:buChar char="•"/>
            </a:pPr>
            <a:r>
              <a:rPr lang="en-US" sz="1400" dirty="0">
                <a:solidFill>
                  <a:schemeClr val="tx1"/>
                </a:solidFill>
              </a:rPr>
              <a:t>Khoảng 20 lao động ở một cơ sở sấy thăng hoa sầu riêng</a:t>
            </a:r>
            <a:endParaRPr lang="en-US" sz="1400" dirty="0"/>
          </a:p>
        </p:txBody>
      </p:sp>
      <p:sp>
        <p:nvSpPr>
          <p:cNvPr id="14" name="Dau cot 3"/>
          <p:cNvSpPr/>
          <p:nvPr/>
        </p:nvSpPr>
        <p:spPr>
          <a:xfrm>
            <a:off x="6164428" y="1691640"/>
            <a:ext cx="2670734" cy="548640"/>
          </a:xfrm>
          <a:prstGeom prst="roundRect">
            <a:avLst>
              <a:gd name="adj" fmla="val 20000"/>
            </a:avLst>
          </a:prstGeom>
          <a:solidFill>
            <a:schemeClr val="accent2"/>
          </a:solidFill>
          <a:ln/>
        </p:spPr>
      </p:sp>
      <p:sp>
        <p:nvSpPr>
          <p:cNvPr id="15" name="Chu dau cot 3"/>
          <p:cNvSpPr txBox="1"/>
          <p:nvPr/>
        </p:nvSpPr>
        <p:spPr>
          <a:xfrm>
            <a:off x="6274156" y="1691640"/>
            <a:ext cx="2451278" cy="548640"/>
          </a:xfrm>
          <a:prstGeom prst="rect">
            <a:avLst/>
          </a:prstGeom>
          <a:noFill/>
          <a:ln/>
        </p:spPr>
        <p:txBody>
          <a:bodyPr wrap="square" lIns="0" tIns="0" rIns="0" bIns="0" rtlCol="0" anchor="ctr"/>
          <a:lstStyle/>
          <a:p>
            <a:pPr marL="0" indent="0" algn="ctr">
              <a:buNone/>
            </a:pPr>
            <a:r>
              <a:rPr lang="en-US" sz="1200" b="1" kern="0" spc="50" dirty="0">
                <a:solidFill>
                  <a:schemeClr val="tx1"/>
                </a:solidFill>
              </a:rPr>
              <a:t>ĐỀ XUẤT CỦA TƯ VẤN</a:t>
            </a:r>
            <a:endParaRPr lang="en-US" sz="1200" dirty="0"/>
          </a:p>
        </p:txBody>
      </p:sp>
      <p:sp>
        <p:nvSpPr>
          <p:cNvPr id="16" name="Khung cot 3"/>
          <p:cNvSpPr/>
          <p:nvPr/>
        </p:nvSpPr>
        <p:spPr>
          <a:xfrm>
            <a:off x="6164428" y="2286000"/>
            <a:ext cx="2670734" cy="3840480"/>
          </a:xfrm>
          <a:prstGeom prst="roundRect">
            <a:avLst>
              <a:gd name="adj" fmla="val 4109"/>
            </a:avLst>
          </a:prstGeom>
          <a:solidFill>
            <a:srgbClr val="FBF1D8"/>
          </a:solidFill>
          <a:ln/>
        </p:spPr>
      </p:sp>
      <p:sp>
        <p:nvSpPr>
          <p:cNvPr id="17" name="Noi dung cot 3"/>
          <p:cNvSpPr txBox="1"/>
          <p:nvPr/>
        </p:nvSpPr>
        <p:spPr>
          <a:xfrm>
            <a:off x="6301588" y="2395728"/>
            <a:ext cx="2396414" cy="3657600"/>
          </a:xfrm>
          <a:prstGeom prst="rect">
            <a:avLst/>
          </a:prstGeom>
          <a:noFill/>
          <a:ln/>
        </p:spPr>
        <p:txBody>
          <a:bodyPr wrap="square" lIns="0" tIns="0" rIns="0" bIns="0" rtlCol="0" anchor="t"/>
          <a:lstStyle/>
          <a:p>
            <a:pPr marL="177800" indent="-177800" algn="l">
              <a:spcAft>
                <a:spcPts val="600"/>
              </a:spcAft>
              <a:buSzPct val="100000"/>
              <a:buChar char="•"/>
            </a:pPr>
            <a:r>
              <a:rPr lang="en-US" sz="1400" dirty="0">
                <a:solidFill>
                  <a:schemeClr val="tx1"/>
                </a:solidFill>
              </a:rPr>
              <a:t>Chia 4 giai đoạn và mốc 24 tháng</a:t>
            </a:r>
            <a:endParaRPr lang="en-US" sz="1400" dirty="0"/>
          </a:p>
          <a:p>
            <a:pPr marL="177800" indent="-177800" algn="l">
              <a:spcAft>
                <a:spcPts val="600"/>
              </a:spcAft>
              <a:buSzPct val="100000"/>
              <a:buChar char="•"/>
            </a:pPr>
            <a:r>
              <a:rPr lang="en-US" sz="1400" dirty="0">
                <a:solidFill>
                  <a:schemeClr val="tx1"/>
                </a:solidFill>
              </a:rPr>
              <a:t>Thuê gia công ở giai đoạn 1</a:t>
            </a:r>
            <a:endParaRPr lang="en-US" sz="1400" dirty="0"/>
          </a:p>
          <a:p>
            <a:pPr marL="177800" indent="-177800" algn="l">
              <a:spcAft>
                <a:spcPts val="600"/>
              </a:spcAft>
              <a:buSzPct val="100000"/>
              <a:buChar char="•"/>
            </a:pPr>
            <a:r>
              <a:rPr lang="en-US" sz="1400" dirty="0">
                <a:solidFill>
                  <a:schemeClr val="tx1"/>
                </a:solidFill>
              </a:rPr>
              <a:t>Nhân sự từng giai đoạn: 9–12, 19–27, 25–35, 28–40 người</a:t>
            </a:r>
            <a:endParaRPr lang="en-US" sz="1400" dirty="0"/>
          </a:p>
          <a:p>
            <a:pPr marL="177800" indent="-177800" algn="l">
              <a:spcAft>
                <a:spcPts val="600"/>
              </a:spcAft>
              <a:buSzPct val="100000"/>
              <a:buChar char="•"/>
            </a:pPr>
            <a:r>
              <a:rPr lang="en-US" sz="1400" dirty="0">
                <a:solidFill>
                  <a:schemeClr val="tx1"/>
                </a:solidFill>
              </a:rPr>
              <a:t>Mức độ khó Trung Quốc và EU</a:t>
            </a:r>
            <a:endParaRPr lang="en-US" sz="1400" dirty="0"/>
          </a:p>
        </p:txBody>
      </p:sp>
      <p:sp>
        <p:nvSpPr>
          <p:cNvPr id="18" name="Dau cot 4"/>
          <p:cNvSpPr/>
          <p:nvPr/>
        </p:nvSpPr>
        <p:spPr>
          <a:xfrm>
            <a:off x="8972321" y="1691640"/>
            <a:ext cx="2670734" cy="548640"/>
          </a:xfrm>
          <a:prstGeom prst="roundRect">
            <a:avLst>
              <a:gd name="adj" fmla="val 20000"/>
            </a:avLst>
          </a:prstGeom>
          <a:solidFill>
            <a:schemeClr val="accent5"/>
          </a:solidFill>
          <a:ln/>
        </p:spPr>
      </p:sp>
      <p:sp>
        <p:nvSpPr>
          <p:cNvPr id="19" name="Chu dau cot 4"/>
          <p:cNvSpPr txBox="1"/>
          <p:nvPr/>
        </p:nvSpPr>
        <p:spPr>
          <a:xfrm>
            <a:off x="9082049" y="1691640"/>
            <a:ext cx="2451278" cy="548640"/>
          </a:xfrm>
          <a:prstGeom prst="rect">
            <a:avLst/>
          </a:prstGeom>
          <a:noFill/>
          <a:ln/>
        </p:spPr>
        <p:txBody>
          <a:bodyPr wrap="square" lIns="0" tIns="0" rIns="0" bIns="0" rtlCol="0" anchor="ctr"/>
          <a:lstStyle/>
          <a:p>
            <a:pPr marL="0" indent="0" algn="ctr">
              <a:buNone/>
            </a:pPr>
            <a:r>
              <a:rPr lang="en-US" sz="1200" b="1" kern="0" spc="50" dirty="0">
                <a:solidFill>
                  <a:schemeClr val="bg1"/>
                </a:solidFill>
              </a:rPr>
              <a:t>CẦN XÁC NHẬN VỚI CƠ QUAN</a:t>
            </a:r>
            <a:endParaRPr lang="en-US" sz="1200" dirty="0"/>
          </a:p>
        </p:txBody>
      </p:sp>
      <p:sp>
        <p:nvSpPr>
          <p:cNvPr id="20" name="Khung cot 4"/>
          <p:cNvSpPr/>
          <p:nvPr/>
        </p:nvSpPr>
        <p:spPr>
          <a:xfrm>
            <a:off x="8972321" y="2286000"/>
            <a:ext cx="2670734" cy="3840480"/>
          </a:xfrm>
          <a:prstGeom prst="roundRect">
            <a:avLst>
              <a:gd name="adj" fmla="val 4109"/>
            </a:avLst>
          </a:prstGeom>
          <a:solidFill>
            <a:srgbClr val="F8E6E1"/>
          </a:solidFill>
          <a:ln/>
        </p:spPr>
      </p:sp>
      <p:sp>
        <p:nvSpPr>
          <p:cNvPr id="21" name="Noi dung cot 4"/>
          <p:cNvSpPr txBox="1"/>
          <p:nvPr/>
        </p:nvSpPr>
        <p:spPr>
          <a:xfrm>
            <a:off x="9109481" y="2395728"/>
            <a:ext cx="2396414" cy="3657600"/>
          </a:xfrm>
          <a:prstGeom prst="rect">
            <a:avLst/>
          </a:prstGeom>
          <a:noFill/>
          <a:ln/>
        </p:spPr>
        <p:txBody>
          <a:bodyPr wrap="square" lIns="0" tIns="0" rIns="0" bIns="0" rtlCol="0" anchor="t"/>
          <a:lstStyle/>
          <a:p>
            <a:pPr marL="177800" indent="-177800" algn="l">
              <a:spcAft>
                <a:spcPts val="600"/>
              </a:spcAft>
              <a:buSzPct val="100000"/>
              <a:buChar char="•"/>
            </a:pPr>
            <a:r>
              <a:rPr lang="en-US" sz="1400" dirty="0">
                <a:solidFill>
                  <a:schemeClr val="tx1"/>
                </a:solidFill>
              </a:rPr>
              <a:t>Thay đổi nào buộc đăng ký lại mã GACC (các nguồn chưa thống nhất)</a:t>
            </a:r>
            <a:endParaRPr lang="en-US" sz="1400" dirty="0"/>
          </a:p>
          <a:p>
            <a:pPr marL="177800" indent="-177800" algn="l">
              <a:spcAft>
                <a:spcPts val="600"/>
              </a:spcAft>
              <a:buSzPct val="100000"/>
              <a:buChar char="•"/>
            </a:pPr>
            <a:r>
              <a:rPr lang="en-US" sz="1400" dirty="0">
                <a:solidFill>
                  <a:schemeClr val="tx1"/>
                </a:solidFill>
              </a:rPr>
              <a:t>Gừng sấy thuộc nhóm hàng nào trên CIFER</a:t>
            </a:r>
            <a:endParaRPr lang="en-US" sz="1400" dirty="0"/>
          </a:p>
          <a:p>
            <a:pPr marL="177800" indent="-177800" algn="l">
              <a:spcAft>
                <a:spcPts val="600"/>
              </a:spcAft>
              <a:buSzPct val="100000"/>
              <a:buChar char="•"/>
            </a:pPr>
            <a:r>
              <a:rPr lang="en-US" sz="1400" dirty="0">
                <a:solidFill>
                  <a:schemeClr val="tx1"/>
                </a:solidFill>
              </a:rPr>
              <a:t>Kiểm nghiệm cadimi, vàng O có áp dụng cho sầu riêng sấy không</a:t>
            </a:r>
            <a:endParaRPr lang="en-US" sz="1400" dirty="0"/>
          </a:p>
          <a:p>
            <a:pPr marL="177800" indent="-177800" algn="l">
              <a:spcAft>
                <a:spcPts val="600"/>
              </a:spcAft>
              <a:buSzPct val="100000"/>
              <a:buChar char="•"/>
            </a:pPr>
            <a:r>
              <a:rPr lang="en-US" sz="1400" dirty="0">
                <a:solidFill>
                  <a:schemeClr val="tx1"/>
                </a:solidFill>
              </a:rPr>
              <a:t>Mẫu GCN ATTP áp dụng sau khi Luật ATTP sửa đổi có hiệu lực</a:t>
            </a:r>
            <a:endParaRPr lang="en-US" sz="1400" dirty="0"/>
          </a:p>
          <a:p>
            <a:pPr marL="177800" indent="-177800" algn="l">
              <a:spcAft>
                <a:spcPts val="600"/>
              </a:spcAft>
              <a:buSzPct val="100000"/>
              <a:buChar char="•"/>
            </a:pPr>
            <a:r>
              <a:rPr lang="en-US" sz="1400" dirty="0">
                <a:solidFill>
                  <a:schemeClr val="tx1"/>
                </a:solidFill>
              </a:rPr>
              <a:t>Khi nào dự thảo MRL 0,01 mg/kg của EU có hiệu lực</a:t>
            </a:r>
            <a:endParaRPr lang="en-US" sz="1400" dirty="0"/>
          </a:p>
        </p:txBody>
      </p:sp>
      <p:sp>
        <p:nvSpPr>
          <p:cNvPr id="25" name="Slide Number Placeholder 0"/>
          <p:cNvSpPr>
            <a:spLocks noGrp="1"/>
          </p:cNvSpPr>
          <p:nvPr>
            <p:ph type="sldNum" sz="quarter" idx="4294967295"/>
          </p:nvPr>
        </p:nvSpPr>
        <p:spPr>
          <a:xfrm>
            <a:off x="10972800" y="6492240"/>
            <a:ext cx="667512" cy="237744"/>
          </a:xfrm>
          <a:prstGeom prst="rect">
            <a:avLst/>
          </a:prstGeom>
          <a:extLst>
            <a:ext uri="{C572A759-6A51-4108-AA02-DFA0A04FC94B}">
              <ma14:wrappingTextBoxFlag xmlns:ma14="http://schemas.microsoft.com/office/mac/drawingml/2011/main" xmlns="" val="0"/>
            </a:ext>
          </a:extLst>
        </p:spPr>
        <p:txBody>
          <a:bodyPr/>
          <a:lstStyle>
            <a:lvl1pPr>
              <a:defRPr sz="1000">
                <a:solidFill>
                  <a:srgbClr val="5C6F66"/>
                </a:solidFill>
              </a:defRPr>
            </a:lvl1pPr>
          </a:lstStyle>
          <a:p>
            <a:pPr algn="r"/>
            <a:fld id="{F7021451-1387-4CA6-816F-3879F97B5CBC}" type="slidenum">
              <a:rPr lang="en-US" b="0"/>
              <a:t>22</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Dau cham"/>
          <p:cNvSpPr/>
          <p:nvPr/>
        </p:nvSpPr>
        <p:spPr>
          <a:xfrm>
            <a:off x="548640" y="429768"/>
            <a:ext cx="118872" cy="118872"/>
          </a:xfrm>
          <a:prstGeom prst="ellipse">
            <a:avLst/>
          </a:prstGeom>
          <a:solidFill>
            <a:schemeClr val="accent2"/>
          </a:solidFill>
          <a:ln/>
        </p:spPr>
      </p:sp>
      <p:sp>
        <p:nvSpPr>
          <p:cNvPr id="3" name="Nhan chuyen muc"/>
          <p:cNvSpPr txBox="1"/>
          <p:nvPr/>
        </p:nvSpPr>
        <p:spPr>
          <a:xfrm>
            <a:off x="777240" y="347472"/>
            <a:ext cx="6949440" cy="274320"/>
          </a:xfrm>
          <a:prstGeom prst="rect">
            <a:avLst/>
          </a:prstGeom>
          <a:noFill/>
          <a:ln/>
        </p:spPr>
        <p:txBody>
          <a:bodyPr wrap="square" lIns="0" tIns="0" rIns="0" bIns="0" rtlCol="0" anchor="ctr"/>
          <a:lstStyle/>
          <a:p>
            <a:pPr marL="0" indent="0" algn="l">
              <a:buNone/>
            </a:pPr>
            <a:r>
              <a:rPr lang="en-US" sz="1200" b="1" kern="0" spc="200" dirty="0">
                <a:solidFill>
                  <a:schemeClr val="accent1"/>
                </a:solidFill>
              </a:rPr>
              <a:t>NGUỒN THAM CHIẾU</a:t>
            </a:r>
            <a:endParaRPr lang="en-US" sz="1200" dirty="0"/>
          </a:p>
        </p:txBody>
      </p:sp>
      <p:sp>
        <p:nvSpPr>
          <p:cNvPr id="4" name="Text 0"/>
          <p:cNvSpPr>
            <a:spLocks noGrp="1"/>
          </p:cNvSpPr>
          <p:nvPr>
            <p:ph type="title" idx="100" hasCustomPrompt="1"/>
          </p:nvPr>
        </p:nvSpPr>
        <p:spPr>
          <a:xfrm>
            <a:off x="548640" y="658368"/>
            <a:ext cx="11094415" cy="777240"/>
          </a:xfrm>
          <a:prstGeom prst="rect">
            <a:avLst/>
          </a:prstGeom>
          <a:noFill/>
          <a:ln/>
        </p:spPr>
        <p:txBody>
          <a:bodyPr wrap="square" lIns="0" tIns="0" rIns="0" bIns="0" rtlCol="0" anchor="ctr"/>
          <a:lstStyle/>
          <a:p>
            <a:pPr marL="0" indent="0" algn="l">
              <a:buNone/>
            </a:pPr>
            <a:r>
              <a:rPr lang="en-US" sz="3000" b="1" dirty="0">
                <a:solidFill>
                  <a:schemeClr val="tx2"/>
                </a:solidFill>
              </a:rPr>
              <a:t>Nguồn tham chiếu và lưu ý</a:t>
            </a:r>
            <a:endParaRPr lang="en-US" sz="3000" dirty="0"/>
          </a:p>
        </p:txBody>
      </p:sp>
      <p:sp>
        <p:nvSpPr>
          <p:cNvPr id="5" name="Danh sach nguon"/>
          <p:cNvSpPr txBox="1"/>
          <p:nvPr/>
        </p:nvSpPr>
        <p:spPr>
          <a:xfrm>
            <a:off x="548640" y="1737360"/>
            <a:ext cx="5394960" cy="3520440"/>
          </a:xfrm>
          <a:prstGeom prst="rect">
            <a:avLst/>
          </a:prstGeom>
          <a:noFill/>
          <a:ln/>
        </p:spPr>
        <p:txBody>
          <a:bodyPr wrap="square" lIns="0" tIns="0" rIns="0" bIns="0" rtlCol="0" anchor="t"/>
          <a:lstStyle/>
          <a:p>
            <a:pPr marL="0" indent="0" algn="l">
              <a:buNone/>
            </a:pPr>
            <a:r>
              <a:rPr lang="en-US" sz="1200" b="1" dirty="0">
                <a:solidFill>
                  <a:schemeClr val="accent1"/>
                </a:solidFill>
              </a:rPr>
              <a:t>SFA Singapore; China Briefing</a:t>
            </a:r>
            <a:endParaRPr lang="en-US" sz="1200" dirty="0"/>
          </a:p>
          <a:p>
            <a:pPr marL="0" indent="0" algn="l">
              <a:spcAft>
                <a:spcPts val="600"/>
              </a:spcAft>
              <a:buNone/>
            </a:pPr>
            <a:r>
              <a:rPr lang="en-US" sz="1200" dirty="0">
                <a:solidFill>
                  <a:schemeClr val="tx1"/>
                </a:solidFill>
              </a:rPr>
              <a:t>Lệnh 280 của GACC: trái cây sấy là nhóm 13 trong 17 nhóm cần giới thiệu; mã hiệu lực 5 năm</a:t>
            </a:r>
            <a:endParaRPr lang="en-US" sz="1200" dirty="0"/>
          </a:p>
          <a:p>
            <a:pPr marL="0" indent="0" algn="l">
              <a:buNone/>
            </a:pPr>
            <a:r>
              <a:rPr lang="en-US" sz="1200" b="1" dirty="0">
                <a:solidFill>
                  <a:schemeClr val="accent1"/>
                </a:solidFill>
              </a:rPr>
              <a:t>Cục Xuất nhập khẩu (VB 500, 13/5/2026); trungtamwto.vn</a:t>
            </a:r>
            <a:endParaRPr lang="en-US" sz="1200" dirty="0"/>
          </a:p>
          <a:p>
            <a:pPr marL="0" indent="0" algn="l">
              <a:spcAft>
                <a:spcPts val="600"/>
              </a:spcAft>
              <a:buNone/>
            </a:pPr>
            <a:r>
              <a:rPr lang="en-US" sz="1200" dirty="0">
                <a:solidFill>
                  <a:schemeClr val="tx1"/>
                </a:solidFill>
              </a:rPr>
              <a:t>Hướng dẫn thực hiện Lệnh 280 cho doanh nghiệp Việt Nam</a:t>
            </a:r>
            <a:endParaRPr lang="en-US" sz="1200" dirty="0"/>
          </a:p>
          <a:p>
            <a:pPr marL="0" indent="0" algn="l">
              <a:buNone/>
            </a:pPr>
            <a:r>
              <a:rPr lang="en-US" sz="1200" b="1" dirty="0">
                <a:solidFill>
                  <a:schemeClr val="accent1"/>
                </a:solidFill>
              </a:rPr>
              <a:t>Tạp chí Công Thương; Doanh nghiệp và Hội nhập</a:t>
            </a:r>
            <a:endParaRPr lang="en-US" sz="1200" dirty="0"/>
          </a:p>
          <a:p>
            <a:pPr marL="0" indent="0" algn="l">
              <a:spcAft>
                <a:spcPts val="600"/>
              </a:spcAft>
              <a:buNone/>
            </a:pPr>
            <a:r>
              <a:rPr lang="en-US" sz="1200" dirty="0">
                <a:solidFill>
                  <a:schemeClr val="tx1"/>
                </a:solidFill>
              </a:rPr>
              <a:t>Thay đổi lớn (dời địa điểm, đổi người đại diện) phải đăng ký mới; mã in trên bao bì</a:t>
            </a:r>
            <a:endParaRPr lang="en-US" sz="1200" dirty="0"/>
          </a:p>
          <a:p>
            <a:pPr marL="0" indent="0" algn="l">
              <a:buNone/>
            </a:pPr>
            <a:r>
              <a:rPr lang="en-US" sz="1200" b="1" dirty="0">
                <a:solidFill>
                  <a:schemeClr val="accent1"/>
                </a:solidFill>
              </a:rPr>
              <a:t>nongnghiepmoitruong.vn (9/2024)</a:t>
            </a:r>
            <a:endParaRPr lang="en-US" sz="1200" dirty="0"/>
          </a:p>
          <a:p>
            <a:pPr marL="0" indent="0" algn="l">
              <a:spcAft>
                <a:spcPts val="600"/>
              </a:spcAft>
              <a:buNone/>
            </a:pPr>
            <a:r>
              <a:rPr lang="en-US" sz="1200" dirty="0">
                <a:solidFill>
                  <a:schemeClr val="tx1"/>
                </a:solidFill>
              </a:rPr>
              <a:t>13 tiêu chí GACC đánh giá doanh nghiệp sầu riêng đông lạnh theo Lệnh 248</a:t>
            </a:r>
            <a:endParaRPr lang="en-US" sz="1200" dirty="0"/>
          </a:p>
          <a:p>
            <a:pPr marL="0" indent="0" algn="l">
              <a:buNone/>
            </a:pPr>
            <a:r>
              <a:rPr lang="en-US" sz="1200" b="1" dirty="0">
                <a:solidFill>
                  <a:schemeClr val="accent1"/>
                </a:solidFill>
              </a:rPr>
              <a:t>Nghị định 15/2018; Nghị quyết 15/2026/NQ-CP</a:t>
            </a:r>
            <a:endParaRPr lang="en-US" sz="1200" dirty="0"/>
          </a:p>
          <a:p>
            <a:pPr marL="0" indent="0" algn="l">
              <a:spcAft>
                <a:spcPts val="600"/>
              </a:spcAft>
              <a:buNone/>
            </a:pPr>
            <a:r>
              <a:rPr lang="en-US" sz="1200" dirty="0">
                <a:solidFill>
                  <a:schemeClr val="tx1"/>
                </a:solidFill>
              </a:rPr>
              <a:t>NĐ 15/2018 tiếp tục áp dụng; NĐ 46/2026 tạm ngưng đến khi Luật ATTP sửa đổi có hiệu lực</a:t>
            </a:r>
            <a:endParaRPr lang="en-US" sz="1200" dirty="0"/>
          </a:p>
          <a:p>
            <a:pPr marL="0" indent="0" algn="l">
              <a:buNone/>
            </a:pPr>
            <a:r>
              <a:rPr lang="en-US" sz="1200" b="1" dirty="0">
                <a:solidFill>
                  <a:schemeClr val="accent1"/>
                </a:solidFill>
              </a:rPr>
              <a:t>Hình giấy chứng nhận</a:t>
            </a:r>
            <a:endParaRPr lang="en-US" sz="1200" dirty="0"/>
          </a:p>
          <a:p>
            <a:pPr marL="0" indent="0" algn="l">
              <a:spcAft>
                <a:spcPts val="600"/>
              </a:spcAft>
              <a:buNone/>
            </a:pPr>
            <a:r>
              <a:rPr lang="en-US" sz="1200" dirty="0">
                <a:solidFill>
                  <a:schemeClr val="tx1"/>
                </a:solidFill>
              </a:rPr>
              <a:t>Do Viện STP cung cấp: TQC, SGS, Q-CERT, GACC Association, GS1 Việt Nam, mẫu GCN ATTP (NĐ 46/2026), EUR.1</a:t>
            </a:r>
            <a:endParaRPr lang="en-US" sz="1200" dirty="0"/>
          </a:p>
        </p:txBody>
      </p:sp>
      <p:sp>
        <p:nvSpPr>
          <p:cNvPr id="6" name="Danh sach nguon"/>
          <p:cNvSpPr txBox="1"/>
          <p:nvPr/>
        </p:nvSpPr>
        <p:spPr>
          <a:xfrm>
            <a:off x="6245352" y="1737360"/>
            <a:ext cx="5394960" cy="3520440"/>
          </a:xfrm>
          <a:prstGeom prst="rect">
            <a:avLst/>
          </a:prstGeom>
          <a:noFill/>
          <a:ln/>
        </p:spPr>
        <p:txBody>
          <a:bodyPr wrap="square" lIns="0" tIns="0" rIns="0" bIns="0" rtlCol="0" anchor="t"/>
          <a:lstStyle/>
          <a:p>
            <a:pPr marL="0" indent="0" algn="l">
              <a:buNone/>
            </a:pPr>
            <a:r>
              <a:rPr lang="en-US" sz="1200" b="1" dirty="0">
                <a:solidFill>
                  <a:schemeClr val="accent1"/>
                </a:solidFill>
              </a:rPr>
              <a:t>CBI (cbi.eu)</a:t>
            </a:r>
            <a:endParaRPr lang="en-US" sz="1200" dirty="0"/>
          </a:p>
          <a:p>
            <a:pPr marL="0" indent="0" algn="l">
              <a:spcAft>
                <a:spcPts val="600"/>
              </a:spcAft>
              <a:buNone/>
            </a:pPr>
            <a:r>
              <a:rPr lang="en-US" sz="1200" dirty="0">
                <a:solidFill>
                  <a:schemeClr val="tx1"/>
                </a:solidFill>
              </a:rPr>
              <a:t>Yêu cầu người mua EU với trái cây chế biến: GFSI do người mua yêu cầu; HACCP, truy xuất bắt buộc</a:t>
            </a:r>
            <a:endParaRPr lang="en-US" sz="1200" dirty="0"/>
          </a:p>
          <a:p>
            <a:pPr marL="0" indent="0" algn="l">
              <a:buNone/>
            </a:pPr>
            <a:r>
              <a:rPr lang="en-US" sz="1200" b="1" dirty="0">
                <a:solidFill>
                  <a:schemeClr val="accent1"/>
                </a:solidFill>
              </a:rPr>
              <a:t>Vietnam News (9–10/2026); Tuổi Trẻ (3/2026)</a:t>
            </a:r>
            <a:endParaRPr lang="en-US" sz="1200" dirty="0"/>
          </a:p>
          <a:p>
            <a:pPr marL="0" indent="0" algn="l">
              <a:spcAft>
                <a:spcPts val="600"/>
              </a:spcAft>
              <a:buNone/>
            </a:pPr>
            <a:r>
              <a:rPr lang="en-US" sz="1200" dirty="0">
                <a:solidFill>
                  <a:schemeClr val="tx1"/>
                </a:solidFill>
              </a:rPr>
              <a:t>Đề xuất MRL của EU (thông báo WTO 29/1/2026); 15/47 mẫu chanh dây vượt MRL; EU giảm kiểm tra trái cây chế biến</a:t>
            </a:r>
            <a:endParaRPr lang="en-US" sz="1200" dirty="0"/>
          </a:p>
          <a:p>
            <a:pPr marL="0" indent="0" algn="l">
              <a:buNone/>
            </a:pPr>
            <a:r>
              <a:rPr lang="en-US" sz="1200" b="1" dirty="0">
                <a:solidFill>
                  <a:schemeClr val="accent1"/>
                </a:solidFill>
              </a:rPr>
              <a:t>Báo Gia Lai (2025); VAN (2022); Vietstock (2015)</a:t>
            </a:r>
            <a:endParaRPr lang="en-US" sz="1200" dirty="0"/>
          </a:p>
          <a:p>
            <a:pPr marL="0" indent="0" algn="l">
              <a:spcAft>
                <a:spcPts val="600"/>
              </a:spcAft>
              <a:buNone/>
            </a:pPr>
            <a:r>
              <a:rPr lang="en-US" sz="1200" dirty="0">
                <a:solidFill>
                  <a:schemeClr val="tx1"/>
                </a:solidFill>
              </a:rPr>
              <a:t>Green Tropical, Vinamit, Nafoods: số liệu chi tiết ở trang đối chiếu doanh nghiệp</a:t>
            </a:r>
            <a:endParaRPr lang="en-US" sz="1200" dirty="0"/>
          </a:p>
          <a:p>
            <a:pPr marL="0" indent="0" algn="l">
              <a:buNone/>
            </a:pPr>
            <a:r>
              <a:rPr lang="en-US" sz="1200" b="1" dirty="0">
                <a:solidFill>
                  <a:schemeClr val="accent1"/>
                </a:solidFill>
              </a:rPr>
              <a:t>QIMA</a:t>
            </a:r>
            <a:endParaRPr lang="en-US" sz="1200" dirty="0"/>
          </a:p>
          <a:p>
            <a:pPr marL="0" indent="0" algn="l">
              <a:spcAft>
                <a:spcPts val="600"/>
              </a:spcAft>
              <a:buNone/>
            </a:pPr>
            <a:r>
              <a:rPr lang="en-US" sz="1200" dirty="0">
                <a:solidFill>
                  <a:schemeClr val="tx1"/>
                </a:solidFill>
              </a:rPr>
              <a:t>BRCGS: đánh giá 2–3 ngày; chứng nhận trong 49 ngày sau đánh giá; khắc phục lần đầu tối đa 90 ngày</a:t>
            </a:r>
            <a:endParaRPr lang="en-US" sz="1200" dirty="0"/>
          </a:p>
          <a:p>
            <a:pPr marL="0" indent="0" algn="l">
              <a:buNone/>
            </a:pPr>
            <a:r>
              <a:rPr lang="en-US" sz="1200" b="1" dirty="0">
                <a:solidFill>
                  <a:schemeClr val="accent1"/>
                </a:solidFill>
              </a:rPr>
              <a:t>VOV (10/2026); Báo Pháp luật (1/2026)</a:t>
            </a:r>
            <a:endParaRPr lang="en-US" sz="1200" dirty="0"/>
          </a:p>
          <a:p>
            <a:pPr marL="0" indent="0" algn="l">
              <a:spcAft>
                <a:spcPts val="600"/>
              </a:spcAft>
              <a:buNone/>
            </a:pPr>
            <a:r>
              <a:rPr lang="en-US" sz="1200" dirty="0">
                <a:solidFill>
                  <a:schemeClr val="tx1"/>
                </a:solidFill>
              </a:rPr>
              <a:t>Sở Nông nghiệp và Môi trường Đắk Lắk hỗ trợ DNNVV đạt ISO 22000/HACCP</a:t>
            </a:r>
            <a:endParaRPr lang="en-US" sz="1200" dirty="0"/>
          </a:p>
          <a:p>
            <a:pPr marL="0" indent="0" algn="l">
              <a:buNone/>
            </a:pPr>
            <a:r>
              <a:rPr lang="en-US" sz="1200" b="1" dirty="0">
                <a:solidFill>
                  <a:schemeClr val="accent1"/>
                </a:solidFill>
              </a:rPr>
              <a:t>Shypple; Thông tư 11/2020/TT-BCT</a:t>
            </a:r>
            <a:endParaRPr lang="en-US" sz="1200" dirty="0"/>
          </a:p>
          <a:p>
            <a:pPr marL="0" indent="0" algn="l">
              <a:spcAft>
                <a:spcPts val="600"/>
              </a:spcAft>
              <a:buNone/>
            </a:pPr>
            <a:r>
              <a:rPr lang="en-US" sz="1200" dirty="0">
                <a:solidFill>
                  <a:schemeClr val="tx1"/>
                </a:solidFill>
              </a:rPr>
              <a:t>PPWR (Quy định EU 2025/40); hướng dẫn kê khai EUR.1 trong EVFTA</a:t>
            </a:r>
            <a:endParaRPr lang="en-US" sz="1200" dirty="0"/>
          </a:p>
        </p:txBody>
      </p:sp>
      <p:sp>
        <p:nvSpPr>
          <p:cNvPr id="7" name="Khung luu y"/>
          <p:cNvSpPr/>
          <p:nvPr/>
        </p:nvSpPr>
        <p:spPr>
          <a:xfrm>
            <a:off x="548640" y="5394960"/>
            <a:ext cx="11094415" cy="777240"/>
          </a:xfrm>
          <a:prstGeom prst="roundRect">
            <a:avLst>
              <a:gd name="adj" fmla="val 14118"/>
            </a:avLst>
          </a:prstGeom>
          <a:solidFill>
            <a:srgbClr val="FBF1D8"/>
          </a:solidFill>
          <a:ln/>
        </p:spPr>
      </p:sp>
      <p:sp>
        <p:nvSpPr>
          <p:cNvPr id="8" name="Chu luu y"/>
          <p:cNvSpPr txBox="1"/>
          <p:nvPr/>
        </p:nvSpPr>
        <p:spPr>
          <a:xfrm>
            <a:off x="777240" y="5422392"/>
            <a:ext cx="10637215" cy="731520"/>
          </a:xfrm>
          <a:prstGeom prst="rect">
            <a:avLst/>
          </a:prstGeom>
          <a:noFill/>
          <a:ln/>
        </p:spPr>
        <p:txBody>
          <a:bodyPr wrap="square" lIns="0" tIns="0" rIns="0" bIns="0" rtlCol="0" anchor="ctr"/>
          <a:lstStyle/>
          <a:p>
            <a:pPr marL="0" indent="0" algn="l">
              <a:buNone/>
            </a:pPr>
            <a:r>
              <a:rPr lang="en-US" sz="1400" b="1" dirty="0">
                <a:solidFill>
                  <a:schemeClr val="accent6"/>
                </a:solidFill>
              </a:rPr>
              <a:t>Lưu ý: </a:t>
            </a:r>
            <a:r>
              <a:rPr lang="en-US" sz="1400" dirty="0">
                <a:solidFill>
                  <a:schemeClr val="tx1"/>
                </a:solidFill>
              </a:rPr>
              <a:t>các giấy chứng nhận trong bộ slide là mẫu thực tế của doanh nghiệp khác hoặc mẫu biểu, dùng minh họa hình thức. Mốc thời gian, cách chia giai đoạn và số nhân sự là đề xuất hoặc ước tính của tư vấn, chưa có tham chiếu công khai đầy đủ; quy định cần được xác nhận lại với cơ quan có thẩm quyền và nhà nhập khẩu khi nộp hồ sơ.</a:t>
            </a:r>
            <a:endParaRPr lang="en-US" sz="1400" dirty="0"/>
          </a:p>
        </p:txBody>
      </p:sp>
      <p:sp>
        <p:nvSpPr>
          <p:cNvPr id="25" name="Slide Number Placeholder 0"/>
          <p:cNvSpPr>
            <a:spLocks noGrp="1"/>
          </p:cNvSpPr>
          <p:nvPr>
            <p:ph type="sldNum" sz="quarter" idx="4294967295"/>
          </p:nvPr>
        </p:nvSpPr>
        <p:spPr>
          <a:xfrm>
            <a:off x="10972800" y="6492240"/>
            <a:ext cx="667512" cy="237744"/>
          </a:xfrm>
          <a:prstGeom prst="rect">
            <a:avLst/>
          </a:prstGeom>
          <a:extLst>
            <a:ext uri="{C572A759-6A51-4108-AA02-DFA0A04FC94B}">
              <ma14:wrappingTextBoxFlag xmlns:ma14="http://schemas.microsoft.com/office/mac/drawingml/2011/main" xmlns="" val="0"/>
            </a:ext>
          </a:extLst>
        </p:spPr>
        <p:txBody>
          <a:bodyPr/>
          <a:lstStyle>
            <a:lvl1pPr>
              <a:defRPr sz="1000">
                <a:solidFill>
                  <a:srgbClr val="5C6F66"/>
                </a:solidFill>
              </a:defRPr>
            </a:lvl1pPr>
          </a:lstStyle>
          <a:p>
            <a:pPr algn="r"/>
            <a:fld id="{F7021451-1387-4CA6-816F-3879F97B5CBC}" type="slidenum">
              <a:rPr lang="en-US" b="0"/>
              <a:t>23</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theme/theme1.xml><?xml version="1.0" encoding="utf-8"?>
<a:theme xmlns:a="http://schemas.openxmlformats.org/drawingml/2006/main" name="Heragrain">
  <a:themeElements>
    <a:clrScheme name="Heragrain">
      <a:dk1>
        <a:srgbClr val="1B2B24"/>
      </a:dk1>
      <a:lt1>
        <a:srgbClr val="FFFFFF"/>
      </a:lt1>
      <a:dk2>
        <a:srgbClr val="1D4B3A"/>
      </a:dk2>
      <a:lt2>
        <a:srgbClr val="F2F6F1"/>
      </a:lt2>
      <a:accent1>
        <a:srgbClr val="1D4B3A"/>
      </a:accent1>
      <a:accent2>
        <a:srgbClr val="E4A92A"/>
      </a:accent2>
      <a:accent3>
        <a:srgbClr val="7A3E8F"/>
      </a:accent3>
      <a:accent4>
        <a:srgbClr val="5E9E68"/>
      </a:accent4>
      <a:accent5>
        <a:srgbClr val="B4432F"/>
      </a:accent5>
      <a:accent6>
        <a:srgbClr val="B7791F"/>
      </a:accent6>
      <a:hlink>
        <a:srgbClr val="1D4B3A"/>
      </a:hlink>
      <a:folHlink>
        <a:srgbClr val="7A3E8F"/>
      </a:folHlink>
    </a:clrScheme>
    <a:fontScheme name="Heragrai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TotalTime>
  <Words>6807</Words>
  <Application>Microsoft Office PowerPoint</Application>
  <PresentationFormat>Widescreen</PresentationFormat>
  <Paragraphs>754</Paragraphs>
  <Slides>23</Slides>
  <Notes>23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Arial</vt:lpstr>
      <vt:lpstr>Calibri</vt:lpstr>
      <vt:lpstr>Cambria</vt:lpstr>
      <vt:lpstr>Heragrain</vt:lpstr>
      <vt:lpstr>PowerPoint Presentation</vt:lpstr>
      <vt:lpstr>5 trụ cột, dựng dần qua 4 giai đoạn đầu tư</vt:lpstr>
      <vt:lpstr>Điểm xuất phát: pháp nhân và thương hiệu đã có</vt:lpstr>
      <vt:lpstr>Bốn giai đoạn: từng bước làm chủ toàn chuỗi</vt:lpstr>
      <vt:lpstr>Giai đoạn 1 · Thu mua: làm chủ nguyên liệu đầu vào</vt:lpstr>
      <vt:lpstr>Giai đoạn 2 · Chế biến: có xưởng riêng đạt ATTP</vt:lpstr>
      <vt:lpstr>Giai đoạn 3 · Sản xuất đạt chuẩn: có mã GACC, lô đầu</vt:lpstr>
      <vt:lpstr>Giai đoạn 4 · Xuất khẩu: tự chủ Trung Quốc và Châu Âu</vt:lpstr>
      <vt:lpstr>Nhân sự dựng dần, không tuyển một lần</vt:lpstr>
      <vt:lpstr>Doanh nghiệp tương tự đã đi như thế nào</vt:lpstr>
      <vt:lpstr>Pháp lý và giấy phép nền tảng phải xong đầu tiên</vt:lpstr>
      <vt:lpstr>Bộ máy đích: 28–40 người, dựng dần theo giai đoạn</vt:lpstr>
      <vt:lpstr>Chất lượng thành phẩm bắt đầu từ nhà vườn</vt:lpstr>
      <vt:lpstr>Dòng chảy một chiều, mỗi bước có kiểm soát</vt:lpstr>
      <vt:lpstr>Thang chứng nhận: từ nền tảng đến chuẩn quốc tế</vt:lpstr>
      <vt:lpstr>Hai cửa thị trường đầu tiên, hai mức độ khó khác nhau</vt:lpstr>
      <vt:lpstr>Trung Quốc: đăng ký GACC là cửa bắt buộc</vt:lpstr>
      <vt:lpstr>Châu Âu: không đăng ký nhà máy, chuẩn rất cao</vt:lpstr>
      <vt:lpstr>C/O EUR.1 và mã số mã vạch cho mỗi lô hàng</vt:lpstr>
      <vt:lpstr>Bao bì đẹp chưa đủ: cần thêm lớp tuân thủ</vt:lpstr>
      <vt:lpstr>Lộ trình 24 tháng theo 4 giai đoạn</vt:lpstr>
      <vt:lpstr>Điều đã kiểm chứng và điều còn là đề xuất</vt:lpstr>
      <vt:lpstr>Nguồn tham chiếu và lưu ý</vt:lpstr>
    </vt:vector>
  </TitlesOfParts>
  <Company>Viện STP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Heragrain Foods — Lộ trình chuẩn bị xuất khẩu</dc:title>
  <dc:subject>PptxGenJS Presentation</dc:subject>
  <dc:creator>Viện STP</dc:creator>
  <cp:lastModifiedBy>dell15 R3</cp:lastModifiedBy>
  <cp:revision>6</cp:revision>
  <dcterms:created xsi:type="dcterms:W3CDTF">2026-10-21T23:52:25Z</dcterms:created>
  <dcterms:modified xsi:type="dcterms:W3CDTF">2026-10-22T00:47:02Z</dcterms:modified>
</cp:coreProperties>
</file>