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image45.jpg" ContentType="image/jpe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1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7132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giới thiệu Viện STP và Công ty CP Kỹ thuật Hàng Hải DAKO – đơn vị cung cấp chương trình đào tạo và cấp chứng chỉ an toàn, vệ sinh lao động cho doanh nghiệp.</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trình bày gồm 4 phần: (1) Viện STP &amp; DAKO, (2) Dịch vụ và các nhóm huấn luyện, (3) Giải pháp chuyển đổi số ATVSLĐ – điểm khác biệt, (4) Hoạt động thực tế và thông tin liên hệ.</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I: giới thiệu Viện STP, DAKO và mối quan hệ trong hệ sinh thái đào tạo ATLĐ.</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huấn luyện ATLĐ là yêu cầu bắt buộc, đồng thời bảo vệ con người – tài sản – uy tín. Viện STP (trực thuộc VUSTA) và DAKO cùng triển khai, hoạt động đào tạo được Bộ Nội vụ cấp phép.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rõ vai trò: Viện STP nghiên cứu, xây dựng chương trình, tư vấn ISO 45001, phát triển nền tảng số. DAKO là pháp nhân được cấp phép tổ chức huấn luyện, thi, cấp chứng chỉ và lưu hồ sơ theo quy định. Doanh nghiệp nhận một giải pháp trọn gói.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sinh thái 3 bên: Viện STP (nghiên cứu, giải pháp, số hóa) – DAKO (triển khai huấn luyện, cấp chứng chỉ) – đối tác &amp; chuyên gia. Nêu 6 giá trị doanh nghiệp nhận được và 5 cam kết.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bày các văn bản pháp lý: Giấy chứng nhận đăng ký doanh nghiệp DAKO (MSDN 0313642407), Giấy xác nhận thay đổi đăng ký ngày 10/11/2025 và ngành nghề 7490 bao gồm huấn luyện an toàn, vệ sinh lao động; quan trắc môi trường lao động; kiểm định kỹ thuật an toàn lao động.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mẫu Thẻ an toàn lao động và Giấy chứng nhận huấn luyện do DAKO cấp. Mỗi chứng chỉ có mã số riêng để tra cứu, xác thực trực tuyến – liên hệ tới phần chuyển đổi số.</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II: dịch vụ, quy trình và các nhóm đối tượng huấn luyện.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dịch vụ huấn luyện &amp; đào tạo: ATVSLĐ (Nhóm 1–6), sơ cấp cứu, an toàn điện, an toàn hóa chất, giáo dục nghề nghiệp – tất cả đều có căn cứ pháp lý rõ ràng.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Dịch vụ kỹ thuật: kiểm định kỹ thuật an toàn thiết bị có yêu cầu nghiêm ngặt, đánh giá rủi ro và xây dựng biện pháp, hiệu chuẩn thiết bị đo, quan trắc môi trường lao động – một đầu mối cho nhiều nhu cầu.</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trình 6 bước: khảo sát → đánh giá rủi ro → xây dựng giải pháp/kế hoạch → huấn luyện (lý thuyết + thực hành tại chỗ) → kiểm tra &amp; cấp chứng chỉ → hỗ trợ sau đào tạo, tái đào tạo định kỳ và cải tiến liên tục.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1 và Nhóm 2: đối tượng áp dụng và giá trị chương trình mang lại cho doanh nghiệp.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3 và Nhóm 4: đối tượng áp dụng và giá trị chương trình mang lại cho doanh nghiệp.</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Nhóm 5 và Nhóm 6: đối tượng áp dụng và giá trị chương trình mang lại cho doanh nghiệp.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III – điểm khác biệt của Viện STP &amp; DAKO so với các đơn vị khác: giải pháp quản lý ATVSLĐ bằng công nghệ số.</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Đặt vấn đề: 5 khó khăn phổ biến khi quản lý ATVSLĐ thủ công. Hỏi khách hàng doanh nghiệp đang gặp những vấn đề nào để dẫn dắt sang giải pháp.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từ Excel/hồ sơ giấy sang quản lý tập trung – trực quan – chủ động – số hóa. Điểm nhấn: cảnh báo tự động, QR Code tra cứu chứng chỉ, dashboard real-time cho lãnh đạo và định hướng ứng dụng AI.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khác biệt cốt lõi: không chỉ số hóa hồ sơ mà kết nối Doanh nghiệp – Viện STP – Người lao động. Ký hợp đồng đào tạo là có tài khoản doanh nghiệp và tài khoản cá nhân cho từng học viên.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tài khoản doanh nghiệp: dashboard tổng quan với cảnh báo cần xử lý, chỉ số tuân thủ huấn luyện, chứng chỉ sắp hết hạn (cảnh báo trước 30 ngày), trạng thái kiểm định thiết bị, xu hướng và phân loại sự cố.</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Đào tạo: danh mục khóa học theo ngành nghề (ví dụ nhóm 3 bốc xếp, xử lý nước thải, ô tô, hàn cắt, cơ khí, điện), đăng ký nhanh, quản lý lớp học – hợp đồng – học viên – thanh toán, hồ sơ pháp lý của Viện.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An toàn &amp; tài sản: quản lý thiết bị và hạn kiểm định (còn hạn / sắp hết hạn / quá hạn), ghi nhận – phân tích tai nạn sự cố, vật tư hóa chất, nhập kho chứng từ, cấp phát PPE.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Cổng tra cứu daotao.vienstp.com: tra cứu theo mã chứng chỉ hoặc số CCCD, có mã xác thực bảo mật 3 phút. Đối tác và cơ quan chức năng có thể tự xác thực chứng chỉ bất cứ lúc nào.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STP Learner Portal: học viên theo dõi khóa học của mình, bảng cấp, trang bị BHLĐ, gửi báo cáo sự cố và yêu cầu nhân sự, xem bảng tin, tin tức và tài liệu pháp luật mới.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lý do chọn Viện STP làm đối tác dài hạn: uy tín (trực thuộc VUSTA), tiết kiệm chi phí (không phải mua phần mềm riêng), chuyển đổi số toàn diện và có hồ sơ năng lực ATVSLĐ phục vụ đấu thầu, thanh tra. Kêu gọi ký hợp đồng đào tạo.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điệp chốt phần chuyển đổi số: khóa học kết thúc sau vài ngày nhưng ATVSLĐ phải quản lý mỗi ngày. Viện STP: Đào tạo số – Quản lý số – Theo dõi số – Đồng hành lâu dài.</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IV: hoạt động huấn luyện thực tế, lý do hợp tác và thông tin liên hệ.</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ảnh thực tế các khóa huấn luyện ATLĐ đã triển khai tại doanh nghiệp: Asanka, Emivest Feedmill, Hogetsu, Thang máy Pacific, HT Vina, Toyota Thanh Xuân, Vina T&amp;T, P.Dussmann.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lý do hợp tác: một đầu mối nhiều dịch vụ, trách nhiệm là uy tín, chi phí hợp lý, tận tâm và đồng hành. Phương châm “Giá trị tích lũy – Niềm tin”.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Cảm ơn khách hàng, mời trao đổi nhu cầu cụ thể. Thông tin liên hệ: website vienstp.com, email, hotline và 3 văn phòng Hà Nội – Nha Trang – TP.HCM.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4.jpeg"/></Relationships>
</file>

<file path=ppt/slides/_rels/slide4.xml.rels><?xml version="1.0" encoding="UTF-8" standalone="yes"?>
<Relationships xmlns="http://schemas.openxmlformats.org/package/2006/relationships"><Relationship Id="rId8" Type="http://schemas.openxmlformats.org/officeDocument/2006/relationships/image" Target="../media/image20.jpeg"/><Relationship Id="rId3" Type="http://schemas.openxmlformats.org/officeDocument/2006/relationships/image" Target="../media/image15.png"/><Relationship Id="rId7" Type="http://schemas.openxmlformats.org/officeDocument/2006/relationships/image" Target="../media/image19.jpe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8.jpeg"/><Relationship Id="rId5" Type="http://schemas.openxmlformats.org/officeDocument/2006/relationships/image" Target="../media/image17.png"/><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notesSlide" Target="../notesSlides/notesSlide5.xml"/><Relationship Id="rId16" Type="http://schemas.openxmlformats.org/officeDocument/2006/relationships/image" Target="../media/image33.png"/><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5" Type="http://schemas.openxmlformats.org/officeDocument/2006/relationships/image" Target="../media/image3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s>
</file>

<file path=ppt/slides/_rels/slide6.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5.png"/><Relationship Id="rId7" Type="http://schemas.openxmlformats.org/officeDocument/2006/relationships/image" Target="../media/image38.png"/><Relationship Id="rId12"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7.png"/><Relationship Id="rId11" Type="http://schemas.openxmlformats.org/officeDocument/2006/relationships/image" Target="../media/image41.png"/><Relationship Id="rId5" Type="http://schemas.openxmlformats.org/officeDocument/2006/relationships/image" Target="../media/image36.png"/><Relationship Id="rId10" Type="http://schemas.openxmlformats.org/officeDocument/2006/relationships/image" Target="../media/image4.png"/><Relationship Id="rId4" Type="http://schemas.openxmlformats.org/officeDocument/2006/relationships/image" Target="../media/image35.png"/><Relationship Id="rId9" Type="http://schemas.openxmlformats.org/officeDocument/2006/relationships/image" Target="../media/image40.png"/></Relationships>
</file>

<file path=ppt/slides/_rels/slide7.xml.rels><?xml version="1.0" encoding="UTF-8" standalone="yes"?>
<Relationships xmlns="http://schemas.openxmlformats.org/package/2006/relationships"><Relationship Id="rId3" Type="http://schemas.openxmlformats.org/officeDocument/2006/relationships/image" Target="../media/image42.jp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5.jpg"/><Relationship Id="rId5" Type="http://schemas.openxmlformats.org/officeDocument/2006/relationships/image" Target="../media/image44.png"/><Relationship Id="rId4" Type="http://schemas.openxmlformats.org/officeDocument/2006/relationships/image" Target="../media/image43.jp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9.jpeg"/><Relationship Id="rId5" Type="http://schemas.openxmlformats.org/officeDocument/2006/relationships/image" Target="../media/image48.pn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54.jpe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jpeg"/></Relationships>
</file>

<file path=ppt/slides/_rels/slide10.xml.rels><?xml version="1.0" encoding="UTF-8" standalone="yes"?>
<Relationships xmlns="http://schemas.openxmlformats.org/package/2006/relationships"><Relationship Id="rId3" Type="http://schemas.openxmlformats.org/officeDocument/2006/relationships/image" Target="../media/image55.jpeg"/><Relationship Id="rId7" Type="http://schemas.openxmlformats.org/officeDocument/2006/relationships/image" Target="../media/image59.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8.jpeg"/><Relationship Id="rId5" Type="http://schemas.openxmlformats.org/officeDocument/2006/relationships/image" Target="../media/image57.jpeg"/><Relationship Id="rId4" Type="http://schemas.openxmlformats.org/officeDocument/2006/relationships/image" Target="../media/image56.jpeg"/></Relationships>
</file>

<file path=ppt/slides/_rels/slide11.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60.jpeg"/><Relationship Id="rId7" Type="http://schemas.openxmlformats.org/officeDocument/2006/relationships/image" Target="../media/image63.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jpeg"/><Relationship Id="rId10" Type="http://schemas.openxmlformats.org/officeDocument/2006/relationships/image" Target="../media/image66.png"/><Relationship Id="rId4" Type="http://schemas.openxmlformats.org/officeDocument/2006/relationships/image" Target="../media/image23.png"/><Relationship Id="rId9" Type="http://schemas.openxmlformats.org/officeDocument/2006/relationships/image" Target="../media/image65.jpeg"/></Relationships>
</file>

<file path=ppt/slides/_rels/slide12.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13.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6.jpeg"/><Relationship Id="rId5" Type="http://schemas.openxmlformats.org/officeDocument/2006/relationships/image" Target="../media/image75.jpeg"/><Relationship Id="rId4" Type="http://schemas.openxmlformats.org/officeDocument/2006/relationships/image" Target="../media/image74.jpeg"/></Relationships>
</file>

<file path=ppt/slides/_rels/slide14.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0.jpeg"/><Relationship Id="rId5" Type="http://schemas.openxmlformats.org/officeDocument/2006/relationships/image" Target="../media/image79.jpeg"/><Relationship Id="rId4" Type="http://schemas.openxmlformats.org/officeDocument/2006/relationships/image" Target="../media/image78.jpeg"/></Relationships>
</file>

<file path=ppt/slides/_rels/slide15.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4.jpeg"/><Relationship Id="rId5" Type="http://schemas.openxmlformats.org/officeDocument/2006/relationships/image" Target="../media/image83.jpeg"/><Relationship Id="rId4" Type="http://schemas.openxmlformats.org/officeDocument/2006/relationships/image" Target="../media/image82.jpe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85.jpe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87.png"/><Relationship Id="rId4" Type="http://schemas.openxmlformats.org/officeDocument/2006/relationships/image" Target="../media/image86.png"/></Relationships>
</file>

<file path=ppt/slides/_rels/slide18.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7.png"/><Relationship Id="rId3" Type="http://schemas.openxmlformats.org/officeDocument/2006/relationships/image" Target="../media/image88.png"/><Relationship Id="rId7" Type="http://schemas.openxmlformats.org/officeDocument/2006/relationships/image" Target="../media/image92.png"/><Relationship Id="rId12" Type="http://schemas.openxmlformats.org/officeDocument/2006/relationships/image" Target="../media/image9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91.png"/><Relationship Id="rId11" Type="http://schemas.openxmlformats.org/officeDocument/2006/relationships/image" Target="../media/image95.png"/><Relationship Id="rId5" Type="http://schemas.openxmlformats.org/officeDocument/2006/relationships/image" Target="../media/image90.png"/><Relationship Id="rId10" Type="http://schemas.openxmlformats.org/officeDocument/2006/relationships/image" Target="../media/image94.png"/><Relationship Id="rId4" Type="http://schemas.openxmlformats.org/officeDocument/2006/relationships/image" Target="../media/image89.png"/><Relationship Id="rId9" Type="http://schemas.openxmlformats.org/officeDocument/2006/relationships/image" Target="../media/image62.png"/></Relationships>
</file>

<file path=ppt/slides/_rels/slide19.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99.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100.jpeg"/><Relationship Id="rId7" Type="http://schemas.openxmlformats.org/officeDocument/2006/relationships/image" Target="../media/image10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93.png"/><Relationship Id="rId5" Type="http://schemas.openxmlformats.org/officeDocument/2006/relationships/image" Target="../media/image102.png"/><Relationship Id="rId4" Type="http://schemas.openxmlformats.org/officeDocument/2006/relationships/image" Target="../media/image101.jpeg"/></Relationships>
</file>

<file path=ppt/slides/_rels/slide21.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5.png"/></Relationships>
</file>

<file path=ppt/slides/_rels/slide22.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106.jpeg"/><Relationship Id="rId7" Type="http://schemas.openxmlformats.org/officeDocument/2006/relationships/image" Target="../media/image10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62.png"/><Relationship Id="rId4" Type="http://schemas.openxmlformats.org/officeDocument/2006/relationships/image" Target="../media/image103.png"/></Relationships>
</file>

<file path=ppt/slides/_rels/slide23.xml.rels><?xml version="1.0" encoding="UTF-8" standalone="yes"?>
<Relationships xmlns="http://schemas.openxmlformats.org/package/2006/relationships"><Relationship Id="rId8" Type="http://schemas.openxmlformats.org/officeDocument/2006/relationships/image" Target="../media/image113.jpeg"/><Relationship Id="rId3" Type="http://schemas.openxmlformats.org/officeDocument/2006/relationships/image" Target="../media/image4.png"/><Relationship Id="rId7" Type="http://schemas.openxmlformats.org/officeDocument/2006/relationships/image" Target="../media/image11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24.xml.rels><?xml version="1.0" encoding="UTF-8" standalone="yes"?>
<Relationships xmlns="http://schemas.openxmlformats.org/package/2006/relationships"><Relationship Id="rId8" Type="http://schemas.openxmlformats.org/officeDocument/2006/relationships/image" Target="../media/image118.png"/><Relationship Id="rId3" Type="http://schemas.openxmlformats.org/officeDocument/2006/relationships/image" Target="../media/image114.jpeg"/><Relationship Id="rId7" Type="http://schemas.openxmlformats.org/officeDocument/2006/relationships/image" Target="../media/image117.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05.png"/></Relationships>
</file>

<file path=ppt/slides/_rels/slide25.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22.png"/><Relationship Id="rId5" Type="http://schemas.openxmlformats.org/officeDocument/2006/relationships/image" Target="../media/image121.png"/><Relationship Id="rId4" Type="http://schemas.openxmlformats.org/officeDocument/2006/relationships/image" Target="../media/image120.png"/></Relationships>
</file>

<file path=ppt/slides/_rels/slide26.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127.jpe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126.jpeg"/><Relationship Id="rId5" Type="http://schemas.openxmlformats.org/officeDocument/2006/relationships/image" Target="../media/image125.jpeg"/><Relationship Id="rId4" Type="http://schemas.openxmlformats.org/officeDocument/2006/relationships/image" Target="../media/image124.jpeg"/></Relationships>
</file>

<file path=ppt/slides/_rels/slide28.xml.rels><?xml version="1.0" encoding="UTF-8" standalone="yes"?>
<Relationships xmlns="http://schemas.openxmlformats.org/package/2006/relationships"><Relationship Id="rId8" Type="http://schemas.openxmlformats.org/officeDocument/2006/relationships/image" Target="../media/image133.jpeg"/><Relationship Id="rId3" Type="http://schemas.openxmlformats.org/officeDocument/2006/relationships/image" Target="../media/image128.jpeg"/><Relationship Id="rId7" Type="http://schemas.openxmlformats.org/officeDocument/2006/relationships/image" Target="../media/image132.jpe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31.jpeg"/><Relationship Id="rId5" Type="http://schemas.openxmlformats.org/officeDocument/2006/relationships/image" Target="../media/image130.jpeg"/><Relationship Id="rId10" Type="http://schemas.openxmlformats.org/officeDocument/2006/relationships/image" Target="../media/image135.jpeg"/><Relationship Id="rId4" Type="http://schemas.openxmlformats.org/officeDocument/2006/relationships/image" Target="../media/image129.jpeg"/><Relationship Id="rId9" Type="http://schemas.openxmlformats.org/officeDocument/2006/relationships/image" Target="../media/image134.jpeg"/></Relationships>
</file>

<file path=ppt/slides/_rels/slide29.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37.jpeg"/><Relationship Id="rId7" Type="http://schemas.openxmlformats.org/officeDocument/2006/relationships/image" Target="../media/image138.png"/><Relationship Id="rId12"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39.png"/><Relationship Id="rId5" Type="http://schemas.openxmlformats.org/officeDocument/2006/relationships/image" Target="../media/image4.png"/><Relationship Id="rId10" Type="http://schemas.openxmlformats.org/officeDocument/2006/relationships/image" Target="../media/image8.png"/><Relationship Id="rId4" Type="http://schemas.openxmlformats.org/officeDocument/2006/relationships/image" Target="../media/image3.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1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3566160" y="0"/>
            <a:ext cx="8622792" cy="6858000"/>
          </a:xfrm>
          <a:prstGeom prst="rect">
            <a:avLst/>
          </a:prstGeom>
        </p:spPr>
      </p:pic>
      <p:pic>
        <p:nvPicPr>
          <p:cNvPr id="3" name="Image 1" descr="/home/claude/assets/grad_left_dark.png"/>
          <p:cNvPicPr>
            <a:picLocks noChangeAspect="1"/>
          </p:cNvPicPr>
          <p:nvPr/>
        </p:nvPicPr>
        <p:blipFill>
          <a:blip r:embed="rId4"/>
          <a:stretch>
            <a:fillRect/>
          </a:stretch>
        </p:blipFill>
        <p:spPr>
          <a:xfrm>
            <a:off x="3566160" y="0"/>
            <a:ext cx="8622792" cy="6858000"/>
          </a:xfrm>
          <a:prstGeom prst="rect">
            <a:avLst/>
          </a:prstGeom>
        </p:spPr>
      </p:pic>
      <p:pic>
        <p:nvPicPr>
          <p:cNvPr id="4" name="Image 2" descr="/home/claude/assets/grad_bottom_dark.png"/>
          <p:cNvPicPr>
            <a:picLocks noChangeAspect="1"/>
          </p:cNvPicPr>
          <p:nvPr/>
        </p:nvPicPr>
        <p:blipFill>
          <a:blip r:embed="rId5"/>
          <a:stretch>
            <a:fillRect/>
          </a:stretch>
        </p:blipFill>
        <p:spPr>
          <a:xfrm>
            <a:off x="0" y="3291840"/>
            <a:ext cx="12191695" cy="3566160"/>
          </a:xfrm>
          <a:prstGeom prst="rect">
            <a:avLst/>
          </a:prstGeom>
        </p:spPr>
      </p:pic>
      <p:pic>
        <p:nvPicPr>
          <p:cNvPr id="5" name="Image 3" descr="/home/claude/assets/beams_dark.png"/>
          <p:cNvPicPr>
            <a:picLocks noChangeAspect="1"/>
          </p:cNvPicPr>
          <p:nvPr/>
        </p:nvPicPr>
        <p:blipFill>
          <a:blip r:embed="rId6">
            <a:alphaModFix amt="65000"/>
          </a:blip>
          <a:stretch>
            <a:fillRect/>
          </a:stretch>
        </p:blipFill>
        <p:spPr>
          <a:xfrm>
            <a:off x="5029200" y="3108960"/>
            <a:ext cx="7159752" cy="3749040"/>
          </a:xfrm>
          <a:prstGeom prst="rect">
            <a:avLst/>
          </a:prstGeom>
        </p:spPr>
      </p:pic>
      <p:pic>
        <p:nvPicPr>
          <p:cNvPr id="6" name="Image 4" descr="/home/claude/assets/logo_stp.png"/>
          <p:cNvPicPr>
            <a:picLocks noChangeAspect="1"/>
          </p:cNvPicPr>
          <p:nvPr/>
        </p:nvPicPr>
        <p:blipFill>
          <a:blip r:embed="rId7"/>
          <a:stretch>
            <a:fillRect/>
          </a:stretch>
        </p:blipFill>
        <p:spPr>
          <a:xfrm>
            <a:off x="502920" y="365760"/>
            <a:ext cx="1005840" cy="1005840"/>
          </a:xfrm>
          <a:prstGeom prst="rect">
            <a:avLst/>
          </a:prstGeom>
        </p:spPr>
      </p:pic>
      <p:sp>
        <p:nvSpPr>
          <p:cNvPr id="7" name="Shape 0"/>
          <p:cNvSpPr/>
          <p:nvPr/>
        </p:nvSpPr>
        <p:spPr>
          <a:xfrm>
            <a:off x="1691640" y="438912"/>
            <a:ext cx="859536" cy="859536"/>
          </a:xfrm>
          <a:prstGeom prst="ellipse">
            <a:avLst/>
          </a:prstGeom>
          <a:solidFill>
            <a:srgbClr val="FFFFFF"/>
          </a:solidFill>
          <a:ln/>
        </p:spPr>
      </p:sp>
      <p:sp>
        <p:nvSpPr>
          <p:cNvPr id="9" name="Text 1"/>
          <p:cNvSpPr txBox="1"/>
          <p:nvPr/>
        </p:nvSpPr>
        <p:spPr>
          <a:xfrm>
            <a:off x="2743200" y="713232"/>
            <a:ext cx="4572000" cy="274320"/>
          </a:xfrm>
          <a:prstGeom prst="rect">
            <a:avLst/>
          </a:prstGeom>
          <a:noFill/>
          <a:ln/>
        </p:spPr>
        <p:txBody>
          <a:bodyPr wrap="square" lIns="0" tIns="0" rIns="0" bIns="0" rtlCol="0" anchor="ctr"/>
          <a:lstStyle/>
          <a:p>
            <a:pPr marL="0" indent="0">
              <a:buNone/>
            </a:pPr>
            <a:r>
              <a:rPr lang="en-US" sz="1000" b="1" kern="0" spc="300" dirty="0">
                <a:solidFill>
                  <a:srgbClr val="B9D3C0"/>
                </a:solidFill>
                <a:latin typeface="Arial" pitchFamily="34" charset="0"/>
                <a:ea typeface="Arial" pitchFamily="34" charset="-122"/>
                <a:cs typeface="Arial" pitchFamily="34" charset="-120"/>
              </a:rPr>
              <a:t>VIỆN STP  ×  DAKO MARINE TECHNOLOGY</a:t>
            </a:r>
            <a:endParaRPr lang="en-US" sz="1000" dirty="0"/>
          </a:p>
        </p:txBody>
      </p:sp>
      <p:sp>
        <p:nvSpPr>
          <p:cNvPr id="10" name="Shape 2"/>
          <p:cNvSpPr/>
          <p:nvPr/>
        </p:nvSpPr>
        <p:spPr>
          <a:xfrm>
            <a:off x="9677095" y="-228600"/>
            <a:ext cx="1965960" cy="566928"/>
          </a:xfrm>
          <a:prstGeom prst="roundRect">
            <a:avLst>
              <a:gd name="adj" fmla="val 25806"/>
            </a:avLst>
          </a:prstGeom>
          <a:solidFill>
            <a:srgbClr val="0F5B34"/>
          </a:solidFill>
          <a:ln/>
        </p:spPr>
      </p:sp>
      <p:sp>
        <p:nvSpPr>
          <p:cNvPr id="11" name="Text 3"/>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A8D84E"/>
                </a:solidFill>
                <a:latin typeface="Arial" pitchFamily="34" charset="0"/>
                <a:ea typeface="Arial" pitchFamily="34" charset="-122"/>
                <a:cs typeface="Arial" pitchFamily="34" charset="-120"/>
              </a:rPr>
              <a:t>STP INSTITUTE</a:t>
            </a:r>
            <a:endParaRPr lang="en-US" sz="950" dirty="0"/>
          </a:p>
        </p:txBody>
      </p:sp>
      <p:sp>
        <p:nvSpPr>
          <p:cNvPr id="12" name="Text 4"/>
          <p:cNvSpPr txBox="1"/>
          <p:nvPr/>
        </p:nvSpPr>
        <p:spPr>
          <a:xfrm>
            <a:off x="548640" y="1783080"/>
            <a:ext cx="5486400" cy="320040"/>
          </a:xfrm>
          <a:prstGeom prst="rect">
            <a:avLst/>
          </a:prstGeom>
          <a:noFill/>
          <a:ln/>
        </p:spPr>
        <p:txBody>
          <a:bodyPr wrap="square" lIns="0" tIns="0" rIns="0" bIns="0" rtlCol="0" anchor="t"/>
          <a:lstStyle/>
          <a:p>
            <a:pPr marL="0" indent="0">
              <a:buNone/>
            </a:pPr>
            <a:r>
              <a:rPr lang="en-US" sz="1400" b="1" kern="0" spc="800" dirty="0">
                <a:solidFill>
                  <a:srgbClr val="A8D84E"/>
                </a:solidFill>
                <a:latin typeface="Arial" pitchFamily="34" charset="0"/>
                <a:ea typeface="Arial" pitchFamily="34" charset="-122"/>
                <a:cs typeface="Arial" pitchFamily="34" charset="-120"/>
              </a:rPr>
              <a:t>HỒ SƠ NĂNG LỰC</a:t>
            </a:r>
            <a:endParaRPr lang="en-US" sz="1400" dirty="0"/>
          </a:p>
        </p:txBody>
      </p:sp>
      <p:sp>
        <p:nvSpPr>
          <p:cNvPr id="13" name="Text 5"/>
          <p:cNvSpPr txBox="1"/>
          <p:nvPr/>
        </p:nvSpPr>
        <p:spPr>
          <a:xfrm>
            <a:off x="548640" y="2176272"/>
            <a:ext cx="7772400" cy="411480"/>
          </a:xfrm>
          <a:prstGeom prst="rect">
            <a:avLst/>
          </a:prstGeom>
          <a:noFill/>
          <a:ln/>
        </p:spPr>
        <p:txBody>
          <a:bodyPr wrap="square" lIns="0" tIns="0" rIns="0" bIns="0" rtlCol="0" anchor="t"/>
          <a:lstStyle/>
          <a:p>
            <a:pPr marL="0" indent="0">
              <a:buNone/>
            </a:pPr>
            <a:r>
              <a:rPr lang="en-US" sz="2200" b="1" dirty="0">
                <a:solidFill>
                  <a:srgbClr val="FFFFFF"/>
                </a:solidFill>
                <a:latin typeface="Arial" pitchFamily="34" charset="0"/>
                <a:ea typeface="Arial" pitchFamily="34" charset="-122"/>
                <a:cs typeface="Arial" pitchFamily="34" charset="-120"/>
              </a:rPr>
              <a:t>CHƯƠNG TRÌNH ĐÀO TẠO &amp; CẤP CHỨNG CHỈ</a:t>
            </a:r>
            <a:endParaRPr lang="en-US" sz="2200" dirty="0"/>
          </a:p>
        </p:txBody>
      </p:sp>
      <p:sp>
        <p:nvSpPr>
          <p:cNvPr id="14" name="Text 6"/>
          <p:cNvSpPr txBox="1"/>
          <p:nvPr/>
        </p:nvSpPr>
        <p:spPr>
          <a:xfrm>
            <a:off x="548640" y="2651760"/>
            <a:ext cx="8229600" cy="731520"/>
          </a:xfrm>
          <a:prstGeom prst="rect">
            <a:avLst/>
          </a:prstGeom>
          <a:noFill/>
          <a:ln/>
          <a:effectLst>
            <a:outerShdw blurRad="101600" dist="25400" dir="5400000" algn="bl" rotWithShape="0">
              <a:srgbClr val="000000">
                <a:alpha val="45000"/>
              </a:srgbClr>
            </a:outerShdw>
          </a:effectLst>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AN TOÀN, VỆ SINH</a:t>
            </a:r>
            <a:endParaRPr lang="en-US" sz="4600" dirty="0"/>
          </a:p>
        </p:txBody>
      </p:sp>
      <p:sp>
        <p:nvSpPr>
          <p:cNvPr id="15" name="Text 7"/>
          <p:cNvSpPr txBox="1"/>
          <p:nvPr/>
        </p:nvSpPr>
        <p:spPr>
          <a:xfrm>
            <a:off x="548640" y="3310128"/>
            <a:ext cx="8229600" cy="1234440"/>
          </a:xfrm>
          <a:prstGeom prst="rect">
            <a:avLst/>
          </a:prstGeom>
          <a:noFill/>
          <a:ln/>
          <a:effectLst>
            <a:outerShdw blurRad="101600" dist="25400" dir="5400000" algn="bl" rotWithShape="0">
              <a:srgbClr val="000000">
                <a:alpha val="45000"/>
              </a:srgbClr>
            </a:outerShdw>
          </a:effectLst>
        </p:spPr>
        <p:txBody>
          <a:bodyPr wrap="square" lIns="0" tIns="0" rIns="0" bIns="0" rtlCol="0" anchor="t"/>
          <a:lstStyle/>
          <a:p>
            <a:pPr marL="0" indent="0">
              <a:buNone/>
            </a:pPr>
            <a:r>
              <a:rPr lang="en-US" sz="8400" b="1" dirty="0">
                <a:solidFill>
                  <a:srgbClr val="A8D84E"/>
                </a:solidFill>
                <a:latin typeface="Arial" pitchFamily="34" charset="0"/>
                <a:ea typeface="Arial" pitchFamily="34" charset="-122"/>
                <a:cs typeface="Arial" pitchFamily="34" charset="-120"/>
              </a:rPr>
              <a:t>LAO ĐỘNG</a:t>
            </a:r>
            <a:endParaRPr lang="en-US" sz="8400" dirty="0"/>
          </a:p>
        </p:txBody>
      </p:sp>
      <p:sp>
        <p:nvSpPr>
          <p:cNvPr id="16" name="Text 8"/>
          <p:cNvSpPr txBox="1"/>
          <p:nvPr/>
        </p:nvSpPr>
        <p:spPr>
          <a:xfrm>
            <a:off x="548640" y="4645152"/>
            <a:ext cx="7772400" cy="320040"/>
          </a:xfrm>
          <a:prstGeom prst="rect">
            <a:avLst/>
          </a:prstGeom>
          <a:noFill/>
          <a:ln/>
        </p:spPr>
        <p:txBody>
          <a:bodyPr wrap="square" lIns="0" tIns="0" rIns="0" bIns="0" rtlCol="0" anchor="t"/>
          <a:lstStyle/>
          <a:p>
            <a:pPr marL="0" indent="0">
              <a:buNone/>
            </a:pPr>
            <a:r>
              <a:rPr lang="en-US" sz="1500" b="1" dirty="0">
                <a:solidFill>
                  <a:srgbClr val="FFFFFF"/>
                </a:solidFill>
                <a:latin typeface="Arial" pitchFamily="34" charset="0"/>
                <a:ea typeface="Arial" pitchFamily="34" charset="-122"/>
                <a:cs typeface="Arial" pitchFamily="34" charset="-120"/>
              </a:rPr>
              <a:t>VIỆN NGHIÊN CỨU PHÁT TRIỂN GIÁO DỤC VÀ NGHỀ NGHIỆP STP</a:t>
            </a:r>
            <a:endParaRPr lang="en-US" sz="1500" dirty="0"/>
          </a:p>
        </p:txBody>
      </p:sp>
      <p:sp>
        <p:nvSpPr>
          <p:cNvPr id="17" name="Text 9"/>
          <p:cNvSpPr txBox="1"/>
          <p:nvPr/>
        </p:nvSpPr>
        <p:spPr>
          <a:xfrm>
            <a:off x="548640" y="4983480"/>
            <a:ext cx="7772400" cy="292608"/>
          </a:xfrm>
          <a:prstGeom prst="rect">
            <a:avLst/>
          </a:prstGeom>
          <a:noFill/>
          <a:ln/>
        </p:spPr>
        <p:txBody>
          <a:bodyPr wrap="square" lIns="0" tIns="0" rIns="0" bIns="0" rtlCol="0" anchor="t"/>
          <a:lstStyle/>
          <a:p>
            <a:pPr marL="0" indent="0">
              <a:buNone/>
            </a:pPr>
            <a:r>
              <a:rPr lang="en-US" sz="1400" dirty="0">
                <a:solidFill>
                  <a:srgbClr val="B9D3C0"/>
                </a:solidFill>
                <a:latin typeface="Calibri" pitchFamily="34" charset="0"/>
                <a:ea typeface="Calibri" pitchFamily="34" charset="-122"/>
                <a:cs typeface="Calibri" pitchFamily="34" charset="-120"/>
              </a:rPr>
              <a:t>Phối hợp cùng Công ty Cổ phần Kỹ thuật Hàng Hải DAKO</a:t>
            </a:r>
            <a:endParaRPr lang="en-US" sz="1400" dirty="0"/>
          </a:p>
        </p:txBody>
      </p:sp>
      <p:sp>
        <p:nvSpPr>
          <p:cNvPr id="18" name="Shape 10"/>
          <p:cNvSpPr/>
          <p:nvPr/>
        </p:nvSpPr>
        <p:spPr>
          <a:xfrm>
            <a:off x="548640" y="5760720"/>
            <a:ext cx="2148840" cy="457200"/>
          </a:xfrm>
          <a:prstGeom prst="roundRect">
            <a:avLst>
              <a:gd name="adj" fmla="val 50000"/>
            </a:avLst>
          </a:prstGeom>
          <a:solidFill>
            <a:srgbClr val="FFFFFF">
              <a:alpha val="12000"/>
            </a:srgbClr>
          </a:solidFill>
          <a:ln w="9525">
            <a:solidFill>
              <a:srgbClr val="FFFFFF">
                <a:alpha val="30000"/>
              </a:srgbClr>
            </a:solidFill>
            <a:prstDash val="solid"/>
          </a:ln>
        </p:spPr>
      </p:sp>
      <p:pic>
        <p:nvPicPr>
          <p:cNvPr id="19" name="Image 6" descr="preencoded.png"/>
          <p:cNvPicPr>
            <a:picLocks noChangeAspect="1"/>
          </p:cNvPicPr>
          <p:nvPr/>
        </p:nvPicPr>
        <p:blipFill>
          <a:blip r:embed="rId8"/>
          <a:stretch>
            <a:fillRect/>
          </a:stretch>
        </p:blipFill>
        <p:spPr>
          <a:xfrm>
            <a:off x="731520" y="5879592"/>
            <a:ext cx="219456" cy="219456"/>
          </a:xfrm>
          <a:prstGeom prst="rect">
            <a:avLst/>
          </a:prstGeom>
        </p:spPr>
      </p:pic>
      <p:sp>
        <p:nvSpPr>
          <p:cNvPr id="20" name="Text 11"/>
          <p:cNvSpPr txBox="1"/>
          <p:nvPr/>
        </p:nvSpPr>
        <p:spPr>
          <a:xfrm>
            <a:off x="1051560" y="5760720"/>
            <a:ext cx="155448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www.vienstp.com</a:t>
            </a:r>
            <a:endParaRPr lang="en-US" sz="1300" dirty="0"/>
          </a:p>
        </p:txBody>
      </p:sp>
      <p:sp>
        <p:nvSpPr>
          <p:cNvPr id="21" name="Shape 12"/>
          <p:cNvSpPr/>
          <p:nvPr/>
        </p:nvSpPr>
        <p:spPr>
          <a:xfrm>
            <a:off x="2880360" y="5760720"/>
            <a:ext cx="2971800" cy="457200"/>
          </a:xfrm>
          <a:prstGeom prst="roundRect">
            <a:avLst>
              <a:gd name="adj" fmla="val 50000"/>
            </a:avLst>
          </a:prstGeom>
          <a:solidFill>
            <a:srgbClr val="FFFFFF">
              <a:alpha val="12000"/>
            </a:srgbClr>
          </a:solidFill>
          <a:ln w="9525">
            <a:solidFill>
              <a:srgbClr val="FFFFFF">
                <a:alpha val="30000"/>
              </a:srgbClr>
            </a:solidFill>
            <a:prstDash val="solid"/>
          </a:ln>
        </p:spPr>
      </p:sp>
      <p:pic>
        <p:nvPicPr>
          <p:cNvPr id="22" name="Image 7" descr="preencoded.png"/>
          <p:cNvPicPr>
            <a:picLocks noChangeAspect="1"/>
          </p:cNvPicPr>
          <p:nvPr/>
        </p:nvPicPr>
        <p:blipFill>
          <a:blip r:embed="rId9"/>
          <a:stretch>
            <a:fillRect/>
          </a:stretch>
        </p:blipFill>
        <p:spPr>
          <a:xfrm>
            <a:off x="3063240" y="5879592"/>
            <a:ext cx="219456" cy="219456"/>
          </a:xfrm>
          <a:prstGeom prst="rect">
            <a:avLst/>
          </a:prstGeom>
        </p:spPr>
      </p:pic>
      <p:sp>
        <p:nvSpPr>
          <p:cNvPr id="23" name="Text 13"/>
          <p:cNvSpPr txBox="1"/>
          <p:nvPr/>
        </p:nvSpPr>
        <p:spPr>
          <a:xfrm>
            <a:off x="3383280" y="5760720"/>
            <a:ext cx="237744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viencongnghestp@gmail.com</a:t>
            </a:r>
            <a:endParaRPr lang="en-US" sz="1300" dirty="0"/>
          </a:p>
        </p:txBody>
      </p:sp>
      <p:sp>
        <p:nvSpPr>
          <p:cNvPr id="24" name="Shape 14"/>
          <p:cNvSpPr/>
          <p:nvPr/>
        </p:nvSpPr>
        <p:spPr>
          <a:xfrm>
            <a:off x="6035040" y="5760720"/>
            <a:ext cx="2926080" cy="457200"/>
          </a:xfrm>
          <a:prstGeom prst="roundRect">
            <a:avLst>
              <a:gd name="adj" fmla="val 50000"/>
            </a:avLst>
          </a:prstGeom>
          <a:solidFill>
            <a:srgbClr val="FFFFFF">
              <a:alpha val="12000"/>
            </a:srgbClr>
          </a:solidFill>
          <a:ln w="9525">
            <a:solidFill>
              <a:srgbClr val="FFFFFF">
                <a:alpha val="30000"/>
              </a:srgbClr>
            </a:solidFill>
            <a:prstDash val="solid"/>
          </a:ln>
        </p:spPr>
      </p:sp>
      <p:pic>
        <p:nvPicPr>
          <p:cNvPr id="25" name="Image 8" descr="preencoded.png"/>
          <p:cNvPicPr>
            <a:picLocks noChangeAspect="1"/>
          </p:cNvPicPr>
          <p:nvPr/>
        </p:nvPicPr>
        <p:blipFill>
          <a:blip r:embed="rId10"/>
          <a:stretch>
            <a:fillRect/>
          </a:stretch>
        </p:blipFill>
        <p:spPr>
          <a:xfrm>
            <a:off x="6217920" y="5879592"/>
            <a:ext cx="219456" cy="219456"/>
          </a:xfrm>
          <a:prstGeom prst="rect">
            <a:avLst/>
          </a:prstGeom>
        </p:spPr>
      </p:pic>
      <p:sp>
        <p:nvSpPr>
          <p:cNvPr id="26" name="Text 15"/>
          <p:cNvSpPr txBox="1"/>
          <p:nvPr/>
        </p:nvSpPr>
        <p:spPr>
          <a:xfrm>
            <a:off x="6537960" y="5760720"/>
            <a:ext cx="2331720" cy="45720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0827.695.368  ·  0968.702.701</a:t>
            </a:r>
            <a:endParaRPr lang="en-US" sz="1300" dirty="0"/>
          </a:p>
        </p:txBody>
      </p:sp>
      <p:pic>
        <p:nvPicPr>
          <p:cNvPr id="28" name="Picture 27">
            <a:extLst>
              <a:ext uri="{FF2B5EF4-FFF2-40B4-BE49-F238E27FC236}">
                <a16:creationId xmlns:a16="http://schemas.microsoft.com/office/drawing/2014/main" id="{9CD769D5-1AA4-44C7-AFB9-D2F3A51D7114}"/>
              </a:ext>
            </a:extLst>
          </p:cNvPr>
          <p:cNvPicPr>
            <a:picLocks noChangeAspect="1"/>
          </p:cNvPicPr>
          <p:nvPr/>
        </p:nvPicPr>
        <p:blipFill>
          <a:blip r:embed="rId11"/>
          <a:stretch>
            <a:fillRect/>
          </a:stretch>
        </p:blipFill>
        <p:spPr>
          <a:xfrm>
            <a:off x="1552076" y="365760"/>
            <a:ext cx="1101009" cy="1069848"/>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E1C"/>
        </a:solidFill>
        <a:effectLst/>
      </p:bgPr>
    </p:bg>
    <p:spTree>
      <p:nvGrpSpPr>
        <p:cNvPr id="1" name=""/>
        <p:cNvGrpSpPr/>
        <p:nvPr/>
      </p:nvGrpSpPr>
      <p:grpSpPr>
        <a:xfrm>
          <a:off x="0" y="0"/>
          <a:ext cx="0" cy="0"/>
          <a:chOff x="0" y="0"/>
          <a:chExt cx="0" cy="0"/>
        </a:xfrm>
      </p:grpSpPr>
      <p:pic>
        <p:nvPicPr>
          <p:cNvPr id="2" name="Image 0" descr="/home/claude/assets/beams_dark.png"/>
          <p:cNvPicPr>
            <a:picLocks noChangeAspect="1"/>
          </p:cNvPicPr>
          <p:nvPr/>
        </p:nvPicPr>
        <p:blipFill>
          <a:blip r:embed="rId3">
            <a:alphaModFix amt="45000"/>
          </a:blip>
          <a:stretch>
            <a:fillRect/>
          </a:stretch>
        </p:blipFill>
        <p:spPr>
          <a:xfrm>
            <a:off x="0" y="0"/>
            <a:ext cx="12191695" cy="6858000"/>
          </a:xfrm>
          <a:prstGeom prst="rect">
            <a:avLst/>
          </a:prstGeom>
        </p:spPr>
      </p:pic>
      <p:sp>
        <p:nvSpPr>
          <p:cNvPr id="3" name="Shape 0"/>
          <p:cNvSpPr/>
          <p:nvPr/>
        </p:nvSpPr>
        <p:spPr>
          <a:xfrm>
            <a:off x="548640" y="448056"/>
            <a:ext cx="128016" cy="128016"/>
          </a:xfrm>
          <a:prstGeom prst="roundRect">
            <a:avLst>
              <a:gd name="adj" fmla="val 21429"/>
            </a:avLst>
          </a:prstGeom>
          <a:solidFill>
            <a:srgbClr val="A8D84E"/>
          </a:solidFill>
          <a:ln/>
        </p:spPr>
      </p:sp>
      <p:sp>
        <p:nvSpPr>
          <p:cNvPr id="4"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A8D84E"/>
                </a:solidFill>
                <a:latin typeface="Arial" pitchFamily="34" charset="0"/>
                <a:ea typeface="Arial" pitchFamily="34" charset="-122"/>
                <a:cs typeface="Arial" pitchFamily="34" charset="-120"/>
              </a:rPr>
              <a:t>HỒ SƠ NĂNG LỰC VIỆN STP &amp; DAKO</a:t>
            </a:r>
            <a:endParaRPr lang="en-US" sz="1050" dirty="0"/>
          </a:p>
        </p:txBody>
      </p:sp>
      <p:sp>
        <p:nvSpPr>
          <p:cNvPr id="5"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3200" b="1" dirty="0">
                <a:solidFill>
                  <a:srgbClr val="FFFFFF"/>
                </a:solidFill>
                <a:latin typeface="Arial" pitchFamily="34" charset="0"/>
                <a:ea typeface="Arial" pitchFamily="34" charset="-122"/>
                <a:cs typeface="Arial" pitchFamily="34" charset="-120"/>
              </a:rPr>
              <a:t>NỘI DUNG TRÌNH BÀY</a:t>
            </a:r>
            <a:endParaRPr lang="en-US" sz="3200" dirty="0"/>
          </a:p>
        </p:txBody>
      </p:sp>
      <p:sp>
        <p:nvSpPr>
          <p:cNvPr id="6" name="Shape 3"/>
          <p:cNvSpPr/>
          <p:nvPr/>
        </p:nvSpPr>
        <p:spPr>
          <a:xfrm>
            <a:off x="9677095" y="-228600"/>
            <a:ext cx="1965960" cy="566928"/>
          </a:xfrm>
          <a:prstGeom prst="roundRect">
            <a:avLst>
              <a:gd name="adj" fmla="val 25806"/>
            </a:avLst>
          </a:prstGeom>
          <a:solidFill>
            <a:srgbClr val="0F5B34"/>
          </a:solidFill>
          <a:ln/>
        </p:spPr>
      </p:sp>
      <p:sp>
        <p:nvSpPr>
          <p:cNvPr id="7"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A8D84E"/>
                </a:solidFill>
                <a:latin typeface="Arial" pitchFamily="34" charset="0"/>
                <a:ea typeface="Arial" pitchFamily="34" charset="-122"/>
                <a:cs typeface="Arial" pitchFamily="34" charset="-120"/>
              </a:rPr>
              <a:t>STP INSTITUTE</a:t>
            </a:r>
            <a:endParaRPr lang="en-US" sz="950" dirty="0"/>
          </a:p>
        </p:txBody>
      </p:sp>
      <p:sp>
        <p:nvSpPr>
          <p:cNvPr id="8"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B9D3C0"/>
                </a:solidFill>
                <a:latin typeface="Arial" pitchFamily="34" charset="0"/>
                <a:ea typeface="Arial" pitchFamily="34" charset="-122"/>
                <a:cs typeface="Arial" pitchFamily="34" charset="-120"/>
              </a:rPr>
              <a:t>02</a:t>
            </a:r>
            <a:endParaRPr lang="en-US" sz="900" dirty="0"/>
          </a:p>
        </p:txBody>
      </p:sp>
      <p:sp>
        <p:nvSpPr>
          <p:cNvPr id="9" name="Shape 6"/>
          <p:cNvSpPr/>
          <p:nvPr/>
        </p:nvSpPr>
        <p:spPr>
          <a:xfrm>
            <a:off x="548640" y="1600200"/>
            <a:ext cx="2615184" cy="4389120"/>
          </a:xfrm>
          <a:prstGeom prst="roundRect">
            <a:avLst>
              <a:gd name="adj" fmla="val 6294"/>
            </a:avLst>
          </a:prstGeom>
          <a:solidFill>
            <a:srgbClr val="123D27"/>
          </a:solidFill>
          <a:ln/>
        </p:spPr>
      </p:sp>
      <p:pic>
        <p:nvPicPr>
          <p:cNvPr id="10" name="Image 1" descr="preencoded.png"/>
          <p:cNvPicPr>
            <a:picLocks noChangeAspect="1"/>
          </p:cNvPicPr>
          <p:nvPr/>
        </p:nvPicPr>
        <p:blipFill>
          <a:blip r:embed="rId4"/>
          <a:stretch>
            <a:fillRect/>
          </a:stretch>
        </p:blipFill>
        <p:spPr>
          <a:xfrm>
            <a:off x="658368" y="1709928"/>
            <a:ext cx="2395728" cy="2148840"/>
          </a:xfrm>
          <a:prstGeom prst="rect">
            <a:avLst/>
          </a:prstGeom>
        </p:spPr>
      </p:pic>
      <p:sp>
        <p:nvSpPr>
          <p:cNvPr id="11" name="Text 7"/>
          <p:cNvSpPr txBox="1"/>
          <p:nvPr/>
        </p:nvSpPr>
        <p:spPr>
          <a:xfrm>
            <a:off x="804672" y="4069080"/>
            <a:ext cx="1828800" cy="640080"/>
          </a:xfrm>
          <a:prstGeom prst="rect">
            <a:avLst/>
          </a:prstGeom>
          <a:noFill/>
          <a:ln/>
        </p:spPr>
        <p:txBody>
          <a:bodyPr wrap="square" lIns="0" tIns="0" rIns="0" bIns="0" rtlCol="0" anchor="t"/>
          <a:lstStyle/>
          <a:p>
            <a:pPr marL="0" indent="0">
              <a:buNone/>
            </a:pPr>
            <a:r>
              <a:rPr lang="en-US" sz="3400" b="1" dirty="0">
                <a:solidFill>
                  <a:srgbClr val="A8D84E"/>
                </a:solidFill>
                <a:latin typeface="Arial" pitchFamily="34" charset="0"/>
                <a:ea typeface="Arial" pitchFamily="34" charset="-122"/>
                <a:cs typeface="Arial" pitchFamily="34" charset="-120"/>
              </a:rPr>
              <a:t>01</a:t>
            </a:r>
            <a:endParaRPr lang="en-US" sz="3400" dirty="0"/>
          </a:p>
        </p:txBody>
      </p:sp>
      <p:sp>
        <p:nvSpPr>
          <p:cNvPr id="12" name="Text 8"/>
          <p:cNvSpPr txBox="1"/>
          <p:nvPr/>
        </p:nvSpPr>
        <p:spPr>
          <a:xfrm>
            <a:off x="804672" y="4754880"/>
            <a:ext cx="2157984" cy="685800"/>
          </a:xfrm>
          <a:prstGeom prst="rect">
            <a:avLst/>
          </a:prstGeom>
          <a:noFill/>
          <a:ln/>
        </p:spPr>
        <p:txBody>
          <a:bodyPr wrap="square" lIns="0" tIns="0" rIns="0" bIns="0" rtlCol="0" anchor="t"/>
          <a:lstStyle/>
          <a:p>
            <a:pPr marL="0" indent="0">
              <a:buNone/>
            </a:pPr>
            <a:r>
              <a:rPr lang="en-US" sz="1500" b="1" dirty="0">
                <a:solidFill>
                  <a:srgbClr val="FFFFFF"/>
                </a:solidFill>
                <a:latin typeface="Arial" pitchFamily="34" charset="0"/>
                <a:ea typeface="Arial" pitchFamily="34" charset="-122"/>
                <a:cs typeface="Arial" pitchFamily="34" charset="-120"/>
              </a:rPr>
              <a:t>VIỆN STP &amp; DAKO</a:t>
            </a:r>
            <a:endParaRPr lang="en-US" sz="1500" dirty="0"/>
          </a:p>
        </p:txBody>
      </p:sp>
      <p:sp>
        <p:nvSpPr>
          <p:cNvPr id="13" name="Text 9"/>
          <p:cNvSpPr txBox="1"/>
          <p:nvPr/>
        </p:nvSpPr>
        <p:spPr>
          <a:xfrm>
            <a:off x="804672" y="5440680"/>
            <a:ext cx="2157984" cy="640080"/>
          </a:xfrm>
          <a:prstGeom prst="rect">
            <a:avLst/>
          </a:prstGeom>
          <a:noFill/>
          <a:ln/>
        </p:spPr>
        <p:txBody>
          <a:bodyPr wrap="square" lIns="0" tIns="0" rIns="0" bIns="0" rtlCol="0" anchor="t"/>
          <a:lstStyle/>
          <a:p>
            <a:pPr marL="0" indent="0">
              <a:buNone/>
            </a:pPr>
            <a:r>
              <a:rPr lang="en-US" sz="1250" dirty="0">
                <a:solidFill>
                  <a:srgbClr val="B9D3C0"/>
                </a:solidFill>
                <a:latin typeface="Calibri" pitchFamily="34" charset="0"/>
                <a:ea typeface="Calibri" pitchFamily="34" charset="-122"/>
                <a:cs typeface="Calibri" pitchFamily="34" charset="-120"/>
              </a:rPr>
              <a:t>Hệ sinh thái, mô hình hợp tác và thông tin pháp lý</a:t>
            </a:r>
            <a:endParaRPr lang="en-US" sz="1250" dirty="0"/>
          </a:p>
        </p:txBody>
      </p:sp>
      <p:sp>
        <p:nvSpPr>
          <p:cNvPr id="14" name="Shape 10"/>
          <p:cNvSpPr/>
          <p:nvPr/>
        </p:nvSpPr>
        <p:spPr>
          <a:xfrm>
            <a:off x="3374136" y="1600200"/>
            <a:ext cx="2615184" cy="4389120"/>
          </a:xfrm>
          <a:prstGeom prst="roundRect">
            <a:avLst>
              <a:gd name="adj" fmla="val 6294"/>
            </a:avLst>
          </a:prstGeom>
          <a:solidFill>
            <a:srgbClr val="123D27"/>
          </a:solidFill>
          <a:ln/>
        </p:spPr>
      </p:sp>
      <p:pic>
        <p:nvPicPr>
          <p:cNvPr id="15" name="Image 2" descr="preencoded.png"/>
          <p:cNvPicPr>
            <a:picLocks noChangeAspect="1"/>
          </p:cNvPicPr>
          <p:nvPr/>
        </p:nvPicPr>
        <p:blipFill>
          <a:blip r:embed="rId5"/>
          <a:stretch>
            <a:fillRect/>
          </a:stretch>
        </p:blipFill>
        <p:spPr>
          <a:xfrm>
            <a:off x="3483864" y="1709928"/>
            <a:ext cx="2395728" cy="2148840"/>
          </a:xfrm>
          <a:prstGeom prst="rect">
            <a:avLst/>
          </a:prstGeom>
        </p:spPr>
      </p:pic>
      <p:sp>
        <p:nvSpPr>
          <p:cNvPr id="16" name="Text 11"/>
          <p:cNvSpPr txBox="1"/>
          <p:nvPr/>
        </p:nvSpPr>
        <p:spPr>
          <a:xfrm>
            <a:off x="3630168" y="4069080"/>
            <a:ext cx="1828800" cy="640080"/>
          </a:xfrm>
          <a:prstGeom prst="rect">
            <a:avLst/>
          </a:prstGeom>
          <a:noFill/>
          <a:ln/>
        </p:spPr>
        <p:txBody>
          <a:bodyPr wrap="square" lIns="0" tIns="0" rIns="0" bIns="0" rtlCol="0" anchor="t"/>
          <a:lstStyle/>
          <a:p>
            <a:pPr marL="0" indent="0">
              <a:buNone/>
            </a:pPr>
            <a:r>
              <a:rPr lang="en-US" sz="3400" b="1" dirty="0">
                <a:solidFill>
                  <a:srgbClr val="A8D84E"/>
                </a:solidFill>
                <a:latin typeface="Arial" pitchFamily="34" charset="0"/>
                <a:ea typeface="Arial" pitchFamily="34" charset="-122"/>
                <a:cs typeface="Arial" pitchFamily="34" charset="-120"/>
              </a:rPr>
              <a:t>02</a:t>
            </a:r>
            <a:endParaRPr lang="en-US" sz="3400" dirty="0"/>
          </a:p>
        </p:txBody>
      </p:sp>
      <p:sp>
        <p:nvSpPr>
          <p:cNvPr id="17" name="Text 12"/>
          <p:cNvSpPr txBox="1"/>
          <p:nvPr/>
        </p:nvSpPr>
        <p:spPr>
          <a:xfrm>
            <a:off x="3630168" y="4754880"/>
            <a:ext cx="2157984" cy="685800"/>
          </a:xfrm>
          <a:prstGeom prst="rect">
            <a:avLst/>
          </a:prstGeom>
          <a:noFill/>
          <a:ln/>
        </p:spPr>
        <p:txBody>
          <a:bodyPr wrap="square" lIns="0" tIns="0" rIns="0" bIns="0" rtlCol="0" anchor="t"/>
          <a:lstStyle/>
          <a:p>
            <a:pPr marL="0" indent="0">
              <a:buNone/>
            </a:pPr>
            <a:r>
              <a:rPr lang="en-US" sz="1500" b="1" dirty="0">
                <a:solidFill>
                  <a:srgbClr val="FFFFFF"/>
                </a:solidFill>
                <a:latin typeface="Arial" pitchFamily="34" charset="0"/>
                <a:ea typeface="Arial" pitchFamily="34" charset="-122"/>
                <a:cs typeface="Arial" pitchFamily="34" charset="-120"/>
              </a:rPr>
              <a:t>DỊCH VỤ &amp; NHÓM HUẤN LUYỆN</a:t>
            </a:r>
            <a:endParaRPr lang="en-US" sz="1500" dirty="0"/>
          </a:p>
        </p:txBody>
      </p:sp>
      <p:sp>
        <p:nvSpPr>
          <p:cNvPr id="18" name="Text 13"/>
          <p:cNvSpPr txBox="1"/>
          <p:nvPr/>
        </p:nvSpPr>
        <p:spPr>
          <a:xfrm>
            <a:off x="3630168" y="5440680"/>
            <a:ext cx="2157984" cy="640080"/>
          </a:xfrm>
          <a:prstGeom prst="rect">
            <a:avLst/>
          </a:prstGeom>
          <a:noFill/>
          <a:ln/>
        </p:spPr>
        <p:txBody>
          <a:bodyPr wrap="square" lIns="0" tIns="0" rIns="0" bIns="0" rtlCol="0" anchor="t"/>
          <a:lstStyle/>
          <a:p>
            <a:pPr marL="0" indent="0">
              <a:buNone/>
            </a:pPr>
            <a:r>
              <a:rPr lang="en-US" sz="1250" dirty="0">
                <a:solidFill>
                  <a:srgbClr val="B9D3C0"/>
                </a:solidFill>
                <a:latin typeface="Calibri" pitchFamily="34" charset="0"/>
                <a:ea typeface="Calibri" pitchFamily="34" charset="-122"/>
                <a:cs typeface="Calibri" pitchFamily="34" charset="-120"/>
              </a:rPr>
              <a:t>Lĩnh vực cung cấp, quy trình triển khai, 6 nhóm đối tượng</a:t>
            </a:r>
            <a:endParaRPr lang="en-US" sz="1250" dirty="0"/>
          </a:p>
        </p:txBody>
      </p:sp>
      <p:sp>
        <p:nvSpPr>
          <p:cNvPr id="19" name="Shape 14"/>
          <p:cNvSpPr/>
          <p:nvPr/>
        </p:nvSpPr>
        <p:spPr>
          <a:xfrm>
            <a:off x="6199632" y="1600200"/>
            <a:ext cx="2615184" cy="4389120"/>
          </a:xfrm>
          <a:prstGeom prst="roundRect">
            <a:avLst>
              <a:gd name="adj" fmla="val 6294"/>
            </a:avLst>
          </a:prstGeom>
          <a:solidFill>
            <a:srgbClr val="123D27"/>
          </a:solidFill>
          <a:ln/>
        </p:spPr>
      </p:sp>
      <p:pic>
        <p:nvPicPr>
          <p:cNvPr id="20" name="Image 3" descr="preencoded.png"/>
          <p:cNvPicPr>
            <a:picLocks noChangeAspect="1"/>
          </p:cNvPicPr>
          <p:nvPr/>
        </p:nvPicPr>
        <p:blipFill>
          <a:blip r:embed="rId6"/>
          <a:stretch>
            <a:fillRect/>
          </a:stretch>
        </p:blipFill>
        <p:spPr>
          <a:xfrm>
            <a:off x="6309360" y="1709928"/>
            <a:ext cx="2395728" cy="2148840"/>
          </a:xfrm>
          <a:prstGeom prst="rect">
            <a:avLst/>
          </a:prstGeom>
        </p:spPr>
      </p:pic>
      <p:sp>
        <p:nvSpPr>
          <p:cNvPr id="21" name="Text 15"/>
          <p:cNvSpPr txBox="1"/>
          <p:nvPr/>
        </p:nvSpPr>
        <p:spPr>
          <a:xfrm>
            <a:off x="6455664" y="4069080"/>
            <a:ext cx="1828800" cy="640080"/>
          </a:xfrm>
          <a:prstGeom prst="rect">
            <a:avLst/>
          </a:prstGeom>
          <a:noFill/>
          <a:ln/>
        </p:spPr>
        <p:txBody>
          <a:bodyPr wrap="square" lIns="0" tIns="0" rIns="0" bIns="0" rtlCol="0" anchor="t"/>
          <a:lstStyle/>
          <a:p>
            <a:pPr marL="0" indent="0">
              <a:buNone/>
            </a:pPr>
            <a:r>
              <a:rPr lang="en-US" sz="3400" b="1" dirty="0">
                <a:solidFill>
                  <a:srgbClr val="A8D84E"/>
                </a:solidFill>
                <a:latin typeface="Arial" pitchFamily="34" charset="0"/>
                <a:ea typeface="Arial" pitchFamily="34" charset="-122"/>
                <a:cs typeface="Arial" pitchFamily="34" charset="-120"/>
              </a:rPr>
              <a:t>03</a:t>
            </a:r>
            <a:endParaRPr lang="en-US" sz="3400" dirty="0"/>
          </a:p>
        </p:txBody>
      </p:sp>
      <p:sp>
        <p:nvSpPr>
          <p:cNvPr id="22" name="Text 16"/>
          <p:cNvSpPr txBox="1"/>
          <p:nvPr/>
        </p:nvSpPr>
        <p:spPr>
          <a:xfrm>
            <a:off x="6455664" y="4754880"/>
            <a:ext cx="2157984" cy="685800"/>
          </a:xfrm>
          <a:prstGeom prst="rect">
            <a:avLst/>
          </a:prstGeom>
          <a:noFill/>
          <a:ln/>
        </p:spPr>
        <p:txBody>
          <a:bodyPr wrap="square" lIns="0" tIns="0" rIns="0" bIns="0" rtlCol="0" anchor="t"/>
          <a:lstStyle/>
          <a:p>
            <a:pPr marL="0" indent="0">
              <a:buNone/>
            </a:pPr>
            <a:r>
              <a:rPr lang="en-US" sz="1500" b="1" dirty="0">
                <a:solidFill>
                  <a:srgbClr val="FFFFFF"/>
                </a:solidFill>
                <a:latin typeface="Arial" pitchFamily="34" charset="0"/>
                <a:ea typeface="Arial" pitchFamily="34" charset="-122"/>
                <a:cs typeface="Arial" pitchFamily="34" charset="-120"/>
              </a:rPr>
              <a:t>CHUYỂN ĐỔI SỐ ATVSLĐ</a:t>
            </a:r>
            <a:endParaRPr lang="en-US" sz="1500" dirty="0"/>
          </a:p>
        </p:txBody>
      </p:sp>
      <p:sp>
        <p:nvSpPr>
          <p:cNvPr id="23" name="Text 17"/>
          <p:cNvSpPr txBox="1"/>
          <p:nvPr/>
        </p:nvSpPr>
        <p:spPr>
          <a:xfrm>
            <a:off x="6455664" y="5440680"/>
            <a:ext cx="2157984" cy="640080"/>
          </a:xfrm>
          <a:prstGeom prst="rect">
            <a:avLst/>
          </a:prstGeom>
          <a:noFill/>
          <a:ln/>
        </p:spPr>
        <p:txBody>
          <a:bodyPr wrap="square" lIns="0" tIns="0" rIns="0" bIns="0" rtlCol="0" anchor="t"/>
          <a:lstStyle/>
          <a:p>
            <a:pPr marL="0" indent="0">
              <a:buNone/>
            </a:pPr>
            <a:r>
              <a:rPr lang="en-US" sz="1250" dirty="0">
                <a:solidFill>
                  <a:srgbClr val="B9D3C0"/>
                </a:solidFill>
                <a:latin typeface="Calibri" pitchFamily="34" charset="0"/>
                <a:ea typeface="Calibri" pitchFamily="34" charset="-122"/>
                <a:cs typeface="Calibri" pitchFamily="34" charset="-120"/>
              </a:rPr>
              <a:t>Giải pháp quản lý an toàn lao động thông minh 4.0</a:t>
            </a:r>
            <a:endParaRPr lang="en-US" sz="1250" dirty="0"/>
          </a:p>
        </p:txBody>
      </p:sp>
      <p:sp>
        <p:nvSpPr>
          <p:cNvPr id="24" name="Shape 18"/>
          <p:cNvSpPr/>
          <p:nvPr/>
        </p:nvSpPr>
        <p:spPr>
          <a:xfrm>
            <a:off x="9025128" y="1600200"/>
            <a:ext cx="2615184" cy="4389120"/>
          </a:xfrm>
          <a:prstGeom prst="roundRect">
            <a:avLst>
              <a:gd name="adj" fmla="val 6294"/>
            </a:avLst>
          </a:prstGeom>
          <a:solidFill>
            <a:srgbClr val="123D27"/>
          </a:solidFill>
          <a:ln/>
        </p:spPr>
      </p:sp>
      <p:pic>
        <p:nvPicPr>
          <p:cNvPr id="25" name="Image 4" descr="preencoded.png"/>
          <p:cNvPicPr>
            <a:picLocks noChangeAspect="1"/>
          </p:cNvPicPr>
          <p:nvPr/>
        </p:nvPicPr>
        <p:blipFill>
          <a:blip r:embed="rId7"/>
          <a:stretch>
            <a:fillRect/>
          </a:stretch>
        </p:blipFill>
        <p:spPr>
          <a:xfrm>
            <a:off x="9134856" y="1709928"/>
            <a:ext cx="2395728" cy="2148840"/>
          </a:xfrm>
          <a:prstGeom prst="rect">
            <a:avLst/>
          </a:prstGeom>
        </p:spPr>
      </p:pic>
      <p:sp>
        <p:nvSpPr>
          <p:cNvPr id="26" name="Text 19"/>
          <p:cNvSpPr txBox="1"/>
          <p:nvPr/>
        </p:nvSpPr>
        <p:spPr>
          <a:xfrm>
            <a:off x="9281160" y="4069080"/>
            <a:ext cx="1828800" cy="640080"/>
          </a:xfrm>
          <a:prstGeom prst="rect">
            <a:avLst/>
          </a:prstGeom>
          <a:noFill/>
          <a:ln/>
        </p:spPr>
        <p:txBody>
          <a:bodyPr wrap="square" lIns="0" tIns="0" rIns="0" bIns="0" rtlCol="0" anchor="t"/>
          <a:lstStyle/>
          <a:p>
            <a:pPr marL="0" indent="0">
              <a:buNone/>
            </a:pPr>
            <a:r>
              <a:rPr lang="en-US" sz="3400" b="1" dirty="0">
                <a:solidFill>
                  <a:srgbClr val="A8D84E"/>
                </a:solidFill>
                <a:latin typeface="Arial" pitchFamily="34" charset="0"/>
                <a:ea typeface="Arial" pitchFamily="34" charset="-122"/>
                <a:cs typeface="Arial" pitchFamily="34" charset="-120"/>
              </a:rPr>
              <a:t>04</a:t>
            </a:r>
            <a:endParaRPr lang="en-US" sz="3400" dirty="0"/>
          </a:p>
        </p:txBody>
      </p:sp>
      <p:sp>
        <p:nvSpPr>
          <p:cNvPr id="27" name="Text 20"/>
          <p:cNvSpPr txBox="1"/>
          <p:nvPr/>
        </p:nvSpPr>
        <p:spPr>
          <a:xfrm>
            <a:off x="9281160" y="4754880"/>
            <a:ext cx="2157984" cy="685800"/>
          </a:xfrm>
          <a:prstGeom prst="rect">
            <a:avLst/>
          </a:prstGeom>
          <a:noFill/>
          <a:ln/>
        </p:spPr>
        <p:txBody>
          <a:bodyPr wrap="square" lIns="0" tIns="0" rIns="0" bIns="0" rtlCol="0" anchor="t"/>
          <a:lstStyle/>
          <a:p>
            <a:pPr marL="0" indent="0">
              <a:buNone/>
            </a:pPr>
            <a:r>
              <a:rPr lang="en-US" sz="1500" b="1" dirty="0">
                <a:solidFill>
                  <a:srgbClr val="FFFFFF"/>
                </a:solidFill>
                <a:latin typeface="Arial" pitchFamily="34" charset="0"/>
                <a:ea typeface="Arial" pitchFamily="34" charset="-122"/>
                <a:cs typeface="Arial" pitchFamily="34" charset="-120"/>
              </a:rPr>
              <a:t>HOẠT ĐỘNG &amp; LIÊN HỆ</a:t>
            </a:r>
            <a:endParaRPr lang="en-US" sz="1500" dirty="0"/>
          </a:p>
        </p:txBody>
      </p:sp>
      <p:sp>
        <p:nvSpPr>
          <p:cNvPr id="28" name="Text 21"/>
          <p:cNvSpPr txBox="1"/>
          <p:nvPr/>
        </p:nvSpPr>
        <p:spPr>
          <a:xfrm>
            <a:off x="9281160" y="5440680"/>
            <a:ext cx="2157984" cy="640080"/>
          </a:xfrm>
          <a:prstGeom prst="rect">
            <a:avLst/>
          </a:prstGeom>
          <a:noFill/>
          <a:ln/>
        </p:spPr>
        <p:txBody>
          <a:bodyPr wrap="square" lIns="0" tIns="0" rIns="0" bIns="0" rtlCol="0" anchor="t"/>
          <a:lstStyle/>
          <a:p>
            <a:pPr marL="0" indent="0">
              <a:buNone/>
            </a:pPr>
            <a:r>
              <a:rPr lang="en-US" sz="1250" dirty="0">
                <a:solidFill>
                  <a:srgbClr val="B9D3C0"/>
                </a:solidFill>
                <a:latin typeface="Calibri" pitchFamily="34" charset="0"/>
                <a:ea typeface="Calibri" pitchFamily="34" charset="-122"/>
                <a:cs typeface="Calibri" pitchFamily="34" charset="-120"/>
              </a:rPr>
              <a:t>Khách hàng tiêu biểu, cam kết đồng hành</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E1C"/>
        </a:solidFill>
        <a:effectLst/>
      </p:bgPr>
    </p:bg>
    <p:spTree>
      <p:nvGrpSpPr>
        <p:cNvPr id="1" name=""/>
        <p:cNvGrpSpPr/>
        <p:nvPr/>
      </p:nvGrpSpPr>
      <p:grpSpPr>
        <a:xfrm>
          <a:off x="0" y="0"/>
          <a:ext cx="0" cy="0"/>
          <a:chOff x="0" y="0"/>
          <a:chExt cx="0" cy="0"/>
        </a:xfrm>
      </p:grpSpPr>
      <p:pic>
        <p:nvPicPr>
          <p:cNvPr id="2" name="Image 0" descr="/home/claude/assets/beams_dark.png"/>
          <p:cNvPicPr>
            <a:picLocks noChangeAspect="1"/>
          </p:cNvPicPr>
          <p:nvPr/>
        </p:nvPicPr>
        <p:blipFill>
          <a:blip r:embed="rId3">
            <a:alphaModFix amt="70000"/>
          </a:blip>
          <a:stretch>
            <a:fillRect/>
          </a:stretch>
        </p:blipFill>
        <p:spPr>
          <a:xfrm flipH="1">
            <a:off x="-1828800" y="2011680"/>
            <a:ext cx="9144000" cy="4846320"/>
          </a:xfrm>
          <a:prstGeom prst="rect">
            <a:avLst/>
          </a:prstGeom>
        </p:spPr>
      </p:pic>
      <p:sp>
        <p:nvSpPr>
          <p:cNvPr id="3" name="Text 0"/>
          <p:cNvSpPr txBox="1"/>
          <p:nvPr/>
        </p:nvSpPr>
        <p:spPr>
          <a:xfrm>
            <a:off x="411480" y="411480"/>
            <a:ext cx="5486400" cy="2194560"/>
          </a:xfrm>
          <a:prstGeom prst="rect">
            <a:avLst/>
          </a:prstGeom>
          <a:noFill/>
          <a:ln/>
        </p:spPr>
        <p:txBody>
          <a:bodyPr wrap="square" lIns="0" tIns="0" rIns="0" bIns="0" rtlCol="0" anchor="t"/>
          <a:lstStyle/>
          <a:p>
            <a:pPr marL="0" indent="0">
              <a:buNone/>
            </a:pPr>
            <a:r>
              <a:rPr lang="en-US" sz="15000" b="1" dirty="0">
                <a:solidFill>
                  <a:srgbClr val="1D5C3B"/>
                </a:solidFill>
                <a:latin typeface="Arial" pitchFamily="34" charset="0"/>
                <a:ea typeface="Arial" pitchFamily="34" charset="-122"/>
                <a:cs typeface="Arial" pitchFamily="34" charset="-120"/>
              </a:rPr>
              <a:t>01</a:t>
            </a:r>
            <a:endParaRPr lang="en-US" sz="15000" dirty="0"/>
          </a:p>
        </p:txBody>
      </p:sp>
      <p:sp>
        <p:nvSpPr>
          <p:cNvPr id="4" name="Text 1"/>
          <p:cNvSpPr txBox="1"/>
          <p:nvPr/>
        </p:nvSpPr>
        <p:spPr>
          <a:xfrm>
            <a:off x="566928" y="2697480"/>
            <a:ext cx="4572000" cy="320040"/>
          </a:xfrm>
          <a:prstGeom prst="rect">
            <a:avLst/>
          </a:prstGeom>
          <a:noFill/>
          <a:ln/>
        </p:spPr>
        <p:txBody>
          <a:bodyPr wrap="square" lIns="0" tIns="0" rIns="0" bIns="0" rtlCol="0" anchor="t"/>
          <a:lstStyle/>
          <a:p>
            <a:pPr marL="0" indent="0">
              <a:buNone/>
            </a:pPr>
            <a:r>
              <a:rPr lang="en-US" sz="1400" b="1" kern="0" spc="800" dirty="0">
                <a:solidFill>
                  <a:srgbClr val="A8D84E"/>
                </a:solidFill>
                <a:latin typeface="Arial" pitchFamily="34" charset="0"/>
                <a:ea typeface="Arial" pitchFamily="34" charset="-122"/>
                <a:cs typeface="Arial" pitchFamily="34" charset="-120"/>
              </a:rPr>
              <a:t>PHẦN I</a:t>
            </a:r>
            <a:endParaRPr lang="en-US" sz="1400" dirty="0"/>
          </a:p>
        </p:txBody>
      </p:sp>
      <p:sp>
        <p:nvSpPr>
          <p:cNvPr id="5" name="Text 2"/>
          <p:cNvSpPr txBox="1"/>
          <p:nvPr/>
        </p:nvSpPr>
        <p:spPr>
          <a:xfrm>
            <a:off x="548640" y="3090672"/>
            <a:ext cx="5394960" cy="603504"/>
          </a:xfrm>
          <a:prstGeom prst="rect">
            <a:avLst/>
          </a:prstGeom>
          <a:noFill/>
          <a:ln/>
        </p:spPr>
        <p:txBody>
          <a:bodyPr wrap="square" lIns="0" tIns="0" rIns="0" bIns="0" rtlCol="0" anchor="t"/>
          <a:lstStyle/>
          <a:p>
            <a:pPr marL="0" indent="0">
              <a:buNone/>
            </a:pPr>
            <a:r>
              <a:rPr lang="en-US" sz="3600" b="1" dirty="0">
                <a:solidFill>
                  <a:srgbClr val="FFFFFF"/>
                </a:solidFill>
                <a:latin typeface="Arial" pitchFamily="34" charset="0"/>
                <a:ea typeface="Arial" pitchFamily="34" charset="-122"/>
                <a:cs typeface="Arial" pitchFamily="34" charset="-120"/>
              </a:rPr>
              <a:t>VIỆN STP &amp; DAKO</a:t>
            </a:r>
            <a:endParaRPr lang="en-US" sz="3600" dirty="0"/>
          </a:p>
        </p:txBody>
      </p:sp>
      <p:sp>
        <p:nvSpPr>
          <p:cNvPr id="6" name="Text 3"/>
          <p:cNvSpPr txBox="1"/>
          <p:nvPr/>
        </p:nvSpPr>
        <p:spPr>
          <a:xfrm>
            <a:off x="566928" y="4014216"/>
            <a:ext cx="5120640" cy="1097280"/>
          </a:xfrm>
          <a:prstGeom prst="rect">
            <a:avLst/>
          </a:prstGeom>
          <a:noFill/>
          <a:ln/>
        </p:spPr>
        <p:txBody>
          <a:bodyPr wrap="square" lIns="0" tIns="0" rIns="0" bIns="0" rtlCol="0" anchor="t"/>
          <a:lstStyle/>
          <a:p>
            <a:pPr marL="0" indent="0">
              <a:buNone/>
            </a:pPr>
            <a:r>
              <a:rPr lang="en-US" sz="1600" dirty="0">
                <a:solidFill>
                  <a:srgbClr val="B9D3C0"/>
                </a:solidFill>
                <a:latin typeface="Calibri" pitchFamily="34" charset="0"/>
                <a:ea typeface="Calibri" pitchFamily="34" charset="-122"/>
                <a:cs typeface="Calibri" pitchFamily="34" charset="-120"/>
              </a:rPr>
              <a:t>Hệ sinh thái đào tạo an toàn, vệ sinh lao động – nghiên cứu giải pháp và triển khai huấn luyện theo quy định</a:t>
            </a:r>
            <a:endParaRPr lang="en-US" sz="1600" dirty="0"/>
          </a:p>
        </p:txBody>
      </p:sp>
      <p:pic>
        <p:nvPicPr>
          <p:cNvPr id="7" name="Image 1" descr="preencoded.png"/>
          <p:cNvPicPr>
            <a:picLocks noChangeAspect="1"/>
          </p:cNvPicPr>
          <p:nvPr/>
        </p:nvPicPr>
        <p:blipFill>
          <a:blip r:embed="rId4"/>
          <a:stretch>
            <a:fillRect/>
          </a:stretch>
        </p:blipFill>
        <p:spPr>
          <a:xfrm>
            <a:off x="6172200" y="685800"/>
            <a:ext cx="5468112" cy="5486400"/>
          </a:xfrm>
          <a:prstGeom prst="rect">
            <a:avLst/>
          </a:prstGeom>
        </p:spPr>
      </p:pic>
      <p:sp>
        <p:nvSpPr>
          <p:cNvPr id="8" name="Shape 4"/>
          <p:cNvSpPr/>
          <p:nvPr/>
        </p:nvSpPr>
        <p:spPr>
          <a:xfrm>
            <a:off x="9677095" y="-228600"/>
            <a:ext cx="1965960" cy="566928"/>
          </a:xfrm>
          <a:prstGeom prst="roundRect">
            <a:avLst>
              <a:gd name="adj" fmla="val 25806"/>
            </a:avLst>
          </a:prstGeom>
          <a:solidFill>
            <a:srgbClr val="0F5B34"/>
          </a:solidFill>
          <a:ln/>
        </p:spPr>
      </p:sp>
      <p:sp>
        <p:nvSpPr>
          <p:cNvPr id="9" name="Text 5"/>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A8D84E"/>
                </a:solidFill>
                <a:latin typeface="Arial" pitchFamily="34" charset="0"/>
                <a:ea typeface="Arial" pitchFamily="34" charset="-122"/>
                <a:cs typeface="Arial" pitchFamily="34" charset="-120"/>
              </a:rPr>
              <a:t>STP INSTITUTE</a:t>
            </a:r>
            <a:endParaRPr lang="en-US" sz="950" dirty="0"/>
          </a:p>
        </p:txBody>
      </p:sp>
      <p:sp>
        <p:nvSpPr>
          <p:cNvPr id="10" name="Text 6"/>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B9D3C0"/>
                </a:solidFill>
                <a:latin typeface="Arial" pitchFamily="34" charset="0"/>
                <a:ea typeface="Arial" pitchFamily="34" charset="-122"/>
                <a:cs typeface="Arial" pitchFamily="34" charset="-120"/>
              </a:rPr>
              <a:t>03</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 · VIỆN STP &amp; DAKO</a:t>
            </a:r>
            <a:endParaRPr lang="en-US" sz="1050" dirty="0"/>
          </a:p>
        </p:txBody>
      </p:sp>
      <p:sp>
        <p:nvSpPr>
          <p:cNvPr id="4" name="Text 2"/>
          <p:cNvSpPr txBox="1"/>
          <p:nvPr/>
        </p:nvSpPr>
        <p:spPr>
          <a:xfrm>
            <a:off x="548640" y="676656"/>
            <a:ext cx="6035040" cy="1280160"/>
          </a:xfrm>
          <a:prstGeom prst="rect">
            <a:avLst/>
          </a:prstGeom>
          <a:noFill/>
          <a:ln/>
        </p:spPr>
        <p:txBody>
          <a:bodyPr wrap="square" lIns="0" tIns="0" rIns="0" bIns="0" rtlCol="0" anchor="t"/>
          <a:lstStyle/>
          <a:p>
            <a:pPr marL="0" indent="0">
              <a:buNone/>
            </a:pPr>
            <a:r>
              <a:rPr lang="en-US" sz="2700" b="1" dirty="0">
                <a:solidFill>
                  <a:srgbClr val="17261D"/>
                </a:solidFill>
                <a:latin typeface="Arial" pitchFamily="34" charset="0"/>
                <a:ea typeface="Arial" pitchFamily="34" charset="-122"/>
                <a:cs typeface="Arial" pitchFamily="34" charset="-120"/>
              </a:rPr>
              <a:t>AN TOÀN LAO ĐỘNG – NỀN TẢNG PHÁT TRIỂN BỀN VỮNG CỦA DOANH NGHIỆP</a:t>
            </a:r>
            <a:endParaRPr lang="en-US" sz="27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04</a:t>
            </a:r>
            <a:endParaRPr lang="en-US" sz="900" dirty="0"/>
          </a:p>
        </p:txBody>
      </p:sp>
      <p:sp>
        <p:nvSpPr>
          <p:cNvPr id="8" name="Text 6"/>
          <p:cNvSpPr txBox="1"/>
          <p:nvPr/>
        </p:nvSpPr>
        <p:spPr>
          <a:xfrm>
            <a:off x="548640" y="2148840"/>
            <a:ext cx="5943600" cy="1005840"/>
          </a:xfrm>
          <a:prstGeom prst="rect">
            <a:avLst/>
          </a:prstGeom>
          <a:noFill/>
          <a:ln/>
        </p:spPr>
        <p:txBody>
          <a:bodyPr wrap="square" lIns="0" tIns="0" rIns="0" bIns="0" rtlCol="0" anchor="t"/>
          <a:lstStyle/>
          <a:p>
            <a:pPr marL="0" indent="0">
              <a:lnSpc>
                <a:spcPct val="110000"/>
              </a:lnSpc>
              <a:buNone/>
            </a:pPr>
            <a:r>
              <a:rPr lang="en-US" sz="1500" dirty="0">
                <a:solidFill>
                  <a:srgbClr val="3C4A42"/>
                </a:solidFill>
                <a:latin typeface="Calibri" pitchFamily="34" charset="0"/>
                <a:ea typeface="Calibri" pitchFamily="34" charset="-122"/>
                <a:cs typeface="Calibri" pitchFamily="34" charset="-120"/>
              </a:rPr>
              <a:t>Trong bối cảnh </a:t>
            </a:r>
            <a:r>
              <a:rPr lang="en-US" sz="1500" b="1" dirty="0">
                <a:solidFill>
                  <a:srgbClr val="1E8C45"/>
                </a:solidFill>
                <a:latin typeface="Calibri" pitchFamily="34" charset="0"/>
                <a:ea typeface="Calibri" pitchFamily="34" charset="-122"/>
                <a:cs typeface="Calibri" pitchFamily="34" charset="-120"/>
              </a:rPr>
              <a:t>an toàn, vệ sinh lao động</a:t>
            </a:r>
            <a:r>
              <a:rPr lang="en-US" sz="1500" dirty="0">
                <a:solidFill>
                  <a:srgbClr val="3C4A42"/>
                </a:solidFill>
                <a:latin typeface="Calibri" pitchFamily="34" charset="0"/>
                <a:ea typeface="Calibri" pitchFamily="34" charset="-122"/>
                <a:cs typeface="Calibri" pitchFamily="34" charset="-120"/>
              </a:rPr>
              <a:t> trở thành yêu cầu bắt buộc, công tác huấn luyện ATLĐ không chỉ nhằm tuân thủ pháp luật mà còn góp phần </a:t>
            </a:r>
            <a:r>
              <a:rPr lang="en-US" sz="1500" b="1" dirty="0">
                <a:solidFill>
                  <a:srgbClr val="1E8C45"/>
                </a:solidFill>
                <a:latin typeface="Calibri" pitchFamily="34" charset="0"/>
                <a:ea typeface="Calibri" pitchFamily="34" charset="-122"/>
                <a:cs typeface="Calibri" pitchFamily="34" charset="-120"/>
              </a:rPr>
              <a:t>bảo vệ con người, tài sản và uy tín của tổ chức</a:t>
            </a:r>
            <a:r>
              <a:rPr lang="en-US" sz="1500" dirty="0">
                <a:solidFill>
                  <a:srgbClr val="3C4A42"/>
                </a:solidFill>
                <a:latin typeface="Calibri" pitchFamily="34" charset="0"/>
                <a:ea typeface="Calibri" pitchFamily="34" charset="-122"/>
                <a:cs typeface="Calibri" pitchFamily="34" charset="-120"/>
              </a:rPr>
              <a:t>.</a:t>
            </a:r>
            <a:endParaRPr lang="en-US" sz="1500" dirty="0"/>
          </a:p>
        </p:txBody>
      </p:sp>
      <p:sp>
        <p:nvSpPr>
          <p:cNvPr id="9" name="Text 7"/>
          <p:cNvSpPr txBox="1"/>
          <p:nvPr/>
        </p:nvSpPr>
        <p:spPr>
          <a:xfrm>
            <a:off x="548640" y="3246120"/>
            <a:ext cx="5943600" cy="1463040"/>
          </a:xfrm>
          <a:prstGeom prst="rect">
            <a:avLst/>
          </a:prstGeom>
          <a:noFill/>
          <a:ln/>
        </p:spPr>
        <p:txBody>
          <a:bodyPr wrap="square" lIns="0" tIns="0" rIns="0" bIns="0" rtlCol="0" anchor="t"/>
          <a:lstStyle/>
          <a:p>
            <a:pPr marL="0" indent="0">
              <a:lnSpc>
                <a:spcPct val="110000"/>
              </a:lnSpc>
              <a:buNone/>
            </a:pPr>
            <a:r>
              <a:rPr lang="en-US" sz="1500" b="1" dirty="0">
                <a:solidFill>
                  <a:srgbClr val="1E8C45"/>
                </a:solidFill>
                <a:latin typeface="Calibri" pitchFamily="34" charset="0"/>
                <a:ea typeface="Calibri" pitchFamily="34" charset="-122"/>
                <a:cs typeface="Calibri" pitchFamily="34" charset="-120"/>
              </a:rPr>
              <a:t>Viện STP</a:t>
            </a:r>
            <a:r>
              <a:rPr lang="en-US" sz="1500" dirty="0">
                <a:solidFill>
                  <a:srgbClr val="3C4A42"/>
                </a:solidFill>
                <a:latin typeface="Calibri" pitchFamily="34" charset="0"/>
                <a:ea typeface="Calibri" pitchFamily="34" charset="-122"/>
                <a:cs typeface="Calibri" pitchFamily="34" charset="-120"/>
              </a:rPr>
              <a:t> phối hợp cùng </a:t>
            </a:r>
            <a:r>
              <a:rPr lang="en-US" sz="1500" b="1" dirty="0">
                <a:solidFill>
                  <a:srgbClr val="1E8C45"/>
                </a:solidFill>
                <a:latin typeface="Calibri" pitchFamily="34" charset="0"/>
                <a:ea typeface="Calibri" pitchFamily="34" charset="-122"/>
                <a:cs typeface="Calibri" pitchFamily="34" charset="-120"/>
              </a:rPr>
              <a:t>Công ty CP Kỹ thuật Hàng Hải DAKO</a:t>
            </a:r>
            <a:r>
              <a:rPr lang="en-US" sz="1500" dirty="0">
                <a:solidFill>
                  <a:srgbClr val="3C4A42"/>
                </a:solidFill>
                <a:latin typeface="Calibri" pitchFamily="34" charset="0"/>
                <a:ea typeface="Calibri" pitchFamily="34" charset="-122"/>
                <a:cs typeface="Calibri" pitchFamily="34" charset="-120"/>
              </a:rPr>
              <a:t> (thuộc hệ sinh thái Viện STP) xây dựng và triển khai các chương trình huấn luyện ATLĐ, VSLĐ cho doanh nghiệp, cơ quan, tổ chức trong nước và quốc tế – nội dung </a:t>
            </a:r>
            <a:r>
              <a:rPr lang="en-US" sz="1500" b="1" dirty="0">
                <a:solidFill>
                  <a:srgbClr val="1E8C45"/>
                </a:solidFill>
                <a:latin typeface="Calibri" pitchFamily="34" charset="0"/>
                <a:ea typeface="Calibri" pitchFamily="34" charset="-122"/>
                <a:cs typeface="Calibri" pitchFamily="34" charset="-120"/>
              </a:rPr>
              <a:t>bài bản, có tính hệ thống, gắn chặt với thực tiễn sản xuất kinh doanh</a:t>
            </a:r>
            <a:r>
              <a:rPr lang="en-US" sz="1500" dirty="0">
                <a:solidFill>
                  <a:srgbClr val="3C4A42"/>
                </a:solidFill>
                <a:latin typeface="Calibri" pitchFamily="34" charset="0"/>
                <a:ea typeface="Calibri" pitchFamily="34" charset="-122"/>
                <a:cs typeface="Calibri" pitchFamily="34" charset="-120"/>
              </a:rPr>
              <a:t>.</a:t>
            </a:r>
            <a:endParaRPr lang="en-US" sz="1500" dirty="0"/>
          </a:p>
        </p:txBody>
      </p:sp>
      <p:sp>
        <p:nvSpPr>
          <p:cNvPr id="10" name="Shape 8"/>
          <p:cNvSpPr/>
          <p:nvPr/>
        </p:nvSpPr>
        <p:spPr>
          <a:xfrm>
            <a:off x="548640" y="4937760"/>
            <a:ext cx="1874520" cy="1371600"/>
          </a:xfrm>
          <a:prstGeom prst="roundRect">
            <a:avLst>
              <a:gd name="adj" fmla="val 9333"/>
            </a:avLst>
          </a:prstGeom>
          <a:solidFill>
            <a:srgbClr val="EEF6EF"/>
          </a:solidFill>
          <a:ln/>
        </p:spPr>
      </p:sp>
      <p:sp>
        <p:nvSpPr>
          <p:cNvPr id="11" name="Shape 9"/>
          <p:cNvSpPr/>
          <p:nvPr/>
        </p:nvSpPr>
        <p:spPr>
          <a:xfrm>
            <a:off x="713232" y="5102352"/>
            <a:ext cx="420624" cy="420624"/>
          </a:xfrm>
          <a:prstGeom prst="ellipse">
            <a:avLst/>
          </a:prstGeom>
          <a:solidFill>
            <a:srgbClr val="1E8C45"/>
          </a:solidFill>
          <a:ln/>
        </p:spPr>
      </p:sp>
      <p:pic>
        <p:nvPicPr>
          <p:cNvPr id="12" name="Image 0" descr="preencoded.png"/>
          <p:cNvPicPr>
            <a:picLocks noChangeAspect="1"/>
          </p:cNvPicPr>
          <p:nvPr/>
        </p:nvPicPr>
        <p:blipFill>
          <a:blip r:embed="rId3"/>
          <a:stretch>
            <a:fillRect/>
          </a:stretch>
        </p:blipFill>
        <p:spPr>
          <a:xfrm>
            <a:off x="814182" y="5203302"/>
            <a:ext cx="218724" cy="218724"/>
          </a:xfrm>
          <a:prstGeom prst="rect">
            <a:avLst/>
          </a:prstGeom>
        </p:spPr>
      </p:pic>
      <p:sp>
        <p:nvSpPr>
          <p:cNvPr id="13" name="Text 10"/>
          <p:cNvSpPr txBox="1"/>
          <p:nvPr/>
        </p:nvSpPr>
        <p:spPr>
          <a:xfrm>
            <a:off x="713232" y="5614416"/>
            <a:ext cx="1600200" cy="640080"/>
          </a:xfrm>
          <a:prstGeom prst="rect">
            <a:avLst/>
          </a:prstGeom>
          <a:noFill/>
          <a:ln/>
        </p:spPr>
        <p:txBody>
          <a:bodyPr wrap="square" lIns="0" tIns="0" rIns="0" bIns="0" rtlCol="0" anchor="t"/>
          <a:lstStyle/>
          <a:p>
            <a:pPr marL="0" indent="0">
              <a:buNone/>
            </a:pPr>
            <a:r>
              <a:rPr lang="en-US" sz="1150" b="1" dirty="0">
                <a:solidFill>
                  <a:srgbClr val="17261D"/>
                </a:solidFill>
                <a:latin typeface="Calibri" pitchFamily="34" charset="0"/>
                <a:ea typeface="Calibri" pitchFamily="34" charset="-122"/>
                <a:cs typeface="Calibri" pitchFamily="34" charset="-120"/>
              </a:rPr>
              <a:t>Hoạt động huấn luyện ATLĐ được Bộ Nội vụ cấp phép</a:t>
            </a:r>
            <a:endParaRPr lang="en-US" sz="1150" dirty="0"/>
          </a:p>
        </p:txBody>
      </p:sp>
      <p:sp>
        <p:nvSpPr>
          <p:cNvPr id="14" name="Shape 11"/>
          <p:cNvSpPr/>
          <p:nvPr/>
        </p:nvSpPr>
        <p:spPr>
          <a:xfrm>
            <a:off x="2560320" y="4937760"/>
            <a:ext cx="1874520" cy="1371600"/>
          </a:xfrm>
          <a:prstGeom prst="roundRect">
            <a:avLst>
              <a:gd name="adj" fmla="val 9333"/>
            </a:avLst>
          </a:prstGeom>
          <a:solidFill>
            <a:srgbClr val="EEF6EF"/>
          </a:solidFill>
          <a:ln/>
        </p:spPr>
      </p:sp>
      <p:sp>
        <p:nvSpPr>
          <p:cNvPr id="15" name="Shape 12"/>
          <p:cNvSpPr/>
          <p:nvPr/>
        </p:nvSpPr>
        <p:spPr>
          <a:xfrm>
            <a:off x="2724912" y="5102352"/>
            <a:ext cx="420624" cy="420624"/>
          </a:xfrm>
          <a:prstGeom prst="ellipse">
            <a:avLst/>
          </a:prstGeom>
          <a:solidFill>
            <a:srgbClr val="1E8C45"/>
          </a:solidFill>
          <a:ln/>
        </p:spPr>
      </p:sp>
      <p:pic>
        <p:nvPicPr>
          <p:cNvPr id="16" name="Image 1" descr="preencoded.png"/>
          <p:cNvPicPr>
            <a:picLocks noChangeAspect="1"/>
          </p:cNvPicPr>
          <p:nvPr/>
        </p:nvPicPr>
        <p:blipFill>
          <a:blip r:embed="rId4"/>
          <a:stretch>
            <a:fillRect/>
          </a:stretch>
        </p:blipFill>
        <p:spPr>
          <a:xfrm>
            <a:off x="2825862" y="5203302"/>
            <a:ext cx="218724" cy="218724"/>
          </a:xfrm>
          <a:prstGeom prst="rect">
            <a:avLst/>
          </a:prstGeom>
        </p:spPr>
      </p:pic>
      <p:sp>
        <p:nvSpPr>
          <p:cNvPr id="17" name="Text 13"/>
          <p:cNvSpPr txBox="1"/>
          <p:nvPr/>
        </p:nvSpPr>
        <p:spPr>
          <a:xfrm>
            <a:off x="2724912" y="5614416"/>
            <a:ext cx="1600200" cy="640080"/>
          </a:xfrm>
          <a:prstGeom prst="rect">
            <a:avLst/>
          </a:prstGeom>
          <a:noFill/>
          <a:ln/>
        </p:spPr>
        <p:txBody>
          <a:bodyPr wrap="square" lIns="0" tIns="0" rIns="0" bIns="0" rtlCol="0" anchor="t"/>
          <a:lstStyle/>
          <a:p>
            <a:pPr marL="0" indent="0">
              <a:buNone/>
            </a:pPr>
            <a:r>
              <a:rPr lang="en-US" sz="1150" b="1" dirty="0">
                <a:solidFill>
                  <a:srgbClr val="17261D"/>
                </a:solidFill>
                <a:latin typeface="Calibri" pitchFamily="34" charset="0"/>
                <a:ea typeface="Calibri" pitchFamily="34" charset="-122"/>
                <a:cs typeface="Calibri" pitchFamily="34" charset="-120"/>
              </a:rPr>
              <a:t>Viện STP trực thuộc Liên hiệp các Hội KH&amp;KT Việt Nam (VUSTA)</a:t>
            </a:r>
            <a:endParaRPr lang="en-US" sz="1150" dirty="0"/>
          </a:p>
        </p:txBody>
      </p:sp>
      <p:sp>
        <p:nvSpPr>
          <p:cNvPr id="18" name="Shape 14"/>
          <p:cNvSpPr/>
          <p:nvPr/>
        </p:nvSpPr>
        <p:spPr>
          <a:xfrm>
            <a:off x="4572000" y="4937760"/>
            <a:ext cx="1874520" cy="1371600"/>
          </a:xfrm>
          <a:prstGeom prst="roundRect">
            <a:avLst>
              <a:gd name="adj" fmla="val 9333"/>
            </a:avLst>
          </a:prstGeom>
          <a:solidFill>
            <a:srgbClr val="EEF6EF"/>
          </a:solidFill>
          <a:ln/>
        </p:spPr>
      </p:sp>
      <p:sp>
        <p:nvSpPr>
          <p:cNvPr id="19" name="Shape 15"/>
          <p:cNvSpPr/>
          <p:nvPr/>
        </p:nvSpPr>
        <p:spPr>
          <a:xfrm>
            <a:off x="4736592" y="5102352"/>
            <a:ext cx="420624" cy="420624"/>
          </a:xfrm>
          <a:prstGeom prst="ellipse">
            <a:avLst/>
          </a:prstGeom>
          <a:solidFill>
            <a:srgbClr val="1E8C45"/>
          </a:solidFill>
          <a:ln/>
        </p:spPr>
      </p:sp>
      <p:pic>
        <p:nvPicPr>
          <p:cNvPr id="20" name="Image 2" descr="preencoded.png"/>
          <p:cNvPicPr>
            <a:picLocks noChangeAspect="1"/>
          </p:cNvPicPr>
          <p:nvPr/>
        </p:nvPicPr>
        <p:blipFill>
          <a:blip r:embed="rId5"/>
          <a:stretch>
            <a:fillRect/>
          </a:stretch>
        </p:blipFill>
        <p:spPr>
          <a:xfrm>
            <a:off x="4837542" y="5203302"/>
            <a:ext cx="218724" cy="218724"/>
          </a:xfrm>
          <a:prstGeom prst="rect">
            <a:avLst/>
          </a:prstGeom>
        </p:spPr>
      </p:pic>
      <p:sp>
        <p:nvSpPr>
          <p:cNvPr id="21" name="Text 16"/>
          <p:cNvSpPr txBox="1"/>
          <p:nvPr/>
        </p:nvSpPr>
        <p:spPr>
          <a:xfrm>
            <a:off x="4736592" y="5614416"/>
            <a:ext cx="1600200" cy="640080"/>
          </a:xfrm>
          <a:prstGeom prst="rect">
            <a:avLst/>
          </a:prstGeom>
          <a:noFill/>
          <a:ln/>
        </p:spPr>
        <p:txBody>
          <a:bodyPr wrap="square" lIns="0" tIns="0" rIns="0" bIns="0" rtlCol="0" anchor="t"/>
          <a:lstStyle/>
          <a:p>
            <a:pPr marL="0" indent="0">
              <a:buNone/>
            </a:pPr>
            <a:r>
              <a:rPr lang="en-US" sz="1150" b="1" dirty="0">
                <a:solidFill>
                  <a:srgbClr val="17261D"/>
                </a:solidFill>
                <a:latin typeface="Calibri" pitchFamily="34" charset="0"/>
                <a:ea typeface="Calibri" pitchFamily="34" charset="-122"/>
                <a:cs typeface="Calibri" pitchFamily="34" charset="-120"/>
              </a:rPr>
              <a:t>Phục vụ doanh nghiệp trong nước và quốc tế</a:t>
            </a:r>
            <a:endParaRPr lang="en-US" sz="1150" dirty="0"/>
          </a:p>
        </p:txBody>
      </p:sp>
      <p:sp>
        <p:nvSpPr>
          <p:cNvPr id="22" name="Shape 17"/>
          <p:cNvSpPr/>
          <p:nvPr/>
        </p:nvSpPr>
        <p:spPr>
          <a:xfrm>
            <a:off x="6903720" y="594360"/>
            <a:ext cx="4736592" cy="3291840"/>
          </a:xfrm>
          <a:prstGeom prst="roundRect">
            <a:avLst>
              <a:gd name="adj" fmla="val 5000"/>
            </a:avLst>
          </a:prstGeom>
          <a:solidFill>
            <a:srgbClr val="FFFFFF"/>
          </a:solidFill>
          <a:ln/>
          <a:effectLst>
            <a:outerShdw blurRad="152400" dist="38100" dir="5400000" algn="bl" rotWithShape="0">
              <a:srgbClr val="0A2E1C">
                <a:alpha val="16000"/>
              </a:srgbClr>
            </a:outerShdw>
          </a:effectLst>
        </p:spPr>
      </p:sp>
      <p:pic>
        <p:nvPicPr>
          <p:cNvPr id="23" name="Image 3" descr="preencoded.png"/>
          <p:cNvPicPr>
            <a:picLocks noChangeAspect="1"/>
          </p:cNvPicPr>
          <p:nvPr/>
        </p:nvPicPr>
        <p:blipFill>
          <a:blip r:embed="rId6"/>
          <a:stretch>
            <a:fillRect/>
          </a:stretch>
        </p:blipFill>
        <p:spPr>
          <a:xfrm>
            <a:off x="6903720" y="594360"/>
            <a:ext cx="4736592" cy="3291840"/>
          </a:xfrm>
          <a:prstGeom prst="rect">
            <a:avLst/>
          </a:prstGeom>
        </p:spPr>
      </p:pic>
      <p:sp>
        <p:nvSpPr>
          <p:cNvPr id="24" name="Shape 18"/>
          <p:cNvSpPr/>
          <p:nvPr/>
        </p:nvSpPr>
        <p:spPr>
          <a:xfrm>
            <a:off x="6903720" y="4069080"/>
            <a:ext cx="2276856" cy="2240280"/>
          </a:xfrm>
          <a:prstGeom prst="roundRect">
            <a:avLst>
              <a:gd name="adj" fmla="val 6531"/>
            </a:avLst>
          </a:prstGeom>
          <a:solidFill>
            <a:srgbClr val="FFFFFF"/>
          </a:solidFill>
          <a:ln/>
          <a:effectLst>
            <a:outerShdw blurRad="152400" dist="38100" dir="5400000" algn="bl" rotWithShape="0">
              <a:srgbClr val="0A2E1C">
                <a:alpha val="16000"/>
              </a:srgbClr>
            </a:outerShdw>
          </a:effectLst>
        </p:spPr>
      </p:sp>
      <p:pic>
        <p:nvPicPr>
          <p:cNvPr id="25" name="Image 4" descr="preencoded.png"/>
          <p:cNvPicPr>
            <a:picLocks noChangeAspect="1"/>
          </p:cNvPicPr>
          <p:nvPr/>
        </p:nvPicPr>
        <p:blipFill>
          <a:blip r:embed="rId7"/>
          <a:stretch>
            <a:fillRect/>
          </a:stretch>
        </p:blipFill>
        <p:spPr>
          <a:xfrm>
            <a:off x="6903720" y="4069080"/>
            <a:ext cx="2276856" cy="2240280"/>
          </a:xfrm>
          <a:prstGeom prst="rect">
            <a:avLst/>
          </a:prstGeom>
        </p:spPr>
      </p:pic>
      <p:sp>
        <p:nvSpPr>
          <p:cNvPr id="26" name="Shape 19"/>
          <p:cNvSpPr/>
          <p:nvPr/>
        </p:nvSpPr>
        <p:spPr>
          <a:xfrm>
            <a:off x="9363456" y="4069080"/>
            <a:ext cx="2276856" cy="2240280"/>
          </a:xfrm>
          <a:prstGeom prst="roundRect">
            <a:avLst>
              <a:gd name="adj" fmla="val 6531"/>
            </a:avLst>
          </a:prstGeom>
          <a:solidFill>
            <a:srgbClr val="FFFFFF"/>
          </a:solidFill>
          <a:ln/>
          <a:effectLst>
            <a:outerShdw blurRad="152400" dist="38100" dir="5400000" algn="bl" rotWithShape="0">
              <a:srgbClr val="0A2E1C">
                <a:alpha val="16000"/>
              </a:srgbClr>
            </a:outerShdw>
          </a:effectLst>
        </p:spPr>
      </p:sp>
      <p:pic>
        <p:nvPicPr>
          <p:cNvPr id="27" name="Image 5" descr="preencoded.png"/>
          <p:cNvPicPr>
            <a:picLocks noChangeAspect="1"/>
          </p:cNvPicPr>
          <p:nvPr/>
        </p:nvPicPr>
        <p:blipFill>
          <a:blip r:embed="rId8"/>
          <a:stretch>
            <a:fillRect/>
          </a:stretch>
        </p:blipFill>
        <p:spPr>
          <a:xfrm>
            <a:off x="9363456" y="4069080"/>
            <a:ext cx="2276856" cy="22402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 · HỆ SINH THÁI ĐÀO TẠO ATVSLĐ</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MÔ HÌNH HỢP TÁC VIỆN STP – DAKO</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05</a:t>
            </a:r>
            <a:endParaRPr lang="en-US" sz="900" dirty="0"/>
          </a:p>
        </p:txBody>
      </p:sp>
      <p:sp>
        <p:nvSpPr>
          <p:cNvPr id="8" name="Text 6"/>
          <p:cNvSpPr txBox="1"/>
          <p:nvPr/>
        </p:nvSpPr>
        <p:spPr>
          <a:xfrm>
            <a:off x="548640" y="1261872"/>
            <a:ext cx="11064240" cy="365760"/>
          </a:xfrm>
          <a:prstGeom prst="rect">
            <a:avLst/>
          </a:prstGeom>
          <a:noFill/>
          <a:ln/>
        </p:spPr>
        <p:txBody>
          <a:bodyPr wrap="square" lIns="0" tIns="0" rIns="0" bIns="0" rtlCol="0" anchor="t"/>
          <a:lstStyle/>
          <a:p>
            <a:pPr marL="0" indent="0">
              <a:buNone/>
            </a:pPr>
            <a:r>
              <a:rPr lang="en-US" sz="1450" b="1" dirty="0">
                <a:solidFill>
                  <a:srgbClr val="1E8C45"/>
                </a:solidFill>
                <a:latin typeface="Calibri" pitchFamily="34" charset="0"/>
                <a:ea typeface="Calibri" pitchFamily="34" charset="-122"/>
                <a:cs typeface="Calibri" pitchFamily="34" charset="-120"/>
              </a:rPr>
              <a:t>Viện STP</a:t>
            </a:r>
            <a:r>
              <a:rPr lang="en-US" sz="1450" dirty="0">
                <a:solidFill>
                  <a:srgbClr val="3C4A42"/>
                </a:solidFill>
                <a:latin typeface="Calibri" pitchFamily="34" charset="0"/>
                <a:ea typeface="Calibri" pitchFamily="34" charset="-122"/>
                <a:cs typeface="Calibri" pitchFamily="34" charset="-120"/>
              </a:rPr>
              <a:t> nghiên cứu, phát triển giải pháp &amp; chương trình đào tạo  ·  </a:t>
            </a:r>
            <a:r>
              <a:rPr lang="en-US" sz="1450" b="1" dirty="0">
                <a:solidFill>
                  <a:srgbClr val="1E8C45"/>
                </a:solidFill>
                <a:latin typeface="Calibri" pitchFamily="34" charset="0"/>
                <a:ea typeface="Calibri" pitchFamily="34" charset="-122"/>
                <a:cs typeface="Calibri" pitchFamily="34" charset="-120"/>
              </a:rPr>
              <a:t>DAKO</a:t>
            </a:r>
            <a:r>
              <a:rPr lang="en-US" sz="1450" dirty="0">
                <a:solidFill>
                  <a:srgbClr val="3C4A42"/>
                </a:solidFill>
                <a:latin typeface="Calibri" pitchFamily="34" charset="0"/>
                <a:ea typeface="Calibri" pitchFamily="34" charset="-122"/>
                <a:cs typeface="Calibri" pitchFamily="34" charset="-120"/>
              </a:rPr>
              <a:t> triển khai huấn luyện, cấp chứng chỉ theo quy định</a:t>
            </a:r>
            <a:endParaRPr lang="en-US" sz="1450" dirty="0"/>
          </a:p>
        </p:txBody>
      </p:sp>
      <p:sp>
        <p:nvSpPr>
          <p:cNvPr id="9" name="Shape 7"/>
          <p:cNvSpPr/>
          <p:nvPr/>
        </p:nvSpPr>
        <p:spPr>
          <a:xfrm>
            <a:off x="548640" y="1783080"/>
            <a:ext cx="4892040" cy="3840480"/>
          </a:xfrm>
          <a:prstGeom prst="roundRect">
            <a:avLst>
              <a:gd name="adj" fmla="val 4286"/>
            </a:avLst>
          </a:prstGeom>
          <a:solidFill>
            <a:srgbClr val="FFFFFF"/>
          </a:solidFill>
          <a:ln/>
          <a:effectLst>
            <a:outerShdw blurRad="152400" dist="38100" dir="5400000" algn="bl" rotWithShape="0">
              <a:srgbClr val="0A2E1C">
                <a:alpha val="16000"/>
              </a:srgbClr>
            </a:outerShdw>
          </a:effectLst>
        </p:spPr>
      </p:sp>
      <p:sp>
        <p:nvSpPr>
          <p:cNvPr id="10" name="Shape 8"/>
          <p:cNvSpPr/>
          <p:nvPr/>
        </p:nvSpPr>
        <p:spPr>
          <a:xfrm>
            <a:off x="676656" y="1911096"/>
            <a:ext cx="4636008" cy="868680"/>
          </a:xfrm>
          <a:prstGeom prst="roundRect">
            <a:avLst>
              <a:gd name="adj" fmla="val 13684"/>
            </a:avLst>
          </a:prstGeom>
          <a:solidFill>
            <a:srgbClr val="1E8C45"/>
          </a:solidFill>
          <a:ln/>
        </p:spPr>
      </p:sp>
      <p:sp>
        <p:nvSpPr>
          <p:cNvPr id="11" name="Shape 9"/>
          <p:cNvSpPr/>
          <p:nvPr/>
        </p:nvSpPr>
        <p:spPr>
          <a:xfrm>
            <a:off x="822960" y="2002536"/>
            <a:ext cx="685800" cy="685800"/>
          </a:xfrm>
          <a:prstGeom prst="ellipse">
            <a:avLst/>
          </a:prstGeom>
          <a:solidFill>
            <a:srgbClr val="FFFFFF"/>
          </a:solidFill>
          <a:ln/>
        </p:spPr>
      </p:sp>
      <p:pic>
        <p:nvPicPr>
          <p:cNvPr id="12" name="Image 0" descr="/home/claude/assets/logo_stp.png"/>
          <p:cNvPicPr>
            <a:picLocks noChangeAspect="1"/>
          </p:cNvPicPr>
          <p:nvPr/>
        </p:nvPicPr>
        <p:blipFill>
          <a:blip r:embed="rId3"/>
          <a:stretch>
            <a:fillRect/>
          </a:stretch>
        </p:blipFill>
        <p:spPr>
          <a:xfrm>
            <a:off x="859536" y="2039112"/>
            <a:ext cx="612648" cy="612648"/>
          </a:xfrm>
          <a:prstGeom prst="rect">
            <a:avLst/>
          </a:prstGeom>
        </p:spPr>
      </p:pic>
      <p:sp>
        <p:nvSpPr>
          <p:cNvPr id="13" name="Text 10"/>
          <p:cNvSpPr txBox="1"/>
          <p:nvPr/>
        </p:nvSpPr>
        <p:spPr>
          <a:xfrm>
            <a:off x="1691640" y="2020824"/>
            <a:ext cx="352044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VIỆN STP</a:t>
            </a:r>
            <a:endParaRPr lang="en-US" sz="1600" dirty="0"/>
          </a:p>
        </p:txBody>
      </p:sp>
      <p:sp>
        <p:nvSpPr>
          <p:cNvPr id="14" name="Text 11"/>
          <p:cNvSpPr txBox="1"/>
          <p:nvPr/>
        </p:nvSpPr>
        <p:spPr>
          <a:xfrm>
            <a:off x="1691640" y="2368296"/>
            <a:ext cx="3520440" cy="274320"/>
          </a:xfrm>
          <a:prstGeom prst="rect">
            <a:avLst/>
          </a:prstGeom>
          <a:noFill/>
          <a:ln/>
        </p:spPr>
        <p:txBody>
          <a:bodyPr wrap="square" lIns="0" tIns="0" rIns="0" bIns="0" rtlCol="0" anchor="ctr"/>
          <a:lstStyle/>
          <a:p>
            <a:pPr marL="0" indent="0">
              <a:buNone/>
            </a:pPr>
            <a:r>
              <a:rPr lang="en-US" sz="1250" dirty="0">
                <a:solidFill>
                  <a:srgbClr val="E6F0E8"/>
                </a:solidFill>
                <a:latin typeface="Calibri" pitchFamily="34" charset="0"/>
                <a:ea typeface="Calibri" pitchFamily="34" charset="-122"/>
                <a:cs typeface="Calibri" pitchFamily="34" charset="-120"/>
              </a:rPr>
              <a:t>Đơn vị nghiên cứu &amp; phát triển giải pháp</a:t>
            </a:r>
            <a:endParaRPr lang="en-US" sz="1250" dirty="0"/>
          </a:p>
        </p:txBody>
      </p:sp>
      <p:sp>
        <p:nvSpPr>
          <p:cNvPr id="15" name="Shape 12"/>
          <p:cNvSpPr/>
          <p:nvPr/>
        </p:nvSpPr>
        <p:spPr>
          <a:xfrm>
            <a:off x="822960" y="2953512"/>
            <a:ext cx="329184" cy="329184"/>
          </a:xfrm>
          <a:prstGeom prst="ellipse">
            <a:avLst/>
          </a:prstGeom>
          <a:solidFill>
            <a:srgbClr val="EEF6EF"/>
          </a:solidFill>
          <a:ln/>
        </p:spPr>
      </p:sp>
      <p:pic>
        <p:nvPicPr>
          <p:cNvPr id="16" name="Image 1" descr="preencoded.png"/>
          <p:cNvPicPr>
            <a:picLocks noChangeAspect="1"/>
          </p:cNvPicPr>
          <p:nvPr/>
        </p:nvPicPr>
        <p:blipFill>
          <a:blip r:embed="rId4"/>
          <a:stretch>
            <a:fillRect/>
          </a:stretch>
        </p:blipFill>
        <p:spPr>
          <a:xfrm>
            <a:off x="901964" y="3032516"/>
            <a:ext cx="171176" cy="171176"/>
          </a:xfrm>
          <a:prstGeom prst="rect">
            <a:avLst/>
          </a:prstGeom>
        </p:spPr>
      </p:pic>
      <p:sp>
        <p:nvSpPr>
          <p:cNvPr id="17" name="Text 13"/>
          <p:cNvSpPr txBox="1"/>
          <p:nvPr/>
        </p:nvSpPr>
        <p:spPr>
          <a:xfrm>
            <a:off x="1280160" y="2916936"/>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Nghiên cứu, xây dựng giải pháp an toàn</a:t>
            </a:r>
            <a:endParaRPr lang="en-US" sz="1300" dirty="0"/>
          </a:p>
        </p:txBody>
      </p:sp>
      <p:sp>
        <p:nvSpPr>
          <p:cNvPr id="18" name="Shape 14"/>
          <p:cNvSpPr/>
          <p:nvPr/>
        </p:nvSpPr>
        <p:spPr>
          <a:xfrm>
            <a:off x="822960" y="3383280"/>
            <a:ext cx="329184" cy="329184"/>
          </a:xfrm>
          <a:prstGeom prst="ellipse">
            <a:avLst/>
          </a:prstGeom>
          <a:solidFill>
            <a:srgbClr val="EEF6EF"/>
          </a:solidFill>
          <a:ln/>
        </p:spPr>
      </p:sp>
      <p:pic>
        <p:nvPicPr>
          <p:cNvPr id="19" name="Image 2" descr="preencoded.png"/>
          <p:cNvPicPr>
            <a:picLocks noChangeAspect="1"/>
          </p:cNvPicPr>
          <p:nvPr/>
        </p:nvPicPr>
        <p:blipFill>
          <a:blip r:embed="rId5"/>
          <a:stretch>
            <a:fillRect/>
          </a:stretch>
        </p:blipFill>
        <p:spPr>
          <a:xfrm>
            <a:off x="901964" y="3462284"/>
            <a:ext cx="171176" cy="171176"/>
          </a:xfrm>
          <a:prstGeom prst="rect">
            <a:avLst/>
          </a:prstGeom>
        </p:spPr>
      </p:pic>
      <p:sp>
        <p:nvSpPr>
          <p:cNvPr id="20" name="Text 15"/>
          <p:cNvSpPr txBox="1"/>
          <p:nvPr/>
        </p:nvSpPr>
        <p:spPr>
          <a:xfrm>
            <a:off x="1280160" y="3346704"/>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Xây dựng chương trình đào tạo theo quy định và đặc thù doanh nghiệp</a:t>
            </a:r>
            <a:endParaRPr lang="en-US" sz="1300" dirty="0"/>
          </a:p>
        </p:txBody>
      </p:sp>
      <p:sp>
        <p:nvSpPr>
          <p:cNvPr id="21" name="Shape 16"/>
          <p:cNvSpPr/>
          <p:nvPr/>
        </p:nvSpPr>
        <p:spPr>
          <a:xfrm>
            <a:off x="822960" y="3813048"/>
            <a:ext cx="329184" cy="329184"/>
          </a:xfrm>
          <a:prstGeom prst="ellipse">
            <a:avLst/>
          </a:prstGeom>
          <a:solidFill>
            <a:srgbClr val="EEF6EF"/>
          </a:solidFill>
          <a:ln/>
        </p:spPr>
      </p:sp>
      <p:pic>
        <p:nvPicPr>
          <p:cNvPr id="22" name="Image 3" descr="preencoded.png"/>
          <p:cNvPicPr>
            <a:picLocks noChangeAspect="1"/>
          </p:cNvPicPr>
          <p:nvPr/>
        </p:nvPicPr>
        <p:blipFill>
          <a:blip r:embed="rId6"/>
          <a:stretch>
            <a:fillRect/>
          </a:stretch>
        </p:blipFill>
        <p:spPr>
          <a:xfrm>
            <a:off x="901964" y="3892052"/>
            <a:ext cx="171176" cy="171176"/>
          </a:xfrm>
          <a:prstGeom prst="rect">
            <a:avLst/>
          </a:prstGeom>
        </p:spPr>
      </p:pic>
      <p:sp>
        <p:nvSpPr>
          <p:cNvPr id="23" name="Text 17"/>
          <p:cNvSpPr txBox="1"/>
          <p:nvPr/>
        </p:nvSpPr>
        <p:spPr>
          <a:xfrm>
            <a:off x="1280160" y="3776472"/>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Tư vấn hệ thống quản lý ATLĐ (ISO 45001)</a:t>
            </a:r>
            <a:endParaRPr lang="en-US" sz="1300" dirty="0"/>
          </a:p>
        </p:txBody>
      </p:sp>
      <p:sp>
        <p:nvSpPr>
          <p:cNvPr id="24" name="Shape 18"/>
          <p:cNvSpPr/>
          <p:nvPr/>
        </p:nvSpPr>
        <p:spPr>
          <a:xfrm>
            <a:off x="822960" y="4242816"/>
            <a:ext cx="329184" cy="329184"/>
          </a:xfrm>
          <a:prstGeom prst="ellipse">
            <a:avLst/>
          </a:prstGeom>
          <a:solidFill>
            <a:srgbClr val="EEF6EF"/>
          </a:solidFill>
          <a:ln/>
        </p:spPr>
      </p:sp>
      <p:pic>
        <p:nvPicPr>
          <p:cNvPr id="25" name="Image 4" descr="preencoded.png"/>
          <p:cNvPicPr>
            <a:picLocks noChangeAspect="1"/>
          </p:cNvPicPr>
          <p:nvPr/>
        </p:nvPicPr>
        <p:blipFill>
          <a:blip r:embed="rId7"/>
          <a:stretch>
            <a:fillRect/>
          </a:stretch>
        </p:blipFill>
        <p:spPr>
          <a:xfrm>
            <a:off x="901964" y="4321820"/>
            <a:ext cx="171176" cy="171176"/>
          </a:xfrm>
          <a:prstGeom prst="rect">
            <a:avLst/>
          </a:prstGeom>
        </p:spPr>
      </p:pic>
      <p:sp>
        <p:nvSpPr>
          <p:cNvPr id="26" name="Text 19"/>
          <p:cNvSpPr txBox="1"/>
          <p:nvPr/>
        </p:nvSpPr>
        <p:spPr>
          <a:xfrm>
            <a:off x="1280160" y="4206240"/>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Đào tạo giảng viên, chuyên gia</a:t>
            </a:r>
            <a:endParaRPr lang="en-US" sz="1300" dirty="0"/>
          </a:p>
        </p:txBody>
      </p:sp>
      <p:sp>
        <p:nvSpPr>
          <p:cNvPr id="27" name="Shape 20"/>
          <p:cNvSpPr/>
          <p:nvPr/>
        </p:nvSpPr>
        <p:spPr>
          <a:xfrm>
            <a:off x="822960" y="4672584"/>
            <a:ext cx="329184" cy="329184"/>
          </a:xfrm>
          <a:prstGeom prst="ellipse">
            <a:avLst/>
          </a:prstGeom>
          <a:solidFill>
            <a:srgbClr val="EEF6EF"/>
          </a:solidFill>
          <a:ln/>
        </p:spPr>
      </p:sp>
      <p:pic>
        <p:nvPicPr>
          <p:cNvPr id="28" name="Image 5" descr="preencoded.png"/>
          <p:cNvPicPr>
            <a:picLocks noChangeAspect="1"/>
          </p:cNvPicPr>
          <p:nvPr/>
        </p:nvPicPr>
        <p:blipFill>
          <a:blip r:embed="rId8"/>
          <a:stretch>
            <a:fillRect/>
          </a:stretch>
        </p:blipFill>
        <p:spPr>
          <a:xfrm>
            <a:off x="901964" y="4751588"/>
            <a:ext cx="171176" cy="171176"/>
          </a:xfrm>
          <a:prstGeom prst="rect">
            <a:avLst/>
          </a:prstGeom>
        </p:spPr>
      </p:pic>
      <p:sp>
        <p:nvSpPr>
          <p:cNvPr id="29" name="Text 21"/>
          <p:cNvSpPr txBox="1"/>
          <p:nvPr/>
        </p:nvSpPr>
        <p:spPr>
          <a:xfrm>
            <a:off x="1280160" y="4636008"/>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Phát triển nền tảng số hóa quản lý ATLĐ</a:t>
            </a:r>
            <a:endParaRPr lang="en-US" sz="1300" dirty="0"/>
          </a:p>
        </p:txBody>
      </p:sp>
      <p:sp>
        <p:nvSpPr>
          <p:cNvPr id="30" name="Shape 22"/>
          <p:cNvSpPr/>
          <p:nvPr/>
        </p:nvSpPr>
        <p:spPr>
          <a:xfrm>
            <a:off x="822960" y="5102352"/>
            <a:ext cx="329184" cy="329184"/>
          </a:xfrm>
          <a:prstGeom prst="ellipse">
            <a:avLst/>
          </a:prstGeom>
          <a:solidFill>
            <a:srgbClr val="EEF6EF"/>
          </a:solidFill>
          <a:ln/>
        </p:spPr>
      </p:sp>
      <p:pic>
        <p:nvPicPr>
          <p:cNvPr id="31" name="Image 6" descr="preencoded.png"/>
          <p:cNvPicPr>
            <a:picLocks noChangeAspect="1"/>
          </p:cNvPicPr>
          <p:nvPr/>
        </p:nvPicPr>
        <p:blipFill>
          <a:blip r:embed="rId9"/>
          <a:stretch>
            <a:fillRect/>
          </a:stretch>
        </p:blipFill>
        <p:spPr>
          <a:xfrm>
            <a:off x="901964" y="5181356"/>
            <a:ext cx="171176" cy="171176"/>
          </a:xfrm>
          <a:prstGeom prst="rect">
            <a:avLst/>
          </a:prstGeom>
        </p:spPr>
      </p:pic>
      <p:sp>
        <p:nvSpPr>
          <p:cNvPr id="32" name="Text 23"/>
          <p:cNvSpPr txBox="1"/>
          <p:nvPr/>
        </p:nvSpPr>
        <p:spPr>
          <a:xfrm>
            <a:off x="1280160" y="5065776"/>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Chuyển giao tri thức – Đồng hành cải tiến</a:t>
            </a:r>
            <a:endParaRPr lang="en-US" sz="1300" dirty="0"/>
          </a:p>
        </p:txBody>
      </p:sp>
      <p:sp>
        <p:nvSpPr>
          <p:cNvPr id="33" name="Shape 24"/>
          <p:cNvSpPr/>
          <p:nvPr/>
        </p:nvSpPr>
        <p:spPr>
          <a:xfrm>
            <a:off x="6748272" y="1783080"/>
            <a:ext cx="4892040" cy="3840480"/>
          </a:xfrm>
          <a:prstGeom prst="roundRect">
            <a:avLst>
              <a:gd name="adj" fmla="val 4286"/>
            </a:avLst>
          </a:prstGeom>
          <a:solidFill>
            <a:srgbClr val="FFFFFF"/>
          </a:solidFill>
          <a:ln/>
          <a:effectLst>
            <a:outerShdw blurRad="152400" dist="38100" dir="5400000" algn="bl" rotWithShape="0">
              <a:srgbClr val="0A2E1C">
                <a:alpha val="16000"/>
              </a:srgbClr>
            </a:outerShdw>
          </a:effectLst>
        </p:spPr>
      </p:sp>
      <p:sp>
        <p:nvSpPr>
          <p:cNvPr id="34" name="Shape 25"/>
          <p:cNvSpPr/>
          <p:nvPr/>
        </p:nvSpPr>
        <p:spPr>
          <a:xfrm>
            <a:off x="6876288" y="1911096"/>
            <a:ext cx="4636008" cy="868680"/>
          </a:xfrm>
          <a:prstGeom prst="roundRect">
            <a:avLst>
              <a:gd name="adj" fmla="val 13684"/>
            </a:avLst>
          </a:prstGeom>
          <a:solidFill>
            <a:srgbClr val="1B3A6B"/>
          </a:solidFill>
          <a:ln/>
        </p:spPr>
      </p:sp>
      <p:sp>
        <p:nvSpPr>
          <p:cNvPr id="35" name="Shape 26"/>
          <p:cNvSpPr/>
          <p:nvPr/>
        </p:nvSpPr>
        <p:spPr>
          <a:xfrm>
            <a:off x="7022592" y="2002536"/>
            <a:ext cx="685800" cy="685800"/>
          </a:xfrm>
          <a:prstGeom prst="ellipse">
            <a:avLst/>
          </a:prstGeom>
          <a:solidFill>
            <a:srgbClr val="FFFFFF"/>
          </a:solidFill>
          <a:ln/>
        </p:spPr>
      </p:sp>
      <p:sp>
        <p:nvSpPr>
          <p:cNvPr id="37" name="Text 27"/>
          <p:cNvSpPr txBox="1"/>
          <p:nvPr/>
        </p:nvSpPr>
        <p:spPr>
          <a:xfrm>
            <a:off x="7891272" y="2020824"/>
            <a:ext cx="3520440" cy="36576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CÔNG TY CPKT HÀNG HẢI DAKO</a:t>
            </a:r>
            <a:endParaRPr lang="en-US" sz="1600" dirty="0"/>
          </a:p>
        </p:txBody>
      </p:sp>
      <p:sp>
        <p:nvSpPr>
          <p:cNvPr id="38" name="Text 28"/>
          <p:cNvSpPr txBox="1"/>
          <p:nvPr/>
        </p:nvSpPr>
        <p:spPr>
          <a:xfrm>
            <a:off x="7891272" y="2368296"/>
            <a:ext cx="3520440" cy="274320"/>
          </a:xfrm>
          <a:prstGeom prst="rect">
            <a:avLst/>
          </a:prstGeom>
          <a:noFill/>
          <a:ln/>
        </p:spPr>
        <p:txBody>
          <a:bodyPr wrap="square" lIns="0" tIns="0" rIns="0" bIns="0" rtlCol="0" anchor="ctr"/>
          <a:lstStyle/>
          <a:p>
            <a:pPr marL="0" indent="0">
              <a:buNone/>
            </a:pPr>
            <a:r>
              <a:rPr lang="en-US" sz="1250" dirty="0">
                <a:solidFill>
                  <a:srgbClr val="E6F0E8"/>
                </a:solidFill>
                <a:latin typeface="Calibri" pitchFamily="34" charset="0"/>
                <a:ea typeface="Calibri" pitchFamily="34" charset="-122"/>
                <a:cs typeface="Calibri" pitchFamily="34" charset="-120"/>
              </a:rPr>
              <a:t>Đơn vị triển khai huấn luyện</a:t>
            </a:r>
            <a:endParaRPr lang="en-US" sz="1250" dirty="0"/>
          </a:p>
        </p:txBody>
      </p:sp>
      <p:sp>
        <p:nvSpPr>
          <p:cNvPr id="39" name="Shape 29"/>
          <p:cNvSpPr/>
          <p:nvPr/>
        </p:nvSpPr>
        <p:spPr>
          <a:xfrm>
            <a:off x="7022592" y="2953512"/>
            <a:ext cx="329184" cy="329184"/>
          </a:xfrm>
          <a:prstGeom prst="ellipse">
            <a:avLst/>
          </a:prstGeom>
          <a:solidFill>
            <a:srgbClr val="E8EEF7"/>
          </a:solidFill>
          <a:ln/>
        </p:spPr>
      </p:sp>
      <p:pic>
        <p:nvPicPr>
          <p:cNvPr id="40" name="Image 8" descr="preencoded.png"/>
          <p:cNvPicPr>
            <a:picLocks noChangeAspect="1"/>
          </p:cNvPicPr>
          <p:nvPr/>
        </p:nvPicPr>
        <p:blipFill>
          <a:blip r:embed="rId10"/>
          <a:stretch>
            <a:fillRect/>
          </a:stretch>
        </p:blipFill>
        <p:spPr>
          <a:xfrm>
            <a:off x="7101596" y="3032516"/>
            <a:ext cx="171176" cy="171176"/>
          </a:xfrm>
          <a:prstGeom prst="rect">
            <a:avLst/>
          </a:prstGeom>
        </p:spPr>
      </p:pic>
      <p:sp>
        <p:nvSpPr>
          <p:cNvPr id="41" name="Text 30"/>
          <p:cNvSpPr txBox="1"/>
          <p:nvPr/>
        </p:nvSpPr>
        <p:spPr>
          <a:xfrm>
            <a:off x="7479792" y="2916936"/>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Tổ chức huấn luyện ATLĐ theo giấy phép</a:t>
            </a:r>
            <a:endParaRPr lang="en-US" sz="1300" dirty="0"/>
          </a:p>
        </p:txBody>
      </p:sp>
      <p:sp>
        <p:nvSpPr>
          <p:cNvPr id="42" name="Shape 31"/>
          <p:cNvSpPr/>
          <p:nvPr/>
        </p:nvSpPr>
        <p:spPr>
          <a:xfrm>
            <a:off x="7022592" y="3383280"/>
            <a:ext cx="329184" cy="329184"/>
          </a:xfrm>
          <a:prstGeom prst="ellipse">
            <a:avLst/>
          </a:prstGeom>
          <a:solidFill>
            <a:srgbClr val="E8EEF7"/>
          </a:solidFill>
          <a:ln/>
        </p:spPr>
      </p:sp>
      <p:pic>
        <p:nvPicPr>
          <p:cNvPr id="43" name="Image 9" descr="preencoded.png"/>
          <p:cNvPicPr>
            <a:picLocks noChangeAspect="1"/>
          </p:cNvPicPr>
          <p:nvPr/>
        </p:nvPicPr>
        <p:blipFill>
          <a:blip r:embed="rId11"/>
          <a:stretch>
            <a:fillRect/>
          </a:stretch>
        </p:blipFill>
        <p:spPr>
          <a:xfrm>
            <a:off x="7101596" y="3462284"/>
            <a:ext cx="171176" cy="171176"/>
          </a:xfrm>
          <a:prstGeom prst="rect">
            <a:avLst/>
          </a:prstGeom>
        </p:spPr>
      </p:pic>
      <p:sp>
        <p:nvSpPr>
          <p:cNvPr id="44" name="Text 32"/>
          <p:cNvSpPr txBox="1"/>
          <p:nvPr/>
        </p:nvSpPr>
        <p:spPr>
          <a:xfrm>
            <a:off x="7479792" y="3346704"/>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Thực hiện thi, kiểm tra và cấp chứng chỉ theo quy định</a:t>
            </a:r>
            <a:endParaRPr lang="en-US" sz="1300" dirty="0"/>
          </a:p>
        </p:txBody>
      </p:sp>
      <p:sp>
        <p:nvSpPr>
          <p:cNvPr id="45" name="Shape 33"/>
          <p:cNvSpPr/>
          <p:nvPr/>
        </p:nvSpPr>
        <p:spPr>
          <a:xfrm>
            <a:off x="7022592" y="3813048"/>
            <a:ext cx="329184" cy="329184"/>
          </a:xfrm>
          <a:prstGeom prst="ellipse">
            <a:avLst/>
          </a:prstGeom>
          <a:solidFill>
            <a:srgbClr val="E8EEF7"/>
          </a:solidFill>
          <a:ln/>
        </p:spPr>
      </p:sp>
      <p:pic>
        <p:nvPicPr>
          <p:cNvPr id="46" name="Image 10" descr="preencoded.png"/>
          <p:cNvPicPr>
            <a:picLocks noChangeAspect="1"/>
          </p:cNvPicPr>
          <p:nvPr/>
        </p:nvPicPr>
        <p:blipFill>
          <a:blip r:embed="rId12"/>
          <a:stretch>
            <a:fillRect/>
          </a:stretch>
        </p:blipFill>
        <p:spPr>
          <a:xfrm>
            <a:off x="7101596" y="3892052"/>
            <a:ext cx="171176" cy="171176"/>
          </a:xfrm>
          <a:prstGeom prst="rect">
            <a:avLst/>
          </a:prstGeom>
        </p:spPr>
      </p:pic>
      <p:sp>
        <p:nvSpPr>
          <p:cNvPr id="47" name="Text 34"/>
          <p:cNvSpPr txBox="1"/>
          <p:nvPr/>
        </p:nvSpPr>
        <p:spPr>
          <a:xfrm>
            <a:off x="7479792" y="3776472"/>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Quản lý hồ sơ, lưu trữ theo pháp luật</a:t>
            </a:r>
            <a:endParaRPr lang="en-US" sz="1300" dirty="0"/>
          </a:p>
        </p:txBody>
      </p:sp>
      <p:sp>
        <p:nvSpPr>
          <p:cNvPr id="48" name="Shape 35"/>
          <p:cNvSpPr/>
          <p:nvPr/>
        </p:nvSpPr>
        <p:spPr>
          <a:xfrm>
            <a:off x="7022592" y="4242816"/>
            <a:ext cx="329184" cy="329184"/>
          </a:xfrm>
          <a:prstGeom prst="ellipse">
            <a:avLst/>
          </a:prstGeom>
          <a:solidFill>
            <a:srgbClr val="E8EEF7"/>
          </a:solidFill>
          <a:ln/>
        </p:spPr>
      </p:sp>
      <p:pic>
        <p:nvPicPr>
          <p:cNvPr id="49" name="Image 11" descr="preencoded.png"/>
          <p:cNvPicPr>
            <a:picLocks noChangeAspect="1"/>
          </p:cNvPicPr>
          <p:nvPr/>
        </p:nvPicPr>
        <p:blipFill>
          <a:blip r:embed="rId13"/>
          <a:stretch>
            <a:fillRect/>
          </a:stretch>
        </p:blipFill>
        <p:spPr>
          <a:xfrm>
            <a:off x="7101596" y="4321820"/>
            <a:ext cx="171176" cy="171176"/>
          </a:xfrm>
          <a:prstGeom prst="rect">
            <a:avLst/>
          </a:prstGeom>
        </p:spPr>
      </p:pic>
      <p:sp>
        <p:nvSpPr>
          <p:cNvPr id="50" name="Text 36"/>
          <p:cNvSpPr txBox="1"/>
          <p:nvPr/>
        </p:nvSpPr>
        <p:spPr>
          <a:xfrm>
            <a:off x="7479792" y="4206240"/>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Hỗ trợ doanh nghiệp triển khai các giải pháp an toàn</a:t>
            </a:r>
            <a:endParaRPr lang="en-US" sz="1300" dirty="0"/>
          </a:p>
        </p:txBody>
      </p:sp>
      <p:sp>
        <p:nvSpPr>
          <p:cNvPr id="51" name="Shape 37"/>
          <p:cNvSpPr/>
          <p:nvPr/>
        </p:nvSpPr>
        <p:spPr>
          <a:xfrm>
            <a:off x="7022592" y="4672584"/>
            <a:ext cx="329184" cy="329184"/>
          </a:xfrm>
          <a:prstGeom prst="ellipse">
            <a:avLst/>
          </a:prstGeom>
          <a:solidFill>
            <a:srgbClr val="E8EEF7"/>
          </a:solidFill>
          <a:ln/>
        </p:spPr>
      </p:sp>
      <p:pic>
        <p:nvPicPr>
          <p:cNvPr id="52" name="Image 12" descr="preencoded.png"/>
          <p:cNvPicPr>
            <a:picLocks noChangeAspect="1"/>
          </p:cNvPicPr>
          <p:nvPr/>
        </p:nvPicPr>
        <p:blipFill>
          <a:blip r:embed="rId14"/>
          <a:stretch>
            <a:fillRect/>
          </a:stretch>
        </p:blipFill>
        <p:spPr>
          <a:xfrm>
            <a:off x="7101596" y="4751588"/>
            <a:ext cx="171176" cy="171176"/>
          </a:xfrm>
          <a:prstGeom prst="rect">
            <a:avLst/>
          </a:prstGeom>
        </p:spPr>
      </p:pic>
      <p:sp>
        <p:nvSpPr>
          <p:cNvPr id="53" name="Text 38"/>
          <p:cNvSpPr txBox="1"/>
          <p:nvPr/>
        </p:nvSpPr>
        <p:spPr>
          <a:xfrm>
            <a:off x="7479792" y="4636008"/>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Triển khai đào tạo tại doanh nghiệp</a:t>
            </a:r>
            <a:endParaRPr lang="en-US" sz="1300" dirty="0"/>
          </a:p>
        </p:txBody>
      </p:sp>
      <p:sp>
        <p:nvSpPr>
          <p:cNvPr id="54" name="Shape 39"/>
          <p:cNvSpPr/>
          <p:nvPr/>
        </p:nvSpPr>
        <p:spPr>
          <a:xfrm>
            <a:off x="7022592" y="5102352"/>
            <a:ext cx="329184" cy="329184"/>
          </a:xfrm>
          <a:prstGeom prst="ellipse">
            <a:avLst/>
          </a:prstGeom>
          <a:solidFill>
            <a:srgbClr val="E8EEF7"/>
          </a:solidFill>
          <a:ln/>
        </p:spPr>
      </p:sp>
      <p:pic>
        <p:nvPicPr>
          <p:cNvPr id="55" name="Image 13" descr="preencoded.png"/>
          <p:cNvPicPr>
            <a:picLocks noChangeAspect="1"/>
          </p:cNvPicPr>
          <p:nvPr/>
        </p:nvPicPr>
        <p:blipFill>
          <a:blip r:embed="rId15"/>
          <a:stretch>
            <a:fillRect/>
          </a:stretch>
        </p:blipFill>
        <p:spPr>
          <a:xfrm>
            <a:off x="7101596" y="5181356"/>
            <a:ext cx="171176" cy="171176"/>
          </a:xfrm>
          <a:prstGeom prst="rect">
            <a:avLst/>
          </a:prstGeom>
        </p:spPr>
      </p:pic>
      <p:sp>
        <p:nvSpPr>
          <p:cNvPr id="56" name="Text 40"/>
          <p:cNvSpPr txBox="1"/>
          <p:nvPr/>
        </p:nvSpPr>
        <p:spPr>
          <a:xfrm>
            <a:off x="7479792" y="5065776"/>
            <a:ext cx="3931920" cy="402336"/>
          </a:xfrm>
          <a:prstGeom prst="rect">
            <a:avLst/>
          </a:prstGeom>
          <a:noFill/>
          <a:ln/>
        </p:spPr>
        <p:txBody>
          <a:bodyPr wrap="square" lIns="0" tIns="0" rIns="0" bIns="0" rtlCol="0" anchor="ctr"/>
          <a:lstStyle/>
          <a:p>
            <a:pPr marL="0" indent="0">
              <a:buNone/>
            </a:pPr>
            <a:r>
              <a:rPr lang="en-US" sz="1300" dirty="0">
                <a:solidFill>
                  <a:srgbClr val="17261D"/>
                </a:solidFill>
                <a:latin typeface="Calibri" pitchFamily="34" charset="0"/>
                <a:ea typeface="Calibri" pitchFamily="34" charset="-122"/>
                <a:cs typeface="Calibri" pitchFamily="34" charset="-120"/>
              </a:rPr>
              <a:t>Dịch vụ nhanh chóng – đúng quy định</a:t>
            </a:r>
            <a:endParaRPr lang="en-US" sz="1300" dirty="0"/>
          </a:p>
        </p:txBody>
      </p:sp>
      <p:sp>
        <p:nvSpPr>
          <p:cNvPr id="57" name="Shape 41"/>
          <p:cNvSpPr/>
          <p:nvPr/>
        </p:nvSpPr>
        <p:spPr>
          <a:xfrm>
            <a:off x="5440680" y="3657600"/>
            <a:ext cx="1307592" cy="0"/>
          </a:xfrm>
          <a:prstGeom prst="line">
            <a:avLst/>
          </a:prstGeom>
          <a:noFill/>
          <a:ln w="19050">
            <a:solidFill>
              <a:srgbClr val="7A877F"/>
            </a:solidFill>
            <a:prstDash val="dash"/>
            <a:headEnd type="triangle"/>
            <a:tailEnd type="triangle"/>
          </a:ln>
        </p:spPr>
      </p:sp>
      <p:sp>
        <p:nvSpPr>
          <p:cNvPr id="58" name="Shape 42"/>
          <p:cNvSpPr/>
          <p:nvPr/>
        </p:nvSpPr>
        <p:spPr>
          <a:xfrm>
            <a:off x="5596128" y="3154680"/>
            <a:ext cx="1005840" cy="1005840"/>
          </a:xfrm>
          <a:prstGeom prst="ellipse">
            <a:avLst/>
          </a:prstGeom>
          <a:solidFill>
            <a:srgbClr val="FFFFFF"/>
          </a:solidFill>
          <a:ln w="12700">
            <a:solidFill>
              <a:srgbClr val="D5EAD8"/>
            </a:solidFill>
            <a:prstDash val="solid"/>
          </a:ln>
          <a:effectLst>
            <a:outerShdw blurRad="127000" dist="38100" dir="5400000" algn="bl" rotWithShape="0">
              <a:srgbClr val="0A2E1C">
                <a:alpha val="16000"/>
              </a:srgbClr>
            </a:outerShdw>
          </a:effectLst>
        </p:spPr>
      </p:sp>
      <p:pic>
        <p:nvPicPr>
          <p:cNvPr id="59" name="Image 14" descr="preencoded.png"/>
          <p:cNvPicPr>
            <a:picLocks noChangeAspect="1"/>
          </p:cNvPicPr>
          <p:nvPr/>
        </p:nvPicPr>
        <p:blipFill>
          <a:blip r:embed="rId16"/>
          <a:stretch>
            <a:fillRect/>
          </a:stretch>
        </p:blipFill>
        <p:spPr>
          <a:xfrm>
            <a:off x="5824728" y="3383280"/>
            <a:ext cx="548640" cy="548640"/>
          </a:xfrm>
          <a:prstGeom prst="rect">
            <a:avLst/>
          </a:prstGeom>
        </p:spPr>
      </p:pic>
      <p:sp>
        <p:nvSpPr>
          <p:cNvPr id="60" name="Text 43"/>
          <p:cNvSpPr txBox="1"/>
          <p:nvPr/>
        </p:nvSpPr>
        <p:spPr>
          <a:xfrm>
            <a:off x="5394960" y="4251960"/>
            <a:ext cx="1399032" cy="457200"/>
          </a:xfrm>
          <a:prstGeom prst="rect">
            <a:avLst/>
          </a:prstGeom>
          <a:noFill/>
          <a:ln/>
        </p:spPr>
        <p:txBody>
          <a:bodyPr wrap="square" lIns="0" tIns="0" rIns="0" bIns="0" rtlCol="0" anchor="t"/>
          <a:lstStyle/>
          <a:p>
            <a:pPr marL="0" indent="0" algn="ctr">
              <a:buNone/>
            </a:pPr>
            <a:r>
              <a:rPr lang="en-US" sz="950" b="1" dirty="0">
                <a:solidFill>
                  <a:srgbClr val="1E8C45"/>
                </a:solidFill>
                <a:latin typeface="Arial" pitchFamily="34" charset="0"/>
                <a:ea typeface="Arial" pitchFamily="34" charset="-122"/>
                <a:cs typeface="Arial" pitchFamily="34" charset="-120"/>
              </a:rPr>
              <a:t>HỢP TÁC</a:t>
            </a:r>
            <a:endParaRPr lang="en-US" sz="950" dirty="0"/>
          </a:p>
          <a:p>
            <a:pPr marL="0" indent="0" algn="ctr">
              <a:buNone/>
            </a:pPr>
            <a:r>
              <a:rPr lang="en-US" sz="950" b="1" dirty="0">
                <a:solidFill>
                  <a:srgbClr val="1E8C45"/>
                </a:solidFill>
                <a:latin typeface="Arial" pitchFamily="34" charset="0"/>
                <a:ea typeface="Arial" pitchFamily="34" charset="-122"/>
                <a:cs typeface="Arial" pitchFamily="34" charset="-120"/>
              </a:rPr>
              <a:t>CHIẾN LƯỢC</a:t>
            </a:r>
            <a:endParaRPr lang="en-US" sz="950" dirty="0"/>
          </a:p>
        </p:txBody>
      </p:sp>
      <p:sp>
        <p:nvSpPr>
          <p:cNvPr id="61" name="Text 44"/>
          <p:cNvSpPr txBox="1"/>
          <p:nvPr/>
        </p:nvSpPr>
        <p:spPr>
          <a:xfrm>
            <a:off x="5376672" y="4709160"/>
            <a:ext cx="1435608" cy="457200"/>
          </a:xfrm>
          <a:prstGeom prst="rect">
            <a:avLst/>
          </a:prstGeom>
          <a:noFill/>
          <a:ln/>
        </p:spPr>
        <p:txBody>
          <a:bodyPr wrap="square" lIns="0" tIns="0" rIns="0" bIns="0" rtlCol="0" anchor="t"/>
          <a:lstStyle/>
          <a:p>
            <a:pPr marL="0" indent="0" algn="ctr">
              <a:buNone/>
            </a:pPr>
            <a:r>
              <a:rPr lang="en-US" sz="900" dirty="0">
                <a:solidFill>
                  <a:srgbClr val="7A877F"/>
                </a:solidFill>
                <a:latin typeface="Calibri" pitchFamily="34" charset="0"/>
                <a:ea typeface="Calibri" pitchFamily="34" charset="-122"/>
                <a:cs typeface="Calibri" pitchFamily="34" charset="-120"/>
              </a:rPr>
              <a:t>Nghiên cứu – Chuyển giao</a:t>
            </a:r>
            <a:endParaRPr lang="en-US" sz="900" dirty="0"/>
          </a:p>
          <a:p>
            <a:pPr marL="0" indent="0" algn="ctr">
              <a:buNone/>
            </a:pPr>
            <a:r>
              <a:rPr lang="en-US" sz="900" dirty="0">
                <a:solidFill>
                  <a:srgbClr val="7A877F"/>
                </a:solidFill>
                <a:latin typeface="Calibri" pitchFamily="34" charset="0"/>
                <a:ea typeface="Calibri" pitchFamily="34" charset="-122"/>
                <a:cs typeface="Calibri" pitchFamily="34" charset="-120"/>
              </a:rPr>
              <a:t>Triển khai – Đồng hành</a:t>
            </a:r>
            <a:endParaRPr lang="en-US" sz="900" dirty="0"/>
          </a:p>
        </p:txBody>
      </p:sp>
      <p:sp>
        <p:nvSpPr>
          <p:cNvPr id="62" name="Shape 45"/>
          <p:cNvSpPr/>
          <p:nvPr/>
        </p:nvSpPr>
        <p:spPr>
          <a:xfrm>
            <a:off x="548640" y="5760720"/>
            <a:ext cx="11091672" cy="621792"/>
          </a:xfrm>
          <a:prstGeom prst="roundRect">
            <a:avLst>
              <a:gd name="adj" fmla="val 20588"/>
            </a:avLst>
          </a:prstGeom>
          <a:solidFill>
            <a:srgbClr val="0A2E1C"/>
          </a:solidFill>
          <a:ln/>
        </p:spPr>
      </p:sp>
      <p:pic>
        <p:nvPicPr>
          <p:cNvPr id="63" name="Image 15" descr="preencoded.png"/>
          <p:cNvPicPr>
            <a:picLocks noChangeAspect="1"/>
          </p:cNvPicPr>
          <p:nvPr/>
        </p:nvPicPr>
        <p:blipFill>
          <a:blip r:embed="rId17"/>
          <a:stretch>
            <a:fillRect/>
          </a:stretch>
        </p:blipFill>
        <p:spPr>
          <a:xfrm>
            <a:off x="822960" y="5916168"/>
            <a:ext cx="310896" cy="310896"/>
          </a:xfrm>
          <a:prstGeom prst="rect">
            <a:avLst/>
          </a:prstGeom>
        </p:spPr>
      </p:pic>
      <p:sp>
        <p:nvSpPr>
          <p:cNvPr id="64" name="Text 46"/>
          <p:cNvSpPr txBox="1"/>
          <p:nvPr/>
        </p:nvSpPr>
        <p:spPr>
          <a:xfrm>
            <a:off x="1280160" y="5760720"/>
            <a:ext cx="10149840" cy="621792"/>
          </a:xfrm>
          <a:prstGeom prst="rect">
            <a:avLst/>
          </a:prstGeom>
          <a:noFill/>
          <a:ln/>
        </p:spPr>
        <p:txBody>
          <a:bodyPr wrap="square" lIns="0" tIns="0" rIns="0" bIns="0" rtlCol="0" anchor="ctr"/>
          <a:lstStyle/>
          <a:p>
            <a:pPr marL="0" indent="0">
              <a:buNone/>
            </a:pPr>
            <a:r>
              <a:rPr lang="en-US" sz="1450" b="1" dirty="0">
                <a:solidFill>
                  <a:srgbClr val="A8D84E"/>
                </a:solidFill>
                <a:latin typeface="Arial" pitchFamily="34" charset="0"/>
                <a:ea typeface="Arial" pitchFamily="34" charset="-122"/>
                <a:cs typeface="Arial" pitchFamily="34" charset="-120"/>
              </a:rPr>
              <a:t>DOANH NGHIỆP</a:t>
            </a:r>
            <a:r>
              <a:rPr lang="en-US" sz="1450" dirty="0">
                <a:solidFill>
                  <a:srgbClr val="FFFFFF"/>
                </a:solidFill>
                <a:latin typeface="Calibri" pitchFamily="34" charset="0"/>
                <a:ea typeface="Calibri" pitchFamily="34" charset="-122"/>
                <a:cs typeface="Calibri" pitchFamily="34" charset="-120"/>
              </a:rPr>
              <a:t>    Nhận giải pháp toàn diện  ·  Tuân thủ pháp luật  ·  Giảm rủi ro  ·  Phát triển bền vững</a:t>
            </a:r>
            <a:endParaRPr lang="en-US" sz="1450" dirty="0"/>
          </a:p>
        </p:txBody>
      </p:sp>
      <p:pic>
        <p:nvPicPr>
          <p:cNvPr id="65" name="Picture 64">
            <a:extLst>
              <a:ext uri="{FF2B5EF4-FFF2-40B4-BE49-F238E27FC236}">
                <a16:creationId xmlns:a16="http://schemas.microsoft.com/office/drawing/2014/main" id="{38EB9CCB-4572-4FEA-9EA1-7FEFD5AFFA6A}"/>
              </a:ext>
            </a:extLst>
          </p:cNvPr>
          <p:cNvPicPr>
            <a:picLocks noChangeAspect="1"/>
          </p:cNvPicPr>
          <p:nvPr/>
        </p:nvPicPr>
        <p:blipFill>
          <a:blip r:embed="rId18"/>
          <a:stretch>
            <a:fillRect/>
          </a:stretch>
        </p:blipFill>
        <p:spPr>
          <a:xfrm>
            <a:off x="6980675" y="1957751"/>
            <a:ext cx="839872" cy="81610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 · VIỆN STP &amp; DAKO</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HỆ SINH THÁI VIỆN STP</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06</a:t>
            </a:r>
            <a:endParaRPr lang="en-US" sz="900" dirty="0"/>
          </a:p>
        </p:txBody>
      </p:sp>
      <p:sp>
        <p:nvSpPr>
          <p:cNvPr id="8" name="Text 6"/>
          <p:cNvSpPr txBox="1"/>
          <p:nvPr/>
        </p:nvSpPr>
        <p:spPr>
          <a:xfrm>
            <a:off x="548640" y="1280160"/>
            <a:ext cx="6766560" cy="320040"/>
          </a:xfrm>
          <a:prstGeom prst="rect">
            <a:avLst/>
          </a:prstGeom>
          <a:noFill/>
          <a:ln/>
        </p:spPr>
        <p:txBody>
          <a:bodyPr wrap="square" lIns="0" tIns="0" rIns="0" bIns="0" rtlCol="0" anchor="t"/>
          <a:lstStyle/>
          <a:p>
            <a:pPr marL="0" indent="0">
              <a:buNone/>
            </a:pPr>
            <a:r>
              <a:rPr lang="en-US" sz="1300" i="1" dirty="0">
                <a:solidFill>
                  <a:srgbClr val="1E8C45"/>
                </a:solidFill>
                <a:latin typeface="Calibri" pitchFamily="34" charset="0"/>
                <a:ea typeface="Calibri" pitchFamily="34" charset="-122"/>
                <a:cs typeface="Calibri" pitchFamily="34" charset="-120"/>
              </a:rPr>
              <a:t>Nghiên cứu giải pháp – Đào tạo – Số hóa – Đồng hành  ·  An toàn hôm nay, bền vững ngày mai</a:t>
            </a:r>
            <a:endParaRPr lang="en-US" sz="1300" dirty="0"/>
          </a:p>
        </p:txBody>
      </p:sp>
      <p:sp>
        <p:nvSpPr>
          <p:cNvPr id="9" name="Shape 7"/>
          <p:cNvSpPr/>
          <p:nvPr/>
        </p:nvSpPr>
        <p:spPr>
          <a:xfrm>
            <a:off x="2377440" y="2441448"/>
            <a:ext cx="704088" cy="0"/>
          </a:xfrm>
          <a:prstGeom prst="line">
            <a:avLst/>
          </a:prstGeom>
          <a:noFill/>
          <a:ln w="25400">
            <a:solidFill>
              <a:srgbClr val="1E8C45"/>
            </a:solidFill>
            <a:prstDash val="solid"/>
            <a:headEnd type="triangle"/>
            <a:tailEnd type="triangle"/>
          </a:ln>
        </p:spPr>
      </p:sp>
      <p:sp>
        <p:nvSpPr>
          <p:cNvPr id="10" name="Shape 8"/>
          <p:cNvSpPr/>
          <p:nvPr/>
        </p:nvSpPr>
        <p:spPr>
          <a:xfrm>
            <a:off x="4544568" y="2441448"/>
            <a:ext cx="704088" cy="0"/>
          </a:xfrm>
          <a:prstGeom prst="line">
            <a:avLst/>
          </a:prstGeom>
          <a:noFill/>
          <a:ln w="25400">
            <a:solidFill>
              <a:srgbClr val="1E8C45"/>
            </a:solidFill>
            <a:prstDash val="solid"/>
            <a:headEnd type="triangle"/>
            <a:tailEnd type="triangle"/>
          </a:ln>
        </p:spPr>
      </p:sp>
      <p:sp>
        <p:nvSpPr>
          <p:cNvPr id="11" name="Shape 9"/>
          <p:cNvSpPr/>
          <p:nvPr/>
        </p:nvSpPr>
        <p:spPr>
          <a:xfrm>
            <a:off x="1051560" y="1847088"/>
            <a:ext cx="1188720" cy="1188720"/>
          </a:xfrm>
          <a:prstGeom prst="ellipse">
            <a:avLst/>
          </a:prstGeom>
          <a:solidFill>
            <a:srgbClr val="FFFFFF"/>
          </a:solidFill>
          <a:ln w="12700">
            <a:solidFill>
              <a:srgbClr val="D5EAD8"/>
            </a:solidFill>
            <a:prstDash val="solid"/>
          </a:ln>
          <a:effectLst>
            <a:outerShdw blurRad="127000" dist="38100" dir="5400000" algn="bl" rotWithShape="0">
              <a:srgbClr val="0A2E1C">
                <a:alpha val="16000"/>
              </a:srgbClr>
            </a:outerShdw>
          </a:effectLst>
        </p:spPr>
      </p:sp>
      <p:pic>
        <p:nvPicPr>
          <p:cNvPr id="12" name="Image 0" descr="/home/claude/assets/logo_stp.png"/>
          <p:cNvPicPr>
            <a:picLocks noChangeAspect="1"/>
          </p:cNvPicPr>
          <p:nvPr/>
        </p:nvPicPr>
        <p:blipFill>
          <a:blip r:embed="rId3"/>
          <a:stretch>
            <a:fillRect/>
          </a:stretch>
        </p:blipFill>
        <p:spPr>
          <a:xfrm>
            <a:off x="1207008" y="2002536"/>
            <a:ext cx="877824" cy="877824"/>
          </a:xfrm>
          <a:prstGeom prst="rect">
            <a:avLst/>
          </a:prstGeom>
        </p:spPr>
      </p:pic>
      <p:sp>
        <p:nvSpPr>
          <p:cNvPr id="13" name="Text 10"/>
          <p:cNvSpPr txBox="1"/>
          <p:nvPr/>
        </p:nvSpPr>
        <p:spPr>
          <a:xfrm>
            <a:off x="594360" y="3182112"/>
            <a:ext cx="2103120" cy="320040"/>
          </a:xfrm>
          <a:prstGeom prst="rect">
            <a:avLst/>
          </a:prstGeom>
          <a:noFill/>
          <a:ln/>
        </p:spPr>
        <p:txBody>
          <a:bodyPr wrap="square" lIns="0" tIns="0" rIns="0" bIns="0" rtlCol="0" anchor="t"/>
          <a:lstStyle/>
          <a:p>
            <a:pPr marL="0" indent="0" algn="ctr">
              <a:buNone/>
            </a:pPr>
            <a:r>
              <a:rPr lang="en-US" sz="1400" b="1" dirty="0">
                <a:solidFill>
                  <a:srgbClr val="1E8C45"/>
                </a:solidFill>
                <a:latin typeface="Arial" pitchFamily="34" charset="0"/>
                <a:ea typeface="Arial" pitchFamily="34" charset="-122"/>
                <a:cs typeface="Arial" pitchFamily="34" charset="-120"/>
              </a:rPr>
              <a:t>Viện STP</a:t>
            </a:r>
            <a:endParaRPr lang="en-US" sz="1400" dirty="0"/>
          </a:p>
        </p:txBody>
      </p:sp>
      <p:sp>
        <p:nvSpPr>
          <p:cNvPr id="14" name="Text 11"/>
          <p:cNvSpPr txBox="1"/>
          <p:nvPr/>
        </p:nvSpPr>
        <p:spPr>
          <a:xfrm>
            <a:off x="640080" y="3502152"/>
            <a:ext cx="2011680" cy="594360"/>
          </a:xfrm>
          <a:prstGeom prst="rect">
            <a:avLst/>
          </a:prstGeom>
          <a:noFill/>
          <a:ln/>
        </p:spPr>
        <p:txBody>
          <a:bodyPr wrap="square" lIns="0" tIns="0" rIns="0" bIns="0" rtlCol="0" anchor="t"/>
          <a:lstStyle/>
          <a:p>
            <a:pPr marL="0" indent="0" algn="ctr">
              <a:buNone/>
            </a:pPr>
            <a:r>
              <a:rPr lang="en-US" sz="1200" dirty="0">
                <a:solidFill>
                  <a:srgbClr val="3C4A42"/>
                </a:solidFill>
                <a:latin typeface="Calibri" pitchFamily="34" charset="0"/>
                <a:ea typeface="Calibri" pitchFamily="34" charset="-122"/>
                <a:cs typeface="Calibri" pitchFamily="34" charset="-120"/>
              </a:rPr>
              <a:t>Nghiên cứu – giải pháp – đào tạo – tư vấn – số hóa</a:t>
            </a:r>
            <a:endParaRPr lang="en-US" sz="1200" dirty="0"/>
          </a:p>
        </p:txBody>
      </p:sp>
      <p:sp>
        <p:nvSpPr>
          <p:cNvPr id="15" name="Shape 12"/>
          <p:cNvSpPr/>
          <p:nvPr/>
        </p:nvSpPr>
        <p:spPr>
          <a:xfrm>
            <a:off x="3218688" y="1847088"/>
            <a:ext cx="1188720" cy="1188720"/>
          </a:xfrm>
          <a:prstGeom prst="ellipse">
            <a:avLst/>
          </a:prstGeom>
          <a:solidFill>
            <a:srgbClr val="FFFFFF"/>
          </a:solidFill>
          <a:ln w="12700">
            <a:solidFill>
              <a:srgbClr val="D5EAD8"/>
            </a:solidFill>
            <a:prstDash val="solid"/>
          </a:ln>
          <a:effectLst>
            <a:outerShdw blurRad="127000" dist="38100" dir="5400000" algn="bl" rotWithShape="0">
              <a:srgbClr val="0A2E1C">
                <a:alpha val="16000"/>
              </a:srgbClr>
            </a:outerShdw>
          </a:effectLst>
        </p:spPr>
      </p:sp>
      <p:sp>
        <p:nvSpPr>
          <p:cNvPr id="17" name="Text 13"/>
          <p:cNvSpPr txBox="1"/>
          <p:nvPr/>
        </p:nvSpPr>
        <p:spPr>
          <a:xfrm>
            <a:off x="2761488" y="3182112"/>
            <a:ext cx="2103120" cy="320040"/>
          </a:xfrm>
          <a:prstGeom prst="rect">
            <a:avLst/>
          </a:prstGeom>
          <a:noFill/>
          <a:ln/>
        </p:spPr>
        <p:txBody>
          <a:bodyPr wrap="square" lIns="0" tIns="0" rIns="0" bIns="0" rtlCol="0" anchor="t"/>
          <a:lstStyle/>
          <a:p>
            <a:pPr marL="0" indent="0" algn="ctr">
              <a:buNone/>
            </a:pPr>
            <a:r>
              <a:rPr lang="en-US" sz="1400" b="1" dirty="0">
                <a:solidFill>
                  <a:srgbClr val="1E8C45"/>
                </a:solidFill>
                <a:latin typeface="Arial" pitchFamily="34" charset="0"/>
                <a:ea typeface="Arial" pitchFamily="34" charset="-122"/>
                <a:cs typeface="Arial" pitchFamily="34" charset="-120"/>
              </a:rPr>
              <a:t>DAKO</a:t>
            </a:r>
            <a:endParaRPr lang="en-US" sz="1400" dirty="0"/>
          </a:p>
        </p:txBody>
      </p:sp>
      <p:sp>
        <p:nvSpPr>
          <p:cNvPr id="18" name="Text 14"/>
          <p:cNvSpPr txBox="1"/>
          <p:nvPr/>
        </p:nvSpPr>
        <p:spPr>
          <a:xfrm>
            <a:off x="2807208" y="3502152"/>
            <a:ext cx="2011680" cy="594360"/>
          </a:xfrm>
          <a:prstGeom prst="rect">
            <a:avLst/>
          </a:prstGeom>
          <a:noFill/>
          <a:ln/>
        </p:spPr>
        <p:txBody>
          <a:bodyPr wrap="square" lIns="0" tIns="0" rIns="0" bIns="0" rtlCol="0" anchor="t"/>
          <a:lstStyle/>
          <a:p>
            <a:pPr marL="0" indent="0" algn="ctr">
              <a:buNone/>
            </a:pPr>
            <a:r>
              <a:rPr lang="en-US" sz="1200" dirty="0">
                <a:solidFill>
                  <a:srgbClr val="3C4A42"/>
                </a:solidFill>
                <a:latin typeface="Calibri" pitchFamily="34" charset="0"/>
                <a:ea typeface="Calibri" pitchFamily="34" charset="-122"/>
                <a:cs typeface="Calibri" pitchFamily="34" charset="-120"/>
              </a:rPr>
              <a:t>Triển khai huấn luyện – cấp chứng chỉ theo quy định</a:t>
            </a:r>
            <a:endParaRPr lang="en-US" sz="1200" dirty="0"/>
          </a:p>
        </p:txBody>
      </p:sp>
      <p:sp>
        <p:nvSpPr>
          <p:cNvPr id="19" name="Shape 15"/>
          <p:cNvSpPr/>
          <p:nvPr/>
        </p:nvSpPr>
        <p:spPr>
          <a:xfrm>
            <a:off x="5385816" y="1847088"/>
            <a:ext cx="1188720" cy="1188720"/>
          </a:xfrm>
          <a:prstGeom prst="ellipse">
            <a:avLst/>
          </a:prstGeom>
          <a:solidFill>
            <a:srgbClr val="EEF6EF"/>
          </a:solidFill>
          <a:ln w="12700">
            <a:solidFill>
              <a:srgbClr val="D5EAD8"/>
            </a:solidFill>
            <a:prstDash val="solid"/>
          </a:ln>
          <a:effectLst>
            <a:outerShdw blurRad="127000" dist="38100" dir="5400000" algn="bl" rotWithShape="0">
              <a:srgbClr val="0A2E1C">
                <a:alpha val="16000"/>
              </a:srgbClr>
            </a:outerShdw>
          </a:effectLst>
        </p:spPr>
      </p:sp>
      <p:pic>
        <p:nvPicPr>
          <p:cNvPr id="20" name="Image 2" descr="preencoded.png"/>
          <p:cNvPicPr>
            <a:picLocks noChangeAspect="1"/>
          </p:cNvPicPr>
          <p:nvPr/>
        </p:nvPicPr>
        <p:blipFill>
          <a:blip r:embed="rId4"/>
          <a:stretch>
            <a:fillRect/>
          </a:stretch>
        </p:blipFill>
        <p:spPr>
          <a:xfrm>
            <a:off x="5650992" y="2135124"/>
            <a:ext cx="658368" cy="658368"/>
          </a:xfrm>
          <a:prstGeom prst="rect">
            <a:avLst/>
          </a:prstGeom>
        </p:spPr>
      </p:pic>
      <p:sp>
        <p:nvSpPr>
          <p:cNvPr id="21" name="Text 16"/>
          <p:cNvSpPr txBox="1"/>
          <p:nvPr/>
        </p:nvSpPr>
        <p:spPr>
          <a:xfrm>
            <a:off x="4928616" y="3182112"/>
            <a:ext cx="2103120" cy="320040"/>
          </a:xfrm>
          <a:prstGeom prst="rect">
            <a:avLst/>
          </a:prstGeom>
          <a:noFill/>
          <a:ln/>
        </p:spPr>
        <p:txBody>
          <a:bodyPr wrap="square" lIns="0" tIns="0" rIns="0" bIns="0" rtlCol="0" anchor="t"/>
          <a:lstStyle/>
          <a:p>
            <a:pPr marL="0" indent="0" algn="ctr">
              <a:buNone/>
            </a:pPr>
            <a:r>
              <a:rPr lang="en-US" sz="1400" b="1" dirty="0">
                <a:solidFill>
                  <a:srgbClr val="1E8C45"/>
                </a:solidFill>
                <a:latin typeface="Arial" pitchFamily="34" charset="0"/>
                <a:ea typeface="Arial" pitchFamily="34" charset="-122"/>
                <a:cs typeface="Arial" pitchFamily="34" charset="-120"/>
              </a:rPr>
              <a:t>Đối tác &amp; chuyên gia</a:t>
            </a:r>
            <a:endParaRPr lang="en-US" sz="1400" dirty="0"/>
          </a:p>
        </p:txBody>
      </p:sp>
      <p:sp>
        <p:nvSpPr>
          <p:cNvPr id="22" name="Text 17"/>
          <p:cNvSpPr txBox="1"/>
          <p:nvPr/>
        </p:nvSpPr>
        <p:spPr>
          <a:xfrm>
            <a:off x="4974336" y="3502152"/>
            <a:ext cx="2011680" cy="594360"/>
          </a:xfrm>
          <a:prstGeom prst="rect">
            <a:avLst/>
          </a:prstGeom>
          <a:noFill/>
          <a:ln/>
        </p:spPr>
        <p:txBody>
          <a:bodyPr wrap="square" lIns="0" tIns="0" rIns="0" bIns="0" rtlCol="0" anchor="t"/>
          <a:lstStyle/>
          <a:p>
            <a:pPr marL="0" indent="0" algn="ctr">
              <a:buNone/>
            </a:pPr>
            <a:r>
              <a:rPr lang="en-US" sz="1200" dirty="0">
                <a:solidFill>
                  <a:srgbClr val="3C4A42"/>
                </a:solidFill>
                <a:latin typeface="Calibri" pitchFamily="34" charset="0"/>
                <a:ea typeface="Calibri" pitchFamily="34" charset="-122"/>
                <a:cs typeface="Calibri" pitchFamily="34" charset="-120"/>
              </a:rPr>
              <a:t>Đồng hành cung cấp giải pháp chuyên sâu</a:t>
            </a:r>
            <a:endParaRPr lang="en-US" sz="1200" dirty="0"/>
          </a:p>
        </p:txBody>
      </p:sp>
      <p:sp>
        <p:nvSpPr>
          <p:cNvPr id="23" name="Text 18"/>
          <p:cNvSpPr txBox="1"/>
          <p:nvPr/>
        </p:nvSpPr>
        <p:spPr>
          <a:xfrm>
            <a:off x="548640" y="4389120"/>
            <a:ext cx="6400800" cy="274320"/>
          </a:xfrm>
          <a:prstGeom prst="rect">
            <a:avLst/>
          </a:prstGeom>
          <a:noFill/>
          <a:ln/>
        </p:spPr>
        <p:txBody>
          <a:bodyPr wrap="square" lIns="0" tIns="0" rIns="0" bIns="0" rtlCol="0" anchor="t"/>
          <a:lstStyle/>
          <a:p>
            <a:pPr marL="0" indent="0">
              <a:buNone/>
            </a:pPr>
            <a:r>
              <a:rPr lang="en-US" sz="1050" b="1" kern="0" spc="250" dirty="0">
                <a:solidFill>
                  <a:srgbClr val="1E8C45"/>
                </a:solidFill>
                <a:latin typeface="Arial" pitchFamily="34" charset="0"/>
                <a:ea typeface="Arial" pitchFamily="34" charset="-122"/>
                <a:cs typeface="Arial" pitchFamily="34" charset="-120"/>
              </a:rPr>
              <a:t>CAM KẾT TỪ VIỆN STP &amp; DAKO</a:t>
            </a:r>
            <a:endParaRPr lang="en-US" sz="1050" dirty="0"/>
          </a:p>
        </p:txBody>
      </p:sp>
      <p:sp>
        <p:nvSpPr>
          <p:cNvPr id="24" name="Shape 19"/>
          <p:cNvSpPr/>
          <p:nvPr/>
        </p:nvSpPr>
        <p:spPr>
          <a:xfrm>
            <a:off x="548640" y="4727448"/>
            <a:ext cx="1197864" cy="1572768"/>
          </a:xfrm>
          <a:prstGeom prst="roundRect">
            <a:avLst>
              <a:gd name="adj" fmla="val 10687"/>
            </a:avLst>
          </a:prstGeom>
          <a:solidFill>
            <a:srgbClr val="EEF6EF"/>
          </a:solidFill>
          <a:ln/>
        </p:spPr>
      </p:sp>
      <p:sp>
        <p:nvSpPr>
          <p:cNvPr id="25" name="Shape 20"/>
          <p:cNvSpPr/>
          <p:nvPr/>
        </p:nvSpPr>
        <p:spPr>
          <a:xfrm>
            <a:off x="909828" y="4892040"/>
            <a:ext cx="475488" cy="475488"/>
          </a:xfrm>
          <a:prstGeom prst="ellipse">
            <a:avLst/>
          </a:prstGeom>
          <a:solidFill>
            <a:srgbClr val="FFFFFF"/>
          </a:solidFill>
          <a:ln/>
        </p:spPr>
      </p:sp>
      <p:pic>
        <p:nvPicPr>
          <p:cNvPr id="26" name="Image 3" descr="preencoded.png"/>
          <p:cNvPicPr>
            <a:picLocks noChangeAspect="1"/>
          </p:cNvPicPr>
          <p:nvPr/>
        </p:nvPicPr>
        <p:blipFill>
          <a:blip r:embed="rId5"/>
          <a:stretch>
            <a:fillRect/>
          </a:stretch>
        </p:blipFill>
        <p:spPr>
          <a:xfrm>
            <a:off x="1023945" y="5006157"/>
            <a:ext cx="247254" cy="247254"/>
          </a:xfrm>
          <a:prstGeom prst="rect">
            <a:avLst/>
          </a:prstGeom>
        </p:spPr>
      </p:pic>
      <p:sp>
        <p:nvSpPr>
          <p:cNvPr id="27" name="Text 21"/>
          <p:cNvSpPr txBox="1"/>
          <p:nvPr/>
        </p:nvSpPr>
        <p:spPr>
          <a:xfrm>
            <a:off x="621792" y="5495544"/>
            <a:ext cx="1051560" cy="731520"/>
          </a:xfrm>
          <a:prstGeom prst="rect">
            <a:avLst/>
          </a:prstGeom>
          <a:noFill/>
          <a:ln/>
        </p:spPr>
        <p:txBody>
          <a:bodyPr wrap="square" lIns="0" tIns="0" rIns="0" bIns="0" rtlCol="0" anchor="t"/>
          <a:lstStyle/>
          <a:p>
            <a:pPr marL="0" indent="0" algn="ctr">
              <a:buNone/>
            </a:pPr>
            <a:r>
              <a:rPr lang="en-US" sz="1200" b="1" dirty="0">
                <a:solidFill>
                  <a:srgbClr val="17261D"/>
                </a:solidFill>
                <a:latin typeface="Calibri" pitchFamily="34" charset="0"/>
                <a:ea typeface="Calibri" pitchFamily="34" charset="-122"/>
                <a:cs typeface="Calibri" pitchFamily="34" charset="-120"/>
              </a:rPr>
              <a:t>Tuân thủ pháp luật 100%</a:t>
            </a:r>
            <a:endParaRPr lang="en-US" sz="1200" dirty="0"/>
          </a:p>
        </p:txBody>
      </p:sp>
      <p:sp>
        <p:nvSpPr>
          <p:cNvPr id="28" name="Shape 22"/>
          <p:cNvSpPr/>
          <p:nvPr/>
        </p:nvSpPr>
        <p:spPr>
          <a:xfrm>
            <a:off x="1874520" y="4727448"/>
            <a:ext cx="1197864" cy="1572768"/>
          </a:xfrm>
          <a:prstGeom prst="roundRect">
            <a:avLst>
              <a:gd name="adj" fmla="val 10687"/>
            </a:avLst>
          </a:prstGeom>
          <a:solidFill>
            <a:srgbClr val="EEF6EF"/>
          </a:solidFill>
          <a:ln/>
        </p:spPr>
      </p:sp>
      <p:sp>
        <p:nvSpPr>
          <p:cNvPr id="29" name="Shape 23"/>
          <p:cNvSpPr/>
          <p:nvPr/>
        </p:nvSpPr>
        <p:spPr>
          <a:xfrm>
            <a:off x="2235708" y="4892040"/>
            <a:ext cx="475488" cy="475488"/>
          </a:xfrm>
          <a:prstGeom prst="ellipse">
            <a:avLst/>
          </a:prstGeom>
          <a:solidFill>
            <a:srgbClr val="FFFFFF"/>
          </a:solidFill>
          <a:ln/>
        </p:spPr>
      </p:sp>
      <p:pic>
        <p:nvPicPr>
          <p:cNvPr id="30" name="Image 4" descr="preencoded.png"/>
          <p:cNvPicPr>
            <a:picLocks noChangeAspect="1"/>
          </p:cNvPicPr>
          <p:nvPr/>
        </p:nvPicPr>
        <p:blipFill>
          <a:blip r:embed="rId6"/>
          <a:stretch>
            <a:fillRect/>
          </a:stretch>
        </p:blipFill>
        <p:spPr>
          <a:xfrm>
            <a:off x="2349825" y="5006157"/>
            <a:ext cx="247254" cy="247254"/>
          </a:xfrm>
          <a:prstGeom prst="rect">
            <a:avLst/>
          </a:prstGeom>
        </p:spPr>
      </p:pic>
      <p:sp>
        <p:nvSpPr>
          <p:cNvPr id="31" name="Text 24"/>
          <p:cNvSpPr txBox="1"/>
          <p:nvPr/>
        </p:nvSpPr>
        <p:spPr>
          <a:xfrm>
            <a:off x="1947672" y="5495544"/>
            <a:ext cx="1051560" cy="731520"/>
          </a:xfrm>
          <a:prstGeom prst="rect">
            <a:avLst/>
          </a:prstGeom>
          <a:noFill/>
          <a:ln/>
        </p:spPr>
        <p:txBody>
          <a:bodyPr wrap="square" lIns="0" tIns="0" rIns="0" bIns="0" rtlCol="0" anchor="t"/>
          <a:lstStyle/>
          <a:p>
            <a:pPr marL="0" indent="0" algn="ctr">
              <a:buNone/>
            </a:pPr>
            <a:r>
              <a:rPr lang="en-US" sz="1200" b="1" dirty="0">
                <a:solidFill>
                  <a:srgbClr val="17261D"/>
                </a:solidFill>
                <a:latin typeface="Calibri" pitchFamily="34" charset="0"/>
                <a:ea typeface="Calibri" pitchFamily="34" charset="-122"/>
                <a:cs typeface="Calibri" pitchFamily="34" charset="-120"/>
              </a:rPr>
              <a:t>Chương trình chất lượng – thực tế</a:t>
            </a:r>
            <a:endParaRPr lang="en-US" sz="1200" dirty="0"/>
          </a:p>
        </p:txBody>
      </p:sp>
      <p:sp>
        <p:nvSpPr>
          <p:cNvPr id="32" name="Shape 25"/>
          <p:cNvSpPr/>
          <p:nvPr/>
        </p:nvSpPr>
        <p:spPr>
          <a:xfrm>
            <a:off x="3200400" y="4727448"/>
            <a:ext cx="1197864" cy="1572768"/>
          </a:xfrm>
          <a:prstGeom prst="roundRect">
            <a:avLst>
              <a:gd name="adj" fmla="val 10687"/>
            </a:avLst>
          </a:prstGeom>
          <a:solidFill>
            <a:srgbClr val="EEF6EF"/>
          </a:solidFill>
          <a:ln/>
        </p:spPr>
      </p:sp>
      <p:sp>
        <p:nvSpPr>
          <p:cNvPr id="33" name="Shape 26"/>
          <p:cNvSpPr/>
          <p:nvPr/>
        </p:nvSpPr>
        <p:spPr>
          <a:xfrm>
            <a:off x="3561588" y="4892040"/>
            <a:ext cx="475488" cy="475488"/>
          </a:xfrm>
          <a:prstGeom prst="ellipse">
            <a:avLst/>
          </a:prstGeom>
          <a:solidFill>
            <a:srgbClr val="FFFFFF"/>
          </a:solidFill>
          <a:ln/>
        </p:spPr>
      </p:sp>
      <p:pic>
        <p:nvPicPr>
          <p:cNvPr id="34" name="Image 5" descr="preencoded.png"/>
          <p:cNvPicPr>
            <a:picLocks noChangeAspect="1"/>
          </p:cNvPicPr>
          <p:nvPr/>
        </p:nvPicPr>
        <p:blipFill>
          <a:blip r:embed="rId7"/>
          <a:stretch>
            <a:fillRect/>
          </a:stretch>
        </p:blipFill>
        <p:spPr>
          <a:xfrm>
            <a:off x="3675705" y="5006157"/>
            <a:ext cx="247254" cy="247254"/>
          </a:xfrm>
          <a:prstGeom prst="rect">
            <a:avLst/>
          </a:prstGeom>
        </p:spPr>
      </p:pic>
      <p:sp>
        <p:nvSpPr>
          <p:cNvPr id="35" name="Text 27"/>
          <p:cNvSpPr txBox="1"/>
          <p:nvPr/>
        </p:nvSpPr>
        <p:spPr>
          <a:xfrm>
            <a:off x="3273552" y="5495544"/>
            <a:ext cx="1051560" cy="731520"/>
          </a:xfrm>
          <a:prstGeom prst="rect">
            <a:avLst/>
          </a:prstGeom>
          <a:noFill/>
          <a:ln/>
        </p:spPr>
        <p:txBody>
          <a:bodyPr wrap="square" lIns="0" tIns="0" rIns="0" bIns="0" rtlCol="0" anchor="t"/>
          <a:lstStyle/>
          <a:p>
            <a:pPr marL="0" indent="0" algn="ctr">
              <a:buNone/>
            </a:pPr>
            <a:r>
              <a:rPr lang="en-US" sz="1200" b="1" dirty="0">
                <a:solidFill>
                  <a:srgbClr val="17261D"/>
                </a:solidFill>
                <a:latin typeface="Calibri" pitchFamily="34" charset="0"/>
                <a:ea typeface="Calibri" pitchFamily="34" charset="-122"/>
                <a:cs typeface="Calibri" pitchFamily="34" charset="-120"/>
              </a:rPr>
              <a:t>Giảng viên giàu kinh nghiệm</a:t>
            </a:r>
            <a:endParaRPr lang="en-US" sz="1200" dirty="0"/>
          </a:p>
        </p:txBody>
      </p:sp>
      <p:sp>
        <p:nvSpPr>
          <p:cNvPr id="36" name="Shape 28"/>
          <p:cNvSpPr/>
          <p:nvPr/>
        </p:nvSpPr>
        <p:spPr>
          <a:xfrm>
            <a:off x="4526280" y="4727448"/>
            <a:ext cx="1197864" cy="1572768"/>
          </a:xfrm>
          <a:prstGeom prst="roundRect">
            <a:avLst>
              <a:gd name="adj" fmla="val 10687"/>
            </a:avLst>
          </a:prstGeom>
          <a:solidFill>
            <a:srgbClr val="EEF6EF"/>
          </a:solidFill>
          <a:ln/>
        </p:spPr>
      </p:sp>
      <p:sp>
        <p:nvSpPr>
          <p:cNvPr id="37" name="Shape 29"/>
          <p:cNvSpPr/>
          <p:nvPr/>
        </p:nvSpPr>
        <p:spPr>
          <a:xfrm>
            <a:off x="4887468" y="4892040"/>
            <a:ext cx="475488" cy="475488"/>
          </a:xfrm>
          <a:prstGeom prst="ellipse">
            <a:avLst/>
          </a:prstGeom>
          <a:solidFill>
            <a:srgbClr val="FFFFFF"/>
          </a:solidFill>
          <a:ln/>
        </p:spPr>
      </p:sp>
      <p:pic>
        <p:nvPicPr>
          <p:cNvPr id="38" name="Image 6" descr="preencoded.png"/>
          <p:cNvPicPr>
            <a:picLocks noChangeAspect="1"/>
          </p:cNvPicPr>
          <p:nvPr/>
        </p:nvPicPr>
        <p:blipFill>
          <a:blip r:embed="rId8"/>
          <a:stretch>
            <a:fillRect/>
          </a:stretch>
        </p:blipFill>
        <p:spPr>
          <a:xfrm>
            <a:off x="5001585" y="5006157"/>
            <a:ext cx="247254" cy="247254"/>
          </a:xfrm>
          <a:prstGeom prst="rect">
            <a:avLst/>
          </a:prstGeom>
        </p:spPr>
      </p:pic>
      <p:sp>
        <p:nvSpPr>
          <p:cNvPr id="39" name="Text 30"/>
          <p:cNvSpPr txBox="1"/>
          <p:nvPr/>
        </p:nvSpPr>
        <p:spPr>
          <a:xfrm>
            <a:off x="4599432" y="5495544"/>
            <a:ext cx="1051560" cy="731520"/>
          </a:xfrm>
          <a:prstGeom prst="rect">
            <a:avLst/>
          </a:prstGeom>
          <a:noFill/>
          <a:ln/>
        </p:spPr>
        <p:txBody>
          <a:bodyPr wrap="square" lIns="0" tIns="0" rIns="0" bIns="0" rtlCol="0" anchor="t"/>
          <a:lstStyle/>
          <a:p>
            <a:pPr marL="0" indent="0" algn="ctr">
              <a:buNone/>
            </a:pPr>
            <a:r>
              <a:rPr lang="en-US" sz="1200" b="1" dirty="0">
                <a:solidFill>
                  <a:srgbClr val="17261D"/>
                </a:solidFill>
                <a:latin typeface="Calibri" pitchFamily="34" charset="0"/>
                <a:ea typeface="Calibri" pitchFamily="34" charset="-122"/>
                <a:cs typeface="Calibri" pitchFamily="34" charset="-120"/>
              </a:rPr>
              <a:t>Hồ sơ minh bạch – đúng quy định</a:t>
            </a:r>
            <a:endParaRPr lang="en-US" sz="1200" dirty="0"/>
          </a:p>
        </p:txBody>
      </p:sp>
      <p:sp>
        <p:nvSpPr>
          <p:cNvPr id="40" name="Shape 31"/>
          <p:cNvSpPr/>
          <p:nvPr/>
        </p:nvSpPr>
        <p:spPr>
          <a:xfrm>
            <a:off x="5852160" y="4727448"/>
            <a:ext cx="1197864" cy="1572768"/>
          </a:xfrm>
          <a:prstGeom prst="roundRect">
            <a:avLst>
              <a:gd name="adj" fmla="val 10687"/>
            </a:avLst>
          </a:prstGeom>
          <a:solidFill>
            <a:srgbClr val="EEF6EF"/>
          </a:solidFill>
          <a:ln/>
        </p:spPr>
      </p:sp>
      <p:sp>
        <p:nvSpPr>
          <p:cNvPr id="41" name="Shape 32"/>
          <p:cNvSpPr/>
          <p:nvPr/>
        </p:nvSpPr>
        <p:spPr>
          <a:xfrm>
            <a:off x="6213348" y="4892040"/>
            <a:ext cx="475488" cy="475488"/>
          </a:xfrm>
          <a:prstGeom prst="ellipse">
            <a:avLst/>
          </a:prstGeom>
          <a:solidFill>
            <a:srgbClr val="FFFFFF"/>
          </a:solidFill>
          <a:ln/>
        </p:spPr>
      </p:sp>
      <p:pic>
        <p:nvPicPr>
          <p:cNvPr id="42" name="Image 7" descr="preencoded.png"/>
          <p:cNvPicPr>
            <a:picLocks noChangeAspect="1"/>
          </p:cNvPicPr>
          <p:nvPr/>
        </p:nvPicPr>
        <p:blipFill>
          <a:blip r:embed="rId9"/>
          <a:stretch>
            <a:fillRect/>
          </a:stretch>
        </p:blipFill>
        <p:spPr>
          <a:xfrm>
            <a:off x="6327465" y="5006157"/>
            <a:ext cx="247254" cy="247254"/>
          </a:xfrm>
          <a:prstGeom prst="rect">
            <a:avLst/>
          </a:prstGeom>
        </p:spPr>
      </p:pic>
      <p:sp>
        <p:nvSpPr>
          <p:cNvPr id="43" name="Text 33"/>
          <p:cNvSpPr txBox="1"/>
          <p:nvPr/>
        </p:nvSpPr>
        <p:spPr>
          <a:xfrm>
            <a:off x="5925312" y="5495544"/>
            <a:ext cx="1051560" cy="731520"/>
          </a:xfrm>
          <a:prstGeom prst="rect">
            <a:avLst/>
          </a:prstGeom>
          <a:noFill/>
          <a:ln/>
        </p:spPr>
        <p:txBody>
          <a:bodyPr wrap="square" lIns="0" tIns="0" rIns="0" bIns="0" rtlCol="0" anchor="t"/>
          <a:lstStyle/>
          <a:p>
            <a:pPr marL="0" indent="0" algn="ctr">
              <a:buNone/>
            </a:pPr>
            <a:r>
              <a:rPr lang="en-US" sz="1200" b="1" dirty="0">
                <a:solidFill>
                  <a:srgbClr val="17261D"/>
                </a:solidFill>
                <a:latin typeface="Calibri" pitchFamily="34" charset="0"/>
                <a:ea typeface="Calibri" pitchFamily="34" charset="-122"/>
                <a:cs typeface="Calibri" pitchFamily="34" charset="-120"/>
              </a:rPr>
              <a:t>Hỗ trợ nhanh chóng – đồng hành lâu dài</a:t>
            </a:r>
            <a:endParaRPr lang="en-US" sz="1200" dirty="0"/>
          </a:p>
        </p:txBody>
      </p:sp>
      <p:sp>
        <p:nvSpPr>
          <p:cNvPr id="44" name="Shape 34"/>
          <p:cNvSpPr/>
          <p:nvPr/>
        </p:nvSpPr>
        <p:spPr>
          <a:xfrm>
            <a:off x="7452360" y="1325880"/>
            <a:ext cx="4187952" cy="5001768"/>
          </a:xfrm>
          <a:prstGeom prst="roundRect">
            <a:avLst>
              <a:gd name="adj" fmla="val 4367"/>
            </a:avLst>
          </a:prstGeom>
          <a:solidFill>
            <a:srgbClr val="0A2E1C"/>
          </a:solidFill>
          <a:ln/>
        </p:spPr>
      </p:sp>
      <p:pic>
        <p:nvPicPr>
          <p:cNvPr id="45" name="Image 8" descr="/home/claude/assets/beams_dark.png"/>
          <p:cNvPicPr>
            <a:picLocks noChangeAspect="1"/>
          </p:cNvPicPr>
          <p:nvPr/>
        </p:nvPicPr>
        <p:blipFill>
          <a:blip r:embed="rId10">
            <a:alphaModFix amt="45000"/>
          </a:blip>
          <a:stretch>
            <a:fillRect/>
          </a:stretch>
        </p:blipFill>
        <p:spPr>
          <a:xfrm>
            <a:off x="7452360" y="4206240"/>
            <a:ext cx="4187952" cy="2121408"/>
          </a:xfrm>
          <a:prstGeom prst="rect">
            <a:avLst/>
          </a:prstGeom>
        </p:spPr>
      </p:pic>
      <p:sp>
        <p:nvSpPr>
          <p:cNvPr id="46" name="Text 35"/>
          <p:cNvSpPr txBox="1"/>
          <p:nvPr/>
        </p:nvSpPr>
        <p:spPr>
          <a:xfrm>
            <a:off x="7772400" y="1600200"/>
            <a:ext cx="3566160" cy="365760"/>
          </a:xfrm>
          <a:prstGeom prst="rect">
            <a:avLst/>
          </a:prstGeom>
          <a:noFill/>
          <a:ln/>
        </p:spPr>
        <p:txBody>
          <a:bodyPr wrap="square" lIns="0" tIns="0" rIns="0" bIns="0" rtlCol="0" anchor="t"/>
          <a:lstStyle/>
          <a:p>
            <a:pPr marL="0" indent="0">
              <a:buNone/>
            </a:pPr>
            <a:r>
              <a:rPr lang="en-US" sz="1400" b="1" dirty="0">
                <a:solidFill>
                  <a:srgbClr val="A8D84E"/>
                </a:solidFill>
                <a:latin typeface="Arial" pitchFamily="34" charset="0"/>
                <a:ea typeface="Arial" pitchFamily="34" charset="-122"/>
                <a:cs typeface="Arial" pitchFamily="34" charset="-120"/>
              </a:rPr>
              <a:t>GIÁ TRỊ DOANH NGHIỆP NHẬN ĐƯỢC</a:t>
            </a:r>
            <a:endParaRPr lang="en-US" sz="1400" dirty="0"/>
          </a:p>
        </p:txBody>
      </p:sp>
      <p:sp>
        <p:nvSpPr>
          <p:cNvPr id="47" name="Shape 36"/>
          <p:cNvSpPr/>
          <p:nvPr/>
        </p:nvSpPr>
        <p:spPr>
          <a:xfrm>
            <a:off x="7772400" y="2212848"/>
            <a:ext cx="347472" cy="347472"/>
          </a:xfrm>
          <a:prstGeom prst="ellipse">
            <a:avLst/>
          </a:prstGeom>
          <a:solidFill>
            <a:srgbClr val="A8D84E"/>
          </a:solidFill>
          <a:ln/>
        </p:spPr>
      </p:sp>
      <p:pic>
        <p:nvPicPr>
          <p:cNvPr id="48" name="Image 9" descr="preencoded.png"/>
          <p:cNvPicPr>
            <a:picLocks noChangeAspect="1"/>
          </p:cNvPicPr>
          <p:nvPr/>
        </p:nvPicPr>
        <p:blipFill>
          <a:blip r:embed="rId11"/>
          <a:stretch>
            <a:fillRect/>
          </a:stretch>
        </p:blipFill>
        <p:spPr>
          <a:xfrm>
            <a:off x="7855793" y="2296241"/>
            <a:ext cx="180685" cy="180685"/>
          </a:xfrm>
          <a:prstGeom prst="rect">
            <a:avLst/>
          </a:prstGeom>
        </p:spPr>
      </p:pic>
      <p:sp>
        <p:nvSpPr>
          <p:cNvPr id="49" name="Text 37"/>
          <p:cNvSpPr txBox="1"/>
          <p:nvPr/>
        </p:nvSpPr>
        <p:spPr>
          <a:xfrm>
            <a:off x="8275320" y="2139696"/>
            <a:ext cx="3154680" cy="51206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Hệ thống quản lý an toàn bài bản, khoa học</a:t>
            </a:r>
            <a:endParaRPr lang="en-US" sz="1400" dirty="0"/>
          </a:p>
        </p:txBody>
      </p:sp>
      <p:sp>
        <p:nvSpPr>
          <p:cNvPr id="50" name="Shape 38"/>
          <p:cNvSpPr/>
          <p:nvPr/>
        </p:nvSpPr>
        <p:spPr>
          <a:xfrm>
            <a:off x="7772400" y="2880360"/>
            <a:ext cx="347472" cy="347472"/>
          </a:xfrm>
          <a:prstGeom prst="ellipse">
            <a:avLst/>
          </a:prstGeom>
          <a:solidFill>
            <a:srgbClr val="A8D84E"/>
          </a:solidFill>
          <a:ln/>
        </p:spPr>
      </p:sp>
      <p:pic>
        <p:nvPicPr>
          <p:cNvPr id="51" name="Image 10" descr="preencoded.png"/>
          <p:cNvPicPr>
            <a:picLocks noChangeAspect="1"/>
          </p:cNvPicPr>
          <p:nvPr/>
        </p:nvPicPr>
        <p:blipFill>
          <a:blip r:embed="rId11"/>
          <a:stretch>
            <a:fillRect/>
          </a:stretch>
        </p:blipFill>
        <p:spPr>
          <a:xfrm>
            <a:off x="7855793" y="2963753"/>
            <a:ext cx="180685" cy="180685"/>
          </a:xfrm>
          <a:prstGeom prst="rect">
            <a:avLst/>
          </a:prstGeom>
        </p:spPr>
      </p:pic>
      <p:sp>
        <p:nvSpPr>
          <p:cNvPr id="52" name="Text 39"/>
          <p:cNvSpPr txBox="1"/>
          <p:nvPr/>
        </p:nvSpPr>
        <p:spPr>
          <a:xfrm>
            <a:off x="8275320" y="2807208"/>
            <a:ext cx="3154680" cy="51206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Đáp ứng đầy đủ yêu cầu pháp luật và khách hàng</a:t>
            </a:r>
            <a:endParaRPr lang="en-US" sz="1400" dirty="0"/>
          </a:p>
        </p:txBody>
      </p:sp>
      <p:sp>
        <p:nvSpPr>
          <p:cNvPr id="53" name="Shape 40"/>
          <p:cNvSpPr/>
          <p:nvPr/>
        </p:nvSpPr>
        <p:spPr>
          <a:xfrm>
            <a:off x="7772400" y="3547872"/>
            <a:ext cx="347472" cy="347472"/>
          </a:xfrm>
          <a:prstGeom prst="ellipse">
            <a:avLst/>
          </a:prstGeom>
          <a:solidFill>
            <a:srgbClr val="A8D84E"/>
          </a:solidFill>
          <a:ln/>
        </p:spPr>
      </p:sp>
      <p:pic>
        <p:nvPicPr>
          <p:cNvPr id="54" name="Image 11" descr="preencoded.png"/>
          <p:cNvPicPr>
            <a:picLocks noChangeAspect="1"/>
          </p:cNvPicPr>
          <p:nvPr/>
        </p:nvPicPr>
        <p:blipFill>
          <a:blip r:embed="rId11"/>
          <a:stretch>
            <a:fillRect/>
          </a:stretch>
        </p:blipFill>
        <p:spPr>
          <a:xfrm>
            <a:off x="7855793" y="3631265"/>
            <a:ext cx="180685" cy="180685"/>
          </a:xfrm>
          <a:prstGeom prst="rect">
            <a:avLst/>
          </a:prstGeom>
        </p:spPr>
      </p:pic>
      <p:sp>
        <p:nvSpPr>
          <p:cNvPr id="55" name="Text 41"/>
          <p:cNvSpPr txBox="1"/>
          <p:nvPr/>
        </p:nvSpPr>
        <p:spPr>
          <a:xfrm>
            <a:off x="8275320" y="3474720"/>
            <a:ext cx="3154680" cy="51206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Giảm thiểu tai nạn – giảm chi phí</a:t>
            </a:r>
            <a:endParaRPr lang="en-US" sz="1400" dirty="0"/>
          </a:p>
        </p:txBody>
      </p:sp>
      <p:sp>
        <p:nvSpPr>
          <p:cNvPr id="56" name="Shape 42"/>
          <p:cNvSpPr/>
          <p:nvPr/>
        </p:nvSpPr>
        <p:spPr>
          <a:xfrm>
            <a:off x="7772400" y="4215384"/>
            <a:ext cx="347472" cy="347472"/>
          </a:xfrm>
          <a:prstGeom prst="ellipse">
            <a:avLst/>
          </a:prstGeom>
          <a:solidFill>
            <a:srgbClr val="A8D84E"/>
          </a:solidFill>
          <a:ln/>
        </p:spPr>
      </p:sp>
      <p:pic>
        <p:nvPicPr>
          <p:cNvPr id="57" name="Image 12" descr="preencoded.png"/>
          <p:cNvPicPr>
            <a:picLocks noChangeAspect="1"/>
          </p:cNvPicPr>
          <p:nvPr/>
        </p:nvPicPr>
        <p:blipFill>
          <a:blip r:embed="rId11"/>
          <a:stretch>
            <a:fillRect/>
          </a:stretch>
        </p:blipFill>
        <p:spPr>
          <a:xfrm>
            <a:off x="7855793" y="4298777"/>
            <a:ext cx="180685" cy="180685"/>
          </a:xfrm>
          <a:prstGeom prst="rect">
            <a:avLst/>
          </a:prstGeom>
        </p:spPr>
      </p:pic>
      <p:sp>
        <p:nvSpPr>
          <p:cNvPr id="58" name="Text 43"/>
          <p:cNvSpPr txBox="1"/>
          <p:nvPr/>
        </p:nvSpPr>
        <p:spPr>
          <a:xfrm>
            <a:off x="8275320" y="4142232"/>
            <a:ext cx="3154680" cy="51206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Nâng cao nhận thức và văn hóa an toàn</a:t>
            </a:r>
            <a:endParaRPr lang="en-US" sz="1400" dirty="0"/>
          </a:p>
        </p:txBody>
      </p:sp>
      <p:sp>
        <p:nvSpPr>
          <p:cNvPr id="59" name="Shape 44"/>
          <p:cNvSpPr/>
          <p:nvPr/>
        </p:nvSpPr>
        <p:spPr>
          <a:xfrm>
            <a:off x="7772400" y="4882896"/>
            <a:ext cx="347472" cy="347472"/>
          </a:xfrm>
          <a:prstGeom prst="ellipse">
            <a:avLst/>
          </a:prstGeom>
          <a:solidFill>
            <a:srgbClr val="A8D84E"/>
          </a:solidFill>
          <a:ln/>
        </p:spPr>
      </p:sp>
      <p:pic>
        <p:nvPicPr>
          <p:cNvPr id="60" name="Image 13" descr="preencoded.png"/>
          <p:cNvPicPr>
            <a:picLocks noChangeAspect="1"/>
          </p:cNvPicPr>
          <p:nvPr/>
        </p:nvPicPr>
        <p:blipFill>
          <a:blip r:embed="rId11"/>
          <a:stretch>
            <a:fillRect/>
          </a:stretch>
        </p:blipFill>
        <p:spPr>
          <a:xfrm>
            <a:off x="7855793" y="4966289"/>
            <a:ext cx="180685" cy="180685"/>
          </a:xfrm>
          <a:prstGeom prst="rect">
            <a:avLst/>
          </a:prstGeom>
        </p:spPr>
      </p:pic>
      <p:sp>
        <p:nvSpPr>
          <p:cNvPr id="61" name="Text 45"/>
          <p:cNvSpPr txBox="1"/>
          <p:nvPr/>
        </p:nvSpPr>
        <p:spPr>
          <a:xfrm>
            <a:off x="8275320" y="4809744"/>
            <a:ext cx="3154680" cy="51206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Quản lý đào tạo &amp; hồ sơ dễ dàng với nền tảng số</a:t>
            </a:r>
            <a:endParaRPr lang="en-US" sz="1400" dirty="0"/>
          </a:p>
        </p:txBody>
      </p:sp>
      <p:sp>
        <p:nvSpPr>
          <p:cNvPr id="62" name="Shape 46"/>
          <p:cNvSpPr/>
          <p:nvPr/>
        </p:nvSpPr>
        <p:spPr>
          <a:xfrm>
            <a:off x="7772400" y="5550408"/>
            <a:ext cx="347472" cy="347472"/>
          </a:xfrm>
          <a:prstGeom prst="ellipse">
            <a:avLst/>
          </a:prstGeom>
          <a:solidFill>
            <a:srgbClr val="A8D84E"/>
          </a:solidFill>
          <a:ln/>
        </p:spPr>
      </p:sp>
      <p:pic>
        <p:nvPicPr>
          <p:cNvPr id="63" name="Image 14" descr="preencoded.png"/>
          <p:cNvPicPr>
            <a:picLocks noChangeAspect="1"/>
          </p:cNvPicPr>
          <p:nvPr/>
        </p:nvPicPr>
        <p:blipFill>
          <a:blip r:embed="rId11"/>
          <a:stretch>
            <a:fillRect/>
          </a:stretch>
        </p:blipFill>
        <p:spPr>
          <a:xfrm>
            <a:off x="7855793" y="5633801"/>
            <a:ext cx="180685" cy="180685"/>
          </a:xfrm>
          <a:prstGeom prst="rect">
            <a:avLst/>
          </a:prstGeom>
        </p:spPr>
      </p:pic>
      <p:sp>
        <p:nvSpPr>
          <p:cNvPr id="64" name="Text 47"/>
          <p:cNvSpPr txBox="1"/>
          <p:nvPr/>
        </p:nvSpPr>
        <p:spPr>
          <a:xfrm>
            <a:off x="8275320" y="5477256"/>
            <a:ext cx="3154680" cy="51206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Báo cáo trực quan cho Ban lãnh đạo</a:t>
            </a:r>
            <a:endParaRPr lang="en-US" sz="1400" dirty="0"/>
          </a:p>
        </p:txBody>
      </p:sp>
      <p:pic>
        <p:nvPicPr>
          <p:cNvPr id="65" name="Picture 64">
            <a:extLst>
              <a:ext uri="{FF2B5EF4-FFF2-40B4-BE49-F238E27FC236}">
                <a16:creationId xmlns:a16="http://schemas.microsoft.com/office/drawing/2014/main" id="{AE50CAE1-A04B-40C4-B772-94D41D685CB6}"/>
              </a:ext>
            </a:extLst>
          </p:cNvPr>
          <p:cNvPicPr>
            <a:picLocks noChangeAspect="1"/>
          </p:cNvPicPr>
          <p:nvPr/>
        </p:nvPicPr>
        <p:blipFill>
          <a:blip r:embed="rId12"/>
          <a:stretch>
            <a:fillRect/>
          </a:stretch>
        </p:blipFill>
        <p:spPr>
          <a:xfrm>
            <a:off x="3326503" y="1993392"/>
            <a:ext cx="979947" cy="95221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 · PHÁP LÝ HOẠT ĐỘNG</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THÔNG TIN PHÁP LÝ &amp; CHỨNG NHẬN</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07</a:t>
            </a:r>
            <a:endParaRPr lang="en-US" sz="900" dirty="0"/>
          </a:p>
        </p:txBody>
      </p:sp>
      <p:sp>
        <p:nvSpPr>
          <p:cNvPr id="8" name="Text 6"/>
          <p:cNvSpPr txBox="1"/>
          <p:nvPr/>
        </p:nvSpPr>
        <p:spPr>
          <a:xfrm>
            <a:off x="548640" y="1243584"/>
            <a:ext cx="11064240" cy="566928"/>
          </a:xfrm>
          <a:prstGeom prst="rect">
            <a:avLst/>
          </a:prstGeom>
          <a:noFill/>
          <a:ln/>
        </p:spPr>
        <p:txBody>
          <a:bodyPr wrap="square" lIns="0" tIns="0" rIns="0" bIns="0" rtlCol="0" anchor="t"/>
          <a:lstStyle/>
          <a:p>
            <a:pPr marL="0" indent="0">
              <a:buNone/>
            </a:pPr>
            <a:r>
              <a:rPr lang="en-US" sz="1400" b="1" dirty="0">
                <a:solidFill>
                  <a:srgbClr val="1E8C45"/>
                </a:solidFill>
                <a:latin typeface="Calibri" pitchFamily="34" charset="0"/>
                <a:ea typeface="Calibri" pitchFamily="34" charset="-122"/>
                <a:cs typeface="Calibri" pitchFamily="34" charset="-120"/>
              </a:rPr>
              <a:t>Công ty CP Kỹ thuật Hàng Hải DAKO</a:t>
            </a:r>
            <a:r>
              <a:rPr lang="en-US" sz="1400" dirty="0">
                <a:solidFill>
                  <a:srgbClr val="3C4A42"/>
                </a:solidFill>
                <a:latin typeface="Calibri" pitchFamily="34" charset="0"/>
                <a:ea typeface="Calibri" pitchFamily="34" charset="-122"/>
                <a:cs typeface="Calibri" pitchFamily="34" charset="-120"/>
              </a:rPr>
              <a:t>  ·  Mã số doanh nghiệp </a:t>
            </a:r>
            <a:r>
              <a:rPr lang="en-US" sz="1400" b="1" dirty="0">
                <a:solidFill>
                  <a:srgbClr val="1E8C45"/>
                </a:solidFill>
                <a:latin typeface="Calibri" pitchFamily="34" charset="0"/>
                <a:ea typeface="Calibri" pitchFamily="34" charset="-122"/>
                <a:cs typeface="Calibri" pitchFamily="34" charset="-120"/>
              </a:rPr>
              <a:t>0313642407</a:t>
            </a:r>
            <a:r>
              <a:rPr lang="en-US" sz="1400" dirty="0">
                <a:solidFill>
                  <a:srgbClr val="3C4A42"/>
                </a:solidFill>
                <a:latin typeface="Calibri" pitchFamily="34" charset="0"/>
                <a:ea typeface="Calibri" pitchFamily="34" charset="-122"/>
                <a:cs typeface="Calibri" pitchFamily="34" charset="-120"/>
              </a:rPr>
              <a:t>  ·  Đăng ký lần đầu 29/01/2016  ·  Ngành </a:t>
            </a:r>
            <a:r>
              <a:rPr lang="en-US" sz="1400" b="1" dirty="0">
                <a:solidFill>
                  <a:srgbClr val="1E8C45"/>
                </a:solidFill>
                <a:latin typeface="Calibri" pitchFamily="34" charset="0"/>
                <a:ea typeface="Calibri" pitchFamily="34" charset="-122"/>
                <a:cs typeface="Calibri" pitchFamily="34" charset="-120"/>
              </a:rPr>
              <a:t>7490</a:t>
            </a:r>
            <a:r>
              <a:rPr lang="en-US" sz="1400" dirty="0">
                <a:solidFill>
                  <a:srgbClr val="3C4A42"/>
                </a:solidFill>
                <a:latin typeface="Calibri" pitchFamily="34" charset="0"/>
                <a:ea typeface="Calibri" pitchFamily="34" charset="-122"/>
                <a:cs typeface="Calibri" pitchFamily="34" charset="-120"/>
              </a:rPr>
              <a:t>: huấn luyện ATVSLĐ, quan trắc môi trường lao động, kiểm định kỹ thuật an toàn lao động</a:t>
            </a:r>
            <a:endParaRPr lang="en-US" sz="1400" dirty="0"/>
          </a:p>
        </p:txBody>
      </p:sp>
      <p:sp>
        <p:nvSpPr>
          <p:cNvPr id="9" name="Shape 7"/>
          <p:cNvSpPr/>
          <p:nvPr/>
        </p:nvSpPr>
        <p:spPr>
          <a:xfrm>
            <a:off x="1396524" y="1938528"/>
            <a:ext cx="2914035" cy="4069080"/>
          </a:xfrm>
          <a:prstGeom prst="rect">
            <a:avLst/>
          </a:prstGeom>
          <a:solidFill>
            <a:srgbClr val="FFFFFF"/>
          </a:solidFill>
          <a:ln/>
          <a:effectLst>
            <a:outerShdw blurRad="177800" dist="50800" dir="5400000" algn="bl" rotWithShape="0">
              <a:srgbClr val="0A2E1C">
                <a:alpha val="25000"/>
              </a:srgbClr>
            </a:outerShdw>
          </a:effectLst>
        </p:spPr>
      </p:sp>
      <p:sp>
        <p:nvSpPr>
          <p:cNvPr id="13" name="Text 10"/>
          <p:cNvSpPr txBox="1"/>
          <p:nvPr/>
        </p:nvSpPr>
        <p:spPr>
          <a:xfrm>
            <a:off x="1213644" y="6117336"/>
            <a:ext cx="3279795" cy="411480"/>
          </a:xfrm>
          <a:prstGeom prst="rect">
            <a:avLst/>
          </a:prstGeom>
          <a:noFill/>
          <a:ln/>
        </p:spPr>
        <p:txBody>
          <a:bodyPr wrap="square" lIns="0" tIns="0" rIns="0" bIns="0" rtlCol="0" anchor="t"/>
          <a:lstStyle/>
          <a:p>
            <a:pPr marL="0" indent="0" algn="ctr">
              <a:buNone/>
            </a:pPr>
            <a:r>
              <a:rPr lang="en-US" sz="1200" b="1" dirty="0">
                <a:solidFill>
                  <a:srgbClr val="17261D"/>
                </a:solidFill>
                <a:latin typeface="Calibri" pitchFamily="34" charset="0"/>
                <a:ea typeface="Calibri" pitchFamily="34" charset="-122"/>
                <a:cs typeface="Calibri" pitchFamily="34" charset="-120"/>
              </a:rPr>
              <a:t>Giấy chứng nhận đăng ký doanh nghiệp</a:t>
            </a:r>
            <a:endParaRPr lang="en-US" sz="1200" dirty="0"/>
          </a:p>
        </p:txBody>
      </p:sp>
      <p:sp>
        <p:nvSpPr>
          <p:cNvPr id="14" name="Shape 11"/>
          <p:cNvSpPr/>
          <p:nvPr/>
        </p:nvSpPr>
        <p:spPr>
          <a:xfrm>
            <a:off x="4722039" y="1938528"/>
            <a:ext cx="2793530" cy="4069080"/>
          </a:xfrm>
          <a:prstGeom prst="rect">
            <a:avLst/>
          </a:prstGeom>
          <a:solidFill>
            <a:srgbClr val="FFFFFF"/>
          </a:solidFill>
          <a:ln/>
          <a:effectLst>
            <a:outerShdw blurRad="177800" dist="50800" dir="5400000" algn="bl" rotWithShape="0">
              <a:srgbClr val="0A2E1C">
                <a:alpha val="25000"/>
              </a:srgbClr>
            </a:outerShdw>
          </a:effectLst>
        </p:spPr>
      </p:sp>
      <p:pic>
        <p:nvPicPr>
          <p:cNvPr id="15" name="Image 1" descr="/home/claude/assets/legal_bl.jpg"/>
          <p:cNvPicPr>
            <a:picLocks noChangeAspect="1"/>
          </p:cNvPicPr>
          <p:nvPr/>
        </p:nvPicPr>
        <p:blipFill>
          <a:blip r:embed="rId3"/>
          <a:stretch>
            <a:fillRect/>
          </a:stretch>
        </p:blipFill>
        <p:spPr>
          <a:xfrm>
            <a:off x="4722039" y="1938528"/>
            <a:ext cx="2793530" cy="4069080"/>
          </a:xfrm>
          <a:prstGeom prst="rect">
            <a:avLst/>
          </a:prstGeom>
        </p:spPr>
      </p:pic>
      <p:sp>
        <p:nvSpPr>
          <p:cNvPr id="16" name="Shape 12"/>
          <p:cNvSpPr/>
          <p:nvPr/>
        </p:nvSpPr>
        <p:spPr>
          <a:xfrm>
            <a:off x="4584879" y="1801368"/>
            <a:ext cx="384048" cy="384048"/>
          </a:xfrm>
          <a:prstGeom prst="ellipse">
            <a:avLst/>
          </a:prstGeom>
          <a:solidFill>
            <a:srgbClr val="1E8C45"/>
          </a:solidFill>
          <a:ln w="19050">
            <a:solidFill>
              <a:srgbClr val="FFFFFF"/>
            </a:solidFill>
            <a:prstDash val="solid"/>
          </a:ln>
        </p:spPr>
      </p:sp>
      <p:sp>
        <p:nvSpPr>
          <p:cNvPr id="17" name="Text 13"/>
          <p:cNvSpPr txBox="1"/>
          <p:nvPr/>
        </p:nvSpPr>
        <p:spPr>
          <a:xfrm>
            <a:off x="4584879" y="18013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8" name="Text 14"/>
          <p:cNvSpPr txBox="1"/>
          <p:nvPr/>
        </p:nvSpPr>
        <p:spPr>
          <a:xfrm>
            <a:off x="4539159" y="6117336"/>
            <a:ext cx="3159290" cy="411480"/>
          </a:xfrm>
          <a:prstGeom prst="rect">
            <a:avLst/>
          </a:prstGeom>
          <a:noFill/>
          <a:ln/>
        </p:spPr>
        <p:txBody>
          <a:bodyPr wrap="square" lIns="0" tIns="0" rIns="0" bIns="0" rtlCol="0" anchor="t"/>
          <a:lstStyle/>
          <a:p>
            <a:pPr marL="0" indent="0" algn="ctr">
              <a:buNone/>
            </a:pPr>
            <a:r>
              <a:rPr lang="en-US" sz="1200" b="1" dirty="0">
                <a:solidFill>
                  <a:srgbClr val="17261D"/>
                </a:solidFill>
                <a:latin typeface="Calibri" pitchFamily="34" charset="0"/>
                <a:ea typeface="Calibri" pitchFamily="34" charset="-122"/>
                <a:cs typeface="Calibri" pitchFamily="34" charset="-120"/>
              </a:rPr>
              <a:t>Giấy xác nhận thay đổi nội dung đăng ký (10/11/2025)</a:t>
            </a:r>
            <a:endParaRPr lang="en-US" sz="1200" dirty="0"/>
          </a:p>
        </p:txBody>
      </p:sp>
      <p:sp>
        <p:nvSpPr>
          <p:cNvPr id="19" name="Shape 15"/>
          <p:cNvSpPr/>
          <p:nvPr/>
        </p:nvSpPr>
        <p:spPr>
          <a:xfrm>
            <a:off x="7927048" y="1938528"/>
            <a:ext cx="2868123" cy="4069080"/>
          </a:xfrm>
          <a:prstGeom prst="rect">
            <a:avLst/>
          </a:prstGeom>
          <a:solidFill>
            <a:srgbClr val="FFFFFF"/>
          </a:solidFill>
          <a:ln/>
          <a:effectLst>
            <a:outerShdw blurRad="177800" dist="50800" dir="5400000" algn="bl" rotWithShape="0">
              <a:srgbClr val="0A2E1C">
                <a:alpha val="25000"/>
              </a:srgbClr>
            </a:outerShdw>
          </a:effectLst>
        </p:spPr>
      </p:sp>
      <p:pic>
        <p:nvPicPr>
          <p:cNvPr id="20" name="Image 2" descr="/home/claude/assets/legal_br.jpg"/>
          <p:cNvPicPr>
            <a:picLocks noChangeAspect="1"/>
          </p:cNvPicPr>
          <p:nvPr/>
        </p:nvPicPr>
        <p:blipFill>
          <a:blip r:embed="rId4"/>
          <a:stretch>
            <a:fillRect/>
          </a:stretch>
        </p:blipFill>
        <p:spPr>
          <a:xfrm>
            <a:off x="7927048" y="1938528"/>
            <a:ext cx="2868123" cy="4069080"/>
          </a:xfrm>
          <a:prstGeom prst="rect">
            <a:avLst/>
          </a:prstGeom>
        </p:spPr>
      </p:pic>
      <p:sp>
        <p:nvSpPr>
          <p:cNvPr id="21" name="Shape 16"/>
          <p:cNvSpPr/>
          <p:nvPr/>
        </p:nvSpPr>
        <p:spPr>
          <a:xfrm>
            <a:off x="7972768" y="3688232"/>
            <a:ext cx="2794971" cy="1342796"/>
          </a:xfrm>
          <a:prstGeom prst="rect">
            <a:avLst/>
          </a:prstGeom>
          <a:ln w="31750">
            <a:solidFill>
              <a:srgbClr val="D7282F"/>
            </a:solidFill>
            <a:prstDash val="solid"/>
          </a:ln>
        </p:spPr>
      </p:sp>
      <p:sp>
        <p:nvSpPr>
          <p:cNvPr id="22" name="Shape 17"/>
          <p:cNvSpPr/>
          <p:nvPr/>
        </p:nvSpPr>
        <p:spPr>
          <a:xfrm>
            <a:off x="7789888" y="1801368"/>
            <a:ext cx="384048" cy="384048"/>
          </a:xfrm>
          <a:prstGeom prst="ellipse">
            <a:avLst/>
          </a:prstGeom>
          <a:solidFill>
            <a:srgbClr val="1E8C45"/>
          </a:solidFill>
          <a:ln w="19050">
            <a:solidFill>
              <a:srgbClr val="FFFFFF"/>
            </a:solidFill>
            <a:prstDash val="solid"/>
          </a:ln>
        </p:spPr>
      </p:sp>
      <p:sp>
        <p:nvSpPr>
          <p:cNvPr id="23" name="Text 18"/>
          <p:cNvSpPr txBox="1"/>
          <p:nvPr/>
        </p:nvSpPr>
        <p:spPr>
          <a:xfrm>
            <a:off x="7789888" y="18013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4" name="Text 19"/>
          <p:cNvSpPr txBox="1"/>
          <p:nvPr/>
        </p:nvSpPr>
        <p:spPr>
          <a:xfrm>
            <a:off x="7744168" y="6117336"/>
            <a:ext cx="3233883" cy="411480"/>
          </a:xfrm>
          <a:prstGeom prst="rect">
            <a:avLst/>
          </a:prstGeom>
          <a:noFill/>
          <a:ln/>
        </p:spPr>
        <p:txBody>
          <a:bodyPr wrap="square" lIns="0" tIns="0" rIns="0" bIns="0" rtlCol="0" anchor="t"/>
          <a:lstStyle/>
          <a:p>
            <a:pPr marL="0" indent="0" algn="ctr">
              <a:buNone/>
            </a:pPr>
            <a:r>
              <a:rPr lang="en-US" sz="1200" b="1" dirty="0">
                <a:solidFill>
                  <a:srgbClr val="17261D"/>
                </a:solidFill>
                <a:latin typeface="Calibri" pitchFamily="34" charset="0"/>
                <a:ea typeface="Calibri" pitchFamily="34" charset="-122"/>
                <a:cs typeface="Calibri" pitchFamily="34" charset="-120"/>
              </a:rPr>
              <a:t>Danh mục ngành nghề – Ngành 7490 (Huấn luyện ATVSLĐ)</a:t>
            </a:r>
            <a:endParaRPr lang="en-US" sz="1200" dirty="0"/>
          </a:p>
        </p:txBody>
      </p:sp>
      <p:grpSp>
        <p:nvGrpSpPr>
          <p:cNvPr id="25" name="Group 24">
            <a:extLst>
              <a:ext uri="{FF2B5EF4-FFF2-40B4-BE49-F238E27FC236}">
                <a16:creationId xmlns:a16="http://schemas.microsoft.com/office/drawing/2014/main" id="{250353A1-DBD6-4E13-A395-562A2A066A37}"/>
              </a:ext>
            </a:extLst>
          </p:cNvPr>
          <p:cNvGrpSpPr/>
          <p:nvPr/>
        </p:nvGrpSpPr>
        <p:grpSpPr>
          <a:xfrm>
            <a:off x="1424261" y="2003845"/>
            <a:ext cx="2859171" cy="3977080"/>
            <a:chOff x="793127" y="1569757"/>
            <a:chExt cx="2910190" cy="4097028"/>
          </a:xfrm>
        </p:grpSpPr>
        <p:pic>
          <p:nvPicPr>
            <p:cNvPr id="26" name="Picture 25">
              <a:extLst>
                <a:ext uri="{FF2B5EF4-FFF2-40B4-BE49-F238E27FC236}">
                  <a16:creationId xmlns:a16="http://schemas.microsoft.com/office/drawing/2014/main" id="{2866A113-9A4C-4B05-B1CE-43059F42F66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127" y="1569757"/>
              <a:ext cx="2910190" cy="4097028"/>
            </a:xfrm>
            <a:prstGeom prst="rect">
              <a:avLst/>
            </a:prstGeom>
          </p:spPr>
        </p:pic>
        <p:sp>
          <p:nvSpPr>
            <p:cNvPr id="27" name="Rectangle 26">
              <a:extLst>
                <a:ext uri="{FF2B5EF4-FFF2-40B4-BE49-F238E27FC236}">
                  <a16:creationId xmlns:a16="http://schemas.microsoft.com/office/drawing/2014/main" id="{B1EBAFDF-D40C-4929-A7D1-F6E45C9D7396}"/>
                </a:ext>
              </a:extLst>
            </p:cNvPr>
            <p:cNvSpPr/>
            <p:nvPr/>
          </p:nvSpPr>
          <p:spPr>
            <a:xfrm>
              <a:off x="1024452" y="1769887"/>
              <a:ext cx="2439052" cy="3657560"/>
            </a:xfrm>
            <a:prstGeom prst="rect">
              <a:avLst/>
            </a:prstGeom>
            <a:blipFill>
              <a:blip r:embed="rId6"/>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Shape 8"/>
          <p:cNvSpPr/>
          <p:nvPr/>
        </p:nvSpPr>
        <p:spPr>
          <a:xfrm>
            <a:off x="1259364" y="1801368"/>
            <a:ext cx="384048" cy="384048"/>
          </a:xfrm>
          <a:prstGeom prst="ellipse">
            <a:avLst/>
          </a:prstGeom>
          <a:solidFill>
            <a:srgbClr val="1E8C45"/>
          </a:solidFill>
          <a:ln w="19050">
            <a:solidFill>
              <a:srgbClr val="FFFFFF"/>
            </a:solidFill>
            <a:prstDash val="solid"/>
          </a:ln>
        </p:spPr>
      </p:sp>
      <p:sp>
        <p:nvSpPr>
          <p:cNvPr id="12" name="Text 9"/>
          <p:cNvSpPr txBox="1"/>
          <p:nvPr/>
        </p:nvSpPr>
        <p:spPr>
          <a:xfrm>
            <a:off x="1259364" y="1801368"/>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 · CHỨNG CHỈ ĐƯỢC CẤP</a:t>
            </a:r>
            <a:endParaRPr lang="en-US" sz="1050" dirty="0"/>
          </a:p>
        </p:txBody>
      </p:sp>
      <p:sp>
        <p:nvSpPr>
          <p:cNvPr id="4" name="Text 2"/>
          <p:cNvSpPr txBox="1"/>
          <p:nvPr/>
        </p:nvSpPr>
        <p:spPr>
          <a:xfrm>
            <a:off x="548640" y="676656"/>
            <a:ext cx="9696372"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GIẤY CHỨNG NHẬN / CHỨNG CHỈ HUẤN LUYỆN ATVSLĐ</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08</a:t>
            </a:r>
            <a:endParaRPr lang="en-US" sz="900" dirty="0"/>
          </a:p>
        </p:txBody>
      </p:sp>
      <p:sp>
        <p:nvSpPr>
          <p:cNvPr id="8" name="Text 6"/>
          <p:cNvSpPr txBox="1"/>
          <p:nvPr/>
        </p:nvSpPr>
        <p:spPr>
          <a:xfrm>
            <a:off x="548640" y="1417320"/>
            <a:ext cx="3931920" cy="868680"/>
          </a:xfrm>
          <a:prstGeom prst="rect">
            <a:avLst/>
          </a:prstGeom>
          <a:noFill/>
          <a:ln/>
        </p:spPr>
        <p:txBody>
          <a:bodyPr wrap="square" lIns="0" tIns="0" rIns="0" bIns="0" rtlCol="0" anchor="t"/>
          <a:lstStyle/>
          <a:p>
            <a:pPr marL="0" indent="0">
              <a:lnSpc>
                <a:spcPct val="105000"/>
              </a:lnSpc>
              <a:buNone/>
            </a:pPr>
            <a:r>
              <a:rPr lang="en-US" sz="1600" dirty="0">
                <a:solidFill>
                  <a:srgbClr val="3C4A42"/>
                </a:solidFill>
                <a:latin typeface="Calibri" pitchFamily="34" charset="0"/>
                <a:ea typeface="Calibri" pitchFamily="34" charset="-122"/>
                <a:cs typeface="Calibri" pitchFamily="34" charset="-120"/>
              </a:rPr>
              <a:t>Sau khi hoàn thành khóa huấn luyện và đạt kết quả kiểm tra, học viên được </a:t>
            </a:r>
            <a:r>
              <a:rPr lang="en-US" sz="1600" b="1" dirty="0">
                <a:solidFill>
                  <a:srgbClr val="1E8C45"/>
                </a:solidFill>
                <a:latin typeface="Calibri" pitchFamily="34" charset="0"/>
                <a:ea typeface="Calibri" pitchFamily="34" charset="-122"/>
                <a:cs typeface="Calibri" pitchFamily="34" charset="-120"/>
              </a:rPr>
              <a:t>cấp chứng chỉ theo quy định</a:t>
            </a:r>
            <a:r>
              <a:rPr lang="en-US" sz="1600" dirty="0">
                <a:solidFill>
                  <a:srgbClr val="3C4A42"/>
                </a:solidFill>
                <a:latin typeface="Calibri" pitchFamily="34" charset="0"/>
                <a:ea typeface="Calibri" pitchFamily="34" charset="-122"/>
                <a:cs typeface="Calibri" pitchFamily="34" charset="-120"/>
              </a:rPr>
              <a:t>.</a:t>
            </a:r>
            <a:endParaRPr lang="en-US" sz="1600" dirty="0"/>
          </a:p>
        </p:txBody>
      </p:sp>
      <p:sp>
        <p:nvSpPr>
          <p:cNvPr id="9" name="Shape 7"/>
          <p:cNvSpPr/>
          <p:nvPr/>
        </p:nvSpPr>
        <p:spPr>
          <a:xfrm>
            <a:off x="548640" y="2514600"/>
            <a:ext cx="512064" cy="512064"/>
          </a:xfrm>
          <a:prstGeom prst="ellipse">
            <a:avLst/>
          </a:prstGeom>
          <a:solidFill>
            <a:srgbClr val="1E8C45"/>
          </a:solidFill>
          <a:ln/>
        </p:spPr>
      </p:sp>
      <p:pic>
        <p:nvPicPr>
          <p:cNvPr id="10" name="Image 0" descr="preencoded.png"/>
          <p:cNvPicPr>
            <a:picLocks noChangeAspect="1"/>
          </p:cNvPicPr>
          <p:nvPr/>
        </p:nvPicPr>
        <p:blipFill>
          <a:blip r:embed="rId3"/>
          <a:stretch>
            <a:fillRect/>
          </a:stretch>
        </p:blipFill>
        <p:spPr>
          <a:xfrm>
            <a:off x="671535" y="2637495"/>
            <a:ext cx="266273" cy="266273"/>
          </a:xfrm>
          <a:prstGeom prst="rect">
            <a:avLst/>
          </a:prstGeom>
        </p:spPr>
      </p:pic>
      <p:sp>
        <p:nvSpPr>
          <p:cNvPr id="11" name="Text 8"/>
          <p:cNvSpPr txBox="1"/>
          <p:nvPr/>
        </p:nvSpPr>
        <p:spPr>
          <a:xfrm>
            <a:off x="1234440" y="2496312"/>
            <a:ext cx="3291840" cy="320040"/>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Thẻ an toàn lao động</a:t>
            </a:r>
            <a:endParaRPr lang="en-US" sz="1400" dirty="0"/>
          </a:p>
        </p:txBody>
      </p:sp>
      <p:sp>
        <p:nvSpPr>
          <p:cNvPr id="12" name="Text 9"/>
          <p:cNvSpPr txBox="1"/>
          <p:nvPr/>
        </p:nvSpPr>
        <p:spPr>
          <a:xfrm>
            <a:off x="1234440" y="2843784"/>
            <a:ext cx="3246120" cy="731520"/>
          </a:xfrm>
          <a:prstGeom prst="rect">
            <a:avLst/>
          </a:prstGeom>
          <a:noFill/>
          <a:ln/>
        </p:spPr>
        <p:txBody>
          <a:bodyPr wrap="square" lIns="0" tIns="0" rIns="0" bIns="0" rtlCol="0" anchor="t"/>
          <a:lstStyle/>
          <a:p>
            <a:pPr marL="0" indent="0">
              <a:buNone/>
            </a:pPr>
            <a:r>
              <a:rPr lang="en-US" sz="1300" dirty="0">
                <a:solidFill>
                  <a:srgbClr val="3C4A42"/>
                </a:solidFill>
                <a:latin typeface="Calibri" pitchFamily="34" charset="0"/>
                <a:ea typeface="Calibri" pitchFamily="34" charset="-122"/>
                <a:cs typeface="Calibri" pitchFamily="34" charset="-120"/>
              </a:rPr>
              <a:t>Ghi rõ nhóm huấn luyện, thời gian huấn luyện và thời hạn giá trị của thẻ.</a:t>
            </a:r>
            <a:endParaRPr lang="en-US" sz="1300" dirty="0"/>
          </a:p>
        </p:txBody>
      </p:sp>
      <p:sp>
        <p:nvSpPr>
          <p:cNvPr id="13" name="Shape 10"/>
          <p:cNvSpPr/>
          <p:nvPr/>
        </p:nvSpPr>
        <p:spPr>
          <a:xfrm>
            <a:off x="548640" y="3749040"/>
            <a:ext cx="512064" cy="512064"/>
          </a:xfrm>
          <a:prstGeom prst="ellipse">
            <a:avLst/>
          </a:prstGeom>
          <a:solidFill>
            <a:srgbClr val="1E8C45"/>
          </a:solidFill>
          <a:ln/>
        </p:spPr>
      </p:sp>
      <p:pic>
        <p:nvPicPr>
          <p:cNvPr id="14" name="Image 1" descr="preencoded.png"/>
          <p:cNvPicPr>
            <a:picLocks noChangeAspect="1"/>
          </p:cNvPicPr>
          <p:nvPr/>
        </p:nvPicPr>
        <p:blipFill>
          <a:blip r:embed="rId4"/>
          <a:stretch>
            <a:fillRect/>
          </a:stretch>
        </p:blipFill>
        <p:spPr>
          <a:xfrm>
            <a:off x="671535" y="3871935"/>
            <a:ext cx="266273" cy="266273"/>
          </a:xfrm>
          <a:prstGeom prst="rect">
            <a:avLst/>
          </a:prstGeom>
        </p:spPr>
      </p:pic>
      <p:sp>
        <p:nvSpPr>
          <p:cNvPr id="15" name="Text 11"/>
          <p:cNvSpPr txBox="1"/>
          <p:nvPr/>
        </p:nvSpPr>
        <p:spPr>
          <a:xfrm>
            <a:off x="1234440" y="3730752"/>
            <a:ext cx="3291840" cy="320040"/>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Giấy chứng nhận huấn luyện ATVSLĐ</a:t>
            </a:r>
            <a:endParaRPr lang="en-US" sz="1400" dirty="0"/>
          </a:p>
        </p:txBody>
      </p:sp>
      <p:sp>
        <p:nvSpPr>
          <p:cNvPr id="16" name="Text 12"/>
          <p:cNvSpPr txBox="1"/>
          <p:nvPr/>
        </p:nvSpPr>
        <p:spPr>
          <a:xfrm>
            <a:off x="1234440" y="4078224"/>
            <a:ext cx="3246120" cy="731520"/>
          </a:xfrm>
          <a:prstGeom prst="rect">
            <a:avLst/>
          </a:prstGeom>
          <a:noFill/>
          <a:ln/>
        </p:spPr>
        <p:txBody>
          <a:bodyPr wrap="square" lIns="0" tIns="0" rIns="0" bIns="0" rtlCol="0" anchor="t"/>
          <a:lstStyle/>
          <a:p>
            <a:pPr marL="0" indent="0">
              <a:buNone/>
            </a:pPr>
            <a:r>
              <a:rPr lang="en-US" sz="1300" dirty="0">
                <a:solidFill>
                  <a:srgbClr val="3C4A42"/>
                </a:solidFill>
                <a:latin typeface="Calibri" pitchFamily="34" charset="0"/>
                <a:ea typeface="Calibri" pitchFamily="34" charset="-122"/>
                <a:cs typeface="Calibri" pitchFamily="34" charset="-120"/>
              </a:rPr>
              <a:t>Kèm nội dung huấn luyện, kết quả đạt được và thời hạn hiệu lực.</a:t>
            </a:r>
            <a:endParaRPr lang="en-US" sz="1300" dirty="0"/>
          </a:p>
        </p:txBody>
      </p:sp>
      <p:sp>
        <p:nvSpPr>
          <p:cNvPr id="17" name="Shape 13"/>
          <p:cNvSpPr/>
          <p:nvPr/>
        </p:nvSpPr>
        <p:spPr>
          <a:xfrm>
            <a:off x="548640" y="4983480"/>
            <a:ext cx="512064" cy="512064"/>
          </a:xfrm>
          <a:prstGeom prst="ellipse">
            <a:avLst/>
          </a:prstGeom>
          <a:solidFill>
            <a:srgbClr val="1E8C45"/>
          </a:solidFill>
          <a:ln/>
        </p:spPr>
      </p:sp>
      <p:pic>
        <p:nvPicPr>
          <p:cNvPr id="18" name="Image 2" descr="preencoded.png"/>
          <p:cNvPicPr>
            <a:picLocks noChangeAspect="1"/>
          </p:cNvPicPr>
          <p:nvPr/>
        </p:nvPicPr>
        <p:blipFill>
          <a:blip r:embed="rId5"/>
          <a:stretch>
            <a:fillRect/>
          </a:stretch>
        </p:blipFill>
        <p:spPr>
          <a:xfrm>
            <a:off x="671535" y="5106375"/>
            <a:ext cx="266273" cy="266273"/>
          </a:xfrm>
          <a:prstGeom prst="rect">
            <a:avLst/>
          </a:prstGeom>
        </p:spPr>
      </p:pic>
      <p:sp>
        <p:nvSpPr>
          <p:cNvPr id="19" name="Text 14"/>
          <p:cNvSpPr txBox="1"/>
          <p:nvPr/>
        </p:nvSpPr>
        <p:spPr>
          <a:xfrm>
            <a:off x="1234440" y="4965192"/>
            <a:ext cx="3291840" cy="320040"/>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Mã số chứng chỉ riêng</a:t>
            </a:r>
            <a:endParaRPr lang="en-US" sz="1400" dirty="0"/>
          </a:p>
        </p:txBody>
      </p:sp>
      <p:sp>
        <p:nvSpPr>
          <p:cNvPr id="20" name="Text 15"/>
          <p:cNvSpPr txBox="1"/>
          <p:nvPr/>
        </p:nvSpPr>
        <p:spPr>
          <a:xfrm>
            <a:off x="1234440" y="5312664"/>
            <a:ext cx="3246120" cy="731520"/>
          </a:xfrm>
          <a:prstGeom prst="rect">
            <a:avLst/>
          </a:prstGeom>
          <a:noFill/>
          <a:ln/>
        </p:spPr>
        <p:txBody>
          <a:bodyPr wrap="square" lIns="0" tIns="0" rIns="0" bIns="0" rtlCol="0" anchor="t"/>
          <a:lstStyle/>
          <a:p>
            <a:pPr marL="0" indent="0">
              <a:buNone/>
            </a:pPr>
            <a:r>
              <a:rPr lang="en-US" sz="1300" dirty="0">
                <a:solidFill>
                  <a:srgbClr val="3C4A42"/>
                </a:solidFill>
                <a:latin typeface="Calibri" pitchFamily="34" charset="0"/>
                <a:ea typeface="Calibri" pitchFamily="34" charset="-122"/>
                <a:cs typeface="Calibri" pitchFamily="34" charset="-120"/>
              </a:rPr>
              <a:t>Tra cứu, xác thực trực tuyến 24/7 tại daotao.vienstp.com.</a:t>
            </a:r>
            <a:endParaRPr lang="en-US" sz="1300" dirty="0"/>
          </a:p>
        </p:txBody>
      </p:sp>
      <p:sp>
        <p:nvSpPr>
          <p:cNvPr id="21" name="Shape 16"/>
          <p:cNvSpPr/>
          <p:nvPr/>
        </p:nvSpPr>
        <p:spPr>
          <a:xfrm>
            <a:off x="4648983" y="1371600"/>
            <a:ext cx="2534442" cy="4654296"/>
          </a:xfrm>
          <a:prstGeom prst="roundRect">
            <a:avLst>
              <a:gd name="adj" fmla="val 5773"/>
            </a:avLst>
          </a:prstGeom>
          <a:solidFill>
            <a:srgbClr val="FFFFFF"/>
          </a:solidFill>
          <a:ln/>
          <a:effectLst>
            <a:outerShdw blurRad="152400" dist="38100" dir="5400000" algn="bl" rotWithShape="0">
              <a:srgbClr val="0A2E1C">
                <a:alpha val="16000"/>
              </a:srgbClr>
            </a:outerShdw>
          </a:effectLst>
        </p:spPr>
      </p:sp>
      <p:pic>
        <p:nvPicPr>
          <p:cNvPr id="22" name="Image 3" descr="preencoded.png"/>
          <p:cNvPicPr>
            <a:picLocks noChangeAspect="1"/>
          </p:cNvPicPr>
          <p:nvPr/>
        </p:nvPicPr>
        <p:blipFill>
          <a:blip r:embed="rId6"/>
          <a:stretch>
            <a:fillRect/>
          </a:stretch>
        </p:blipFill>
        <p:spPr>
          <a:xfrm>
            <a:off x="4758711" y="1481328"/>
            <a:ext cx="2314986" cy="4434840"/>
          </a:xfrm>
          <a:prstGeom prst="rect">
            <a:avLst/>
          </a:prstGeom>
        </p:spPr>
      </p:pic>
      <p:sp>
        <p:nvSpPr>
          <p:cNvPr id="23" name="Shape 17"/>
          <p:cNvSpPr/>
          <p:nvPr/>
        </p:nvSpPr>
        <p:spPr>
          <a:xfrm>
            <a:off x="7284009" y="1371600"/>
            <a:ext cx="4356303" cy="4654296"/>
          </a:xfrm>
          <a:prstGeom prst="roundRect">
            <a:avLst>
              <a:gd name="adj" fmla="val 3358"/>
            </a:avLst>
          </a:prstGeom>
          <a:solidFill>
            <a:srgbClr val="FFFFFF"/>
          </a:solidFill>
          <a:ln/>
          <a:effectLst>
            <a:outerShdw blurRad="152400" dist="38100" dir="5400000" algn="bl" rotWithShape="0">
              <a:srgbClr val="0A2E1C">
                <a:alpha val="16000"/>
              </a:srgbClr>
            </a:outerShdw>
          </a:effectLst>
        </p:spPr>
      </p:sp>
      <p:pic>
        <p:nvPicPr>
          <p:cNvPr id="24" name="Image 4" descr="preencoded.png"/>
          <p:cNvPicPr>
            <a:picLocks noChangeAspect="1"/>
          </p:cNvPicPr>
          <p:nvPr/>
        </p:nvPicPr>
        <p:blipFill>
          <a:blip r:embed="rId7"/>
          <a:stretch>
            <a:fillRect/>
          </a:stretch>
        </p:blipFill>
        <p:spPr>
          <a:xfrm>
            <a:off x="7393737" y="1481328"/>
            <a:ext cx="4136847" cy="443484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E1C"/>
        </a:solidFill>
        <a:effectLst/>
      </p:bgPr>
    </p:bg>
    <p:spTree>
      <p:nvGrpSpPr>
        <p:cNvPr id="1" name=""/>
        <p:cNvGrpSpPr/>
        <p:nvPr/>
      </p:nvGrpSpPr>
      <p:grpSpPr>
        <a:xfrm>
          <a:off x="0" y="0"/>
          <a:ext cx="0" cy="0"/>
          <a:chOff x="0" y="0"/>
          <a:chExt cx="0" cy="0"/>
        </a:xfrm>
      </p:grpSpPr>
      <p:pic>
        <p:nvPicPr>
          <p:cNvPr id="2" name="Image 0" descr="/home/claude/assets/beams_dark.png"/>
          <p:cNvPicPr>
            <a:picLocks noChangeAspect="1"/>
          </p:cNvPicPr>
          <p:nvPr/>
        </p:nvPicPr>
        <p:blipFill>
          <a:blip r:embed="rId3">
            <a:alphaModFix amt="70000"/>
          </a:blip>
          <a:stretch>
            <a:fillRect/>
          </a:stretch>
        </p:blipFill>
        <p:spPr>
          <a:xfrm flipH="1">
            <a:off x="-1828800" y="2011680"/>
            <a:ext cx="9144000" cy="4846320"/>
          </a:xfrm>
          <a:prstGeom prst="rect">
            <a:avLst/>
          </a:prstGeom>
        </p:spPr>
      </p:pic>
      <p:sp>
        <p:nvSpPr>
          <p:cNvPr id="3" name="Text 0"/>
          <p:cNvSpPr txBox="1"/>
          <p:nvPr/>
        </p:nvSpPr>
        <p:spPr>
          <a:xfrm>
            <a:off x="411480" y="411480"/>
            <a:ext cx="5486400" cy="2194560"/>
          </a:xfrm>
          <a:prstGeom prst="rect">
            <a:avLst/>
          </a:prstGeom>
          <a:noFill/>
          <a:ln/>
        </p:spPr>
        <p:txBody>
          <a:bodyPr wrap="square" lIns="0" tIns="0" rIns="0" bIns="0" rtlCol="0" anchor="t"/>
          <a:lstStyle/>
          <a:p>
            <a:pPr marL="0" indent="0">
              <a:buNone/>
            </a:pPr>
            <a:r>
              <a:rPr lang="en-US" sz="15000" b="1" dirty="0">
                <a:solidFill>
                  <a:srgbClr val="1D5C3B"/>
                </a:solidFill>
                <a:latin typeface="Arial" pitchFamily="34" charset="0"/>
                <a:ea typeface="Arial" pitchFamily="34" charset="-122"/>
                <a:cs typeface="Arial" pitchFamily="34" charset="-120"/>
              </a:rPr>
              <a:t>02</a:t>
            </a:r>
            <a:endParaRPr lang="en-US" sz="15000" dirty="0"/>
          </a:p>
        </p:txBody>
      </p:sp>
      <p:sp>
        <p:nvSpPr>
          <p:cNvPr id="4" name="Text 1"/>
          <p:cNvSpPr txBox="1"/>
          <p:nvPr/>
        </p:nvSpPr>
        <p:spPr>
          <a:xfrm>
            <a:off x="566928" y="2697480"/>
            <a:ext cx="4572000" cy="320040"/>
          </a:xfrm>
          <a:prstGeom prst="rect">
            <a:avLst/>
          </a:prstGeom>
          <a:noFill/>
          <a:ln/>
        </p:spPr>
        <p:txBody>
          <a:bodyPr wrap="square" lIns="0" tIns="0" rIns="0" bIns="0" rtlCol="0" anchor="t"/>
          <a:lstStyle/>
          <a:p>
            <a:pPr marL="0" indent="0">
              <a:buNone/>
            </a:pPr>
            <a:r>
              <a:rPr lang="en-US" sz="1400" b="1" kern="0" spc="800" dirty="0">
                <a:solidFill>
                  <a:srgbClr val="A8D84E"/>
                </a:solidFill>
                <a:latin typeface="Arial" pitchFamily="34" charset="0"/>
                <a:ea typeface="Arial" pitchFamily="34" charset="-122"/>
                <a:cs typeface="Arial" pitchFamily="34" charset="-120"/>
              </a:rPr>
              <a:t>PHẦN II</a:t>
            </a:r>
            <a:endParaRPr lang="en-US" sz="1400" dirty="0"/>
          </a:p>
        </p:txBody>
      </p:sp>
      <p:sp>
        <p:nvSpPr>
          <p:cNvPr id="5" name="Text 2"/>
          <p:cNvSpPr txBox="1"/>
          <p:nvPr/>
        </p:nvSpPr>
        <p:spPr>
          <a:xfrm>
            <a:off x="548640" y="3090672"/>
            <a:ext cx="5394960" cy="1207008"/>
          </a:xfrm>
          <a:prstGeom prst="rect">
            <a:avLst/>
          </a:prstGeom>
          <a:noFill/>
          <a:ln/>
        </p:spPr>
        <p:txBody>
          <a:bodyPr wrap="square" lIns="0" tIns="0" rIns="0" bIns="0" rtlCol="0" anchor="t"/>
          <a:lstStyle/>
          <a:p>
            <a:pPr marL="0" indent="0">
              <a:buNone/>
            </a:pPr>
            <a:r>
              <a:rPr lang="en-US" sz="3600" b="1" dirty="0">
                <a:solidFill>
                  <a:srgbClr val="FFFFFF"/>
                </a:solidFill>
                <a:latin typeface="Arial" pitchFamily="34" charset="0"/>
                <a:ea typeface="Arial" pitchFamily="34" charset="-122"/>
                <a:cs typeface="Arial" pitchFamily="34" charset="-120"/>
              </a:rPr>
              <a:t>DỊCH VỤ &amp; NHÓM HUẤN LUYỆN</a:t>
            </a:r>
            <a:endParaRPr lang="en-US" sz="3600" dirty="0"/>
          </a:p>
        </p:txBody>
      </p:sp>
      <p:sp>
        <p:nvSpPr>
          <p:cNvPr id="6" name="Text 3"/>
          <p:cNvSpPr txBox="1"/>
          <p:nvPr/>
        </p:nvSpPr>
        <p:spPr>
          <a:xfrm>
            <a:off x="566928" y="4617720"/>
            <a:ext cx="5120640" cy="1097280"/>
          </a:xfrm>
          <a:prstGeom prst="rect">
            <a:avLst/>
          </a:prstGeom>
          <a:noFill/>
          <a:ln/>
        </p:spPr>
        <p:txBody>
          <a:bodyPr wrap="square" lIns="0" tIns="0" rIns="0" bIns="0" rtlCol="0" anchor="t"/>
          <a:lstStyle/>
          <a:p>
            <a:pPr marL="0" indent="0">
              <a:buNone/>
            </a:pPr>
            <a:r>
              <a:rPr lang="en-US" sz="1600" dirty="0">
                <a:solidFill>
                  <a:srgbClr val="B9D3C0"/>
                </a:solidFill>
                <a:latin typeface="Calibri" pitchFamily="34" charset="0"/>
                <a:ea typeface="Calibri" pitchFamily="34" charset="-122"/>
                <a:cs typeface="Calibri" pitchFamily="34" charset="-120"/>
              </a:rPr>
              <a:t>Các lĩnh vực chúng tôi cung cấp, quy trình triển khai và 6 nhóm đối tượng huấn luyện ATVSLĐ</a:t>
            </a:r>
            <a:endParaRPr lang="en-US" sz="1600" dirty="0"/>
          </a:p>
        </p:txBody>
      </p:sp>
      <p:pic>
        <p:nvPicPr>
          <p:cNvPr id="7" name="Image 1" descr="preencoded.png"/>
          <p:cNvPicPr>
            <a:picLocks noChangeAspect="1"/>
          </p:cNvPicPr>
          <p:nvPr/>
        </p:nvPicPr>
        <p:blipFill>
          <a:blip r:embed="rId4"/>
          <a:stretch>
            <a:fillRect/>
          </a:stretch>
        </p:blipFill>
        <p:spPr>
          <a:xfrm>
            <a:off x="6172200" y="685800"/>
            <a:ext cx="2670048" cy="2679192"/>
          </a:xfrm>
          <a:prstGeom prst="rect">
            <a:avLst/>
          </a:prstGeom>
        </p:spPr>
      </p:pic>
      <p:pic>
        <p:nvPicPr>
          <p:cNvPr id="8" name="Image 2" descr="preencoded.png"/>
          <p:cNvPicPr>
            <a:picLocks noChangeAspect="1"/>
          </p:cNvPicPr>
          <p:nvPr/>
        </p:nvPicPr>
        <p:blipFill>
          <a:blip r:embed="rId5"/>
          <a:stretch>
            <a:fillRect/>
          </a:stretch>
        </p:blipFill>
        <p:spPr>
          <a:xfrm>
            <a:off x="8970264" y="685800"/>
            <a:ext cx="2670048" cy="2679192"/>
          </a:xfrm>
          <a:prstGeom prst="rect">
            <a:avLst/>
          </a:prstGeom>
        </p:spPr>
      </p:pic>
      <p:pic>
        <p:nvPicPr>
          <p:cNvPr id="9" name="Image 3" descr="preencoded.png"/>
          <p:cNvPicPr>
            <a:picLocks noChangeAspect="1"/>
          </p:cNvPicPr>
          <p:nvPr/>
        </p:nvPicPr>
        <p:blipFill>
          <a:blip r:embed="rId6"/>
          <a:stretch>
            <a:fillRect/>
          </a:stretch>
        </p:blipFill>
        <p:spPr>
          <a:xfrm>
            <a:off x="6172200" y="3493008"/>
            <a:ext cx="2670048" cy="2679192"/>
          </a:xfrm>
          <a:prstGeom prst="rect">
            <a:avLst/>
          </a:prstGeom>
        </p:spPr>
      </p:pic>
      <p:pic>
        <p:nvPicPr>
          <p:cNvPr id="10" name="Image 4" descr="preencoded.png"/>
          <p:cNvPicPr>
            <a:picLocks noChangeAspect="1"/>
          </p:cNvPicPr>
          <p:nvPr/>
        </p:nvPicPr>
        <p:blipFill>
          <a:blip r:embed="rId7"/>
          <a:stretch>
            <a:fillRect/>
          </a:stretch>
        </p:blipFill>
        <p:spPr>
          <a:xfrm>
            <a:off x="8970264" y="3493008"/>
            <a:ext cx="2670048" cy="2679192"/>
          </a:xfrm>
          <a:prstGeom prst="rect">
            <a:avLst/>
          </a:prstGeom>
        </p:spPr>
      </p:pic>
      <p:sp>
        <p:nvSpPr>
          <p:cNvPr id="11" name="Shape 4"/>
          <p:cNvSpPr/>
          <p:nvPr/>
        </p:nvSpPr>
        <p:spPr>
          <a:xfrm>
            <a:off x="9677095" y="-228600"/>
            <a:ext cx="1965960" cy="566928"/>
          </a:xfrm>
          <a:prstGeom prst="roundRect">
            <a:avLst>
              <a:gd name="adj" fmla="val 25806"/>
            </a:avLst>
          </a:prstGeom>
          <a:solidFill>
            <a:srgbClr val="0F5B34"/>
          </a:solidFill>
          <a:ln/>
        </p:spPr>
      </p:sp>
      <p:sp>
        <p:nvSpPr>
          <p:cNvPr id="12" name="Text 5"/>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A8D84E"/>
                </a:solidFill>
                <a:latin typeface="Arial" pitchFamily="34" charset="0"/>
                <a:ea typeface="Arial" pitchFamily="34" charset="-122"/>
                <a:cs typeface="Arial" pitchFamily="34" charset="-120"/>
              </a:rPr>
              <a:t>STP INSTITUTE</a:t>
            </a:r>
            <a:endParaRPr lang="en-US" sz="950" dirty="0"/>
          </a:p>
        </p:txBody>
      </p:sp>
      <p:sp>
        <p:nvSpPr>
          <p:cNvPr id="13" name="Text 6"/>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B9D3C0"/>
                </a:solidFill>
                <a:latin typeface="Arial" pitchFamily="34" charset="0"/>
                <a:ea typeface="Arial" pitchFamily="34" charset="-122"/>
                <a:cs typeface="Arial" pitchFamily="34" charset="-120"/>
              </a:rPr>
              <a:t>09</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 · CÁC LĨNH VỰC CHÚNG TÔI CUNG CẤP</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HUẤN LUYỆN &amp; ĐÀO TẠO</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10</a:t>
            </a:r>
            <a:endParaRPr lang="en-US" sz="900" dirty="0"/>
          </a:p>
        </p:txBody>
      </p:sp>
      <p:sp>
        <p:nvSpPr>
          <p:cNvPr id="8" name="Text 6"/>
          <p:cNvSpPr txBox="1"/>
          <p:nvPr/>
        </p:nvSpPr>
        <p:spPr>
          <a:xfrm>
            <a:off x="548640" y="1261872"/>
            <a:ext cx="11064240" cy="365760"/>
          </a:xfrm>
          <a:prstGeom prst="rect">
            <a:avLst/>
          </a:prstGeom>
          <a:noFill/>
          <a:ln/>
        </p:spPr>
        <p:txBody>
          <a:bodyPr wrap="square" lIns="0" tIns="0" rIns="0" bIns="0" rtlCol="0" anchor="t"/>
          <a:lstStyle/>
          <a:p>
            <a:pPr marL="0" indent="0">
              <a:buNone/>
            </a:pPr>
            <a:r>
              <a:rPr lang="en-US" sz="1450" dirty="0">
                <a:solidFill>
                  <a:srgbClr val="3C4A42"/>
                </a:solidFill>
                <a:latin typeface="Calibri" pitchFamily="34" charset="0"/>
                <a:ea typeface="Calibri" pitchFamily="34" charset="-122"/>
                <a:cs typeface="Calibri" pitchFamily="34" charset="-120"/>
              </a:rPr>
              <a:t>Chương trình được xây dựng theo đúng quy định pháp luật, gắn với thực tiễn sản xuất của doanh nghiệp</a:t>
            </a:r>
            <a:endParaRPr lang="en-US" sz="1450" dirty="0"/>
          </a:p>
        </p:txBody>
      </p:sp>
      <p:sp>
        <p:nvSpPr>
          <p:cNvPr id="9" name="Shape 7"/>
          <p:cNvSpPr/>
          <p:nvPr/>
        </p:nvSpPr>
        <p:spPr>
          <a:xfrm>
            <a:off x="548640" y="1783080"/>
            <a:ext cx="2035454" cy="4526280"/>
          </a:xfrm>
          <a:prstGeom prst="roundRect">
            <a:avLst>
              <a:gd name="adj" fmla="val 7188"/>
            </a:avLst>
          </a:prstGeom>
          <a:solidFill>
            <a:srgbClr val="FFFFFF"/>
          </a:solidFill>
          <a:ln/>
          <a:effectLst>
            <a:outerShdw blurRad="152400" dist="38100" dir="5400000" algn="bl" rotWithShape="0">
              <a:srgbClr val="0A2E1C">
                <a:alpha val="16000"/>
              </a:srgbClr>
            </a:outerShdw>
          </a:effectLst>
        </p:spPr>
      </p:sp>
      <p:pic>
        <p:nvPicPr>
          <p:cNvPr id="10" name="Image 0" descr="preencoded.png"/>
          <p:cNvPicPr>
            <a:picLocks noChangeAspect="1"/>
          </p:cNvPicPr>
          <p:nvPr/>
        </p:nvPicPr>
        <p:blipFill>
          <a:blip r:embed="rId3"/>
          <a:stretch>
            <a:fillRect/>
          </a:stretch>
        </p:blipFill>
        <p:spPr>
          <a:xfrm>
            <a:off x="640080" y="1874520"/>
            <a:ext cx="1852574" cy="2011680"/>
          </a:xfrm>
          <a:prstGeom prst="rect">
            <a:avLst/>
          </a:prstGeom>
        </p:spPr>
      </p:pic>
      <p:sp>
        <p:nvSpPr>
          <p:cNvPr id="11" name="Text 8"/>
          <p:cNvSpPr txBox="1"/>
          <p:nvPr/>
        </p:nvSpPr>
        <p:spPr>
          <a:xfrm>
            <a:off x="731520" y="4023360"/>
            <a:ext cx="914400" cy="320040"/>
          </a:xfrm>
          <a:prstGeom prst="rect">
            <a:avLst/>
          </a:prstGeom>
          <a:noFill/>
          <a:ln/>
        </p:spPr>
        <p:txBody>
          <a:bodyPr wrap="square" lIns="0" tIns="0" rIns="0" bIns="0" rtlCol="0" anchor="t"/>
          <a:lstStyle/>
          <a:p>
            <a:pPr marL="0" indent="0">
              <a:buNone/>
            </a:pPr>
            <a:r>
              <a:rPr lang="en-US" sz="1600" b="1" dirty="0">
                <a:solidFill>
                  <a:srgbClr val="3DB54A"/>
                </a:solidFill>
                <a:latin typeface="Arial" pitchFamily="34" charset="0"/>
                <a:ea typeface="Arial" pitchFamily="34" charset="-122"/>
                <a:cs typeface="Arial" pitchFamily="34" charset="-120"/>
              </a:rPr>
              <a:t>01</a:t>
            </a:r>
            <a:endParaRPr lang="en-US" sz="1600" dirty="0"/>
          </a:p>
        </p:txBody>
      </p:sp>
      <p:sp>
        <p:nvSpPr>
          <p:cNvPr id="12" name="Text 9"/>
          <p:cNvSpPr txBox="1"/>
          <p:nvPr/>
        </p:nvSpPr>
        <p:spPr>
          <a:xfrm>
            <a:off x="731520" y="4361688"/>
            <a:ext cx="1669694" cy="658368"/>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HUẤN LUYỆN ATVSLĐ</a:t>
            </a:r>
            <a:endParaRPr lang="en-US" sz="1400" dirty="0"/>
          </a:p>
        </p:txBody>
      </p:sp>
      <p:sp>
        <p:nvSpPr>
          <p:cNvPr id="13" name="Text 10"/>
          <p:cNvSpPr txBox="1"/>
          <p:nvPr/>
        </p:nvSpPr>
        <p:spPr>
          <a:xfrm>
            <a:off x="731520" y="5093208"/>
            <a:ext cx="1669694" cy="228600"/>
          </a:xfrm>
          <a:prstGeom prst="rect">
            <a:avLst/>
          </a:prstGeom>
          <a:noFill/>
          <a:ln/>
        </p:spPr>
        <p:txBody>
          <a:bodyPr wrap="square" lIns="0" tIns="0" rIns="0" bIns="0" rtlCol="0" anchor="t"/>
          <a:lstStyle/>
          <a:p>
            <a:pPr marL="0" indent="0">
              <a:buNone/>
            </a:pPr>
            <a:r>
              <a:rPr lang="en-US" sz="850" b="1" kern="0" spc="150" dirty="0">
                <a:solidFill>
                  <a:srgbClr val="7A877F"/>
                </a:solidFill>
                <a:latin typeface="Arial" pitchFamily="34" charset="0"/>
                <a:ea typeface="Arial" pitchFamily="34" charset="-122"/>
                <a:cs typeface="Arial" pitchFamily="34" charset="-120"/>
              </a:rPr>
              <a:t>CĂN CỨ PHÁP LÝ</a:t>
            </a:r>
            <a:endParaRPr lang="en-US" sz="850" dirty="0"/>
          </a:p>
        </p:txBody>
      </p:sp>
      <p:sp>
        <p:nvSpPr>
          <p:cNvPr id="14" name="Text 11"/>
          <p:cNvSpPr txBox="1"/>
          <p:nvPr/>
        </p:nvSpPr>
        <p:spPr>
          <a:xfrm>
            <a:off x="731520" y="5330952"/>
            <a:ext cx="1761134" cy="548640"/>
          </a:xfrm>
          <a:prstGeom prst="rect">
            <a:avLst/>
          </a:prstGeom>
          <a:noFill/>
          <a:ln/>
        </p:spPr>
        <p:txBody>
          <a:bodyPr wrap="square" lIns="0" tIns="0" rIns="0" bIns="0" rtlCol="0" anchor="t"/>
          <a:lstStyle/>
          <a:p>
            <a:pPr marL="0" indent="0">
              <a:buNone/>
            </a:pPr>
            <a:r>
              <a:rPr lang="en-US" sz="1200" b="1" dirty="0">
                <a:solidFill>
                  <a:srgbClr val="1E8C45"/>
                </a:solidFill>
                <a:latin typeface="Calibri" pitchFamily="34" charset="0"/>
                <a:ea typeface="Calibri" pitchFamily="34" charset="-122"/>
                <a:cs typeface="Calibri" pitchFamily="34" charset="-120"/>
              </a:rPr>
              <a:t>NĐ 44/2016/NĐ-CP</a:t>
            </a:r>
            <a:endParaRPr lang="en-US" sz="1200" dirty="0"/>
          </a:p>
          <a:p>
            <a:pPr marL="0" indent="0">
              <a:buNone/>
            </a:pPr>
            <a:r>
              <a:rPr lang="en-US" sz="1200" b="1" dirty="0">
                <a:solidFill>
                  <a:srgbClr val="1E8C45"/>
                </a:solidFill>
                <a:latin typeface="Calibri" pitchFamily="34" charset="0"/>
                <a:ea typeface="Calibri" pitchFamily="34" charset="-122"/>
                <a:cs typeface="Calibri" pitchFamily="34" charset="-120"/>
              </a:rPr>
              <a:t>NĐ 140/2018/NĐ-CP</a:t>
            </a:r>
            <a:endParaRPr lang="en-US" sz="1200" dirty="0"/>
          </a:p>
        </p:txBody>
      </p:sp>
      <p:sp>
        <p:nvSpPr>
          <p:cNvPr id="15" name="Shape 12"/>
          <p:cNvSpPr/>
          <p:nvPr/>
        </p:nvSpPr>
        <p:spPr>
          <a:xfrm>
            <a:off x="731520" y="5870448"/>
            <a:ext cx="1234440" cy="292608"/>
          </a:xfrm>
          <a:prstGeom prst="roundRect">
            <a:avLst>
              <a:gd name="adj" fmla="val 50000"/>
            </a:avLst>
          </a:prstGeom>
          <a:solidFill>
            <a:srgbClr val="EEF6EF"/>
          </a:solidFill>
          <a:ln/>
        </p:spPr>
      </p:sp>
      <p:sp>
        <p:nvSpPr>
          <p:cNvPr id="16" name="Text 13"/>
          <p:cNvSpPr txBox="1"/>
          <p:nvPr/>
        </p:nvSpPr>
        <p:spPr>
          <a:xfrm>
            <a:off x="731520" y="5870448"/>
            <a:ext cx="1234440" cy="292608"/>
          </a:xfrm>
          <a:prstGeom prst="rect">
            <a:avLst/>
          </a:prstGeom>
          <a:noFill/>
          <a:ln/>
        </p:spPr>
        <p:txBody>
          <a:bodyPr wrap="square" lIns="0" tIns="0" rIns="0" bIns="0" rtlCol="0" anchor="ctr"/>
          <a:lstStyle/>
          <a:p>
            <a:pPr marL="0" indent="0" algn="ctr">
              <a:buNone/>
            </a:pPr>
            <a:r>
              <a:rPr lang="en-US" sz="1050" b="1" dirty="0">
                <a:solidFill>
                  <a:srgbClr val="1E8C45"/>
                </a:solidFill>
                <a:latin typeface="Calibri" pitchFamily="34" charset="0"/>
                <a:ea typeface="Calibri" pitchFamily="34" charset="-122"/>
                <a:cs typeface="Calibri" pitchFamily="34" charset="-120"/>
              </a:rPr>
              <a:t>Nhóm 1 – Nhóm 6</a:t>
            </a:r>
            <a:endParaRPr lang="en-US" sz="1050" dirty="0"/>
          </a:p>
        </p:txBody>
      </p:sp>
      <p:sp>
        <p:nvSpPr>
          <p:cNvPr id="17" name="Shape 14"/>
          <p:cNvSpPr/>
          <p:nvPr/>
        </p:nvSpPr>
        <p:spPr>
          <a:xfrm>
            <a:off x="2812694" y="1783080"/>
            <a:ext cx="2035454" cy="4526280"/>
          </a:xfrm>
          <a:prstGeom prst="roundRect">
            <a:avLst>
              <a:gd name="adj" fmla="val 7188"/>
            </a:avLst>
          </a:prstGeom>
          <a:solidFill>
            <a:srgbClr val="FFFFFF"/>
          </a:solidFill>
          <a:ln/>
          <a:effectLst>
            <a:outerShdw blurRad="152400" dist="38100" dir="5400000" algn="bl" rotWithShape="0">
              <a:srgbClr val="0A2E1C">
                <a:alpha val="16000"/>
              </a:srgbClr>
            </a:outerShdw>
          </a:effectLst>
        </p:spPr>
      </p:sp>
      <p:pic>
        <p:nvPicPr>
          <p:cNvPr id="18" name="Image 1" descr="preencoded.png"/>
          <p:cNvPicPr>
            <a:picLocks noChangeAspect="1"/>
          </p:cNvPicPr>
          <p:nvPr/>
        </p:nvPicPr>
        <p:blipFill>
          <a:blip r:embed="rId4"/>
          <a:stretch>
            <a:fillRect/>
          </a:stretch>
        </p:blipFill>
        <p:spPr>
          <a:xfrm>
            <a:off x="2904134" y="1874520"/>
            <a:ext cx="1852574" cy="2011680"/>
          </a:xfrm>
          <a:prstGeom prst="rect">
            <a:avLst/>
          </a:prstGeom>
        </p:spPr>
      </p:pic>
      <p:sp>
        <p:nvSpPr>
          <p:cNvPr id="19" name="Text 15"/>
          <p:cNvSpPr txBox="1"/>
          <p:nvPr/>
        </p:nvSpPr>
        <p:spPr>
          <a:xfrm>
            <a:off x="2995574" y="4023360"/>
            <a:ext cx="914400" cy="320040"/>
          </a:xfrm>
          <a:prstGeom prst="rect">
            <a:avLst/>
          </a:prstGeom>
          <a:noFill/>
          <a:ln/>
        </p:spPr>
        <p:txBody>
          <a:bodyPr wrap="square" lIns="0" tIns="0" rIns="0" bIns="0" rtlCol="0" anchor="t"/>
          <a:lstStyle/>
          <a:p>
            <a:pPr marL="0" indent="0">
              <a:buNone/>
            </a:pPr>
            <a:r>
              <a:rPr lang="en-US" sz="1600" b="1" dirty="0">
                <a:solidFill>
                  <a:srgbClr val="3DB54A"/>
                </a:solidFill>
                <a:latin typeface="Arial" pitchFamily="34" charset="0"/>
                <a:ea typeface="Arial" pitchFamily="34" charset="-122"/>
                <a:cs typeface="Arial" pitchFamily="34" charset="-120"/>
              </a:rPr>
              <a:t>02</a:t>
            </a:r>
            <a:endParaRPr lang="en-US" sz="1600" dirty="0"/>
          </a:p>
        </p:txBody>
      </p:sp>
      <p:sp>
        <p:nvSpPr>
          <p:cNvPr id="20" name="Text 16"/>
          <p:cNvSpPr txBox="1"/>
          <p:nvPr/>
        </p:nvSpPr>
        <p:spPr>
          <a:xfrm>
            <a:off x="2995574" y="4361688"/>
            <a:ext cx="1669694" cy="658368"/>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HUẤN LUYỆN SƠ CẤP CỨU</a:t>
            </a:r>
            <a:endParaRPr lang="en-US" sz="1400" dirty="0"/>
          </a:p>
        </p:txBody>
      </p:sp>
      <p:sp>
        <p:nvSpPr>
          <p:cNvPr id="21" name="Text 17"/>
          <p:cNvSpPr txBox="1"/>
          <p:nvPr/>
        </p:nvSpPr>
        <p:spPr>
          <a:xfrm>
            <a:off x="2995574" y="5093208"/>
            <a:ext cx="1669694" cy="228600"/>
          </a:xfrm>
          <a:prstGeom prst="rect">
            <a:avLst/>
          </a:prstGeom>
          <a:noFill/>
          <a:ln/>
        </p:spPr>
        <p:txBody>
          <a:bodyPr wrap="square" lIns="0" tIns="0" rIns="0" bIns="0" rtlCol="0" anchor="t"/>
          <a:lstStyle/>
          <a:p>
            <a:pPr marL="0" indent="0">
              <a:buNone/>
            </a:pPr>
            <a:r>
              <a:rPr lang="en-US" sz="850" b="1" kern="0" spc="150" dirty="0">
                <a:solidFill>
                  <a:srgbClr val="7A877F"/>
                </a:solidFill>
                <a:latin typeface="Arial" pitchFamily="34" charset="0"/>
                <a:ea typeface="Arial" pitchFamily="34" charset="-122"/>
                <a:cs typeface="Arial" pitchFamily="34" charset="-120"/>
              </a:rPr>
              <a:t>CĂN CỨ PHÁP LÝ</a:t>
            </a:r>
            <a:endParaRPr lang="en-US" sz="850" dirty="0"/>
          </a:p>
        </p:txBody>
      </p:sp>
      <p:sp>
        <p:nvSpPr>
          <p:cNvPr id="22" name="Text 18"/>
          <p:cNvSpPr txBox="1"/>
          <p:nvPr/>
        </p:nvSpPr>
        <p:spPr>
          <a:xfrm>
            <a:off x="2995574" y="5330952"/>
            <a:ext cx="1761134" cy="548640"/>
          </a:xfrm>
          <a:prstGeom prst="rect">
            <a:avLst/>
          </a:prstGeom>
          <a:noFill/>
          <a:ln/>
        </p:spPr>
        <p:txBody>
          <a:bodyPr wrap="square" lIns="0" tIns="0" rIns="0" bIns="0" rtlCol="0" anchor="t"/>
          <a:lstStyle/>
          <a:p>
            <a:pPr marL="0" indent="0">
              <a:buNone/>
            </a:pPr>
            <a:r>
              <a:rPr lang="en-US" sz="1200" b="1" dirty="0">
                <a:solidFill>
                  <a:srgbClr val="1E8C45"/>
                </a:solidFill>
                <a:latin typeface="Calibri" pitchFamily="34" charset="0"/>
                <a:ea typeface="Calibri" pitchFamily="34" charset="-122"/>
                <a:cs typeface="Calibri" pitchFamily="34" charset="-120"/>
              </a:rPr>
              <a:t>TT 19/2016/TT-BYT</a:t>
            </a:r>
            <a:endParaRPr lang="en-US" sz="1200" dirty="0"/>
          </a:p>
        </p:txBody>
      </p:sp>
      <p:sp>
        <p:nvSpPr>
          <p:cNvPr id="23" name="Shape 19"/>
          <p:cNvSpPr/>
          <p:nvPr/>
        </p:nvSpPr>
        <p:spPr>
          <a:xfrm>
            <a:off x="5076749" y="1783080"/>
            <a:ext cx="2035454" cy="4526280"/>
          </a:xfrm>
          <a:prstGeom prst="roundRect">
            <a:avLst>
              <a:gd name="adj" fmla="val 7188"/>
            </a:avLst>
          </a:prstGeom>
          <a:solidFill>
            <a:srgbClr val="FFFFFF"/>
          </a:solidFill>
          <a:ln/>
          <a:effectLst>
            <a:outerShdw blurRad="152400" dist="38100" dir="5400000" algn="bl" rotWithShape="0">
              <a:srgbClr val="0A2E1C">
                <a:alpha val="16000"/>
              </a:srgbClr>
            </a:outerShdw>
          </a:effectLst>
        </p:spPr>
      </p:sp>
      <p:pic>
        <p:nvPicPr>
          <p:cNvPr id="24" name="Image 2" descr="preencoded.png"/>
          <p:cNvPicPr>
            <a:picLocks noChangeAspect="1"/>
          </p:cNvPicPr>
          <p:nvPr/>
        </p:nvPicPr>
        <p:blipFill>
          <a:blip r:embed="rId5"/>
          <a:stretch>
            <a:fillRect/>
          </a:stretch>
        </p:blipFill>
        <p:spPr>
          <a:xfrm>
            <a:off x="5168189" y="1874520"/>
            <a:ext cx="1852574" cy="2011680"/>
          </a:xfrm>
          <a:prstGeom prst="rect">
            <a:avLst/>
          </a:prstGeom>
        </p:spPr>
      </p:pic>
      <p:sp>
        <p:nvSpPr>
          <p:cNvPr id="25" name="Text 20"/>
          <p:cNvSpPr txBox="1"/>
          <p:nvPr/>
        </p:nvSpPr>
        <p:spPr>
          <a:xfrm>
            <a:off x="5259629" y="4023360"/>
            <a:ext cx="914400" cy="320040"/>
          </a:xfrm>
          <a:prstGeom prst="rect">
            <a:avLst/>
          </a:prstGeom>
          <a:noFill/>
          <a:ln/>
        </p:spPr>
        <p:txBody>
          <a:bodyPr wrap="square" lIns="0" tIns="0" rIns="0" bIns="0" rtlCol="0" anchor="t"/>
          <a:lstStyle/>
          <a:p>
            <a:pPr marL="0" indent="0">
              <a:buNone/>
            </a:pPr>
            <a:r>
              <a:rPr lang="en-US" sz="1600" b="1" dirty="0">
                <a:solidFill>
                  <a:srgbClr val="3DB54A"/>
                </a:solidFill>
                <a:latin typeface="Arial" pitchFamily="34" charset="0"/>
                <a:ea typeface="Arial" pitchFamily="34" charset="-122"/>
                <a:cs typeface="Arial" pitchFamily="34" charset="-120"/>
              </a:rPr>
              <a:t>03</a:t>
            </a:r>
            <a:endParaRPr lang="en-US" sz="1600" dirty="0"/>
          </a:p>
        </p:txBody>
      </p:sp>
      <p:sp>
        <p:nvSpPr>
          <p:cNvPr id="26" name="Text 21"/>
          <p:cNvSpPr txBox="1"/>
          <p:nvPr/>
        </p:nvSpPr>
        <p:spPr>
          <a:xfrm>
            <a:off x="5259629" y="4361688"/>
            <a:ext cx="1669694" cy="658368"/>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HUẤN LUYỆN AN TOÀN ĐIỆN</a:t>
            </a:r>
            <a:endParaRPr lang="en-US" sz="1400" dirty="0"/>
          </a:p>
        </p:txBody>
      </p:sp>
      <p:sp>
        <p:nvSpPr>
          <p:cNvPr id="27" name="Text 22"/>
          <p:cNvSpPr txBox="1"/>
          <p:nvPr/>
        </p:nvSpPr>
        <p:spPr>
          <a:xfrm>
            <a:off x="5259629" y="5093208"/>
            <a:ext cx="1669694" cy="228600"/>
          </a:xfrm>
          <a:prstGeom prst="rect">
            <a:avLst/>
          </a:prstGeom>
          <a:noFill/>
          <a:ln/>
        </p:spPr>
        <p:txBody>
          <a:bodyPr wrap="square" lIns="0" tIns="0" rIns="0" bIns="0" rtlCol="0" anchor="t"/>
          <a:lstStyle/>
          <a:p>
            <a:pPr marL="0" indent="0">
              <a:buNone/>
            </a:pPr>
            <a:r>
              <a:rPr lang="en-US" sz="850" b="1" kern="0" spc="150" dirty="0">
                <a:solidFill>
                  <a:srgbClr val="7A877F"/>
                </a:solidFill>
                <a:latin typeface="Arial" pitchFamily="34" charset="0"/>
                <a:ea typeface="Arial" pitchFamily="34" charset="-122"/>
                <a:cs typeface="Arial" pitchFamily="34" charset="-120"/>
              </a:rPr>
              <a:t>CĂN CỨ PHÁP LÝ</a:t>
            </a:r>
            <a:endParaRPr lang="en-US" sz="850" dirty="0"/>
          </a:p>
        </p:txBody>
      </p:sp>
      <p:sp>
        <p:nvSpPr>
          <p:cNvPr id="28" name="Text 23"/>
          <p:cNvSpPr txBox="1"/>
          <p:nvPr/>
        </p:nvSpPr>
        <p:spPr>
          <a:xfrm>
            <a:off x="5259629" y="5330952"/>
            <a:ext cx="1761134" cy="548640"/>
          </a:xfrm>
          <a:prstGeom prst="rect">
            <a:avLst/>
          </a:prstGeom>
          <a:noFill/>
          <a:ln/>
        </p:spPr>
        <p:txBody>
          <a:bodyPr wrap="square" lIns="0" tIns="0" rIns="0" bIns="0" rtlCol="0" anchor="t"/>
          <a:lstStyle/>
          <a:p>
            <a:pPr marL="0" indent="0">
              <a:buNone/>
            </a:pPr>
            <a:r>
              <a:rPr lang="en-US" sz="1200" b="1" dirty="0">
                <a:solidFill>
                  <a:srgbClr val="1E8C45"/>
                </a:solidFill>
                <a:latin typeface="Calibri" pitchFamily="34" charset="0"/>
                <a:ea typeface="Calibri" pitchFamily="34" charset="-122"/>
                <a:cs typeface="Calibri" pitchFamily="34" charset="-120"/>
              </a:rPr>
              <a:t>TT 05/2021/TT-BCT</a:t>
            </a:r>
            <a:endParaRPr lang="en-US" sz="1200" dirty="0"/>
          </a:p>
        </p:txBody>
      </p:sp>
      <p:sp>
        <p:nvSpPr>
          <p:cNvPr id="29" name="Shape 24"/>
          <p:cNvSpPr/>
          <p:nvPr/>
        </p:nvSpPr>
        <p:spPr>
          <a:xfrm>
            <a:off x="7340803" y="1783080"/>
            <a:ext cx="2035454" cy="4526280"/>
          </a:xfrm>
          <a:prstGeom prst="roundRect">
            <a:avLst>
              <a:gd name="adj" fmla="val 7188"/>
            </a:avLst>
          </a:prstGeom>
          <a:solidFill>
            <a:srgbClr val="FFFFFF"/>
          </a:solidFill>
          <a:ln/>
          <a:effectLst>
            <a:outerShdw blurRad="152400" dist="38100" dir="5400000" algn="bl" rotWithShape="0">
              <a:srgbClr val="0A2E1C">
                <a:alpha val="16000"/>
              </a:srgbClr>
            </a:outerShdw>
          </a:effectLst>
        </p:spPr>
      </p:sp>
      <p:pic>
        <p:nvPicPr>
          <p:cNvPr id="30" name="Image 3" descr="preencoded.png"/>
          <p:cNvPicPr>
            <a:picLocks noChangeAspect="1"/>
          </p:cNvPicPr>
          <p:nvPr/>
        </p:nvPicPr>
        <p:blipFill>
          <a:blip r:embed="rId6"/>
          <a:stretch>
            <a:fillRect/>
          </a:stretch>
        </p:blipFill>
        <p:spPr>
          <a:xfrm>
            <a:off x="7432243" y="1874520"/>
            <a:ext cx="1852574" cy="2011680"/>
          </a:xfrm>
          <a:prstGeom prst="rect">
            <a:avLst/>
          </a:prstGeom>
        </p:spPr>
      </p:pic>
      <p:sp>
        <p:nvSpPr>
          <p:cNvPr id="31" name="Text 25"/>
          <p:cNvSpPr txBox="1"/>
          <p:nvPr/>
        </p:nvSpPr>
        <p:spPr>
          <a:xfrm>
            <a:off x="7523683" y="4023360"/>
            <a:ext cx="914400" cy="320040"/>
          </a:xfrm>
          <a:prstGeom prst="rect">
            <a:avLst/>
          </a:prstGeom>
          <a:noFill/>
          <a:ln/>
        </p:spPr>
        <p:txBody>
          <a:bodyPr wrap="square" lIns="0" tIns="0" rIns="0" bIns="0" rtlCol="0" anchor="t"/>
          <a:lstStyle/>
          <a:p>
            <a:pPr marL="0" indent="0">
              <a:buNone/>
            </a:pPr>
            <a:r>
              <a:rPr lang="en-US" sz="1600" b="1" dirty="0">
                <a:solidFill>
                  <a:srgbClr val="3DB54A"/>
                </a:solidFill>
                <a:latin typeface="Arial" pitchFamily="34" charset="0"/>
                <a:ea typeface="Arial" pitchFamily="34" charset="-122"/>
                <a:cs typeface="Arial" pitchFamily="34" charset="-120"/>
              </a:rPr>
              <a:t>04</a:t>
            </a:r>
            <a:endParaRPr lang="en-US" sz="1600" dirty="0"/>
          </a:p>
        </p:txBody>
      </p:sp>
      <p:sp>
        <p:nvSpPr>
          <p:cNvPr id="32" name="Text 26"/>
          <p:cNvSpPr txBox="1"/>
          <p:nvPr/>
        </p:nvSpPr>
        <p:spPr>
          <a:xfrm>
            <a:off x="7523683" y="4361688"/>
            <a:ext cx="1669694" cy="658368"/>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HUẤN LUYỆN AN TOÀN HÓA CHẤT</a:t>
            </a:r>
            <a:endParaRPr lang="en-US" sz="1400" dirty="0"/>
          </a:p>
        </p:txBody>
      </p:sp>
      <p:sp>
        <p:nvSpPr>
          <p:cNvPr id="33" name="Text 27"/>
          <p:cNvSpPr txBox="1"/>
          <p:nvPr/>
        </p:nvSpPr>
        <p:spPr>
          <a:xfrm>
            <a:off x="7523683" y="5093208"/>
            <a:ext cx="1669694" cy="228600"/>
          </a:xfrm>
          <a:prstGeom prst="rect">
            <a:avLst/>
          </a:prstGeom>
          <a:noFill/>
          <a:ln/>
        </p:spPr>
        <p:txBody>
          <a:bodyPr wrap="square" lIns="0" tIns="0" rIns="0" bIns="0" rtlCol="0" anchor="t"/>
          <a:lstStyle/>
          <a:p>
            <a:pPr marL="0" indent="0">
              <a:buNone/>
            </a:pPr>
            <a:r>
              <a:rPr lang="en-US" sz="850" b="1" kern="0" spc="150" dirty="0">
                <a:solidFill>
                  <a:srgbClr val="7A877F"/>
                </a:solidFill>
                <a:latin typeface="Arial" pitchFamily="34" charset="0"/>
                <a:ea typeface="Arial" pitchFamily="34" charset="-122"/>
                <a:cs typeface="Arial" pitchFamily="34" charset="-120"/>
              </a:rPr>
              <a:t>CĂN CỨ PHÁP LÝ</a:t>
            </a:r>
            <a:endParaRPr lang="en-US" sz="850" dirty="0"/>
          </a:p>
        </p:txBody>
      </p:sp>
      <p:sp>
        <p:nvSpPr>
          <p:cNvPr id="34" name="Text 28"/>
          <p:cNvSpPr txBox="1"/>
          <p:nvPr/>
        </p:nvSpPr>
        <p:spPr>
          <a:xfrm>
            <a:off x="7523683" y="5330952"/>
            <a:ext cx="1761134" cy="548640"/>
          </a:xfrm>
          <a:prstGeom prst="rect">
            <a:avLst/>
          </a:prstGeom>
          <a:noFill/>
          <a:ln/>
        </p:spPr>
        <p:txBody>
          <a:bodyPr wrap="square" lIns="0" tIns="0" rIns="0" bIns="0" rtlCol="0" anchor="t"/>
          <a:lstStyle/>
          <a:p>
            <a:pPr marL="0" indent="0">
              <a:buNone/>
            </a:pPr>
            <a:r>
              <a:rPr lang="en-US" sz="1200" b="1" dirty="0">
                <a:solidFill>
                  <a:srgbClr val="1E8C45"/>
                </a:solidFill>
                <a:latin typeface="Calibri" pitchFamily="34" charset="0"/>
                <a:ea typeface="Calibri" pitchFamily="34" charset="-122"/>
                <a:cs typeface="Calibri" pitchFamily="34" charset="-120"/>
              </a:rPr>
              <a:t>NĐ 113/2017/NĐ-CP</a:t>
            </a:r>
            <a:endParaRPr lang="en-US" sz="1200" dirty="0"/>
          </a:p>
        </p:txBody>
      </p:sp>
      <p:sp>
        <p:nvSpPr>
          <p:cNvPr id="35" name="Shape 29"/>
          <p:cNvSpPr/>
          <p:nvPr/>
        </p:nvSpPr>
        <p:spPr>
          <a:xfrm>
            <a:off x="9604858" y="1783080"/>
            <a:ext cx="2035454" cy="4526280"/>
          </a:xfrm>
          <a:prstGeom prst="roundRect">
            <a:avLst>
              <a:gd name="adj" fmla="val 7188"/>
            </a:avLst>
          </a:prstGeom>
          <a:solidFill>
            <a:srgbClr val="FFFFFF"/>
          </a:solidFill>
          <a:ln/>
          <a:effectLst>
            <a:outerShdw blurRad="152400" dist="38100" dir="5400000" algn="bl" rotWithShape="0">
              <a:srgbClr val="0A2E1C">
                <a:alpha val="16000"/>
              </a:srgbClr>
            </a:outerShdw>
          </a:effectLst>
        </p:spPr>
      </p:sp>
      <p:pic>
        <p:nvPicPr>
          <p:cNvPr id="36" name="Image 4" descr="preencoded.png"/>
          <p:cNvPicPr>
            <a:picLocks noChangeAspect="1"/>
          </p:cNvPicPr>
          <p:nvPr/>
        </p:nvPicPr>
        <p:blipFill>
          <a:blip r:embed="rId7"/>
          <a:stretch>
            <a:fillRect/>
          </a:stretch>
        </p:blipFill>
        <p:spPr>
          <a:xfrm>
            <a:off x="9696298" y="1874520"/>
            <a:ext cx="1852574" cy="2011680"/>
          </a:xfrm>
          <a:prstGeom prst="rect">
            <a:avLst/>
          </a:prstGeom>
        </p:spPr>
      </p:pic>
      <p:sp>
        <p:nvSpPr>
          <p:cNvPr id="37" name="Text 30"/>
          <p:cNvSpPr txBox="1"/>
          <p:nvPr/>
        </p:nvSpPr>
        <p:spPr>
          <a:xfrm>
            <a:off x="9787738" y="4023360"/>
            <a:ext cx="914400" cy="320040"/>
          </a:xfrm>
          <a:prstGeom prst="rect">
            <a:avLst/>
          </a:prstGeom>
          <a:noFill/>
          <a:ln/>
        </p:spPr>
        <p:txBody>
          <a:bodyPr wrap="square" lIns="0" tIns="0" rIns="0" bIns="0" rtlCol="0" anchor="t"/>
          <a:lstStyle/>
          <a:p>
            <a:pPr marL="0" indent="0">
              <a:buNone/>
            </a:pPr>
            <a:r>
              <a:rPr lang="en-US" sz="1600" b="1" dirty="0">
                <a:solidFill>
                  <a:srgbClr val="3DB54A"/>
                </a:solidFill>
                <a:latin typeface="Arial" pitchFamily="34" charset="0"/>
                <a:ea typeface="Arial" pitchFamily="34" charset="-122"/>
                <a:cs typeface="Arial" pitchFamily="34" charset="-120"/>
              </a:rPr>
              <a:t>05</a:t>
            </a:r>
            <a:endParaRPr lang="en-US" sz="1600" dirty="0"/>
          </a:p>
        </p:txBody>
      </p:sp>
      <p:sp>
        <p:nvSpPr>
          <p:cNvPr id="38" name="Text 31"/>
          <p:cNvSpPr txBox="1"/>
          <p:nvPr/>
        </p:nvSpPr>
        <p:spPr>
          <a:xfrm>
            <a:off x="9787738" y="4361688"/>
            <a:ext cx="1669694" cy="658368"/>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GIÁO DỤC NGHỀ NGHIỆP</a:t>
            </a:r>
            <a:endParaRPr lang="en-US" sz="1400" dirty="0"/>
          </a:p>
        </p:txBody>
      </p:sp>
      <p:sp>
        <p:nvSpPr>
          <p:cNvPr id="39" name="Text 32"/>
          <p:cNvSpPr txBox="1"/>
          <p:nvPr/>
        </p:nvSpPr>
        <p:spPr>
          <a:xfrm>
            <a:off x="9787738" y="5093208"/>
            <a:ext cx="1669694" cy="228600"/>
          </a:xfrm>
          <a:prstGeom prst="rect">
            <a:avLst/>
          </a:prstGeom>
          <a:noFill/>
          <a:ln/>
        </p:spPr>
        <p:txBody>
          <a:bodyPr wrap="square" lIns="0" tIns="0" rIns="0" bIns="0" rtlCol="0" anchor="t"/>
          <a:lstStyle/>
          <a:p>
            <a:pPr marL="0" indent="0">
              <a:buNone/>
            </a:pPr>
            <a:r>
              <a:rPr lang="en-US" sz="850" b="1" kern="0" spc="150" dirty="0">
                <a:solidFill>
                  <a:srgbClr val="7A877F"/>
                </a:solidFill>
                <a:latin typeface="Arial" pitchFamily="34" charset="0"/>
                <a:ea typeface="Arial" pitchFamily="34" charset="-122"/>
                <a:cs typeface="Arial" pitchFamily="34" charset="-120"/>
              </a:rPr>
              <a:t>CĂN CỨ PHÁP LÝ</a:t>
            </a:r>
            <a:endParaRPr lang="en-US" sz="850" dirty="0"/>
          </a:p>
        </p:txBody>
      </p:sp>
      <p:sp>
        <p:nvSpPr>
          <p:cNvPr id="40" name="Text 33"/>
          <p:cNvSpPr txBox="1"/>
          <p:nvPr/>
        </p:nvSpPr>
        <p:spPr>
          <a:xfrm>
            <a:off x="9787738" y="5330952"/>
            <a:ext cx="1761134" cy="548640"/>
          </a:xfrm>
          <a:prstGeom prst="rect">
            <a:avLst/>
          </a:prstGeom>
          <a:noFill/>
          <a:ln/>
        </p:spPr>
        <p:txBody>
          <a:bodyPr wrap="square" lIns="0" tIns="0" rIns="0" bIns="0" rtlCol="0" anchor="t"/>
          <a:lstStyle/>
          <a:p>
            <a:pPr marL="0" indent="0">
              <a:buNone/>
            </a:pPr>
            <a:r>
              <a:rPr lang="en-US" sz="1200" b="1" dirty="0">
                <a:solidFill>
                  <a:srgbClr val="1E8C45"/>
                </a:solidFill>
                <a:latin typeface="Calibri" pitchFamily="34" charset="0"/>
                <a:ea typeface="Calibri" pitchFamily="34" charset="-122"/>
                <a:cs typeface="Calibri" pitchFamily="34" charset="-120"/>
              </a:rPr>
              <a:t>TT 42/2015/TT-BLĐTBXH</a:t>
            </a:r>
            <a:endParaRPr lang="en-US" sz="1200" dirty="0"/>
          </a:p>
          <a:p>
            <a:pPr marL="0" indent="0">
              <a:buNone/>
            </a:pPr>
            <a:r>
              <a:rPr lang="en-US" sz="1200" b="1" dirty="0">
                <a:solidFill>
                  <a:srgbClr val="1E8C45"/>
                </a:solidFill>
                <a:latin typeface="Calibri" pitchFamily="34" charset="0"/>
                <a:ea typeface="Calibri" pitchFamily="34" charset="-122"/>
                <a:cs typeface="Calibri" pitchFamily="34" charset="-120"/>
              </a:rPr>
              <a:t>TT 43/2015/TT-BLĐTBXH</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 · CÁC LĨNH VỰC CHÚNG TÔI CUNG CẤP</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KIỂM ĐỊNH – ĐÁNH GIÁ – QUAN TRẮC</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11</a:t>
            </a:r>
            <a:endParaRPr lang="en-US" sz="900" dirty="0"/>
          </a:p>
        </p:txBody>
      </p:sp>
      <p:sp>
        <p:nvSpPr>
          <p:cNvPr id="8" name="Text 6"/>
          <p:cNvSpPr txBox="1"/>
          <p:nvPr/>
        </p:nvSpPr>
        <p:spPr>
          <a:xfrm>
            <a:off x="548640" y="1261872"/>
            <a:ext cx="11064240" cy="365760"/>
          </a:xfrm>
          <a:prstGeom prst="rect">
            <a:avLst/>
          </a:prstGeom>
          <a:noFill/>
          <a:ln/>
        </p:spPr>
        <p:txBody>
          <a:bodyPr wrap="square" lIns="0" tIns="0" rIns="0" bIns="0" rtlCol="0" anchor="t"/>
          <a:lstStyle/>
          <a:p>
            <a:pPr marL="0" indent="0">
              <a:buNone/>
            </a:pPr>
            <a:r>
              <a:rPr lang="en-US" sz="1450" dirty="0">
                <a:solidFill>
                  <a:srgbClr val="3C4A42"/>
                </a:solidFill>
                <a:latin typeface="Calibri" pitchFamily="34" charset="0"/>
                <a:ea typeface="Calibri" pitchFamily="34" charset="-122"/>
                <a:cs typeface="Calibri" pitchFamily="34" charset="-120"/>
              </a:rPr>
              <a:t>Dịch vụ kỹ thuật an toàn đồng bộ, giúp doanh nghiệp kiểm soát thiết bị, rủi ro và môi trường làm việc</a:t>
            </a:r>
            <a:endParaRPr lang="en-US" sz="1450" dirty="0"/>
          </a:p>
        </p:txBody>
      </p:sp>
      <p:sp>
        <p:nvSpPr>
          <p:cNvPr id="9" name="Shape 7"/>
          <p:cNvSpPr/>
          <p:nvPr/>
        </p:nvSpPr>
        <p:spPr>
          <a:xfrm>
            <a:off x="548640" y="1783080"/>
            <a:ext cx="5431536" cy="2194560"/>
          </a:xfrm>
          <a:prstGeom prst="roundRect">
            <a:avLst>
              <a:gd name="adj" fmla="val 6667"/>
            </a:avLst>
          </a:prstGeom>
          <a:solidFill>
            <a:srgbClr val="FFFFFF"/>
          </a:solidFill>
          <a:ln/>
          <a:effectLst>
            <a:outerShdw blurRad="152400" dist="38100" dir="5400000" algn="bl" rotWithShape="0">
              <a:srgbClr val="0A2E1C">
                <a:alpha val="16000"/>
              </a:srgbClr>
            </a:outerShdw>
          </a:effectLst>
        </p:spPr>
      </p:sp>
      <p:pic>
        <p:nvPicPr>
          <p:cNvPr id="10" name="Image 0" descr="preencoded.png"/>
          <p:cNvPicPr>
            <a:picLocks noChangeAspect="1"/>
          </p:cNvPicPr>
          <p:nvPr/>
        </p:nvPicPr>
        <p:blipFill>
          <a:blip r:embed="rId3"/>
          <a:stretch>
            <a:fillRect/>
          </a:stretch>
        </p:blipFill>
        <p:spPr>
          <a:xfrm>
            <a:off x="658368" y="1892808"/>
            <a:ext cx="2240280" cy="1975104"/>
          </a:xfrm>
          <a:prstGeom prst="rect">
            <a:avLst/>
          </a:prstGeom>
        </p:spPr>
      </p:pic>
      <p:sp>
        <p:nvSpPr>
          <p:cNvPr id="11" name="Shape 8"/>
          <p:cNvSpPr/>
          <p:nvPr/>
        </p:nvSpPr>
        <p:spPr>
          <a:xfrm>
            <a:off x="3108960" y="2011680"/>
            <a:ext cx="420624" cy="420624"/>
          </a:xfrm>
          <a:prstGeom prst="ellipse">
            <a:avLst/>
          </a:prstGeom>
          <a:solidFill>
            <a:srgbClr val="EEF6EF"/>
          </a:solidFill>
          <a:ln/>
        </p:spPr>
      </p:sp>
      <p:pic>
        <p:nvPicPr>
          <p:cNvPr id="12" name="Image 1" descr="preencoded.png"/>
          <p:cNvPicPr>
            <a:picLocks noChangeAspect="1"/>
          </p:cNvPicPr>
          <p:nvPr/>
        </p:nvPicPr>
        <p:blipFill>
          <a:blip r:embed="rId4"/>
          <a:stretch>
            <a:fillRect/>
          </a:stretch>
        </p:blipFill>
        <p:spPr>
          <a:xfrm>
            <a:off x="3209910" y="2112630"/>
            <a:ext cx="218724" cy="218724"/>
          </a:xfrm>
          <a:prstGeom prst="rect">
            <a:avLst/>
          </a:prstGeom>
        </p:spPr>
      </p:pic>
      <p:sp>
        <p:nvSpPr>
          <p:cNvPr id="13" name="Text 9"/>
          <p:cNvSpPr txBox="1"/>
          <p:nvPr/>
        </p:nvSpPr>
        <p:spPr>
          <a:xfrm>
            <a:off x="3639312" y="1984248"/>
            <a:ext cx="2185416" cy="548640"/>
          </a:xfrm>
          <a:prstGeom prst="rect">
            <a:avLst/>
          </a:prstGeom>
          <a:noFill/>
          <a:ln/>
        </p:spPr>
        <p:txBody>
          <a:bodyPr wrap="square" lIns="0" tIns="0" rIns="0" bIns="0" rtlCol="0" anchor="ctr"/>
          <a:lstStyle/>
          <a:p>
            <a:pPr marL="0" indent="0">
              <a:buNone/>
            </a:pPr>
            <a:r>
              <a:rPr lang="en-US" sz="1350" b="1" dirty="0">
                <a:solidFill>
                  <a:srgbClr val="17261D"/>
                </a:solidFill>
                <a:latin typeface="Arial" pitchFamily="34" charset="0"/>
                <a:ea typeface="Arial" pitchFamily="34" charset="-122"/>
                <a:cs typeface="Arial" pitchFamily="34" charset="-120"/>
              </a:rPr>
              <a:t>KIỂM ĐỊNH KỸ THUẬT AN TOÀN</a:t>
            </a:r>
            <a:endParaRPr lang="en-US" sz="1350" dirty="0"/>
          </a:p>
        </p:txBody>
      </p:sp>
      <p:sp>
        <p:nvSpPr>
          <p:cNvPr id="14" name="Text 10"/>
          <p:cNvSpPr txBox="1"/>
          <p:nvPr/>
        </p:nvSpPr>
        <p:spPr>
          <a:xfrm>
            <a:off x="3108960" y="2679192"/>
            <a:ext cx="2688336" cy="228600"/>
          </a:xfrm>
          <a:prstGeom prst="rect">
            <a:avLst/>
          </a:prstGeom>
          <a:noFill/>
          <a:ln/>
        </p:spPr>
        <p:txBody>
          <a:bodyPr wrap="square" lIns="0" tIns="0" rIns="0" bIns="0" rtlCol="0" anchor="t"/>
          <a:lstStyle/>
          <a:p>
            <a:pPr marL="0" indent="0">
              <a:buNone/>
            </a:pPr>
            <a:r>
              <a:rPr lang="en-US" sz="850" b="1" kern="0" spc="150" dirty="0">
                <a:solidFill>
                  <a:srgbClr val="7A877F"/>
                </a:solidFill>
                <a:latin typeface="Arial" pitchFamily="34" charset="0"/>
                <a:ea typeface="Arial" pitchFamily="34" charset="-122"/>
                <a:cs typeface="Arial" pitchFamily="34" charset="-120"/>
              </a:rPr>
              <a:t>CĂN CỨ PHÁP LÝ</a:t>
            </a:r>
            <a:endParaRPr lang="en-US" sz="850" dirty="0"/>
          </a:p>
        </p:txBody>
      </p:sp>
      <p:sp>
        <p:nvSpPr>
          <p:cNvPr id="15" name="Text 11"/>
          <p:cNvSpPr txBox="1"/>
          <p:nvPr/>
        </p:nvSpPr>
        <p:spPr>
          <a:xfrm>
            <a:off x="3108960" y="2916936"/>
            <a:ext cx="2688336" cy="914400"/>
          </a:xfrm>
          <a:prstGeom prst="rect">
            <a:avLst/>
          </a:prstGeom>
          <a:noFill/>
          <a:ln/>
        </p:spPr>
        <p:txBody>
          <a:bodyPr wrap="square" lIns="0" tIns="0" rIns="0" bIns="0" rtlCol="0" anchor="t"/>
          <a:lstStyle/>
          <a:p>
            <a:pPr marL="0" indent="0">
              <a:buNone/>
            </a:pPr>
            <a:r>
              <a:rPr lang="en-US" sz="1250" b="1" dirty="0">
                <a:solidFill>
                  <a:srgbClr val="1E8C45"/>
                </a:solidFill>
                <a:latin typeface="Calibri" pitchFamily="34" charset="0"/>
                <a:ea typeface="Calibri" pitchFamily="34" charset="-122"/>
                <a:cs typeface="Calibri" pitchFamily="34" charset="-120"/>
              </a:rPr>
              <a:t>Thông tư 36/2019/TT-BLĐTBXH</a:t>
            </a:r>
            <a:endParaRPr lang="en-US" sz="1250" dirty="0"/>
          </a:p>
          <a:p>
            <a:pPr marL="0" indent="0">
              <a:buNone/>
            </a:pPr>
            <a:r>
              <a:rPr lang="en-US" sz="1250" b="1" dirty="0">
                <a:solidFill>
                  <a:srgbClr val="1E8C45"/>
                </a:solidFill>
                <a:latin typeface="Calibri" pitchFamily="34" charset="0"/>
                <a:ea typeface="Calibri" pitchFamily="34" charset="-122"/>
                <a:cs typeface="Calibri" pitchFamily="34" charset="-120"/>
              </a:rPr>
              <a:t>Thông tư 09/2017/TT-BCT</a:t>
            </a:r>
            <a:endParaRPr lang="en-US" sz="1250" dirty="0"/>
          </a:p>
        </p:txBody>
      </p:sp>
      <p:sp>
        <p:nvSpPr>
          <p:cNvPr id="16" name="Shape 12"/>
          <p:cNvSpPr/>
          <p:nvPr/>
        </p:nvSpPr>
        <p:spPr>
          <a:xfrm>
            <a:off x="6208776" y="1783080"/>
            <a:ext cx="5431536" cy="2194560"/>
          </a:xfrm>
          <a:prstGeom prst="roundRect">
            <a:avLst>
              <a:gd name="adj" fmla="val 6667"/>
            </a:avLst>
          </a:prstGeom>
          <a:solidFill>
            <a:srgbClr val="FFFFFF"/>
          </a:solidFill>
          <a:ln/>
          <a:effectLst>
            <a:outerShdw blurRad="152400" dist="38100" dir="5400000" algn="bl" rotWithShape="0">
              <a:srgbClr val="0A2E1C">
                <a:alpha val="16000"/>
              </a:srgbClr>
            </a:outerShdw>
          </a:effectLst>
        </p:spPr>
      </p:sp>
      <p:pic>
        <p:nvPicPr>
          <p:cNvPr id="17" name="Image 2" descr="preencoded.png"/>
          <p:cNvPicPr>
            <a:picLocks noChangeAspect="1"/>
          </p:cNvPicPr>
          <p:nvPr/>
        </p:nvPicPr>
        <p:blipFill>
          <a:blip r:embed="rId5"/>
          <a:stretch>
            <a:fillRect/>
          </a:stretch>
        </p:blipFill>
        <p:spPr>
          <a:xfrm>
            <a:off x="6318504" y="1892808"/>
            <a:ext cx="2240280" cy="1975104"/>
          </a:xfrm>
          <a:prstGeom prst="rect">
            <a:avLst/>
          </a:prstGeom>
        </p:spPr>
      </p:pic>
      <p:sp>
        <p:nvSpPr>
          <p:cNvPr id="18" name="Shape 13"/>
          <p:cNvSpPr/>
          <p:nvPr/>
        </p:nvSpPr>
        <p:spPr>
          <a:xfrm>
            <a:off x="8769096" y="2011680"/>
            <a:ext cx="420624" cy="420624"/>
          </a:xfrm>
          <a:prstGeom prst="ellipse">
            <a:avLst/>
          </a:prstGeom>
          <a:solidFill>
            <a:srgbClr val="EEF6EF"/>
          </a:solidFill>
          <a:ln/>
        </p:spPr>
      </p:sp>
      <p:pic>
        <p:nvPicPr>
          <p:cNvPr id="19" name="Image 3" descr="preencoded.png"/>
          <p:cNvPicPr>
            <a:picLocks noChangeAspect="1"/>
          </p:cNvPicPr>
          <p:nvPr/>
        </p:nvPicPr>
        <p:blipFill>
          <a:blip r:embed="rId6"/>
          <a:stretch>
            <a:fillRect/>
          </a:stretch>
        </p:blipFill>
        <p:spPr>
          <a:xfrm>
            <a:off x="8870046" y="2112630"/>
            <a:ext cx="218724" cy="218724"/>
          </a:xfrm>
          <a:prstGeom prst="rect">
            <a:avLst/>
          </a:prstGeom>
        </p:spPr>
      </p:pic>
      <p:sp>
        <p:nvSpPr>
          <p:cNvPr id="20" name="Text 14"/>
          <p:cNvSpPr txBox="1"/>
          <p:nvPr/>
        </p:nvSpPr>
        <p:spPr>
          <a:xfrm>
            <a:off x="9299448" y="1984248"/>
            <a:ext cx="2185416" cy="548640"/>
          </a:xfrm>
          <a:prstGeom prst="rect">
            <a:avLst/>
          </a:prstGeom>
          <a:noFill/>
          <a:ln/>
        </p:spPr>
        <p:txBody>
          <a:bodyPr wrap="square" lIns="0" tIns="0" rIns="0" bIns="0" rtlCol="0" anchor="ctr"/>
          <a:lstStyle/>
          <a:p>
            <a:pPr marL="0" indent="0">
              <a:buNone/>
            </a:pPr>
            <a:r>
              <a:rPr lang="en-US" sz="1350" b="1" dirty="0">
                <a:solidFill>
                  <a:srgbClr val="17261D"/>
                </a:solidFill>
                <a:latin typeface="Arial" pitchFamily="34" charset="0"/>
                <a:ea typeface="Arial" pitchFamily="34" charset="-122"/>
                <a:cs typeface="Arial" pitchFamily="34" charset="-120"/>
              </a:rPr>
              <a:t>ĐÁNH GIÁ RỦI RO, XÂY DỰNG BIỆN PHÁP</a:t>
            </a:r>
            <a:endParaRPr lang="en-US" sz="1350" dirty="0"/>
          </a:p>
        </p:txBody>
      </p:sp>
      <p:sp>
        <p:nvSpPr>
          <p:cNvPr id="21" name="Text 15"/>
          <p:cNvSpPr txBox="1"/>
          <p:nvPr/>
        </p:nvSpPr>
        <p:spPr>
          <a:xfrm>
            <a:off x="8769096" y="2679192"/>
            <a:ext cx="2688336" cy="228600"/>
          </a:xfrm>
          <a:prstGeom prst="rect">
            <a:avLst/>
          </a:prstGeom>
          <a:noFill/>
          <a:ln/>
        </p:spPr>
        <p:txBody>
          <a:bodyPr wrap="square" lIns="0" tIns="0" rIns="0" bIns="0" rtlCol="0" anchor="t"/>
          <a:lstStyle/>
          <a:p>
            <a:pPr marL="0" indent="0">
              <a:buNone/>
            </a:pPr>
            <a:r>
              <a:rPr lang="en-US" sz="850" b="1" kern="0" spc="150" dirty="0">
                <a:solidFill>
                  <a:srgbClr val="7A877F"/>
                </a:solidFill>
                <a:latin typeface="Arial" pitchFamily="34" charset="0"/>
                <a:ea typeface="Arial" pitchFamily="34" charset="-122"/>
                <a:cs typeface="Arial" pitchFamily="34" charset="-120"/>
              </a:rPr>
              <a:t>NỘI DUNG</a:t>
            </a:r>
            <a:endParaRPr lang="en-US" sz="850" dirty="0"/>
          </a:p>
        </p:txBody>
      </p:sp>
      <p:sp>
        <p:nvSpPr>
          <p:cNvPr id="22" name="Text 16"/>
          <p:cNvSpPr txBox="1"/>
          <p:nvPr/>
        </p:nvSpPr>
        <p:spPr>
          <a:xfrm>
            <a:off x="8769096" y="2916936"/>
            <a:ext cx="2688336" cy="914400"/>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Nhận diện mối nguy, phân tích và xếp hạng mức độ rủi ro; đề xuất giải pháp, kế hoạch cải tiến phù hợp</a:t>
            </a:r>
            <a:endParaRPr lang="en-US" sz="1250" dirty="0"/>
          </a:p>
        </p:txBody>
      </p:sp>
      <p:sp>
        <p:nvSpPr>
          <p:cNvPr id="23" name="Shape 17"/>
          <p:cNvSpPr/>
          <p:nvPr/>
        </p:nvSpPr>
        <p:spPr>
          <a:xfrm>
            <a:off x="548640" y="4251960"/>
            <a:ext cx="5431536" cy="2194560"/>
          </a:xfrm>
          <a:prstGeom prst="roundRect">
            <a:avLst>
              <a:gd name="adj" fmla="val 6667"/>
            </a:avLst>
          </a:prstGeom>
          <a:solidFill>
            <a:srgbClr val="FFFFFF"/>
          </a:solidFill>
          <a:ln/>
          <a:effectLst>
            <a:outerShdw blurRad="152400" dist="38100" dir="5400000" algn="bl" rotWithShape="0">
              <a:srgbClr val="0A2E1C">
                <a:alpha val="16000"/>
              </a:srgbClr>
            </a:outerShdw>
          </a:effectLst>
        </p:spPr>
      </p:sp>
      <p:pic>
        <p:nvPicPr>
          <p:cNvPr id="24" name="Image 4" descr="preencoded.png"/>
          <p:cNvPicPr>
            <a:picLocks noChangeAspect="1"/>
          </p:cNvPicPr>
          <p:nvPr/>
        </p:nvPicPr>
        <p:blipFill>
          <a:blip r:embed="rId7"/>
          <a:stretch>
            <a:fillRect/>
          </a:stretch>
        </p:blipFill>
        <p:spPr>
          <a:xfrm>
            <a:off x="658368" y="4361688"/>
            <a:ext cx="2240280" cy="1975104"/>
          </a:xfrm>
          <a:prstGeom prst="rect">
            <a:avLst/>
          </a:prstGeom>
        </p:spPr>
      </p:pic>
      <p:sp>
        <p:nvSpPr>
          <p:cNvPr id="25" name="Shape 18"/>
          <p:cNvSpPr/>
          <p:nvPr/>
        </p:nvSpPr>
        <p:spPr>
          <a:xfrm>
            <a:off x="3108960" y="4480560"/>
            <a:ext cx="420624" cy="420624"/>
          </a:xfrm>
          <a:prstGeom prst="ellipse">
            <a:avLst/>
          </a:prstGeom>
          <a:solidFill>
            <a:srgbClr val="EEF6EF"/>
          </a:solidFill>
          <a:ln/>
        </p:spPr>
      </p:sp>
      <p:pic>
        <p:nvPicPr>
          <p:cNvPr id="26" name="Image 5" descr="preencoded.png"/>
          <p:cNvPicPr>
            <a:picLocks noChangeAspect="1"/>
          </p:cNvPicPr>
          <p:nvPr/>
        </p:nvPicPr>
        <p:blipFill>
          <a:blip r:embed="rId8"/>
          <a:stretch>
            <a:fillRect/>
          </a:stretch>
        </p:blipFill>
        <p:spPr>
          <a:xfrm>
            <a:off x="3209910" y="4581510"/>
            <a:ext cx="218724" cy="218724"/>
          </a:xfrm>
          <a:prstGeom prst="rect">
            <a:avLst/>
          </a:prstGeom>
        </p:spPr>
      </p:pic>
      <p:sp>
        <p:nvSpPr>
          <p:cNvPr id="27" name="Text 19"/>
          <p:cNvSpPr txBox="1"/>
          <p:nvPr/>
        </p:nvSpPr>
        <p:spPr>
          <a:xfrm>
            <a:off x="3639312" y="4453128"/>
            <a:ext cx="2185416" cy="548640"/>
          </a:xfrm>
          <a:prstGeom prst="rect">
            <a:avLst/>
          </a:prstGeom>
          <a:noFill/>
          <a:ln/>
        </p:spPr>
        <p:txBody>
          <a:bodyPr wrap="square" lIns="0" tIns="0" rIns="0" bIns="0" rtlCol="0" anchor="ctr"/>
          <a:lstStyle/>
          <a:p>
            <a:pPr marL="0" indent="0">
              <a:buNone/>
            </a:pPr>
            <a:r>
              <a:rPr lang="en-US" sz="1350" b="1" dirty="0">
                <a:solidFill>
                  <a:srgbClr val="17261D"/>
                </a:solidFill>
                <a:latin typeface="Arial" pitchFamily="34" charset="0"/>
                <a:ea typeface="Arial" pitchFamily="34" charset="-122"/>
                <a:cs typeface="Arial" pitchFamily="34" charset="-120"/>
              </a:rPr>
              <a:t>KIỂM ĐỊNH – HIỆU CHUẨN</a:t>
            </a:r>
            <a:endParaRPr lang="en-US" sz="1350" dirty="0"/>
          </a:p>
        </p:txBody>
      </p:sp>
      <p:sp>
        <p:nvSpPr>
          <p:cNvPr id="28" name="Text 20"/>
          <p:cNvSpPr txBox="1"/>
          <p:nvPr/>
        </p:nvSpPr>
        <p:spPr>
          <a:xfrm>
            <a:off x="3108960" y="5148072"/>
            <a:ext cx="2688336" cy="228600"/>
          </a:xfrm>
          <a:prstGeom prst="rect">
            <a:avLst/>
          </a:prstGeom>
          <a:noFill/>
          <a:ln/>
        </p:spPr>
        <p:txBody>
          <a:bodyPr wrap="square" lIns="0" tIns="0" rIns="0" bIns="0" rtlCol="0" anchor="t"/>
          <a:lstStyle/>
          <a:p>
            <a:pPr marL="0" indent="0">
              <a:buNone/>
            </a:pPr>
            <a:r>
              <a:rPr lang="en-US" sz="850" b="1" kern="0" spc="150" dirty="0">
                <a:solidFill>
                  <a:srgbClr val="7A877F"/>
                </a:solidFill>
                <a:latin typeface="Arial" pitchFamily="34" charset="0"/>
                <a:ea typeface="Arial" pitchFamily="34" charset="-122"/>
                <a:cs typeface="Arial" pitchFamily="34" charset="-120"/>
              </a:rPr>
              <a:t>HIỆU CHUẨN</a:t>
            </a:r>
            <a:endParaRPr lang="en-US" sz="850" dirty="0"/>
          </a:p>
        </p:txBody>
      </p:sp>
      <p:sp>
        <p:nvSpPr>
          <p:cNvPr id="29" name="Text 21"/>
          <p:cNvSpPr txBox="1"/>
          <p:nvPr/>
        </p:nvSpPr>
        <p:spPr>
          <a:xfrm>
            <a:off x="3108960" y="5385816"/>
            <a:ext cx="2688336" cy="914400"/>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Khối lượng · Nhiệt độ, Độ ẩm · Độ dài · Hóa – Lý · Điện · Đo lực, Độ cứng · May mặc – Bao bì</a:t>
            </a:r>
            <a:endParaRPr lang="en-US" sz="1250" dirty="0"/>
          </a:p>
        </p:txBody>
      </p:sp>
      <p:sp>
        <p:nvSpPr>
          <p:cNvPr id="30" name="Shape 22"/>
          <p:cNvSpPr/>
          <p:nvPr/>
        </p:nvSpPr>
        <p:spPr>
          <a:xfrm>
            <a:off x="6208776" y="4251960"/>
            <a:ext cx="5431536" cy="2194560"/>
          </a:xfrm>
          <a:prstGeom prst="roundRect">
            <a:avLst>
              <a:gd name="adj" fmla="val 6667"/>
            </a:avLst>
          </a:prstGeom>
          <a:solidFill>
            <a:srgbClr val="FFFFFF"/>
          </a:solidFill>
          <a:ln/>
          <a:effectLst>
            <a:outerShdw blurRad="152400" dist="38100" dir="5400000" algn="bl" rotWithShape="0">
              <a:srgbClr val="0A2E1C">
                <a:alpha val="16000"/>
              </a:srgbClr>
            </a:outerShdw>
          </a:effectLst>
        </p:spPr>
      </p:sp>
      <p:pic>
        <p:nvPicPr>
          <p:cNvPr id="31" name="Image 6" descr="preencoded.png"/>
          <p:cNvPicPr>
            <a:picLocks noChangeAspect="1"/>
          </p:cNvPicPr>
          <p:nvPr/>
        </p:nvPicPr>
        <p:blipFill>
          <a:blip r:embed="rId9"/>
          <a:stretch>
            <a:fillRect/>
          </a:stretch>
        </p:blipFill>
        <p:spPr>
          <a:xfrm>
            <a:off x="6318504" y="4361688"/>
            <a:ext cx="2240280" cy="1975104"/>
          </a:xfrm>
          <a:prstGeom prst="rect">
            <a:avLst/>
          </a:prstGeom>
        </p:spPr>
      </p:pic>
      <p:sp>
        <p:nvSpPr>
          <p:cNvPr id="32" name="Shape 23"/>
          <p:cNvSpPr/>
          <p:nvPr/>
        </p:nvSpPr>
        <p:spPr>
          <a:xfrm>
            <a:off x="8769096" y="4480560"/>
            <a:ext cx="420624" cy="420624"/>
          </a:xfrm>
          <a:prstGeom prst="ellipse">
            <a:avLst/>
          </a:prstGeom>
          <a:solidFill>
            <a:srgbClr val="EEF6EF"/>
          </a:solidFill>
          <a:ln/>
        </p:spPr>
      </p:sp>
      <p:pic>
        <p:nvPicPr>
          <p:cNvPr id="33" name="Image 7" descr="preencoded.png"/>
          <p:cNvPicPr>
            <a:picLocks noChangeAspect="1"/>
          </p:cNvPicPr>
          <p:nvPr/>
        </p:nvPicPr>
        <p:blipFill>
          <a:blip r:embed="rId10"/>
          <a:stretch>
            <a:fillRect/>
          </a:stretch>
        </p:blipFill>
        <p:spPr>
          <a:xfrm>
            <a:off x="8870046" y="4581510"/>
            <a:ext cx="218724" cy="218724"/>
          </a:xfrm>
          <a:prstGeom prst="rect">
            <a:avLst/>
          </a:prstGeom>
        </p:spPr>
      </p:pic>
      <p:sp>
        <p:nvSpPr>
          <p:cNvPr id="34" name="Text 24"/>
          <p:cNvSpPr txBox="1"/>
          <p:nvPr/>
        </p:nvSpPr>
        <p:spPr>
          <a:xfrm>
            <a:off x="9299448" y="4453128"/>
            <a:ext cx="2185416" cy="548640"/>
          </a:xfrm>
          <a:prstGeom prst="rect">
            <a:avLst/>
          </a:prstGeom>
          <a:noFill/>
          <a:ln/>
        </p:spPr>
        <p:txBody>
          <a:bodyPr wrap="square" lIns="0" tIns="0" rIns="0" bIns="0" rtlCol="0" anchor="ctr"/>
          <a:lstStyle/>
          <a:p>
            <a:pPr marL="0" indent="0">
              <a:buNone/>
            </a:pPr>
            <a:r>
              <a:rPr lang="en-US" sz="1350" b="1" dirty="0">
                <a:solidFill>
                  <a:srgbClr val="17261D"/>
                </a:solidFill>
                <a:latin typeface="Arial" pitchFamily="34" charset="0"/>
                <a:ea typeface="Arial" pitchFamily="34" charset="-122"/>
                <a:cs typeface="Arial" pitchFamily="34" charset="-120"/>
              </a:rPr>
              <a:t>QUAN TRẮC MÔI TRƯỜNG LAO ĐỘNG</a:t>
            </a:r>
            <a:endParaRPr lang="en-US" sz="1350" dirty="0"/>
          </a:p>
        </p:txBody>
      </p:sp>
      <p:sp>
        <p:nvSpPr>
          <p:cNvPr id="35" name="Text 25"/>
          <p:cNvSpPr txBox="1"/>
          <p:nvPr/>
        </p:nvSpPr>
        <p:spPr>
          <a:xfrm>
            <a:off x="8769096" y="5148072"/>
            <a:ext cx="2688336" cy="228600"/>
          </a:xfrm>
          <a:prstGeom prst="rect">
            <a:avLst/>
          </a:prstGeom>
          <a:noFill/>
          <a:ln/>
        </p:spPr>
        <p:txBody>
          <a:bodyPr wrap="square" lIns="0" tIns="0" rIns="0" bIns="0" rtlCol="0" anchor="t"/>
          <a:lstStyle/>
          <a:p>
            <a:pPr marL="0" indent="0">
              <a:buNone/>
            </a:pPr>
            <a:r>
              <a:rPr lang="en-US" sz="850" b="1" kern="0" spc="150" dirty="0">
                <a:solidFill>
                  <a:srgbClr val="7A877F"/>
                </a:solidFill>
                <a:latin typeface="Arial" pitchFamily="34" charset="0"/>
                <a:ea typeface="Arial" pitchFamily="34" charset="-122"/>
                <a:cs typeface="Arial" pitchFamily="34" charset="-120"/>
              </a:rPr>
              <a:t>CĂN CỨ PHÁP LÝ</a:t>
            </a:r>
            <a:endParaRPr lang="en-US" sz="850" dirty="0"/>
          </a:p>
        </p:txBody>
      </p:sp>
      <p:sp>
        <p:nvSpPr>
          <p:cNvPr id="36" name="Text 26"/>
          <p:cNvSpPr txBox="1"/>
          <p:nvPr/>
        </p:nvSpPr>
        <p:spPr>
          <a:xfrm>
            <a:off x="8769096" y="5385816"/>
            <a:ext cx="2688336" cy="914400"/>
          </a:xfrm>
          <a:prstGeom prst="rect">
            <a:avLst/>
          </a:prstGeom>
          <a:noFill/>
          <a:ln/>
        </p:spPr>
        <p:txBody>
          <a:bodyPr wrap="square" lIns="0" tIns="0" rIns="0" bIns="0" rtlCol="0" anchor="t"/>
          <a:lstStyle/>
          <a:p>
            <a:pPr marL="0" indent="0">
              <a:buNone/>
            </a:pPr>
            <a:r>
              <a:rPr lang="en-US" sz="1250" b="1" dirty="0">
                <a:solidFill>
                  <a:srgbClr val="1E8C45"/>
                </a:solidFill>
                <a:latin typeface="Calibri" pitchFamily="34" charset="0"/>
                <a:ea typeface="Calibri" pitchFamily="34" charset="-122"/>
                <a:cs typeface="Calibri" pitchFamily="34" charset="-120"/>
              </a:rPr>
              <a:t>Nghị định 44/2016/NĐ-CP</a:t>
            </a:r>
            <a:endParaRPr lang="en-US" sz="1250" dirty="0"/>
          </a:p>
          <a:p>
            <a:pPr marL="0" indent="0">
              <a:buNone/>
            </a:pPr>
            <a:r>
              <a:rPr lang="en-US" sz="1250" b="1" dirty="0">
                <a:solidFill>
                  <a:srgbClr val="1E8C45"/>
                </a:solidFill>
                <a:latin typeface="Calibri" pitchFamily="34" charset="0"/>
                <a:ea typeface="Calibri" pitchFamily="34" charset="-122"/>
                <a:cs typeface="Calibri" pitchFamily="34" charset="-120"/>
              </a:rPr>
              <a:t>Thông tư 19/2016/TT-BYT</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 · QUY TRÌNH HUẤN LUYỆN ATVSLĐ</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QUY TRÌNH TRIỂN KHAI 6 BƯỚC</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12</a:t>
            </a:r>
            <a:endParaRPr lang="en-US" sz="900" dirty="0"/>
          </a:p>
        </p:txBody>
      </p:sp>
      <p:sp>
        <p:nvSpPr>
          <p:cNvPr id="8" name="Text 6"/>
          <p:cNvSpPr txBox="1"/>
          <p:nvPr/>
        </p:nvSpPr>
        <p:spPr>
          <a:xfrm>
            <a:off x="548640" y="1261872"/>
            <a:ext cx="11064240" cy="365760"/>
          </a:xfrm>
          <a:prstGeom prst="rect">
            <a:avLst/>
          </a:prstGeom>
          <a:noFill/>
          <a:ln/>
        </p:spPr>
        <p:txBody>
          <a:bodyPr wrap="square" lIns="0" tIns="0" rIns="0" bIns="0" rtlCol="0" anchor="t"/>
          <a:lstStyle/>
          <a:p>
            <a:pPr marL="0" indent="0">
              <a:buNone/>
            </a:pPr>
            <a:r>
              <a:rPr lang="en-US" sz="1450" dirty="0">
                <a:solidFill>
                  <a:srgbClr val="3C4A42"/>
                </a:solidFill>
                <a:latin typeface="Calibri" pitchFamily="34" charset="0"/>
                <a:ea typeface="Calibri" pitchFamily="34" charset="-122"/>
                <a:cs typeface="Calibri" pitchFamily="34" charset="-120"/>
              </a:rPr>
              <a:t>Xây dựng </a:t>
            </a:r>
            <a:r>
              <a:rPr lang="en-US" sz="1450" b="1" dirty="0">
                <a:solidFill>
                  <a:srgbClr val="1E8C45"/>
                </a:solidFill>
                <a:latin typeface="Calibri" pitchFamily="34" charset="0"/>
                <a:ea typeface="Calibri" pitchFamily="34" charset="-122"/>
                <a:cs typeface="Calibri" pitchFamily="34" charset="-120"/>
              </a:rPr>
              <a:t>theo đúng quy định của pháp luật</a:t>
            </a:r>
            <a:r>
              <a:rPr lang="en-US" sz="1450" dirty="0">
                <a:solidFill>
                  <a:srgbClr val="3C4A42"/>
                </a:solidFill>
                <a:latin typeface="Calibri" pitchFamily="34" charset="0"/>
                <a:ea typeface="Calibri" pitchFamily="34" charset="-122"/>
                <a:cs typeface="Calibri" pitchFamily="34" charset="-120"/>
              </a:rPr>
              <a:t>, bảo đảm </a:t>
            </a:r>
            <a:r>
              <a:rPr lang="en-US" sz="1450" b="1" dirty="0">
                <a:solidFill>
                  <a:srgbClr val="1E8C45"/>
                </a:solidFill>
                <a:latin typeface="Calibri" pitchFamily="34" charset="0"/>
                <a:ea typeface="Calibri" pitchFamily="34" charset="-122"/>
                <a:cs typeface="Calibri" pitchFamily="34" charset="-120"/>
              </a:rPr>
              <a:t>tính pháp lý, tính hệ thống và khả năng áp dụng thực tế</a:t>
            </a:r>
            <a:endParaRPr lang="en-US" sz="1450" dirty="0"/>
          </a:p>
        </p:txBody>
      </p:sp>
      <p:sp>
        <p:nvSpPr>
          <p:cNvPr id="9" name="Shape 7"/>
          <p:cNvSpPr/>
          <p:nvPr/>
        </p:nvSpPr>
        <p:spPr>
          <a:xfrm>
            <a:off x="1396746" y="2514600"/>
            <a:ext cx="9395460" cy="0"/>
          </a:xfrm>
          <a:prstGeom prst="line">
            <a:avLst/>
          </a:prstGeom>
          <a:noFill/>
          <a:ln w="38100">
            <a:solidFill>
              <a:srgbClr val="D5EAD8"/>
            </a:solidFill>
            <a:prstDash val="solid"/>
          </a:ln>
        </p:spPr>
      </p:sp>
      <p:sp>
        <p:nvSpPr>
          <p:cNvPr id="10" name="Shape 8"/>
          <p:cNvSpPr/>
          <p:nvPr/>
        </p:nvSpPr>
        <p:spPr>
          <a:xfrm>
            <a:off x="548640" y="2560320"/>
            <a:ext cx="1696212" cy="2788920"/>
          </a:xfrm>
          <a:prstGeom prst="roundRect">
            <a:avLst>
              <a:gd name="adj" fmla="val 8625"/>
            </a:avLst>
          </a:prstGeom>
          <a:solidFill>
            <a:srgbClr val="FFFFFF"/>
          </a:solidFill>
          <a:ln/>
          <a:effectLst>
            <a:outerShdw blurRad="152400" dist="38100" dir="5400000" algn="bl" rotWithShape="0">
              <a:srgbClr val="0A2E1C">
                <a:alpha val="16000"/>
              </a:srgbClr>
            </a:outerShdw>
          </a:effectLst>
        </p:spPr>
      </p:sp>
      <p:sp>
        <p:nvSpPr>
          <p:cNvPr id="11" name="Shape 9"/>
          <p:cNvSpPr/>
          <p:nvPr/>
        </p:nvSpPr>
        <p:spPr>
          <a:xfrm>
            <a:off x="962406" y="2075688"/>
            <a:ext cx="868680" cy="868680"/>
          </a:xfrm>
          <a:prstGeom prst="ellipse">
            <a:avLst/>
          </a:prstGeom>
          <a:solidFill>
            <a:srgbClr val="1E8C45"/>
          </a:solidFill>
          <a:ln w="38100">
            <a:solidFill>
              <a:srgbClr val="FFFFFF"/>
            </a:solidFill>
            <a:prstDash val="solid"/>
          </a:ln>
        </p:spPr>
      </p:sp>
      <p:pic>
        <p:nvPicPr>
          <p:cNvPr id="12" name="Image 0" descr="preencoded.png"/>
          <p:cNvPicPr>
            <a:picLocks noChangeAspect="1"/>
          </p:cNvPicPr>
          <p:nvPr/>
        </p:nvPicPr>
        <p:blipFill>
          <a:blip r:embed="rId3"/>
          <a:stretch>
            <a:fillRect/>
          </a:stretch>
        </p:blipFill>
        <p:spPr>
          <a:xfrm>
            <a:off x="1170889" y="2284171"/>
            <a:ext cx="451714" cy="451714"/>
          </a:xfrm>
          <a:prstGeom prst="rect">
            <a:avLst/>
          </a:prstGeom>
        </p:spPr>
      </p:pic>
      <p:sp>
        <p:nvSpPr>
          <p:cNvPr id="13" name="Text 10"/>
          <p:cNvSpPr txBox="1"/>
          <p:nvPr/>
        </p:nvSpPr>
        <p:spPr>
          <a:xfrm>
            <a:off x="548640" y="3044952"/>
            <a:ext cx="1696212" cy="274320"/>
          </a:xfrm>
          <a:prstGeom prst="rect">
            <a:avLst/>
          </a:prstGeom>
          <a:noFill/>
          <a:ln/>
        </p:spPr>
        <p:txBody>
          <a:bodyPr wrap="square" lIns="0" tIns="0" rIns="0" bIns="0" rtlCol="0" anchor="t"/>
          <a:lstStyle/>
          <a:p>
            <a:pPr marL="0" indent="0" algn="ctr">
              <a:buNone/>
            </a:pPr>
            <a:r>
              <a:rPr lang="en-US" sz="1000" b="1" kern="0" spc="200" dirty="0">
                <a:solidFill>
                  <a:srgbClr val="3DB54A"/>
                </a:solidFill>
                <a:latin typeface="Arial" pitchFamily="34" charset="0"/>
                <a:ea typeface="Arial" pitchFamily="34" charset="-122"/>
                <a:cs typeface="Arial" pitchFamily="34" charset="-120"/>
              </a:rPr>
              <a:t>BƯỚC 1</a:t>
            </a:r>
            <a:endParaRPr lang="en-US" sz="1000" dirty="0"/>
          </a:p>
        </p:txBody>
      </p:sp>
      <p:sp>
        <p:nvSpPr>
          <p:cNvPr id="14" name="Text 11"/>
          <p:cNvSpPr txBox="1"/>
          <p:nvPr/>
        </p:nvSpPr>
        <p:spPr>
          <a:xfrm>
            <a:off x="658368" y="3337560"/>
            <a:ext cx="1476756" cy="566928"/>
          </a:xfrm>
          <a:prstGeom prst="rect">
            <a:avLst/>
          </a:prstGeom>
          <a:noFill/>
          <a:ln/>
        </p:spPr>
        <p:txBody>
          <a:bodyPr wrap="square" lIns="0" tIns="0" rIns="0" bIns="0" rtlCol="0" anchor="ctr"/>
          <a:lstStyle/>
          <a:p>
            <a:pPr marL="0" indent="0" algn="ctr">
              <a:buNone/>
            </a:pPr>
            <a:r>
              <a:rPr lang="en-US" sz="1250" b="1" dirty="0">
                <a:solidFill>
                  <a:srgbClr val="17261D"/>
                </a:solidFill>
                <a:latin typeface="Arial" pitchFamily="34" charset="0"/>
                <a:ea typeface="Arial" pitchFamily="34" charset="-122"/>
                <a:cs typeface="Arial" pitchFamily="34" charset="-120"/>
              </a:rPr>
              <a:t>KHẢO SÁT HIỆN TRẠNG</a:t>
            </a:r>
            <a:endParaRPr lang="en-US" sz="1250" dirty="0"/>
          </a:p>
        </p:txBody>
      </p:sp>
      <p:sp>
        <p:nvSpPr>
          <p:cNvPr id="15" name="Text 12"/>
          <p:cNvSpPr txBox="1"/>
          <p:nvPr/>
        </p:nvSpPr>
        <p:spPr>
          <a:xfrm>
            <a:off x="685800" y="3977640"/>
            <a:ext cx="1421892" cy="1280160"/>
          </a:xfrm>
          <a:prstGeom prst="rect">
            <a:avLst/>
          </a:prstGeom>
          <a:noFill/>
          <a:ln/>
        </p:spPr>
        <p:txBody>
          <a:bodyPr wrap="square" lIns="0" tIns="0" rIns="0" bIns="0" rtlCol="0" anchor="t"/>
          <a:lstStyle/>
          <a:p>
            <a:pPr marL="0" indent="0" algn="ctr">
              <a:buNone/>
            </a:pPr>
            <a:r>
              <a:rPr lang="en-US" sz="1300" dirty="0">
                <a:solidFill>
                  <a:srgbClr val="3C4A42"/>
                </a:solidFill>
                <a:latin typeface="Calibri" pitchFamily="34" charset="0"/>
                <a:ea typeface="Calibri" pitchFamily="34" charset="-122"/>
                <a:cs typeface="Calibri" pitchFamily="34" charset="-120"/>
              </a:rPr>
              <a:t>Khảo sát nhu cầu, đánh giá thực tế ATLĐ tại doanh nghiệp</a:t>
            </a:r>
            <a:endParaRPr lang="en-US" sz="1300" dirty="0"/>
          </a:p>
        </p:txBody>
      </p:sp>
      <p:sp>
        <p:nvSpPr>
          <p:cNvPr id="16" name="Shape 13"/>
          <p:cNvSpPr/>
          <p:nvPr/>
        </p:nvSpPr>
        <p:spPr>
          <a:xfrm>
            <a:off x="2427732" y="2560320"/>
            <a:ext cx="1696212" cy="2788920"/>
          </a:xfrm>
          <a:prstGeom prst="roundRect">
            <a:avLst>
              <a:gd name="adj" fmla="val 8625"/>
            </a:avLst>
          </a:prstGeom>
          <a:solidFill>
            <a:srgbClr val="FFFFFF"/>
          </a:solidFill>
          <a:ln/>
          <a:effectLst>
            <a:outerShdw blurRad="152400" dist="38100" dir="5400000" algn="bl" rotWithShape="0">
              <a:srgbClr val="0A2E1C">
                <a:alpha val="16000"/>
              </a:srgbClr>
            </a:outerShdw>
          </a:effectLst>
        </p:spPr>
      </p:sp>
      <p:sp>
        <p:nvSpPr>
          <p:cNvPr id="17" name="Shape 14"/>
          <p:cNvSpPr/>
          <p:nvPr/>
        </p:nvSpPr>
        <p:spPr>
          <a:xfrm>
            <a:off x="2841498" y="2075688"/>
            <a:ext cx="868680" cy="868680"/>
          </a:xfrm>
          <a:prstGeom prst="ellipse">
            <a:avLst/>
          </a:prstGeom>
          <a:solidFill>
            <a:srgbClr val="1E8C45"/>
          </a:solidFill>
          <a:ln w="38100">
            <a:solidFill>
              <a:srgbClr val="FFFFFF"/>
            </a:solidFill>
            <a:prstDash val="solid"/>
          </a:ln>
        </p:spPr>
      </p:sp>
      <p:pic>
        <p:nvPicPr>
          <p:cNvPr id="18" name="Image 1" descr="preencoded.png"/>
          <p:cNvPicPr>
            <a:picLocks noChangeAspect="1"/>
          </p:cNvPicPr>
          <p:nvPr/>
        </p:nvPicPr>
        <p:blipFill>
          <a:blip r:embed="rId4"/>
          <a:stretch>
            <a:fillRect/>
          </a:stretch>
        </p:blipFill>
        <p:spPr>
          <a:xfrm>
            <a:off x="3049981" y="2284171"/>
            <a:ext cx="451714" cy="451714"/>
          </a:xfrm>
          <a:prstGeom prst="rect">
            <a:avLst/>
          </a:prstGeom>
        </p:spPr>
      </p:pic>
      <p:sp>
        <p:nvSpPr>
          <p:cNvPr id="19" name="Text 15"/>
          <p:cNvSpPr txBox="1"/>
          <p:nvPr/>
        </p:nvSpPr>
        <p:spPr>
          <a:xfrm>
            <a:off x="2427732" y="3044952"/>
            <a:ext cx="1696212" cy="274320"/>
          </a:xfrm>
          <a:prstGeom prst="rect">
            <a:avLst/>
          </a:prstGeom>
          <a:noFill/>
          <a:ln/>
        </p:spPr>
        <p:txBody>
          <a:bodyPr wrap="square" lIns="0" tIns="0" rIns="0" bIns="0" rtlCol="0" anchor="t"/>
          <a:lstStyle/>
          <a:p>
            <a:pPr marL="0" indent="0" algn="ctr">
              <a:buNone/>
            </a:pPr>
            <a:r>
              <a:rPr lang="en-US" sz="1000" b="1" kern="0" spc="200" dirty="0">
                <a:solidFill>
                  <a:srgbClr val="3DB54A"/>
                </a:solidFill>
                <a:latin typeface="Arial" pitchFamily="34" charset="0"/>
                <a:ea typeface="Arial" pitchFamily="34" charset="-122"/>
                <a:cs typeface="Arial" pitchFamily="34" charset="-120"/>
              </a:rPr>
              <a:t>BƯỚC 2</a:t>
            </a:r>
            <a:endParaRPr lang="en-US" sz="1000" dirty="0"/>
          </a:p>
        </p:txBody>
      </p:sp>
      <p:sp>
        <p:nvSpPr>
          <p:cNvPr id="20" name="Text 16"/>
          <p:cNvSpPr txBox="1"/>
          <p:nvPr/>
        </p:nvSpPr>
        <p:spPr>
          <a:xfrm>
            <a:off x="2537460" y="3337560"/>
            <a:ext cx="1476756" cy="566928"/>
          </a:xfrm>
          <a:prstGeom prst="rect">
            <a:avLst/>
          </a:prstGeom>
          <a:noFill/>
          <a:ln/>
        </p:spPr>
        <p:txBody>
          <a:bodyPr wrap="square" lIns="0" tIns="0" rIns="0" bIns="0" rtlCol="0" anchor="ctr"/>
          <a:lstStyle/>
          <a:p>
            <a:pPr marL="0" indent="0" algn="ctr">
              <a:buNone/>
            </a:pPr>
            <a:r>
              <a:rPr lang="en-US" sz="1250" b="1" dirty="0">
                <a:solidFill>
                  <a:srgbClr val="17261D"/>
                </a:solidFill>
                <a:latin typeface="Arial" pitchFamily="34" charset="0"/>
                <a:ea typeface="Arial" pitchFamily="34" charset="-122"/>
                <a:cs typeface="Arial" pitchFamily="34" charset="-120"/>
              </a:rPr>
              <a:t>ĐÁNH GIÁ RỦI RO</a:t>
            </a:r>
            <a:endParaRPr lang="en-US" sz="1250" dirty="0"/>
          </a:p>
        </p:txBody>
      </p:sp>
      <p:sp>
        <p:nvSpPr>
          <p:cNvPr id="21" name="Text 17"/>
          <p:cNvSpPr txBox="1"/>
          <p:nvPr/>
        </p:nvSpPr>
        <p:spPr>
          <a:xfrm>
            <a:off x="2564892" y="3977640"/>
            <a:ext cx="1421892" cy="1280160"/>
          </a:xfrm>
          <a:prstGeom prst="rect">
            <a:avLst/>
          </a:prstGeom>
          <a:noFill/>
          <a:ln/>
        </p:spPr>
        <p:txBody>
          <a:bodyPr wrap="square" lIns="0" tIns="0" rIns="0" bIns="0" rtlCol="0" anchor="t"/>
          <a:lstStyle/>
          <a:p>
            <a:pPr marL="0" indent="0" algn="ctr">
              <a:buNone/>
            </a:pPr>
            <a:r>
              <a:rPr lang="en-US" sz="1300" dirty="0">
                <a:solidFill>
                  <a:srgbClr val="3C4A42"/>
                </a:solidFill>
                <a:latin typeface="Calibri" pitchFamily="34" charset="0"/>
                <a:ea typeface="Calibri" pitchFamily="34" charset="-122"/>
                <a:cs typeface="Calibri" pitchFamily="34" charset="-120"/>
              </a:rPr>
              <a:t>Nhận diện mối nguy, phân tích và xếp hạng mức độ rủi ro</a:t>
            </a:r>
            <a:endParaRPr lang="en-US" sz="1300" dirty="0"/>
          </a:p>
        </p:txBody>
      </p:sp>
      <p:sp>
        <p:nvSpPr>
          <p:cNvPr id="22" name="Shape 18"/>
          <p:cNvSpPr/>
          <p:nvPr/>
        </p:nvSpPr>
        <p:spPr>
          <a:xfrm>
            <a:off x="4306824" y="2560320"/>
            <a:ext cx="1696212" cy="2788920"/>
          </a:xfrm>
          <a:prstGeom prst="roundRect">
            <a:avLst>
              <a:gd name="adj" fmla="val 8625"/>
            </a:avLst>
          </a:prstGeom>
          <a:solidFill>
            <a:srgbClr val="FFFFFF"/>
          </a:solidFill>
          <a:ln/>
          <a:effectLst>
            <a:outerShdw blurRad="152400" dist="38100" dir="5400000" algn="bl" rotWithShape="0">
              <a:srgbClr val="0A2E1C">
                <a:alpha val="16000"/>
              </a:srgbClr>
            </a:outerShdw>
          </a:effectLst>
        </p:spPr>
      </p:sp>
      <p:sp>
        <p:nvSpPr>
          <p:cNvPr id="23" name="Shape 19"/>
          <p:cNvSpPr/>
          <p:nvPr/>
        </p:nvSpPr>
        <p:spPr>
          <a:xfrm>
            <a:off x="4720590" y="2075688"/>
            <a:ext cx="868680" cy="868680"/>
          </a:xfrm>
          <a:prstGeom prst="ellipse">
            <a:avLst/>
          </a:prstGeom>
          <a:solidFill>
            <a:srgbClr val="1E8C45"/>
          </a:solidFill>
          <a:ln w="38100">
            <a:solidFill>
              <a:srgbClr val="FFFFFF"/>
            </a:solidFill>
            <a:prstDash val="solid"/>
          </a:ln>
        </p:spPr>
      </p:sp>
      <p:pic>
        <p:nvPicPr>
          <p:cNvPr id="24" name="Image 2" descr="preencoded.png"/>
          <p:cNvPicPr>
            <a:picLocks noChangeAspect="1"/>
          </p:cNvPicPr>
          <p:nvPr/>
        </p:nvPicPr>
        <p:blipFill>
          <a:blip r:embed="rId5"/>
          <a:stretch>
            <a:fillRect/>
          </a:stretch>
        </p:blipFill>
        <p:spPr>
          <a:xfrm>
            <a:off x="4929073" y="2284171"/>
            <a:ext cx="451714" cy="451714"/>
          </a:xfrm>
          <a:prstGeom prst="rect">
            <a:avLst/>
          </a:prstGeom>
        </p:spPr>
      </p:pic>
      <p:sp>
        <p:nvSpPr>
          <p:cNvPr id="25" name="Text 20"/>
          <p:cNvSpPr txBox="1"/>
          <p:nvPr/>
        </p:nvSpPr>
        <p:spPr>
          <a:xfrm>
            <a:off x="4306824" y="3044952"/>
            <a:ext cx="1696212" cy="274320"/>
          </a:xfrm>
          <a:prstGeom prst="rect">
            <a:avLst/>
          </a:prstGeom>
          <a:noFill/>
          <a:ln/>
        </p:spPr>
        <p:txBody>
          <a:bodyPr wrap="square" lIns="0" tIns="0" rIns="0" bIns="0" rtlCol="0" anchor="t"/>
          <a:lstStyle/>
          <a:p>
            <a:pPr marL="0" indent="0" algn="ctr">
              <a:buNone/>
            </a:pPr>
            <a:r>
              <a:rPr lang="en-US" sz="1000" b="1" kern="0" spc="200" dirty="0">
                <a:solidFill>
                  <a:srgbClr val="3DB54A"/>
                </a:solidFill>
                <a:latin typeface="Arial" pitchFamily="34" charset="0"/>
                <a:ea typeface="Arial" pitchFamily="34" charset="-122"/>
                <a:cs typeface="Arial" pitchFamily="34" charset="-120"/>
              </a:rPr>
              <a:t>BƯỚC 3</a:t>
            </a:r>
            <a:endParaRPr lang="en-US" sz="1000" dirty="0"/>
          </a:p>
        </p:txBody>
      </p:sp>
      <p:sp>
        <p:nvSpPr>
          <p:cNvPr id="26" name="Text 21"/>
          <p:cNvSpPr txBox="1"/>
          <p:nvPr/>
        </p:nvSpPr>
        <p:spPr>
          <a:xfrm>
            <a:off x="4416552" y="3337560"/>
            <a:ext cx="1476756" cy="566928"/>
          </a:xfrm>
          <a:prstGeom prst="rect">
            <a:avLst/>
          </a:prstGeom>
          <a:noFill/>
          <a:ln/>
        </p:spPr>
        <p:txBody>
          <a:bodyPr wrap="square" lIns="0" tIns="0" rIns="0" bIns="0" rtlCol="0" anchor="ctr"/>
          <a:lstStyle/>
          <a:p>
            <a:pPr marL="0" indent="0" algn="ctr">
              <a:buNone/>
            </a:pPr>
            <a:r>
              <a:rPr lang="en-US" sz="1250" b="1" dirty="0">
                <a:solidFill>
                  <a:srgbClr val="17261D"/>
                </a:solidFill>
                <a:latin typeface="Arial" pitchFamily="34" charset="0"/>
                <a:ea typeface="Arial" pitchFamily="34" charset="-122"/>
                <a:cs typeface="Arial" pitchFamily="34" charset="-120"/>
              </a:rPr>
              <a:t>XÂY DỰNG GIẢI PHÁP</a:t>
            </a:r>
            <a:endParaRPr lang="en-US" sz="1250" dirty="0"/>
          </a:p>
        </p:txBody>
      </p:sp>
      <p:sp>
        <p:nvSpPr>
          <p:cNvPr id="27" name="Text 22"/>
          <p:cNvSpPr txBox="1"/>
          <p:nvPr/>
        </p:nvSpPr>
        <p:spPr>
          <a:xfrm>
            <a:off x="4443984" y="3977640"/>
            <a:ext cx="1421892" cy="1280160"/>
          </a:xfrm>
          <a:prstGeom prst="rect">
            <a:avLst/>
          </a:prstGeom>
          <a:noFill/>
          <a:ln/>
        </p:spPr>
        <p:txBody>
          <a:bodyPr wrap="square" lIns="0" tIns="0" rIns="0" bIns="0" rtlCol="0" anchor="t"/>
          <a:lstStyle/>
          <a:p>
            <a:pPr marL="0" indent="0" algn="ctr">
              <a:buNone/>
            </a:pPr>
            <a:r>
              <a:rPr lang="en-US" sz="1300" dirty="0">
                <a:solidFill>
                  <a:srgbClr val="3C4A42"/>
                </a:solidFill>
                <a:latin typeface="Calibri" pitchFamily="34" charset="0"/>
                <a:ea typeface="Calibri" pitchFamily="34" charset="-122"/>
                <a:cs typeface="Calibri" pitchFamily="34" charset="-120"/>
              </a:rPr>
              <a:t>Tư vấn, lập kế hoạch, thiết kế chương trình huấn luyện phù hợp</a:t>
            </a:r>
            <a:endParaRPr lang="en-US" sz="1300" dirty="0"/>
          </a:p>
        </p:txBody>
      </p:sp>
      <p:sp>
        <p:nvSpPr>
          <p:cNvPr id="28" name="Shape 23"/>
          <p:cNvSpPr/>
          <p:nvPr/>
        </p:nvSpPr>
        <p:spPr>
          <a:xfrm>
            <a:off x="6185916" y="2560320"/>
            <a:ext cx="1696212" cy="2788920"/>
          </a:xfrm>
          <a:prstGeom prst="roundRect">
            <a:avLst>
              <a:gd name="adj" fmla="val 8625"/>
            </a:avLst>
          </a:prstGeom>
          <a:solidFill>
            <a:srgbClr val="FFFFFF"/>
          </a:solidFill>
          <a:ln/>
          <a:effectLst>
            <a:outerShdw blurRad="152400" dist="38100" dir="5400000" algn="bl" rotWithShape="0">
              <a:srgbClr val="0A2E1C">
                <a:alpha val="16000"/>
              </a:srgbClr>
            </a:outerShdw>
          </a:effectLst>
        </p:spPr>
      </p:sp>
      <p:sp>
        <p:nvSpPr>
          <p:cNvPr id="29" name="Shape 24"/>
          <p:cNvSpPr/>
          <p:nvPr/>
        </p:nvSpPr>
        <p:spPr>
          <a:xfrm>
            <a:off x="6599682" y="2075688"/>
            <a:ext cx="868680" cy="868680"/>
          </a:xfrm>
          <a:prstGeom prst="ellipse">
            <a:avLst/>
          </a:prstGeom>
          <a:solidFill>
            <a:srgbClr val="1E8C45"/>
          </a:solidFill>
          <a:ln w="38100">
            <a:solidFill>
              <a:srgbClr val="FFFFFF"/>
            </a:solidFill>
            <a:prstDash val="solid"/>
          </a:ln>
        </p:spPr>
      </p:sp>
      <p:pic>
        <p:nvPicPr>
          <p:cNvPr id="30" name="Image 3" descr="preencoded.png"/>
          <p:cNvPicPr>
            <a:picLocks noChangeAspect="1"/>
          </p:cNvPicPr>
          <p:nvPr/>
        </p:nvPicPr>
        <p:blipFill>
          <a:blip r:embed="rId6"/>
          <a:stretch>
            <a:fillRect/>
          </a:stretch>
        </p:blipFill>
        <p:spPr>
          <a:xfrm>
            <a:off x="6808165" y="2284171"/>
            <a:ext cx="451714" cy="451714"/>
          </a:xfrm>
          <a:prstGeom prst="rect">
            <a:avLst/>
          </a:prstGeom>
        </p:spPr>
      </p:pic>
      <p:sp>
        <p:nvSpPr>
          <p:cNvPr id="31" name="Text 25"/>
          <p:cNvSpPr txBox="1"/>
          <p:nvPr/>
        </p:nvSpPr>
        <p:spPr>
          <a:xfrm>
            <a:off x="6185916" y="3044952"/>
            <a:ext cx="1696212" cy="274320"/>
          </a:xfrm>
          <a:prstGeom prst="rect">
            <a:avLst/>
          </a:prstGeom>
          <a:noFill/>
          <a:ln/>
        </p:spPr>
        <p:txBody>
          <a:bodyPr wrap="square" lIns="0" tIns="0" rIns="0" bIns="0" rtlCol="0" anchor="t"/>
          <a:lstStyle/>
          <a:p>
            <a:pPr marL="0" indent="0" algn="ctr">
              <a:buNone/>
            </a:pPr>
            <a:r>
              <a:rPr lang="en-US" sz="1000" b="1" kern="0" spc="200" dirty="0">
                <a:solidFill>
                  <a:srgbClr val="3DB54A"/>
                </a:solidFill>
                <a:latin typeface="Arial" pitchFamily="34" charset="0"/>
                <a:ea typeface="Arial" pitchFamily="34" charset="-122"/>
                <a:cs typeface="Arial" pitchFamily="34" charset="-120"/>
              </a:rPr>
              <a:t>BƯỚC 4</a:t>
            </a:r>
            <a:endParaRPr lang="en-US" sz="1000" dirty="0"/>
          </a:p>
        </p:txBody>
      </p:sp>
      <p:sp>
        <p:nvSpPr>
          <p:cNvPr id="32" name="Text 26"/>
          <p:cNvSpPr txBox="1"/>
          <p:nvPr/>
        </p:nvSpPr>
        <p:spPr>
          <a:xfrm>
            <a:off x="6295644" y="3337560"/>
            <a:ext cx="1476756" cy="566928"/>
          </a:xfrm>
          <a:prstGeom prst="rect">
            <a:avLst/>
          </a:prstGeom>
          <a:noFill/>
          <a:ln/>
        </p:spPr>
        <p:txBody>
          <a:bodyPr wrap="square" lIns="0" tIns="0" rIns="0" bIns="0" rtlCol="0" anchor="ctr"/>
          <a:lstStyle/>
          <a:p>
            <a:pPr marL="0" indent="0" algn="ctr">
              <a:buNone/>
            </a:pPr>
            <a:r>
              <a:rPr lang="en-US" sz="1250" b="1" dirty="0">
                <a:solidFill>
                  <a:srgbClr val="17261D"/>
                </a:solidFill>
                <a:latin typeface="Arial" pitchFamily="34" charset="0"/>
                <a:ea typeface="Arial" pitchFamily="34" charset="-122"/>
                <a:cs typeface="Arial" pitchFamily="34" charset="-120"/>
              </a:rPr>
              <a:t>HUẤN LUYỆN ATLĐ</a:t>
            </a:r>
            <a:endParaRPr lang="en-US" sz="1250" dirty="0"/>
          </a:p>
        </p:txBody>
      </p:sp>
      <p:sp>
        <p:nvSpPr>
          <p:cNvPr id="33" name="Text 27"/>
          <p:cNvSpPr txBox="1"/>
          <p:nvPr/>
        </p:nvSpPr>
        <p:spPr>
          <a:xfrm>
            <a:off x="6323076" y="3977640"/>
            <a:ext cx="1421892" cy="1280160"/>
          </a:xfrm>
          <a:prstGeom prst="rect">
            <a:avLst/>
          </a:prstGeom>
          <a:noFill/>
          <a:ln/>
        </p:spPr>
        <p:txBody>
          <a:bodyPr wrap="square" lIns="0" tIns="0" rIns="0" bIns="0" rtlCol="0" anchor="t"/>
          <a:lstStyle/>
          <a:p>
            <a:pPr marL="0" indent="0" algn="ctr">
              <a:buNone/>
            </a:pPr>
            <a:r>
              <a:rPr lang="en-US" sz="1300" dirty="0">
                <a:solidFill>
                  <a:srgbClr val="3C4A42"/>
                </a:solidFill>
                <a:latin typeface="Calibri" pitchFamily="34" charset="0"/>
                <a:ea typeface="Calibri" pitchFamily="34" charset="-122"/>
                <a:cs typeface="Calibri" pitchFamily="34" charset="-120"/>
              </a:rPr>
              <a:t>Theo nhóm đối tượng, vị trí công việc; lý thuyết kết hợp thực hành tại chỗ</a:t>
            </a:r>
            <a:endParaRPr lang="en-US" sz="1300" dirty="0"/>
          </a:p>
        </p:txBody>
      </p:sp>
      <p:sp>
        <p:nvSpPr>
          <p:cNvPr id="34" name="Shape 28"/>
          <p:cNvSpPr/>
          <p:nvPr/>
        </p:nvSpPr>
        <p:spPr>
          <a:xfrm>
            <a:off x="8065008" y="2560320"/>
            <a:ext cx="1696212" cy="2788920"/>
          </a:xfrm>
          <a:prstGeom prst="roundRect">
            <a:avLst>
              <a:gd name="adj" fmla="val 8625"/>
            </a:avLst>
          </a:prstGeom>
          <a:solidFill>
            <a:srgbClr val="FFFFFF"/>
          </a:solidFill>
          <a:ln/>
          <a:effectLst>
            <a:outerShdw blurRad="152400" dist="38100" dir="5400000" algn="bl" rotWithShape="0">
              <a:srgbClr val="0A2E1C">
                <a:alpha val="16000"/>
              </a:srgbClr>
            </a:outerShdw>
          </a:effectLst>
        </p:spPr>
      </p:sp>
      <p:sp>
        <p:nvSpPr>
          <p:cNvPr id="35" name="Shape 29"/>
          <p:cNvSpPr/>
          <p:nvPr/>
        </p:nvSpPr>
        <p:spPr>
          <a:xfrm>
            <a:off x="8478774" y="2075688"/>
            <a:ext cx="868680" cy="868680"/>
          </a:xfrm>
          <a:prstGeom prst="ellipse">
            <a:avLst/>
          </a:prstGeom>
          <a:solidFill>
            <a:srgbClr val="1E8C45"/>
          </a:solidFill>
          <a:ln w="38100">
            <a:solidFill>
              <a:srgbClr val="FFFFFF"/>
            </a:solidFill>
            <a:prstDash val="solid"/>
          </a:ln>
        </p:spPr>
      </p:sp>
      <p:pic>
        <p:nvPicPr>
          <p:cNvPr id="36" name="Image 4" descr="preencoded.png"/>
          <p:cNvPicPr>
            <a:picLocks noChangeAspect="1"/>
          </p:cNvPicPr>
          <p:nvPr/>
        </p:nvPicPr>
        <p:blipFill>
          <a:blip r:embed="rId7"/>
          <a:stretch>
            <a:fillRect/>
          </a:stretch>
        </p:blipFill>
        <p:spPr>
          <a:xfrm>
            <a:off x="8687257" y="2284171"/>
            <a:ext cx="451714" cy="451714"/>
          </a:xfrm>
          <a:prstGeom prst="rect">
            <a:avLst/>
          </a:prstGeom>
        </p:spPr>
      </p:pic>
      <p:sp>
        <p:nvSpPr>
          <p:cNvPr id="37" name="Text 30"/>
          <p:cNvSpPr txBox="1"/>
          <p:nvPr/>
        </p:nvSpPr>
        <p:spPr>
          <a:xfrm>
            <a:off x="8065008" y="3044952"/>
            <a:ext cx="1696212" cy="274320"/>
          </a:xfrm>
          <a:prstGeom prst="rect">
            <a:avLst/>
          </a:prstGeom>
          <a:noFill/>
          <a:ln/>
        </p:spPr>
        <p:txBody>
          <a:bodyPr wrap="square" lIns="0" tIns="0" rIns="0" bIns="0" rtlCol="0" anchor="t"/>
          <a:lstStyle/>
          <a:p>
            <a:pPr marL="0" indent="0" algn="ctr">
              <a:buNone/>
            </a:pPr>
            <a:r>
              <a:rPr lang="en-US" sz="1000" b="1" kern="0" spc="200" dirty="0">
                <a:solidFill>
                  <a:srgbClr val="3DB54A"/>
                </a:solidFill>
                <a:latin typeface="Arial" pitchFamily="34" charset="0"/>
                <a:ea typeface="Arial" pitchFamily="34" charset="-122"/>
                <a:cs typeface="Arial" pitchFamily="34" charset="-120"/>
              </a:rPr>
              <a:t>BƯỚC 5</a:t>
            </a:r>
            <a:endParaRPr lang="en-US" sz="1000" dirty="0"/>
          </a:p>
        </p:txBody>
      </p:sp>
      <p:sp>
        <p:nvSpPr>
          <p:cNvPr id="38" name="Text 31"/>
          <p:cNvSpPr txBox="1"/>
          <p:nvPr/>
        </p:nvSpPr>
        <p:spPr>
          <a:xfrm>
            <a:off x="8174736" y="3337560"/>
            <a:ext cx="1476756" cy="566928"/>
          </a:xfrm>
          <a:prstGeom prst="rect">
            <a:avLst/>
          </a:prstGeom>
          <a:noFill/>
          <a:ln/>
        </p:spPr>
        <p:txBody>
          <a:bodyPr wrap="square" lIns="0" tIns="0" rIns="0" bIns="0" rtlCol="0" anchor="ctr"/>
          <a:lstStyle/>
          <a:p>
            <a:pPr marL="0" indent="0" algn="ctr">
              <a:buNone/>
            </a:pPr>
            <a:r>
              <a:rPr lang="en-US" sz="1250" b="1" dirty="0">
                <a:solidFill>
                  <a:srgbClr val="17261D"/>
                </a:solidFill>
                <a:latin typeface="Arial" pitchFamily="34" charset="0"/>
                <a:ea typeface="Arial" pitchFamily="34" charset="-122"/>
                <a:cs typeface="Arial" pitchFamily="34" charset="-120"/>
              </a:rPr>
              <a:t>KIỂM TRA &amp; CẤP CHỨNG CHỈ</a:t>
            </a:r>
            <a:endParaRPr lang="en-US" sz="1250" dirty="0"/>
          </a:p>
        </p:txBody>
      </p:sp>
      <p:sp>
        <p:nvSpPr>
          <p:cNvPr id="39" name="Text 32"/>
          <p:cNvSpPr txBox="1"/>
          <p:nvPr/>
        </p:nvSpPr>
        <p:spPr>
          <a:xfrm>
            <a:off x="8202168" y="3977640"/>
            <a:ext cx="1421892" cy="1280160"/>
          </a:xfrm>
          <a:prstGeom prst="rect">
            <a:avLst/>
          </a:prstGeom>
          <a:noFill/>
          <a:ln/>
        </p:spPr>
        <p:txBody>
          <a:bodyPr wrap="square" lIns="0" tIns="0" rIns="0" bIns="0" rtlCol="0" anchor="t"/>
          <a:lstStyle/>
          <a:p>
            <a:pPr marL="0" indent="0" algn="ctr">
              <a:buNone/>
            </a:pPr>
            <a:r>
              <a:rPr lang="en-US" sz="1300" dirty="0">
                <a:solidFill>
                  <a:srgbClr val="3C4A42"/>
                </a:solidFill>
                <a:latin typeface="Calibri" pitchFamily="34" charset="0"/>
                <a:ea typeface="Calibri" pitchFamily="34" charset="-122"/>
                <a:cs typeface="Calibri" pitchFamily="34" charset="-120"/>
              </a:rPr>
              <a:t>Tổ chức thi, kiểm tra và cấp chứng chỉ theo quy định</a:t>
            </a:r>
            <a:endParaRPr lang="en-US" sz="1300" dirty="0"/>
          </a:p>
        </p:txBody>
      </p:sp>
      <p:sp>
        <p:nvSpPr>
          <p:cNvPr id="40" name="Shape 33"/>
          <p:cNvSpPr/>
          <p:nvPr/>
        </p:nvSpPr>
        <p:spPr>
          <a:xfrm>
            <a:off x="9944100" y="2560320"/>
            <a:ext cx="1696212" cy="2788920"/>
          </a:xfrm>
          <a:prstGeom prst="roundRect">
            <a:avLst>
              <a:gd name="adj" fmla="val 8625"/>
            </a:avLst>
          </a:prstGeom>
          <a:solidFill>
            <a:srgbClr val="FFFFFF"/>
          </a:solidFill>
          <a:ln/>
          <a:effectLst>
            <a:outerShdw blurRad="152400" dist="38100" dir="5400000" algn="bl" rotWithShape="0">
              <a:srgbClr val="0A2E1C">
                <a:alpha val="16000"/>
              </a:srgbClr>
            </a:outerShdw>
          </a:effectLst>
        </p:spPr>
      </p:sp>
      <p:sp>
        <p:nvSpPr>
          <p:cNvPr id="41" name="Shape 34"/>
          <p:cNvSpPr/>
          <p:nvPr/>
        </p:nvSpPr>
        <p:spPr>
          <a:xfrm>
            <a:off x="10357866" y="2075688"/>
            <a:ext cx="868680" cy="868680"/>
          </a:xfrm>
          <a:prstGeom prst="ellipse">
            <a:avLst/>
          </a:prstGeom>
          <a:solidFill>
            <a:srgbClr val="A8D84E"/>
          </a:solidFill>
          <a:ln w="38100">
            <a:solidFill>
              <a:srgbClr val="FFFFFF"/>
            </a:solidFill>
            <a:prstDash val="solid"/>
          </a:ln>
        </p:spPr>
      </p:sp>
      <p:pic>
        <p:nvPicPr>
          <p:cNvPr id="42" name="Image 5" descr="preencoded.png"/>
          <p:cNvPicPr>
            <a:picLocks noChangeAspect="1"/>
          </p:cNvPicPr>
          <p:nvPr/>
        </p:nvPicPr>
        <p:blipFill>
          <a:blip r:embed="rId8"/>
          <a:stretch>
            <a:fillRect/>
          </a:stretch>
        </p:blipFill>
        <p:spPr>
          <a:xfrm>
            <a:off x="10566349" y="2284171"/>
            <a:ext cx="451714" cy="451714"/>
          </a:xfrm>
          <a:prstGeom prst="rect">
            <a:avLst/>
          </a:prstGeom>
        </p:spPr>
      </p:pic>
      <p:sp>
        <p:nvSpPr>
          <p:cNvPr id="43" name="Text 35"/>
          <p:cNvSpPr txBox="1"/>
          <p:nvPr/>
        </p:nvSpPr>
        <p:spPr>
          <a:xfrm>
            <a:off x="9944100" y="3044952"/>
            <a:ext cx="1696212" cy="274320"/>
          </a:xfrm>
          <a:prstGeom prst="rect">
            <a:avLst/>
          </a:prstGeom>
          <a:noFill/>
          <a:ln/>
        </p:spPr>
        <p:txBody>
          <a:bodyPr wrap="square" lIns="0" tIns="0" rIns="0" bIns="0" rtlCol="0" anchor="t"/>
          <a:lstStyle/>
          <a:p>
            <a:pPr marL="0" indent="0" algn="ctr">
              <a:buNone/>
            </a:pPr>
            <a:r>
              <a:rPr lang="en-US" sz="1000" b="1" kern="0" spc="200" dirty="0">
                <a:solidFill>
                  <a:srgbClr val="3DB54A"/>
                </a:solidFill>
                <a:latin typeface="Arial" pitchFamily="34" charset="0"/>
                <a:ea typeface="Arial" pitchFamily="34" charset="-122"/>
                <a:cs typeface="Arial" pitchFamily="34" charset="-120"/>
              </a:rPr>
              <a:t>BƯỚC 6</a:t>
            </a:r>
            <a:endParaRPr lang="en-US" sz="1000" dirty="0"/>
          </a:p>
        </p:txBody>
      </p:sp>
      <p:sp>
        <p:nvSpPr>
          <p:cNvPr id="44" name="Text 36"/>
          <p:cNvSpPr txBox="1"/>
          <p:nvPr/>
        </p:nvSpPr>
        <p:spPr>
          <a:xfrm>
            <a:off x="10053828" y="3337560"/>
            <a:ext cx="1476756" cy="566928"/>
          </a:xfrm>
          <a:prstGeom prst="rect">
            <a:avLst/>
          </a:prstGeom>
          <a:noFill/>
          <a:ln/>
        </p:spPr>
        <p:txBody>
          <a:bodyPr wrap="square" lIns="0" tIns="0" rIns="0" bIns="0" rtlCol="0" anchor="ctr"/>
          <a:lstStyle/>
          <a:p>
            <a:pPr marL="0" indent="0" algn="ctr">
              <a:buNone/>
            </a:pPr>
            <a:r>
              <a:rPr lang="en-US" sz="1250" b="1" dirty="0">
                <a:solidFill>
                  <a:srgbClr val="17261D"/>
                </a:solidFill>
                <a:latin typeface="Arial" pitchFamily="34" charset="0"/>
                <a:ea typeface="Arial" pitchFamily="34" charset="-122"/>
                <a:cs typeface="Arial" pitchFamily="34" charset="-120"/>
              </a:rPr>
              <a:t>ĐỒNG HÀNH CẢI TIẾN</a:t>
            </a:r>
            <a:endParaRPr lang="en-US" sz="1250" dirty="0"/>
          </a:p>
        </p:txBody>
      </p:sp>
      <p:sp>
        <p:nvSpPr>
          <p:cNvPr id="45" name="Text 37"/>
          <p:cNvSpPr txBox="1"/>
          <p:nvPr/>
        </p:nvSpPr>
        <p:spPr>
          <a:xfrm>
            <a:off x="10081260" y="3977640"/>
            <a:ext cx="1421892" cy="1280160"/>
          </a:xfrm>
          <a:prstGeom prst="rect">
            <a:avLst/>
          </a:prstGeom>
          <a:noFill/>
          <a:ln/>
        </p:spPr>
        <p:txBody>
          <a:bodyPr wrap="square" lIns="0" tIns="0" rIns="0" bIns="0" rtlCol="0" anchor="t"/>
          <a:lstStyle/>
          <a:p>
            <a:pPr marL="0" indent="0" algn="ctr">
              <a:buNone/>
            </a:pPr>
            <a:r>
              <a:rPr lang="en-US" sz="1300" dirty="0">
                <a:solidFill>
                  <a:srgbClr val="3C4A42"/>
                </a:solidFill>
                <a:latin typeface="Calibri" pitchFamily="34" charset="0"/>
                <a:ea typeface="Calibri" pitchFamily="34" charset="-122"/>
                <a:cs typeface="Calibri" pitchFamily="34" charset="-120"/>
              </a:rPr>
              <a:t>Hỗ trợ kỹ thuật, tái đào tạo định kỳ, đánh giá &amp; cải tiến liên tục</a:t>
            </a:r>
            <a:endParaRPr lang="en-US" sz="1300" dirty="0"/>
          </a:p>
        </p:txBody>
      </p:sp>
      <p:sp>
        <p:nvSpPr>
          <p:cNvPr id="46" name="Shape 38"/>
          <p:cNvSpPr/>
          <p:nvPr/>
        </p:nvSpPr>
        <p:spPr>
          <a:xfrm>
            <a:off x="2441448" y="5669280"/>
            <a:ext cx="7315200" cy="566928"/>
          </a:xfrm>
          <a:prstGeom prst="roundRect">
            <a:avLst>
              <a:gd name="adj" fmla="val 50000"/>
            </a:avLst>
          </a:prstGeom>
          <a:solidFill>
            <a:srgbClr val="0A2E1C"/>
          </a:solidFill>
          <a:ln/>
        </p:spPr>
      </p:sp>
      <p:sp>
        <p:nvSpPr>
          <p:cNvPr id="47" name="Text 39"/>
          <p:cNvSpPr txBox="1"/>
          <p:nvPr/>
        </p:nvSpPr>
        <p:spPr>
          <a:xfrm>
            <a:off x="2441448" y="5669280"/>
            <a:ext cx="7315200" cy="566928"/>
          </a:xfrm>
          <a:prstGeom prst="rect">
            <a:avLst/>
          </a:prstGeom>
          <a:noFill/>
          <a:ln/>
        </p:spPr>
        <p:txBody>
          <a:bodyPr wrap="square" lIns="0" tIns="0" rIns="0" bIns="0" rtlCol="0" anchor="ctr"/>
          <a:lstStyle/>
          <a:p>
            <a:pPr marL="0" indent="0" algn="ctr">
              <a:buNone/>
            </a:pPr>
            <a:r>
              <a:rPr lang="en-US" sz="1500" b="1" kern="0" spc="150" dirty="0">
                <a:solidFill>
                  <a:srgbClr val="A8D84E"/>
                </a:solidFill>
                <a:latin typeface="Arial" pitchFamily="34" charset="0"/>
                <a:ea typeface="Arial" pitchFamily="34" charset="-122"/>
                <a:cs typeface="Arial" pitchFamily="34" charset="-120"/>
              </a:rPr>
              <a:t>ĐÀO TẠO ĐÚNG  –  QUẢN LÝ ĐÚNG  –  AN TOÀN BỀN VỮNG</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 · CÁC NHÓM ĐỐI TƯỢNG HUẤN LUYỆN</a:t>
            </a:r>
            <a:endParaRPr lang="en-US" sz="1050" dirty="0"/>
          </a:p>
        </p:txBody>
      </p:sp>
      <p:sp>
        <p:nvSpPr>
          <p:cNvPr id="4" name="Text 2"/>
          <p:cNvSpPr txBox="1"/>
          <p:nvPr/>
        </p:nvSpPr>
        <p:spPr>
          <a:xfrm>
            <a:off x="548640" y="676656"/>
            <a:ext cx="731520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6 NHÓM HUẤN LUYỆN ATVSLĐ</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13</a:t>
            </a:r>
            <a:endParaRPr lang="en-US" sz="900" dirty="0"/>
          </a:p>
        </p:txBody>
      </p:sp>
      <p:sp>
        <p:nvSpPr>
          <p:cNvPr id="8" name="Shape 6"/>
          <p:cNvSpPr/>
          <p:nvPr/>
        </p:nvSpPr>
        <p:spPr>
          <a:xfrm>
            <a:off x="9326880" y="731520"/>
            <a:ext cx="310896" cy="310896"/>
          </a:xfrm>
          <a:prstGeom prst="ellipse">
            <a:avLst/>
          </a:prstGeom>
          <a:solidFill>
            <a:srgbClr val="1E8C45"/>
          </a:solidFill>
          <a:ln/>
        </p:spPr>
      </p:sp>
      <p:sp>
        <p:nvSpPr>
          <p:cNvPr id="9" name="Text 7"/>
          <p:cNvSpPr txBox="1"/>
          <p:nvPr/>
        </p:nvSpPr>
        <p:spPr>
          <a:xfrm>
            <a:off x="9326880" y="731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Shape 8"/>
          <p:cNvSpPr/>
          <p:nvPr/>
        </p:nvSpPr>
        <p:spPr>
          <a:xfrm>
            <a:off x="9720072" y="731520"/>
            <a:ext cx="310896" cy="310896"/>
          </a:xfrm>
          <a:prstGeom prst="ellipse">
            <a:avLst/>
          </a:prstGeom>
          <a:solidFill>
            <a:srgbClr val="1E8C45"/>
          </a:solidFill>
          <a:ln/>
        </p:spPr>
      </p:sp>
      <p:sp>
        <p:nvSpPr>
          <p:cNvPr id="11" name="Text 9"/>
          <p:cNvSpPr txBox="1"/>
          <p:nvPr/>
        </p:nvSpPr>
        <p:spPr>
          <a:xfrm>
            <a:off x="9720072" y="731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2" name="Shape 10"/>
          <p:cNvSpPr/>
          <p:nvPr/>
        </p:nvSpPr>
        <p:spPr>
          <a:xfrm>
            <a:off x="10113264" y="731520"/>
            <a:ext cx="310896" cy="310896"/>
          </a:xfrm>
          <a:prstGeom prst="ellipse">
            <a:avLst/>
          </a:prstGeom>
          <a:solidFill>
            <a:srgbClr val="EEF6EF"/>
          </a:solidFill>
          <a:ln/>
        </p:spPr>
      </p:sp>
      <p:sp>
        <p:nvSpPr>
          <p:cNvPr id="13" name="Text 11"/>
          <p:cNvSpPr txBox="1"/>
          <p:nvPr/>
        </p:nvSpPr>
        <p:spPr>
          <a:xfrm>
            <a:off x="10113264"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3</a:t>
            </a:r>
            <a:endParaRPr lang="en-US" sz="1100" dirty="0"/>
          </a:p>
        </p:txBody>
      </p:sp>
      <p:sp>
        <p:nvSpPr>
          <p:cNvPr id="14" name="Shape 12"/>
          <p:cNvSpPr/>
          <p:nvPr/>
        </p:nvSpPr>
        <p:spPr>
          <a:xfrm>
            <a:off x="10506456" y="731520"/>
            <a:ext cx="310896" cy="310896"/>
          </a:xfrm>
          <a:prstGeom prst="ellipse">
            <a:avLst/>
          </a:prstGeom>
          <a:solidFill>
            <a:srgbClr val="EEF6EF"/>
          </a:solidFill>
          <a:ln/>
        </p:spPr>
      </p:sp>
      <p:sp>
        <p:nvSpPr>
          <p:cNvPr id="15" name="Text 13"/>
          <p:cNvSpPr txBox="1"/>
          <p:nvPr/>
        </p:nvSpPr>
        <p:spPr>
          <a:xfrm>
            <a:off x="10506456"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4</a:t>
            </a:r>
            <a:endParaRPr lang="en-US" sz="1100" dirty="0"/>
          </a:p>
        </p:txBody>
      </p:sp>
      <p:sp>
        <p:nvSpPr>
          <p:cNvPr id="16" name="Shape 14"/>
          <p:cNvSpPr/>
          <p:nvPr/>
        </p:nvSpPr>
        <p:spPr>
          <a:xfrm>
            <a:off x="10899648" y="731520"/>
            <a:ext cx="310896" cy="310896"/>
          </a:xfrm>
          <a:prstGeom prst="ellipse">
            <a:avLst/>
          </a:prstGeom>
          <a:solidFill>
            <a:srgbClr val="EEF6EF"/>
          </a:solidFill>
          <a:ln/>
        </p:spPr>
      </p:sp>
      <p:sp>
        <p:nvSpPr>
          <p:cNvPr id="17" name="Text 15"/>
          <p:cNvSpPr txBox="1"/>
          <p:nvPr/>
        </p:nvSpPr>
        <p:spPr>
          <a:xfrm>
            <a:off x="10899648"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5</a:t>
            </a:r>
            <a:endParaRPr lang="en-US" sz="1100" dirty="0"/>
          </a:p>
        </p:txBody>
      </p:sp>
      <p:sp>
        <p:nvSpPr>
          <p:cNvPr id="18" name="Shape 16"/>
          <p:cNvSpPr/>
          <p:nvPr/>
        </p:nvSpPr>
        <p:spPr>
          <a:xfrm>
            <a:off x="11292840" y="731520"/>
            <a:ext cx="310896" cy="310896"/>
          </a:xfrm>
          <a:prstGeom prst="ellipse">
            <a:avLst/>
          </a:prstGeom>
          <a:solidFill>
            <a:srgbClr val="EEF6EF"/>
          </a:solidFill>
          <a:ln/>
        </p:spPr>
      </p:sp>
      <p:sp>
        <p:nvSpPr>
          <p:cNvPr id="19" name="Text 17"/>
          <p:cNvSpPr txBox="1"/>
          <p:nvPr/>
        </p:nvSpPr>
        <p:spPr>
          <a:xfrm>
            <a:off x="11292840"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6</a:t>
            </a:r>
            <a:endParaRPr lang="en-US" sz="1100" dirty="0"/>
          </a:p>
        </p:txBody>
      </p:sp>
      <p:sp>
        <p:nvSpPr>
          <p:cNvPr id="20" name="Text 18"/>
          <p:cNvSpPr txBox="1"/>
          <p:nvPr/>
        </p:nvSpPr>
        <p:spPr>
          <a:xfrm>
            <a:off x="8641080" y="731520"/>
            <a:ext cx="640080" cy="310896"/>
          </a:xfrm>
          <a:prstGeom prst="rect">
            <a:avLst/>
          </a:prstGeom>
          <a:noFill/>
          <a:ln/>
        </p:spPr>
        <p:txBody>
          <a:bodyPr wrap="square" lIns="0" tIns="0" rIns="0" bIns="0" rtlCol="0" anchor="ctr"/>
          <a:lstStyle/>
          <a:p>
            <a:pPr marL="0" indent="0">
              <a:buNone/>
            </a:pPr>
            <a:r>
              <a:rPr lang="en-US" sz="900" b="1" kern="0" spc="150" dirty="0">
                <a:solidFill>
                  <a:srgbClr val="7A877F"/>
                </a:solidFill>
                <a:latin typeface="Arial" pitchFamily="34" charset="0"/>
                <a:ea typeface="Arial" pitchFamily="34" charset="-122"/>
                <a:cs typeface="Arial" pitchFamily="34" charset="-120"/>
              </a:rPr>
              <a:t>NHÓM</a:t>
            </a:r>
            <a:endParaRPr lang="en-US" sz="900" dirty="0"/>
          </a:p>
        </p:txBody>
      </p:sp>
      <p:pic>
        <p:nvPicPr>
          <p:cNvPr id="21" name="Image 0" descr="preencoded.png"/>
          <p:cNvPicPr>
            <a:picLocks noChangeAspect="1"/>
          </p:cNvPicPr>
          <p:nvPr/>
        </p:nvPicPr>
        <p:blipFill>
          <a:blip r:embed="rId3"/>
          <a:stretch>
            <a:fillRect/>
          </a:stretch>
        </p:blipFill>
        <p:spPr>
          <a:xfrm>
            <a:off x="548640" y="1371600"/>
            <a:ext cx="2633472" cy="1691640"/>
          </a:xfrm>
          <a:prstGeom prst="rect">
            <a:avLst/>
          </a:prstGeom>
        </p:spPr>
      </p:pic>
      <p:pic>
        <p:nvPicPr>
          <p:cNvPr id="22" name="Image 1" descr="preencoded.png"/>
          <p:cNvPicPr>
            <a:picLocks noChangeAspect="1"/>
          </p:cNvPicPr>
          <p:nvPr/>
        </p:nvPicPr>
        <p:blipFill>
          <a:blip r:embed="rId4"/>
          <a:stretch>
            <a:fillRect/>
          </a:stretch>
        </p:blipFill>
        <p:spPr>
          <a:xfrm>
            <a:off x="3291840" y="1371600"/>
            <a:ext cx="2633472" cy="1691640"/>
          </a:xfrm>
          <a:prstGeom prst="rect">
            <a:avLst/>
          </a:prstGeom>
        </p:spPr>
      </p:pic>
      <p:sp>
        <p:nvSpPr>
          <p:cNvPr id="23" name="Shape 19"/>
          <p:cNvSpPr/>
          <p:nvPr/>
        </p:nvSpPr>
        <p:spPr>
          <a:xfrm>
            <a:off x="685800" y="1508760"/>
            <a:ext cx="1005840" cy="347472"/>
          </a:xfrm>
          <a:prstGeom prst="roundRect">
            <a:avLst>
              <a:gd name="adj" fmla="val 50000"/>
            </a:avLst>
          </a:prstGeom>
          <a:solidFill>
            <a:srgbClr val="1E8C45"/>
          </a:solidFill>
          <a:ln w="19050">
            <a:solidFill>
              <a:srgbClr val="FFFFFF"/>
            </a:solidFill>
            <a:prstDash val="solid"/>
          </a:ln>
        </p:spPr>
      </p:sp>
      <p:sp>
        <p:nvSpPr>
          <p:cNvPr id="24" name="Text 20"/>
          <p:cNvSpPr txBox="1"/>
          <p:nvPr/>
        </p:nvSpPr>
        <p:spPr>
          <a:xfrm>
            <a:off x="685800" y="1508760"/>
            <a:ext cx="100584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NHÓM 1</a:t>
            </a:r>
            <a:endParaRPr lang="en-US" sz="1150" dirty="0"/>
          </a:p>
        </p:txBody>
      </p:sp>
      <p:sp>
        <p:nvSpPr>
          <p:cNvPr id="25" name="Text 21"/>
          <p:cNvSpPr txBox="1"/>
          <p:nvPr/>
        </p:nvSpPr>
        <p:spPr>
          <a:xfrm>
            <a:off x="548640" y="3200400"/>
            <a:ext cx="5376672" cy="566928"/>
          </a:xfrm>
          <a:prstGeom prst="rect">
            <a:avLst/>
          </a:prstGeom>
          <a:noFill/>
          <a:ln/>
        </p:spPr>
        <p:txBody>
          <a:bodyPr wrap="square" lIns="0" tIns="0" rIns="0" bIns="0" rtlCol="0" anchor="ctr"/>
          <a:lstStyle/>
          <a:p>
            <a:pPr marL="0" indent="0">
              <a:buNone/>
            </a:pPr>
            <a:r>
              <a:rPr lang="en-US" sz="1600" b="1" dirty="0">
                <a:solidFill>
                  <a:srgbClr val="17261D"/>
                </a:solidFill>
                <a:latin typeface="Arial" pitchFamily="34" charset="0"/>
                <a:ea typeface="Arial" pitchFamily="34" charset="-122"/>
                <a:cs typeface="Arial" pitchFamily="34" charset="-120"/>
              </a:rPr>
              <a:t>Người quản lý, chỉ huy sản xuất</a:t>
            </a:r>
            <a:endParaRPr lang="en-US" sz="1600" dirty="0"/>
          </a:p>
        </p:txBody>
      </p:sp>
      <p:sp>
        <p:nvSpPr>
          <p:cNvPr id="26" name="Text 22"/>
          <p:cNvSpPr txBox="1"/>
          <p:nvPr/>
        </p:nvSpPr>
        <p:spPr>
          <a:xfrm>
            <a:off x="548640" y="3776472"/>
            <a:ext cx="5376672" cy="256032"/>
          </a:xfrm>
          <a:prstGeom prst="rect">
            <a:avLst/>
          </a:prstGeom>
          <a:noFill/>
          <a:ln/>
        </p:spPr>
        <p:txBody>
          <a:bodyPr wrap="square" lIns="0" tIns="0" rIns="0" bIns="0" rtlCol="0" anchor="t"/>
          <a:lstStyle/>
          <a:p>
            <a:pPr marL="0" indent="0">
              <a:buNone/>
            </a:pPr>
            <a:r>
              <a:rPr lang="en-US" sz="1150" i="1" dirty="0">
                <a:solidFill>
                  <a:srgbClr val="7A877F"/>
                </a:solidFill>
                <a:latin typeface="Calibri" pitchFamily="34" charset="0"/>
                <a:ea typeface="Calibri" pitchFamily="34" charset="-122"/>
                <a:cs typeface="Calibri" pitchFamily="34" charset="-120"/>
              </a:rPr>
              <a:t>Theo khoản 5, Điều 1, Nghị định 140/2018/NĐ-CP</a:t>
            </a:r>
            <a:endParaRPr lang="en-US" sz="1150" dirty="0"/>
          </a:p>
        </p:txBody>
      </p:sp>
      <p:sp>
        <p:nvSpPr>
          <p:cNvPr id="27" name="Text 23"/>
          <p:cNvSpPr txBox="1"/>
          <p:nvPr/>
        </p:nvSpPr>
        <p:spPr>
          <a:xfrm>
            <a:off x="548640" y="4114800"/>
            <a:ext cx="5376672" cy="228600"/>
          </a:xfrm>
          <a:prstGeom prst="rect">
            <a:avLst/>
          </a:prstGeom>
          <a:noFill/>
          <a:ln/>
        </p:spPr>
        <p:txBody>
          <a:bodyPr wrap="square" lIns="0" tIns="0" rIns="0" bIns="0" rtlCol="0" anchor="t"/>
          <a:lstStyle/>
          <a:p>
            <a:pPr marL="0" indent="0">
              <a:buNone/>
            </a:pPr>
            <a:r>
              <a:rPr lang="en-US" sz="900" b="1" kern="0" spc="200" dirty="0">
                <a:solidFill>
                  <a:srgbClr val="1E8C45"/>
                </a:solidFill>
                <a:latin typeface="Arial" pitchFamily="34" charset="0"/>
                <a:ea typeface="Arial" pitchFamily="34" charset="-122"/>
                <a:cs typeface="Arial" pitchFamily="34" charset="-120"/>
              </a:rPr>
              <a:t>ĐỐI TƯỢNG</a:t>
            </a:r>
            <a:endParaRPr lang="en-US" sz="900" dirty="0"/>
          </a:p>
        </p:txBody>
      </p:sp>
      <p:sp>
        <p:nvSpPr>
          <p:cNvPr id="28" name="Text 24"/>
          <p:cNvSpPr txBox="1"/>
          <p:nvPr/>
        </p:nvSpPr>
        <p:spPr>
          <a:xfrm>
            <a:off x="548640" y="4370832"/>
            <a:ext cx="5376672" cy="1097280"/>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Người đứng đầu đơn vị, cơ sở sản xuất, kinh doanh và phòng, ban, chi nhánh trực thuộc</a:t>
            </a:r>
            <a:endParaRPr lang="en-US" sz="1250" dirty="0"/>
          </a:p>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Phụ trách bộ phận sản xuất, kinh doanh, kỹ thuật; quản đốc phân xưởng hoặc tương đương</a:t>
            </a:r>
            <a:endParaRPr lang="en-US" sz="1250" dirty="0"/>
          </a:p>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Cấp phó của người đứng đầu được giao phụ trách công tác ATVSLĐ</a:t>
            </a:r>
            <a:endParaRPr lang="en-US" sz="1250" dirty="0"/>
          </a:p>
        </p:txBody>
      </p:sp>
      <p:sp>
        <p:nvSpPr>
          <p:cNvPr id="29" name="Shape 25"/>
          <p:cNvSpPr/>
          <p:nvPr/>
        </p:nvSpPr>
        <p:spPr>
          <a:xfrm>
            <a:off x="548640" y="5532120"/>
            <a:ext cx="5376672" cy="841248"/>
          </a:xfrm>
          <a:prstGeom prst="roundRect">
            <a:avLst>
              <a:gd name="adj" fmla="val 13043"/>
            </a:avLst>
          </a:prstGeom>
          <a:solidFill>
            <a:srgbClr val="EEF6EF"/>
          </a:solidFill>
          <a:ln/>
        </p:spPr>
      </p:sp>
      <p:sp>
        <p:nvSpPr>
          <p:cNvPr id="30" name="Text 26"/>
          <p:cNvSpPr txBox="1"/>
          <p:nvPr/>
        </p:nvSpPr>
        <p:spPr>
          <a:xfrm>
            <a:off x="731520" y="5577840"/>
            <a:ext cx="5056632" cy="749808"/>
          </a:xfrm>
          <a:prstGeom prst="rect">
            <a:avLst/>
          </a:prstGeom>
          <a:noFill/>
          <a:ln/>
        </p:spPr>
        <p:txBody>
          <a:bodyPr wrap="square" lIns="0" tIns="0" rIns="0" bIns="0" rtlCol="0" anchor="ctr"/>
          <a:lstStyle/>
          <a:p>
            <a:pPr marL="0" indent="0">
              <a:buNone/>
            </a:pPr>
            <a:r>
              <a:rPr lang="en-US" sz="1200" b="1" dirty="0">
                <a:solidFill>
                  <a:srgbClr val="1E8C45"/>
                </a:solidFill>
                <a:latin typeface="Calibri" pitchFamily="34" charset="0"/>
                <a:ea typeface="Calibri" pitchFamily="34" charset="-122"/>
                <a:cs typeface="Calibri" pitchFamily="34" charset="-120"/>
              </a:rPr>
              <a:t>Trọng tâm &amp; giá trị: </a:t>
            </a:r>
            <a:r>
              <a:rPr lang="en-US" sz="1200" dirty="0">
                <a:solidFill>
                  <a:srgbClr val="17261D"/>
                </a:solidFill>
                <a:latin typeface="Calibri" pitchFamily="34" charset="0"/>
                <a:ea typeface="Calibri" pitchFamily="34" charset="-122"/>
                <a:cs typeface="Calibri" pitchFamily="34" charset="-120"/>
              </a:rPr>
              <a:t>Không chỉ cung cấp kiến thức pháp lý mà còn đồng hành chuẩn hóa hệ thống quản lý ATLĐ, bảo vệ người lao động, nâng cao hiệu quả sản xuất.</a:t>
            </a:r>
            <a:endParaRPr lang="en-US" sz="1200" dirty="0"/>
          </a:p>
        </p:txBody>
      </p:sp>
      <p:pic>
        <p:nvPicPr>
          <p:cNvPr id="31" name="Image 2" descr="preencoded.png"/>
          <p:cNvPicPr>
            <a:picLocks noChangeAspect="1"/>
          </p:cNvPicPr>
          <p:nvPr/>
        </p:nvPicPr>
        <p:blipFill>
          <a:blip r:embed="rId5"/>
          <a:stretch>
            <a:fillRect/>
          </a:stretch>
        </p:blipFill>
        <p:spPr>
          <a:xfrm>
            <a:off x="6263640" y="1371600"/>
            <a:ext cx="2633472" cy="1691640"/>
          </a:xfrm>
          <a:prstGeom prst="rect">
            <a:avLst/>
          </a:prstGeom>
        </p:spPr>
      </p:pic>
      <p:pic>
        <p:nvPicPr>
          <p:cNvPr id="32" name="Image 3" descr="preencoded.png"/>
          <p:cNvPicPr>
            <a:picLocks noChangeAspect="1"/>
          </p:cNvPicPr>
          <p:nvPr/>
        </p:nvPicPr>
        <p:blipFill>
          <a:blip r:embed="rId6"/>
          <a:stretch>
            <a:fillRect/>
          </a:stretch>
        </p:blipFill>
        <p:spPr>
          <a:xfrm>
            <a:off x="9006840" y="1371600"/>
            <a:ext cx="2633472" cy="1691640"/>
          </a:xfrm>
          <a:prstGeom prst="rect">
            <a:avLst/>
          </a:prstGeom>
        </p:spPr>
      </p:pic>
      <p:sp>
        <p:nvSpPr>
          <p:cNvPr id="33" name="Shape 27"/>
          <p:cNvSpPr/>
          <p:nvPr/>
        </p:nvSpPr>
        <p:spPr>
          <a:xfrm>
            <a:off x="6400800" y="1508760"/>
            <a:ext cx="1005840" cy="347472"/>
          </a:xfrm>
          <a:prstGeom prst="roundRect">
            <a:avLst>
              <a:gd name="adj" fmla="val 50000"/>
            </a:avLst>
          </a:prstGeom>
          <a:solidFill>
            <a:srgbClr val="1E8C45"/>
          </a:solidFill>
          <a:ln w="19050">
            <a:solidFill>
              <a:srgbClr val="FFFFFF"/>
            </a:solidFill>
            <a:prstDash val="solid"/>
          </a:ln>
        </p:spPr>
      </p:sp>
      <p:sp>
        <p:nvSpPr>
          <p:cNvPr id="34" name="Text 28"/>
          <p:cNvSpPr txBox="1"/>
          <p:nvPr/>
        </p:nvSpPr>
        <p:spPr>
          <a:xfrm>
            <a:off x="6400800" y="1508760"/>
            <a:ext cx="100584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NHÓM 2</a:t>
            </a:r>
            <a:endParaRPr lang="en-US" sz="1150" dirty="0"/>
          </a:p>
        </p:txBody>
      </p:sp>
      <p:sp>
        <p:nvSpPr>
          <p:cNvPr id="35" name="Text 29"/>
          <p:cNvSpPr txBox="1"/>
          <p:nvPr/>
        </p:nvSpPr>
        <p:spPr>
          <a:xfrm>
            <a:off x="6263640" y="3200400"/>
            <a:ext cx="5376672" cy="566928"/>
          </a:xfrm>
          <a:prstGeom prst="rect">
            <a:avLst/>
          </a:prstGeom>
          <a:noFill/>
          <a:ln/>
        </p:spPr>
        <p:txBody>
          <a:bodyPr wrap="square" lIns="0" tIns="0" rIns="0" bIns="0" rtlCol="0" anchor="ctr"/>
          <a:lstStyle/>
          <a:p>
            <a:pPr marL="0" indent="0">
              <a:buNone/>
            </a:pPr>
            <a:r>
              <a:rPr lang="en-US" sz="1600" b="1" dirty="0">
                <a:solidFill>
                  <a:srgbClr val="17261D"/>
                </a:solidFill>
                <a:latin typeface="Arial" pitchFamily="34" charset="0"/>
                <a:ea typeface="Arial" pitchFamily="34" charset="-122"/>
                <a:cs typeface="Arial" pitchFamily="34" charset="-120"/>
              </a:rPr>
              <a:t>Người làm công tác an toàn, vệ sinh lao động</a:t>
            </a:r>
            <a:endParaRPr lang="en-US" sz="1600" dirty="0"/>
          </a:p>
        </p:txBody>
      </p:sp>
      <p:sp>
        <p:nvSpPr>
          <p:cNvPr id="36" name="Text 30"/>
          <p:cNvSpPr txBox="1"/>
          <p:nvPr/>
        </p:nvSpPr>
        <p:spPr>
          <a:xfrm>
            <a:off x="6263640" y="3776472"/>
            <a:ext cx="5376672" cy="256032"/>
          </a:xfrm>
          <a:prstGeom prst="rect">
            <a:avLst/>
          </a:prstGeom>
          <a:noFill/>
          <a:ln/>
        </p:spPr>
        <p:txBody>
          <a:bodyPr wrap="square" lIns="0" tIns="0" rIns="0" bIns="0" rtlCol="0" anchor="t"/>
          <a:lstStyle/>
          <a:p>
            <a:pPr marL="0" indent="0">
              <a:buNone/>
            </a:pPr>
            <a:r>
              <a:rPr lang="en-US" sz="1150" i="1" dirty="0">
                <a:solidFill>
                  <a:srgbClr val="7A877F"/>
                </a:solidFill>
                <a:latin typeface="Calibri" pitchFamily="34" charset="0"/>
                <a:ea typeface="Calibri" pitchFamily="34" charset="-122"/>
                <a:cs typeface="Calibri" pitchFamily="34" charset="-120"/>
              </a:rPr>
              <a:t>Theo khoản 5, Điều 1, Nghị định 140/2018/NĐ-CP</a:t>
            </a:r>
            <a:endParaRPr lang="en-US" sz="1150" dirty="0"/>
          </a:p>
        </p:txBody>
      </p:sp>
      <p:sp>
        <p:nvSpPr>
          <p:cNvPr id="37" name="Text 31"/>
          <p:cNvSpPr txBox="1"/>
          <p:nvPr/>
        </p:nvSpPr>
        <p:spPr>
          <a:xfrm>
            <a:off x="6263640" y="4114800"/>
            <a:ext cx="5376672" cy="228600"/>
          </a:xfrm>
          <a:prstGeom prst="rect">
            <a:avLst/>
          </a:prstGeom>
          <a:noFill/>
          <a:ln/>
        </p:spPr>
        <p:txBody>
          <a:bodyPr wrap="square" lIns="0" tIns="0" rIns="0" bIns="0" rtlCol="0" anchor="t"/>
          <a:lstStyle/>
          <a:p>
            <a:pPr marL="0" indent="0">
              <a:buNone/>
            </a:pPr>
            <a:r>
              <a:rPr lang="en-US" sz="900" b="1" kern="0" spc="200" dirty="0">
                <a:solidFill>
                  <a:srgbClr val="1E8C45"/>
                </a:solidFill>
                <a:latin typeface="Arial" pitchFamily="34" charset="0"/>
                <a:ea typeface="Arial" pitchFamily="34" charset="-122"/>
                <a:cs typeface="Arial" pitchFamily="34" charset="-120"/>
              </a:rPr>
              <a:t>ĐỐI TƯỢNG</a:t>
            </a:r>
            <a:endParaRPr lang="en-US" sz="900" dirty="0"/>
          </a:p>
        </p:txBody>
      </p:sp>
      <p:sp>
        <p:nvSpPr>
          <p:cNvPr id="38" name="Text 32"/>
          <p:cNvSpPr txBox="1"/>
          <p:nvPr/>
        </p:nvSpPr>
        <p:spPr>
          <a:xfrm>
            <a:off x="6263640" y="4370832"/>
            <a:ext cx="5376672" cy="1097280"/>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Chuyên trách, bán chuyên trách về an toàn, vệ sinh lao động của cơ sở</a:t>
            </a:r>
            <a:endParaRPr lang="en-US" sz="1250" dirty="0"/>
          </a:p>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Người trực tiếp giám sát về an toàn, vệ sinh lao động tại nơi làm việc</a:t>
            </a:r>
            <a:endParaRPr lang="en-US" sz="1250" dirty="0"/>
          </a:p>
        </p:txBody>
      </p:sp>
      <p:sp>
        <p:nvSpPr>
          <p:cNvPr id="39" name="Shape 33"/>
          <p:cNvSpPr/>
          <p:nvPr/>
        </p:nvSpPr>
        <p:spPr>
          <a:xfrm>
            <a:off x="6263640" y="5532120"/>
            <a:ext cx="5376672" cy="841248"/>
          </a:xfrm>
          <a:prstGeom prst="roundRect">
            <a:avLst>
              <a:gd name="adj" fmla="val 13043"/>
            </a:avLst>
          </a:prstGeom>
          <a:solidFill>
            <a:srgbClr val="EEF6EF"/>
          </a:solidFill>
          <a:ln/>
        </p:spPr>
      </p:sp>
      <p:sp>
        <p:nvSpPr>
          <p:cNvPr id="40" name="Text 34"/>
          <p:cNvSpPr txBox="1"/>
          <p:nvPr/>
        </p:nvSpPr>
        <p:spPr>
          <a:xfrm>
            <a:off x="6446520" y="5577840"/>
            <a:ext cx="5056632" cy="749808"/>
          </a:xfrm>
          <a:prstGeom prst="rect">
            <a:avLst/>
          </a:prstGeom>
          <a:noFill/>
          <a:ln/>
        </p:spPr>
        <p:txBody>
          <a:bodyPr wrap="square" lIns="0" tIns="0" rIns="0" bIns="0" rtlCol="0" anchor="ctr"/>
          <a:lstStyle/>
          <a:p>
            <a:pPr marL="0" indent="0">
              <a:buNone/>
            </a:pPr>
            <a:r>
              <a:rPr lang="en-US" sz="1200" b="1" dirty="0">
                <a:solidFill>
                  <a:srgbClr val="1E8C45"/>
                </a:solidFill>
                <a:latin typeface="Calibri" pitchFamily="34" charset="0"/>
                <a:ea typeface="Calibri" pitchFamily="34" charset="-122"/>
                <a:cs typeface="Calibri" pitchFamily="34" charset="-120"/>
              </a:rPr>
              <a:t>Trọng tâm &amp; giá trị: </a:t>
            </a:r>
            <a:r>
              <a:rPr lang="en-US" sz="1200" dirty="0">
                <a:solidFill>
                  <a:srgbClr val="17261D"/>
                </a:solidFill>
                <a:latin typeface="Calibri" pitchFamily="34" charset="0"/>
                <a:ea typeface="Calibri" pitchFamily="34" charset="-122"/>
                <a:cs typeface="Calibri" pitchFamily="34" charset="-120"/>
              </a:rPr>
              <a:t>Xây dựng đội ngũ cán bộ ATLĐ vững chuyên môn, làm được việc tại hiện trường, chủ động kiểm soát rủi ro; giảm tai nạn, hạn chế rủi ro pháp lý.</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 · CÁC NHÓM ĐỐI TƯỢNG HUẤN LUYỆN</a:t>
            </a:r>
            <a:endParaRPr lang="en-US" sz="1050" dirty="0"/>
          </a:p>
        </p:txBody>
      </p:sp>
      <p:sp>
        <p:nvSpPr>
          <p:cNvPr id="4" name="Text 2"/>
          <p:cNvSpPr txBox="1"/>
          <p:nvPr/>
        </p:nvSpPr>
        <p:spPr>
          <a:xfrm>
            <a:off x="548640" y="676656"/>
            <a:ext cx="731520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6 NHÓM HUẤN LUYỆN ATVSLĐ</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14</a:t>
            </a:r>
            <a:endParaRPr lang="en-US" sz="900" dirty="0"/>
          </a:p>
        </p:txBody>
      </p:sp>
      <p:sp>
        <p:nvSpPr>
          <p:cNvPr id="8" name="Shape 6"/>
          <p:cNvSpPr/>
          <p:nvPr/>
        </p:nvSpPr>
        <p:spPr>
          <a:xfrm>
            <a:off x="9326880" y="731520"/>
            <a:ext cx="310896" cy="310896"/>
          </a:xfrm>
          <a:prstGeom prst="ellipse">
            <a:avLst/>
          </a:prstGeom>
          <a:solidFill>
            <a:srgbClr val="EEF6EF"/>
          </a:solidFill>
          <a:ln/>
        </p:spPr>
      </p:sp>
      <p:sp>
        <p:nvSpPr>
          <p:cNvPr id="9" name="Text 7"/>
          <p:cNvSpPr txBox="1"/>
          <p:nvPr/>
        </p:nvSpPr>
        <p:spPr>
          <a:xfrm>
            <a:off x="9326880"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1</a:t>
            </a:r>
            <a:endParaRPr lang="en-US" sz="1100" dirty="0"/>
          </a:p>
        </p:txBody>
      </p:sp>
      <p:sp>
        <p:nvSpPr>
          <p:cNvPr id="10" name="Shape 8"/>
          <p:cNvSpPr/>
          <p:nvPr/>
        </p:nvSpPr>
        <p:spPr>
          <a:xfrm>
            <a:off x="9720072" y="731520"/>
            <a:ext cx="310896" cy="310896"/>
          </a:xfrm>
          <a:prstGeom prst="ellipse">
            <a:avLst/>
          </a:prstGeom>
          <a:solidFill>
            <a:srgbClr val="EEF6EF"/>
          </a:solidFill>
          <a:ln/>
        </p:spPr>
      </p:sp>
      <p:sp>
        <p:nvSpPr>
          <p:cNvPr id="11" name="Text 9"/>
          <p:cNvSpPr txBox="1"/>
          <p:nvPr/>
        </p:nvSpPr>
        <p:spPr>
          <a:xfrm>
            <a:off x="9720072"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2</a:t>
            </a:r>
            <a:endParaRPr lang="en-US" sz="1100" dirty="0"/>
          </a:p>
        </p:txBody>
      </p:sp>
      <p:sp>
        <p:nvSpPr>
          <p:cNvPr id="12" name="Shape 10"/>
          <p:cNvSpPr/>
          <p:nvPr/>
        </p:nvSpPr>
        <p:spPr>
          <a:xfrm>
            <a:off x="10113264" y="731520"/>
            <a:ext cx="310896" cy="310896"/>
          </a:xfrm>
          <a:prstGeom prst="ellipse">
            <a:avLst/>
          </a:prstGeom>
          <a:solidFill>
            <a:srgbClr val="1E8C45"/>
          </a:solidFill>
          <a:ln/>
        </p:spPr>
      </p:sp>
      <p:sp>
        <p:nvSpPr>
          <p:cNvPr id="13" name="Text 11"/>
          <p:cNvSpPr txBox="1"/>
          <p:nvPr/>
        </p:nvSpPr>
        <p:spPr>
          <a:xfrm>
            <a:off x="10113264" y="731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4" name="Shape 12"/>
          <p:cNvSpPr/>
          <p:nvPr/>
        </p:nvSpPr>
        <p:spPr>
          <a:xfrm>
            <a:off x="10506456" y="731520"/>
            <a:ext cx="310896" cy="310896"/>
          </a:xfrm>
          <a:prstGeom prst="ellipse">
            <a:avLst/>
          </a:prstGeom>
          <a:solidFill>
            <a:srgbClr val="1E8C45"/>
          </a:solidFill>
          <a:ln/>
        </p:spPr>
      </p:sp>
      <p:sp>
        <p:nvSpPr>
          <p:cNvPr id="15" name="Text 13"/>
          <p:cNvSpPr txBox="1"/>
          <p:nvPr/>
        </p:nvSpPr>
        <p:spPr>
          <a:xfrm>
            <a:off x="10506456" y="731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16" name="Shape 14"/>
          <p:cNvSpPr/>
          <p:nvPr/>
        </p:nvSpPr>
        <p:spPr>
          <a:xfrm>
            <a:off x="10899648" y="731520"/>
            <a:ext cx="310896" cy="310896"/>
          </a:xfrm>
          <a:prstGeom prst="ellipse">
            <a:avLst/>
          </a:prstGeom>
          <a:solidFill>
            <a:srgbClr val="EEF6EF"/>
          </a:solidFill>
          <a:ln/>
        </p:spPr>
      </p:sp>
      <p:sp>
        <p:nvSpPr>
          <p:cNvPr id="17" name="Text 15"/>
          <p:cNvSpPr txBox="1"/>
          <p:nvPr/>
        </p:nvSpPr>
        <p:spPr>
          <a:xfrm>
            <a:off x="10899648"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5</a:t>
            </a:r>
            <a:endParaRPr lang="en-US" sz="1100" dirty="0"/>
          </a:p>
        </p:txBody>
      </p:sp>
      <p:sp>
        <p:nvSpPr>
          <p:cNvPr id="18" name="Shape 16"/>
          <p:cNvSpPr/>
          <p:nvPr/>
        </p:nvSpPr>
        <p:spPr>
          <a:xfrm>
            <a:off x="11292840" y="731520"/>
            <a:ext cx="310896" cy="310896"/>
          </a:xfrm>
          <a:prstGeom prst="ellipse">
            <a:avLst/>
          </a:prstGeom>
          <a:solidFill>
            <a:srgbClr val="EEF6EF"/>
          </a:solidFill>
          <a:ln/>
        </p:spPr>
      </p:sp>
      <p:sp>
        <p:nvSpPr>
          <p:cNvPr id="19" name="Text 17"/>
          <p:cNvSpPr txBox="1"/>
          <p:nvPr/>
        </p:nvSpPr>
        <p:spPr>
          <a:xfrm>
            <a:off x="11292840"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6</a:t>
            </a:r>
            <a:endParaRPr lang="en-US" sz="1100" dirty="0"/>
          </a:p>
        </p:txBody>
      </p:sp>
      <p:sp>
        <p:nvSpPr>
          <p:cNvPr id="20" name="Text 18"/>
          <p:cNvSpPr txBox="1"/>
          <p:nvPr/>
        </p:nvSpPr>
        <p:spPr>
          <a:xfrm>
            <a:off x="8641080" y="731520"/>
            <a:ext cx="640080" cy="310896"/>
          </a:xfrm>
          <a:prstGeom prst="rect">
            <a:avLst/>
          </a:prstGeom>
          <a:noFill/>
          <a:ln/>
        </p:spPr>
        <p:txBody>
          <a:bodyPr wrap="square" lIns="0" tIns="0" rIns="0" bIns="0" rtlCol="0" anchor="ctr"/>
          <a:lstStyle/>
          <a:p>
            <a:pPr marL="0" indent="0">
              <a:buNone/>
            </a:pPr>
            <a:r>
              <a:rPr lang="en-US" sz="900" b="1" kern="0" spc="150" dirty="0">
                <a:solidFill>
                  <a:srgbClr val="7A877F"/>
                </a:solidFill>
                <a:latin typeface="Arial" pitchFamily="34" charset="0"/>
                <a:ea typeface="Arial" pitchFamily="34" charset="-122"/>
                <a:cs typeface="Arial" pitchFamily="34" charset="-120"/>
              </a:rPr>
              <a:t>NHÓM</a:t>
            </a:r>
            <a:endParaRPr lang="en-US" sz="900" dirty="0"/>
          </a:p>
        </p:txBody>
      </p:sp>
      <p:pic>
        <p:nvPicPr>
          <p:cNvPr id="21" name="Image 0" descr="preencoded.png"/>
          <p:cNvPicPr>
            <a:picLocks noChangeAspect="1"/>
          </p:cNvPicPr>
          <p:nvPr/>
        </p:nvPicPr>
        <p:blipFill>
          <a:blip r:embed="rId3"/>
          <a:stretch>
            <a:fillRect/>
          </a:stretch>
        </p:blipFill>
        <p:spPr>
          <a:xfrm>
            <a:off x="548640" y="1371600"/>
            <a:ext cx="2633472" cy="1691640"/>
          </a:xfrm>
          <a:prstGeom prst="rect">
            <a:avLst/>
          </a:prstGeom>
        </p:spPr>
      </p:pic>
      <p:pic>
        <p:nvPicPr>
          <p:cNvPr id="22" name="Image 1" descr="preencoded.png"/>
          <p:cNvPicPr>
            <a:picLocks noChangeAspect="1"/>
          </p:cNvPicPr>
          <p:nvPr/>
        </p:nvPicPr>
        <p:blipFill>
          <a:blip r:embed="rId4"/>
          <a:stretch>
            <a:fillRect/>
          </a:stretch>
        </p:blipFill>
        <p:spPr>
          <a:xfrm>
            <a:off x="3291840" y="1371600"/>
            <a:ext cx="2633472" cy="1691640"/>
          </a:xfrm>
          <a:prstGeom prst="rect">
            <a:avLst/>
          </a:prstGeom>
        </p:spPr>
      </p:pic>
      <p:sp>
        <p:nvSpPr>
          <p:cNvPr id="23" name="Shape 19"/>
          <p:cNvSpPr/>
          <p:nvPr/>
        </p:nvSpPr>
        <p:spPr>
          <a:xfrm>
            <a:off x="685800" y="1508760"/>
            <a:ext cx="1005840" cy="347472"/>
          </a:xfrm>
          <a:prstGeom prst="roundRect">
            <a:avLst>
              <a:gd name="adj" fmla="val 50000"/>
            </a:avLst>
          </a:prstGeom>
          <a:solidFill>
            <a:srgbClr val="1E8C45"/>
          </a:solidFill>
          <a:ln w="19050">
            <a:solidFill>
              <a:srgbClr val="FFFFFF"/>
            </a:solidFill>
            <a:prstDash val="solid"/>
          </a:ln>
        </p:spPr>
      </p:sp>
      <p:sp>
        <p:nvSpPr>
          <p:cNvPr id="24" name="Text 20"/>
          <p:cNvSpPr txBox="1"/>
          <p:nvPr/>
        </p:nvSpPr>
        <p:spPr>
          <a:xfrm>
            <a:off x="685800" y="1508760"/>
            <a:ext cx="100584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NHÓM 3</a:t>
            </a:r>
            <a:endParaRPr lang="en-US" sz="1150" dirty="0"/>
          </a:p>
        </p:txBody>
      </p:sp>
      <p:sp>
        <p:nvSpPr>
          <p:cNvPr id="25" name="Text 21"/>
          <p:cNvSpPr txBox="1"/>
          <p:nvPr/>
        </p:nvSpPr>
        <p:spPr>
          <a:xfrm>
            <a:off x="548640" y="3200400"/>
            <a:ext cx="5376672" cy="566928"/>
          </a:xfrm>
          <a:prstGeom prst="rect">
            <a:avLst/>
          </a:prstGeom>
          <a:noFill/>
          <a:ln/>
        </p:spPr>
        <p:txBody>
          <a:bodyPr wrap="square" lIns="0" tIns="0" rIns="0" bIns="0" rtlCol="0" anchor="ctr"/>
          <a:lstStyle/>
          <a:p>
            <a:pPr marL="0" indent="0">
              <a:buNone/>
            </a:pPr>
            <a:r>
              <a:rPr lang="en-US" sz="1600" b="1" dirty="0">
                <a:solidFill>
                  <a:srgbClr val="17261D"/>
                </a:solidFill>
                <a:latin typeface="Arial" pitchFamily="34" charset="0"/>
                <a:ea typeface="Arial" pitchFamily="34" charset="-122"/>
                <a:cs typeface="Arial" pitchFamily="34" charset="-120"/>
              </a:rPr>
              <a:t>Người làm công việc có yêu cầu nghiêm ngặt về ATVSLĐ</a:t>
            </a:r>
            <a:endParaRPr lang="en-US" sz="1600" dirty="0"/>
          </a:p>
        </p:txBody>
      </p:sp>
      <p:sp>
        <p:nvSpPr>
          <p:cNvPr id="26" name="Text 22"/>
          <p:cNvSpPr txBox="1"/>
          <p:nvPr/>
        </p:nvSpPr>
        <p:spPr>
          <a:xfrm>
            <a:off x="548640" y="3776472"/>
            <a:ext cx="5376672" cy="256032"/>
          </a:xfrm>
          <a:prstGeom prst="rect">
            <a:avLst/>
          </a:prstGeom>
          <a:noFill/>
          <a:ln/>
        </p:spPr>
        <p:txBody>
          <a:bodyPr wrap="square" lIns="0" tIns="0" rIns="0" bIns="0" rtlCol="0" anchor="t"/>
          <a:lstStyle/>
          <a:p>
            <a:pPr marL="0" indent="0">
              <a:buNone/>
            </a:pPr>
            <a:r>
              <a:rPr lang="en-US" sz="1150" i="1" dirty="0">
                <a:solidFill>
                  <a:srgbClr val="7A877F"/>
                </a:solidFill>
                <a:latin typeface="Calibri" pitchFamily="34" charset="0"/>
                <a:ea typeface="Calibri" pitchFamily="34" charset="-122"/>
                <a:cs typeface="Calibri" pitchFamily="34" charset="-120"/>
              </a:rPr>
              <a:t>Theo khoản 5, Điều 1, Nghị định 140/2018/NĐ-CP</a:t>
            </a:r>
            <a:endParaRPr lang="en-US" sz="1150" dirty="0"/>
          </a:p>
        </p:txBody>
      </p:sp>
      <p:sp>
        <p:nvSpPr>
          <p:cNvPr id="27" name="Text 23"/>
          <p:cNvSpPr txBox="1"/>
          <p:nvPr/>
        </p:nvSpPr>
        <p:spPr>
          <a:xfrm>
            <a:off x="548640" y="4114800"/>
            <a:ext cx="5376672" cy="228600"/>
          </a:xfrm>
          <a:prstGeom prst="rect">
            <a:avLst/>
          </a:prstGeom>
          <a:noFill/>
          <a:ln/>
        </p:spPr>
        <p:txBody>
          <a:bodyPr wrap="square" lIns="0" tIns="0" rIns="0" bIns="0" rtlCol="0" anchor="t"/>
          <a:lstStyle/>
          <a:p>
            <a:pPr marL="0" indent="0">
              <a:buNone/>
            </a:pPr>
            <a:r>
              <a:rPr lang="en-US" sz="900" b="1" kern="0" spc="200" dirty="0">
                <a:solidFill>
                  <a:srgbClr val="1E8C45"/>
                </a:solidFill>
                <a:latin typeface="Arial" pitchFamily="34" charset="0"/>
                <a:ea typeface="Arial" pitchFamily="34" charset="-122"/>
                <a:cs typeface="Arial" pitchFamily="34" charset="-120"/>
              </a:rPr>
              <a:t>ĐỐI TƯỢNG</a:t>
            </a:r>
            <a:endParaRPr lang="en-US" sz="900" dirty="0"/>
          </a:p>
        </p:txBody>
      </p:sp>
      <p:sp>
        <p:nvSpPr>
          <p:cNvPr id="28" name="Text 24"/>
          <p:cNvSpPr txBox="1"/>
          <p:nvPr/>
        </p:nvSpPr>
        <p:spPr>
          <a:xfrm>
            <a:off x="548640" y="4370832"/>
            <a:ext cx="5376672" cy="1097280"/>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Người làm công việc thuộc Danh mục công việc có yêu cầu nghiêm ngặt về an toàn, vệ sinh lao động do Bộ Nội vụ ban hành</a:t>
            </a:r>
            <a:endParaRPr lang="en-US" sz="1250" dirty="0"/>
          </a:p>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Trực tiếp làm việc với môi trường, thiết bị có yêu cầu nghiêm ngặt</a:t>
            </a:r>
            <a:endParaRPr lang="en-US" sz="1250" dirty="0"/>
          </a:p>
        </p:txBody>
      </p:sp>
      <p:sp>
        <p:nvSpPr>
          <p:cNvPr id="29" name="Shape 25"/>
          <p:cNvSpPr/>
          <p:nvPr/>
        </p:nvSpPr>
        <p:spPr>
          <a:xfrm>
            <a:off x="548640" y="5532120"/>
            <a:ext cx="5376672" cy="841248"/>
          </a:xfrm>
          <a:prstGeom prst="roundRect">
            <a:avLst>
              <a:gd name="adj" fmla="val 13043"/>
            </a:avLst>
          </a:prstGeom>
          <a:solidFill>
            <a:srgbClr val="EEF6EF"/>
          </a:solidFill>
          <a:ln/>
        </p:spPr>
      </p:sp>
      <p:sp>
        <p:nvSpPr>
          <p:cNvPr id="30" name="Text 26"/>
          <p:cNvSpPr txBox="1"/>
          <p:nvPr/>
        </p:nvSpPr>
        <p:spPr>
          <a:xfrm>
            <a:off x="731520" y="5577840"/>
            <a:ext cx="5056632" cy="749808"/>
          </a:xfrm>
          <a:prstGeom prst="rect">
            <a:avLst/>
          </a:prstGeom>
          <a:noFill/>
          <a:ln/>
        </p:spPr>
        <p:txBody>
          <a:bodyPr wrap="square" lIns="0" tIns="0" rIns="0" bIns="0" rtlCol="0" anchor="ctr"/>
          <a:lstStyle/>
          <a:p>
            <a:pPr marL="0" indent="0">
              <a:buNone/>
            </a:pPr>
            <a:r>
              <a:rPr lang="en-US" sz="1200" b="1" dirty="0">
                <a:solidFill>
                  <a:srgbClr val="1E8C45"/>
                </a:solidFill>
                <a:latin typeface="Calibri" pitchFamily="34" charset="0"/>
                <a:ea typeface="Calibri" pitchFamily="34" charset="-122"/>
                <a:cs typeface="Calibri" pitchFamily="34" charset="-120"/>
              </a:rPr>
              <a:t>Trọng tâm &amp; giá trị: </a:t>
            </a:r>
            <a:r>
              <a:rPr lang="en-US" sz="1200" dirty="0">
                <a:solidFill>
                  <a:srgbClr val="17261D"/>
                </a:solidFill>
                <a:latin typeface="Calibri" pitchFamily="34" charset="0"/>
                <a:ea typeface="Calibri" pitchFamily="34" charset="-122"/>
                <a:cs typeface="Calibri" pitchFamily="34" charset="-120"/>
              </a:rPr>
              <a:t>Bảo đảm vận hành an toàn, giảm thiểu tai nạn, bảo vệ nguồn nhân lực cốt lõi và duy trì sản xuất ổn định, bền vững.</a:t>
            </a:r>
            <a:endParaRPr lang="en-US" sz="1200" dirty="0"/>
          </a:p>
        </p:txBody>
      </p:sp>
      <p:pic>
        <p:nvPicPr>
          <p:cNvPr id="31" name="Image 2" descr="preencoded.png"/>
          <p:cNvPicPr>
            <a:picLocks noChangeAspect="1"/>
          </p:cNvPicPr>
          <p:nvPr/>
        </p:nvPicPr>
        <p:blipFill>
          <a:blip r:embed="rId5"/>
          <a:stretch>
            <a:fillRect/>
          </a:stretch>
        </p:blipFill>
        <p:spPr>
          <a:xfrm>
            <a:off x="6263640" y="1371600"/>
            <a:ext cx="2633472" cy="1691640"/>
          </a:xfrm>
          <a:prstGeom prst="rect">
            <a:avLst/>
          </a:prstGeom>
        </p:spPr>
      </p:pic>
      <p:pic>
        <p:nvPicPr>
          <p:cNvPr id="32" name="Image 3" descr="preencoded.png"/>
          <p:cNvPicPr>
            <a:picLocks noChangeAspect="1"/>
          </p:cNvPicPr>
          <p:nvPr/>
        </p:nvPicPr>
        <p:blipFill>
          <a:blip r:embed="rId6"/>
          <a:stretch>
            <a:fillRect/>
          </a:stretch>
        </p:blipFill>
        <p:spPr>
          <a:xfrm>
            <a:off x="9006840" y="1371600"/>
            <a:ext cx="2633472" cy="1691640"/>
          </a:xfrm>
          <a:prstGeom prst="rect">
            <a:avLst/>
          </a:prstGeom>
        </p:spPr>
      </p:pic>
      <p:sp>
        <p:nvSpPr>
          <p:cNvPr id="33" name="Shape 27"/>
          <p:cNvSpPr/>
          <p:nvPr/>
        </p:nvSpPr>
        <p:spPr>
          <a:xfrm>
            <a:off x="6400800" y="1508760"/>
            <a:ext cx="1005840" cy="347472"/>
          </a:xfrm>
          <a:prstGeom prst="roundRect">
            <a:avLst>
              <a:gd name="adj" fmla="val 50000"/>
            </a:avLst>
          </a:prstGeom>
          <a:solidFill>
            <a:srgbClr val="1E8C45"/>
          </a:solidFill>
          <a:ln w="19050">
            <a:solidFill>
              <a:srgbClr val="FFFFFF"/>
            </a:solidFill>
            <a:prstDash val="solid"/>
          </a:ln>
        </p:spPr>
      </p:sp>
      <p:sp>
        <p:nvSpPr>
          <p:cNvPr id="34" name="Text 28"/>
          <p:cNvSpPr txBox="1"/>
          <p:nvPr/>
        </p:nvSpPr>
        <p:spPr>
          <a:xfrm>
            <a:off x="6400800" y="1508760"/>
            <a:ext cx="100584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NHÓM 4</a:t>
            </a:r>
            <a:endParaRPr lang="en-US" sz="1150" dirty="0"/>
          </a:p>
        </p:txBody>
      </p:sp>
      <p:sp>
        <p:nvSpPr>
          <p:cNvPr id="35" name="Text 29"/>
          <p:cNvSpPr txBox="1"/>
          <p:nvPr/>
        </p:nvSpPr>
        <p:spPr>
          <a:xfrm>
            <a:off x="6263640" y="3200400"/>
            <a:ext cx="5376672" cy="566928"/>
          </a:xfrm>
          <a:prstGeom prst="rect">
            <a:avLst/>
          </a:prstGeom>
          <a:noFill/>
          <a:ln/>
        </p:spPr>
        <p:txBody>
          <a:bodyPr wrap="square" lIns="0" tIns="0" rIns="0" bIns="0" rtlCol="0" anchor="ctr"/>
          <a:lstStyle/>
          <a:p>
            <a:pPr marL="0" indent="0">
              <a:buNone/>
            </a:pPr>
            <a:r>
              <a:rPr lang="en-US" sz="1600" b="1" dirty="0">
                <a:solidFill>
                  <a:srgbClr val="17261D"/>
                </a:solidFill>
                <a:latin typeface="Arial" pitchFamily="34" charset="0"/>
                <a:ea typeface="Arial" pitchFamily="34" charset="-122"/>
                <a:cs typeface="Arial" pitchFamily="34" charset="-120"/>
              </a:rPr>
              <a:t>Người lao động khác (không thuộc nhóm 1, 3, 5, 6)</a:t>
            </a:r>
            <a:endParaRPr lang="en-US" sz="1600" dirty="0"/>
          </a:p>
        </p:txBody>
      </p:sp>
      <p:sp>
        <p:nvSpPr>
          <p:cNvPr id="36" name="Text 30"/>
          <p:cNvSpPr txBox="1"/>
          <p:nvPr/>
        </p:nvSpPr>
        <p:spPr>
          <a:xfrm>
            <a:off x="6263640" y="3776472"/>
            <a:ext cx="5376672" cy="256032"/>
          </a:xfrm>
          <a:prstGeom prst="rect">
            <a:avLst/>
          </a:prstGeom>
          <a:noFill/>
          <a:ln/>
        </p:spPr>
        <p:txBody>
          <a:bodyPr wrap="square" lIns="0" tIns="0" rIns="0" bIns="0" rtlCol="0" anchor="t"/>
          <a:lstStyle/>
          <a:p>
            <a:pPr marL="0" indent="0">
              <a:buNone/>
            </a:pPr>
            <a:r>
              <a:rPr lang="en-US" sz="1150" i="1" dirty="0">
                <a:solidFill>
                  <a:srgbClr val="7A877F"/>
                </a:solidFill>
                <a:latin typeface="Calibri" pitchFamily="34" charset="0"/>
                <a:ea typeface="Calibri" pitchFamily="34" charset="-122"/>
                <a:cs typeface="Calibri" pitchFamily="34" charset="-120"/>
              </a:rPr>
              <a:t>Theo khoản 5, Điều 1, Nghị định 140/2018/NĐ-CP</a:t>
            </a:r>
            <a:endParaRPr lang="en-US" sz="1150" dirty="0"/>
          </a:p>
        </p:txBody>
      </p:sp>
      <p:sp>
        <p:nvSpPr>
          <p:cNvPr id="37" name="Text 31"/>
          <p:cNvSpPr txBox="1"/>
          <p:nvPr/>
        </p:nvSpPr>
        <p:spPr>
          <a:xfrm>
            <a:off x="6263640" y="4114800"/>
            <a:ext cx="5376672" cy="228600"/>
          </a:xfrm>
          <a:prstGeom prst="rect">
            <a:avLst/>
          </a:prstGeom>
          <a:noFill/>
          <a:ln/>
        </p:spPr>
        <p:txBody>
          <a:bodyPr wrap="square" lIns="0" tIns="0" rIns="0" bIns="0" rtlCol="0" anchor="t"/>
          <a:lstStyle/>
          <a:p>
            <a:pPr marL="0" indent="0">
              <a:buNone/>
            </a:pPr>
            <a:r>
              <a:rPr lang="en-US" sz="900" b="1" kern="0" spc="200" dirty="0">
                <a:solidFill>
                  <a:srgbClr val="1E8C45"/>
                </a:solidFill>
                <a:latin typeface="Arial" pitchFamily="34" charset="0"/>
                <a:ea typeface="Arial" pitchFamily="34" charset="-122"/>
                <a:cs typeface="Arial" pitchFamily="34" charset="-120"/>
              </a:rPr>
              <a:t>ĐỐI TƯỢNG</a:t>
            </a:r>
            <a:endParaRPr lang="en-US" sz="900" dirty="0"/>
          </a:p>
        </p:txBody>
      </p:sp>
      <p:sp>
        <p:nvSpPr>
          <p:cNvPr id="38" name="Text 32"/>
          <p:cNvSpPr txBox="1"/>
          <p:nvPr/>
        </p:nvSpPr>
        <p:spPr>
          <a:xfrm>
            <a:off x="6263640" y="4370832"/>
            <a:ext cx="5376672" cy="1097280"/>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Người lao động không thuộc nhóm 1, 3, 5, 6 – bao gồm cả người học nghề, tập nghề, thử việc</a:t>
            </a:r>
            <a:endParaRPr lang="en-US" sz="1250" dirty="0"/>
          </a:p>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Lực lượng lao động phổ thông, văn phòng và sản xuất thông thường</a:t>
            </a:r>
            <a:endParaRPr lang="en-US" sz="1250" dirty="0"/>
          </a:p>
        </p:txBody>
      </p:sp>
      <p:sp>
        <p:nvSpPr>
          <p:cNvPr id="39" name="Shape 33"/>
          <p:cNvSpPr/>
          <p:nvPr/>
        </p:nvSpPr>
        <p:spPr>
          <a:xfrm>
            <a:off x="6263640" y="5532120"/>
            <a:ext cx="5376672" cy="841248"/>
          </a:xfrm>
          <a:prstGeom prst="roundRect">
            <a:avLst>
              <a:gd name="adj" fmla="val 13043"/>
            </a:avLst>
          </a:prstGeom>
          <a:solidFill>
            <a:srgbClr val="EEF6EF"/>
          </a:solidFill>
          <a:ln/>
        </p:spPr>
      </p:sp>
      <p:sp>
        <p:nvSpPr>
          <p:cNvPr id="40" name="Text 34"/>
          <p:cNvSpPr txBox="1"/>
          <p:nvPr/>
        </p:nvSpPr>
        <p:spPr>
          <a:xfrm>
            <a:off x="6446520" y="5577840"/>
            <a:ext cx="5056632" cy="749808"/>
          </a:xfrm>
          <a:prstGeom prst="rect">
            <a:avLst/>
          </a:prstGeom>
          <a:noFill/>
          <a:ln/>
        </p:spPr>
        <p:txBody>
          <a:bodyPr wrap="square" lIns="0" tIns="0" rIns="0" bIns="0" rtlCol="0" anchor="ctr"/>
          <a:lstStyle/>
          <a:p>
            <a:pPr marL="0" indent="0">
              <a:buNone/>
            </a:pPr>
            <a:r>
              <a:rPr lang="en-US" sz="1200" b="1" dirty="0">
                <a:solidFill>
                  <a:srgbClr val="1E8C45"/>
                </a:solidFill>
                <a:latin typeface="Calibri" pitchFamily="34" charset="0"/>
                <a:ea typeface="Calibri" pitchFamily="34" charset="-122"/>
                <a:cs typeface="Calibri" pitchFamily="34" charset="-120"/>
              </a:rPr>
              <a:t>Trọng tâm &amp; giá trị: </a:t>
            </a:r>
            <a:r>
              <a:rPr lang="en-US" sz="1200" dirty="0">
                <a:solidFill>
                  <a:srgbClr val="17261D"/>
                </a:solidFill>
                <a:latin typeface="Calibri" pitchFamily="34" charset="0"/>
                <a:ea typeface="Calibri" pitchFamily="34" charset="-122"/>
                <a:cs typeface="Calibri" pitchFamily="34" charset="-120"/>
              </a:rPr>
              <a:t>Chuẩn hóa nhận thức &amp; hành vi an toàn, giảm sự cố do lỗi chủ quan, nâng cao kỷ luật lao động, đáp ứng hồ sơ khi thanh tra, kiểm tra.</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 · CÁC NHÓM ĐỐI TƯỢNG HUẤN LUYỆN</a:t>
            </a:r>
            <a:endParaRPr lang="en-US" sz="1050" dirty="0"/>
          </a:p>
        </p:txBody>
      </p:sp>
      <p:sp>
        <p:nvSpPr>
          <p:cNvPr id="4" name="Text 2"/>
          <p:cNvSpPr txBox="1"/>
          <p:nvPr/>
        </p:nvSpPr>
        <p:spPr>
          <a:xfrm>
            <a:off x="548640" y="676656"/>
            <a:ext cx="731520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6 NHÓM HUẤN LUYỆN ATVSLĐ</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15</a:t>
            </a:r>
            <a:endParaRPr lang="en-US" sz="900" dirty="0"/>
          </a:p>
        </p:txBody>
      </p:sp>
      <p:sp>
        <p:nvSpPr>
          <p:cNvPr id="8" name="Shape 6"/>
          <p:cNvSpPr/>
          <p:nvPr/>
        </p:nvSpPr>
        <p:spPr>
          <a:xfrm>
            <a:off x="9326880" y="731520"/>
            <a:ext cx="310896" cy="310896"/>
          </a:xfrm>
          <a:prstGeom prst="ellipse">
            <a:avLst/>
          </a:prstGeom>
          <a:solidFill>
            <a:srgbClr val="EEF6EF"/>
          </a:solidFill>
          <a:ln/>
        </p:spPr>
      </p:sp>
      <p:sp>
        <p:nvSpPr>
          <p:cNvPr id="9" name="Text 7"/>
          <p:cNvSpPr txBox="1"/>
          <p:nvPr/>
        </p:nvSpPr>
        <p:spPr>
          <a:xfrm>
            <a:off x="9326880"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1</a:t>
            </a:r>
            <a:endParaRPr lang="en-US" sz="1100" dirty="0"/>
          </a:p>
        </p:txBody>
      </p:sp>
      <p:sp>
        <p:nvSpPr>
          <p:cNvPr id="10" name="Shape 8"/>
          <p:cNvSpPr/>
          <p:nvPr/>
        </p:nvSpPr>
        <p:spPr>
          <a:xfrm>
            <a:off x="9720072" y="731520"/>
            <a:ext cx="310896" cy="310896"/>
          </a:xfrm>
          <a:prstGeom prst="ellipse">
            <a:avLst/>
          </a:prstGeom>
          <a:solidFill>
            <a:srgbClr val="EEF6EF"/>
          </a:solidFill>
          <a:ln/>
        </p:spPr>
      </p:sp>
      <p:sp>
        <p:nvSpPr>
          <p:cNvPr id="11" name="Text 9"/>
          <p:cNvSpPr txBox="1"/>
          <p:nvPr/>
        </p:nvSpPr>
        <p:spPr>
          <a:xfrm>
            <a:off x="9720072"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2</a:t>
            </a:r>
            <a:endParaRPr lang="en-US" sz="1100" dirty="0"/>
          </a:p>
        </p:txBody>
      </p:sp>
      <p:sp>
        <p:nvSpPr>
          <p:cNvPr id="12" name="Shape 10"/>
          <p:cNvSpPr/>
          <p:nvPr/>
        </p:nvSpPr>
        <p:spPr>
          <a:xfrm>
            <a:off x="10113264" y="731520"/>
            <a:ext cx="310896" cy="310896"/>
          </a:xfrm>
          <a:prstGeom prst="ellipse">
            <a:avLst/>
          </a:prstGeom>
          <a:solidFill>
            <a:srgbClr val="EEF6EF"/>
          </a:solidFill>
          <a:ln/>
        </p:spPr>
      </p:sp>
      <p:sp>
        <p:nvSpPr>
          <p:cNvPr id="13" name="Text 11"/>
          <p:cNvSpPr txBox="1"/>
          <p:nvPr/>
        </p:nvSpPr>
        <p:spPr>
          <a:xfrm>
            <a:off x="10113264"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3</a:t>
            </a:r>
            <a:endParaRPr lang="en-US" sz="1100" dirty="0"/>
          </a:p>
        </p:txBody>
      </p:sp>
      <p:sp>
        <p:nvSpPr>
          <p:cNvPr id="14" name="Shape 12"/>
          <p:cNvSpPr/>
          <p:nvPr/>
        </p:nvSpPr>
        <p:spPr>
          <a:xfrm>
            <a:off x="10506456" y="731520"/>
            <a:ext cx="310896" cy="310896"/>
          </a:xfrm>
          <a:prstGeom prst="ellipse">
            <a:avLst/>
          </a:prstGeom>
          <a:solidFill>
            <a:srgbClr val="EEF6EF"/>
          </a:solidFill>
          <a:ln/>
        </p:spPr>
      </p:sp>
      <p:sp>
        <p:nvSpPr>
          <p:cNvPr id="15" name="Text 13"/>
          <p:cNvSpPr txBox="1"/>
          <p:nvPr/>
        </p:nvSpPr>
        <p:spPr>
          <a:xfrm>
            <a:off x="10506456" y="731520"/>
            <a:ext cx="310896" cy="310896"/>
          </a:xfrm>
          <a:prstGeom prst="rect">
            <a:avLst/>
          </a:prstGeom>
          <a:noFill/>
          <a:ln/>
        </p:spPr>
        <p:txBody>
          <a:bodyPr wrap="square" lIns="0" tIns="0" rIns="0" bIns="0" rtlCol="0" anchor="ctr"/>
          <a:lstStyle/>
          <a:p>
            <a:pPr marL="0" indent="0" algn="ctr">
              <a:buNone/>
            </a:pPr>
            <a:r>
              <a:rPr lang="en-US" sz="1100" b="1" dirty="0">
                <a:solidFill>
                  <a:srgbClr val="1E8C45"/>
                </a:solidFill>
                <a:latin typeface="Arial" pitchFamily="34" charset="0"/>
                <a:ea typeface="Arial" pitchFamily="34" charset="-122"/>
                <a:cs typeface="Arial" pitchFamily="34" charset="-120"/>
              </a:rPr>
              <a:t>4</a:t>
            </a:r>
            <a:endParaRPr lang="en-US" sz="1100" dirty="0"/>
          </a:p>
        </p:txBody>
      </p:sp>
      <p:sp>
        <p:nvSpPr>
          <p:cNvPr id="16" name="Shape 14"/>
          <p:cNvSpPr/>
          <p:nvPr/>
        </p:nvSpPr>
        <p:spPr>
          <a:xfrm>
            <a:off x="10899648" y="731520"/>
            <a:ext cx="310896" cy="310896"/>
          </a:xfrm>
          <a:prstGeom prst="ellipse">
            <a:avLst/>
          </a:prstGeom>
          <a:solidFill>
            <a:srgbClr val="1E8C45"/>
          </a:solidFill>
          <a:ln/>
        </p:spPr>
      </p:sp>
      <p:sp>
        <p:nvSpPr>
          <p:cNvPr id="17" name="Text 15"/>
          <p:cNvSpPr txBox="1"/>
          <p:nvPr/>
        </p:nvSpPr>
        <p:spPr>
          <a:xfrm>
            <a:off x="10899648" y="731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18" name="Shape 16"/>
          <p:cNvSpPr/>
          <p:nvPr/>
        </p:nvSpPr>
        <p:spPr>
          <a:xfrm>
            <a:off x="11292840" y="731520"/>
            <a:ext cx="310896" cy="310896"/>
          </a:xfrm>
          <a:prstGeom prst="ellipse">
            <a:avLst/>
          </a:prstGeom>
          <a:solidFill>
            <a:srgbClr val="1E8C45"/>
          </a:solidFill>
          <a:ln/>
        </p:spPr>
      </p:sp>
      <p:sp>
        <p:nvSpPr>
          <p:cNvPr id="19" name="Text 17"/>
          <p:cNvSpPr txBox="1"/>
          <p:nvPr/>
        </p:nvSpPr>
        <p:spPr>
          <a:xfrm>
            <a:off x="11292840" y="7315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20" name="Text 18"/>
          <p:cNvSpPr txBox="1"/>
          <p:nvPr/>
        </p:nvSpPr>
        <p:spPr>
          <a:xfrm>
            <a:off x="8641080" y="731520"/>
            <a:ext cx="640080" cy="310896"/>
          </a:xfrm>
          <a:prstGeom prst="rect">
            <a:avLst/>
          </a:prstGeom>
          <a:noFill/>
          <a:ln/>
        </p:spPr>
        <p:txBody>
          <a:bodyPr wrap="square" lIns="0" tIns="0" rIns="0" bIns="0" rtlCol="0" anchor="ctr"/>
          <a:lstStyle/>
          <a:p>
            <a:pPr marL="0" indent="0">
              <a:buNone/>
            </a:pPr>
            <a:r>
              <a:rPr lang="en-US" sz="900" b="1" kern="0" spc="150" dirty="0">
                <a:solidFill>
                  <a:srgbClr val="7A877F"/>
                </a:solidFill>
                <a:latin typeface="Arial" pitchFamily="34" charset="0"/>
                <a:ea typeface="Arial" pitchFamily="34" charset="-122"/>
                <a:cs typeface="Arial" pitchFamily="34" charset="-120"/>
              </a:rPr>
              <a:t>NHÓM</a:t>
            </a:r>
            <a:endParaRPr lang="en-US" sz="900" dirty="0"/>
          </a:p>
        </p:txBody>
      </p:sp>
      <p:pic>
        <p:nvPicPr>
          <p:cNvPr id="21" name="Image 0" descr="preencoded.png"/>
          <p:cNvPicPr>
            <a:picLocks noChangeAspect="1"/>
          </p:cNvPicPr>
          <p:nvPr/>
        </p:nvPicPr>
        <p:blipFill>
          <a:blip r:embed="rId3"/>
          <a:stretch>
            <a:fillRect/>
          </a:stretch>
        </p:blipFill>
        <p:spPr>
          <a:xfrm>
            <a:off x="548640" y="1371600"/>
            <a:ext cx="2633472" cy="1691640"/>
          </a:xfrm>
          <a:prstGeom prst="rect">
            <a:avLst/>
          </a:prstGeom>
        </p:spPr>
      </p:pic>
      <p:pic>
        <p:nvPicPr>
          <p:cNvPr id="22" name="Image 1" descr="preencoded.png"/>
          <p:cNvPicPr>
            <a:picLocks noChangeAspect="1"/>
          </p:cNvPicPr>
          <p:nvPr/>
        </p:nvPicPr>
        <p:blipFill>
          <a:blip r:embed="rId4"/>
          <a:stretch>
            <a:fillRect/>
          </a:stretch>
        </p:blipFill>
        <p:spPr>
          <a:xfrm>
            <a:off x="3291840" y="1371600"/>
            <a:ext cx="2633472" cy="1691640"/>
          </a:xfrm>
          <a:prstGeom prst="rect">
            <a:avLst/>
          </a:prstGeom>
        </p:spPr>
      </p:pic>
      <p:sp>
        <p:nvSpPr>
          <p:cNvPr id="23" name="Shape 19"/>
          <p:cNvSpPr/>
          <p:nvPr/>
        </p:nvSpPr>
        <p:spPr>
          <a:xfrm>
            <a:off x="685800" y="1508760"/>
            <a:ext cx="1005840" cy="347472"/>
          </a:xfrm>
          <a:prstGeom prst="roundRect">
            <a:avLst>
              <a:gd name="adj" fmla="val 50000"/>
            </a:avLst>
          </a:prstGeom>
          <a:solidFill>
            <a:srgbClr val="1E8C45"/>
          </a:solidFill>
          <a:ln w="19050">
            <a:solidFill>
              <a:srgbClr val="FFFFFF"/>
            </a:solidFill>
            <a:prstDash val="solid"/>
          </a:ln>
        </p:spPr>
      </p:sp>
      <p:sp>
        <p:nvSpPr>
          <p:cNvPr id="24" name="Text 20"/>
          <p:cNvSpPr txBox="1"/>
          <p:nvPr/>
        </p:nvSpPr>
        <p:spPr>
          <a:xfrm>
            <a:off x="685800" y="1508760"/>
            <a:ext cx="100584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NHÓM 5</a:t>
            </a:r>
            <a:endParaRPr lang="en-US" sz="1150" dirty="0"/>
          </a:p>
        </p:txBody>
      </p:sp>
      <p:sp>
        <p:nvSpPr>
          <p:cNvPr id="25" name="Text 21"/>
          <p:cNvSpPr txBox="1"/>
          <p:nvPr/>
        </p:nvSpPr>
        <p:spPr>
          <a:xfrm>
            <a:off x="548640" y="3200400"/>
            <a:ext cx="5376672" cy="566928"/>
          </a:xfrm>
          <a:prstGeom prst="rect">
            <a:avLst/>
          </a:prstGeom>
          <a:noFill/>
          <a:ln/>
        </p:spPr>
        <p:txBody>
          <a:bodyPr wrap="square" lIns="0" tIns="0" rIns="0" bIns="0" rtlCol="0" anchor="ctr"/>
          <a:lstStyle/>
          <a:p>
            <a:pPr marL="0" indent="0">
              <a:buNone/>
            </a:pPr>
            <a:r>
              <a:rPr lang="en-US" sz="1600" b="1" dirty="0">
                <a:solidFill>
                  <a:srgbClr val="17261D"/>
                </a:solidFill>
                <a:latin typeface="Arial" pitchFamily="34" charset="0"/>
                <a:ea typeface="Arial" pitchFamily="34" charset="-122"/>
                <a:cs typeface="Arial" pitchFamily="34" charset="-120"/>
              </a:rPr>
              <a:t>Người làm công tác y tế</a:t>
            </a:r>
            <a:endParaRPr lang="en-US" sz="1600" dirty="0"/>
          </a:p>
        </p:txBody>
      </p:sp>
      <p:sp>
        <p:nvSpPr>
          <p:cNvPr id="26" name="Text 22"/>
          <p:cNvSpPr txBox="1"/>
          <p:nvPr/>
        </p:nvSpPr>
        <p:spPr>
          <a:xfrm>
            <a:off x="548640" y="3776472"/>
            <a:ext cx="5376672" cy="256032"/>
          </a:xfrm>
          <a:prstGeom prst="rect">
            <a:avLst/>
          </a:prstGeom>
          <a:noFill/>
          <a:ln/>
        </p:spPr>
        <p:txBody>
          <a:bodyPr wrap="square" lIns="0" tIns="0" rIns="0" bIns="0" rtlCol="0" anchor="t"/>
          <a:lstStyle/>
          <a:p>
            <a:pPr marL="0" indent="0">
              <a:buNone/>
            </a:pPr>
            <a:r>
              <a:rPr lang="en-US" sz="1150" i="1" dirty="0">
                <a:solidFill>
                  <a:srgbClr val="7A877F"/>
                </a:solidFill>
                <a:latin typeface="Calibri" pitchFamily="34" charset="0"/>
                <a:ea typeface="Calibri" pitchFamily="34" charset="-122"/>
                <a:cs typeface="Calibri" pitchFamily="34" charset="-120"/>
              </a:rPr>
              <a:t>Theo khoản 5, Điều 1, Nghị định 140/2018/NĐ-CP</a:t>
            </a:r>
            <a:endParaRPr lang="en-US" sz="1150" dirty="0"/>
          </a:p>
        </p:txBody>
      </p:sp>
      <p:sp>
        <p:nvSpPr>
          <p:cNvPr id="27" name="Text 23"/>
          <p:cNvSpPr txBox="1"/>
          <p:nvPr/>
        </p:nvSpPr>
        <p:spPr>
          <a:xfrm>
            <a:off x="548640" y="4114800"/>
            <a:ext cx="5376672" cy="228600"/>
          </a:xfrm>
          <a:prstGeom prst="rect">
            <a:avLst/>
          </a:prstGeom>
          <a:noFill/>
          <a:ln/>
        </p:spPr>
        <p:txBody>
          <a:bodyPr wrap="square" lIns="0" tIns="0" rIns="0" bIns="0" rtlCol="0" anchor="t"/>
          <a:lstStyle/>
          <a:p>
            <a:pPr marL="0" indent="0">
              <a:buNone/>
            </a:pPr>
            <a:r>
              <a:rPr lang="en-US" sz="900" b="1" kern="0" spc="200" dirty="0">
                <a:solidFill>
                  <a:srgbClr val="1E8C45"/>
                </a:solidFill>
                <a:latin typeface="Arial" pitchFamily="34" charset="0"/>
                <a:ea typeface="Arial" pitchFamily="34" charset="-122"/>
                <a:cs typeface="Arial" pitchFamily="34" charset="-120"/>
              </a:rPr>
              <a:t>ĐỐI TƯỢNG</a:t>
            </a:r>
            <a:endParaRPr lang="en-US" sz="900" dirty="0"/>
          </a:p>
        </p:txBody>
      </p:sp>
      <p:sp>
        <p:nvSpPr>
          <p:cNvPr id="28" name="Text 24"/>
          <p:cNvSpPr txBox="1"/>
          <p:nvPr/>
        </p:nvSpPr>
        <p:spPr>
          <a:xfrm>
            <a:off x="548640" y="4370832"/>
            <a:ext cx="5376672" cy="1097280"/>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Nhân sự thực hiện công tác y tế tại đơn vị: chăm sóc sức khỏe, sơ cấp cứu, phòng chống dịch bệnh</a:t>
            </a:r>
            <a:endParaRPr lang="en-US" sz="1250" dirty="0"/>
          </a:p>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Giám sát điều kiện vệ sinh, an toàn lao động</a:t>
            </a:r>
            <a:endParaRPr lang="en-US" sz="1250" dirty="0"/>
          </a:p>
        </p:txBody>
      </p:sp>
      <p:sp>
        <p:nvSpPr>
          <p:cNvPr id="29" name="Shape 25"/>
          <p:cNvSpPr/>
          <p:nvPr/>
        </p:nvSpPr>
        <p:spPr>
          <a:xfrm>
            <a:off x="548640" y="5532120"/>
            <a:ext cx="5376672" cy="841248"/>
          </a:xfrm>
          <a:prstGeom prst="roundRect">
            <a:avLst>
              <a:gd name="adj" fmla="val 13043"/>
            </a:avLst>
          </a:prstGeom>
          <a:solidFill>
            <a:srgbClr val="EEF6EF"/>
          </a:solidFill>
          <a:ln/>
        </p:spPr>
      </p:sp>
      <p:sp>
        <p:nvSpPr>
          <p:cNvPr id="30" name="Text 26"/>
          <p:cNvSpPr txBox="1"/>
          <p:nvPr/>
        </p:nvSpPr>
        <p:spPr>
          <a:xfrm>
            <a:off x="731520" y="5577840"/>
            <a:ext cx="5056632" cy="749808"/>
          </a:xfrm>
          <a:prstGeom prst="rect">
            <a:avLst/>
          </a:prstGeom>
          <a:noFill/>
          <a:ln/>
        </p:spPr>
        <p:txBody>
          <a:bodyPr wrap="square" lIns="0" tIns="0" rIns="0" bIns="0" rtlCol="0" anchor="ctr"/>
          <a:lstStyle/>
          <a:p>
            <a:pPr marL="0" indent="0">
              <a:buNone/>
            </a:pPr>
            <a:r>
              <a:rPr lang="en-US" sz="1200" b="1" dirty="0">
                <a:solidFill>
                  <a:srgbClr val="1E8C45"/>
                </a:solidFill>
                <a:latin typeface="Calibri" pitchFamily="34" charset="0"/>
                <a:ea typeface="Calibri" pitchFamily="34" charset="-122"/>
                <a:cs typeface="Calibri" pitchFamily="34" charset="-120"/>
              </a:rPr>
              <a:t>Trọng tâm &amp; giá trị: </a:t>
            </a:r>
            <a:r>
              <a:rPr lang="en-US" sz="1200" dirty="0">
                <a:solidFill>
                  <a:srgbClr val="17261D"/>
                </a:solidFill>
                <a:latin typeface="Calibri" pitchFamily="34" charset="0"/>
                <a:ea typeface="Calibri" pitchFamily="34" charset="-122"/>
                <a:cs typeface="Calibri" pitchFamily="34" charset="-120"/>
              </a:rPr>
              <a:t>Tập trung sơ cấp cứu, phòng chống tai nạn lao động &amp; bệnh nghề nghiệp, xử lý tình huống khẩn cấp và phối hợp ứng phó sự cố.</a:t>
            </a:r>
            <a:endParaRPr lang="en-US" sz="1200" dirty="0"/>
          </a:p>
        </p:txBody>
      </p:sp>
      <p:pic>
        <p:nvPicPr>
          <p:cNvPr id="31" name="Image 2" descr="preencoded.png"/>
          <p:cNvPicPr>
            <a:picLocks noChangeAspect="1"/>
          </p:cNvPicPr>
          <p:nvPr/>
        </p:nvPicPr>
        <p:blipFill>
          <a:blip r:embed="rId5"/>
          <a:stretch>
            <a:fillRect/>
          </a:stretch>
        </p:blipFill>
        <p:spPr>
          <a:xfrm>
            <a:off x="6263640" y="1371600"/>
            <a:ext cx="2633472" cy="1691640"/>
          </a:xfrm>
          <a:prstGeom prst="rect">
            <a:avLst/>
          </a:prstGeom>
        </p:spPr>
      </p:pic>
      <p:pic>
        <p:nvPicPr>
          <p:cNvPr id="32" name="Image 3" descr="preencoded.png"/>
          <p:cNvPicPr>
            <a:picLocks noChangeAspect="1"/>
          </p:cNvPicPr>
          <p:nvPr/>
        </p:nvPicPr>
        <p:blipFill>
          <a:blip r:embed="rId6"/>
          <a:stretch>
            <a:fillRect/>
          </a:stretch>
        </p:blipFill>
        <p:spPr>
          <a:xfrm>
            <a:off x="9006840" y="1371600"/>
            <a:ext cx="2633472" cy="1691640"/>
          </a:xfrm>
          <a:prstGeom prst="rect">
            <a:avLst/>
          </a:prstGeom>
        </p:spPr>
      </p:pic>
      <p:sp>
        <p:nvSpPr>
          <p:cNvPr id="33" name="Shape 27"/>
          <p:cNvSpPr/>
          <p:nvPr/>
        </p:nvSpPr>
        <p:spPr>
          <a:xfrm>
            <a:off x="6400800" y="1508760"/>
            <a:ext cx="1005840" cy="347472"/>
          </a:xfrm>
          <a:prstGeom prst="roundRect">
            <a:avLst>
              <a:gd name="adj" fmla="val 50000"/>
            </a:avLst>
          </a:prstGeom>
          <a:solidFill>
            <a:srgbClr val="1E8C45"/>
          </a:solidFill>
          <a:ln w="19050">
            <a:solidFill>
              <a:srgbClr val="FFFFFF"/>
            </a:solidFill>
            <a:prstDash val="solid"/>
          </a:ln>
        </p:spPr>
      </p:sp>
      <p:sp>
        <p:nvSpPr>
          <p:cNvPr id="34" name="Text 28"/>
          <p:cNvSpPr txBox="1"/>
          <p:nvPr/>
        </p:nvSpPr>
        <p:spPr>
          <a:xfrm>
            <a:off x="6400800" y="1508760"/>
            <a:ext cx="100584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Arial" pitchFamily="34" charset="0"/>
                <a:ea typeface="Arial" pitchFamily="34" charset="-122"/>
                <a:cs typeface="Arial" pitchFamily="34" charset="-120"/>
              </a:rPr>
              <a:t>NHÓM 6</a:t>
            </a:r>
            <a:endParaRPr lang="en-US" sz="1150" dirty="0"/>
          </a:p>
        </p:txBody>
      </p:sp>
      <p:sp>
        <p:nvSpPr>
          <p:cNvPr id="35" name="Text 29"/>
          <p:cNvSpPr txBox="1"/>
          <p:nvPr/>
        </p:nvSpPr>
        <p:spPr>
          <a:xfrm>
            <a:off x="6263640" y="3200400"/>
            <a:ext cx="5376672" cy="566928"/>
          </a:xfrm>
          <a:prstGeom prst="rect">
            <a:avLst/>
          </a:prstGeom>
          <a:noFill/>
          <a:ln/>
        </p:spPr>
        <p:txBody>
          <a:bodyPr wrap="square" lIns="0" tIns="0" rIns="0" bIns="0" rtlCol="0" anchor="ctr"/>
          <a:lstStyle/>
          <a:p>
            <a:pPr marL="0" indent="0">
              <a:buNone/>
            </a:pPr>
            <a:r>
              <a:rPr lang="en-US" sz="1600" b="1" dirty="0">
                <a:solidFill>
                  <a:srgbClr val="17261D"/>
                </a:solidFill>
                <a:latin typeface="Arial" pitchFamily="34" charset="0"/>
                <a:ea typeface="Arial" pitchFamily="34" charset="-122"/>
                <a:cs typeface="Arial" pitchFamily="34" charset="-120"/>
              </a:rPr>
              <a:t>An toàn, vệ sinh viên</a:t>
            </a:r>
            <a:endParaRPr lang="en-US" sz="1600" dirty="0"/>
          </a:p>
        </p:txBody>
      </p:sp>
      <p:sp>
        <p:nvSpPr>
          <p:cNvPr id="36" name="Text 30"/>
          <p:cNvSpPr txBox="1"/>
          <p:nvPr/>
        </p:nvSpPr>
        <p:spPr>
          <a:xfrm>
            <a:off x="6263640" y="3776472"/>
            <a:ext cx="5376672" cy="256032"/>
          </a:xfrm>
          <a:prstGeom prst="rect">
            <a:avLst/>
          </a:prstGeom>
          <a:noFill/>
          <a:ln/>
        </p:spPr>
        <p:txBody>
          <a:bodyPr wrap="square" lIns="0" tIns="0" rIns="0" bIns="0" rtlCol="0" anchor="t"/>
          <a:lstStyle/>
          <a:p>
            <a:pPr marL="0" indent="0">
              <a:buNone/>
            </a:pPr>
            <a:r>
              <a:rPr lang="en-US" sz="1150" i="1" dirty="0">
                <a:solidFill>
                  <a:srgbClr val="7A877F"/>
                </a:solidFill>
                <a:latin typeface="Calibri" pitchFamily="34" charset="0"/>
                <a:ea typeface="Calibri" pitchFamily="34" charset="-122"/>
                <a:cs typeface="Calibri" pitchFamily="34" charset="-120"/>
              </a:rPr>
              <a:t>Theo Điều 74 Luật An toàn, vệ sinh lao động</a:t>
            </a:r>
            <a:endParaRPr lang="en-US" sz="1150" dirty="0"/>
          </a:p>
        </p:txBody>
      </p:sp>
      <p:sp>
        <p:nvSpPr>
          <p:cNvPr id="37" name="Text 31"/>
          <p:cNvSpPr txBox="1"/>
          <p:nvPr/>
        </p:nvSpPr>
        <p:spPr>
          <a:xfrm>
            <a:off x="6263640" y="4114800"/>
            <a:ext cx="5376672" cy="228600"/>
          </a:xfrm>
          <a:prstGeom prst="rect">
            <a:avLst/>
          </a:prstGeom>
          <a:noFill/>
          <a:ln/>
        </p:spPr>
        <p:txBody>
          <a:bodyPr wrap="square" lIns="0" tIns="0" rIns="0" bIns="0" rtlCol="0" anchor="t"/>
          <a:lstStyle/>
          <a:p>
            <a:pPr marL="0" indent="0">
              <a:buNone/>
            </a:pPr>
            <a:r>
              <a:rPr lang="en-US" sz="900" b="1" kern="0" spc="200" dirty="0">
                <a:solidFill>
                  <a:srgbClr val="1E8C45"/>
                </a:solidFill>
                <a:latin typeface="Arial" pitchFamily="34" charset="0"/>
                <a:ea typeface="Arial" pitchFamily="34" charset="-122"/>
                <a:cs typeface="Arial" pitchFamily="34" charset="-120"/>
              </a:rPr>
              <a:t>ĐỐI TƯỢNG</a:t>
            </a:r>
            <a:endParaRPr lang="en-US" sz="900" dirty="0"/>
          </a:p>
        </p:txBody>
      </p:sp>
      <p:sp>
        <p:nvSpPr>
          <p:cNvPr id="38" name="Text 32"/>
          <p:cNvSpPr txBox="1"/>
          <p:nvPr/>
        </p:nvSpPr>
        <p:spPr>
          <a:xfrm>
            <a:off x="6263640" y="4370832"/>
            <a:ext cx="5376672" cy="1097280"/>
          </a:xfrm>
          <a:prstGeom prst="rect">
            <a:avLst/>
          </a:prstGeom>
          <a:noFill/>
          <a:ln/>
        </p:spPr>
        <p:txBody>
          <a:bodyPr wrap="square" lIns="0" tIns="0" rIns="0" bIns="0" rtlCol="0" anchor="t"/>
          <a:lstStyle/>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Lực lượng giám sát, nhắc nhở và phát hiện sớm các nguy cơ mất an toàn tại nơi làm việc</a:t>
            </a:r>
            <a:endParaRPr lang="en-US" sz="1250" dirty="0"/>
          </a:p>
          <a:p>
            <a:pPr marL="165100" indent="-165100">
              <a:spcAft>
                <a:spcPts val="300"/>
              </a:spcAft>
              <a:buSzPct val="100000"/>
              <a:buChar char="•"/>
            </a:pPr>
            <a:r>
              <a:rPr lang="en-US" sz="1250" dirty="0">
                <a:solidFill>
                  <a:srgbClr val="3C4A42"/>
                </a:solidFill>
                <a:latin typeface="Calibri" pitchFamily="34" charset="0"/>
                <a:ea typeface="Calibri" pitchFamily="34" charset="-122"/>
                <a:cs typeface="Calibri" pitchFamily="34" charset="-120"/>
              </a:rPr>
              <a:t>Góp phần xây dựng văn hóa an toàn, phòng ngừa tai nạn lao động</a:t>
            </a:r>
            <a:endParaRPr lang="en-US" sz="1250" dirty="0"/>
          </a:p>
        </p:txBody>
      </p:sp>
      <p:sp>
        <p:nvSpPr>
          <p:cNvPr id="39" name="Shape 33"/>
          <p:cNvSpPr/>
          <p:nvPr/>
        </p:nvSpPr>
        <p:spPr>
          <a:xfrm>
            <a:off x="6263640" y="5532120"/>
            <a:ext cx="5376672" cy="841248"/>
          </a:xfrm>
          <a:prstGeom prst="roundRect">
            <a:avLst>
              <a:gd name="adj" fmla="val 13043"/>
            </a:avLst>
          </a:prstGeom>
          <a:solidFill>
            <a:srgbClr val="EEF6EF"/>
          </a:solidFill>
          <a:ln/>
        </p:spPr>
      </p:sp>
      <p:sp>
        <p:nvSpPr>
          <p:cNvPr id="40" name="Text 34"/>
          <p:cNvSpPr txBox="1"/>
          <p:nvPr/>
        </p:nvSpPr>
        <p:spPr>
          <a:xfrm>
            <a:off x="6446520" y="5577840"/>
            <a:ext cx="5056632" cy="749808"/>
          </a:xfrm>
          <a:prstGeom prst="rect">
            <a:avLst/>
          </a:prstGeom>
          <a:noFill/>
          <a:ln/>
        </p:spPr>
        <p:txBody>
          <a:bodyPr wrap="square" lIns="0" tIns="0" rIns="0" bIns="0" rtlCol="0" anchor="ctr"/>
          <a:lstStyle/>
          <a:p>
            <a:pPr marL="0" indent="0">
              <a:buNone/>
            </a:pPr>
            <a:r>
              <a:rPr lang="en-US" sz="1200" b="1" dirty="0">
                <a:solidFill>
                  <a:srgbClr val="1E8C45"/>
                </a:solidFill>
                <a:latin typeface="Calibri" pitchFamily="34" charset="0"/>
                <a:ea typeface="Calibri" pitchFamily="34" charset="-122"/>
                <a:cs typeface="Calibri" pitchFamily="34" charset="-120"/>
              </a:rPr>
              <a:t>Trọng tâm &amp; giá trị: </a:t>
            </a:r>
            <a:r>
              <a:rPr lang="en-US" sz="1200" dirty="0">
                <a:solidFill>
                  <a:srgbClr val="17261D"/>
                </a:solidFill>
                <a:latin typeface="Calibri" pitchFamily="34" charset="0"/>
                <a:ea typeface="Calibri" pitchFamily="34" charset="-122"/>
                <a:cs typeface="Calibri" pitchFamily="34" charset="-120"/>
              </a:rPr>
              <a:t>Tập trung nhận diện nguy cơ, đánh giá rủi ro, biện pháp phòng ngừa tai nạn lao động và phối hợp cải thiện điều kiện làm việc.</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2E1C"/>
        </a:solidFill>
        <a:effectLst/>
      </p:bgPr>
    </p:bg>
    <p:spTree>
      <p:nvGrpSpPr>
        <p:cNvPr id="1" name=""/>
        <p:cNvGrpSpPr/>
        <p:nvPr/>
      </p:nvGrpSpPr>
      <p:grpSpPr>
        <a:xfrm>
          <a:off x="0" y="0"/>
          <a:ext cx="0" cy="0"/>
          <a:chOff x="0" y="0"/>
          <a:chExt cx="0" cy="0"/>
        </a:xfrm>
      </p:grpSpPr>
      <p:pic>
        <p:nvPicPr>
          <p:cNvPr id="2" name="Image 0" descr="/home/claude/assets/beams_dark.png"/>
          <p:cNvPicPr>
            <a:picLocks noChangeAspect="1"/>
          </p:cNvPicPr>
          <p:nvPr/>
        </p:nvPicPr>
        <p:blipFill>
          <a:blip r:embed="rId3">
            <a:alphaModFix amt="70000"/>
          </a:blip>
          <a:stretch>
            <a:fillRect/>
          </a:stretch>
        </p:blipFill>
        <p:spPr>
          <a:xfrm flipH="1">
            <a:off x="-1828800" y="2011680"/>
            <a:ext cx="9144000" cy="4846320"/>
          </a:xfrm>
          <a:prstGeom prst="rect">
            <a:avLst/>
          </a:prstGeom>
        </p:spPr>
      </p:pic>
      <p:sp>
        <p:nvSpPr>
          <p:cNvPr id="3" name="Text 0"/>
          <p:cNvSpPr txBox="1"/>
          <p:nvPr/>
        </p:nvSpPr>
        <p:spPr>
          <a:xfrm>
            <a:off x="411480" y="411480"/>
            <a:ext cx="5486400" cy="2194560"/>
          </a:xfrm>
          <a:prstGeom prst="rect">
            <a:avLst/>
          </a:prstGeom>
          <a:noFill/>
          <a:ln/>
        </p:spPr>
        <p:txBody>
          <a:bodyPr wrap="square" lIns="0" tIns="0" rIns="0" bIns="0" rtlCol="0" anchor="t"/>
          <a:lstStyle/>
          <a:p>
            <a:pPr marL="0" indent="0">
              <a:buNone/>
            </a:pPr>
            <a:r>
              <a:rPr lang="en-US" sz="15000" b="1" dirty="0">
                <a:solidFill>
                  <a:srgbClr val="1D5C3B"/>
                </a:solidFill>
                <a:latin typeface="Arial" pitchFamily="34" charset="0"/>
                <a:ea typeface="Arial" pitchFamily="34" charset="-122"/>
                <a:cs typeface="Arial" pitchFamily="34" charset="-120"/>
              </a:rPr>
              <a:t>03</a:t>
            </a:r>
            <a:endParaRPr lang="en-US" sz="15000" dirty="0"/>
          </a:p>
        </p:txBody>
      </p:sp>
      <p:sp>
        <p:nvSpPr>
          <p:cNvPr id="4" name="Text 1"/>
          <p:cNvSpPr txBox="1"/>
          <p:nvPr/>
        </p:nvSpPr>
        <p:spPr>
          <a:xfrm>
            <a:off x="566928" y="2697480"/>
            <a:ext cx="4572000" cy="320040"/>
          </a:xfrm>
          <a:prstGeom prst="rect">
            <a:avLst/>
          </a:prstGeom>
          <a:noFill/>
          <a:ln/>
        </p:spPr>
        <p:txBody>
          <a:bodyPr wrap="square" lIns="0" tIns="0" rIns="0" bIns="0" rtlCol="0" anchor="t"/>
          <a:lstStyle/>
          <a:p>
            <a:pPr marL="0" indent="0">
              <a:buNone/>
            </a:pPr>
            <a:r>
              <a:rPr lang="en-US" sz="1400" b="1" kern="0" spc="800" dirty="0">
                <a:solidFill>
                  <a:srgbClr val="A8D84E"/>
                </a:solidFill>
                <a:latin typeface="Arial" pitchFamily="34" charset="0"/>
                <a:ea typeface="Arial" pitchFamily="34" charset="-122"/>
                <a:cs typeface="Arial" pitchFamily="34" charset="-120"/>
              </a:rPr>
              <a:t>PHẦN III</a:t>
            </a:r>
            <a:endParaRPr lang="en-US" sz="1400" dirty="0"/>
          </a:p>
        </p:txBody>
      </p:sp>
      <p:sp>
        <p:nvSpPr>
          <p:cNvPr id="5" name="Text 2"/>
          <p:cNvSpPr txBox="1"/>
          <p:nvPr/>
        </p:nvSpPr>
        <p:spPr>
          <a:xfrm>
            <a:off x="548640" y="3090672"/>
            <a:ext cx="5394960" cy="1207008"/>
          </a:xfrm>
          <a:prstGeom prst="rect">
            <a:avLst/>
          </a:prstGeom>
          <a:noFill/>
          <a:ln/>
        </p:spPr>
        <p:txBody>
          <a:bodyPr wrap="square" lIns="0" tIns="0" rIns="0" bIns="0" rtlCol="0" anchor="t"/>
          <a:lstStyle/>
          <a:p>
            <a:pPr marL="0" indent="0">
              <a:buNone/>
            </a:pPr>
            <a:r>
              <a:rPr lang="en-US" sz="3600" b="1" dirty="0">
                <a:solidFill>
                  <a:srgbClr val="FFFFFF"/>
                </a:solidFill>
                <a:latin typeface="Arial" pitchFamily="34" charset="0"/>
                <a:ea typeface="Arial" pitchFamily="34" charset="-122"/>
                <a:cs typeface="Arial" pitchFamily="34" charset="-120"/>
              </a:rPr>
              <a:t>CHUYỂN ĐỔI </a:t>
            </a:r>
            <a:r>
              <a:rPr lang="en-US" sz="3600" b="1">
                <a:solidFill>
                  <a:srgbClr val="FFFFFF"/>
                </a:solidFill>
                <a:latin typeface="Arial" pitchFamily="34" charset="0"/>
                <a:ea typeface="Arial" pitchFamily="34" charset="-122"/>
                <a:cs typeface="Arial" pitchFamily="34" charset="-120"/>
              </a:rPr>
              <a:t>SỐ </a:t>
            </a:r>
          </a:p>
          <a:p>
            <a:pPr marL="0" indent="0">
              <a:buNone/>
            </a:pPr>
            <a:r>
              <a:rPr lang="en-US" sz="3600" b="1">
                <a:solidFill>
                  <a:srgbClr val="FFFFFF"/>
                </a:solidFill>
                <a:latin typeface="Arial" pitchFamily="34" charset="0"/>
                <a:ea typeface="Arial" pitchFamily="34" charset="-122"/>
                <a:cs typeface="Arial" pitchFamily="34" charset="-120"/>
              </a:rPr>
              <a:t>ĐÀO </a:t>
            </a:r>
            <a:r>
              <a:rPr lang="en-US" sz="3600" b="1" dirty="0">
                <a:solidFill>
                  <a:srgbClr val="FFFFFF"/>
                </a:solidFill>
                <a:latin typeface="Arial" pitchFamily="34" charset="0"/>
                <a:ea typeface="Arial" pitchFamily="34" charset="-122"/>
                <a:cs typeface="Arial" pitchFamily="34" charset="-120"/>
              </a:rPr>
              <a:t>TẠO ATVSLĐ</a:t>
            </a:r>
            <a:endParaRPr lang="en-US" sz="3600" dirty="0"/>
          </a:p>
        </p:txBody>
      </p:sp>
      <p:sp>
        <p:nvSpPr>
          <p:cNvPr id="6" name="Text 3"/>
          <p:cNvSpPr txBox="1"/>
          <p:nvPr/>
        </p:nvSpPr>
        <p:spPr>
          <a:xfrm>
            <a:off x="566928" y="4617720"/>
            <a:ext cx="5120640" cy="1097280"/>
          </a:xfrm>
          <a:prstGeom prst="rect">
            <a:avLst/>
          </a:prstGeom>
          <a:noFill/>
          <a:ln/>
        </p:spPr>
        <p:txBody>
          <a:bodyPr wrap="square" lIns="0" tIns="0" rIns="0" bIns="0" rtlCol="0" anchor="t"/>
          <a:lstStyle/>
          <a:p>
            <a:pPr marL="0" indent="0">
              <a:buNone/>
            </a:pPr>
            <a:r>
              <a:rPr lang="en-US" sz="1600" dirty="0">
                <a:solidFill>
                  <a:srgbClr val="B9D3C0"/>
                </a:solidFill>
                <a:latin typeface="Calibri" pitchFamily="34" charset="0"/>
                <a:ea typeface="Calibri" pitchFamily="34" charset="-122"/>
                <a:cs typeface="Calibri" pitchFamily="34" charset="-120"/>
              </a:rPr>
              <a:t>Không chỉ là đào tạo – Viện STP mang đến giải pháp quản lý an toàn lao động thông minh 4.0</a:t>
            </a:r>
            <a:endParaRPr lang="en-US" sz="1600" dirty="0"/>
          </a:p>
        </p:txBody>
      </p:sp>
      <p:pic>
        <p:nvPicPr>
          <p:cNvPr id="7" name="Image 1" descr="preencoded.png"/>
          <p:cNvPicPr>
            <a:picLocks noChangeAspect="1"/>
          </p:cNvPicPr>
          <p:nvPr/>
        </p:nvPicPr>
        <p:blipFill>
          <a:blip r:embed="rId4"/>
          <a:stretch>
            <a:fillRect/>
          </a:stretch>
        </p:blipFill>
        <p:spPr>
          <a:xfrm>
            <a:off x="6172200" y="685800"/>
            <a:ext cx="5468112" cy="5486400"/>
          </a:xfrm>
          <a:prstGeom prst="rect">
            <a:avLst/>
          </a:prstGeom>
        </p:spPr>
      </p:pic>
      <p:sp>
        <p:nvSpPr>
          <p:cNvPr id="8" name="Shape 4"/>
          <p:cNvSpPr/>
          <p:nvPr/>
        </p:nvSpPr>
        <p:spPr>
          <a:xfrm>
            <a:off x="9677095" y="-228600"/>
            <a:ext cx="1965960" cy="566928"/>
          </a:xfrm>
          <a:prstGeom prst="roundRect">
            <a:avLst>
              <a:gd name="adj" fmla="val 25806"/>
            </a:avLst>
          </a:prstGeom>
          <a:solidFill>
            <a:srgbClr val="0F5B34"/>
          </a:solidFill>
          <a:ln/>
        </p:spPr>
      </p:sp>
      <p:sp>
        <p:nvSpPr>
          <p:cNvPr id="9" name="Text 5"/>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A8D84E"/>
                </a:solidFill>
                <a:latin typeface="Arial" pitchFamily="34" charset="0"/>
                <a:ea typeface="Arial" pitchFamily="34" charset="-122"/>
                <a:cs typeface="Arial" pitchFamily="34" charset="-120"/>
              </a:rPr>
              <a:t>STP INSTITUTE</a:t>
            </a:r>
            <a:endParaRPr lang="en-US" sz="950" dirty="0"/>
          </a:p>
        </p:txBody>
      </p:sp>
      <p:sp>
        <p:nvSpPr>
          <p:cNvPr id="10" name="Text 6"/>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B9D3C0"/>
                </a:solidFill>
                <a:latin typeface="Arial" pitchFamily="34" charset="0"/>
                <a:ea typeface="Arial" pitchFamily="34" charset="-122"/>
                <a:cs typeface="Arial" pitchFamily="34" charset="-120"/>
              </a:rPr>
              <a:t>16</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III · CHUYỂN ĐỔI SỐ ĐÀO TẠO ATVSLĐ</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NHỮNG KHÓ KHĂN TRONG QUẢN LÝ ATVSLĐ</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17</a:t>
            </a:r>
            <a:endParaRPr lang="en-US" sz="900" dirty="0"/>
          </a:p>
        </p:txBody>
      </p:sp>
      <p:sp>
        <p:nvSpPr>
          <p:cNvPr id="8" name="Shape 6"/>
          <p:cNvSpPr/>
          <p:nvPr/>
        </p:nvSpPr>
        <p:spPr>
          <a:xfrm>
            <a:off x="548640" y="1417320"/>
            <a:ext cx="3931920" cy="4937760"/>
          </a:xfrm>
          <a:prstGeom prst="roundRect">
            <a:avLst>
              <a:gd name="adj" fmla="val 4651"/>
            </a:avLst>
          </a:prstGeom>
          <a:solidFill>
            <a:srgbClr val="0A2E1C"/>
          </a:solidFill>
          <a:ln/>
        </p:spPr>
      </p:sp>
      <p:pic>
        <p:nvPicPr>
          <p:cNvPr id="9" name="Image 0" descr="/home/claude/assets/beams_dark.png"/>
          <p:cNvPicPr>
            <a:picLocks noChangeAspect="1"/>
          </p:cNvPicPr>
          <p:nvPr/>
        </p:nvPicPr>
        <p:blipFill>
          <a:blip r:embed="rId3">
            <a:alphaModFix amt="50000"/>
          </a:blip>
          <a:stretch>
            <a:fillRect/>
          </a:stretch>
        </p:blipFill>
        <p:spPr>
          <a:xfrm>
            <a:off x="548640" y="3931920"/>
            <a:ext cx="3931920" cy="2423160"/>
          </a:xfrm>
          <a:prstGeom prst="rect">
            <a:avLst/>
          </a:prstGeom>
        </p:spPr>
      </p:pic>
      <p:sp>
        <p:nvSpPr>
          <p:cNvPr id="10" name="Shape 7"/>
          <p:cNvSpPr/>
          <p:nvPr/>
        </p:nvSpPr>
        <p:spPr>
          <a:xfrm>
            <a:off x="868680" y="1737360"/>
            <a:ext cx="731520" cy="731520"/>
          </a:xfrm>
          <a:prstGeom prst="ellipse">
            <a:avLst/>
          </a:prstGeom>
          <a:solidFill>
            <a:srgbClr val="A8D84E"/>
          </a:solidFill>
          <a:ln/>
        </p:spPr>
      </p:sp>
      <p:pic>
        <p:nvPicPr>
          <p:cNvPr id="11" name="Image 1" descr="preencoded.png"/>
          <p:cNvPicPr>
            <a:picLocks noChangeAspect="1"/>
          </p:cNvPicPr>
          <p:nvPr/>
        </p:nvPicPr>
        <p:blipFill>
          <a:blip r:embed="rId4"/>
          <a:stretch>
            <a:fillRect/>
          </a:stretch>
        </p:blipFill>
        <p:spPr>
          <a:xfrm>
            <a:off x="1044245" y="1912925"/>
            <a:ext cx="380390" cy="380390"/>
          </a:xfrm>
          <a:prstGeom prst="rect">
            <a:avLst/>
          </a:prstGeom>
        </p:spPr>
      </p:pic>
      <p:sp>
        <p:nvSpPr>
          <p:cNvPr id="12" name="Text 8"/>
          <p:cNvSpPr txBox="1"/>
          <p:nvPr/>
        </p:nvSpPr>
        <p:spPr>
          <a:xfrm>
            <a:off x="868680" y="2697480"/>
            <a:ext cx="3337560" cy="1554480"/>
          </a:xfrm>
          <a:prstGeom prst="rect">
            <a:avLst/>
          </a:prstGeom>
          <a:noFill/>
          <a:ln/>
        </p:spPr>
        <p:txBody>
          <a:bodyPr wrap="square" lIns="0" tIns="0" rIns="0" bIns="0" rtlCol="0" anchor="t"/>
          <a:lstStyle/>
          <a:p>
            <a:pPr marL="0" indent="0">
              <a:buNone/>
            </a:pPr>
            <a:r>
              <a:rPr lang="en-US" sz="2100" b="1" dirty="0">
                <a:solidFill>
                  <a:srgbClr val="FFFFFF"/>
                </a:solidFill>
                <a:latin typeface="Arial" pitchFamily="34" charset="0"/>
                <a:ea typeface="Arial" pitchFamily="34" charset="-122"/>
                <a:cs typeface="Arial" pitchFamily="34" charset="-120"/>
              </a:rPr>
              <a:t>Doanh nghiệp bạn đang gặp khó khăn trong quản lý an toàn, vệ sinh lao động?</a:t>
            </a:r>
            <a:endParaRPr lang="en-US" sz="2100" dirty="0"/>
          </a:p>
        </p:txBody>
      </p:sp>
      <p:sp>
        <p:nvSpPr>
          <p:cNvPr id="13" name="Text 9"/>
          <p:cNvSpPr txBox="1"/>
          <p:nvPr/>
        </p:nvSpPr>
        <p:spPr>
          <a:xfrm>
            <a:off x="868680" y="4343400"/>
            <a:ext cx="3291840" cy="1737360"/>
          </a:xfrm>
          <a:prstGeom prst="rect">
            <a:avLst/>
          </a:prstGeom>
          <a:noFill/>
          <a:ln/>
        </p:spPr>
        <p:txBody>
          <a:bodyPr wrap="square" lIns="0" tIns="0" rIns="0" bIns="0" rtlCol="0" anchor="t"/>
          <a:lstStyle/>
          <a:p>
            <a:pPr marL="0" indent="0">
              <a:buNone/>
            </a:pPr>
            <a:r>
              <a:rPr lang="en-US" sz="1400" dirty="0">
                <a:solidFill>
                  <a:srgbClr val="B9D3C0"/>
                </a:solidFill>
                <a:latin typeface="Calibri" pitchFamily="34" charset="0"/>
                <a:ea typeface="Calibri" pitchFamily="34" charset="-122"/>
                <a:cs typeface="Calibri" pitchFamily="34" charset="-120"/>
              </a:rPr>
              <a:t>Khi người lao động, máy móc, thiết bị và hồ sơ ngày càng nhiều, quản lý thủ công bằng </a:t>
            </a:r>
            <a:r>
              <a:rPr lang="en-US" sz="1400" b="1" dirty="0">
                <a:solidFill>
                  <a:srgbClr val="A8D84E"/>
                </a:solidFill>
                <a:latin typeface="Calibri" pitchFamily="34" charset="0"/>
                <a:ea typeface="Calibri" pitchFamily="34" charset="-122"/>
                <a:cs typeface="Calibri" pitchFamily="34" charset="-120"/>
              </a:rPr>
              <a:t>giấy tờ và Excel</a:t>
            </a:r>
            <a:r>
              <a:rPr lang="en-US" sz="1400" dirty="0">
                <a:solidFill>
                  <a:srgbClr val="B9D3C0"/>
                </a:solidFill>
                <a:latin typeface="Calibri" pitchFamily="34" charset="0"/>
                <a:ea typeface="Calibri" pitchFamily="34" charset="-122"/>
                <a:cs typeface="Calibri" pitchFamily="34" charset="-120"/>
              </a:rPr>
              <a:t> khiến doanh nghiệp mất thời gian, dễ bỏ sót và khó kiểm soát.</a:t>
            </a:r>
            <a:endParaRPr lang="en-US" sz="1400" dirty="0"/>
          </a:p>
        </p:txBody>
      </p:sp>
      <p:sp>
        <p:nvSpPr>
          <p:cNvPr id="14" name="Shape 10"/>
          <p:cNvSpPr/>
          <p:nvPr/>
        </p:nvSpPr>
        <p:spPr>
          <a:xfrm>
            <a:off x="4754880" y="1417320"/>
            <a:ext cx="6885432" cy="914400"/>
          </a:xfrm>
          <a:prstGeom prst="roundRect">
            <a:avLst>
              <a:gd name="adj" fmla="val 14000"/>
            </a:avLst>
          </a:prstGeom>
          <a:solidFill>
            <a:srgbClr val="FFFFFF"/>
          </a:solidFill>
          <a:ln/>
          <a:effectLst>
            <a:outerShdw blurRad="101600" dist="25400" dir="5400000" algn="bl" rotWithShape="0">
              <a:srgbClr val="0A2E1C">
                <a:alpha val="12000"/>
              </a:srgbClr>
            </a:outerShdw>
          </a:effectLst>
        </p:spPr>
      </p:sp>
      <p:sp>
        <p:nvSpPr>
          <p:cNvPr id="15" name="Shape 11"/>
          <p:cNvSpPr/>
          <p:nvPr/>
        </p:nvSpPr>
        <p:spPr>
          <a:xfrm>
            <a:off x="4956048" y="1645920"/>
            <a:ext cx="457200" cy="457200"/>
          </a:xfrm>
          <a:prstGeom prst="ellipse">
            <a:avLst/>
          </a:prstGeom>
          <a:solidFill>
            <a:srgbClr val="FDECEC"/>
          </a:solidFill>
          <a:ln/>
        </p:spPr>
      </p:sp>
      <p:pic>
        <p:nvPicPr>
          <p:cNvPr id="16" name="Image 2" descr="preencoded.png"/>
          <p:cNvPicPr>
            <a:picLocks noChangeAspect="1"/>
          </p:cNvPicPr>
          <p:nvPr/>
        </p:nvPicPr>
        <p:blipFill>
          <a:blip r:embed="rId5"/>
          <a:stretch>
            <a:fillRect/>
          </a:stretch>
        </p:blipFill>
        <p:spPr>
          <a:xfrm>
            <a:off x="5065776" y="1755648"/>
            <a:ext cx="237744" cy="237744"/>
          </a:xfrm>
          <a:prstGeom prst="rect">
            <a:avLst/>
          </a:prstGeom>
        </p:spPr>
      </p:pic>
      <p:sp>
        <p:nvSpPr>
          <p:cNvPr id="17" name="Text 12"/>
          <p:cNvSpPr txBox="1"/>
          <p:nvPr/>
        </p:nvSpPr>
        <p:spPr>
          <a:xfrm>
            <a:off x="5623560" y="1508760"/>
            <a:ext cx="5833872" cy="310896"/>
          </a:xfrm>
          <a:prstGeom prst="rect">
            <a:avLst/>
          </a:prstGeom>
          <a:noFill/>
          <a:ln/>
        </p:spPr>
        <p:txBody>
          <a:bodyPr wrap="square" lIns="0" tIns="0" rIns="0" bIns="0" rtlCol="0" anchor="ctr"/>
          <a:lstStyle/>
          <a:p>
            <a:pPr marL="0" indent="0">
              <a:buNone/>
            </a:pPr>
            <a:r>
              <a:rPr lang="en-US" sz="1350" b="1" dirty="0">
                <a:solidFill>
                  <a:srgbClr val="17261D"/>
                </a:solidFill>
                <a:latin typeface="Arial" pitchFamily="34" charset="0"/>
                <a:ea typeface="Arial" pitchFamily="34" charset="-122"/>
                <a:cs typeface="Arial" pitchFamily="34" charset="-120"/>
              </a:rPr>
              <a:t>Theo dõi nhân sự &amp; lịch sử huấn luyện bằng Excel thủ công?</a:t>
            </a:r>
            <a:endParaRPr lang="en-US" sz="1350" dirty="0"/>
          </a:p>
        </p:txBody>
      </p:sp>
      <p:sp>
        <p:nvSpPr>
          <p:cNvPr id="18" name="Text 13"/>
          <p:cNvSpPr txBox="1"/>
          <p:nvPr/>
        </p:nvSpPr>
        <p:spPr>
          <a:xfrm>
            <a:off x="5623560" y="1837944"/>
            <a:ext cx="5879592" cy="43891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Khó biết chính xác ai đã huấn luyện, ai chưa hoàn thành, chứng chỉ của ai sắp hết hạn.</a:t>
            </a:r>
            <a:endParaRPr lang="en-US" sz="1250" dirty="0"/>
          </a:p>
        </p:txBody>
      </p:sp>
      <p:sp>
        <p:nvSpPr>
          <p:cNvPr id="19" name="Shape 14"/>
          <p:cNvSpPr/>
          <p:nvPr/>
        </p:nvSpPr>
        <p:spPr>
          <a:xfrm>
            <a:off x="4754880" y="2423160"/>
            <a:ext cx="6885432" cy="914400"/>
          </a:xfrm>
          <a:prstGeom prst="roundRect">
            <a:avLst>
              <a:gd name="adj" fmla="val 14000"/>
            </a:avLst>
          </a:prstGeom>
          <a:solidFill>
            <a:srgbClr val="FFFFFF"/>
          </a:solidFill>
          <a:ln/>
          <a:effectLst>
            <a:outerShdw blurRad="101600" dist="25400" dir="5400000" algn="bl" rotWithShape="0">
              <a:srgbClr val="0A2E1C">
                <a:alpha val="12000"/>
              </a:srgbClr>
            </a:outerShdw>
          </a:effectLst>
        </p:spPr>
      </p:sp>
      <p:sp>
        <p:nvSpPr>
          <p:cNvPr id="20" name="Shape 15"/>
          <p:cNvSpPr/>
          <p:nvPr/>
        </p:nvSpPr>
        <p:spPr>
          <a:xfrm>
            <a:off x="4956048" y="2651760"/>
            <a:ext cx="457200" cy="457200"/>
          </a:xfrm>
          <a:prstGeom prst="ellipse">
            <a:avLst/>
          </a:prstGeom>
          <a:solidFill>
            <a:srgbClr val="FDECEC"/>
          </a:solidFill>
          <a:ln/>
        </p:spPr>
      </p:sp>
      <p:pic>
        <p:nvPicPr>
          <p:cNvPr id="21" name="Image 3" descr="preencoded.png"/>
          <p:cNvPicPr>
            <a:picLocks noChangeAspect="1"/>
          </p:cNvPicPr>
          <p:nvPr/>
        </p:nvPicPr>
        <p:blipFill>
          <a:blip r:embed="rId5"/>
          <a:stretch>
            <a:fillRect/>
          </a:stretch>
        </p:blipFill>
        <p:spPr>
          <a:xfrm>
            <a:off x="5065776" y="2761488"/>
            <a:ext cx="237744" cy="237744"/>
          </a:xfrm>
          <a:prstGeom prst="rect">
            <a:avLst/>
          </a:prstGeom>
        </p:spPr>
      </p:pic>
      <p:sp>
        <p:nvSpPr>
          <p:cNvPr id="22" name="Text 16"/>
          <p:cNvSpPr txBox="1"/>
          <p:nvPr/>
        </p:nvSpPr>
        <p:spPr>
          <a:xfrm>
            <a:off x="5623560" y="2514600"/>
            <a:ext cx="5833872" cy="310896"/>
          </a:xfrm>
          <a:prstGeom prst="rect">
            <a:avLst/>
          </a:prstGeom>
          <a:noFill/>
          <a:ln/>
        </p:spPr>
        <p:txBody>
          <a:bodyPr wrap="square" lIns="0" tIns="0" rIns="0" bIns="0" rtlCol="0" anchor="ctr"/>
          <a:lstStyle/>
          <a:p>
            <a:pPr marL="0" indent="0">
              <a:buNone/>
            </a:pPr>
            <a:r>
              <a:rPr lang="en-US" sz="1350" b="1" dirty="0">
                <a:solidFill>
                  <a:srgbClr val="17261D"/>
                </a:solidFill>
                <a:latin typeface="Arial" pitchFamily="34" charset="0"/>
                <a:ea typeface="Arial" pitchFamily="34" charset="-122"/>
                <a:cs typeface="Arial" pitchFamily="34" charset="-120"/>
              </a:rPr>
              <a:t>Bị động trước thời hạn kiểm định máy móc, thiết bị nghiêm ngặt?</a:t>
            </a:r>
            <a:endParaRPr lang="en-US" sz="1350" dirty="0"/>
          </a:p>
        </p:txBody>
      </p:sp>
      <p:sp>
        <p:nvSpPr>
          <p:cNvPr id="23" name="Text 17"/>
          <p:cNvSpPr txBox="1"/>
          <p:nvPr/>
        </p:nvSpPr>
        <p:spPr>
          <a:xfrm>
            <a:off x="5623560" y="2843784"/>
            <a:ext cx="5879592" cy="43891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Nhiều đầu việc theo dõi cùng lúc, dễ bỏ sót thời hạn nếu không có cảnh báo tự động.</a:t>
            </a:r>
            <a:endParaRPr lang="en-US" sz="1250" dirty="0"/>
          </a:p>
        </p:txBody>
      </p:sp>
      <p:sp>
        <p:nvSpPr>
          <p:cNvPr id="24" name="Shape 18"/>
          <p:cNvSpPr/>
          <p:nvPr/>
        </p:nvSpPr>
        <p:spPr>
          <a:xfrm>
            <a:off x="4754880" y="3429000"/>
            <a:ext cx="6885432" cy="914400"/>
          </a:xfrm>
          <a:prstGeom prst="roundRect">
            <a:avLst>
              <a:gd name="adj" fmla="val 14000"/>
            </a:avLst>
          </a:prstGeom>
          <a:solidFill>
            <a:srgbClr val="FFFFFF"/>
          </a:solidFill>
          <a:ln/>
          <a:effectLst>
            <a:outerShdw blurRad="101600" dist="25400" dir="5400000" algn="bl" rotWithShape="0">
              <a:srgbClr val="0A2E1C">
                <a:alpha val="12000"/>
              </a:srgbClr>
            </a:outerShdw>
          </a:effectLst>
        </p:spPr>
      </p:sp>
      <p:sp>
        <p:nvSpPr>
          <p:cNvPr id="25" name="Shape 19"/>
          <p:cNvSpPr/>
          <p:nvPr/>
        </p:nvSpPr>
        <p:spPr>
          <a:xfrm>
            <a:off x="4956048" y="3657600"/>
            <a:ext cx="457200" cy="457200"/>
          </a:xfrm>
          <a:prstGeom prst="ellipse">
            <a:avLst/>
          </a:prstGeom>
          <a:solidFill>
            <a:srgbClr val="FDECEC"/>
          </a:solidFill>
          <a:ln/>
        </p:spPr>
      </p:sp>
      <p:pic>
        <p:nvPicPr>
          <p:cNvPr id="26" name="Image 4" descr="preencoded.png"/>
          <p:cNvPicPr>
            <a:picLocks noChangeAspect="1"/>
          </p:cNvPicPr>
          <p:nvPr/>
        </p:nvPicPr>
        <p:blipFill>
          <a:blip r:embed="rId5"/>
          <a:stretch>
            <a:fillRect/>
          </a:stretch>
        </p:blipFill>
        <p:spPr>
          <a:xfrm>
            <a:off x="5065776" y="3767328"/>
            <a:ext cx="237744" cy="237744"/>
          </a:xfrm>
          <a:prstGeom prst="rect">
            <a:avLst/>
          </a:prstGeom>
        </p:spPr>
      </p:pic>
      <p:sp>
        <p:nvSpPr>
          <p:cNvPr id="27" name="Text 20"/>
          <p:cNvSpPr txBox="1"/>
          <p:nvPr/>
        </p:nvSpPr>
        <p:spPr>
          <a:xfrm>
            <a:off x="5623560" y="3520440"/>
            <a:ext cx="5833872" cy="310896"/>
          </a:xfrm>
          <a:prstGeom prst="rect">
            <a:avLst/>
          </a:prstGeom>
          <a:noFill/>
          <a:ln/>
        </p:spPr>
        <p:txBody>
          <a:bodyPr wrap="square" lIns="0" tIns="0" rIns="0" bIns="0" rtlCol="0" anchor="ctr"/>
          <a:lstStyle/>
          <a:p>
            <a:pPr marL="0" indent="0">
              <a:buNone/>
            </a:pPr>
            <a:r>
              <a:rPr lang="en-US" sz="1350" b="1" dirty="0">
                <a:solidFill>
                  <a:srgbClr val="17261D"/>
                </a:solidFill>
                <a:latin typeface="Arial" pitchFamily="34" charset="0"/>
                <a:ea typeface="Arial" pitchFamily="34" charset="-122"/>
                <a:cs typeface="Arial" pitchFamily="34" charset="-120"/>
              </a:rPr>
              <a:t>Đánh giá nguy cơ, rủi ro chưa được cập nhật liên tục?</a:t>
            </a:r>
            <a:endParaRPr lang="en-US" sz="1350" dirty="0"/>
          </a:p>
        </p:txBody>
      </p:sp>
      <p:sp>
        <p:nvSpPr>
          <p:cNvPr id="28" name="Text 21"/>
          <p:cNvSpPr txBox="1"/>
          <p:nvPr/>
        </p:nvSpPr>
        <p:spPr>
          <a:xfrm>
            <a:off x="5623560" y="3849624"/>
            <a:ext cx="5879592" cy="43891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Ngại viết hồ sơ giấy, báo cáo sự cố chậm → nguy cơ không được xử lý kịp thời.</a:t>
            </a:r>
            <a:endParaRPr lang="en-US" sz="1250" dirty="0"/>
          </a:p>
        </p:txBody>
      </p:sp>
      <p:sp>
        <p:nvSpPr>
          <p:cNvPr id="29" name="Shape 22"/>
          <p:cNvSpPr/>
          <p:nvPr/>
        </p:nvSpPr>
        <p:spPr>
          <a:xfrm>
            <a:off x="4754880" y="4434840"/>
            <a:ext cx="6885432" cy="914400"/>
          </a:xfrm>
          <a:prstGeom prst="roundRect">
            <a:avLst>
              <a:gd name="adj" fmla="val 14000"/>
            </a:avLst>
          </a:prstGeom>
          <a:solidFill>
            <a:srgbClr val="FFFFFF"/>
          </a:solidFill>
          <a:ln/>
          <a:effectLst>
            <a:outerShdw blurRad="101600" dist="25400" dir="5400000" algn="bl" rotWithShape="0">
              <a:srgbClr val="0A2E1C">
                <a:alpha val="12000"/>
              </a:srgbClr>
            </a:outerShdw>
          </a:effectLst>
        </p:spPr>
      </p:sp>
      <p:sp>
        <p:nvSpPr>
          <p:cNvPr id="30" name="Shape 23"/>
          <p:cNvSpPr/>
          <p:nvPr/>
        </p:nvSpPr>
        <p:spPr>
          <a:xfrm>
            <a:off x="4956048" y="4663440"/>
            <a:ext cx="457200" cy="457200"/>
          </a:xfrm>
          <a:prstGeom prst="ellipse">
            <a:avLst/>
          </a:prstGeom>
          <a:solidFill>
            <a:srgbClr val="FDECEC"/>
          </a:solidFill>
          <a:ln/>
        </p:spPr>
      </p:sp>
      <p:pic>
        <p:nvPicPr>
          <p:cNvPr id="31" name="Image 5" descr="preencoded.png"/>
          <p:cNvPicPr>
            <a:picLocks noChangeAspect="1"/>
          </p:cNvPicPr>
          <p:nvPr/>
        </p:nvPicPr>
        <p:blipFill>
          <a:blip r:embed="rId5"/>
          <a:stretch>
            <a:fillRect/>
          </a:stretch>
        </p:blipFill>
        <p:spPr>
          <a:xfrm>
            <a:off x="5065776" y="4773168"/>
            <a:ext cx="237744" cy="237744"/>
          </a:xfrm>
          <a:prstGeom prst="rect">
            <a:avLst/>
          </a:prstGeom>
        </p:spPr>
      </p:pic>
      <p:sp>
        <p:nvSpPr>
          <p:cNvPr id="32" name="Text 24"/>
          <p:cNvSpPr txBox="1"/>
          <p:nvPr/>
        </p:nvSpPr>
        <p:spPr>
          <a:xfrm>
            <a:off x="5623560" y="4526280"/>
            <a:ext cx="5833872" cy="310896"/>
          </a:xfrm>
          <a:prstGeom prst="rect">
            <a:avLst/>
          </a:prstGeom>
          <a:noFill/>
          <a:ln/>
        </p:spPr>
        <p:txBody>
          <a:bodyPr wrap="square" lIns="0" tIns="0" rIns="0" bIns="0" rtlCol="0" anchor="ctr"/>
          <a:lstStyle/>
          <a:p>
            <a:pPr marL="0" indent="0">
              <a:buNone/>
            </a:pPr>
            <a:r>
              <a:rPr lang="en-US" sz="1350" b="1" dirty="0">
                <a:solidFill>
                  <a:srgbClr val="17261D"/>
                </a:solidFill>
                <a:latin typeface="Arial" pitchFamily="34" charset="0"/>
                <a:ea typeface="Arial" pitchFamily="34" charset="-122"/>
                <a:cs typeface="Arial" pitchFamily="34" charset="-120"/>
              </a:rPr>
              <a:t>Lãnh đạo thiếu dữ liệu để ra quyết định?</a:t>
            </a:r>
            <a:endParaRPr lang="en-US" sz="1350" dirty="0"/>
          </a:p>
        </p:txBody>
      </p:sp>
      <p:sp>
        <p:nvSpPr>
          <p:cNvPr id="33" name="Text 25"/>
          <p:cNvSpPr txBox="1"/>
          <p:nvPr/>
        </p:nvSpPr>
        <p:spPr>
          <a:xfrm>
            <a:off x="5623560" y="4855464"/>
            <a:ext cx="5879592" cy="43891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Thông tin rải rác nhiều bộ phận, file Excel, hồ sơ giấy → khó tổng hợp, truy xuất.</a:t>
            </a:r>
            <a:endParaRPr lang="en-US" sz="1250" dirty="0"/>
          </a:p>
        </p:txBody>
      </p:sp>
      <p:sp>
        <p:nvSpPr>
          <p:cNvPr id="34" name="Shape 26"/>
          <p:cNvSpPr/>
          <p:nvPr/>
        </p:nvSpPr>
        <p:spPr>
          <a:xfrm>
            <a:off x="4754880" y="5440680"/>
            <a:ext cx="6885432" cy="914400"/>
          </a:xfrm>
          <a:prstGeom prst="roundRect">
            <a:avLst>
              <a:gd name="adj" fmla="val 14000"/>
            </a:avLst>
          </a:prstGeom>
          <a:solidFill>
            <a:srgbClr val="FFFFFF"/>
          </a:solidFill>
          <a:ln/>
          <a:effectLst>
            <a:outerShdw blurRad="101600" dist="25400" dir="5400000" algn="bl" rotWithShape="0">
              <a:srgbClr val="0A2E1C">
                <a:alpha val="12000"/>
              </a:srgbClr>
            </a:outerShdw>
          </a:effectLst>
        </p:spPr>
      </p:sp>
      <p:sp>
        <p:nvSpPr>
          <p:cNvPr id="35" name="Shape 27"/>
          <p:cNvSpPr/>
          <p:nvPr/>
        </p:nvSpPr>
        <p:spPr>
          <a:xfrm>
            <a:off x="4956048" y="5669280"/>
            <a:ext cx="457200" cy="457200"/>
          </a:xfrm>
          <a:prstGeom prst="ellipse">
            <a:avLst/>
          </a:prstGeom>
          <a:solidFill>
            <a:srgbClr val="FDECEC"/>
          </a:solidFill>
          <a:ln/>
        </p:spPr>
      </p:sp>
      <p:pic>
        <p:nvPicPr>
          <p:cNvPr id="36" name="Image 6" descr="preencoded.png"/>
          <p:cNvPicPr>
            <a:picLocks noChangeAspect="1"/>
          </p:cNvPicPr>
          <p:nvPr/>
        </p:nvPicPr>
        <p:blipFill>
          <a:blip r:embed="rId5"/>
          <a:stretch>
            <a:fillRect/>
          </a:stretch>
        </p:blipFill>
        <p:spPr>
          <a:xfrm>
            <a:off x="5065776" y="5779008"/>
            <a:ext cx="237744" cy="237744"/>
          </a:xfrm>
          <a:prstGeom prst="rect">
            <a:avLst/>
          </a:prstGeom>
        </p:spPr>
      </p:pic>
      <p:sp>
        <p:nvSpPr>
          <p:cNvPr id="37" name="Text 28"/>
          <p:cNvSpPr txBox="1"/>
          <p:nvPr/>
        </p:nvSpPr>
        <p:spPr>
          <a:xfrm>
            <a:off x="5623560" y="5532120"/>
            <a:ext cx="5833872" cy="310896"/>
          </a:xfrm>
          <a:prstGeom prst="rect">
            <a:avLst/>
          </a:prstGeom>
          <a:noFill/>
          <a:ln/>
        </p:spPr>
        <p:txBody>
          <a:bodyPr wrap="square" lIns="0" tIns="0" rIns="0" bIns="0" rtlCol="0" anchor="ctr"/>
          <a:lstStyle/>
          <a:p>
            <a:pPr marL="0" indent="0">
              <a:buNone/>
            </a:pPr>
            <a:r>
              <a:rPr lang="en-US" sz="1350" b="1" dirty="0">
                <a:solidFill>
                  <a:srgbClr val="17261D"/>
                </a:solidFill>
                <a:latin typeface="Arial" pitchFamily="34" charset="0"/>
                <a:ea typeface="Arial" pitchFamily="34" charset="-122"/>
                <a:cs typeface="Arial" pitchFamily="34" charset="-120"/>
              </a:rPr>
              <a:t>Mất chứng chỉ, khó xác minh thông tin đào tạo?</a:t>
            </a:r>
            <a:endParaRPr lang="en-US" sz="1350" dirty="0"/>
          </a:p>
        </p:txBody>
      </p:sp>
      <p:sp>
        <p:nvSpPr>
          <p:cNvPr id="38" name="Text 29"/>
          <p:cNvSpPr txBox="1"/>
          <p:nvPr/>
        </p:nvSpPr>
        <p:spPr>
          <a:xfrm>
            <a:off x="5623560" y="5861304"/>
            <a:ext cx="5879592" cy="43891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Khi thất lạc chứng chỉ, doanh nghiệp mất thời gian tìm kiếm, xác minh lại hồ sơ.</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III · CHUYỂN ĐỔI SỐ ĐÀO TẠO ATVSLĐ</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ĐÃ ĐẾN LÚC THAY ĐỔI CÁCH QUẢN LÝ ATVSLĐ</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18</a:t>
            </a:r>
            <a:endParaRPr lang="en-US" sz="900" dirty="0"/>
          </a:p>
        </p:txBody>
      </p:sp>
      <p:sp>
        <p:nvSpPr>
          <p:cNvPr id="8" name="Shape 6"/>
          <p:cNvSpPr/>
          <p:nvPr/>
        </p:nvSpPr>
        <p:spPr>
          <a:xfrm>
            <a:off x="548640" y="1371600"/>
            <a:ext cx="3429000" cy="1280160"/>
          </a:xfrm>
          <a:prstGeom prst="roundRect">
            <a:avLst>
              <a:gd name="adj" fmla="val 11429"/>
            </a:avLst>
          </a:prstGeom>
          <a:solidFill>
            <a:srgbClr val="F2F4F3"/>
          </a:solidFill>
          <a:ln/>
        </p:spPr>
      </p:sp>
      <p:sp>
        <p:nvSpPr>
          <p:cNvPr id="9" name="Text 7"/>
          <p:cNvSpPr txBox="1"/>
          <p:nvPr/>
        </p:nvSpPr>
        <p:spPr>
          <a:xfrm>
            <a:off x="777240" y="1508760"/>
            <a:ext cx="2743200" cy="228600"/>
          </a:xfrm>
          <a:prstGeom prst="rect">
            <a:avLst/>
          </a:prstGeom>
          <a:noFill/>
          <a:ln/>
        </p:spPr>
        <p:txBody>
          <a:bodyPr wrap="square" lIns="0" tIns="0" rIns="0" bIns="0" rtlCol="0" anchor="t"/>
          <a:lstStyle/>
          <a:p>
            <a:pPr marL="0" indent="0">
              <a:buNone/>
            </a:pPr>
            <a:r>
              <a:rPr lang="en-US" sz="950" b="1" kern="0" spc="200" dirty="0">
                <a:solidFill>
                  <a:srgbClr val="7A877F"/>
                </a:solidFill>
                <a:latin typeface="Arial" pitchFamily="34" charset="0"/>
                <a:ea typeface="Arial" pitchFamily="34" charset="-122"/>
                <a:cs typeface="Arial" pitchFamily="34" charset="-120"/>
              </a:rPr>
              <a:t>CÁCH QUẢN LÝ CŨ</a:t>
            </a:r>
            <a:endParaRPr lang="en-US" sz="950" dirty="0"/>
          </a:p>
        </p:txBody>
      </p:sp>
      <p:pic>
        <p:nvPicPr>
          <p:cNvPr id="10" name="Image 0" descr="preencoded.png"/>
          <p:cNvPicPr>
            <a:picLocks noChangeAspect="1"/>
          </p:cNvPicPr>
          <p:nvPr/>
        </p:nvPicPr>
        <p:blipFill>
          <a:blip r:embed="rId3"/>
          <a:stretch>
            <a:fillRect/>
          </a:stretch>
        </p:blipFill>
        <p:spPr>
          <a:xfrm>
            <a:off x="923544" y="1828800"/>
            <a:ext cx="384048" cy="384048"/>
          </a:xfrm>
          <a:prstGeom prst="rect">
            <a:avLst/>
          </a:prstGeom>
        </p:spPr>
      </p:pic>
      <p:sp>
        <p:nvSpPr>
          <p:cNvPr id="11" name="Text 8"/>
          <p:cNvSpPr txBox="1"/>
          <p:nvPr/>
        </p:nvSpPr>
        <p:spPr>
          <a:xfrm>
            <a:off x="566928" y="2258568"/>
            <a:ext cx="1097280" cy="274320"/>
          </a:xfrm>
          <a:prstGeom prst="rect">
            <a:avLst/>
          </a:prstGeom>
          <a:noFill/>
          <a:ln/>
        </p:spPr>
        <p:txBody>
          <a:bodyPr wrap="square" lIns="0" tIns="0" rIns="0" bIns="0" rtlCol="0" anchor="t"/>
          <a:lstStyle/>
          <a:p>
            <a:pPr marL="0" indent="0" algn="ctr">
              <a:buNone/>
            </a:pPr>
            <a:r>
              <a:rPr lang="en-US" sz="1150" dirty="0">
                <a:solidFill>
                  <a:srgbClr val="7A877F"/>
                </a:solidFill>
                <a:latin typeface="Calibri" pitchFamily="34" charset="0"/>
                <a:ea typeface="Calibri" pitchFamily="34" charset="-122"/>
                <a:cs typeface="Calibri" pitchFamily="34" charset="-120"/>
              </a:rPr>
              <a:t>Excel</a:t>
            </a:r>
            <a:endParaRPr lang="en-US" sz="1150" dirty="0"/>
          </a:p>
        </p:txBody>
      </p:sp>
      <p:pic>
        <p:nvPicPr>
          <p:cNvPr id="12" name="Image 1" descr="preencoded.png"/>
          <p:cNvPicPr>
            <a:picLocks noChangeAspect="1"/>
          </p:cNvPicPr>
          <p:nvPr/>
        </p:nvPicPr>
        <p:blipFill>
          <a:blip r:embed="rId4"/>
          <a:stretch>
            <a:fillRect/>
          </a:stretch>
        </p:blipFill>
        <p:spPr>
          <a:xfrm>
            <a:off x="2066544" y="1828800"/>
            <a:ext cx="384048" cy="384048"/>
          </a:xfrm>
          <a:prstGeom prst="rect">
            <a:avLst/>
          </a:prstGeom>
        </p:spPr>
      </p:pic>
      <p:sp>
        <p:nvSpPr>
          <p:cNvPr id="13" name="Text 9"/>
          <p:cNvSpPr txBox="1"/>
          <p:nvPr/>
        </p:nvSpPr>
        <p:spPr>
          <a:xfrm>
            <a:off x="1709928" y="2258568"/>
            <a:ext cx="1097280" cy="274320"/>
          </a:xfrm>
          <a:prstGeom prst="rect">
            <a:avLst/>
          </a:prstGeom>
          <a:noFill/>
          <a:ln/>
        </p:spPr>
        <p:txBody>
          <a:bodyPr wrap="square" lIns="0" tIns="0" rIns="0" bIns="0" rtlCol="0" anchor="t"/>
          <a:lstStyle/>
          <a:p>
            <a:pPr marL="0" indent="0" algn="ctr">
              <a:buNone/>
            </a:pPr>
            <a:r>
              <a:rPr lang="en-US" sz="1150" dirty="0">
                <a:solidFill>
                  <a:srgbClr val="7A877F"/>
                </a:solidFill>
                <a:latin typeface="Calibri" pitchFamily="34" charset="0"/>
                <a:ea typeface="Calibri" pitchFamily="34" charset="-122"/>
                <a:cs typeface="Calibri" pitchFamily="34" charset="-120"/>
              </a:rPr>
              <a:t>Hồ sơ giấy</a:t>
            </a:r>
            <a:endParaRPr lang="en-US" sz="1150" dirty="0"/>
          </a:p>
        </p:txBody>
      </p:sp>
      <p:pic>
        <p:nvPicPr>
          <p:cNvPr id="14" name="Image 2" descr="preencoded.png"/>
          <p:cNvPicPr>
            <a:picLocks noChangeAspect="1"/>
          </p:cNvPicPr>
          <p:nvPr/>
        </p:nvPicPr>
        <p:blipFill>
          <a:blip r:embed="rId5"/>
          <a:stretch>
            <a:fillRect/>
          </a:stretch>
        </p:blipFill>
        <p:spPr>
          <a:xfrm>
            <a:off x="3209544" y="1828800"/>
            <a:ext cx="384048" cy="384048"/>
          </a:xfrm>
          <a:prstGeom prst="rect">
            <a:avLst/>
          </a:prstGeom>
        </p:spPr>
      </p:pic>
      <p:sp>
        <p:nvSpPr>
          <p:cNvPr id="15" name="Text 10"/>
          <p:cNvSpPr txBox="1"/>
          <p:nvPr/>
        </p:nvSpPr>
        <p:spPr>
          <a:xfrm>
            <a:off x="2852928" y="2258568"/>
            <a:ext cx="1097280" cy="274320"/>
          </a:xfrm>
          <a:prstGeom prst="rect">
            <a:avLst/>
          </a:prstGeom>
          <a:noFill/>
          <a:ln/>
        </p:spPr>
        <p:txBody>
          <a:bodyPr wrap="square" lIns="0" tIns="0" rIns="0" bIns="0" rtlCol="0" anchor="t"/>
          <a:lstStyle/>
          <a:p>
            <a:pPr marL="0" indent="0" algn="ctr">
              <a:buNone/>
            </a:pPr>
            <a:r>
              <a:rPr lang="en-US" sz="1150" dirty="0">
                <a:solidFill>
                  <a:srgbClr val="7A877F"/>
                </a:solidFill>
                <a:latin typeface="Calibri" pitchFamily="34" charset="0"/>
                <a:ea typeface="Calibri" pitchFamily="34" charset="-122"/>
                <a:cs typeface="Calibri" pitchFamily="34" charset="-120"/>
              </a:rPr>
              <a:t>Theo dõi thủ công</a:t>
            </a:r>
            <a:endParaRPr lang="en-US" sz="1150" dirty="0"/>
          </a:p>
        </p:txBody>
      </p:sp>
      <p:sp>
        <p:nvSpPr>
          <p:cNvPr id="16" name="Shape 11"/>
          <p:cNvSpPr/>
          <p:nvPr/>
        </p:nvSpPr>
        <p:spPr>
          <a:xfrm>
            <a:off x="4114800" y="1801368"/>
            <a:ext cx="640080" cy="420624"/>
          </a:xfrm>
          <a:prstGeom prst="rightArrow">
            <a:avLst/>
          </a:prstGeom>
          <a:solidFill>
            <a:srgbClr val="3DB54A"/>
          </a:solidFill>
          <a:ln/>
        </p:spPr>
      </p:sp>
      <p:sp>
        <p:nvSpPr>
          <p:cNvPr id="17" name="Shape 12"/>
          <p:cNvSpPr/>
          <p:nvPr/>
        </p:nvSpPr>
        <p:spPr>
          <a:xfrm>
            <a:off x="4892040" y="1371600"/>
            <a:ext cx="6748272" cy="1280160"/>
          </a:xfrm>
          <a:prstGeom prst="roundRect">
            <a:avLst>
              <a:gd name="adj" fmla="val 11429"/>
            </a:avLst>
          </a:prstGeom>
          <a:solidFill>
            <a:srgbClr val="0A2E1C"/>
          </a:solidFill>
          <a:ln/>
        </p:spPr>
      </p:sp>
      <p:sp>
        <p:nvSpPr>
          <p:cNvPr id="18" name="Text 13"/>
          <p:cNvSpPr txBox="1"/>
          <p:nvPr/>
        </p:nvSpPr>
        <p:spPr>
          <a:xfrm>
            <a:off x="5166360" y="1527048"/>
            <a:ext cx="3200400" cy="228600"/>
          </a:xfrm>
          <a:prstGeom prst="rect">
            <a:avLst/>
          </a:prstGeom>
          <a:noFill/>
          <a:ln/>
        </p:spPr>
        <p:txBody>
          <a:bodyPr wrap="square" lIns="0" tIns="0" rIns="0" bIns="0" rtlCol="0" anchor="t"/>
          <a:lstStyle/>
          <a:p>
            <a:pPr marL="0" indent="0">
              <a:buNone/>
            </a:pPr>
            <a:r>
              <a:rPr lang="en-US" sz="950" b="1" kern="0" spc="200" dirty="0">
                <a:solidFill>
                  <a:srgbClr val="A8D84E"/>
                </a:solidFill>
                <a:latin typeface="Arial" pitchFamily="34" charset="0"/>
                <a:ea typeface="Arial" pitchFamily="34" charset="-122"/>
                <a:cs typeface="Arial" pitchFamily="34" charset="-120"/>
              </a:rPr>
              <a:t>GIẢI PHÁP CỦA VIỆN STP</a:t>
            </a:r>
            <a:endParaRPr lang="en-US" sz="950" dirty="0"/>
          </a:p>
        </p:txBody>
      </p:sp>
      <p:sp>
        <p:nvSpPr>
          <p:cNvPr id="19" name="Text 14"/>
          <p:cNvSpPr txBox="1"/>
          <p:nvPr/>
        </p:nvSpPr>
        <p:spPr>
          <a:xfrm>
            <a:off x="5166360" y="1783080"/>
            <a:ext cx="2697480" cy="731520"/>
          </a:xfrm>
          <a:prstGeom prst="rect">
            <a:avLst/>
          </a:prstGeom>
          <a:noFill/>
          <a:ln/>
        </p:spPr>
        <p:txBody>
          <a:bodyPr wrap="square" lIns="0" tIns="0" rIns="0" bIns="0" rtlCol="0" anchor="t"/>
          <a:lstStyle/>
          <a:p>
            <a:pPr marL="0" indent="0">
              <a:buNone/>
            </a:pPr>
            <a:r>
              <a:rPr lang="en-US" sz="1700" b="1" dirty="0">
                <a:solidFill>
                  <a:srgbClr val="FFFFFF"/>
                </a:solidFill>
                <a:latin typeface="Arial" pitchFamily="34" charset="0"/>
                <a:ea typeface="Arial" pitchFamily="34" charset="-122"/>
                <a:cs typeface="Arial" pitchFamily="34" charset="-120"/>
              </a:rPr>
              <a:t>Quản lý ATVSLĐ bằng công nghệ số</a:t>
            </a:r>
            <a:endParaRPr lang="en-US" sz="1700" dirty="0"/>
          </a:p>
        </p:txBody>
      </p:sp>
      <p:sp>
        <p:nvSpPr>
          <p:cNvPr id="20" name="Shape 15"/>
          <p:cNvSpPr/>
          <p:nvPr/>
        </p:nvSpPr>
        <p:spPr>
          <a:xfrm>
            <a:off x="7955280" y="1600200"/>
            <a:ext cx="1645920" cy="365760"/>
          </a:xfrm>
          <a:prstGeom prst="roundRect">
            <a:avLst>
              <a:gd name="adj" fmla="val 50000"/>
            </a:avLst>
          </a:prstGeom>
          <a:solidFill>
            <a:srgbClr val="A8D84E"/>
          </a:solidFill>
          <a:ln/>
        </p:spPr>
      </p:sp>
      <p:sp>
        <p:nvSpPr>
          <p:cNvPr id="21" name="Text 16"/>
          <p:cNvSpPr txBox="1"/>
          <p:nvPr/>
        </p:nvSpPr>
        <p:spPr>
          <a:xfrm>
            <a:off x="7955280" y="1600200"/>
            <a:ext cx="1645920" cy="365760"/>
          </a:xfrm>
          <a:prstGeom prst="rect">
            <a:avLst/>
          </a:prstGeom>
          <a:noFill/>
          <a:ln/>
        </p:spPr>
        <p:txBody>
          <a:bodyPr wrap="square" lIns="0" tIns="0" rIns="0" bIns="0" rtlCol="0" anchor="ctr"/>
          <a:lstStyle/>
          <a:p>
            <a:pPr marL="0" indent="0" algn="ctr">
              <a:buNone/>
            </a:pPr>
            <a:r>
              <a:rPr lang="en-US" sz="1150" b="1" kern="0" spc="100" dirty="0">
                <a:solidFill>
                  <a:srgbClr val="0A2E1C"/>
                </a:solidFill>
                <a:latin typeface="Arial" pitchFamily="34" charset="0"/>
                <a:ea typeface="Arial" pitchFamily="34" charset="-122"/>
                <a:cs typeface="Arial" pitchFamily="34" charset="-120"/>
              </a:rPr>
              <a:t>TẬP TRUNG</a:t>
            </a:r>
            <a:endParaRPr lang="en-US" sz="1150" dirty="0"/>
          </a:p>
        </p:txBody>
      </p:sp>
      <p:sp>
        <p:nvSpPr>
          <p:cNvPr id="22" name="Shape 17"/>
          <p:cNvSpPr/>
          <p:nvPr/>
        </p:nvSpPr>
        <p:spPr>
          <a:xfrm>
            <a:off x="9738360" y="1600200"/>
            <a:ext cx="1645920" cy="365760"/>
          </a:xfrm>
          <a:prstGeom prst="roundRect">
            <a:avLst>
              <a:gd name="adj" fmla="val 50000"/>
            </a:avLst>
          </a:prstGeom>
          <a:solidFill>
            <a:srgbClr val="A8D84E"/>
          </a:solidFill>
          <a:ln/>
        </p:spPr>
      </p:sp>
      <p:sp>
        <p:nvSpPr>
          <p:cNvPr id="23" name="Text 18"/>
          <p:cNvSpPr txBox="1"/>
          <p:nvPr/>
        </p:nvSpPr>
        <p:spPr>
          <a:xfrm>
            <a:off x="9738360" y="1600200"/>
            <a:ext cx="1645920" cy="365760"/>
          </a:xfrm>
          <a:prstGeom prst="rect">
            <a:avLst/>
          </a:prstGeom>
          <a:noFill/>
          <a:ln/>
        </p:spPr>
        <p:txBody>
          <a:bodyPr wrap="square" lIns="0" tIns="0" rIns="0" bIns="0" rtlCol="0" anchor="ctr"/>
          <a:lstStyle/>
          <a:p>
            <a:pPr marL="0" indent="0" algn="ctr">
              <a:buNone/>
            </a:pPr>
            <a:r>
              <a:rPr lang="en-US" sz="1150" b="1" kern="0" spc="100" dirty="0">
                <a:solidFill>
                  <a:srgbClr val="0A2E1C"/>
                </a:solidFill>
                <a:latin typeface="Arial" pitchFamily="34" charset="0"/>
                <a:ea typeface="Arial" pitchFamily="34" charset="-122"/>
                <a:cs typeface="Arial" pitchFamily="34" charset="-120"/>
              </a:rPr>
              <a:t>TRỰC QUAN</a:t>
            </a:r>
            <a:endParaRPr lang="en-US" sz="1150" dirty="0"/>
          </a:p>
        </p:txBody>
      </p:sp>
      <p:sp>
        <p:nvSpPr>
          <p:cNvPr id="24" name="Shape 19"/>
          <p:cNvSpPr/>
          <p:nvPr/>
        </p:nvSpPr>
        <p:spPr>
          <a:xfrm>
            <a:off x="7955280" y="2057400"/>
            <a:ext cx="1645920" cy="365760"/>
          </a:xfrm>
          <a:prstGeom prst="roundRect">
            <a:avLst>
              <a:gd name="adj" fmla="val 50000"/>
            </a:avLst>
          </a:prstGeom>
          <a:solidFill>
            <a:srgbClr val="A8D84E"/>
          </a:solidFill>
          <a:ln/>
        </p:spPr>
      </p:sp>
      <p:sp>
        <p:nvSpPr>
          <p:cNvPr id="25" name="Text 20"/>
          <p:cNvSpPr txBox="1"/>
          <p:nvPr/>
        </p:nvSpPr>
        <p:spPr>
          <a:xfrm>
            <a:off x="7955280" y="2057400"/>
            <a:ext cx="1645920" cy="365760"/>
          </a:xfrm>
          <a:prstGeom prst="rect">
            <a:avLst/>
          </a:prstGeom>
          <a:noFill/>
          <a:ln/>
        </p:spPr>
        <p:txBody>
          <a:bodyPr wrap="square" lIns="0" tIns="0" rIns="0" bIns="0" rtlCol="0" anchor="ctr"/>
          <a:lstStyle/>
          <a:p>
            <a:pPr marL="0" indent="0" algn="ctr">
              <a:buNone/>
            </a:pPr>
            <a:r>
              <a:rPr lang="en-US" sz="1150" b="1" kern="0" spc="100" dirty="0">
                <a:solidFill>
                  <a:srgbClr val="0A2E1C"/>
                </a:solidFill>
                <a:latin typeface="Arial" pitchFamily="34" charset="0"/>
                <a:ea typeface="Arial" pitchFamily="34" charset="-122"/>
                <a:cs typeface="Arial" pitchFamily="34" charset="-120"/>
              </a:rPr>
              <a:t>CHỦ ĐỘNG</a:t>
            </a:r>
            <a:endParaRPr lang="en-US" sz="1150" dirty="0"/>
          </a:p>
        </p:txBody>
      </p:sp>
      <p:sp>
        <p:nvSpPr>
          <p:cNvPr id="26" name="Shape 21"/>
          <p:cNvSpPr/>
          <p:nvPr/>
        </p:nvSpPr>
        <p:spPr>
          <a:xfrm>
            <a:off x="9738360" y="2057400"/>
            <a:ext cx="1645920" cy="365760"/>
          </a:xfrm>
          <a:prstGeom prst="roundRect">
            <a:avLst>
              <a:gd name="adj" fmla="val 50000"/>
            </a:avLst>
          </a:prstGeom>
          <a:solidFill>
            <a:srgbClr val="A8D84E"/>
          </a:solidFill>
          <a:ln/>
        </p:spPr>
      </p:sp>
      <p:sp>
        <p:nvSpPr>
          <p:cNvPr id="27" name="Text 22"/>
          <p:cNvSpPr txBox="1"/>
          <p:nvPr/>
        </p:nvSpPr>
        <p:spPr>
          <a:xfrm>
            <a:off x="9738360" y="2057400"/>
            <a:ext cx="1645920" cy="365760"/>
          </a:xfrm>
          <a:prstGeom prst="rect">
            <a:avLst/>
          </a:prstGeom>
          <a:noFill/>
          <a:ln/>
        </p:spPr>
        <p:txBody>
          <a:bodyPr wrap="square" lIns="0" tIns="0" rIns="0" bIns="0" rtlCol="0" anchor="ctr"/>
          <a:lstStyle/>
          <a:p>
            <a:pPr marL="0" indent="0" algn="ctr">
              <a:buNone/>
            </a:pPr>
            <a:r>
              <a:rPr lang="en-US" sz="1150" b="1" kern="0" spc="100" dirty="0">
                <a:solidFill>
                  <a:srgbClr val="0A2E1C"/>
                </a:solidFill>
                <a:latin typeface="Arial" pitchFamily="34" charset="0"/>
                <a:ea typeface="Arial" pitchFamily="34" charset="-122"/>
                <a:cs typeface="Arial" pitchFamily="34" charset="-120"/>
              </a:rPr>
              <a:t>SỐ HÓA</a:t>
            </a:r>
            <a:endParaRPr lang="en-US" sz="1150" dirty="0"/>
          </a:p>
        </p:txBody>
      </p:sp>
      <p:sp>
        <p:nvSpPr>
          <p:cNvPr id="28" name="Shape 23"/>
          <p:cNvSpPr/>
          <p:nvPr/>
        </p:nvSpPr>
        <p:spPr>
          <a:xfrm>
            <a:off x="548640" y="2880360"/>
            <a:ext cx="2624328" cy="1645920"/>
          </a:xfrm>
          <a:prstGeom prst="roundRect">
            <a:avLst>
              <a:gd name="adj" fmla="val 7778"/>
            </a:avLst>
          </a:prstGeom>
          <a:solidFill>
            <a:srgbClr val="FFFFFF"/>
          </a:solidFill>
          <a:ln/>
          <a:effectLst>
            <a:outerShdw blurRad="101600" dist="25400" dir="5400000" algn="bl" rotWithShape="0">
              <a:srgbClr val="0A2E1C">
                <a:alpha val="12000"/>
              </a:srgbClr>
            </a:outerShdw>
          </a:effectLst>
        </p:spPr>
      </p:sp>
      <p:sp>
        <p:nvSpPr>
          <p:cNvPr id="29" name="Shape 24"/>
          <p:cNvSpPr/>
          <p:nvPr/>
        </p:nvSpPr>
        <p:spPr>
          <a:xfrm>
            <a:off x="749808" y="3081528"/>
            <a:ext cx="502920" cy="502920"/>
          </a:xfrm>
          <a:prstGeom prst="ellipse">
            <a:avLst/>
          </a:prstGeom>
          <a:solidFill>
            <a:srgbClr val="EEF6EF"/>
          </a:solidFill>
          <a:ln/>
        </p:spPr>
      </p:sp>
      <p:pic>
        <p:nvPicPr>
          <p:cNvPr id="30" name="Image 3" descr="preencoded.png"/>
          <p:cNvPicPr>
            <a:picLocks noChangeAspect="1"/>
          </p:cNvPicPr>
          <p:nvPr/>
        </p:nvPicPr>
        <p:blipFill>
          <a:blip r:embed="rId6"/>
          <a:stretch>
            <a:fillRect/>
          </a:stretch>
        </p:blipFill>
        <p:spPr>
          <a:xfrm>
            <a:off x="870509" y="3202229"/>
            <a:ext cx="261518" cy="261518"/>
          </a:xfrm>
          <a:prstGeom prst="rect">
            <a:avLst/>
          </a:prstGeom>
        </p:spPr>
      </p:pic>
      <p:sp>
        <p:nvSpPr>
          <p:cNvPr id="31" name="Text 25"/>
          <p:cNvSpPr txBox="1"/>
          <p:nvPr/>
        </p:nvSpPr>
        <p:spPr>
          <a:xfrm>
            <a:off x="749808" y="3703320"/>
            <a:ext cx="2258568" cy="749808"/>
          </a:xfrm>
          <a:prstGeom prst="rect">
            <a:avLst/>
          </a:prstGeom>
          <a:noFill/>
          <a:ln/>
        </p:spPr>
        <p:txBody>
          <a:bodyPr wrap="square" lIns="0" tIns="0" rIns="0" bIns="0" rtlCol="0" anchor="t"/>
          <a:lstStyle/>
          <a:p>
            <a:pPr marL="0" indent="0">
              <a:buNone/>
            </a:pPr>
            <a:r>
              <a:rPr lang="en-US" sz="1300" dirty="0">
                <a:solidFill>
                  <a:srgbClr val="17261D"/>
                </a:solidFill>
                <a:latin typeface="Calibri" pitchFamily="34" charset="0"/>
                <a:ea typeface="Calibri" pitchFamily="34" charset="-122"/>
                <a:cs typeface="Calibri" pitchFamily="34" charset="-120"/>
              </a:rPr>
              <a:t>Quản lý tập trung hồ sơ ATVSLĐ của từng người lao động</a:t>
            </a:r>
            <a:endParaRPr lang="en-US" sz="1300" dirty="0"/>
          </a:p>
        </p:txBody>
      </p:sp>
      <p:sp>
        <p:nvSpPr>
          <p:cNvPr id="32" name="Shape 26"/>
          <p:cNvSpPr/>
          <p:nvPr/>
        </p:nvSpPr>
        <p:spPr>
          <a:xfrm>
            <a:off x="3371393" y="2880360"/>
            <a:ext cx="2624328" cy="1645920"/>
          </a:xfrm>
          <a:prstGeom prst="roundRect">
            <a:avLst>
              <a:gd name="adj" fmla="val 7778"/>
            </a:avLst>
          </a:prstGeom>
          <a:solidFill>
            <a:srgbClr val="FFFFFF"/>
          </a:solidFill>
          <a:ln/>
          <a:effectLst>
            <a:outerShdw blurRad="101600" dist="25400" dir="5400000" algn="bl" rotWithShape="0">
              <a:srgbClr val="0A2E1C">
                <a:alpha val="12000"/>
              </a:srgbClr>
            </a:outerShdw>
          </a:effectLst>
        </p:spPr>
      </p:sp>
      <p:sp>
        <p:nvSpPr>
          <p:cNvPr id="33" name="Shape 27"/>
          <p:cNvSpPr/>
          <p:nvPr/>
        </p:nvSpPr>
        <p:spPr>
          <a:xfrm>
            <a:off x="3572561" y="3081528"/>
            <a:ext cx="502920" cy="502920"/>
          </a:xfrm>
          <a:prstGeom prst="ellipse">
            <a:avLst/>
          </a:prstGeom>
          <a:solidFill>
            <a:srgbClr val="EEF6EF"/>
          </a:solidFill>
          <a:ln/>
        </p:spPr>
      </p:sp>
      <p:pic>
        <p:nvPicPr>
          <p:cNvPr id="34" name="Image 4" descr="preencoded.png"/>
          <p:cNvPicPr>
            <a:picLocks noChangeAspect="1"/>
          </p:cNvPicPr>
          <p:nvPr/>
        </p:nvPicPr>
        <p:blipFill>
          <a:blip r:embed="rId7"/>
          <a:stretch>
            <a:fillRect/>
          </a:stretch>
        </p:blipFill>
        <p:spPr>
          <a:xfrm>
            <a:off x="3693262" y="3202229"/>
            <a:ext cx="261518" cy="261518"/>
          </a:xfrm>
          <a:prstGeom prst="rect">
            <a:avLst/>
          </a:prstGeom>
        </p:spPr>
      </p:pic>
      <p:sp>
        <p:nvSpPr>
          <p:cNvPr id="35" name="Text 28"/>
          <p:cNvSpPr txBox="1"/>
          <p:nvPr/>
        </p:nvSpPr>
        <p:spPr>
          <a:xfrm>
            <a:off x="3572561" y="3703320"/>
            <a:ext cx="2258568" cy="749808"/>
          </a:xfrm>
          <a:prstGeom prst="rect">
            <a:avLst/>
          </a:prstGeom>
          <a:noFill/>
          <a:ln/>
        </p:spPr>
        <p:txBody>
          <a:bodyPr wrap="square" lIns="0" tIns="0" rIns="0" bIns="0" rtlCol="0" anchor="t"/>
          <a:lstStyle/>
          <a:p>
            <a:pPr marL="0" indent="0">
              <a:buNone/>
            </a:pPr>
            <a:r>
              <a:rPr lang="en-US" sz="1300" dirty="0">
                <a:solidFill>
                  <a:srgbClr val="17261D"/>
                </a:solidFill>
                <a:latin typeface="Calibri" pitchFamily="34" charset="0"/>
                <a:ea typeface="Calibri" pitchFamily="34" charset="-122"/>
                <a:cs typeface="Calibri" pitchFamily="34" charset="-120"/>
              </a:rPr>
              <a:t>Theo dõi lịch sử huấn luyện, kết quả và thời hạn chứng chỉ</a:t>
            </a:r>
            <a:endParaRPr lang="en-US" sz="1300" dirty="0"/>
          </a:p>
        </p:txBody>
      </p:sp>
      <p:sp>
        <p:nvSpPr>
          <p:cNvPr id="36" name="Shape 29"/>
          <p:cNvSpPr/>
          <p:nvPr/>
        </p:nvSpPr>
        <p:spPr>
          <a:xfrm>
            <a:off x="6194146" y="2880360"/>
            <a:ext cx="2624328" cy="1645920"/>
          </a:xfrm>
          <a:prstGeom prst="roundRect">
            <a:avLst>
              <a:gd name="adj" fmla="val 7778"/>
            </a:avLst>
          </a:prstGeom>
          <a:solidFill>
            <a:srgbClr val="FFFFFF"/>
          </a:solidFill>
          <a:ln/>
          <a:effectLst>
            <a:outerShdw blurRad="101600" dist="25400" dir="5400000" algn="bl" rotWithShape="0">
              <a:srgbClr val="0A2E1C">
                <a:alpha val="12000"/>
              </a:srgbClr>
            </a:outerShdw>
          </a:effectLst>
        </p:spPr>
      </p:sp>
      <p:sp>
        <p:nvSpPr>
          <p:cNvPr id="37" name="Shape 30"/>
          <p:cNvSpPr/>
          <p:nvPr/>
        </p:nvSpPr>
        <p:spPr>
          <a:xfrm>
            <a:off x="6395314" y="3081528"/>
            <a:ext cx="502920" cy="502920"/>
          </a:xfrm>
          <a:prstGeom prst="ellipse">
            <a:avLst/>
          </a:prstGeom>
          <a:solidFill>
            <a:srgbClr val="EEF6EF"/>
          </a:solidFill>
          <a:ln/>
        </p:spPr>
      </p:sp>
      <p:pic>
        <p:nvPicPr>
          <p:cNvPr id="38" name="Image 5" descr="preencoded.png"/>
          <p:cNvPicPr>
            <a:picLocks noChangeAspect="1"/>
          </p:cNvPicPr>
          <p:nvPr/>
        </p:nvPicPr>
        <p:blipFill>
          <a:blip r:embed="rId8"/>
          <a:stretch>
            <a:fillRect/>
          </a:stretch>
        </p:blipFill>
        <p:spPr>
          <a:xfrm>
            <a:off x="6516014" y="3202229"/>
            <a:ext cx="261518" cy="261518"/>
          </a:xfrm>
          <a:prstGeom prst="rect">
            <a:avLst/>
          </a:prstGeom>
        </p:spPr>
      </p:pic>
      <p:sp>
        <p:nvSpPr>
          <p:cNvPr id="39" name="Text 31"/>
          <p:cNvSpPr txBox="1"/>
          <p:nvPr/>
        </p:nvSpPr>
        <p:spPr>
          <a:xfrm>
            <a:off x="6395314" y="3703320"/>
            <a:ext cx="2258568" cy="749808"/>
          </a:xfrm>
          <a:prstGeom prst="rect">
            <a:avLst/>
          </a:prstGeom>
          <a:noFill/>
          <a:ln/>
        </p:spPr>
        <p:txBody>
          <a:bodyPr wrap="square" lIns="0" tIns="0" rIns="0" bIns="0" rtlCol="0" anchor="t"/>
          <a:lstStyle/>
          <a:p>
            <a:pPr marL="0" indent="0">
              <a:buNone/>
            </a:pPr>
            <a:r>
              <a:rPr lang="en-US" sz="1300" dirty="0">
                <a:solidFill>
                  <a:srgbClr val="17261D"/>
                </a:solidFill>
                <a:latin typeface="Calibri" pitchFamily="34" charset="0"/>
                <a:ea typeface="Calibri" pitchFamily="34" charset="-122"/>
                <a:cs typeface="Calibri" pitchFamily="34" charset="-120"/>
              </a:rPr>
              <a:t>Cảnh báo tự động chứng chỉ, hồ sơ, thiết bị sắp hết hạn</a:t>
            </a:r>
            <a:endParaRPr lang="en-US" sz="1300" dirty="0"/>
          </a:p>
        </p:txBody>
      </p:sp>
      <p:sp>
        <p:nvSpPr>
          <p:cNvPr id="40" name="Shape 32"/>
          <p:cNvSpPr/>
          <p:nvPr/>
        </p:nvSpPr>
        <p:spPr>
          <a:xfrm>
            <a:off x="9016898" y="2880360"/>
            <a:ext cx="2624328" cy="1645920"/>
          </a:xfrm>
          <a:prstGeom prst="roundRect">
            <a:avLst>
              <a:gd name="adj" fmla="val 7778"/>
            </a:avLst>
          </a:prstGeom>
          <a:solidFill>
            <a:srgbClr val="FFFFFF"/>
          </a:solidFill>
          <a:ln/>
          <a:effectLst>
            <a:outerShdw blurRad="101600" dist="25400" dir="5400000" algn="bl" rotWithShape="0">
              <a:srgbClr val="0A2E1C">
                <a:alpha val="12000"/>
              </a:srgbClr>
            </a:outerShdw>
          </a:effectLst>
        </p:spPr>
      </p:sp>
      <p:sp>
        <p:nvSpPr>
          <p:cNvPr id="41" name="Shape 33"/>
          <p:cNvSpPr/>
          <p:nvPr/>
        </p:nvSpPr>
        <p:spPr>
          <a:xfrm>
            <a:off x="9218066" y="3081528"/>
            <a:ext cx="502920" cy="502920"/>
          </a:xfrm>
          <a:prstGeom prst="ellipse">
            <a:avLst/>
          </a:prstGeom>
          <a:solidFill>
            <a:srgbClr val="EEF6EF"/>
          </a:solidFill>
          <a:ln/>
        </p:spPr>
      </p:sp>
      <p:pic>
        <p:nvPicPr>
          <p:cNvPr id="42" name="Image 6" descr="preencoded.png"/>
          <p:cNvPicPr>
            <a:picLocks noChangeAspect="1"/>
          </p:cNvPicPr>
          <p:nvPr/>
        </p:nvPicPr>
        <p:blipFill>
          <a:blip r:embed="rId9"/>
          <a:stretch>
            <a:fillRect/>
          </a:stretch>
        </p:blipFill>
        <p:spPr>
          <a:xfrm>
            <a:off x="9338767" y="3202229"/>
            <a:ext cx="261518" cy="261518"/>
          </a:xfrm>
          <a:prstGeom prst="rect">
            <a:avLst/>
          </a:prstGeom>
        </p:spPr>
      </p:pic>
      <p:sp>
        <p:nvSpPr>
          <p:cNvPr id="43" name="Text 34"/>
          <p:cNvSpPr txBox="1"/>
          <p:nvPr/>
        </p:nvSpPr>
        <p:spPr>
          <a:xfrm>
            <a:off x="9218066" y="3703320"/>
            <a:ext cx="2258568" cy="749808"/>
          </a:xfrm>
          <a:prstGeom prst="rect">
            <a:avLst/>
          </a:prstGeom>
          <a:noFill/>
          <a:ln/>
        </p:spPr>
        <p:txBody>
          <a:bodyPr wrap="square" lIns="0" tIns="0" rIns="0" bIns="0" rtlCol="0" anchor="t"/>
          <a:lstStyle/>
          <a:p>
            <a:pPr marL="0" indent="0">
              <a:buNone/>
            </a:pPr>
            <a:r>
              <a:rPr lang="en-US" sz="1300" dirty="0">
                <a:solidFill>
                  <a:srgbClr val="17261D"/>
                </a:solidFill>
                <a:latin typeface="Calibri" pitchFamily="34" charset="0"/>
                <a:ea typeface="Calibri" pitchFamily="34" charset="-122"/>
                <a:cs typeface="Calibri" pitchFamily="34" charset="-120"/>
              </a:rPr>
              <a:t>Báo cáo nguy cơ và sự cố nhanh chóng ngay tại hiện trường</a:t>
            </a:r>
            <a:endParaRPr lang="en-US" sz="1300" dirty="0"/>
          </a:p>
        </p:txBody>
      </p:sp>
      <p:sp>
        <p:nvSpPr>
          <p:cNvPr id="44" name="Shape 35"/>
          <p:cNvSpPr/>
          <p:nvPr/>
        </p:nvSpPr>
        <p:spPr>
          <a:xfrm>
            <a:off x="548640" y="4709160"/>
            <a:ext cx="2624328" cy="1645920"/>
          </a:xfrm>
          <a:prstGeom prst="roundRect">
            <a:avLst>
              <a:gd name="adj" fmla="val 7778"/>
            </a:avLst>
          </a:prstGeom>
          <a:solidFill>
            <a:srgbClr val="FFFFFF"/>
          </a:solidFill>
          <a:ln/>
          <a:effectLst>
            <a:outerShdw blurRad="101600" dist="25400" dir="5400000" algn="bl" rotWithShape="0">
              <a:srgbClr val="0A2E1C">
                <a:alpha val="12000"/>
              </a:srgbClr>
            </a:outerShdw>
          </a:effectLst>
        </p:spPr>
      </p:sp>
      <p:sp>
        <p:nvSpPr>
          <p:cNvPr id="45" name="Shape 36"/>
          <p:cNvSpPr/>
          <p:nvPr/>
        </p:nvSpPr>
        <p:spPr>
          <a:xfrm>
            <a:off x="749808" y="4910328"/>
            <a:ext cx="502920" cy="502920"/>
          </a:xfrm>
          <a:prstGeom prst="ellipse">
            <a:avLst/>
          </a:prstGeom>
          <a:solidFill>
            <a:srgbClr val="EEF6EF"/>
          </a:solidFill>
          <a:ln/>
        </p:spPr>
      </p:sp>
      <p:pic>
        <p:nvPicPr>
          <p:cNvPr id="46" name="Image 7" descr="preencoded.png"/>
          <p:cNvPicPr>
            <a:picLocks noChangeAspect="1"/>
          </p:cNvPicPr>
          <p:nvPr/>
        </p:nvPicPr>
        <p:blipFill>
          <a:blip r:embed="rId10"/>
          <a:stretch>
            <a:fillRect/>
          </a:stretch>
        </p:blipFill>
        <p:spPr>
          <a:xfrm>
            <a:off x="870509" y="5031029"/>
            <a:ext cx="261518" cy="261518"/>
          </a:xfrm>
          <a:prstGeom prst="rect">
            <a:avLst/>
          </a:prstGeom>
        </p:spPr>
      </p:pic>
      <p:sp>
        <p:nvSpPr>
          <p:cNvPr id="47" name="Text 37"/>
          <p:cNvSpPr txBox="1"/>
          <p:nvPr/>
        </p:nvSpPr>
        <p:spPr>
          <a:xfrm>
            <a:off x="749808" y="5532120"/>
            <a:ext cx="2258568" cy="749808"/>
          </a:xfrm>
          <a:prstGeom prst="rect">
            <a:avLst/>
          </a:prstGeom>
          <a:noFill/>
          <a:ln/>
        </p:spPr>
        <p:txBody>
          <a:bodyPr wrap="square" lIns="0" tIns="0" rIns="0" bIns="0" rtlCol="0" anchor="t"/>
          <a:lstStyle/>
          <a:p>
            <a:pPr marL="0" indent="0">
              <a:buNone/>
            </a:pPr>
            <a:r>
              <a:rPr lang="en-US" sz="1300" dirty="0">
                <a:solidFill>
                  <a:srgbClr val="17261D"/>
                </a:solidFill>
                <a:latin typeface="Calibri" pitchFamily="34" charset="0"/>
                <a:ea typeface="Calibri" pitchFamily="34" charset="-122"/>
                <a:cs typeface="Calibri" pitchFamily="34" charset="-120"/>
              </a:rPr>
              <a:t>Tra cứu hồ sơ bằng QR Code – không lo thất lạc chứng chỉ</a:t>
            </a:r>
            <a:endParaRPr lang="en-US" sz="1300" dirty="0"/>
          </a:p>
        </p:txBody>
      </p:sp>
      <p:sp>
        <p:nvSpPr>
          <p:cNvPr id="48" name="Shape 38"/>
          <p:cNvSpPr/>
          <p:nvPr/>
        </p:nvSpPr>
        <p:spPr>
          <a:xfrm>
            <a:off x="3371393" y="4709160"/>
            <a:ext cx="2624328" cy="1645920"/>
          </a:xfrm>
          <a:prstGeom prst="roundRect">
            <a:avLst>
              <a:gd name="adj" fmla="val 7778"/>
            </a:avLst>
          </a:prstGeom>
          <a:solidFill>
            <a:srgbClr val="FFFFFF"/>
          </a:solidFill>
          <a:ln/>
          <a:effectLst>
            <a:outerShdw blurRad="101600" dist="25400" dir="5400000" algn="bl" rotWithShape="0">
              <a:srgbClr val="0A2E1C">
                <a:alpha val="12000"/>
              </a:srgbClr>
            </a:outerShdw>
          </a:effectLst>
        </p:spPr>
      </p:sp>
      <p:sp>
        <p:nvSpPr>
          <p:cNvPr id="49" name="Shape 39"/>
          <p:cNvSpPr/>
          <p:nvPr/>
        </p:nvSpPr>
        <p:spPr>
          <a:xfrm>
            <a:off x="3572561" y="4910328"/>
            <a:ext cx="502920" cy="502920"/>
          </a:xfrm>
          <a:prstGeom prst="ellipse">
            <a:avLst/>
          </a:prstGeom>
          <a:solidFill>
            <a:srgbClr val="EEF6EF"/>
          </a:solidFill>
          <a:ln/>
        </p:spPr>
      </p:sp>
      <p:pic>
        <p:nvPicPr>
          <p:cNvPr id="50" name="Image 8" descr="preencoded.png"/>
          <p:cNvPicPr>
            <a:picLocks noChangeAspect="1"/>
          </p:cNvPicPr>
          <p:nvPr/>
        </p:nvPicPr>
        <p:blipFill>
          <a:blip r:embed="rId11"/>
          <a:stretch>
            <a:fillRect/>
          </a:stretch>
        </p:blipFill>
        <p:spPr>
          <a:xfrm>
            <a:off x="3693262" y="5031029"/>
            <a:ext cx="261518" cy="261518"/>
          </a:xfrm>
          <a:prstGeom prst="rect">
            <a:avLst/>
          </a:prstGeom>
        </p:spPr>
      </p:pic>
      <p:sp>
        <p:nvSpPr>
          <p:cNvPr id="51" name="Text 40"/>
          <p:cNvSpPr txBox="1"/>
          <p:nvPr/>
        </p:nvSpPr>
        <p:spPr>
          <a:xfrm>
            <a:off x="3572561" y="5532120"/>
            <a:ext cx="2258568" cy="749808"/>
          </a:xfrm>
          <a:prstGeom prst="rect">
            <a:avLst/>
          </a:prstGeom>
          <a:noFill/>
          <a:ln/>
        </p:spPr>
        <p:txBody>
          <a:bodyPr wrap="square" lIns="0" tIns="0" rIns="0" bIns="0" rtlCol="0" anchor="t"/>
          <a:lstStyle/>
          <a:p>
            <a:pPr marL="0" indent="0">
              <a:buNone/>
            </a:pPr>
            <a:r>
              <a:rPr lang="en-US" sz="1300" dirty="0">
                <a:solidFill>
                  <a:srgbClr val="17261D"/>
                </a:solidFill>
                <a:latin typeface="Calibri" pitchFamily="34" charset="0"/>
                <a:ea typeface="Calibri" pitchFamily="34" charset="-122"/>
                <a:cs typeface="Calibri" pitchFamily="34" charset="-120"/>
              </a:rPr>
              <a:t>Lưu trữ dữ liệu tập trung, dễ dàng tìm kiếm và truy xuất</a:t>
            </a:r>
            <a:endParaRPr lang="en-US" sz="1300" dirty="0"/>
          </a:p>
        </p:txBody>
      </p:sp>
      <p:sp>
        <p:nvSpPr>
          <p:cNvPr id="52" name="Shape 41"/>
          <p:cNvSpPr/>
          <p:nvPr/>
        </p:nvSpPr>
        <p:spPr>
          <a:xfrm>
            <a:off x="6194146" y="4709160"/>
            <a:ext cx="2624328" cy="1645920"/>
          </a:xfrm>
          <a:prstGeom prst="roundRect">
            <a:avLst>
              <a:gd name="adj" fmla="val 7778"/>
            </a:avLst>
          </a:prstGeom>
          <a:solidFill>
            <a:srgbClr val="FFFFFF"/>
          </a:solidFill>
          <a:ln/>
          <a:effectLst>
            <a:outerShdw blurRad="101600" dist="25400" dir="5400000" algn="bl" rotWithShape="0">
              <a:srgbClr val="0A2E1C">
                <a:alpha val="12000"/>
              </a:srgbClr>
            </a:outerShdw>
          </a:effectLst>
        </p:spPr>
      </p:sp>
      <p:sp>
        <p:nvSpPr>
          <p:cNvPr id="53" name="Shape 42"/>
          <p:cNvSpPr/>
          <p:nvPr/>
        </p:nvSpPr>
        <p:spPr>
          <a:xfrm>
            <a:off x="6395314" y="4910328"/>
            <a:ext cx="502920" cy="502920"/>
          </a:xfrm>
          <a:prstGeom prst="ellipse">
            <a:avLst/>
          </a:prstGeom>
          <a:solidFill>
            <a:srgbClr val="1E8C45"/>
          </a:solidFill>
          <a:ln/>
        </p:spPr>
      </p:sp>
      <p:pic>
        <p:nvPicPr>
          <p:cNvPr id="54" name="Image 9" descr="preencoded.png"/>
          <p:cNvPicPr>
            <a:picLocks noChangeAspect="1"/>
          </p:cNvPicPr>
          <p:nvPr/>
        </p:nvPicPr>
        <p:blipFill>
          <a:blip r:embed="rId12"/>
          <a:stretch>
            <a:fillRect/>
          </a:stretch>
        </p:blipFill>
        <p:spPr>
          <a:xfrm>
            <a:off x="6516014" y="5031029"/>
            <a:ext cx="261518" cy="261518"/>
          </a:xfrm>
          <a:prstGeom prst="rect">
            <a:avLst/>
          </a:prstGeom>
        </p:spPr>
      </p:pic>
      <p:sp>
        <p:nvSpPr>
          <p:cNvPr id="55" name="Text 43"/>
          <p:cNvSpPr txBox="1"/>
          <p:nvPr/>
        </p:nvSpPr>
        <p:spPr>
          <a:xfrm>
            <a:off x="6395314" y="5532120"/>
            <a:ext cx="2258568" cy="749808"/>
          </a:xfrm>
          <a:prstGeom prst="rect">
            <a:avLst/>
          </a:prstGeom>
          <a:noFill/>
          <a:ln/>
        </p:spPr>
        <p:txBody>
          <a:bodyPr wrap="square" lIns="0" tIns="0" rIns="0" bIns="0" rtlCol="0" anchor="t"/>
          <a:lstStyle/>
          <a:p>
            <a:pPr marL="0" indent="0">
              <a:buNone/>
            </a:pPr>
            <a:r>
              <a:rPr lang="en-US" sz="1300" dirty="0">
                <a:solidFill>
                  <a:srgbClr val="17261D"/>
                </a:solidFill>
                <a:latin typeface="Calibri" pitchFamily="34" charset="0"/>
                <a:ea typeface="Calibri" pitchFamily="34" charset="-122"/>
                <a:cs typeface="Calibri" pitchFamily="34" charset="-120"/>
              </a:rPr>
              <a:t>Dashboard trực quan – lãnh đạo nắm tình hình ATVSLĐ theo thời gian thực</a:t>
            </a:r>
            <a:endParaRPr lang="en-US" sz="1300" dirty="0"/>
          </a:p>
        </p:txBody>
      </p:sp>
      <p:sp>
        <p:nvSpPr>
          <p:cNvPr id="56" name="Shape 44"/>
          <p:cNvSpPr/>
          <p:nvPr/>
        </p:nvSpPr>
        <p:spPr>
          <a:xfrm>
            <a:off x="9016898" y="4709160"/>
            <a:ext cx="2624328" cy="1645920"/>
          </a:xfrm>
          <a:prstGeom prst="roundRect">
            <a:avLst>
              <a:gd name="adj" fmla="val 7778"/>
            </a:avLst>
          </a:prstGeom>
          <a:solidFill>
            <a:srgbClr val="FFFFFF"/>
          </a:solidFill>
          <a:ln/>
          <a:effectLst>
            <a:outerShdw blurRad="101600" dist="25400" dir="5400000" algn="bl" rotWithShape="0">
              <a:srgbClr val="0A2E1C">
                <a:alpha val="12000"/>
              </a:srgbClr>
            </a:outerShdw>
          </a:effectLst>
        </p:spPr>
      </p:sp>
      <p:sp>
        <p:nvSpPr>
          <p:cNvPr id="57" name="Shape 45"/>
          <p:cNvSpPr/>
          <p:nvPr/>
        </p:nvSpPr>
        <p:spPr>
          <a:xfrm>
            <a:off x="9218066" y="4910328"/>
            <a:ext cx="502920" cy="502920"/>
          </a:xfrm>
          <a:prstGeom prst="ellipse">
            <a:avLst/>
          </a:prstGeom>
          <a:solidFill>
            <a:srgbClr val="1E8C45"/>
          </a:solidFill>
          <a:ln/>
        </p:spPr>
      </p:sp>
      <p:pic>
        <p:nvPicPr>
          <p:cNvPr id="58" name="Image 10" descr="preencoded.png"/>
          <p:cNvPicPr>
            <a:picLocks noChangeAspect="1"/>
          </p:cNvPicPr>
          <p:nvPr/>
        </p:nvPicPr>
        <p:blipFill>
          <a:blip r:embed="rId13"/>
          <a:stretch>
            <a:fillRect/>
          </a:stretch>
        </p:blipFill>
        <p:spPr>
          <a:xfrm>
            <a:off x="9338767" y="5031029"/>
            <a:ext cx="261518" cy="261518"/>
          </a:xfrm>
          <a:prstGeom prst="rect">
            <a:avLst/>
          </a:prstGeom>
        </p:spPr>
      </p:pic>
      <p:sp>
        <p:nvSpPr>
          <p:cNvPr id="59" name="Text 46"/>
          <p:cNvSpPr txBox="1"/>
          <p:nvPr/>
        </p:nvSpPr>
        <p:spPr>
          <a:xfrm>
            <a:off x="9218066" y="5532120"/>
            <a:ext cx="2258568" cy="749808"/>
          </a:xfrm>
          <a:prstGeom prst="rect">
            <a:avLst/>
          </a:prstGeom>
          <a:noFill/>
          <a:ln/>
        </p:spPr>
        <p:txBody>
          <a:bodyPr wrap="square" lIns="0" tIns="0" rIns="0" bIns="0" rtlCol="0" anchor="t"/>
          <a:lstStyle/>
          <a:p>
            <a:pPr marL="0" indent="0">
              <a:buNone/>
            </a:pPr>
            <a:r>
              <a:rPr lang="en-US" sz="1300" dirty="0">
                <a:solidFill>
                  <a:srgbClr val="17261D"/>
                </a:solidFill>
                <a:latin typeface="Calibri" pitchFamily="34" charset="0"/>
                <a:ea typeface="Calibri" pitchFamily="34" charset="-122"/>
                <a:cs typeface="Calibri" pitchFamily="34" charset="-120"/>
              </a:rPr>
              <a:t>Từng bước ứng dụng AI và dữ liệu số để nhận diện, phân tích, cảnh báo rủi ro</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III · ĐIỂM KHÁC BIỆT CỦA VIỆN STP</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HỆ SINH THÁI KẾT NỐI 3 BÊN</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19</a:t>
            </a:r>
            <a:endParaRPr lang="en-US" sz="900" dirty="0"/>
          </a:p>
        </p:txBody>
      </p:sp>
      <p:sp>
        <p:nvSpPr>
          <p:cNvPr id="8" name="Text 6"/>
          <p:cNvSpPr txBox="1"/>
          <p:nvPr/>
        </p:nvSpPr>
        <p:spPr>
          <a:xfrm>
            <a:off x="548640" y="1261872"/>
            <a:ext cx="11064240" cy="566928"/>
          </a:xfrm>
          <a:prstGeom prst="rect">
            <a:avLst/>
          </a:prstGeom>
          <a:noFill/>
          <a:ln/>
        </p:spPr>
        <p:txBody>
          <a:bodyPr wrap="square" lIns="0" tIns="0" rIns="0" bIns="0" rtlCol="0" anchor="t"/>
          <a:lstStyle/>
          <a:p>
            <a:pPr marL="0" indent="0">
              <a:buNone/>
            </a:pPr>
            <a:r>
              <a:rPr lang="en-US" sz="1500" dirty="0">
                <a:solidFill>
                  <a:srgbClr val="3C4A42"/>
                </a:solidFill>
                <a:latin typeface="Calibri" pitchFamily="34" charset="0"/>
                <a:ea typeface="Calibri" pitchFamily="34" charset="-122"/>
                <a:cs typeface="Calibri" pitchFamily="34" charset="-120"/>
              </a:rPr>
              <a:t>Ngay khi ký hợp đồng đào tạo với Viện STP, doanh nghiệp được cấp </a:t>
            </a:r>
            <a:r>
              <a:rPr lang="en-US" sz="1500" b="1" dirty="0">
                <a:solidFill>
                  <a:srgbClr val="1E8C45"/>
                </a:solidFill>
                <a:latin typeface="Calibri" pitchFamily="34" charset="0"/>
                <a:ea typeface="Calibri" pitchFamily="34" charset="-122"/>
                <a:cs typeface="Calibri" pitchFamily="34" charset="-120"/>
              </a:rPr>
              <a:t>TÀI KHOẢN DOANH NGHIỆP</a:t>
            </a:r>
            <a:r>
              <a:rPr lang="en-US" sz="1500" dirty="0">
                <a:solidFill>
                  <a:srgbClr val="3C4A42"/>
                </a:solidFill>
                <a:latin typeface="Calibri" pitchFamily="34" charset="0"/>
                <a:ea typeface="Calibri" pitchFamily="34" charset="-122"/>
                <a:cs typeface="Calibri" pitchFamily="34" charset="-120"/>
              </a:rPr>
              <a:t>, đồng thời mỗi học viên/người lao động được cấp </a:t>
            </a:r>
            <a:r>
              <a:rPr lang="en-US" sz="1500" b="1" dirty="0">
                <a:solidFill>
                  <a:srgbClr val="1E8C45"/>
                </a:solidFill>
                <a:latin typeface="Calibri" pitchFamily="34" charset="0"/>
                <a:ea typeface="Calibri" pitchFamily="34" charset="-122"/>
                <a:cs typeface="Calibri" pitchFamily="34" charset="-120"/>
              </a:rPr>
              <a:t>TÀI KHOẢN CÁ NHÂN</a:t>
            </a:r>
            <a:r>
              <a:rPr lang="en-US" sz="1500" dirty="0">
                <a:solidFill>
                  <a:srgbClr val="3C4A42"/>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548640" y="2011680"/>
            <a:ext cx="3291840" cy="2286000"/>
          </a:xfrm>
          <a:prstGeom prst="roundRect">
            <a:avLst>
              <a:gd name="adj" fmla="val 7200"/>
            </a:avLst>
          </a:prstGeom>
          <a:solidFill>
            <a:srgbClr val="FFFFFF"/>
          </a:solidFill>
          <a:ln/>
          <a:effectLst>
            <a:outerShdw blurRad="152400" dist="38100" dir="5400000" algn="bl" rotWithShape="0">
              <a:srgbClr val="0A2E1C">
                <a:alpha val="16000"/>
              </a:srgbClr>
            </a:outerShdw>
          </a:effectLst>
        </p:spPr>
      </p:sp>
      <p:sp>
        <p:nvSpPr>
          <p:cNvPr id="10" name="Shape 8"/>
          <p:cNvSpPr/>
          <p:nvPr/>
        </p:nvSpPr>
        <p:spPr>
          <a:xfrm>
            <a:off x="822960" y="2267712"/>
            <a:ext cx="749808" cy="749808"/>
          </a:xfrm>
          <a:prstGeom prst="ellipse">
            <a:avLst/>
          </a:prstGeom>
          <a:solidFill>
            <a:srgbClr val="EEF6EF"/>
          </a:solidFill>
          <a:ln/>
        </p:spPr>
      </p:sp>
      <p:pic>
        <p:nvPicPr>
          <p:cNvPr id="11" name="Image 0" descr="preencoded.png"/>
          <p:cNvPicPr>
            <a:picLocks noChangeAspect="1"/>
          </p:cNvPicPr>
          <p:nvPr/>
        </p:nvPicPr>
        <p:blipFill>
          <a:blip r:embed="rId3"/>
          <a:stretch>
            <a:fillRect/>
          </a:stretch>
        </p:blipFill>
        <p:spPr>
          <a:xfrm>
            <a:off x="1002914" y="2447666"/>
            <a:ext cx="389900" cy="389900"/>
          </a:xfrm>
          <a:prstGeom prst="rect">
            <a:avLst/>
          </a:prstGeom>
        </p:spPr>
      </p:pic>
      <p:sp>
        <p:nvSpPr>
          <p:cNvPr id="12" name="Text 9"/>
          <p:cNvSpPr txBox="1"/>
          <p:nvPr/>
        </p:nvSpPr>
        <p:spPr>
          <a:xfrm>
            <a:off x="1737360" y="2313432"/>
            <a:ext cx="1965960" cy="365760"/>
          </a:xfrm>
          <a:prstGeom prst="rect">
            <a:avLst/>
          </a:prstGeom>
          <a:noFill/>
          <a:ln/>
        </p:spPr>
        <p:txBody>
          <a:bodyPr wrap="square" lIns="0" tIns="0" rIns="0" bIns="0" rtlCol="0" anchor="t"/>
          <a:lstStyle/>
          <a:p>
            <a:pPr marL="0" indent="0">
              <a:buNone/>
            </a:pPr>
            <a:r>
              <a:rPr lang="en-US" sz="1600" b="1" dirty="0">
                <a:solidFill>
                  <a:srgbClr val="17261D"/>
                </a:solidFill>
                <a:latin typeface="Arial" pitchFamily="34" charset="0"/>
                <a:ea typeface="Arial" pitchFamily="34" charset="-122"/>
                <a:cs typeface="Arial" pitchFamily="34" charset="-120"/>
              </a:rPr>
              <a:t>DOANH NGHIỆP</a:t>
            </a:r>
            <a:endParaRPr lang="en-US" sz="1600" dirty="0"/>
          </a:p>
        </p:txBody>
      </p:sp>
      <p:sp>
        <p:nvSpPr>
          <p:cNvPr id="13" name="Text 10"/>
          <p:cNvSpPr txBox="1"/>
          <p:nvPr/>
        </p:nvSpPr>
        <p:spPr>
          <a:xfrm>
            <a:off x="1737360" y="2670048"/>
            <a:ext cx="1965960" cy="274320"/>
          </a:xfrm>
          <a:prstGeom prst="rect">
            <a:avLst/>
          </a:prstGeom>
          <a:noFill/>
          <a:ln/>
        </p:spPr>
        <p:txBody>
          <a:bodyPr wrap="square" lIns="0" tIns="0" rIns="0" bIns="0" rtlCol="0" anchor="t"/>
          <a:lstStyle/>
          <a:p>
            <a:pPr marL="0" indent="0">
              <a:buNone/>
            </a:pPr>
            <a:r>
              <a:rPr lang="en-US" sz="1200" b="1" dirty="0">
                <a:solidFill>
                  <a:srgbClr val="1E8C45"/>
                </a:solidFill>
                <a:latin typeface="Calibri" pitchFamily="34" charset="0"/>
                <a:ea typeface="Calibri" pitchFamily="34" charset="-122"/>
                <a:cs typeface="Calibri" pitchFamily="34" charset="-120"/>
              </a:rPr>
              <a:t>Tài khoản doanh nghiệp</a:t>
            </a:r>
            <a:endParaRPr lang="en-US" sz="1200" dirty="0"/>
          </a:p>
        </p:txBody>
      </p:sp>
      <p:sp>
        <p:nvSpPr>
          <p:cNvPr id="14" name="Text 11"/>
          <p:cNvSpPr txBox="1"/>
          <p:nvPr/>
        </p:nvSpPr>
        <p:spPr>
          <a:xfrm>
            <a:off x="822960" y="3200400"/>
            <a:ext cx="2743200" cy="365760"/>
          </a:xfrm>
          <a:prstGeom prst="rect">
            <a:avLst/>
          </a:prstGeom>
          <a:noFill/>
          <a:ln/>
        </p:spPr>
        <p:txBody>
          <a:bodyPr wrap="square" lIns="0" tIns="0" rIns="0" bIns="0" rtlCol="0" anchor="t"/>
          <a:lstStyle/>
          <a:p>
            <a:pPr marL="0" indent="0">
              <a:buNone/>
            </a:pPr>
            <a:r>
              <a:rPr lang="en-US" sz="1600" b="1" dirty="0">
                <a:solidFill>
                  <a:srgbClr val="1E8C45"/>
                </a:solidFill>
                <a:latin typeface="Arial" pitchFamily="34" charset="0"/>
                <a:ea typeface="Arial" pitchFamily="34" charset="-122"/>
                <a:cs typeface="Arial" pitchFamily="34" charset="-120"/>
              </a:rPr>
              <a:t>Quản lý tập trung</a:t>
            </a:r>
            <a:endParaRPr lang="en-US" sz="1600" dirty="0"/>
          </a:p>
        </p:txBody>
      </p:sp>
      <p:sp>
        <p:nvSpPr>
          <p:cNvPr id="15" name="Text 12"/>
          <p:cNvSpPr txBox="1"/>
          <p:nvPr/>
        </p:nvSpPr>
        <p:spPr>
          <a:xfrm>
            <a:off x="822960" y="3584448"/>
            <a:ext cx="2788920" cy="640080"/>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Dashboard an toàn &amp; nhân sự tại doanhnghiep.vienstp.com</a:t>
            </a:r>
            <a:endParaRPr lang="en-US" sz="1250" dirty="0"/>
          </a:p>
        </p:txBody>
      </p:sp>
      <p:sp>
        <p:nvSpPr>
          <p:cNvPr id="16" name="Shape 13"/>
          <p:cNvSpPr/>
          <p:nvPr/>
        </p:nvSpPr>
        <p:spPr>
          <a:xfrm>
            <a:off x="3913632" y="3154680"/>
            <a:ext cx="457200" cy="0"/>
          </a:xfrm>
          <a:prstGeom prst="line">
            <a:avLst/>
          </a:prstGeom>
          <a:noFill/>
          <a:ln w="25400">
            <a:solidFill>
              <a:srgbClr val="1E8C45"/>
            </a:solidFill>
            <a:prstDash val="solid"/>
            <a:headEnd type="triangle"/>
            <a:tailEnd type="triangle"/>
          </a:ln>
        </p:spPr>
      </p:sp>
      <p:sp>
        <p:nvSpPr>
          <p:cNvPr id="17" name="Shape 14"/>
          <p:cNvSpPr/>
          <p:nvPr/>
        </p:nvSpPr>
        <p:spPr>
          <a:xfrm>
            <a:off x="4448556" y="2011680"/>
            <a:ext cx="3291840" cy="2286000"/>
          </a:xfrm>
          <a:prstGeom prst="roundRect">
            <a:avLst>
              <a:gd name="adj" fmla="val 7200"/>
            </a:avLst>
          </a:prstGeom>
          <a:solidFill>
            <a:srgbClr val="0A2E1C"/>
          </a:solidFill>
          <a:ln/>
        </p:spPr>
      </p:sp>
      <p:sp>
        <p:nvSpPr>
          <p:cNvPr id="18" name="Shape 15"/>
          <p:cNvSpPr/>
          <p:nvPr/>
        </p:nvSpPr>
        <p:spPr>
          <a:xfrm>
            <a:off x="4722876" y="2267712"/>
            <a:ext cx="749808" cy="749808"/>
          </a:xfrm>
          <a:prstGeom prst="ellipse">
            <a:avLst/>
          </a:prstGeom>
          <a:solidFill>
            <a:srgbClr val="FFFFFF"/>
          </a:solidFill>
          <a:ln/>
        </p:spPr>
      </p:sp>
      <p:pic>
        <p:nvPicPr>
          <p:cNvPr id="19" name="Image 1" descr="/home/claude/assets/logo_stp.png"/>
          <p:cNvPicPr>
            <a:picLocks noChangeAspect="1"/>
          </p:cNvPicPr>
          <p:nvPr/>
        </p:nvPicPr>
        <p:blipFill>
          <a:blip r:embed="rId4"/>
          <a:stretch>
            <a:fillRect/>
          </a:stretch>
        </p:blipFill>
        <p:spPr>
          <a:xfrm>
            <a:off x="4805172" y="2350008"/>
            <a:ext cx="585216" cy="585216"/>
          </a:xfrm>
          <a:prstGeom prst="rect">
            <a:avLst/>
          </a:prstGeom>
        </p:spPr>
      </p:pic>
      <p:sp>
        <p:nvSpPr>
          <p:cNvPr id="20" name="Text 16"/>
          <p:cNvSpPr txBox="1"/>
          <p:nvPr/>
        </p:nvSpPr>
        <p:spPr>
          <a:xfrm>
            <a:off x="5637276" y="2313432"/>
            <a:ext cx="1965960" cy="365760"/>
          </a:xfrm>
          <a:prstGeom prst="rect">
            <a:avLst/>
          </a:prstGeom>
          <a:noFill/>
          <a:ln/>
        </p:spPr>
        <p:txBody>
          <a:bodyPr wrap="square" lIns="0" tIns="0" rIns="0" bIns="0" rtlCol="0" anchor="t"/>
          <a:lstStyle/>
          <a:p>
            <a:pPr marL="0" indent="0">
              <a:buNone/>
            </a:pPr>
            <a:r>
              <a:rPr lang="en-US" sz="1600" b="1" dirty="0">
                <a:solidFill>
                  <a:srgbClr val="FFFFFF"/>
                </a:solidFill>
                <a:latin typeface="Arial" pitchFamily="34" charset="0"/>
                <a:ea typeface="Arial" pitchFamily="34" charset="-122"/>
                <a:cs typeface="Arial" pitchFamily="34" charset="-120"/>
              </a:rPr>
              <a:t>VIỆN STP</a:t>
            </a:r>
            <a:endParaRPr lang="en-US" sz="1600" dirty="0"/>
          </a:p>
        </p:txBody>
      </p:sp>
      <p:sp>
        <p:nvSpPr>
          <p:cNvPr id="21" name="Text 17"/>
          <p:cNvSpPr txBox="1"/>
          <p:nvPr/>
        </p:nvSpPr>
        <p:spPr>
          <a:xfrm>
            <a:off x="5637276" y="2670048"/>
            <a:ext cx="1965960" cy="274320"/>
          </a:xfrm>
          <a:prstGeom prst="rect">
            <a:avLst/>
          </a:prstGeom>
          <a:noFill/>
          <a:ln/>
        </p:spPr>
        <p:txBody>
          <a:bodyPr wrap="square" lIns="0" tIns="0" rIns="0" bIns="0" rtlCol="0" anchor="t"/>
          <a:lstStyle/>
          <a:p>
            <a:pPr marL="0" indent="0">
              <a:buNone/>
            </a:pPr>
            <a:r>
              <a:rPr lang="en-US" sz="1200" b="1" dirty="0">
                <a:solidFill>
                  <a:srgbClr val="A8D84E"/>
                </a:solidFill>
                <a:latin typeface="Calibri" pitchFamily="34" charset="0"/>
                <a:ea typeface="Calibri" pitchFamily="34" charset="-122"/>
                <a:cs typeface="Calibri" pitchFamily="34" charset="-120"/>
              </a:rPr>
              <a:t>Đơn vị đào tạo &amp; giải pháp</a:t>
            </a:r>
            <a:endParaRPr lang="en-US" sz="1200" dirty="0"/>
          </a:p>
        </p:txBody>
      </p:sp>
      <p:sp>
        <p:nvSpPr>
          <p:cNvPr id="22" name="Text 18"/>
          <p:cNvSpPr txBox="1"/>
          <p:nvPr/>
        </p:nvSpPr>
        <p:spPr>
          <a:xfrm>
            <a:off x="4722876" y="3200400"/>
            <a:ext cx="2743200" cy="365760"/>
          </a:xfrm>
          <a:prstGeom prst="rect">
            <a:avLst/>
          </a:prstGeom>
          <a:noFill/>
          <a:ln/>
        </p:spPr>
        <p:txBody>
          <a:bodyPr wrap="square" lIns="0" tIns="0" rIns="0" bIns="0" rtlCol="0" anchor="t"/>
          <a:lstStyle/>
          <a:p>
            <a:pPr marL="0" indent="0">
              <a:buNone/>
            </a:pPr>
            <a:r>
              <a:rPr lang="en-US" sz="1600" b="1" dirty="0">
                <a:solidFill>
                  <a:srgbClr val="A8D84E"/>
                </a:solidFill>
                <a:latin typeface="Arial" pitchFamily="34" charset="0"/>
                <a:ea typeface="Arial" pitchFamily="34" charset="-122"/>
                <a:cs typeface="Arial" pitchFamily="34" charset="-120"/>
              </a:rPr>
              <a:t>Đồng hành xuyên suốt</a:t>
            </a:r>
            <a:endParaRPr lang="en-US" sz="1600" dirty="0"/>
          </a:p>
        </p:txBody>
      </p:sp>
      <p:sp>
        <p:nvSpPr>
          <p:cNvPr id="23" name="Text 19"/>
          <p:cNvSpPr txBox="1"/>
          <p:nvPr/>
        </p:nvSpPr>
        <p:spPr>
          <a:xfrm>
            <a:off x="4722876" y="3584448"/>
            <a:ext cx="2788920" cy="640080"/>
          </a:xfrm>
          <a:prstGeom prst="rect">
            <a:avLst/>
          </a:prstGeom>
          <a:noFill/>
          <a:ln/>
        </p:spPr>
        <p:txBody>
          <a:bodyPr wrap="square" lIns="0" tIns="0" rIns="0" bIns="0" rtlCol="0" anchor="t"/>
          <a:lstStyle/>
          <a:p>
            <a:pPr marL="0" indent="0">
              <a:buNone/>
            </a:pPr>
            <a:r>
              <a:rPr lang="en-US" sz="1250" dirty="0">
                <a:solidFill>
                  <a:srgbClr val="B9D3C0"/>
                </a:solidFill>
                <a:latin typeface="Calibri" pitchFamily="34" charset="0"/>
                <a:ea typeface="Calibri" pitchFamily="34" charset="-122"/>
                <a:cs typeface="Calibri" pitchFamily="34" charset="-120"/>
              </a:rPr>
              <a:t>Hỗ trợ doanh nghiệp và người lao động trong suốt quá trình đào tạo, quản lý</a:t>
            </a:r>
            <a:endParaRPr lang="en-US" sz="1250" dirty="0"/>
          </a:p>
        </p:txBody>
      </p:sp>
      <p:sp>
        <p:nvSpPr>
          <p:cNvPr id="24" name="Shape 20"/>
          <p:cNvSpPr/>
          <p:nvPr/>
        </p:nvSpPr>
        <p:spPr>
          <a:xfrm>
            <a:off x="7813548" y="3154680"/>
            <a:ext cx="457200" cy="0"/>
          </a:xfrm>
          <a:prstGeom prst="line">
            <a:avLst/>
          </a:prstGeom>
          <a:noFill/>
          <a:ln w="25400">
            <a:solidFill>
              <a:srgbClr val="1E8C45"/>
            </a:solidFill>
            <a:prstDash val="solid"/>
            <a:headEnd type="triangle"/>
            <a:tailEnd type="triangle"/>
          </a:ln>
        </p:spPr>
      </p:sp>
      <p:sp>
        <p:nvSpPr>
          <p:cNvPr id="25" name="Shape 21"/>
          <p:cNvSpPr/>
          <p:nvPr/>
        </p:nvSpPr>
        <p:spPr>
          <a:xfrm>
            <a:off x="8348472" y="2011680"/>
            <a:ext cx="3291840" cy="2286000"/>
          </a:xfrm>
          <a:prstGeom prst="roundRect">
            <a:avLst>
              <a:gd name="adj" fmla="val 7200"/>
            </a:avLst>
          </a:prstGeom>
          <a:solidFill>
            <a:srgbClr val="FFFFFF"/>
          </a:solidFill>
          <a:ln/>
          <a:effectLst>
            <a:outerShdw blurRad="152400" dist="38100" dir="5400000" algn="bl" rotWithShape="0">
              <a:srgbClr val="0A2E1C">
                <a:alpha val="16000"/>
              </a:srgbClr>
            </a:outerShdw>
          </a:effectLst>
        </p:spPr>
      </p:sp>
      <p:sp>
        <p:nvSpPr>
          <p:cNvPr id="26" name="Shape 22"/>
          <p:cNvSpPr/>
          <p:nvPr/>
        </p:nvSpPr>
        <p:spPr>
          <a:xfrm>
            <a:off x="8622792" y="2267712"/>
            <a:ext cx="749808" cy="749808"/>
          </a:xfrm>
          <a:prstGeom prst="ellipse">
            <a:avLst/>
          </a:prstGeom>
          <a:solidFill>
            <a:srgbClr val="EEF6EF"/>
          </a:solidFill>
          <a:ln/>
        </p:spPr>
      </p:sp>
      <p:pic>
        <p:nvPicPr>
          <p:cNvPr id="27" name="Image 2" descr="preencoded.png"/>
          <p:cNvPicPr>
            <a:picLocks noChangeAspect="1"/>
          </p:cNvPicPr>
          <p:nvPr/>
        </p:nvPicPr>
        <p:blipFill>
          <a:blip r:embed="rId5"/>
          <a:stretch>
            <a:fillRect/>
          </a:stretch>
        </p:blipFill>
        <p:spPr>
          <a:xfrm>
            <a:off x="8802746" y="2447666"/>
            <a:ext cx="389900" cy="389900"/>
          </a:xfrm>
          <a:prstGeom prst="rect">
            <a:avLst/>
          </a:prstGeom>
        </p:spPr>
      </p:pic>
      <p:sp>
        <p:nvSpPr>
          <p:cNvPr id="28" name="Text 23"/>
          <p:cNvSpPr txBox="1"/>
          <p:nvPr/>
        </p:nvSpPr>
        <p:spPr>
          <a:xfrm>
            <a:off x="9537192" y="2313432"/>
            <a:ext cx="1965960" cy="365760"/>
          </a:xfrm>
          <a:prstGeom prst="rect">
            <a:avLst/>
          </a:prstGeom>
          <a:noFill/>
          <a:ln/>
        </p:spPr>
        <p:txBody>
          <a:bodyPr wrap="square" lIns="0" tIns="0" rIns="0" bIns="0" rtlCol="0" anchor="t"/>
          <a:lstStyle/>
          <a:p>
            <a:pPr marL="0" indent="0">
              <a:buNone/>
            </a:pPr>
            <a:r>
              <a:rPr lang="en-US" sz="1600" b="1" dirty="0">
                <a:solidFill>
                  <a:srgbClr val="17261D"/>
                </a:solidFill>
                <a:latin typeface="Arial" pitchFamily="34" charset="0"/>
                <a:ea typeface="Arial" pitchFamily="34" charset="-122"/>
                <a:cs typeface="Arial" pitchFamily="34" charset="-120"/>
              </a:rPr>
              <a:t>NGƯỜI LAO ĐỘNG</a:t>
            </a:r>
            <a:endParaRPr lang="en-US" sz="1600" dirty="0"/>
          </a:p>
        </p:txBody>
      </p:sp>
      <p:sp>
        <p:nvSpPr>
          <p:cNvPr id="29" name="Text 24"/>
          <p:cNvSpPr txBox="1"/>
          <p:nvPr/>
        </p:nvSpPr>
        <p:spPr>
          <a:xfrm>
            <a:off x="9537192" y="2670048"/>
            <a:ext cx="1965960" cy="274320"/>
          </a:xfrm>
          <a:prstGeom prst="rect">
            <a:avLst/>
          </a:prstGeom>
          <a:noFill/>
          <a:ln/>
        </p:spPr>
        <p:txBody>
          <a:bodyPr wrap="square" lIns="0" tIns="0" rIns="0" bIns="0" rtlCol="0" anchor="t"/>
          <a:lstStyle/>
          <a:p>
            <a:pPr marL="0" indent="0">
              <a:buNone/>
            </a:pPr>
            <a:r>
              <a:rPr lang="en-US" sz="1200" b="1" dirty="0">
                <a:solidFill>
                  <a:srgbClr val="1E8C45"/>
                </a:solidFill>
                <a:latin typeface="Calibri" pitchFamily="34" charset="0"/>
                <a:ea typeface="Calibri" pitchFamily="34" charset="-122"/>
                <a:cs typeface="Calibri" pitchFamily="34" charset="-120"/>
              </a:rPr>
              <a:t>Tài khoản cá nhân</a:t>
            </a:r>
            <a:endParaRPr lang="en-US" sz="1200" dirty="0"/>
          </a:p>
        </p:txBody>
      </p:sp>
      <p:sp>
        <p:nvSpPr>
          <p:cNvPr id="30" name="Text 25"/>
          <p:cNvSpPr txBox="1"/>
          <p:nvPr/>
        </p:nvSpPr>
        <p:spPr>
          <a:xfrm>
            <a:off x="8622792" y="3200400"/>
            <a:ext cx="2743200" cy="365760"/>
          </a:xfrm>
          <a:prstGeom prst="rect">
            <a:avLst/>
          </a:prstGeom>
          <a:noFill/>
          <a:ln/>
        </p:spPr>
        <p:txBody>
          <a:bodyPr wrap="square" lIns="0" tIns="0" rIns="0" bIns="0" rtlCol="0" anchor="t"/>
          <a:lstStyle/>
          <a:p>
            <a:pPr marL="0" indent="0">
              <a:buNone/>
            </a:pPr>
            <a:r>
              <a:rPr lang="en-US" sz="1600" b="1" dirty="0">
                <a:solidFill>
                  <a:srgbClr val="1E8C45"/>
                </a:solidFill>
                <a:latin typeface="Arial" pitchFamily="34" charset="0"/>
                <a:ea typeface="Arial" pitchFamily="34" charset="-122"/>
                <a:cs typeface="Arial" pitchFamily="34" charset="-120"/>
              </a:rPr>
              <a:t>Chủ động tra cứu</a:t>
            </a:r>
            <a:endParaRPr lang="en-US" sz="1600" dirty="0"/>
          </a:p>
        </p:txBody>
      </p:sp>
      <p:sp>
        <p:nvSpPr>
          <p:cNvPr id="31" name="Text 26"/>
          <p:cNvSpPr txBox="1"/>
          <p:nvPr/>
        </p:nvSpPr>
        <p:spPr>
          <a:xfrm>
            <a:off x="8622792" y="3584448"/>
            <a:ext cx="2788920" cy="640080"/>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Học tập, tra cứu chứng chỉ và gửi yêu cầu tại daotao.vienstp.com</a:t>
            </a:r>
            <a:endParaRPr lang="en-US" sz="1250" dirty="0"/>
          </a:p>
        </p:txBody>
      </p:sp>
      <p:sp>
        <p:nvSpPr>
          <p:cNvPr id="32" name="Text 27"/>
          <p:cNvSpPr txBox="1"/>
          <p:nvPr/>
        </p:nvSpPr>
        <p:spPr>
          <a:xfrm>
            <a:off x="548640" y="4572000"/>
            <a:ext cx="4572000" cy="256032"/>
          </a:xfrm>
          <a:prstGeom prst="rect">
            <a:avLst/>
          </a:prstGeom>
          <a:noFill/>
          <a:ln/>
        </p:spPr>
        <p:txBody>
          <a:bodyPr wrap="square" lIns="0" tIns="0" rIns="0" bIns="0" rtlCol="0" anchor="t"/>
          <a:lstStyle/>
          <a:p>
            <a:pPr marL="0" indent="0">
              <a:buNone/>
            </a:pPr>
            <a:r>
              <a:rPr lang="en-US" sz="1000" b="1" kern="0" spc="250" dirty="0">
                <a:solidFill>
                  <a:srgbClr val="1E8C45"/>
                </a:solidFill>
                <a:latin typeface="Arial" pitchFamily="34" charset="0"/>
                <a:ea typeface="Arial" pitchFamily="34" charset="-122"/>
                <a:cs typeface="Arial" pitchFamily="34" charset="-120"/>
              </a:rPr>
              <a:t>LỘ TRÌNH GIÁ TRỊ</a:t>
            </a:r>
            <a:endParaRPr lang="en-US" sz="1000" dirty="0"/>
          </a:p>
        </p:txBody>
      </p:sp>
      <p:sp>
        <p:nvSpPr>
          <p:cNvPr id="33" name="Shape 28"/>
          <p:cNvSpPr/>
          <p:nvPr/>
        </p:nvSpPr>
        <p:spPr>
          <a:xfrm>
            <a:off x="548640" y="4892040"/>
            <a:ext cx="2862072" cy="777240"/>
          </a:xfrm>
          <a:prstGeom prst="homePlate">
            <a:avLst/>
          </a:prstGeom>
          <a:solidFill>
            <a:srgbClr val="D5EAD8"/>
          </a:solidFill>
          <a:ln/>
        </p:spPr>
      </p:sp>
      <p:sp>
        <p:nvSpPr>
          <p:cNvPr id="34" name="Text 29"/>
          <p:cNvSpPr txBox="1"/>
          <p:nvPr/>
        </p:nvSpPr>
        <p:spPr>
          <a:xfrm>
            <a:off x="731520" y="4892040"/>
            <a:ext cx="2359152" cy="777240"/>
          </a:xfrm>
          <a:prstGeom prst="rect">
            <a:avLst/>
          </a:prstGeom>
          <a:noFill/>
          <a:ln/>
        </p:spPr>
        <p:txBody>
          <a:bodyPr wrap="square" lIns="0" tIns="0" rIns="0" bIns="0" rtlCol="0" anchor="ctr"/>
          <a:lstStyle/>
          <a:p>
            <a:pPr marL="0" indent="0" algn="ctr">
              <a:buNone/>
            </a:pPr>
            <a:r>
              <a:rPr lang="en-US" sz="1200" b="1" dirty="0">
                <a:solidFill>
                  <a:srgbClr val="17261D"/>
                </a:solidFill>
                <a:latin typeface="Arial" pitchFamily="34" charset="0"/>
                <a:ea typeface="Arial" pitchFamily="34" charset="-122"/>
                <a:cs typeface="Arial" pitchFamily="34" charset="-120"/>
              </a:rPr>
              <a:t>TỪ QUẢN LÝ HỒ SƠ</a:t>
            </a:r>
            <a:endParaRPr lang="en-US" sz="1200" dirty="0"/>
          </a:p>
        </p:txBody>
      </p:sp>
      <p:sp>
        <p:nvSpPr>
          <p:cNvPr id="35" name="Shape 30"/>
          <p:cNvSpPr/>
          <p:nvPr/>
        </p:nvSpPr>
        <p:spPr>
          <a:xfrm>
            <a:off x="3291840" y="4892040"/>
            <a:ext cx="2862072" cy="777240"/>
          </a:xfrm>
          <a:prstGeom prst="chevron">
            <a:avLst/>
          </a:prstGeom>
          <a:solidFill>
            <a:srgbClr val="9ED3A6"/>
          </a:solidFill>
          <a:ln/>
        </p:spPr>
      </p:sp>
      <p:sp>
        <p:nvSpPr>
          <p:cNvPr id="36" name="Text 31"/>
          <p:cNvSpPr txBox="1"/>
          <p:nvPr/>
        </p:nvSpPr>
        <p:spPr>
          <a:xfrm>
            <a:off x="3703320" y="4892040"/>
            <a:ext cx="2084832" cy="777240"/>
          </a:xfrm>
          <a:prstGeom prst="rect">
            <a:avLst/>
          </a:prstGeom>
          <a:noFill/>
          <a:ln/>
        </p:spPr>
        <p:txBody>
          <a:bodyPr wrap="square" lIns="0" tIns="0" rIns="0" bIns="0" rtlCol="0" anchor="ctr"/>
          <a:lstStyle/>
          <a:p>
            <a:pPr marL="0" indent="0" algn="ctr">
              <a:buNone/>
            </a:pPr>
            <a:r>
              <a:rPr lang="en-US" sz="1200" b="1" dirty="0">
                <a:solidFill>
                  <a:srgbClr val="17261D"/>
                </a:solidFill>
                <a:latin typeface="Arial" pitchFamily="34" charset="0"/>
                <a:ea typeface="Arial" pitchFamily="34" charset="-122"/>
                <a:cs typeface="Arial" pitchFamily="34" charset="-120"/>
              </a:rPr>
              <a:t>QUẢN LÝ CON NGƯỜI</a:t>
            </a:r>
            <a:endParaRPr lang="en-US" sz="1200" dirty="0"/>
          </a:p>
        </p:txBody>
      </p:sp>
      <p:sp>
        <p:nvSpPr>
          <p:cNvPr id="37" name="Shape 32"/>
          <p:cNvSpPr/>
          <p:nvPr/>
        </p:nvSpPr>
        <p:spPr>
          <a:xfrm>
            <a:off x="6035040" y="4892040"/>
            <a:ext cx="2862072" cy="777240"/>
          </a:xfrm>
          <a:prstGeom prst="chevron">
            <a:avLst/>
          </a:prstGeom>
          <a:solidFill>
            <a:srgbClr val="3DB54A"/>
          </a:solidFill>
          <a:ln/>
        </p:spPr>
      </p:sp>
      <p:sp>
        <p:nvSpPr>
          <p:cNvPr id="38" name="Text 33"/>
          <p:cNvSpPr txBox="1"/>
          <p:nvPr/>
        </p:nvSpPr>
        <p:spPr>
          <a:xfrm>
            <a:off x="6446520" y="4892040"/>
            <a:ext cx="2084832"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QUẢN LÝ NGUY CƠ</a:t>
            </a:r>
            <a:endParaRPr lang="en-US" sz="1200" dirty="0"/>
          </a:p>
        </p:txBody>
      </p:sp>
      <p:sp>
        <p:nvSpPr>
          <p:cNvPr id="39" name="Shape 34"/>
          <p:cNvSpPr/>
          <p:nvPr/>
        </p:nvSpPr>
        <p:spPr>
          <a:xfrm>
            <a:off x="8778240" y="4892040"/>
            <a:ext cx="2862072" cy="777240"/>
          </a:xfrm>
          <a:prstGeom prst="chevron">
            <a:avLst/>
          </a:prstGeom>
          <a:solidFill>
            <a:srgbClr val="1E8C45"/>
          </a:solidFill>
          <a:ln/>
        </p:spPr>
      </p:sp>
      <p:sp>
        <p:nvSpPr>
          <p:cNvPr id="40" name="Text 35"/>
          <p:cNvSpPr txBox="1"/>
          <p:nvPr/>
        </p:nvSpPr>
        <p:spPr>
          <a:xfrm>
            <a:off x="9189720" y="4892040"/>
            <a:ext cx="2084832" cy="77724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CHỦ ĐỘNG PHÒNG NGỪA RỦI RO</a:t>
            </a:r>
            <a:endParaRPr lang="en-US" sz="1200" dirty="0"/>
          </a:p>
        </p:txBody>
      </p:sp>
      <p:sp>
        <p:nvSpPr>
          <p:cNvPr id="41" name="Text 36"/>
          <p:cNvSpPr txBox="1"/>
          <p:nvPr/>
        </p:nvSpPr>
        <p:spPr>
          <a:xfrm>
            <a:off x="548640" y="5870448"/>
            <a:ext cx="11091672" cy="411480"/>
          </a:xfrm>
          <a:prstGeom prst="rect">
            <a:avLst/>
          </a:prstGeom>
          <a:noFill/>
          <a:ln/>
        </p:spPr>
        <p:txBody>
          <a:bodyPr wrap="square" lIns="0" tIns="0" rIns="0" bIns="0" rtlCol="0" anchor="t"/>
          <a:lstStyle/>
          <a:p>
            <a:pPr marL="0" indent="0" algn="ctr">
              <a:buNone/>
            </a:pPr>
            <a:r>
              <a:rPr lang="en-US" sz="1500" b="1" i="1" dirty="0">
                <a:solidFill>
                  <a:srgbClr val="1E8C45"/>
                </a:solidFill>
                <a:latin typeface="Calibri" pitchFamily="34" charset="0"/>
                <a:ea typeface="Calibri" pitchFamily="34" charset="-122"/>
                <a:cs typeface="Calibri" pitchFamily="34" charset="-120"/>
              </a:rPr>
              <a:t>Hướng tới hệ sinh thái quản lý an toàn thông minh – số hóa – chủ động – hiệu quả</a:t>
            </a:r>
            <a:endParaRPr lang="en-US" sz="15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III · 1. DÀNH CHO DOANH NGHIỆP</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600" b="1" dirty="0">
                <a:solidFill>
                  <a:srgbClr val="17261D"/>
                </a:solidFill>
                <a:latin typeface="Arial" pitchFamily="34" charset="0"/>
                <a:ea typeface="Arial" pitchFamily="34" charset="-122"/>
                <a:cs typeface="Arial" pitchFamily="34" charset="-120"/>
              </a:rPr>
              <a:t>TỔNG QUAN AN TOÀN &amp; NHÂN SỰ TRONG MỘT CÚ CLICK</a:t>
            </a:r>
            <a:endParaRPr lang="en-US" sz="26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20</a:t>
            </a:r>
            <a:endParaRPr lang="en-US" sz="900" dirty="0"/>
          </a:p>
        </p:txBody>
      </p:sp>
      <p:sp>
        <p:nvSpPr>
          <p:cNvPr id="8" name="Shape 6"/>
          <p:cNvSpPr/>
          <p:nvPr/>
        </p:nvSpPr>
        <p:spPr>
          <a:xfrm>
            <a:off x="548640" y="1371600"/>
            <a:ext cx="7086600" cy="3562596"/>
          </a:xfrm>
          <a:prstGeom prst="roundRect">
            <a:avLst>
              <a:gd name="adj" fmla="val 3593"/>
            </a:avLst>
          </a:prstGeom>
          <a:solidFill>
            <a:srgbClr val="FFFFFF"/>
          </a:solidFill>
          <a:ln/>
          <a:effectLst>
            <a:outerShdw blurRad="228600" dist="63500" dir="5400000" algn="bl" rotWithShape="0">
              <a:srgbClr val="0A2E1C">
                <a:alpha val="22000"/>
              </a:srgbClr>
            </a:outerShdw>
          </a:effectLst>
        </p:spPr>
      </p:sp>
      <p:sp>
        <p:nvSpPr>
          <p:cNvPr id="9" name="Shape 7"/>
          <p:cNvSpPr/>
          <p:nvPr/>
        </p:nvSpPr>
        <p:spPr>
          <a:xfrm>
            <a:off x="713232" y="1508760"/>
            <a:ext cx="100584" cy="100584"/>
          </a:xfrm>
          <a:prstGeom prst="ellipse">
            <a:avLst/>
          </a:prstGeom>
          <a:solidFill>
            <a:srgbClr val="FF5F57"/>
          </a:solidFill>
          <a:ln/>
        </p:spPr>
      </p:sp>
      <p:sp>
        <p:nvSpPr>
          <p:cNvPr id="10" name="Shape 8"/>
          <p:cNvSpPr/>
          <p:nvPr/>
        </p:nvSpPr>
        <p:spPr>
          <a:xfrm>
            <a:off x="868680" y="1508760"/>
            <a:ext cx="100584" cy="100584"/>
          </a:xfrm>
          <a:prstGeom prst="ellipse">
            <a:avLst/>
          </a:prstGeom>
          <a:solidFill>
            <a:srgbClr val="FEBC2E"/>
          </a:solidFill>
          <a:ln/>
        </p:spPr>
      </p:sp>
      <p:sp>
        <p:nvSpPr>
          <p:cNvPr id="11" name="Shape 9"/>
          <p:cNvSpPr/>
          <p:nvPr/>
        </p:nvSpPr>
        <p:spPr>
          <a:xfrm>
            <a:off x="1024128" y="1508760"/>
            <a:ext cx="100584" cy="100584"/>
          </a:xfrm>
          <a:prstGeom prst="ellipse">
            <a:avLst/>
          </a:prstGeom>
          <a:solidFill>
            <a:srgbClr val="28C840"/>
          </a:solidFill>
          <a:ln/>
        </p:spPr>
      </p:sp>
      <p:sp>
        <p:nvSpPr>
          <p:cNvPr id="12" name="Shape 10"/>
          <p:cNvSpPr/>
          <p:nvPr/>
        </p:nvSpPr>
        <p:spPr>
          <a:xfrm>
            <a:off x="1261872" y="1463040"/>
            <a:ext cx="2926080" cy="201168"/>
          </a:xfrm>
          <a:prstGeom prst="roundRect">
            <a:avLst>
              <a:gd name="adj" fmla="val 50000"/>
            </a:avLst>
          </a:prstGeom>
          <a:solidFill>
            <a:srgbClr val="F1F4F2"/>
          </a:solidFill>
          <a:ln/>
        </p:spPr>
      </p:sp>
      <p:sp>
        <p:nvSpPr>
          <p:cNvPr id="13" name="Text 11"/>
          <p:cNvSpPr txBox="1"/>
          <p:nvPr/>
        </p:nvSpPr>
        <p:spPr>
          <a:xfrm>
            <a:off x="1389888" y="1463040"/>
            <a:ext cx="2743200" cy="201168"/>
          </a:xfrm>
          <a:prstGeom prst="rect">
            <a:avLst/>
          </a:prstGeom>
          <a:noFill/>
          <a:ln/>
        </p:spPr>
        <p:txBody>
          <a:bodyPr wrap="square" lIns="0" tIns="0" rIns="0" bIns="0" rtlCol="0" anchor="ctr"/>
          <a:lstStyle/>
          <a:p>
            <a:pPr marL="0" indent="0">
              <a:buNone/>
            </a:pPr>
            <a:r>
              <a:rPr lang="en-US" sz="900" dirty="0">
                <a:solidFill>
                  <a:srgbClr val="7A877F"/>
                </a:solidFill>
                <a:latin typeface="Calibri" pitchFamily="34" charset="0"/>
                <a:ea typeface="Calibri" pitchFamily="34" charset="-122"/>
                <a:cs typeface="Calibri" pitchFamily="34" charset="-120"/>
              </a:rPr>
              <a:t>doanhnghiep.vienstp.com</a:t>
            </a:r>
            <a:endParaRPr lang="en-US" sz="900" dirty="0"/>
          </a:p>
        </p:txBody>
      </p:sp>
      <p:pic>
        <p:nvPicPr>
          <p:cNvPr id="14" name="Image 0" descr="preencoded.png"/>
          <p:cNvPicPr>
            <a:picLocks noChangeAspect="1"/>
          </p:cNvPicPr>
          <p:nvPr/>
        </p:nvPicPr>
        <p:blipFill>
          <a:blip r:embed="rId3"/>
          <a:stretch>
            <a:fillRect/>
          </a:stretch>
        </p:blipFill>
        <p:spPr>
          <a:xfrm>
            <a:off x="640080" y="1755648"/>
            <a:ext cx="6903720" cy="3087108"/>
          </a:xfrm>
          <a:prstGeom prst="rect">
            <a:avLst/>
          </a:prstGeom>
        </p:spPr>
      </p:pic>
      <p:sp>
        <p:nvSpPr>
          <p:cNvPr id="15" name="Shape 12"/>
          <p:cNvSpPr/>
          <p:nvPr/>
        </p:nvSpPr>
        <p:spPr>
          <a:xfrm>
            <a:off x="3611880" y="4526280"/>
            <a:ext cx="4114800" cy="1929788"/>
          </a:xfrm>
          <a:prstGeom prst="roundRect">
            <a:avLst>
              <a:gd name="adj" fmla="val 5686"/>
            </a:avLst>
          </a:prstGeom>
          <a:solidFill>
            <a:srgbClr val="FFFFFF"/>
          </a:solidFill>
          <a:ln/>
          <a:effectLst>
            <a:outerShdw blurRad="228600" dist="63500" dir="5400000" algn="bl" rotWithShape="0">
              <a:srgbClr val="0A2E1C">
                <a:alpha val="25000"/>
              </a:srgbClr>
            </a:outerShdw>
          </a:effectLst>
        </p:spPr>
      </p:sp>
      <p:pic>
        <p:nvPicPr>
          <p:cNvPr id="16" name="Image 1" descr="preencoded.png"/>
          <p:cNvPicPr>
            <a:picLocks noChangeAspect="1"/>
          </p:cNvPicPr>
          <p:nvPr/>
        </p:nvPicPr>
        <p:blipFill>
          <a:blip r:embed="rId4"/>
          <a:stretch>
            <a:fillRect/>
          </a:stretch>
        </p:blipFill>
        <p:spPr>
          <a:xfrm>
            <a:off x="3703320" y="4617720"/>
            <a:ext cx="3931920" cy="1746908"/>
          </a:xfrm>
          <a:prstGeom prst="rect">
            <a:avLst/>
          </a:prstGeom>
        </p:spPr>
      </p:pic>
      <p:sp>
        <p:nvSpPr>
          <p:cNvPr id="17" name="Text 13"/>
          <p:cNvSpPr txBox="1"/>
          <p:nvPr/>
        </p:nvSpPr>
        <p:spPr>
          <a:xfrm>
            <a:off x="548640" y="5230368"/>
            <a:ext cx="2834640" cy="1097280"/>
          </a:xfrm>
          <a:prstGeom prst="rect">
            <a:avLst/>
          </a:prstGeom>
          <a:noFill/>
          <a:ln/>
        </p:spPr>
        <p:txBody>
          <a:bodyPr wrap="square" lIns="0" tIns="0" rIns="0" bIns="0" rtlCol="0" anchor="t"/>
          <a:lstStyle/>
          <a:p>
            <a:pPr marL="0" indent="0">
              <a:buNone/>
            </a:pPr>
            <a:r>
              <a:rPr lang="en-US" sz="1400" dirty="0">
                <a:solidFill>
                  <a:srgbClr val="17261D"/>
                </a:solidFill>
                <a:latin typeface="Calibri" pitchFamily="34" charset="0"/>
                <a:ea typeface="Calibri" pitchFamily="34" charset="-122"/>
                <a:cs typeface="Calibri" pitchFamily="34" charset="-120"/>
              </a:rPr>
              <a:t>Tài khoản doanh nghiệp hoạt động như một </a:t>
            </a:r>
            <a:r>
              <a:rPr lang="en-US" sz="1400" b="1" dirty="0">
                <a:solidFill>
                  <a:srgbClr val="1E8C45"/>
                </a:solidFill>
                <a:latin typeface="Calibri" pitchFamily="34" charset="0"/>
                <a:ea typeface="Calibri" pitchFamily="34" charset="-122"/>
                <a:cs typeface="Calibri" pitchFamily="34" charset="-120"/>
              </a:rPr>
              <a:t>hệ điều hành thu nhỏ về An toàn &amp; Nhân sự</a:t>
            </a:r>
            <a:endParaRPr lang="en-US" sz="1400" dirty="0"/>
          </a:p>
        </p:txBody>
      </p:sp>
      <p:sp>
        <p:nvSpPr>
          <p:cNvPr id="18" name="Text 14"/>
          <p:cNvSpPr txBox="1"/>
          <p:nvPr/>
        </p:nvSpPr>
        <p:spPr>
          <a:xfrm>
            <a:off x="8092440" y="1417320"/>
            <a:ext cx="3566160" cy="274320"/>
          </a:xfrm>
          <a:prstGeom prst="rect">
            <a:avLst/>
          </a:prstGeom>
          <a:noFill/>
          <a:ln/>
        </p:spPr>
        <p:txBody>
          <a:bodyPr wrap="square" lIns="0" tIns="0" rIns="0" bIns="0" rtlCol="0" anchor="t"/>
          <a:lstStyle/>
          <a:p>
            <a:pPr marL="0" indent="0">
              <a:buNone/>
            </a:pPr>
            <a:r>
              <a:rPr lang="en-US" sz="1000" b="1" kern="0" spc="200" dirty="0">
                <a:solidFill>
                  <a:srgbClr val="1E8C45"/>
                </a:solidFill>
                <a:latin typeface="Arial" pitchFamily="34" charset="0"/>
                <a:ea typeface="Arial" pitchFamily="34" charset="-122"/>
                <a:cs typeface="Arial" pitchFamily="34" charset="-120"/>
              </a:rPr>
              <a:t>DASHBOARD TỔNG QUAN</a:t>
            </a:r>
            <a:endParaRPr lang="en-US" sz="1000" dirty="0"/>
          </a:p>
        </p:txBody>
      </p:sp>
      <p:sp>
        <p:nvSpPr>
          <p:cNvPr id="19" name="Text 15"/>
          <p:cNvSpPr txBox="1"/>
          <p:nvPr/>
        </p:nvSpPr>
        <p:spPr>
          <a:xfrm>
            <a:off x="8092440" y="1691640"/>
            <a:ext cx="3566160" cy="457200"/>
          </a:xfrm>
          <a:prstGeom prst="rect">
            <a:avLst/>
          </a:prstGeom>
          <a:noFill/>
          <a:ln/>
        </p:spPr>
        <p:txBody>
          <a:bodyPr wrap="square" lIns="0" tIns="0" rIns="0" bIns="0" rtlCol="0" anchor="t"/>
          <a:lstStyle/>
          <a:p>
            <a:pPr marL="0" indent="0">
              <a:buNone/>
            </a:pPr>
            <a:r>
              <a:rPr lang="en-US" sz="2000" b="1" dirty="0">
                <a:solidFill>
                  <a:srgbClr val="17261D"/>
                </a:solidFill>
                <a:latin typeface="Arial" pitchFamily="34" charset="0"/>
                <a:ea typeface="Arial" pitchFamily="34" charset="-122"/>
                <a:cs typeface="Arial" pitchFamily="34" charset="-120"/>
              </a:rPr>
              <a:t>Chỉ số an toàn real-time</a:t>
            </a:r>
            <a:endParaRPr lang="en-US" sz="2000" dirty="0"/>
          </a:p>
        </p:txBody>
      </p:sp>
      <p:sp>
        <p:nvSpPr>
          <p:cNvPr id="20" name="Shape 16"/>
          <p:cNvSpPr/>
          <p:nvPr/>
        </p:nvSpPr>
        <p:spPr>
          <a:xfrm>
            <a:off x="8092440" y="2468880"/>
            <a:ext cx="420624" cy="420624"/>
          </a:xfrm>
          <a:prstGeom prst="ellipse">
            <a:avLst/>
          </a:prstGeom>
          <a:solidFill>
            <a:srgbClr val="EEF6EF"/>
          </a:solidFill>
          <a:ln/>
        </p:spPr>
      </p:sp>
      <p:pic>
        <p:nvPicPr>
          <p:cNvPr id="21" name="Image 2" descr="preencoded.png"/>
          <p:cNvPicPr>
            <a:picLocks noChangeAspect="1"/>
          </p:cNvPicPr>
          <p:nvPr/>
        </p:nvPicPr>
        <p:blipFill>
          <a:blip r:embed="rId5"/>
          <a:stretch>
            <a:fillRect/>
          </a:stretch>
        </p:blipFill>
        <p:spPr>
          <a:xfrm>
            <a:off x="8193390" y="2569830"/>
            <a:ext cx="218724" cy="218724"/>
          </a:xfrm>
          <a:prstGeom prst="rect">
            <a:avLst/>
          </a:prstGeom>
        </p:spPr>
      </p:pic>
      <p:sp>
        <p:nvSpPr>
          <p:cNvPr id="22" name="Text 17"/>
          <p:cNvSpPr txBox="1"/>
          <p:nvPr/>
        </p:nvSpPr>
        <p:spPr>
          <a:xfrm>
            <a:off x="8686800" y="2441448"/>
            <a:ext cx="295351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Chỉ số tuân thủ ATVSLĐ</a:t>
            </a:r>
            <a:endParaRPr lang="en-US" sz="1350" dirty="0"/>
          </a:p>
        </p:txBody>
      </p:sp>
      <p:sp>
        <p:nvSpPr>
          <p:cNvPr id="23" name="Text 18"/>
          <p:cNvSpPr txBox="1"/>
          <p:nvPr/>
        </p:nvSpPr>
        <p:spPr>
          <a:xfrm>
            <a:off x="8686800" y="2743200"/>
            <a:ext cx="2953512" cy="914400"/>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Biết chính xác tỷ lệ %, số nhân sự đã / chưa huấn luyện để sắp xếp học ngay.</a:t>
            </a:r>
            <a:endParaRPr lang="en-US" sz="1250" dirty="0"/>
          </a:p>
        </p:txBody>
      </p:sp>
      <p:sp>
        <p:nvSpPr>
          <p:cNvPr id="24" name="Shape 19"/>
          <p:cNvSpPr/>
          <p:nvPr/>
        </p:nvSpPr>
        <p:spPr>
          <a:xfrm>
            <a:off x="8092440" y="3703320"/>
            <a:ext cx="420624" cy="420624"/>
          </a:xfrm>
          <a:prstGeom prst="ellipse">
            <a:avLst/>
          </a:prstGeom>
          <a:solidFill>
            <a:srgbClr val="EEF6EF"/>
          </a:solidFill>
          <a:ln/>
        </p:spPr>
      </p:sp>
      <p:pic>
        <p:nvPicPr>
          <p:cNvPr id="25" name="Image 3" descr="preencoded.png"/>
          <p:cNvPicPr>
            <a:picLocks noChangeAspect="1"/>
          </p:cNvPicPr>
          <p:nvPr/>
        </p:nvPicPr>
        <p:blipFill>
          <a:blip r:embed="rId6"/>
          <a:stretch>
            <a:fillRect/>
          </a:stretch>
        </p:blipFill>
        <p:spPr>
          <a:xfrm>
            <a:off x="8193390" y="3804270"/>
            <a:ext cx="218724" cy="218724"/>
          </a:xfrm>
          <a:prstGeom prst="rect">
            <a:avLst/>
          </a:prstGeom>
        </p:spPr>
      </p:pic>
      <p:sp>
        <p:nvSpPr>
          <p:cNvPr id="26" name="Text 20"/>
          <p:cNvSpPr txBox="1"/>
          <p:nvPr/>
        </p:nvSpPr>
        <p:spPr>
          <a:xfrm>
            <a:off x="8686800" y="3675888"/>
            <a:ext cx="295351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Chứng chỉ sắp hết hạn</a:t>
            </a:r>
            <a:endParaRPr lang="en-US" sz="1350" dirty="0"/>
          </a:p>
        </p:txBody>
      </p:sp>
      <p:sp>
        <p:nvSpPr>
          <p:cNvPr id="27" name="Text 21"/>
          <p:cNvSpPr txBox="1"/>
          <p:nvPr/>
        </p:nvSpPr>
        <p:spPr>
          <a:xfrm>
            <a:off x="8686800" y="3977640"/>
            <a:ext cx="2953512" cy="914400"/>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Cảnh báo trước 30 ngày để chủ động tái huấn luyện, không lo vi phạm pháp luật.</a:t>
            </a:r>
            <a:endParaRPr lang="en-US" sz="1250" dirty="0"/>
          </a:p>
        </p:txBody>
      </p:sp>
      <p:sp>
        <p:nvSpPr>
          <p:cNvPr id="28" name="Shape 22"/>
          <p:cNvSpPr/>
          <p:nvPr/>
        </p:nvSpPr>
        <p:spPr>
          <a:xfrm>
            <a:off x="8092440" y="4937760"/>
            <a:ext cx="420624" cy="420624"/>
          </a:xfrm>
          <a:prstGeom prst="ellipse">
            <a:avLst/>
          </a:prstGeom>
          <a:solidFill>
            <a:srgbClr val="EEF6EF"/>
          </a:solidFill>
          <a:ln/>
        </p:spPr>
      </p:sp>
      <p:pic>
        <p:nvPicPr>
          <p:cNvPr id="29" name="Image 4" descr="preencoded.png"/>
          <p:cNvPicPr>
            <a:picLocks noChangeAspect="1"/>
          </p:cNvPicPr>
          <p:nvPr/>
        </p:nvPicPr>
        <p:blipFill>
          <a:blip r:embed="rId7"/>
          <a:stretch>
            <a:fillRect/>
          </a:stretch>
        </p:blipFill>
        <p:spPr>
          <a:xfrm>
            <a:off x="8193390" y="5038710"/>
            <a:ext cx="218724" cy="218724"/>
          </a:xfrm>
          <a:prstGeom prst="rect">
            <a:avLst/>
          </a:prstGeom>
        </p:spPr>
      </p:pic>
      <p:sp>
        <p:nvSpPr>
          <p:cNvPr id="30" name="Text 23"/>
          <p:cNvSpPr txBox="1"/>
          <p:nvPr/>
        </p:nvSpPr>
        <p:spPr>
          <a:xfrm>
            <a:off x="8686800" y="4910328"/>
            <a:ext cx="295351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Thiết bị &amp; kiểm định</a:t>
            </a:r>
            <a:endParaRPr lang="en-US" sz="1350" dirty="0"/>
          </a:p>
        </p:txBody>
      </p:sp>
      <p:sp>
        <p:nvSpPr>
          <p:cNvPr id="31" name="Text 24"/>
          <p:cNvSpPr txBox="1"/>
          <p:nvPr/>
        </p:nvSpPr>
        <p:spPr>
          <a:xfrm>
            <a:off x="8686800" y="5212080"/>
            <a:ext cx="2953512" cy="914400"/>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Theo dõi tình trạng kiểm định an toàn của toàn bộ máy móc, thiết bị trong nhà máy, công trường.</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III · 1. DÀNH CHO DOANH NGHIỆP</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MODULE ĐÀO TẠO</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21</a:t>
            </a:r>
            <a:endParaRPr lang="en-US" sz="900" dirty="0"/>
          </a:p>
        </p:txBody>
      </p:sp>
      <p:sp>
        <p:nvSpPr>
          <p:cNvPr id="8" name="Text 6"/>
          <p:cNvSpPr txBox="1"/>
          <p:nvPr/>
        </p:nvSpPr>
        <p:spPr>
          <a:xfrm>
            <a:off x="548640" y="1371600"/>
            <a:ext cx="4206240" cy="822960"/>
          </a:xfrm>
          <a:prstGeom prst="rect">
            <a:avLst/>
          </a:prstGeom>
          <a:noFill/>
          <a:ln/>
        </p:spPr>
        <p:txBody>
          <a:bodyPr wrap="square" lIns="0" tIns="0" rIns="0" bIns="0" rtlCol="0" anchor="t"/>
          <a:lstStyle/>
          <a:p>
            <a:pPr marL="0" indent="0">
              <a:buNone/>
            </a:pPr>
            <a:r>
              <a:rPr lang="en-US" sz="1500" dirty="0">
                <a:solidFill>
                  <a:srgbClr val="3C4A42"/>
                </a:solidFill>
                <a:latin typeface="Calibri" pitchFamily="34" charset="0"/>
                <a:ea typeface="Calibri" pitchFamily="34" charset="-122"/>
                <a:cs typeface="Calibri" pitchFamily="34" charset="-120"/>
              </a:rPr>
              <a:t>Số hóa và tối ưu toàn bộ quy trình </a:t>
            </a:r>
            <a:r>
              <a:rPr lang="en-US" sz="1500" b="1" dirty="0">
                <a:solidFill>
                  <a:srgbClr val="1E8C45"/>
                </a:solidFill>
                <a:latin typeface="Calibri" pitchFamily="34" charset="0"/>
                <a:ea typeface="Calibri" pitchFamily="34" charset="-122"/>
                <a:cs typeface="Calibri" pitchFamily="34" charset="-120"/>
              </a:rPr>
              <a:t>đăng ký, quản lý và theo dõi</a:t>
            </a:r>
            <a:r>
              <a:rPr lang="en-US" sz="1500" dirty="0">
                <a:solidFill>
                  <a:srgbClr val="3C4A42"/>
                </a:solidFill>
                <a:latin typeface="Calibri" pitchFamily="34" charset="0"/>
                <a:ea typeface="Calibri" pitchFamily="34" charset="-122"/>
                <a:cs typeface="Calibri" pitchFamily="34" charset="-120"/>
              </a:rPr>
              <a:t> huấn luyện an toàn, vệ sinh lao động.</a:t>
            </a:r>
            <a:endParaRPr lang="en-US" sz="1500" dirty="0"/>
          </a:p>
        </p:txBody>
      </p:sp>
      <p:sp>
        <p:nvSpPr>
          <p:cNvPr id="9" name="Shape 7"/>
          <p:cNvSpPr/>
          <p:nvPr/>
        </p:nvSpPr>
        <p:spPr>
          <a:xfrm>
            <a:off x="548640" y="2377440"/>
            <a:ext cx="420624" cy="420624"/>
          </a:xfrm>
          <a:prstGeom prst="ellipse">
            <a:avLst/>
          </a:prstGeom>
          <a:solidFill>
            <a:srgbClr val="1E8C45"/>
          </a:solidFill>
          <a:ln/>
        </p:spPr>
      </p:sp>
      <p:sp>
        <p:nvSpPr>
          <p:cNvPr id="10" name="Text 8"/>
          <p:cNvSpPr txBox="1"/>
          <p:nvPr/>
        </p:nvSpPr>
        <p:spPr>
          <a:xfrm>
            <a:off x="548640" y="2377440"/>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1" name="Text 9"/>
          <p:cNvSpPr txBox="1"/>
          <p:nvPr/>
        </p:nvSpPr>
        <p:spPr>
          <a:xfrm>
            <a:off x="1143000" y="2350008"/>
            <a:ext cx="3611880"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Danh mục khóa học</a:t>
            </a:r>
            <a:endParaRPr lang="en-US" sz="1350" dirty="0"/>
          </a:p>
        </p:txBody>
      </p:sp>
      <p:sp>
        <p:nvSpPr>
          <p:cNvPr id="12" name="Text 10"/>
          <p:cNvSpPr txBox="1"/>
          <p:nvPr/>
        </p:nvSpPr>
        <p:spPr>
          <a:xfrm>
            <a:off x="1143000" y="2651760"/>
            <a:ext cx="3611880" cy="66751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Chương trình huấn luyện ATVSLĐ chuyên sâu theo ngành nghề đặc thù; chọn và đăng ký trực tiếp.</a:t>
            </a:r>
            <a:endParaRPr lang="en-US" sz="1250" dirty="0"/>
          </a:p>
        </p:txBody>
      </p:sp>
      <p:sp>
        <p:nvSpPr>
          <p:cNvPr id="13" name="Shape 11"/>
          <p:cNvSpPr/>
          <p:nvPr/>
        </p:nvSpPr>
        <p:spPr>
          <a:xfrm>
            <a:off x="548640" y="3364992"/>
            <a:ext cx="420624" cy="420624"/>
          </a:xfrm>
          <a:prstGeom prst="ellipse">
            <a:avLst/>
          </a:prstGeom>
          <a:solidFill>
            <a:srgbClr val="1E8C45"/>
          </a:solidFill>
          <a:ln/>
        </p:spPr>
      </p:sp>
      <p:sp>
        <p:nvSpPr>
          <p:cNvPr id="14" name="Text 12"/>
          <p:cNvSpPr txBox="1"/>
          <p:nvPr/>
        </p:nvSpPr>
        <p:spPr>
          <a:xfrm>
            <a:off x="548640" y="3364992"/>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txBox="1"/>
          <p:nvPr/>
        </p:nvSpPr>
        <p:spPr>
          <a:xfrm>
            <a:off x="1143000" y="3337560"/>
            <a:ext cx="3611880"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Đăng ký nhanh chóng</a:t>
            </a:r>
            <a:endParaRPr lang="en-US" sz="1350" dirty="0"/>
          </a:p>
        </p:txBody>
      </p:sp>
      <p:sp>
        <p:nvSpPr>
          <p:cNvPr id="16" name="Text 14"/>
          <p:cNvSpPr txBox="1"/>
          <p:nvPr/>
        </p:nvSpPr>
        <p:spPr>
          <a:xfrm>
            <a:off x="1143000" y="3639312"/>
            <a:ext cx="3611880" cy="66751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Đăng ký khóa học mới và thêm nhân sự chỉ với vài thao tác đơn giản.</a:t>
            </a:r>
            <a:endParaRPr lang="en-US" sz="1250" dirty="0"/>
          </a:p>
        </p:txBody>
      </p:sp>
      <p:sp>
        <p:nvSpPr>
          <p:cNvPr id="17" name="Shape 15"/>
          <p:cNvSpPr/>
          <p:nvPr/>
        </p:nvSpPr>
        <p:spPr>
          <a:xfrm>
            <a:off x="548640" y="4352544"/>
            <a:ext cx="420624" cy="420624"/>
          </a:xfrm>
          <a:prstGeom prst="ellipse">
            <a:avLst/>
          </a:prstGeom>
          <a:solidFill>
            <a:srgbClr val="1E8C45"/>
          </a:solidFill>
          <a:ln/>
        </p:spPr>
      </p:sp>
      <p:sp>
        <p:nvSpPr>
          <p:cNvPr id="18" name="Text 16"/>
          <p:cNvSpPr txBox="1"/>
          <p:nvPr/>
        </p:nvSpPr>
        <p:spPr>
          <a:xfrm>
            <a:off x="548640" y="4352544"/>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1143000" y="4325112"/>
            <a:ext cx="3611880"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Quản lý minh bạch</a:t>
            </a:r>
            <a:endParaRPr lang="en-US" sz="1350" dirty="0"/>
          </a:p>
        </p:txBody>
      </p:sp>
      <p:sp>
        <p:nvSpPr>
          <p:cNvPr id="20" name="Text 18"/>
          <p:cNvSpPr txBox="1"/>
          <p:nvPr/>
        </p:nvSpPr>
        <p:spPr>
          <a:xfrm>
            <a:off x="1143000" y="4626864"/>
            <a:ext cx="3611880" cy="66751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Từng lớp học, hợp đồng, danh sách học viên, tình trạng học và trạng thái thanh toán.</a:t>
            </a:r>
            <a:endParaRPr lang="en-US" sz="1250" dirty="0"/>
          </a:p>
        </p:txBody>
      </p:sp>
      <p:sp>
        <p:nvSpPr>
          <p:cNvPr id="21" name="Shape 19"/>
          <p:cNvSpPr/>
          <p:nvPr/>
        </p:nvSpPr>
        <p:spPr>
          <a:xfrm>
            <a:off x="548640" y="5340096"/>
            <a:ext cx="420624" cy="420624"/>
          </a:xfrm>
          <a:prstGeom prst="ellipse">
            <a:avLst/>
          </a:prstGeom>
          <a:solidFill>
            <a:srgbClr val="1E8C45"/>
          </a:solidFill>
          <a:ln/>
        </p:spPr>
      </p:sp>
      <p:sp>
        <p:nvSpPr>
          <p:cNvPr id="22" name="Text 20"/>
          <p:cNvSpPr txBox="1"/>
          <p:nvPr/>
        </p:nvSpPr>
        <p:spPr>
          <a:xfrm>
            <a:off x="548640" y="5340096"/>
            <a:ext cx="420624"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1143000" y="5312664"/>
            <a:ext cx="3611880"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Hồ sơ Viện STP</a:t>
            </a:r>
            <a:endParaRPr lang="en-US" sz="1350" dirty="0"/>
          </a:p>
        </p:txBody>
      </p:sp>
      <p:sp>
        <p:nvSpPr>
          <p:cNvPr id="24" name="Text 22"/>
          <p:cNvSpPr txBox="1"/>
          <p:nvPr/>
        </p:nvSpPr>
        <p:spPr>
          <a:xfrm>
            <a:off x="1143000" y="5614416"/>
            <a:ext cx="3611880" cy="66751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Tích hợp chứng từ, hồ sơ pháp lý liên quan và đội ngũ giảng viên của Viện.</a:t>
            </a:r>
            <a:endParaRPr lang="en-US" sz="1250" dirty="0"/>
          </a:p>
        </p:txBody>
      </p:sp>
      <p:sp>
        <p:nvSpPr>
          <p:cNvPr id="25" name="Shape 23"/>
          <p:cNvSpPr/>
          <p:nvPr/>
        </p:nvSpPr>
        <p:spPr>
          <a:xfrm>
            <a:off x="5074920" y="1371600"/>
            <a:ext cx="6565392" cy="3852360"/>
          </a:xfrm>
          <a:prstGeom prst="roundRect">
            <a:avLst>
              <a:gd name="adj" fmla="val 3323"/>
            </a:avLst>
          </a:prstGeom>
          <a:solidFill>
            <a:srgbClr val="FFFFFF"/>
          </a:solidFill>
          <a:ln/>
          <a:effectLst>
            <a:outerShdw blurRad="228600" dist="63500" dir="5400000" algn="bl" rotWithShape="0">
              <a:srgbClr val="0A2E1C">
                <a:alpha val="22000"/>
              </a:srgbClr>
            </a:outerShdw>
          </a:effectLst>
        </p:spPr>
      </p:sp>
      <p:sp>
        <p:nvSpPr>
          <p:cNvPr id="26" name="Shape 24"/>
          <p:cNvSpPr/>
          <p:nvPr/>
        </p:nvSpPr>
        <p:spPr>
          <a:xfrm>
            <a:off x="5239512" y="1508760"/>
            <a:ext cx="100584" cy="100584"/>
          </a:xfrm>
          <a:prstGeom prst="ellipse">
            <a:avLst/>
          </a:prstGeom>
          <a:solidFill>
            <a:srgbClr val="FF5F57"/>
          </a:solidFill>
          <a:ln/>
        </p:spPr>
      </p:sp>
      <p:sp>
        <p:nvSpPr>
          <p:cNvPr id="27" name="Shape 25"/>
          <p:cNvSpPr/>
          <p:nvPr/>
        </p:nvSpPr>
        <p:spPr>
          <a:xfrm>
            <a:off x="5394960" y="1508760"/>
            <a:ext cx="100584" cy="100584"/>
          </a:xfrm>
          <a:prstGeom prst="ellipse">
            <a:avLst/>
          </a:prstGeom>
          <a:solidFill>
            <a:srgbClr val="FEBC2E"/>
          </a:solidFill>
          <a:ln/>
        </p:spPr>
      </p:sp>
      <p:sp>
        <p:nvSpPr>
          <p:cNvPr id="28" name="Shape 26"/>
          <p:cNvSpPr/>
          <p:nvPr/>
        </p:nvSpPr>
        <p:spPr>
          <a:xfrm>
            <a:off x="5550408" y="1508760"/>
            <a:ext cx="100584" cy="100584"/>
          </a:xfrm>
          <a:prstGeom prst="ellipse">
            <a:avLst/>
          </a:prstGeom>
          <a:solidFill>
            <a:srgbClr val="28C840"/>
          </a:solidFill>
          <a:ln/>
        </p:spPr>
      </p:sp>
      <p:sp>
        <p:nvSpPr>
          <p:cNvPr id="29" name="Shape 27"/>
          <p:cNvSpPr/>
          <p:nvPr/>
        </p:nvSpPr>
        <p:spPr>
          <a:xfrm>
            <a:off x="5788152" y="1463040"/>
            <a:ext cx="2926080" cy="201168"/>
          </a:xfrm>
          <a:prstGeom prst="roundRect">
            <a:avLst>
              <a:gd name="adj" fmla="val 50000"/>
            </a:avLst>
          </a:prstGeom>
          <a:solidFill>
            <a:srgbClr val="F1F4F2"/>
          </a:solidFill>
          <a:ln/>
        </p:spPr>
      </p:sp>
      <p:sp>
        <p:nvSpPr>
          <p:cNvPr id="30" name="Text 28"/>
          <p:cNvSpPr txBox="1"/>
          <p:nvPr/>
        </p:nvSpPr>
        <p:spPr>
          <a:xfrm>
            <a:off x="5916168" y="1463040"/>
            <a:ext cx="2743200" cy="201168"/>
          </a:xfrm>
          <a:prstGeom prst="rect">
            <a:avLst/>
          </a:prstGeom>
          <a:noFill/>
          <a:ln/>
        </p:spPr>
        <p:txBody>
          <a:bodyPr wrap="square" lIns="0" tIns="0" rIns="0" bIns="0" rtlCol="0" anchor="ctr"/>
          <a:lstStyle/>
          <a:p>
            <a:pPr marL="0" indent="0">
              <a:buNone/>
            </a:pPr>
            <a:r>
              <a:rPr lang="en-US" sz="900" dirty="0">
                <a:solidFill>
                  <a:srgbClr val="7A877F"/>
                </a:solidFill>
                <a:latin typeface="Calibri" pitchFamily="34" charset="0"/>
                <a:ea typeface="Calibri" pitchFamily="34" charset="-122"/>
                <a:cs typeface="Calibri" pitchFamily="34" charset="-120"/>
              </a:rPr>
              <a:t>doanhnghiep.vienstp.com/course-catalog</a:t>
            </a:r>
            <a:endParaRPr lang="en-US" sz="900" dirty="0"/>
          </a:p>
        </p:txBody>
      </p:sp>
      <p:pic>
        <p:nvPicPr>
          <p:cNvPr id="31" name="Image 0" descr="preencoded.png"/>
          <p:cNvPicPr>
            <a:picLocks noChangeAspect="1"/>
          </p:cNvPicPr>
          <p:nvPr/>
        </p:nvPicPr>
        <p:blipFill>
          <a:blip r:embed="rId3"/>
          <a:stretch>
            <a:fillRect/>
          </a:stretch>
        </p:blipFill>
        <p:spPr>
          <a:xfrm>
            <a:off x="5166360" y="1755648"/>
            <a:ext cx="6382512" cy="3376872"/>
          </a:xfrm>
          <a:prstGeom prst="rect">
            <a:avLst/>
          </a:prstGeom>
        </p:spPr>
      </p:pic>
      <p:sp>
        <p:nvSpPr>
          <p:cNvPr id="32" name="Shape 29"/>
          <p:cNvSpPr/>
          <p:nvPr/>
        </p:nvSpPr>
        <p:spPr>
          <a:xfrm>
            <a:off x="5074920" y="5498280"/>
            <a:ext cx="1668780" cy="402336"/>
          </a:xfrm>
          <a:prstGeom prst="roundRect">
            <a:avLst>
              <a:gd name="adj" fmla="val 50000"/>
            </a:avLst>
          </a:prstGeom>
          <a:solidFill>
            <a:srgbClr val="EEF6EF"/>
          </a:solidFill>
          <a:ln/>
        </p:spPr>
      </p:sp>
      <p:pic>
        <p:nvPicPr>
          <p:cNvPr id="33" name="Image 1" descr="preencoded.png"/>
          <p:cNvPicPr>
            <a:picLocks noChangeAspect="1"/>
          </p:cNvPicPr>
          <p:nvPr/>
        </p:nvPicPr>
        <p:blipFill>
          <a:blip r:embed="rId4"/>
          <a:stretch>
            <a:fillRect/>
          </a:stretch>
        </p:blipFill>
        <p:spPr>
          <a:xfrm>
            <a:off x="5212080" y="5598864"/>
            <a:ext cx="201168" cy="201168"/>
          </a:xfrm>
          <a:prstGeom prst="rect">
            <a:avLst/>
          </a:prstGeom>
        </p:spPr>
      </p:pic>
      <p:sp>
        <p:nvSpPr>
          <p:cNvPr id="34" name="Text 30"/>
          <p:cNvSpPr txBox="1"/>
          <p:nvPr/>
        </p:nvSpPr>
        <p:spPr>
          <a:xfrm>
            <a:off x="5486400" y="5498280"/>
            <a:ext cx="1211580" cy="402336"/>
          </a:xfrm>
          <a:prstGeom prst="rect">
            <a:avLst/>
          </a:prstGeom>
          <a:noFill/>
          <a:ln/>
        </p:spPr>
        <p:txBody>
          <a:bodyPr wrap="square" lIns="0" tIns="0" rIns="0" bIns="0" rtlCol="0" anchor="ctr"/>
          <a:lstStyle/>
          <a:p>
            <a:pPr marL="0" indent="0">
              <a:buNone/>
            </a:pPr>
            <a:r>
              <a:rPr lang="en-US" sz="1200" b="1" dirty="0">
                <a:solidFill>
                  <a:srgbClr val="1E8C45"/>
                </a:solidFill>
                <a:latin typeface="Calibri" pitchFamily="34" charset="0"/>
                <a:ea typeface="Calibri" pitchFamily="34" charset="-122"/>
                <a:cs typeface="Calibri" pitchFamily="34" charset="-120"/>
              </a:rPr>
              <a:t>Nhóm 1 – Nhóm 6</a:t>
            </a:r>
            <a:endParaRPr lang="en-US" sz="1200" dirty="0"/>
          </a:p>
        </p:txBody>
      </p:sp>
      <p:sp>
        <p:nvSpPr>
          <p:cNvPr id="35" name="Shape 31"/>
          <p:cNvSpPr/>
          <p:nvPr/>
        </p:nvSpPr>
        <p:spPr>
          <a:xfrm>
            <a:off x="6908292" y="5498280"/>
            <a:ext cx="2290572" cy="402336"/>
          </a:xfrm>
          <a:prstGeom prst="roundRect">
            <a:avLst>
              <a:gd name="adj" fmla="val 50000"/>
            </a:avLst>
          </a:prstGeom>
          <a:solidFill>
            <a:srgbClr val="EEF6EF"/>
          </a:solidFill>
          <a:ln/>
        </p:spPr>
      </p:sp>
      <p:pic>
        <p:nvPicPr>
          <p:cNvPr id="36" name="Image 2" descr="preencoded.png"/>
          <p:cNvPicPr>
            <a:picLocks noChangeAspect="1"/>
          </p:cNvPicPr>
          <p:nvPr/>
        </p:nvPicPr>
        <p:blipFill>
          <a:blip r:embed="rId4"/>
          <a:stretch>
            <a:fillRect/>
          </a:stretch>
        </p:blipFill>
        <p:spPr>
          <a:xfrm>
            <a:off x="7045452" y="5598864"/>
            <a:ext cx="201168" cy="201168"/>
          </a:xfrm>
          <a:prstGeom prst="rect">
            <a:avLst/>
          </a:prstGeom>
        </p:spPr>
      </p:pic>
      <p:sp>
        <p:nvSpPr>
          <p:cNvPr id="37" name="Text 32"/>
          <p:cNvSpPr txBox="1"/>
          <p:nvPr/>
        </p:nvSpPr>
        <p:spPr>
          <a:xfrm>
            <a:off x="7319772" y="5498280"/>
            <a:ext cx="1833372" cy="402336"/>
          </a:xfrm>
          <a:prstGeom prst="rect">
            <a:avLst/>
          </a:prstGeom>
          <a:noFill/>
          <a:ln/>
        </p:spPr>
        <p:txBody>
          <a:bodyPr wrap="square" lIns="0" tIns="0" rIns="0" bIns="0" rtlCol="0" anchor="ctr"/>
          <a:lstStyle/>
          <a:p>
            <a:pPr marL="0" indent="0">
              <a:buNone/>
            </a:pPr>
            <a:r>
              <a:rPr lang="en-US" sz="1200" b="1" dirty="0">
                <a:solidFill>
                  <a:srgbClr val="1E8C45"/>
                </a:solidFill>
                <a:latin typeface="Calibri" pitchFamily="34" charset="0"/>
                <a:ea typeface="Calibri" pitchFamily="34" charset="-122"/>
                <a:cs typeface="Calibri" pitchFamily="34" charset="-120"/>
              </a:rPr>
              <a:t>Theo ngành nghề đặc thù</a:t>
            </a:r>
            <a:endParaRPr lang="en-US" sz="1200" dirty="0"/>
          </a:p>
        </p:txBody>
      </p:sp>
      <p:sp>
        <p:nvSpPr>
          <p:cNvPr id="38" name="Shape 33"/>
          <p:cNvSpPr/>
          <p:nvPr/>
        </p:nvSpPr>
        <p:spPr>
          <a:xfrm>
            <a:off x="9363456" y="5498280"/>
            <a:ext cx="1901952" cy="402336"/>
          </a:xfrm>
          <a:prstGeom prst="roundRect">
            <a:avLst>
              <a:gd name="adj" fmla="val 50000"/>
            </a:avLst>
          </a:prstGeom>
          <a:solidFill>
            <a:srgbClr val="EEF6EF"/>
          </a:solidFill>
          <a:ln/>
        </p:spPr>
      </p:sp>
      <p:pic>
        <p:nvPicPr>
          <p:cNvPr id="39" name="Image 3" descr="preencoded.png"/>
          <p:cNvPicPr>
            <a:picLocks noChangeAspect="1"/>
          </p:cNvPicPr>
          <p:nvPr/>
        </p:nvPicPr>
        <p:blipFill>
          <a:blip r:embed="rId4"/>
          <a:stretch>
            <a:fillRect/>
          </a:stretch>
        </p:blipFill>
        <p:spPr>
          <a:xfrm>
            <a:off x="9500616" y="5598864"/>
            <a:ext cx="201168" cy="201168"/>
          </a:xfrm>
          <a:prstGeom prst="rect">
            <a:avLst/>
          </a:prstGeom>
        </p:spPr>
      </p:pic>
      <p:sp>
        <p:nvSpPr>
          <p:cNvPr id="40" name="Text 34"/>
          <p:cNvSpPr txBox="1"/>
          <p:nvPr/>
        </p:nvSpPr>
        <p:spPr>
          <a:xfrm>
            <a:off x="9774936" y="5498280"/>
            <a:ext cx="1444752" cy="402336"/>
          </a:xfrm>
          <a:prstGeom prst="rect">
            <a:avLst/>
          </a:prstGeom>
          <a:noFill/>
          <a:ln/>
        </p:spPr>
        <p:txBody>
          <a:bodyPr wrap="square" lIns="0" tIns="0" rIns="0" bIns="0" rtlCol="0" anchor="ctr"/>
          <a:lstStyle/>
          <a:p>
            <a:pPr marL="0" indent="0">
              <a:buNone/>
            </a:pPr>
            <a:r>
              <a:rPr lang="en-US" sz="1200" b="1" dirty="0">
                <a:solidFill>
                  <a:srgbClr val="1E8C45"/>
                </a:solidFill>
                <a:latin typeface="Calibri" pitchFamily="34" charset="0"/>
                <a:ea typeface="Calibri" pitchFamily="34" charset="-122"/>
                <a:cs typeface="Calibri" pitchFamily="34" charset="-120"/>
              </a:rPr>
              <a:t>Đăng ký trực tuyến</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III · 1. DÀNH CHO DOANH NGHIỆP</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MODULE AN TOÀN &amp; TÀI SẢN</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22</a:t>
            </a:r>
            <a:endParaRPr lang="en-US" sz="900" dirty="0"/>
          </a:p>
        </p:txBody>
      </p:sp>
      <p:sp>
        <p:nvSpPr>
          <p:cNvPr id="8" name="Shape 6"/>
          <p:cNvSpPr/>
          <p:nvPr/>
        </p:nvSpPr>
        <p:spPr>
          <a:xfrm>
            <a:off x="548640" y="1371600"/>
            <a:ext cx="6309360" cy="3607276"/>
          </a:xfrm>
          <a:prstGeom prst="roundRect">
            <a:avLst>
              <a:gd name="adj" fmla="val 3549"/>
            </a:avLst>
          </a:prstGeom>
          <a:solidFill>
            <a:srgbClr val="FFFFFF"/>
          </a:solidFill>
          <a:ln/>
          <a:effectLst>
            <a:outerShdw blurRad="228600" dist="63500" dir="5400000" algn="bl" rotWithShape="0">
              <a:srgbClr val="0A2E1C">
                <a:alpha val="22000"/>
              </a:srgbClr>
            </a:outerShdw>
          </a:effectLst>
        </p:spPr>
      </p:sp>
      <p:sp>
        <p:nvSpPr>
          <p:cNvPr id="9" name="Shape 7"/>
          <p:cNvSpPr/>
          <p:nvPr/>
        </p:nvSpPr>
        <p:spPr>
          <a:xfrm>
            <a:off x="713232" y="1508760"/>
            <a:ext cx="100584" cy="100584"/>
          </a:xfrm>
          <a:prstGeom prst="ellipse">
            <a:avLst/>
          </a:prstGeom>
          <a:solidFill>
            <a:srgbClr val="FF5F57"/>
          </a:solidFill>
          <a:ln/>
        </p:spPr>
      </p:sp>
      <p:sp>
        <p:nvSpPr>
          <p:cNvPr id="10" name="Shape 8"/>
          <p:cNvSpPr/>
          <p:nvPr/>
        </p:nvSpPr>
        <p:spPr>
          <a:xfrm>
            <a:off x="868680" y="1508760"/>
            <a:ext cx="100584" cy="100584"/>
          </a:xfrm>
          <a:prstGeom prst="ellipse">
            <a:avLst/>
          </a:prstGeom>
          <a:solidFill>
            <a:srgbClr val="FEBC2E"/>
          </a:solidFill>
          <a:ln/>
        </p:spPr>
      </p:sp>
      <p:sp>
        <p:nvSpPr>
          <p:cNvPr id="11" name="Shape 9"/>
          <p:cNvSpPr/>
          <p:nvPr/>
        </p:nvSpPr>
        <p:spPr>
          <a:xfrm>
            <a:off x="1024128" y="1508760"/>
            <a:ext cx="100584" cy="100584"/>
          </a:xfrm>
          <a:prstGeom prst="ellipse">
            <a:avLst/>
          </a:prstGeom>
          <a:solidFill>
            <a:srgbClr val="28C840"/>
          </a:solidFill>
          <a:ln/>
        </p:spPr>
      </p:sp>
      <p:sp>
        <p:nvSpPr>
          <p:cNvPr id="12" name="Shape 10"/>
          <p:cNvSpPr/>
          <p:nvPr/>
        </p:nvSpPr>
        <p:spPr>
          <a:xfrm>
            <a:off x="1261872" y="1463040"/>
            <a:ext cx="2926080" cy="201168"/>
          </a:xfrm>
          <a:prstGeom prst="roundRect">
            <a:avLst>
              <a:gd name="adj" fmla="val 50000"/>
            </a:avLst>
          </a:prstGeom>
          <a:solidFill>
            <a:srgbClr val="F1F4F2"/>
          </a:solidFill>
          <a:ln/>
        </p:spPr>
      </p:sp>
      <p:sp>
        <p:nvSpPr>
          <p:cNvPr id="13" name="Text 11"/>
          <p:cNvSpPr txBox="1"/>
          <p:nvPr/>
        </p:nvSpPr>
        <p:spPr>
          <a:xfrm>
            <a:off x="1389888" y="1463040"/>
            <a:ext cx="2743200" cy="201168"/>
          </a:xfrm>
          <a:prstGeom prst="rect">
            <a:avLst/>
          </a:prstGeom>
          <a:noFill/>
          <a:ln/>
        </p:spPr>
        <p:txBody>
          <a:bodyPr wrap="square" lIns="0" tIns="0" rIns="0" bIns="0" rtlCol="0" anchor="ctr"/>
          <a:lstStyle/>
          <a:p>
            <a:pPr marL="0" indent="0">
              <a:buNone/>
            </a:pPr>
            <a:r>
              <a:rPr lang="en-US" sz="900" dirty="0">
                <a:solidFill>
                  <a:srgbClr val="7A877F"/>
                </a:solidFill>
                <a:latin typeface="Calibri" pitchFamily="34" charset="0"/>
                <a:ea typeface="Calibri" pitchFamily="34" charset="-122"/>
                <a:cs typeface="Calibri" pitchFamily="34" charset="-120"/>
              </a:rPr>
              <a:t>doanhnghiep.vienstp.com/equipment</a:t>
            </a:r>
            <a:endParaRPr lang="en-US" sz="900" dirty="0"/>
          </a:p>
        </p:txBody>
      </p:sp>
      <p:pic>
        <p:nvPicPr>
          <p:cNvPr id="14" name="Image 0" descr="preencoded.png"/>
          <p:cNvPicPr>
            <a:picLocks noChangeAspect="1"/>
          </p:cNvPicPr>
          <p:nvPr/>
        </p:nvPicPr>
        <p:blipFill>
          <a:blip r:embed="rId3"/>
          <a:stretch>
            <a:fillRect/>
          </a:stretch>
        </p:blipFill>
        <p:spPr>
          <a:xfrm>
            <a:off x="640080" y="1755648"/>
            <a:ext cx="6126480" cy="3131788"/>
          </a:xfrm>
          <a:prstGeom prst="rect">
            <a:avLst/>
          </a:prstGeom>
        </p:spPr>
      </p:pic>
      <p:sp>
        <p:nvSpPr>
          <p:cNvPr id="15" name="Text 12"/>
          <p:cNvSpPr txBox="1"/>
          <p:nvPr/>
        </p:nvSpPr>
        <p:spPr>
          <a:xfrm>
            <a:off x="548640" y="5207476"/>
            <a:ext cx="6309360" cy="292608"/>
          </a:xfrm>
          <a:prstGeom prst="rect">
            <a:avLst/>
          </a:prstGeom>
          <a:noFill/>
          <a:ln/>
        </p:spPr>
        <p:txBody>
          <a:bodyPr wrap="square" lIns="0" tIns="0" rIns="0" bIns="0" rtlCol="0" anchor="t"/>
          <a:lstStyle/>
          <a:p>
            <a:pPr marL="0" indent="0">
              <a:buNone/>
            </a:pPr>
            <a:r>
              <a:rPr lang="en-US" sz="1300" b="1" dirty="0">
                <a:solidFill>
                  <a:srgbClr val="17261D"/>
                </a:solidFill>
                <a:latin typeface="Calibri" pitchFamily="34" charset="0"/>
                <a:ea typeface="Calibri" pitchFamily="34" charset="-122"/>
                <a:cs typeface="Calibri" pitchFamily="34" charset="-120"/>
              </a:rPr>
              <a:t>Hệ thống tự động phân loại và cảnh báo hạn kiểm định:</a:t>
            </a:r>
            <a:endParaRPr lang="en-US" sz="1300" dirty="0"/>
          </a:p>
        </p:txBody>
      </p:sp>
      <p:sp>
        <p:nvSpPr>
          <p:cNvPr id="16" name="Shape 13"/>
          <p:cNvSpPr/>
          <p:nvPr/>
        </p:nvSpPr>
        <p:spPr>
          <a:xfrm>
            <a:off x="548640" y="5591524"/>
            <a:ext cx="2240280" cy="420624"/>
          </a:xfrm>
          <a:prstGeom prst="roundRect">
            <a:avLst>
              <a:gd name="adj" fmla="val 50000"/>
            </a:avLst>
          </a:prstGeom>
          <a:solidFill>
            <a:srgbClr val="E3F4E6"/>
          </a:solidFill>
          <a:ln/>
        </p:spPr>
      </p:sp>
      <p:sp>
        <p:nvSpPr>
          <p:cNvPr id="17" name="Shape 14"/>
          <p:cNvSpPr/>
          <p:nvPr/>
        </p:nvSpPr>
        <p:spPr>
          <a:xfrm>
            <a:off x="713232" y="5737828"/>
            <a:ext cx="128016" cy="128016"/>
          </a:xfrm>
          <a:prstGeom prst="ellipse">
            <a:avLst/>
          </a:prstGeom>
          <a:solidFill>
            <a:srgbClr val="1E8C45"/>
          </a:solidFill>
          <a:ln/>
        </p:spPr>
      </p:sp>
      <p:sp>
        <p:nvSpPr>
          <p:cNvPr id="18" name="Text 15"/>
          <p:cNvSpPr txBox="1"/>
          <p:nvPr/>
        </p:nvSpPr>
        <p:spPr>
          <a:xfrm>
            <a:off x="932688" y="5591524"/>
            <a:ext cx="1783080" cy="420624"/>
          </a:xfrm>
          <a:prstGeom prst="rect">
            <a:avLst/>
          </a:prstGeom>
          <a:noFill/>
          <a:ln/>
        </p:spPr>
        <p:txBody>
          <a:bodyPr wrap="square" lIns="0" tIns="0" rIns="0" bIns="0" rtlCol="0" anchor="ctr"/>
          <a:lstStyle/>
          <a:p>
            <a:pPr marL="0" indent="0">
              <a:buNone/>
            </a:pPr>
            <a:r>
              <a:rPr lang="en-US" sz="1250" b="1" dirty="0">
                <a:solidFill>
                  <a:srgbClr val="1E8C45"/>
                </a:solidFill>
                <a:latin typeface="Calibri" pitchFamily="34" charset="0"/>
                <a:ea typeface="Calibri" pitchFamily="34" charset="-122"/>
                <a:cs typeface="Calibri" pitchFamily="34" charset="-120"/>
              </a:rPr>
              <a:t>Đã kiểm định (còn hạn)</a:t>
            </a:r>
            <a:endParaRPr lang="en-US" sz="1250" dirty="0"/>
          </a:p>
        </p:txBody>
      </p:sp>
      <p:sp>
        <p:nvSpPr>
          <p:cNvPr id="19" name="Shape 16"/>
          <p:cNvSpPr/>
          <p:nvPr/>
        </p:nvSpPr>
        <p:spPr>
          <a:xfrm>
            <a:off x="2926080" y="5591524"/>
            <a:ext cx="1463040" cy="420624"/>
          </a:xfrm>
          <a:prstGeom prst="roundRect">
            <a:avLst>
              <a:gd name="adj" fmla="val 50000"/>
            </a:avLst>
          </a:prstGeom>
          <a:solidFill>
            <a:srgbClr val="FFF4DC"/>
          </a:solidFill>
          <a:ln/>
        </p:spPr>
      </p:sp>
      <p:sp>
        <p:nvSpPr>
          <p:cNvPr id="20" name="Shape 17"/>
          <p:cNvSpPr/>
          <p:nvPr/>
        </p:nvSpPr>
        <p:spPr>
          <a:xfrm>
            <a:off x="3090672" y="5737828"/>
            <a:ext cx="128016" cy="128016"/>
          </a:xfrm>
          <a:prstGeom prst="ellipse">
            <a:avLst/>
          </a:prstGeom>
          <a:solidFill>
            <a:srgbClr val="B7791F"/>
          </a:solidFill>
          <a:ln/>
        </p:spPr>
      </p:sp>
      <p:sp>
        <p:nvSpPr>
          <p:cNvPr id="21" name="Text 18"/>
          <p:cNvSpPr txBox="1"/>
          <p:nvPr/>
        </p:nvSpPr>
        <p:spPr>
          <a:xfrm>
            <a:off x="3310128" y="5591524"/>
            <a:ext cx="1005840" cy="420624"/>
          </a:xfrm>
          <a:prstGeom prst="rect">
            <a:avLst/>
          </a:prstGeom>
          <a:noFill/>
          <a:ln/>
        </p:spPr>
        <p:txBody>
          <a:bodyPr wrap="square" lIns="0" tIns="0" rIns="0" bIns="0" rtlCol="0" anchor="ctr"/>
          <a:lstStyle/>
          <a:p>
            <a:pPr marL="0" indent="0">
              <a:buNone/>
            </a:pPr>
            <a:r>
              <a:rPr lang="en-US" sz="1250" b="1" dirty="0">
                <a:solidFill>
                  <a:srgbClr val="B7791F"/>
                </a:solidFill>
                <a:latin typeface="Calibri" pitchFamily="34" charset="0"/>
                <a:ea typeface="Calibri" pitchFamily="34" charset="-122"/>
                <a:cs typeface="Calibri" pitchFamily="34" charset="-120"/>
              </a:rPr>
              <a:t>Sắp hết hạn</a:t>
            </a:r>
            <a:endParaRPr lang="en-US" sz="1250" dirty="0"/>
          </a:p>
        </p:txBody>
      </p:sp>
      <p:sp>
        <p:nvSpPr>
          <p:cNvPr id="22" name="Shape 19"/>
          <p:cNvSpPr/>
          <p:nvPr/>
        </p:nvSpPr>
        <p:spPr>
          <a:xfrm>
            <a:off x="4526280" y="5591524"/>
            <a:ext cx="1965960" cy="420624"/>
          </a:xfrm>
          <a:prstGeom prst="roundRect">
            <a:avLst>
              <a:gd name="adj" fmla="val 50000"/>
            </a:avLst>
          </a:prstGeom>
          <a:solidFill>
            <a:srgbClr val="FDECEC"/>
          </a:solidFill>
          <a:ln/>
        </p:spPr>
      </p:sp>
      <p:sp>
        <p:nvSpPr>
          <p:cNvPr id="23" name="Shape 20"/>
          <p:cNvSpPr/>
          <p:nvPr/>
        </p:nvSpPr>
        <p:spPr>
          <a:xfrm>
            <a:off x="4690872" y="5737828"/>
            <a:ext cx="128016" cy="128016"/>
          </a:xfrm>
          <a:prstGeom prst="ellipse">
            <a:avLst/>
          </a:prstGeom>
          <a:solidFill>
            <a:srgbClr val="D7282F"/>
          </a:solidFill>
          <a:ln/>
        </p:spPr>
      </p:sp>
      <p:sp>
        <p:nvSpPr>
          <p:cNvPr id="24" name="Text 21"/>
          <p:cNvSpPr txBox="1"/>
          <p:nvPr/>
        </p:nvSpPr>
        <p:spPr>
          <a:xfrm>
            <a:off x="4910328" y="5591524"/>
            <a:ext cx="1508760" cy="420624"/>
          </a:xfrm>
          <a:prstGeom prst="rect">
            <a:avLst/>
          </a:prstGeom>
          <a:noFill/>
          <a:ln/>
        </p:spPr>
        <p:txBody>
          <a:bodyPr wrap="square" lIns="0" tIns="0" rIns="0" bIns="0" rtlCol="0" anchor="ctr"/>
          <a:lstStyle/>
          <a:p>
            <a:pPr marL="0" indent="0">
              <a:buNone/>
            </a:pPr>
            <a:r>
              <a:rPr lang="en-US" sz="1250" b="1" dirty="0">
                <a:solidFill>
                  <a:srgbClr val="D7282F"/>
                </a:solidFill>
                <a:latin typeface="Calibri" pitchFamily="34" charset="0"/>
                <a:ea typeface="Calibri" pitchFamily="34" charset="-122"/>
                <a:cs typeface="Calibri" pitchFamily="34" charset="-120"/>
              </a:rPr>
              <a:t>Quá hạn kiểm định</a:t>
            </a:r>
            <a:endParaRPr lang="en-US" sz="1250" dirty="0"/>
          </a:p>
        </p:txBody>
      </p:sp>
      <p:sp>
        <p:nvSpPr>
          <p:cNvPr id="25" name="Text 22"/>
          <p:cNvSpPr txBox="1"/>
          <p:nvPr/>
        </p:nvSpPr>
        <p:spPr>
          <a:xfrm>
            <a:off x="7178040" y="1371600"/>
            <a:ext cx="4462272" cy="685800"/>
          </a:xfrm>
          <a:prstGeom prst="rect">
            <a:avLst/>
          </a:prstGeom>
          <a:noFill/>
          <a:ln/>
        </p:spPr>
        <p:txBody>
          <a:bodyPr wrap="square" lIns="0" tIns="0" rIns="0" bIns="0" rtlCol="0" anchor="t"/>
          <a:lstStyle/>
          <a:p>
            <a:pPr marL="0" indent="0">
              <a:buNone/>
            </a:pPr>
            <a:r>
              <a:rPr lang="en-US" sz="1400" dirty="0">
                <a:solidFill>
                  <a:srgbClr val="3C4A42"/>
                </a:solidFill>
                <a:latin typeface="Calibri" pitchFamily="34" charset="0"/>
                <a:ea typeface="Calibri" pitchFamily="34" charset="-122"/>
                <a:cs typeface="Calibri" pitchFamily="34" charset="-120"/>
              </a:rPr>
              <a:t>Quy trình kiểm định thiết bị, quản lý rủi ro và trang thiết bị bảo hộ – </a:t>
            </a:r>
            <a:r>
              <a:rPr lang="en-US" sz="1400" b="1" dirty="0">
                <a:solidFill>
                  <a:srgbClr val="1E8C45"/>
                </a:solidFill>
                <a:latin typeface="Calibri" pitchFamily="34" charset="0"/>
                <a:ea typeface="Calibri" pitchFamily="34" charset="-122"/>
                <a:cs typeface="Calibri" pitchFamily="34" charset="-120"/>
              </a:rPr>
              <a:t>tuân thủ tối đa quy định ATLĐ</a:t>
            </a:r>
            <a:r>
              <a:rPr lang="en-US" sz="1400" dirty="0">
                <a:solidFill>
                  <a:srgbClr val="3C4A42"/>
                </a:solidFill>
                <a:latin typeface="Calibri" pitchFamily="34" charset="0"/>
                <a:ea typeface="Calibri" pitchFamily="34" charset="-122"/>
                <a:cs typeface="Calibri" pitchFamily="34" charset="-120"/>
              </a:rPr>
              <a:t>.</a:t>
            </a:r>
            <a:endParaRPr lang="en-US" sz="1400" dirty="0"/>
          </a:p>
        </p:txBody>
      </p:sp>
      <p:sp>
        <p:nvSpPr>
          <p:cNvPr id="26" name="Shape 23"/>
          <p:cNvSpPr/>
          <p:nvPr/>
        </p:nvSpPr>
        <p:spPr>
          <a:xfrm>
            <a:off x="7178040" y="2121408"/>
            <a:ext cx="420624" cy="420624"/>
          </a:xfrm>
          <a:prstGeom prst="ellipse">
            <a:avLst/>
          </a:prstGeom>
          <a:solidFill>
            <a:srgbClr val="EEF6EF"/>
          </a:solidFill>
          <a:ln/>
        </p:spPr>
      </p:sp>
      <p:pic>
        <p:nvPicPr>
          <p:cNvPr id="27" name="Image 1" descr="preencoded.png"/>
          <p:cNvPicPr>
            <a:picLocks noChangeAspect="1"/>
          </p:cNvPicPr>
          <p:nvPr/>
        </p:nvPicPr>
        <p:blipFill>
          <a:blip r:embed="rId4"/>
          <a:stretch>
            <a:fillRect/>
          </a:stretch>
        </p:blipFill>
        <p:spPr>
          <a:xfrm>
            <a:off x="7278990" y="2222358"/>
            <a:ext cx="218724" cy="218724"/>
          </a:xfrm>
          <a:prstGeom prst="rect">
            <a:avLst/>
          </a:prstGeom>
        </p:spPr>
      </p:pic>
      <p:sp>
        <p:nvSpPr>
          <p:cNvPr id="28" name="Text 24"/>
          <p:cNvSpPr txBox="1"/>
          <p:nvPr/>
        </p:nvSpPr>
        <p:spPr>
          <a:xfrm>
            <a:off x="7772400" y="2093976"/>
            <a:ext cx="386791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Thiết bị – kiểm định</a:t>
            </a:r>
            <a:endParaRPr lang="en-US" sz="1350" dirty="0"/>
          </a:p>
        </p:txBody>
      </p:sp>
      <p:sp>
        <p:nvSpPr>
          <p:cNvPr id="29" name="Text 25"/>
          <p:cNvSpPr txBox="1"/>
          <p:nvPr/>
        </p:nvSpPr>
        <p:spPr>
          <a:xfrm>
            <a:off x="7772400" y="2395728"/>
            <a:ext cx="3867912" cy="53035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Danh sách máy móc, thiết bị; lưu lịch sử và đơn vị thực hiện kiểm định.</a:t>
            </a:r>
            <a:endParaRPr lang="en-US" sz="1250" dirty="0"/>
          </a:p>
        </p:txBody>
      </p:sp>
      <p:sp>
        <p:nvSpPr>
          <p:cNvPr id="30" name="Shape 26"/>
          <p:cNvSpPr/>
          <p:nvPr/>
        </p:nvSpPr>
        <p:spPr>
          <a:xfrm>
            <a:off x="7178040" y="2971800"/>
            <a:ext cx="420624" cy="420624"/>
          </a:xfrm>
          <a:prstGeom prst="ellipse">
            <a:avLst/>
          </a:prstGeom>
          <a:solidFill>
            <a:srgbClr val="EEF6EF"/>
          </a:solidFill>
          <a:ln/>
        </p:spPr>
      </p:sp>
      <p:pic>
        <p:nvPicPr>
          <p:cNvPr id="31" name="Image 2" descr="preencoded.png"/>
          <p:cNvPicPr>
            <a:picLocks noChangeAspect="1"/>
          </p:cNvPicPr>
          <p:nvPr/>
        </p:nvPicPr>
        <p:blipFill>
          <a:blip r:embed="rId5"/>
          <a:stretch>
            <a:fillRect/>
          </a:stretch>
        </p:blipFill>
        <p:spPr>
          <a:xfrm>
            <a:off x="7278990" y="3072750"/>
            <a:ext cx="218724" cy="218724"/>
          </a:xfrm>
          <a:prstGeom prst="rect">
            <a:avLst/>
          </a:prstGeom>
        </p:spPr>
      </p:pic>
      <p:sp>
        <p:nvSpPr>
          <p:cNvPr id="32" name="Text 27"/>
          <p:cNvSpPr txBox="1"/>
          <p:nvPr/>
        </p:nvSpPr>
        <p:spPr>
          <a:xfrm>
            <a:off x="7772400" y="2944368"/>
            <a:ext cx="386791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Giám sát tai nạn &amp; sự cố</a:t>
            </a:r>
            <a:endParaRPr lang="en-US" sz="1350" dirty="0"/>
          </a:p>
        </p:txBody>
      </p:sp>
      <p:sp>
        <p:nvSpPr>
          <p:cNvPr id="33" name="Text 28"/>
          <p:cNvSpPr txBox="1"/>
          <p:nvPr/>
        </p:nvSpPr>
        <p:spPr>
          <a:xfrm>
            <a:off x="7772400" y="3246120"/>
            <a:ext cx="3867912" cy="53035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Báo cáo, thống kê, phân tích nguyên nhân và biện pháp khắc phục kịp thời.</a:t>
            </a:r>
            <a:endParaRPr lang="en-US" sz="1250" dirty="0"/>
          </a:p>
        </p:txBody>
      </p:sp>
      <p:sp>
        <p:nvSpPr>
          <p:cNvPr id="34" name="Shape 29"/>
          <p:cNvSpPr/>
          <p:nvPr/>
        </p:nvSpPr>
        <p:spPr>
          <a:xfrm>
            <a:off x="7178040" y="3822192"/>
            <a:ext cx="420624" cy="420624"/>
          </a:xfrm>
          <a:prstGeom prst="ellipse">
            <a:avLst/>
          </a:prstGeom>
          <a:solidFill>
            <a:srgbClr val="EEF6EF"/>
          </a:solidFill>
          <a:ln/>
        </p:spPr>
      </p:sp>
      <p:pic>
        <p:nvPicPr>
          <p:cNvPr id="35" name="Image 3" descr="preencoded.png"/>
          <p:cNvPicPr>
            <a:picLocks noChangeAspect="1"/>
          </p:cNvPicPr>
          <p:nvPr/>
        </p:nvPicPr>
        <p:blipFill>
          <a:blip r:embed="rId6"/>
          <a:stretch>
            <a:fillRect/>
          </a:stretch>
        </p:blipFill>
        <p:spPr>
          <a:xfrm>
            <a:off x="7278990" y="3923142"/>
            <a:ext cx="218724" cy="218724"/>
          </a:xfrm>
          <a:prstGeom prst="rect">
            <a:avLst/>
          </a:prstGeom>
        </p:spPr>
      </p:pic>
      <p:sp>
        <p:nvSpPr>
          <p:cNvPr id="36" name="Text 30"/>
          <p:cNvSpPr txBox="1"/>
          <p:nvPr/>
        </p:nvSpPr>
        <p:spPr>
          <a:xfrm>
            <a:off x="7772400" y="3794760"/>
            <a:ext cx="386791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Quản lý vật tư, hóa chất</a:t>
            </a:r>
            <a:endParaRPr lang="en-US" sz="1350" dirty="0"/>
          </a:p>
        </p:txBody>
      </p:sp>
      <p:sp>
        <p:nvSpPr>
          <p:cNvPr id="37" name="Text 31"/>
          <p:cNvSpPr txBox="1"/>
          <p:nvPr/>
        </p:nvSpPr>
        <p:spPr>
          <a:xfrm>
            <a:off x="7772400" y="4096512"/>
            <a:ext cx="3867912" cy="53035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Kiểm soát chi tiết danh mục vật tư, hóa chất dùng trong sản xuất.</a:t>
            </a:r>
            <a:endParaRPr lang="en-US" sz="1250" dirty="0"/>
          </a:p>
        </p:txBody>
      </p:sp>
      <p:sp>
        <p:nvSpPr>
          <p:cNvPr id="38" name="Shape 32"/>
          <p:cNvSpPr/>
          <p:nvPr/>
        </p:nvSpPr>
        <p:spPr>
          <a:xfrm>
            <a:off x="7178040" y="4672584"/>
            <a:ext cx="420624" cy="420624"/>
          </a:xfrm>
          <a:prstGeom prst="ellipse">
            <a:avLst/>
          </a:prstGeom>
          <a:solidFill>
            <a:srgbClr val="EEF6EF"/>
          </a:solidFill>
          <a:ln/>
        </p:spPr>
      </p:sp>
      <p:pic>
        <p:nvPicPr>
          <p:cNvPr id="39" name="Image 4" descr="preencoded.png"/>
          <p:cNvPicPr>
            <a:picLocks noChangeAspect="1"/>
          </p:cNvPicPr>
          <p:nvPr/>
        </p:nvPicPr>
        <p:blipFill>
          <a:blip r:embed="rId7"/>
          <a:stretch>
            <a:fillRect/>
          </a:stretch>
        </p:blipFill>
        <p:spPr>
          <a:xfrm>
            <a:off x="7278990" y="4773534"/>
            <a:ext cx="218724" cy="218724"/>
          </a:xfrm>
          <a:prstGeom prst="rect">
            <a:avLst/>
          </a:prstGeom>
        </p:spPr>
      </p:pic>
      <p:sp>
        <p:nvSpPr>
          <p:cNvPr id="40" name="Text 33"/>
          <p:cNvSpPr txBox="1"/>
          <p:nvPr/>
        </p:nvSpPr>
        <p:spPr>
          <a:xfrm>
            <a:off x="7772400" y="4645152"/>
            <a:ext cx="386791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Nhập kho &amp; chứng từ</a:t>
            </a:r>
            <a:endParaRPr lang="en-US" sz="1350" dirty="0"/>
          </a:p>
        </p:txBody>
      </p:sp>
      <p:sp>
        <p:nvSpPr>
          <p:cNvPr id="41" name="Text 34"/>
          <p:cNvSpPr txBox="1"/>
          <p:nvPr/>
        </p:nvSpPr>
        <p:spPr>
          <a:xfrm>
            <a:off x="7772400" y="4946904"/>
            <a:ext cx="3867912" cy="53035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Theo dõi nhập kho, lưu trữ đầy đủ chứng từ liên quan.</a:t>
            </a:r>
            <a:endParaRPr lang="en-US" sz="1250" dirty="0"/>
          </a:p>
        </p:txBody>
      </p:sp>
      <p:sp>
        <p:nvSpPr>
          <p:cNvPr id="42" name="Shape 35"/>
          <p:cNvSpPr/>
          <p:nvPr/>
        </p:nvSpPr>
        <p:spPr>
          <a:xfrm>
            <a:off x="7178040" y="5522976"/>
            <a:ext cx="420624" cy="420624"/>
          </a:xfrm>
          <a:prstGeom prst="ellipse">
            <a:avLst/>
          </a:prstGeom>
          <a:solidFill>
            <a:srgbClr val="EEF6EF"/>
          </a:solidFill>
          <a:ln/>
        </p:spPr>
      </p:sp>
      <p:pic>
        <p:nvPicPr>
          <p:cNvPr id="43" name="Image 5" descr="preencoded.png"/>
          <p:cNvPicPr>
            <a:picLocks noChangeAspect="1"/>
          </p:cNvPicPr>
          <p:nvPr/>
        </p:nvPicPr>
        <p:blipFill>
          <a:blip r:embed="rId8"/>
          <a:stretch>
            <a:fillRect/>
          </a:stretch>
        </p:blipFill>
        <p:spPr>
          <a:xfrm>
            <a:off x="7278990" y="5623926"/>
            <a:ext cx="218724" cy="218724"/>
          </a:xfrm>
          <a:prstGeom prst="rect">
            <a:avLst/>
          </a:prstGeom>
        </p:spPr>
      </p:pic>
      <p:sp>
        <p:nvSpPr>
          <p:cNvPr id="44" name="Text 36"/>
          <p:cNvSpPr txBox="1"/>
          <p:nvPr/>
        </p:nvSpPr>
        <p:spPr>
          <a:xfrm>
            <a:off x="7772400" y="5495544"/>
            <a:ext cx="386791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Cấp phát PPE</a:t>
            </a:r>
            <a:endParaRPr lang="en-US" sz="1350" dirty="0"/>
          </a:p>
        </p:txBody>
      </p:sp>
      <p:sp>
        <p:nvSpPr>
          <p:cNvPr id="45" name="Text 37"/>
          <p:cNvSpPr txBox="1"/>
          <p:nvPr/>
        </p:nvSpPr>
        <p:spPr>
          <a:xfrm>
            <a:off x="7772400" y="5797296"/>
            <a:ext cx="3867912" cy="530352"/>
          </a:xfrm>
          <a:prstGeom prst="rect">
            <a:avLst/>
          </a:prstGeom>
          <a:noFill/>
          <a:ln/>
        </p:spPr>
        <p:txBody>
          <a:bodyPr wrap="square" lIns="0" tIns="0" rIns="0" bIns="0" rtlCol="0" anchor="t"/>
          <a:lstStyle/>
          <a:p>
            <a:pPr marL="0" indent="0">
              <a:buNone/>
            </a:pPr>
            <a:r>
              <a:rPr lang="en-US" sz="1250" dirty="0">
                <a:solidFill>
                  <a:srgbClr val="3C4A42"/>
                </a:solidFill>
                <a:latin typeface="Calibri" pitchFamily="34" charset="0"/>
                <a:ea typeface="Calibri" pitchFamily="34" charset="-122"/>
                <a:cs typeface="Calibri" pitchFamily="34" charset="-120"/>
              </a:rPr>
              <a:t>Số hóa cấp phát đồ bảo hộ cho từng nhân sự, bộ phận.</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2E1C"/>
        </a:solidFill>
        <a:effectLst/>
      </p:bgPr>
    </p:bg>
    <p:spTree>
      <p:nvGrpSpPr>
        <p:cNvPr id="1" name=""/>
        <p:cNvGrpSpPr/>
        <p:nvPr/>
      </p:nvGrpSpPr>
      <p:grpSpPr>
        <a:xfrm>
          <a:off x="0" y="0"/>
          <a:ext cx="0" cy="0"/>
          <a:chOff x="0" y="0"/>
          <a:chExt cx="0" cy="0"/>
        </a:xfrm>
      </p:grpSpPr>
      <p:pic>
        <p:nvPicPr>
          <p:cNvPr id="2" name="Image 0" descr="/home/claude/assets/beams_dark.png"/>
          <p:cNvPicPr>
            <a:picLocks noChangeAspect="1"/>
          </p:cNvPicPr>
          <p:nvPr/>
        </p:nvPicPr>
        <p:blipFill>
          <a:blip r:embed="rId3">
            <a:alphaModFix amt="65000"/>
          </a:blip>
          <a:stretch>
            <a:fillRect/>
          </a:stretch>
        </p:blipFill>
        <p:spPr>
          <a:xfrm>
            <a:off x="0" y="0"/>
            <a:ext cx="12191695" cy="6858000"/>
          </a:xfrm>
          <a:prstGeom prst="rect">
            <a:avLst/>
          </a:prstGeom>
        </p:spPr>
      </p:pic>
      <p:sp>
        <p:nvSpPr>
          <p:cNvPr id="3" name="Shape 0"/>
          <p:cNvSpPr/>
          <p:nvPr/>
        </p:nvSpPr>
        <p:spPr>
          <a:xfrm>
            <a:off x="548640" y="448056"/>
            <a:ext cx="128016" cy="128016"/>
          </a:xfrm>
          <a:prstGeom prst="roundRect">
            <a:avLst>
              <a:gd name="adj" fmla="val 21429"/>
            </a:avLst>
          </a:prstGeom>
          <a:solidFill>
            <a:srgbClr val="A8D84E"/>
          </a:solidFill>
          <a:ln/>
        </p:spPr>
      </p:sp>
      <p:sp>
        <p:nvSpPr>
          <p:cNvPr id="4"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A8D84E"/>
                </a:solidFill>
                <a:latin typeface="Arial" pitchFamily="34" charset="0"/>
                <a:ea typeface="Arial" pitchFamily="34" charset="-122"/>
                <a:cs typeface="Arial" pitchFamily="34" charset="-120"/>
              </a:rPr>
              <a:t>III · 2. DÀNH CHO HỌC VIÊN &amp; CƠ QUAN CHỨC NĂNG</a:t>
            </a:r>
            <a:endParaRPr lang="en-US" sz="1050" dirty="0"/>
          </a:p>
        </p:txBody>
      </p:sp>
      <p:sp>
        <p:nvSpPr>
          <p:cNvPr id="5"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FFFFFF"/>
                </a:solidFill>
                <a:latin typeface="Arial" pitchFamily="34" charset="0"/>
                <a:ea typeface="Arial" pitchFamily="34" charset="-122"/>
                <a:cs typeface="Arial" pitchFamily="34" charset="-120"/>
              </a:rPr>
              <a:t>TRA CỨU &amp; XÁC THỰC CHỨNG CHỈ 24/7</a:t>
            </a:r>
            <a:endParaRPr lang="en-US" sz="2800" dirty="0"/>
          </a:p>
        </p:txBody>
      </p:sp>
      <p:sp>
        <p:nvSpPr>
          <p:cNvPr id="6" name="Shape 3"/>
          <p:cNvSpPr/>
          <p:nvPr/>
        </p:nvSpPr>
        <p:spPr>
          <a:xfrm>
            <a:off x="9677095" y="-228600"/>
            <a:ext cx="1965960" cy="566928"/>
          </a:xfrm>
          <a:prstGeom prst="roundRect">
            <a:avLst>
              <a:gd name="adj" fmla="val 25806"/>
            </a:avLst>
          </a:prstGeom>
          <a:solidFill>
            <a:srgbClr val="0F5B34"/>
          </a:solidFill>
          <a:ln/>
        </p:spPr>
      </p:sp>
      <p:sp>
        <p:nvSpPr>
          <p:cNvPr id="7"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A8D84E"/>
                </a:solidFill>
                <a:latin typeface="Arial" pitchFamily="34" charset="0"/>
                <a:ea typeface="Arial" pitchFamily="34" charset="-122"/>
                <a:cs typeface="Arial" pitchFamily="34" charset="-120"/>
              </a:rPr>
              <a:t>STP INSTITUTE</a:t>
            </a:r>
            <a:endParaRPr lang="en-US" sz="950" dirty="0"/>
          </a:p>
        </p:txBody>
      </p:sp>
      <p:sp>
        <p:nvSpPr>
          <p:cNvPr id="8"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B9D3C0"/>
                </a:solidFill>
                <a:latin typeface="Arial" pitchFamily="34" charset="0"/>
                <a:ea typeface="Arial" pitchFamily="34" charset="-122"/>
                <a:cs typeface="Arial" pitchFamily="34" charset="-120"/>
              </a:rPr>
              <a:t>23</a:t>
            </a:r>
            <a:endParaRPr lang="en-US" sz="900" dirty="0"/>
          </a:p>
        </p:txBody>
      </p:sp>
      <p:sp>
        <p:nvSpPr>
          <p:cNvPr id="9" name="Text 6"/>
          <p:cNvSpPr txBox="1"/>
          <p:nvPr/>
        </p:nvSpPr>
        <p:spPr>
          <a:xfrm>
            <a:off x="548640" y="1463040"/>
            <a:ext cx="4572000" cy="1005840"/>
          </a:xfrm>
          <a:prstGeom prst="rect">
            <a:avLst/>
          </a:prstGeom>
          <a:noFill/>
          <a:ln/>
        </p:spPr>
        <p:txBody>
          <a:bodyPr wrap="square" lIns="0" tIns="0" rIns="0" bIns="0" rtlCol="0" anchor="t"/>
          <a:lstStyle/>
          <a:p>
            <a:pPr marL="0" indent="0">
              <a:buNone/>
            </a:pPr>
            <a:r>
              <a:rPr lang="en-US" sz="2100" b="1" dirty="0">
                <a:solidFill>
                  <a:srgbClr val="FFFFFF"/>
                </a:solidFill>
                <a:latin typeface="Arial" pitchFamily="34" charset="0"/>
                <a:ea typeface="Arial" pitchFamily="34" charset="-122"/>
                <a:cs typeface="Arial" pitchFamily="34" charset="-120"/>
              </a:rPr>
              <a:t>Giải quyết triệt để vấn đề </a:t>
            </a:r>
            <a:r>
              <a:rPr lang="en-US" sz="2100" b="1" dirty="0">
                <a:solidFill>
                  <a:srgbClr val="A8D84E"/>
                </a:solidFill>
                <a:latin typeface="Arial" pitchFamily="34" charset="0"/>
                <a:ea typeface="Arial" pitchFamily="34" charset="-122"/>
                <a:cs typeface="Arial" pitchFamily="34" charset="-120"/>
              </a:rPr>
              <a:t>chứng chỉ giả</a:t>
            </a:r>
            <a:r>
              <a:rPr lang="en-US" sz="2100" b="1" dirty="0">
                <a:solidFill>
                  <a:srgbClr val="FFFFFF"/>
                </a:solidFill>
                <a:latin typeface="Arial" pitchFamily="34" charset="0"/>
                <a:ea typeface="Arial" pitchFamily="34" charset="-122"/>
                <a:cs typeface="Arial" pitchFamily="34" charset="-120"/>
              </a:rPr>
              <a:t> hoặc </a:t>
            </a:r>
            <a:r>
              <a:rPr lang="en-US" sz="2100" b="1" dirty="0">
                <a:solidFill>
                  <a:srgbClr val="A8D84E"/>
                </a:solidFill>
                <a:latin typeface="Arial" pitchFamily="34" charset="0"/>
                <a:ea typeface="Arial" pitchFamily="34" charset="-122"/>
                <a:cs typeface="Arial" pitchFamily="34" charset="-120"/>
              </a:rPr>
              <a:t>thất lạc bằng cấp</a:t>
            </a:r>
            <a:endParaRPr lang="en-US" sz="2100" dirty="0"/>
          </a:p>
        </p:txBody>
      </p:sp>
      <p:sp>
        <p:nvSpPr>
          <p:cNvPr id="10" name="Shape 7"/>
          <p:cNvSpPr/>
          <p:nvPr/>
        </p:nvSpPr>
        <p:spPr>
          <a:xfrm>
            <a:off x="548640" y="2697480"/>
            <a:ext cx="420624" cy="420624"/>
          </a:xfrm>
          <a:prstGeom prst="ellipse">
            <a:avLst/>
          </a:prstGeom>
          <a:solidFill>
            <a:srgbClr val="0F5B34"/>
          </a:solidFill>
          <a:ln/>
        </p:spPr>
      </p:sp>
      <p:pic>
        <p:nvPicPr>
          <p:cNvPr id="11" name="Image 1" descr="preencoded.png"/>
          <p:cNvPicPr>
            <a:picLocks noChangeAspect="1"/>
          </p:cNvPicPr>
          <p:nvPr/>
        </p:nvPicPr>
        <p:blipFill>
          <a:blip r:embed="rId4"/>
          <a:stretch>
            <a:fillRect/>
          </a:stretch>
        </p:blipFill>
        <p:spPr>
          <a:xfrm>
            <a:off x="649590" y="2798430"/>
            <a:ext cx="218724" cy="218724"/>
          </a:xfrm>
          <a:prstGeom prst="rect">
            <a:avLst/>
          </a:prstGeom>
        </p:spPr>
      </p:pic>
      <p:sp>
        <p:nvSpPr>
          <p:cNvPr id="12" name="Text 8"/>
          <p:cNvSpPr txBox="1"/>
          <p:nvPr/>
        </p:nvSpPr>
        <p:spPr>
          <a:xfrm>
            <a:off x="1143000" y="2670048"/>
            <a:ext cx="3977640" cy="292608"/>
          </a:xfrm>
          <a:prstGeom prst="rect">
            <a:avLst/>
          </a:prstGeom>
          <a:noFill/>
          <a:ln/>
        </p:spPr>
        <p:txBody>
          <a:bodyPr wrap="square" lIns="0" tIns="0" rIns="0" bIns="0" rtlCol="0" anchor="t"/>
          <a:lstStyle/>
          <a:p>
            <a:pPr marL="0" indent="0">
              <a:buNone/>
            </a:pPr>
            <a:r>
              <a:rPr lang="en-US" sz="1350" b="1" dirty="0">
                <a:solidFill>
                  <a:srgbClr val="FFFFFF"/>
                </a:solidFill>
                <a:latin typeface="Arial" pitchFamily="34" charset="0"/>
                <a:ea typeface="Arial" pitchFamily="34" charset="-122"/>
                <a:cs typeface="Arial" pitchFamily="34" charset="-120"/>
              </a:rPr>
              <a:t>Tra cứu tức thì</a:t>
            </a:r>
            <a:endParaRPr lang="en-US" sz="1350" dirty="0"/>
          </a:p>
        </p:txBody>
      </p:sp>
      <p:sp>
        <p:nvSpPr>
          <p:cNvPr id="13" name="Text 9"/>
          <p:cNvSpPr txBox="1"/>
          <p:nvPr/>
        </p:nvSpPr>
        <p:spPr>
          <a:xfrm>
            <a:off x="1143000" y="2971800"/>
            <a:ext cx="3977640" cy="640080"/>
          </a:xfrm>
          <a:prstGeom prst="rect">
            <a:avLst/>
          </a:prstGeom>
          <a:noFill/>
          <a:ln/>
        </p:spPr>
        <p:txBody>
          <a:bodyPr wrap="square" lIns="0" tIns="0" rIns="0" bIns="0" rtlCol="0" anchor="t"/>
          <a:lstStyle/>
          <a:p>
            <a:pPr marL="0" indent="0">
              <a:buNone/>
            </a:pPr>
            <a:r>
              <a:rPr lang="en-US" sz="1250" dirty="0">
                <a:solidFill>
                  <a:srgbClr val="B9D3C0"/>
                </a:solidFill>
                <a:latin typeface="Calibri" pitchFamily="34" charset="0"/>
                <a:ea typeface="Calibri" pitchFamily="34" charset="-122"/>
                <a:cs typeface="Calibri" pitchFamily="34" charset="-120"/>
              </a:rPr>
              <a:t>Tra cứu thông tin bằng/chứng chỉ theo Mã chứng chỉ hoặc Số CCCD.</a:t>
            </a:r>
            <a:endParaRPr lang="en-US" sz="1250" dirty="0"/>
          </a:p>
        </p:txBody>
      </p:sp>
      <p:sp>
        <p:nvSpPr>
          <p:cNvPr id="14" name="Shape 10"/>
          <p:cNvSpPr/>
          <p:nvPr/>
        </p:nvSpPr>
        <p:spPr>
          <a:xfrm>
            <a:off x="548640" y="3657600"/>
            <a:ext cx="420624" cy="420624"/>
          </a:xfrm>
          <a:prstGeom prst="ellipse">
            <a:avLst/>
          </a:prstGeom>
          <a:solidFill>
            <a:srgbClr val="0F5B34"/>
          </a:solidFill>
          <a:ln/>
        </p:spPr>
      </p:sp>
      <p:pic>
        <p:nvPicPr>
          <p:cNvPr id="15" name="Image 2" descr="preencoded.png"/>
          <p:cNvPicPr>
            <a:picLocks noChangeAspect="1"/>
          </p:cNvPicPr>
          <p:nvPr/>
        </p:nvPicPr>
        <p:blipFill>
          <a:blip r:embed="rId5"/>
          <a:stretch>
            <a:fillRect/>
          </a:stretch>
        </p:blipFill>
        <p:spPr>
          <a:xfrm>
            <a:off x="649590" y="3758550"/>
            <a:ext cx="218724" cy="218724"/>
          </a:xfrm>
          <a:prstGeom prst="rect">
            <a:avLst/>
          </a:prstGeom>
        </p:spPr>
      </p:pic>
      <p:sp>
        <p:nvSpPr>
          <p:cNvPr id="16" name="Text 11"/>
          <p:cNvSpPr txBox="1"/>
          <p:nvPr/>
        </p:nvSpPr>
        <p:spPr>
          <a:xfrm>
            <a:off x="1143000" y="3630168"/>
            <a:ext cx="3977640" cy="292608"/>
          </a:xfrm>
          <a:prstGeom prst="rect">
            <a:avLst/>
          </a:prstGeom>
          <a:noFill/>
          <a:ln/>
        </p:spPr>
        <p:txBody>
          <a:bodyPr wrap="square" lIns="0" tIns="0" rIns="0" bIns="0" rtlCol="0" anchor="t"/>
          <a:lstStyle/>
          <a:p>
            <a:pPr marL="0" indent="0">
              <a:buNone/>
            </a:pPr>
            <a:r>
              <a:rPr lang="en-US" sz="1350" b="1" dirty="0">
                <a:solidFill>
                  <a:srgbClr val="FFFFFF"/>
                </a:solidFill>
                <a:latin typeface="Arial" pitchFamily="34" charset="0"/>
                <a:ea typeface="Arial" pitchFamily="34" charset="-122"/>
                <a:cs typeface="Arial" pitchFamily="34" charset="-120"/>
              </a:rPr>
              <a:t>Mã xác thực bảo mật</a:t>
            </a:r>
            <a:endParaRPr lang="en-US" sz="1350" dirty="0"/>
          </a:p>
        </p:txBody>
      </p:sp>
      <p:sp>
        <p:nvSpPr>
          <p:cNvPr id="17" name="Text 12"/>
          <p:cNvSpPr txBox="1"/>
          <p:nvPr/>
        </p:nvSpPr>
        <p:spPr>
          <a:xfrm>
            <a:off x="1143000" y="3931920"/>
            <a:ext cx="3977640" cy="640080"/>
          </a:xfrm>
          <a:prstGeom prst="rect">
            <a:avLst/>
          </a:prstGeom>
          <a:noFill/>
          <a:ln/>
        </p:spPr>
        <p:txBody>
          <a:bodyPr wrap="square" lIns="0" tIns="0" rIns="0" bIns="0" rtlCol="0" anchor="t"/>
          <a:lstStyle/>
          <a:p>
            <a:pPr marL="0" indent="0">
              <a:buNone/>
            </a:pPr>
            <a:r>
              <a:rPr lang="en-US" sz="1250" dirty="0">
                <a:solidFill>
                  <a:srgbClr val="B9D3C0"/>
                </a:solidFill>
                <a:latin typeface="Calibri" pitchFamily="34" charset="0"/>
                <a:ea typeface="Calibri" pitchFamily="34" charset="-122"/>
                <a:cs typeface="Calibri" pitchFamily="34" charset="-120"/>
              </a:rPr>
              <a:t>Tích hợp mã CAPTCHA hiệu lực 3 phút, chống làm giả chứng chỉ.</a:t>
            </a:r>
            <a:endParaRPr lang="en-US" sz="1250" dirty="0"/>
          </a:p>
        </p:txBody>
      </p:sp>
      <p:sp>
        <p:nvSpPr>
          <p:cNvPr id="18" name="Shape 13"/>
          <p:cNvSpPr/>
          <p:nvPr/>
        </p:nvSpPr>
        <p:spPr>
          <a:xfrm>
            <a:off x="548640" y="4617720"/>
            <a:ext cx="420624" cy="420624"/>
          </a:xfrm>
          <a:prstGeom prst="ellipse">
            <a:avLst/>
          </a:prstGeom>
          <a:solidFill>
            <a:srgbClr val="0F5B34"/>
          </a:solidFill>
          <a:ln/>
        </p:spPr>
      </p:sp>
      <p:pic>
        <p:nvPicPr>
          <p:cNvPr id="19" name="Image 3" descr="preencoded.png"/>
          <p:cNvPicPr>
            <a:picLocks noChangeAspect="1"/>
          </p:cNvPicPr>
          <p:nvPr/>
        </p:nvPicPr>
        <p:blipFill>
          <a:blip r:embed="rId6"/>
          <a:stretch>
            <a:fillRect/>
          </a:stretch>
        </p:blipFill>
        <p:spPr>
          <a:xfrm>
            <a:off x="649590" y="4718670"/>
            <a:ext cx="218724" cy="218724"/>
          </a:xfrm>
          <a:prstGeom prst="rect">
            <a:avLst/>
          </a:prstGeom>
        </p:spPr>
      </p:pic>
      <p:sp>
        <p:nvSpPr>
          <p:cNvPr id="20" name="Text 14"/>
          <p:cNvSpPr txBox="1"/>
          <p:nvPr/>
        </p:nvSpPr>
        <p:spPr>
          <a:xfrm>
            <a:off x="1143000" y="4590288"/>
            <a:ext cx="3977640" cy="292608"/>
          </a:xfrm>
          <a:prstGeom prst="rect">
            <a:avLst/>
          </a:prstGeom>
          <a:noFill/>
          <a:ln/>
        </p:spPr>
        <p:txBody>
          <a:bodyPr wrap="square" lIns="0" tIns="0" rIns="0" bIns="0" rtlCol="0" anchor="t"/>
          <a:lstStyle/>
          <a:p>
            <a:pPr marL="0" indent="0">
              <a:buNone/>
            </a:pPr>
            <a:r>
              <a:rPr lang="en-US" sz="1350" b="1" dirty="0">
                <a:solidFill>
                  <a:srgbClr val="FFFFFF"/>
                </a:solidFill>
                <a:latin typeface="Arial" pitchFamily="34" charset="0"/>
                <a:ea typeface="Arial" pitchFamily="34" charset="-122"/>
                <a:cs typeface="Arial" pitchFamily="34" charset="-120"/>
              </a:rPr>
              <a:t>Xác thực pháp lý mọi lúc, mọi nơi</a:t>
            </a:r>
            <a:endParaRPr lang="en-US" sz="1350" dirty="0"/>
          </a:p>
        </p:txBody>
      </p:sp>
      <p:sp>
        <p:nvSpPr>
          <p:cNvPr id="21" name="Text 15"/>
          <p:cNvSpPr txBox="1"/>
          <p:nvPr/>
        </p:nvSpPr>
        <p:spPr>
          <a:xfrm>
            <a:off x="1143000" y="4892040"/>
            <a:ext cx="3977640" cy="640080"/>
          </a:xfrm>
          <a:prstGeom prst="rect">
            <a:avLst/>
          </a:prstGeom>
          <a:noFill/>
          <a:ln/>
        </p:spPr>
        <p:txBody>
          <a:bodyPr wrap="square" lIns="0" tIns="0" rIns="0" bIns="0" rtlCol="0" anchor="t"/>
          <a:lstStyle/>
          <a:p>
            <a:pPr marL="0" indent="0">
              <a:buNone/>
            </a:pPr>
            <a:r>
              <a:rPr lang="en-US" sz="1250" dirty="0">
                <a:solidFill>
                  <a:srgbClr val="B9D3C0"/>
                </a:solidFill>
                <a:latin typeface="Calibri" pitchFamily="34" charset="0"/>
                <a:ea typeface="Calibri" pitchFamily="34" charset="-122"/>
                <a:cs typeface="Calibri" pitchFamily="34" charset="-120"/>
              </a:rPr>
              <a:t>Doanh nghiệp, đối tác, cơ quan thẩm định dễ dàng kiểm tra tính pháp lý.</a:t>
            </a:r>
            <a:endParaRPr lang="en-US" sz="1250" dirty="0"/>
          </a:p>
        </p:txBody>
      </p:sp>
      <p:sp>
        <p:nvSpPr>
          <p:cNvPr id="22" name="Shape 16"/>
          <p:cNvSpPr/>
          <p:nvPr/>
        </p:nvSpPr>
        <p:spPr>
          <a:xfrm>
            <a:off x="548640" y="5669280"/>
            <a:ext cx="2651760" cy="475488"/>
          </a:xfrm>
          <a:prstGeom prst="roundRect">
            <a:avLst>
              <a:gd name="adj" fmla="val 50000"/>
            </a:avLst>
          </a:prstGeom>
          <a:solidFill>
            <a:srgbClr val="A8D84E"/>
          </a:solidFill>
          <a:ln/>
        </p:spPr>
      </p:sp>
      <p:pic>
        <p:nvPicPr>
          <p:cNvPr id="23" name="Image 4" descr="preencoded.png"/>
          <p:cNvPicPr>
            <a:picLocks noChangeAspect="1"/>
          </p:cNvPicPr>
          <p:nvPr/>
        </p:nvPicPr>
        <p:blipFill>
          <a:blip r:embed="rId7"/>
          <a:stretch>
            <a:fillRect/>
          </a:stretch>
        </p:blipFill>
        <p:spPr>
          <a:xfrm>
            <a:off x="731520" y="5788152"/>
            <a:ext cx="237744" cy="237744"/>
          </a:xfrm>
          <a:prstGeom prst="rect">
            <a:avLst/>
          </a:prstGeom>
        </p:spPr>
      </p:pic>
      <p:sp>
        <p:nvSpPr>
          <p:cNvPr id="24" name="Text 17"/>
          <p:cNvSpPr txBox="1"/>
          <p:nvPr/>
        </p:nvSpPr>
        <p:spPr>
          <a:xfrm>
            <a:off x="1078992" y="5669280"/>
            <a:ext cx="2011680" cy="475488"/>
          </a:xfrm>
          <a:prstGeom prst="rect">
            <a:avLst/>
          </a:prstGeom>
          <a:noFill/>
          <a:ln/>
        </p:spPr>
        <p:txBody>
          <a:bodyPr wrap="square" lIns="0" tIns="0" rIns="0" bIns="0" rtlCol="0" anchor="ctr"/>
          <a:lstStyle/>
          <a:p>
            <a:pPr marL="0" indent="0">
              <a:buNone/>
            </a:pPr>
            <a:r>
              <a:rPr lang="en-US" sz="1400" b="1" dirty="0">
                <a:solidFill>
                  <a:srgbClr val="0A2E1C"/>
                </a:solidFill>
                <a:latin typeface="Arial" pitchFamily="34" charset="0"/>
                <a:ea typeface="Arial" pitchFamily="34" charset="-122"/>
                <a:cs typeface="Arial" pitchFamily="34" charset="-120"/>
              </a:rPr>
              <a:t>daotao.vienstp.com</a:t>
            </a:r>
            <a:endParaRPr lang="en-US" sz="1400" dirty="0"/>
          </a:p>
        </p:txBody>
      </p:sp>
      <p:sp>
        <p:nvSpPr>
          <p:cNvPr id="25" name="Shape 18"/>
          <p:cNvSpPr/>
          <p:nvPr/>
        </p:nvSpPr>
        <p:spPr>
          <a:xfrm>
            <a:off x="5486400" y="1600200"/>
            <a:ext cx="6153912" cy="3747114"/>
          </a:xfrm>
          <a:prstGeom prst="roundRect">
            <a:avLst>
              <a:gd name="adj" fmla="val 3416"/>
            </a:avLst>
          </a:prstGeom>
          <a:solidFill>
            <a:srgbClr val="FFFFFF"/>
          </a:solidFill>
          <a:ln/>
          <a:effectLst>
            <a:outerShdw blurRad="228600" dist="63500" dir="5400000" algn="bl" rotWithShape="0">
              <a:srgbClr val="0A2E1C">
                <a:alpha val="22000"/>
              </a:srgbClr>
            </a:outerShdw>
          </a:effectLst>
        </p:spPr>
      </p:sp>
      <p:pic>
        <p:nvPicPr>
          <p:cNvPr id="26" name="Image 5" descr="preencoded.png"/>
          <p:cNvPicPr>
            <a:picLocks noChangeAspect="1"/>
          </p:cNvPicPr>
          <p:nvPr/>
        </p:nvPicPr>
        <p:blipFill>
          <a:blip r:embed="rId8"/>
          <a:stretch>
            <a:fillRect/>
          </a:stretch>
        </p:blipFill>
        <p:spPr>
          <a:xfrm>
            <a:off x="5577840" y="1691640"/>
            <a:ext cx="5971032" cy="356423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III · 2. DÀNH CHO HỌC VIÊN</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STP LEARNER PORTAL – TÀI KHOẢN CÁ NHÂN</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24</a:t>
            </a:r>
            <a:endParaRPr lang="en-US" sz="900" dirty="0"/>
          </a:p>
        </p:txBody>
      </p:sp>
      <p:sp>
        <p:nvSpPr>
          <p:cNvPr id="8" name="Text 6"/>
          <p:cNvSpPr txBox="1"/>
          <p:nvPr/>
        </p:nvSpPr>
        <p:spPr>
          <a:xfrm>
            <a:off x="548640" y="1261872"/>
            <a:ext cx="11064240" cy="365760"/>
          </a:xfrm>
          <a:prstGeom prst="rect">
            <a:avLst/>
          </a:prstGeom>
          <a:noFill/>
          <a:ln/>
        </p:spPr>
        <p:txBody>
          <a:bodyPr wrap="square" lIns="0" tIns="0" rIns="0" bIns="0" rtlCol="0" anchor="t"/>
          <a:lstStyle/>
          <a:p>
            <a:pPr marL="0" indent="0">
              <a:buNone/>
            </a:pPr>
            <a:r>
              <a:rPr lang="en-US" sz="1450" dirty="0">
                <a:solidFill>
                  <a:srgbClr val="3C4A42"/>
                </a:solidFill>
                <a:latin typeface="Calibri" pitchFamily="34" charset="0"/>
                <a:ea typeface="Calibri" pitchFamily="34" charset="-122"/>
                <a:cs typeface="Calibri" pitchFamily="34" charset="-120"/>
              </a:rPr>
              <a:t>Giao diện trực quan giúp người lao động theo dõi lộ trình học tập, quản lý bảo hộ lao động và tương tác công việc trên một giao diện.</a:t>
            </a:r>
            <a:endParaRPr lang="en-US" sz="1450" dirty="0"/>
          </a:p>
        </p:txBody>
      </p:sp>
      <p:sp>
        <p:nvSpPr>
          <p:cNvPr id="9" name="Shape 7"/>
          <p:cNvSpPr/>
          <p:nvPr/>
        </p:nvSpPr>
        <p:spPr>
          <a:xfrm>
            <a:off x="548640" y="1828800"/>
            <a:ext cx="6675120" cy="3492649"/>
          </a:xfrm>
          <a:prstGeom prst="roundRect">
            <a:avLst>
              <a:gd name="adj" fmla="val 3665"/>
            </a:avLst>
          </a:prstGeom>
          <a:solidFill>
            <a:srgbClr val="FFFFFF"/>
          </a:solidFill>
          <a:ln/>
          <a:effectLst>
            <a:outerShdw blurRad="228600" dist="63500" dir="5400000" algn="bl" rotWithShape="0">
              <a:srgbClr val="0A2E1C">
                <a:alpha val="22000"/>
              </a:srgbClr>
            </a:outerShdw>
          </a:effectLst>
        </p:spPr>
      </p:sp>
      <p:pic>
        <p:nvPicPr>
          <p:cNvPr id="10" name="Image 0" descr="preencoded.png"/>
          <p:cNvPicPr>
            <a:picLocks noChangeAspect="1"/>
          </p:cNvPicPr>
          <p:nvPr/>
        </p:nvPicPr>
        <p:blipFill>
          <a:blip r:embed="rId3"/>
          <a:stretch>
            <a:fillRect/>
          </a:stretch>
        </p:blipFill>
        <p:spPr>
          <a:xfrm>
            <a:off x="640080" y="1920240"/>
            <a:ext cx="6492240" cy="3309769"/>
          </a:xfrm>
          <a:prstGeom prst="rect">
            <a:avLst/>
          </a:prstGeom>
        </p:spPr>
      </p:pic>
      <p:sp>
        <p:nvSpPr>
          <p:cNvPr id="11" name="Shape 8"/>
          <p:cNvSpPr/>
          <p:nvPr/>
        </p:nvSpPr>
        <p:spPr>
          <a:xfrm>
            <a:off x="548640" y="5550049"/>
            <a:ext cx="3383280" cy="420624"/>
          </a:xfrm>
          <a:prstGeom prst="roundRect">
            <a:avLst>
              <a:gd name="adj" fmla="val 50000"/>
            </a:avLst>
          </a:prstGeom>
          <a:solidFill>
            <a:srgbClr val="EEF6EF"/>
          </a:solidFill>
          <a:ln/>
        </p:spPr>
      </p:sp>
      <p:pic>
        <p:nvPicPr>
          <p:cNvPr id="12" name="Image 1" descr="preencoded.png"/>
          <p:cNvPicPr>
            <a:picLocks noChangeAspect="1"/>
          </p:cNvPicPr>
          <p:nvPr/>
        </p:nvPicPr>
        <p:blipFill>
          <a:blip r:embed="rId4"/>
          <a:stretch>
            <a:fillRect/>
          </a:stretch>
        </p:blipFill>
        <p:spPr>
          <a:xfrm>
            <a:off x="713232" y="5659777"/>
            <a:ext cx="201168" cy="201168"/>
          </a:xfrm>
          <a:prstGeom prst="rect">
            <a:avLst/>
          </a:prstGeom>
        </p:spPr>
      </p:pic>
      <p:sp>
        <p:nvSpPr>
          <p:cNvPr id="13" name="Text 9"/>
          <p:cNvSpPr txBox="1"/>
          <p:nvPr/>
        </p:nvSpPr>
        <p:spPr>
          <a:xfrm>
            <a:off x="1005840" y="5550049"/>
            <a:ext cx="2834640" cy="420624"/>
          </a:xfrm>
          <a:prstGeom prst="rect">
            <a:avLst/>
          </a:prstGeom>
          <a:noFill/>
          <a:ln/>
        </p:spPr>
        <p:txBody>
          <a:bodyPr wrap="square" lIns="0" tIns="0" rIns="0" bIns="0" rtlCol="0" anchor="ctr"/>
          <a:lstStyle/>
          <a:p>
            <a:pPr marL="0" indent="0">
              <a:buNone/>
            </a:pPr>
            <a:r>
              <a:rPr lang="en-US" sz="1250" b="1" dirty="0">
                <a:solidFill>
                  <a:srgbClr val="1E8C45"/>
                </a:solidFill>
                <a:latin typeface="Calibri" pitchFamily="34" charset="0"/>
                <a:ea typeface="Calibri" pitchFamily="34" charset="-122"/>
                <a:cs typeface="Calibri" pitchFamily="34" charset="-120"/>
              </a:rPr>
              <a:t>Mỗi học viên một tài khoản riêng</a:t>
            </a:r>
            <a:endParaRPr lang="en-US" sz="1250" dirty="0"/>
          </a:p>
        </p:txBody>
      </p:sp>
      <p:sp>
        <p:nvSpPr>
          <p:cNvPr id="14" name="Shape 10"/>
          <p:cNvSpPr/>
          <p:nvPr/>
        </p:nvSpPr>
        <p:spPr>
          <a:xfrm>
            <a:off x="7498080" y="1828800"/>
            <a:ext cx="4142232" cy="1005840"/>
          </a:xfrm>
          <a:prstGeom prst="roundRect">
            <a:avLst>
              <a:gd name="adj" fmla="val 12727"/>
            </a:avLst>
          </a:prstGeom>
          <a:solidFill>
            <a:srgbClr val="FFFFFF"/>
          </a:solidFill>
          <a:ln/>
          <a:effectLst>
            <a:outerShdw blurRad="101600" dist="25400" dir="5400000" algn="bl" rotWithShape="0">
              <a:srgbClr val="0A2E1C">
                <a:alpha val="12000"/>
              </a:srgbClr>
            </a:outerShdw>
          </a:effectLst>
        </p:spPr>
      </p:sp>
      <p:sp>
        <p:nvSpPr>
          <p:cNvPr id="15" name="Shape 11"/>
          <p:cNvSpPr/>
          <p:nvPr/>
        </p:nvSpPr>
        <p:spPr>
          <a:xfrm>
            <a:off x="7680960" y="2048256"/>
            <a:ext cx="457200" cy="457200"/>
          </a:xfrm>
          <a:prstGeom prst="ellipse">
            <a:avLst/>
          </a:prstGeom>
          <a:solidFill>
            <a:srgbClr val="EEF6EF"/>
          </a:solidFill>
          <a:ln/>
        </p:spPr>
      </p:sp>
      <p:pic>
        <p:nvPicPr>
          <p:cNvPr id="16" name="Image 2" descr="preencoded.png"/>
          <p:cNvPicPr>
            <a:picLocks noChangeAspect="1"/>
          </p:cNvPicPr>
          <p:nvPr/>
        </p:nvPicPr>
        <p:blipFill>
          <a:blip r:embed="rId5"/>
          <a:stretch>
            <a:fillRect/>
          </a:stretch>
        </p:blipFill>
        <p:spPr>
          <a:xfrm>
            <a:off x="7790688" y="2157984"/>
            <a:ext cx="237744" cy="237744"/>
          </a:xfrm>
          <a:prstGeom prst="rect">
            <a:avLst/>
          </a:prstGeom>
        </p:spPr>
      </p:pic>
      <p:sp>
        <p:nvSpPr>
          <p:cNvPr id="17" name="Text 12"/>
          <p:cNvSpPr txBox="1"/>
          <p:nvPr/>
        </p:nvSpPr>
        <p:spPr>
          <a:xfrm>
            <a:off x="8302752" y="1920240"/>
            <a:ext cx="322783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Khóa học của tôi</a:t>
            </a:r>
            <a:endParaRPr lang="en-US" sz="1350" dirty="0"/>
          </a:p>
        </p:txBody>
      </p:sp>
      <p:sp>
        <p:nvSpPr>
          <p:cNvPr id="18" name="Text 13"/>
          <p:cNvSpPr txBox="1"/>
          <p:nvPr/>
        </p:nvSpPr>
        <p:spPr>
          <a:xfrm>
            <a:off x="8302752" y="2221992"/>
            <a:ext cx="3209544" cy="566928"/>
          </a:xfrm>
          <a:prstGeom prst="rect">
            <a:avLst/>
          </a:prstGeom>
          <a:noFill/>
          <a:ln/>
        </p:spPr>
        <p:txBody>
          <a:bodyPr wrap="square" lIns="0" tIns="0" rIns="0" bIns="0" rtlCol="0" anchor="t"/>
          <a:lstStyle/>
          <a:p>
            <a:pPr marL="0" indent="0">
              <a:buNone/>
            </a:pPr>
            <a:r>
              <a:rPr lang="en-US" sz="1200" dirty="0">
                <a:solidFill>
                  <a:srgbClr val="3C4A42"/>
                </a:solidFill>
                <a:latin typeface="Calibri" pitchFamily="34" charset="0"/>
                <a:ea typeface="Calibri" pitchFamily="34" charset="-122"/>
                <a:cs typeface="Calibri" pitchFamily="34" charset="-120"/>
              </a:rPr>
              <a:t>Theo dõi lịch học, tiến trình; tham gia khóa Nhóm 1–6 và bấm "Vào học" trực tiếp.</a:t>
            </a:r>
            <a:endParaRPr lang="en-US" sz="1200" dirty="0"/>
          </a:p>
        </p:txBody>
      </p:sp>
      <p:sp>
        <p:nvSpPr>
          <p:cNvPr id="19" name="Shape 14"/>
          <p:cNvSpPr/>
          <p:nvPr/>
        </p:nvSpPr>
        <p:spPr>
          <a:xfrm>
            <a:off x="7498080" y="2953512"/>
            <a:ext cx="4142232" cy="1005840"/>
          </a:xfrm>
          <a:prstGeom prst="roundRect">
            <a:avLst>
              <a:gd name="adj" fmla="val 12727"/>
            </a:avLst>
          </a:prstGeom>
          <a:solidFill>
            <a:srgbClr val="FFFFFF"/>
          </a:solidFill>
          <a:ln/>
          <a:effectLst>
            <a:outerShdw blurRad="101600" dist="25400" dir="5400000" algn="bl" rotWithShape="0">
              <a:srgbClr val="0A2E1C">
                <a:alpha val="12000"/>
              </a:srgbClr>
            </a:outerShdw>
          </a:effectLst>
        </p:spPr>
      </p:sp>
      <p:sp>
        <p:nvSpPr>
          <p:cNvPr id="20" name="Shape 15"/>
          <p:cNvSpPr/>
          <p:nvPr/>
        </p:nvSpPr>
        <p:spPr>
          <a:xfrm>
            <a:off x="7680960" y="3172968"/>
            <a:ext cx="457200" cy="457200"/>
          </a:xfrm>
          <a:prstGeom prst="ellipse">
            <a:avLst/>
          </a:prstGeom>
          <a:solidFill>
            <a:srgbClr val="EEF6EF"/>
          </a:solidFill>
          <a:ln/>
        </p:spPr>
      </p:sp>
      <p:pic>
        <p:nvPicPr>
          <p:cNvPr id="21" name="Image 3" descr="preencoded.png"/>
          <p:cNvPicPr>
            <a:picLocks noChangeAspect="1"/>
          </p:cNvPicPr>
          <p:nvPr/>
        </p:nvPicPr>
        <p:blipFill>
          <a:blip r:embed="rId6"/>
          <a:stretch>
            <a:fillRect/>
          </a:stretch>
        </p:blipFill>
        <p:spPr>
          <a:xfrm>
            <a:off x="7790688" y="3282696"/>
            <a:ext cx="237744" cy="237744"/>
          </a:xfrm>
          <a:prstGeom prst="rect">
            <a:avLst/>
          </a:prstGeom>
        </p:spPr>
      </p:pic>
      <p:sp>
        <p:nvSpPr>
          <p:cNvPr id="22" name="Text 16"/>
          <p:cNvSpPr txBox="1"/>
          <p:nvPr/>
        </p:nvSpPr>
        <p:spPr>
          <a:xfrm>
            <a:off x="8302752" y="3044952"/>
            <a:ext cx="322783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Yêu cầu &amp; báo cáo</a:t>
            </a:r>
            <a:endParaRPr lang="en-US" sz="1350" dirty="0"/>
          </a:p>
        </p:txBody>
      </p:sp>
      <p:sp>
        <p:nvSpPr>
          <p:cNvPr id="23" name="Text 17"/>
          <p:cNvSpPr txBox="1"/>
          <p:nvPr/>
        </p:nvSpPr>
        <p:spPr>
          <a:xfrm>
            <a:off x="8302752" y="3346704"/>
            <a:ext cx="3209544" cy="566928"/>
          </a:xfrm>
          <a:prstGeom prst="rect">
            <a:avLst/>
          </a:prstGeom>
          <a:noFill/>
          <a:ln/>
        </p:spPr>
        <p:txBody>
          <a:bodyPr wrap="square" lIns="0" tIns="0" rIns="0" bIns="0" rtlCol="0" anchor="t"/>
          <a:lstStyle/>
          <a:p>
            <a:pPr marL="0" indent="0">
              <a:buNone/>
            </a:pPr>
            <a:r>
              <a:rPr lang="en-US" sz="1200" dirty="0">
                <a:solidFill>
                  <a:srgbClr val="3C4A42"/>
                </a:solidFill>
                <a:latin typeface="Calibri" pitchFamily="34" charset="0"/>
                <a:ea typeface="Calibri" pitchFamily="34" charset="-122"/>
                <a:cs typeface="Calibri" pitchFamily="34" charset="-120"/>
              </a:rPr>
              <a:t>Xin cấp trang thiết bị BHLĐ, báo cáo sự cố, gửi yêu cầu nhân sự (nghỉ phép, trợ cấp…).</a:t>
            </a:r>
            <a:endParaRPr lang="en-US" sz="1200" dirty="0"/>
          </a:p>
        </p:txBody>
      </p:sp>
      <p:sp>
        <p:nvSpPr>
          <p:cNvPr id="24" name="Shape 18"/>
          <p:cNvSpPr/>
          <p:nvPr/>
        </p:nvSpPr>
        <p:spPr>
          <a:xfrm>
            <a:off x="7498080" y="4078224"/>
            <a:ext cx="4142232" cy="1005840"/>
          </a:xfrm>
          <a:prstGeom prst="roundRect">
            <a:avLst>
              <a:gd name="adj" fmla="val 12727"/>
            </a:avLst>
          </a:prstGeom>
          <a:solidFill>
            <a:srgbClr val="FFFFFF"/>
          </a:solidFill>
          <a:ln/>
          <a:effectLst>
            <a:outerShdw blurRad="101600" dist="25400" dir="5400000" algn="bl" rotWithShape="0">
              <a:srgbClr val="0A2E1C">
                <a:alpha val="12000"/>
              </a:srgbClr>
            </a:outerShdw>
          </a:effectLst>
        </p:spPr>
      </p:sp>
      <p:sp>
        <p:nvSpPr>
          <p:cNvPr id="25" name="Shape 19"/>
          <p:cNvSpPr/>
          <p:nvPr/>
        </p:nvSpPr>
        <p:spPr>
          <a:xfrm>
            <a:off x="7680960" y="4297680"/>
            <a:ext cx="457200" cy="457200"/>
          </a:xfrm>
          <a:prstGeom prst="ellipse">
            <a:avLst/>
          </a:prstGeom>
          <a:solidFill>
            <a:srgbClr val="EEF6EF"/>
          </a:solidFill>
          <a:ln/>
        </p:spPr>
      </p:sp>
      <p:pic>
        <p:nvPicPr>
          <p:cNvPr id="26" name="Image 4" descr="preencoded.png"/>
          <p:cNvPicPr>
            <a:picLocks noChangeAspect="1"/>
          </p:cNvPicPr>
          <p:nvPr/>
        </p:nvPicPr>
        <p:blipFill>
          <a:blip r:embed="rId7"/>
          <a:stretch>
            <a:fillRect/>
          </a:stretch>
        </p:blipFill>
        <p:spPr>
          <a:xfrm>
            <a:off x="7790688" y="4407408"/>
            <a:ext cx="237744" cy="237744"/>
          </a:xfrm>
          <a:prstGeom prst="rect">
            <a:avLst/>
          </a:prstGeom>
        </p:spPr>
      </p:pic>
      <p:sp>
        <p:nvSpPr>
          <p:cNvPr id="27" name="Text 20"/>
          <p:cNvSpPr txBox="1"/>
          <p:nvPr/>
        </p:nvSpPr>
        <p:spPr>
          <a:xfrm>
            <a:off x="8302752" y="4169664"/>
            <a:ext cx="322783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Bảng tin</a:t>
            </a:r>
            <a:endParaRPr lang="en-US" sz="1350" dirty="0"/>
          </a:p>
        </p:txBody>
      </p:sp>
      <p:sp>
        <p:nvSpPr>
          <p:cNvPr id="28" name="Text 21"/>
          <p:cNvSpPr txBox="1"/>
          <p:nvPr/>
        </p:nvSpPr>
        <p:spPr>
          <a:xfrm>
            <a:off x="8302752" y="4471416"/>
            <a:ext cx="3209544" cy="566928"/>
          </a:xfrm>
          <a:prstGeom prst="rect">
            <a:avLst/>
          </a:prstGeom>
          <a:noFill/>
          <a:ln/>
        </p:spPr>
        <p:txBody>
          <a:bodyPr wrap="square" lIns="0" tIns="0" rIns="0" bIns="0" rtlCol="0" anchor="t"/>
          <a:lstStyle/>
          <a:p>
            <a:pPr marL="0" indent="0">
              <a:buNone/>
            </a:pPr>
            <a:r>
              <a:rPr lang="en-US" sz="1200" dirty="0">
                <a:solidFill>
                  <a:srgbClr val="3C4A42"/>
                </a:solidFill>
                <a:latin typeface="Calibri" pitchFamily="34" charset="0"/>
                <a:ea typeface="Calibri" pitchFamily="34" charset="-122"/>
                <a:cs typeface="Calibri" pitchFamily="34" charset="-120"/>
              </a:rPr>
              <a:t>Theo dõi quy định, thông báo và sự kiện doanh nghiệp đưa ra.</a:t>
            </a:r>
            <a:endParaRPr lang="en-US" sz="1200" dirty="0"/>
          </a:p>
        </p:txBody>
      </p:sp>
      <p:sp>
        <p:nvSpPr>
          <p:cNvPr id="29" name="Shape 22"/>
          <p:cNvSpPr/>
          <p:nvPr/>
        </p:nvSpPr>
        <p:spPr>
          <a:xfrm>
            <a:off x="7498080" y="5202936"/>
            <a:ext cx="4142232" cy="1005840"/>
          </a:xfrm>
          <a:prstGeom prst="roundRect">
            <a:avLst>
              <a:gd name="adj" fmla="val 12727"/>
            </a:avLst>
          </a:prstGeom>
          <a:solidFill>
            <a:srgbClr val="FFFFFF"/>
          </a:solidFill>
          <a:ln/>
          <a:effectLst>
            <a:outerShdw blurRad="101600" dist="25400" dir="5400000" algn="bl" rotWithShape="0">
              <a:srgbClr val="0A2E1C">
                <a:alpha val="12000"/>
              </a:srgbClr>
            </a:outerShdw>
          </a:effectLst>
        </p:spPr>
      </p:sp>
      <p:sp>
        <p:nvSpPr>
          <p:cNvPr id="30" name="Shape 23"/>
          <p:cNvSpPr/>
          <p:nvPr/>
        </p:nvSpPr>
        <p:spPr>
          <a:xfrm>
            <a:off x="7680960" y="5422392"/>
            <a:ext cx="457200" cy="457200"/>
          </a:xfrm>
          <a:prstGeom prst="ellipse">
            <a:avLst/>
          </a:prstGeom>
          <a:solidFill>
            <a:srgbClr val="EEF6EF"/>
          </a:solidFill>
          <a:ln/>
        </p:spPr>
      </p:sp>
      <p:pic>
        <p:nvPicPr>
          <p:cNvPr id="31" name="Image 5" descr="preencoded.png"/>
          <p:cNvPicPr>
            <a:picLocks noChangeAspect="1"/>
          </p:cNvPicPr>
          <p:nvPr/>
        </p:nvPicPr>
        <p:blipFill>
          <a:blip r:embed="rId8"/>
          <a:stretch>
            <a:fillRect/>
          </a:stretch>
        </p:blipFill>
        <p:spPr>
          <a:xfrm>
            <a:off x="7790688" y="5532120"/>
            <a:ext cx="237744" cy="237744"/>
          </a:xfrm>
          <a:prstGeom prst="rect">
            <a:avLst/>
          </a:prstGeom>
        </p:spPr>
      </p:pic>
      <p:sp>
        <p:nvSpPr>
          <p:cNvPr id="32" name="Text 24"/>
          <p:cNvSpPr txBox="1"/>
          <p:nvPr/>
        </p:nvSpPr>
        <p:spPr>
          <a:xfrm>
            <a:off x="8302752" y="5294376"/>
            <a:ext cx="3227832" cy="292608"/>
          </a:xfrm>
          <a:prstGeom prst="rect">
            <a:avLst/>
          </a:prstGeom>
          <a:noFill/>
          <a:ln/>
        </p:spPr>
        <p:txBody>
          <a:bodyPr wrap="square" lIns="0" tIns="0" rIns="0" bIns="0" rtlCol="0" anchor="t"/>
          <a:lstStyle/>
          <a:p>
            <a:pPr marL="0" indent="0">
              <a:buNone/>
            </a:pPr>
            <a:r>
              <a:rPr lang="en-US" sz="1350" b="1" dirty="0">
                <a:solidFill>
                  <a:srgbClr val="17261D"/>
                </a:solidFill>
                <a:latin typeface="Arial" pitchFamily="34" charset="0"/>
                <a:ea typeface="Arial" pitchFamily="34" charset="-122"/>
                <a:cs typeface="Arial" pitchFamily="34" charset="-120"/>
              </a:rPr>
              <a:t>Tin tức &amp; tài liệu</a:t>
            </a:r>
            <a:endParaRPr lang="en-US" sz="1350" dirty="0"/>
          </a:p>
        </p:txBody>
      </p:sp>
      <p:sp>
        <p:nvSpPr>
          <p:cNvPr id="33" name="Text 25"/>
          <p:cNvSpPr txBox="1"/>
          <p:nvPr/>
        </p:nvSpPr>
        <p:spPr>
          <a:xfrm>
            <a:off x="8302752" y="5596128"/>
            <a:ext cx="3209544" cy="566928"/>
          </a:xfrm>
          <a:prstGeom prst="rect">
            <a:avLst/>
          </a:prstGeom>
          <a:noFill/>
          <a:ln/>
        </p:spPr>
        <p:txBody>
          <a:bodyPr wrap="square" lIns="0" tIns="0" rIns="0" bIns="0" rtlCol="0" anchor="t"/>
          <a:lstStyle/>
          <a:p>
            <a:pPr marL="0" indent="0">
              <a:buNone/>
            </a:pPr>
            <a:r>
              <a:rPr lang="en-US" sz="1200" dirty="0">
                <a:solidFill>
                  <a:srgbClr val="3C4A42"/>
                </a:solidFill>
                <a:latin typeface="Calibri" pitchFamily="34" charset="0"/>
                <a:ea typeface="Calibri" pitchFamily="34" charset="-122"/>
                <a:cs typeface="Calibri" pitchFamily="34" charset="-120"/>
              </a:rPr>
              <a:t>Góc tri thức: tin tức, quy định pháp luật mới nhất về ATVSLĐ.</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III · CHUYỂN ĐỔI SỐ ĐÀO TẠO ATVSLĐ</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600" b="1" dirty="0">
                <a:solidFill>
                  <a:srgbClr val="17261D"/>
                </a:solidFill>
                <a:latin typeface="Arial" pitchFamily="34" charset="0"/>
                <a:ea typeface="Arial" pitchFamily="34" charset="-122"/>
                <a:cs typeface="Arial" pitchFamily="34" charset="-120"/>
              </a:rPr>
              <a:t>VÌ SAO CHỌN VIỆN STP LÀ ĐỐI TÁC ĐÀO TẠO DÀI HẠN?</a:t>
            </a:r>
            <a:endParaRPr lang="en-US" sz="26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25</a:t>
            </a:r>
            <a:endParaRPr lang="en-US" sz="900" dirty="0"/>
          </a:p>
        </p:txBody>
      </p:sp>
      <p:sp>
        <p:nvSpPr>
          <p:cNvPr id="8" name="Shape 6"/>
          <p:cNvSpPr/>
          <p:nvPr/>
        </p:nvSpPr>
        <p:spPr>
          <a:xfrm>
            <a:off x="548640" y="1463040"/>
            <a:ext cx="3547872" cy="3886200"/>
          </a:xfrm>
          <a:prstGeom prst="roundRect">
            <a:avLst>
              <a:gd name="adj" fmla="val 4639"/>
            </a:avLst>
          </a:prstGeom>
          <a:solidFill>
            <a:srgbClr val="FFFFFF"/>
          </a:solidFill>
          <a:ln/>
          <a:effectLst>
            <a:outerShdw blurRad="152400" dist="38100" dir="5400000" algn="bl" rotWithShape="0">
              <a:srgbClr val="0A2E1C">
                <a:alpha val="16000"/>
              </a:srgbClr>
            </a:outerShdw>
          </a:effectLst>
        </p:spPr>
      </p:sp>
      <p:sp>
        <p:nvSpPr>
          <p:cNvPr id="9" name="Text 7"/>
          <p:cNvSpPr txBox="1"/>
          <p:nvPr/>
        </p:nvSpPr>
        <p:spPr>
          <a:xfrm>
            <a:off x="2862072" y="1664208"/>
            <a:ext cx="1051560" cy="731520"/>
          </a:xfrm>
          <a:prstGeom prst="rect">
            <a:avLst/>
          </a:prstGeom>
          <a:noFill/>
          <a:ln/>
        </p:spPr>
        <p:txBody>
          <a:bodyPr wrap="square" lIns="0" tIns="0" rIns="0" bIns="0" rtlCol="0" anchor="t"/>
          <a:lstStyle/>
          <a:p>
            <a:pPr marL="0" indent="0" algn="r">
              <a:buNone/>
            </a:pPr>
            <a:r>
              <a:rPr lang="en-US" sz="4000" b="1" dirty="0">
                <a:solidFill>
                  <a:srgbClr val="D5EAD8"/>
                </a:solidFill>
                <a:latin typeface="Arial" pitchFamily="34" charset="0"/>
                <a:ea typeface="Arial" pitchFamily="34" charset="-122"/>
                <a:cs typeface="Arial" pitchFamily="34" charset="-120"/>
              </a:rPr>
              <a:t>01</a:t>
            </a:r>
            <a:endParaRPr lang="en-US" sz="4000" dirty="0"/>
          </a:p>
        </p:txBody>
      </p:sp>
      <p:sp>
        <p:nvSpPr>
          <p:cNvPr id="10" name="Shape 8"/>
          <p:cNvSpPr/>
          <p:nvPr/>
        </p:nvSpPr>
        <p:spPr>
          <a:xfrm>
            <a:off x="868680" y="1783080"/>
            <a:ext cx="731520" cy="731520"/>
          </a:xfrm>
          <a:prstGeom prst="ellipse">
            <a:avLst/>
          </a:prstGeom>
          <a:solidFill>
            <a:srgbClr val="1E8C45"/>
          </a:solidFill>
          <a:ln/>
        </p:spPr>
      </p:sp>
      <p:pic>
        <p:nvPicPr>
          <p:cNvPr id="11" name="Image 0" descr="preencoded.png"/>
          <p:cNvPicPr>
            <a:picLocks noChangeAspect="1"/>
          </p:cNvPicPr>
          <p:nvPr/>
        </p:nvPicPr>
        <p:blipFill>
          <a:blip r:embed="rId3"/>
          <a:stretch>
            <a:fillRect/>
          </a:stretch>
        </p:blipFill>
        <p:spPr>
          <a:xfrm>
            <a:off x="1044245" y="1958645"/>
            <a:ext cx="380390" cy="380390"/>
          </a:xfrm>
          <a:prstGeom prst="rect">
            <a:avLst/>
          </a:prstGeom>
        </p:spPr>
      </p:pic>
      <p:sp>
        <p:nvSpPr>
          <p:cNvPr id="12" name="Text 9"/>
          <p:cNvSpPr txBox="1"/>
          <p:nvPr/>
        </p:nvSpPr>
        <p:spPr>
          <a:xfrm>
            <a:off x="868680" y="2743200"/>
            <a:ext cx="2907792" cy="685800"/>
          </a:xfrm>
          <a:prstGeom prst="rect">
            <a:avLst/>
          </a:prstGeom>
          <a:noFill/>
          <a:ln/>
        </p:spPr>
        <p:txBody>
          <a:bodyPr wrap="square" lIns="0" tIns="0" rIns="0" bIns="0" rtlCol="0" anchor="ctr"/>
          <a:lstStyle/>
          <a:p>
            <a:pPr marL="0" indent="0">
              <a:buNone/>
            </a:pPr>
            <a:r>
              <a:rPr lang="en-US" sz="1600" b="1" dirty="0">
                <a:solidFill>
                  <a:srgbClr val="17261D"/>
                </a:solidFill>
                <a:latin typeface="Arial" pitchFamily="34" charset="0"/>
                <a:ea typeface="Arial" pitchFamily="34" charset="-122"/>
                <a:cs typeface="Arial" pitchFamily="34" charset="-120"/>
              </a:rPr>
              <a:t>ĐƠN VỊ UY TÍN</a:t>
            </a:r>
            <a:endParaRPr lang="en-US" sz="1600" dirty="0"/>
          </a:p>
        </p:txBody>
      </p:sp>
      <p:sp>
        <p:nvSpPr>
          <p:cNvPr id="13" name="Text 10"/>
          <p:cNvSpPr txBox="1"/>
          <p:nvPr/>
        </p:nvSpPr>
        <p:spPr>
          <a:xfrm>
            <a:off x="868680" y="3520440"/>
            <a:ext cx="2999232" cy="1737360"/>
          </a:xfrm>
          <a:prstGeom prst="rect">
            <a:avLst/>
          </a:prstGeom>
          <a:noFill/>
          <a:ln/>
        </p:spPr>
        <p:txBody>
          <a:bodyPr wrap="square" lIns="0" tIns="0" rIns="0" bIns="0" rtlCol="0" anchor="t"/>
          <a:lstStyle/>
          <a:p>
            <a:pPr marL="0" indent="0">
              <a:lnSpc>
                <a:spcPct val="105000"/>
              </a:lnSpc>
              <a:buNone/>
            </a:pPr>
            <a:r>
              <a:rPr lang="en-US" sz="1500" dirty="0">
                <a:solidFill>
                  <a:srgbClr val="3C4A42"/>
                </a:solidFill>
                <a:latin typeface="Calibri" pitchFamily="34" charset="0"/>
                <a:ea typeface="Calibri" pitchFamily="34" charset="-122"/>
                <a:cs typeface="Calibri" pitchFamily="34" charset="-120"/>
              </a:rPr>
              <a:t>Viện STP trực thuộc </a:t>
            </a:r>
            <a:r>
              <a:rPr lang="en-US" sz="1500" b="1" dirty="0">
                <a:solidFill>
                  <a:srgbClr val="1E8C45"/>
                </a:solidFill>
                <a:latin typeface="Calibri" pitchFamily="34" charset="0"/>
                <a:ea typeface="Calibri" pitchFamily="34" charset="-122"/>
                <a:cs typeface="Calibri" pitchFamily="34" charset="-120"/>
              </a:rPr>
              <a:t>Liên hiệp các Hội Khoa học và Kỹ thuật Việt Nam (VUSTA)</a:t>
            </a:r>
            <a:r>
              <a:rPr lang="en-US" sz="1500" dirty="0">
                <a:solidFill>
                  <a:srgbClr val="3C4A42"/>
                </a:solidFill>
                <a:latin typeface="Calibri" pitchFamily="34" charset="0"/>
                <a:ea typeface="Calibri" pitchFamily="34" charset="-122"/>
                <a:cs typeface="Calibri" pitchFamily="34" charset="-120"/>
              </a:rPr>
              <a:t>, đồng hành cùng doanh nghiệp trong đào tạo và quản lý ATVSLĐ theo quy định.</a:t>
            </a:r>
            <a:endParaRPr lang="en-US" sz="1500" dirty="0"/>
          </a:p>
        </p:txBody>
      </p:sp>
      <p:sp>
        <p:nvSpPr>
          <p:cNvPr id="14" name="Shape 11"/>
          <p:cNvSpPr/>
          <p:nvPr/>
        </p:nvSpPr>
        <p:spPr>
          <a:xfrm>
            <a:off x="4320540" y="1463040"/>
            <a:ext cx="3547872" cy="3886200"/>
          </a:xfrm>
          <a:prstGeom prst="roundRect">
            <a:avLst>
              <a:gd name="adj" fmla="val 4639"/>
            </a:avLst>
          </a:prstGeom>
          <a:solidFill>
            <a:srgbClr val="FFFFFF"/>
          </a:solidFill>
          <a:ln/>
          <a:effectLst>
            <a:outerShdw blurRad="152400" dist="38100" dir="5400000" algn="bl" rotWithShape="0">
              <a:srgbClr val="0A2E1C">
                <a:alpha val="16000"/>
              </a:srgbClr>
            </a:outerShdw>
          </a:effectLst>
        </p:spPr>
      </p:sp>
      <p:sp>
        <p:nvSpPr>
          <p:cNvPr id="15" name="Text 12"/>
          <p:cNvSpPr txBox="1"/>
          <p:nvPr/>
        </p:nvSpPr>
        <p:spPr>
          <a:xfrm>
            <a:off x="6633972" y="1664208"/>
            <a:ext cx="1051560" cy="731520"/>
          </a:xfrm>
          <a:prstGeom prst="rect">
            <a:avLst/>
          </a:prstGeom>
          <a:noFill/>
          <a:ln/>
        </p:spPr>
        <p:txBody>
          <a:bodyPr wrap="square" lIns="0" tIns="0" rIns="0" bIns="0" rtlCol="0" anchor="t"/>
          <a:lstStyle/>
          <a:p>
            <a:pPr marL="0" indent="0" algn="r">
              <a:buNone/>
            </a:pPr>
            <a:r>
              <a:rPr lang="en-US" sz="4000" b="1" dirty="0">
                <a:solidFill>
                  <a:srgbClr val="D5EAD8"/>
                </a:solidFill>
                <a:latin typeface="Arial" pitchFamily="34" charset="0"/>
                <a:ea typeface="Arial" pitchFamily="34" charset="-122"/>
                <a:cs typeface="Arial" pitchFamily="34" charset="-120"/>
              </a:rPr>
              <a:t>02</a:t>
            </a:r>
            <a:endParaRPr lang="en-US" sz="4000" dirty="0"/>
          </a:p>
        </p:txBody>
      </p:sp>
      <p:sp>
        <p:nvSpPr>
          <p:cNvPr id="16" name="Shape 13"/>
          <p:cNvSpPr/>
          <p:nvPr/>
        </p:nvSpPr>
        <p:spPr>
          <a:xfrm>
            <a:off x="4640580" y="1783080"/>
            <a:ext cx="731520" cy="731520"/>
          </a:xfrm>
          <a:prstGeom prst="ellipse">
            <a:avLst/>
          </a:prstGeom>
          <a:solidFill>
            <a:srgbClr val="1E8C45"/>
          </a:solidFill>
          <a:ln/>
        </p:spPr>
      </p:sp>
      <p:pic>
        <p:nvPicPr>
          <p:cNvPr id="17" name="Image 1" descr="preencoded.png"/>
          <p:cNvPicPr>
            <a:picLocks noChangeAspect="1"/>
          </p:cNvPicPr>
          <p:nvPr/>
        </p:nvPicPr>
        <p:blipFill>
          <a:blip r:embed="rId4"/>
          <a:stretch>
            <a:fillRect/>
          </a:stretch>
        </p:blipFill>
        <p:spPr>
          <a:xfrm>
            <a:off x="4816145" y="1958645"/>
            <a:ext cx="380390" cy="380390"/>
          </a:xfrm>
          <a:prstGeom prst="rect">
            <a:avLst/>
          </a:prstGeom>
        </p:spPr>
      </p:pic>
      <p:sp>
        <p:nvSpPr>
          <p:cNvPr id="18" name="Text 14"/>
          <p:cNvSpPr txBox="1"/>
          <p:nvPr/>
        </p:nvSpPr>
        <p:spPr>
          <a:xfrm>
            <a:off x="4640580" y="2743200"/>
            <a:ext cx="2907792" cy="685800"/>
          </a:xfrm>
          <a:prstGeom prst="rect">
            <a:avLst/>
          </a:prstGeom>
          <a:noFill/>
          <a:ln/>
        </p:spPr>
        <p:txBody>
          <a:bodyPr wrap="square" lIns="0" tIns="0" rIns="0" bIns="0" rtlCol="0" anchor="ctr"/>
          <a:lstStyle/>
          <a:p>
            <a:pPr marL="0" indent="0">
              <a:buNone/>
            </a:pPr>
            <a:r>
              <a:rPr lang="en-US" sz="1600" b="1" dirty="0">
                <a:solidFill>
                  <a:srgbClr val="17261D"/>
                </a:solidFill>
                <a:latin typeface="Arial" pitchFamily="34" charset="0"/>
                <a:ea typeface="Arial" pitchFamily="34" charset="-122"/>
                <a:cs typeface="Arial" pitchFamily="34" charset="-120"/>
              </a:rPr>
              <a:t>TIẾT KIỆM CHI PHÍ &amp; THỜI GIAN</a:t>
            </a:r>
            <a:endParaRPr lang="en-US" sz="1600" dirty="0"/>
          </a:p>
        </p:txBody>
      </p:sp>
      <p:sp>
        <p:nvSpPr>
          <p:cNvPr id="19" name="Text 15"/>
          <p:cNvSpPr txBox="1"/>
          <p:nvPr/>
        </p:nvSpPr>
        <p:spPr>
          <a:xfrm>
            <a:off x="4640580" y="3520440"/>
            <a:ext cx="2999232" cy="1737360"/>
          </a:xfrm>
          <a:prstGeom prst="rect">
            <a:avLst/>
          </a:prstGeom>
          <a:noFill/>
          <a:ln/>
        </p:spPr>
        <p:txBody>
          <a:bodyPr wrap="square" lIns="0" tIns="0" rIns="0" bIns="0" rtlCol="0" anchor="t"/>
          <a:lstStyle/>
          <a:p>
            <a:pPr marL="0" indent="0">
              <a:lnSpc>
                <a:spcPct val="105000"/>
              </a:lnSpc>
              <a:buNone/>
            </a:pPr>
            <a:r>
              <a:rPr lang="en-US" sz="1500" dirty="0">
                <a:solidFill>
                  <a:srgbClr val="3C4A42"/>
                </a:solidFill>
                <a:latin typeface="Calibri" pitchFamily="34" charset="0"/>
                <a:ea typeface="Calibri" pitchFamily="34" charset="-122"/>
                <a:cs typeface="Calibri" pitchFamily="34" charset="-120"/>
              </a:rPr>
              <a:t>Khi ký hợp đồng đào tạo, doanh nghiệp được cấp </a:t>
            </a:r>
            <a:r>
              <a:rPr lang="en-US" sz="1500" b="1" dirty="0">
                <a:solidFill>
                  <a:srgbClr val="1E8C45"/>
                </a:solidFill>
                <a:latin typeface="Calibri" pitchFamily="34" charset="0"/>
                <a:ea typeface="Calibri" pitchFamily="34" charset="-122"/>
                <a:cs typeface="Calibri" pitchFamily="34" charset="-120"/>
              </a:rPr>
              <a:t>tài khoản hệ thống quản lý EHS/ATVSLĐ</a:t>
            </a:r>
            <a:r>
              <a:rPr lang="en-US" sz="1500" dirty="0">
                <a:solidFill>
                  <a:srgbClr val="3C4A42"/>
                </a:solidFill>
                <a:latin typeface="Calibri" pitchFamily="34" charset="0"/>
                <a:ea typeface="Calibri" pitchFamily="34" charset="-122"/>
                <a:cs typeface="Calibri" pitchFamily="34" charset="-120"/>
              </a:rPr>
              <a:t> – quản lý tập trung mà </a:t>
            </a:r>
            <a:r>
              <a:rPr lang="en-US" sz="1500" b="1" dirty="0">
                <a:solidFill>
                  <a:srgbClr val="1E8C45"/>
                </a:solidFill>
                <a:latin typeface="Calibri" pitchFamily="34" charset="0"/>
                <a:ea typeface="Calibri" pitchFamily="34" charset="-122"/>
                <a:cs typeface="Calibri" pitchFamily="34" charset="-120"/>
              </a:rPr>
              <a:t>không phải đầu tư mua phần mềm riêng</a:t>
            </a:r>
            <a:r>
              <a:rPr lang="en-US" sz="1500" dirty="0">
                <a:solidFill>
                  <a:srgbClr val="3C4A42"/>
                </a:solidFill>
                <a:latin typeface="Calibri" pitchFamily="34" charset="0"/>
                <a:ea typeface="Calibri" pitchFamily="34" charset="-122"/>
                <a:cs typeface="Calibri" pitchFamily="34" charset="-120"/>
              </a:rPr>
              <a:t>.</a:t>
            </a:r>
            <a:endParaRPr lang="en-US" sz="1500" dirty="0"/>
          </a:p>
        </p:txBody>
      </p:sp>
      <p:sp>
        <p:nvSpPr>
          <p:cNvPr id="20" name="Shape 16"/>
          <p:cNvSpPr/>
          <p:nvPr/>
        </p:nvSpPr>
        <p:spPr>
          <a:xfrm>
            <a:off x="8092440" y="1463040"/>
            <a:ext cx="3547872" cy="3886200"/>
          </a:xfrm>
          <a:prstGeom prst="roundRect">
            <a:avLst>
              <a:gd name="adj" fmla="val 4639"/>
            </a:avLst>
          </a:prstGeom>
          <a:solidFill>
            <a:srgbClr val="FFFFFF"/>
          </a:solidFill>
          <a:ln/>
          <a:effectLst>
            <a:outerShdw blurRad="152400" dist="38100" dir="5400000" algn="bl" rotWithShape="0">
              <a:srgbClr val="0A2E1C">
                <a:alpha val="16000"/>
              </a:srgbClr>
            </a:outerShdw>
          </a:effectLst>
        </p:spPr>
      </p:sp>
      <p:sp>
        <p:nvSpPr>
          <p:cNvPr id="21" name="Text 17"/>
          <p:cNvSpPr txBox="1"/>
          <p:nvPr/>
        </p:nvSpPr>
        <p:spPr>
          <a:xfrm>
            <a:off x="10405872" y="1664208"/>
            <a:ext cx="1051560" cy="731520"/>
          </a:xfrm>
          <a:prstGeom prst="rect">
            <a:avLst/>
          </a:prstGeom>
          <a:noFill/>
          <a:ln/>
        </p:spPr>
        <p:txBody>
          <a:bodyPr wrap="square" lIns="0" tIns="0" rIns="0" bIns="0" rtlCol="0" anchor="t"/>
          <a:lstStyle/>
          <a:p>
            <a:pPr marL="0" indent="0" algn="r">
              <a:buNone/>
            </a:pPr>
            <a:r>
              <a:rPr lang="en-US" sz="4000" b="1" dirty="0">
                <a:solidFill>
                  <a:srgbClr val="D5EAD8"/>
                </a:solidFill>
                <a:latin typeface="Arial" pitchFamily="34" charset="0"/>
                <a:ea typeface="Arial" pitchFamily="34" charset="-122"/>
                <a:cs typeface="Arial" pitchFamily="34" charset="-120"/>
              </a:rPr>
              <a:t>03</a:t>
            </a:r>
            <a:endParaRPr lang="en-US" sz="4000" dirty="0"/>
          </a:p>
        </p:txBody>
      </p:sp>
      <p:sp>
        <p:nvSpPr>
          <p:cNvPr id="22" name="Shape 18"/>
          <p:cNvSpPr/>
          <p:nvPr/>
        </p:nvSpPr>
        <p:spPr>
          <a:xfrm>
            <a:off x="8412480" y="1783080"/>
            <a:ext cx="731520" cy="731520"/>
          </a:xfrm>
          <a:prstGeom prst="ellipse">
            <a:avLst/>
          </a:prstGeom>
          <a:solidFill>
            <a:srgbClr val="1E8C45"/>
          </a:solidFill>
          <a:ln/>
        </p:spPr>
      </p:sp>
      <p:pic>
        <p:nvPicPr>
          <p:cNvPr id="23" name="Image 2" descr="preencoded.png"/>
          <p:cNvPicPr>
            <a:picLocks noChangeAspect="1"/>
          </p:cNvPicPr>
          <p:nvPr/>
        </p:nvPicPr>
        <p:blipFill>
          <a:blip r:embed="rId5"/>
          <a:stretch>
            <a:fillRect/>
          </a:stretch>
        </p:blipFill>
        <p:spPr>
          <a:xfrm>
            <a:off x="8588045" y="1958645"/>
            <a:ext cx="380390" cy="380390"/>
          </a:xfrm>
          <a:prstGeom prst="rect">
            <a:avLst/>
          </a:prstGeom>
        </p:spPr>
      </p:pic>
      <p:sp>
        <p:nvSpPr>
          <p:cNvPr id="24" name="Text 19"/>
          <p:cNvSpPr txBox="1"/>
          <p:nvPr/>
        </p:nvSpPr>
        <p:spPr>
          <a:xfrm>
            <a:off x="8412480" y="2743200"/>
            <a:ext cx="2907792" cy="685800"/>
          </a:xfrm>
          <a:prstGeom prst="rect">
            <a:avLst/>
          </a:prstGeom>
          <a:noFill/>
          <a:ln/>
        </p:spPr>
        <p:txBody>
          <a:bodyPr wrap="square" lIns="0" tIns="0" rIns="0" bIns="0" rtlCol="0" anchor="ctr"/>
          <a:lstStyle/>
          <a:p>
            <a:pPr marL="0" indent="0">
              <a:buNone/>
            </a:pPr>
            <a:r>
              <a:rPr lang="en-US" sz="1600" b="1" dirty="0">
                <a:solidFill>
                  <a:srgbClr val="17261D"/>
                </a:solidFill>
                <a:latin typeface="Arial" pitchFamily="34" charset="0"/>
                <a:ea typeface="Arial" pitchFamily="34" charset="-122"/>
                <a:cs typeface="Arial" pitchFamily="34" charset="-120"/>
              </a:rPr>
              <a:t>CHUYỂN ĐỔI SỐ TOÀN DIỆN</a:t>
            </a:r>
            <a:endParaRPr lang="en-US" sz="1600" dirty="0"/>
          </a:p>
        </p:txBody>
      </p:sp>
      <p:sp>
        <p:nvSpPr>
          <p:cNvPr id="25" name="Text 20"/>
          <p:cNvSpPr txBox="1"/>
          <p:nvPr/>
        </p:nvSpPr>
        <p:spPr>
          <a:xfrm>
            <a:off x="8412480" y="3520440"/>
            <a:ext cx="2999232" cy="1737360"/>
          </a:xfrm>
          <a:prstGeom prst="rect">
            <a:avLst/>
          </a:prstGeom>
          <a:noFill/>
          <a:ln/>
        </p:spPr>
        <p:txBody>
          <a:bodyPr wrap="square" lIns="0" tIns="0" rIns="0" bIns="0" rtlCol="0" anchor="t"/>
          <a:lstStyle/>
          <a:p>
            <a:pPr marL="0" indent="0">
              <a:lnSpc>
                <a:spcPct val="105000"/>
              </a:lnSpc>
              <a:buNone/>
            </a:pPr>
            <a:r>
              <a:rPr lang="en-US" sz="1500" dirty="0">
                <a:solidFill>
                  <a:srgbClr val="3C4A42"/>
                </a:solidFill>
                <a:latin typeface="Calibri" pitchFamily="34" charset="0"/>
                <a:ea typeface="Calibri" pitchFamily="34" charset="-122"/>
                <a:cs typeface="Calibri" pitchFamily="34" charset="-120"/>
              </a:rPr>
              <a:t>Số hóa đào tạo, hồ sơ, quá trình học tập; xây dựng </a:t>
            </a:r>
            <a:r>
              <a:rPr lang="en-US" sz="1500" b="1" dirty="0">
                <a:solidFill>
                  <a:srgbClr val="1E8C45"/>
                </a:solidFill>
                <a:latin typeface="Calibri" pitchFamily="34" charset="0"/>
                <a:ea typeface="Calibri" pitchFamily="34" charset="-122"/>
                <a:cs typeface="Calibri" pitchFamily="34" charset="-120"/>
              </a:rPr>
              <a:t>hồ sơ năng lực ATVSLĐ</a:t>
            </a:r>
            <a:r>
              <a:rPr lang="en-US" sz="1500" dirty="0">
                <a:solidFill>
                  <a:srgbClr val="3C4A42"/>
                </a:solidFill>
                <a:latin typeface="Calibri" pitchFamily="34" charset="0"/>
                <a:ea typeface="Calibri" pitchFamily="34" charset="-122"/>
                <a:cs typeface="Calibri" pitchFamily="34" charset="-120"/>
              </a:rPr>
              <a:t> sẵn sàng cho đấu thầu, đánh giá đối tác và làm việc với đoàn thanh tra.</a:t>
            </a:r>
            <a:endParaRPr lang="en-US" sz="1500" dirty="0"/>
          </a:p>
        </p:txBody>
      </p:sp>
      <p:sp>
        <p:nvSpPr>
          <p:cNvPr id="26" name="Shape 21"/>
          <p:cNvSpPr/>
          <p:nvPr/>
        </p:nvSpPr>
        <p:spPr>
          <a:xfrm>
            <a:off x="548640" y="5577840"/>
            <a:ext cx="11091672" cy="777240"/>
          </a:xfrm>
          <a:prstGeom prst="roundRect">
            <a:avLst>
              <a:gd name="adj" fmla="val 18824"/>
            </a:avLst>
          </a:prstGeom>
          <a:solidFill>
            <a:srgbClr val="EEF6EF"/>
          </a:solidFill>
          <a:ln/>
        </p:spPr>
      </p:sp>
      <p:pic>
        <p:nvPicPr>
          <p:cNvPr id="27" name="Image 3" descr="preencoded.png"/>
          <p:cNvPicPr>
            <a:picLocks noChangeAspect="1"/>
          </p:cNvPicPr>
          <p:nvPr/>
        </p:nvPicPr>
        <p:blipFill>
          <a:blip r:embed="rId6"/>
          <a:stretch>
            <a:fillRect/>
          </a:stretch>
        </p:blipFill>
        <p:spPr>
          <a:xfrm>
            <a:off x="868680" y="5760720"/>
            <a:ext cx="411480" cy="411480"/>
          </a:xfrm>
          <a:prstGeom prst="rect">
            <a:avLst/>
          </a:prstGeom>
        </p:spPr>
      </p:pic>
      <p:sp>
        <p:nvSpPr>
          <p:cNvPr id="28" name="Text 22"/>
          <p:cNvSpPr txBox="1"/>
          <p:nvPr/>
        </p:nvSpPr>
        <p:spPr>
          <a:xfrm>
            <a:off x="1463040" y="5577840"/>
            <a:ext cx="9966960" cy="777240"/>
          </a:xfrm>
          <a:prstGeom prst="rect">
            <a:avLst/>
          </a:prstGeom>
          <a:noFill/>
          <a:ln/>
        </p:spPr>
        <p:txBody>
          <a:bodyPr wrap="square" lIns="0" tIns="0" rIns="0" bIns="0" rtlCol="0" anchor="ctr"/>
          <a:lstStyle/>
          <a:p>
            <a:pPr marL="0" indent="0">
              <a:buNone/>
            </a:pPr>
            <a:r>
              <a:rPr lang="en-US" sz="1450" b="1" dirty="0">
                <a:solidFill>
                  <a:srgbClr val="1E8C45"/>
                </a:solidFill>
                <a:latin typeface="Calibri" pitchFamily="34" charset="0"/>
                <a:ea typeface="Calibri" pitchFamily="34" charset="-122"/>
                <a:cs typeface="Calibri" pitchFamily="34" charset="-120"/>
              </a:rPr>
              <a:t>Ký hợp đồng đào tạo với Viện STP</a:t>
            </a:r>
            <a:r>
              <a:rPr lang="en-US" sz="1450" dirty="0">
                <a:solidFill>
                  <a:srgbClr val="17261D"/>
                </a:solidFill>
                <a:latin typeface="Calibri" pitchFamily="34" charset="0"/>
                <a:ea typeface="Calibri" pitchFamily="34" charset="-122"/>
                <a:cs typeface="Calibri" pitchFamily="34" charset="-120"/>
              </a:rPr>
              <a:t>  →  doanh nghiệp được cấp </a:t>
            </a:r>
            <a:r>
              <a:rPr lang="en-US" sz="1450" b="1" dirty="0">
                <a:solidFill>
                  <a:srgbClr val="1E8C45"/>
                </a:solidFill>
                <a:latin typeface="Calibri" pitchFamily="34" charset="0"/>
                <a:ea typeface="Calibri" pitchFamily="34" charset="-122"/>
                <a:cs typeface="Calibri" pitchFamily="34" charset="-120"/>
              </a:rPr>
              <a:t>hệ thống quản lý riêng</a:t>
            </a:r>
            <a:r>
              <a:rPr lang="en-US" sz="1450" dirty="0">
                <a:solidFill>
                  <a:srgbClr val="17261D"/>
                </a:solidFill>
                <a:latin typeface="Calibri" pitchFamily="34" charset="0"/>
                <a:ea typeface="Calibri" pitchFamily="34" charset="-122"/>
                <a:cs typeface="Calibri" pitchFamily="34" charset="-120"/>
              </a:rPr>
              <a:t> và </a:t>
            </a:r>
            <a:r>
              <a:rPr lang="en-US" sz="1450" b="1" dirty="0">
                <a:solidFill>
                  <a:srgbClr val="1E8C45"/>
                </a:solidFill>
                <a:latin typeface="Calibri" pitchFamily="34" charset="0"/>
                <a:ea typeface="Calibri" pitchFamily="34" charset="-122"/>
                <a:cs typeface="Calibri" pitchFamily="34" charset="-120"/>
              </a:rPr>
              <a:t>tài khoản học viên riêng</a:t>
            </a:r>
            <a:r>
              <a:rPr lang="en-US" sz="1450" dirty="0">
                <a:solidFill>
                  <a:srgbClr val="17261D"/>
                </a:solidFill>
                <a:latin typeface="Calibri" pitchFamily="34" charset="0"/>
                <a:ea typeface="Calibri" pitchFamily="34" charset="-122"/>
                <a:cs typeface="Calibri" pitchFamily="34" charset="-120"/>
              </a:rPr>
              <a:t>, chủ động hơn trong đào tạo và quản lý ATVSLĐ.</a:t>
            </a:r>
            <a:endParaRPr lang="en-US" sz="14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2E1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claude/assets/beams_dark.png"/>
          <p:cNvPicPr>
            <a:picLocks noChangeAspect="1"/>
          </p:cNvPicPr>
          <p:nvPr/>
        </p:nvPicPr>
        <p:blipFill>
          <a:blip r:embed="rId4">
            <a:alphaModFix amt="75000"/>
          </a:blip>
          <a:stretch>
            <a:fillRect/>
          </a:stretch>
        </p:blipFill>
        <p:spPr>
          <a:xfrm>
            <a:off x="3017520" y="2286000"/>
            <a:ext cx="9171432" cy="4572000"/>
          </a:xfrm>
          <a:prstGeom prst="rect">
            <a:avLst/>
          </a:prstGeom>
        </p:spPr>
      </p:pic>
      <p:sp>
        <p:nvSpPr>
          <p:cNvPr id="4" name="Shape 0"/>
          <p:cNvSpPr/>
          <p:nvPr/>
        </p:nvSpPr>
        <p:spPr>
          <a:xfrm>
            <a:off x="9677095" y="-228600"/>
            <a:ext cx="1965960" cy="566928"/>
          </a:xfrm>
          <a:prstGeom prst="roundRect">
            <a:avLst>
              <a:gd name="adj" fmla="val 25806"/>
            </a:avLst>
          </a:prstGeom>
          <a:solidFill>
            <a:srgbClr val="0F5B34"/>
          </a:solidFill>
          <a:ln/>
        </p:spPr>
      </p:sp>
      <p:sp>
        <p:nvSpPr>
          <p:cNvPr id="5" name="Text 1"/>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A8D84E"/>
                </a:solidFill>
                <a:latin typeface="Arial" pitchFamily="34" charset="0"/>
                <a:ea typeface="Arial" pitchFamily="34" charset="-122"/>
                <a:cs typeface="Arial" pitchFamily="34" charset="-120"/>
              </a:rPr>
              <a:t>STP INSTITUTE</a:t>
            </a:r>
            <a:endParaRPr lang="en-US" sz="950" dirty="0"/>
          </a:p>
        </p:txBody>
      </p:sp>
      <p:sp>
        <p:nvSpPr>
          <p:cNvPr id="6" name="Text 2"/>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B9D3C0"/>
                </a:solidFill>
                <a:latin typeface="Arial" pitchFamily="34" charset="0"/>
                <a:ea typeface="Arial" pitchFamily="34" charset="-122"/>
                <a:cs typeface="Arial" pitchFamily="34" charset="-120"/>
              </a:rPr>
              <a:t>26</a:t>
            </a:r>
            <a:endParaRPr lang="en-US" sz="900" dirty="0"/>
          </a:p>
        </p:txBody>
      </p:sp>
      <p:sp>
        <p:nvSpPr>
          <p:cNvPr id="7" name="Text 3"/>
          <p:cNvSpPr txBox="1"/>
          <p:nvPr/>
        </p:nvSpPr>
        <p:spPr>
          <a:xfrm>
            <a:off x="822960" y="1463040"/>
            <a:ext cx="7315200" cy="320040"/>
          </a:xfrm>
          <a:prstGeom prst="rect">
            <a:avLst/>
          </a:prstGeom>
          <a:noFill/>
          <a:ln/>
        </p:spPr>
        <p:txBody>
          <a:bodyPr wrap="square" lIns="0" tIns="0" rIns="0" bIns="0" rtlCol="0" anchor="t"/>
          <a:lstStyle/>
          <a:p>
            <a:pPr marL="0" indent="0">
              <a:buNone/>
            </a:pPr>
            <a:r>
              <a:rPr lang="en-US" sz="1300" b="1" kern="0" spc="600" dirty="0">
                <a:solidFill>
                  <a:srgbClr val="A8D84E"/>
                </a:solidFill>
                <a:latin typeface="Arial" pitchFamily="34" charset="0"/>
                <a:ea typeface="Arial" pitchFamily="34" charset="-122"/>
                <a:cs typeface="Arial" pitchFamily="34" charset="-120"/>
              </a:rPr>
              <a:t>THÔNG ĐIỆP TỪ VIỆN STP</a:t>
            </a:r>
            <a:endParaRPr lang="en-US" sz="1300" dirty="0"/>
          </a:p>
        </p:txBody>
      </p:sp>
      <p:sp>
        <p:nvSpPr>
          <p:cNvPr id="8" name="Text 4"/>
          <p:cNvSpPr txBox="1"/>
          <p:nvPr/>
        </p:nvSpPr>
        <p:spPr>
          <a:xfrm>
            <a:off x="822960" y="1965960"/>
            <a:ext cx="10789920" cy="548640"/>
          </a:xfrm>
          <a:prstGeom prst="rect">
            <a:avLst/>
          </a:prstGeom>
          <a:noFill/>
          <a:ln/>
        </p:spPr>
        <p:txBody>
          <a:bodyPr wrap="square" lIns="0" tIns="0" rIns="0" bIns="0" rtlCol="0" anchor="t"/>
          <a:lstStyle/>
          <a:p>
            <a:pPr marL="0" indent="0">
              <a:buNone/>
            </a:pPr>
            <a:r>
              <a:rPr lang="en-US" sz="2800" b="1" dirty="0">
                <a:solidFill>
                  <a:srgbClr val="FFFFFF"/>
                </a:solidFill>
                <a:latin typeface="Arial" pitchFamily="34" charset="0"/>
                <a:ea typeface="Arial" pitchFamily="34" charset="-122"/>
                <a:cs typeface="Arial" pitchFamily="34" charset="-120"/>
              </a:rPr>
              <a:t>MỘT KHÓA HỌC CÓ THỂ KẾT THÚC SAU VÀI NGÀY</a:t>
            </a:r>
            <a:endParaRPr lang="en-US" sz="2800" dirty="0"/>
          </a:p>
        </p:txBody>
      </p:sp>
      <p:sp>
        <p:nvSpPr>
          <p:cNvPr id="9" name="Text 5"/>
          <p:cNvSpPr txBox="1"/>
          <p:nvPr/>
        </p:nvSpPr>
        <p:spPr>
          <a:xfrm>
            <a:off x="822960" y="2532888"/>
            <a:ext cx="10789920" cy="548640"/>
          </a:xfrm>
          <a:prstGeom prst="rect">
            <a:avLst/>
          </a:prstGeom>
          <a:noFill/>
          <a:ln/>
        </p:spPr>
        <p:txBody>
          <a:bodyPr wrap="square" lIns="0" tIns="0" rIns="0" bIns="0" rtlCol="0" anchor="t"/>
          <a:lstStyle/>
          <a:p>
            <a:pPr marL="0" indent="0">
              <a:buNone/>
            </a:pPr>
            <a:r>
              <a:rPr lang="en-US" sz="2800" b="1" dirty="0">
                <a:solidFill>
                  <a:srgbClr val="FFFFFF"/>
                </a:solidFill>
                <a:latin typeface="Arial" pitchFamily="34" charset="0"/>
                <a:ea typeface="Arial" pitchFamily="34" charset="-122"/>
                <a:cs typeface="Arial" pitchFamily="34" charset="-120"/>
              </a:rPr>
              <a:t>NHƯNG CÔNG TÁC AN TOÀN, VỆ SINH LAO ĐỘNG</a:t>
            </a:r>
            <a:endParaRPr lang="en-US" sz="2800" dirty="0"/>
          </a:p>
        </p:txBody>
      </p:sp>
      <p:sp>
        <p:nvSpPr>
          <p:cNvPr id="10" name="Text 6"/>
          <p:cNvSpPr txBox="1"/>
          <p:nvPr/>
        </p:nvSpPr>
        <p:spPr>
          <a:xfrm>
            <a:off x="822960" y="3108960"/>
            <a:ext cx="10789920" cy="960120"/>
          </a:xfrm>
          <a:prstGeom prst="rect">
            <a:avLst/>
          </a:prstGeom>
          <a:noFill/>
          <a:ln/>
        </p:spPr>
        <p:txBody>
          <a:bodyPr wrap="square" lIns="0" tIns="0" rIns="0" bIns="0" rtlCol="0" anchor="t"/>
          <a:lstStyle/>
          <a:p>
            <a:pPr marL="0" indent="0">
              <a:buNone/>
            </a:pPr>
            <a:r>
              <a:rPr lang="en-US" sz="5200" b="1" dirty="0">
                <a:solidFill>
                  <a:srgbClr val="A8D84E"/>
                </a:solidFill>
                <a:latin typeface="Arial" pitchFamily="34" charset="0"/>
                <a:ea typeface="Arial" pitchFamily="34" charset="-122"/>
                <a:cs typeface="Arial" pitchFamily="34" charset="-120"/>
              </a:rPr>
              <a:t>CẦN ĐƯỢC QUẢN LÝ MỖI NGÀY</a:t>
            </a:r>
            <a:endParaRPr lang="en-US" sz="5200" dirty="0"/>
          </a:p>
        </p:txBody>
      </p:sp>
      <p:sp>
        <p:nvSpPr>
          <p:cNvPr id="11" name="Shape 7"/>
          <p:cNvSpPr/>
          <p:nvPr/>
        </p:nvSpPr>
        <p:spPr>
          <a:xfrm>
            <a:off x="822960" y="4389120"/>
            <a:ext cx="1828800" cy="512064"/>
          </a:xfrm>
          <a:prstGeom prst="roundRect">
            <a:avLst>
              <a:gd name="adj" fmla="val 50000"/>
            </a:avLst>
          </a:prstGeom>
          <a:solidFill>
            <a:srgbClr val="FFFFFF">
              <a:alpha val="10000"/>
            </a:srgbClr>
          </a:solidFill>
          <a:ln w="15875">
            <a:solidFill>
              <a:srgbClr val="A8D84E"/>
            </a:solidFill>
            <a:prstDash val="solid"/>
          </a:ln>
        </p:spPr>
      </p:sp>
      <p:sp>
        <p:nvSpPr>
          <p:cNvPr id="12" name="Text 8"/>
          <p:cNvSpPr txBox="1"/>
          <p:nvPr/>
        </p:nvSpPr>
        <p:spPr>
          <a:xfrm>
            <a:off x="822960" y="4389120"/>
            <a:ext cx="1828800"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Đào tạo số</a:t>
            </a:r>
            <a:endParaRPr lang="en-US" sz="1500" dirty="0"/>
          </a:p>
        </p:txBody>
      </p:sp>
      <p:sp>
        <p:nvSpPr>
          <p:cNvPr id="13" name="Shape 9"/>
          <p:cNvSpPr/>
          <p:nvPr/>
        </p:nvSpPr>
        <p:spPr>
          <a:xfrm>
            <a:off x="2834640" y="4389120"/>
            <a:ext cx="1828800" cy="512064"/>
          </a:xfrm>
          <a:prstGeom prst="roundRect">
            <a:avLst>
              <a:gd name="adj" fmla="val 50000"/>
            </a:avLst>
          </a:prstGeom>
          <a:solidFill>
            <a:srgbClr val="FFFFFF">
              <a:alpha val="10000"/>
            </a:srgbClr>
          </a:solidFill>
          <a:ln w="15875">
            <a:solidFill>
              <a:srgbClr val="A8D84E"/>
            </a:solidFill>
            <a:prstDash val="solid"/>
          </a:ln>
        </p:spPr>
      </p:sp>
      <p:sp>
        <p:nvSpPr>
          <p:cNvPr id="14" name="Text 10"/>
          <p:cNvSpPr txBox="1"/>
          <p:nvPr/>
        </p:nvSpPr>
        <p:spPr>
          <a:xfrm>
            <a:off x="2834640" y="4389120"/>
            <a:ext cx="1828800"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Quản lý số</a:t>
            </a:r>
            <a:endParaRPr lang="en-US" sz="1500" dirty="0"/>
          </a:p>
        </p:txBody>
      </p:sp>
      <p:sp>
        <p:nvSpPr>
          <p:cNvPr id="15" name="Shape 11"/>
          <p:cNvSpPr/>
          <p:nvPr/>
        </p:nvSpPr>
        <p:spPr>
          <a:xfrm>
            <a:off x="4846320" y="4389120"/>
            <a:ext cx="1828800" cy="512064"/>
          </a:xfrm>
          <a:prstGeom prst="roundRect">
            <a:avLst>
              <a:gd name="adj" fmla="val 50000"/>
            </a:avLst>
          </a:prstGeom>
          <a:solidFill>
            <a:srgbClr val="FFFFFF">
              <a:alpha val="10000"/>
            </a:srgbClr>
          </a:solidFill>
          <a:ln w="15875">
            <a:solidFill>
              <a:srgbClr val="A8D84E"/>
            </a:solidFill>
            <a:prstDash val="solid"/>
          </a:ln>
        </p:spPr>
      </p:sp>
      <p:sp>
        <p:nvSpPr>
          <p:cNvPr id="16" name="Text 12"/>
          <p:cNvSpPr txBox="1"/>
          <p:nvPr/>
        </p:nvSpPr>
        <p:spPr>
          <a:xfrm>
            <a:off x="4846320" y="4389120"/>
            <a:ext cx="1828800"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Theo dõi số</a:t>
            </a:r>
            <a:endParaRPr lang="en-US" sz="1500" dirty="0"/>
          </a:p>
        </p:txBody>
      </p:sp>
      <p:sp>
        <p:nvSpPr>
          <p:cNvPr id="17" name="Shape 13"/>
          <p:cNvSpPr/>
          <p:nvPr/>
        </p:nvSpPr>
        <p:spPr>
          <a:xfrm>
            <a:off x="6858000" y="4389120"/>
            <a:ext cx="2377440" cy="512064"/>
          </a:xfrm>
          <a:prstGeom prst="roundRect">
            <a:avLst>
              <a:gd name="adj" fmla="val 50000"/>
            </a:avLst>
          </a:prstGeom>
          <a:solidFill>
            <a:srgbClr val="FFFFFF">
              <a:alpha val="10000"/>
            </a:srgbClr>
          </a:solidFill>
          <a:ln w="15875">
            <a:solidFill>
              <a:srgbClr val="A8D84E"/>
            </a:solidFill>
            <a:prstDash val="solid"/>
          </a:ln>
        </p:spPr>
      </p:sp>
      <p:sp>
        <p:nvSpPr>
          <p:cNvPr id="18" name="Text 14"/>
          <p:cNvSpPr txBox="1"/>
          <p:nvPr/>
        </p:nvSpPr>
        <p:spPr>
          <a:xfrm>
            <a:off x="6858000" y="4389120"/>
            <a:ext cx="2377440"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Đồng hành lâu dài</a:t>
            </a:r>
            <a:endParaRPr lang="en-US" sz="1500" dirty="0"/>
          </a:p>
        </p:txBody>
      </p:sp>
      <p:sp>
        <p:nvSpPr>
          <p:cNvPr id="19" name="Text 15"/>
          <p:cNvSpPr txBox="1"/>
          <p:nvPr/>
        </p:nvSpPr>
        <p:spPr>
          <a:xfrm>
            <a:off x="822960" y="5257800"/>
            <a:ext cx="7772400" cy="731520"/>
          </a:xfrm>
          <a:prstGeom prst="rect">
            <a:avLst/>
          </a:prstGeom>
          <a:noFill/>
          <a:ln/>
        </p:spPr>
        <p:txBody>
          <a:bodyPr wrap="square" lIns="0" tIns="0" rIns="0" bIns="0" rtlCol="0" anchor="t"/>
          <a:lstStyle/>
          <a:p>
            <a:pPr marL="0" indent="0">
              <a:buNone/>
            </a:pPr>
            <a:r>
              <a:rPr lang="en-US" sz="1600" dirty="0">
                <a:solidFill>
                  <a:srgbClr val="B9D3C0"/>
                </a:solidFill>
                <a:latin typeface="Calibri" pitchFamily="34" charset="0"/>
                <a:ea typeface="Calibri" pitchFamily="34" charset="-122"/>
                <a:cs typeface="Calibri" pitchFamily="34" charset="-120"/>
              </a:rPr>
              <a:t>Với hệ thống </a:t>
            </a:r>
            <a:r>
              <a:rPr lang="en-US" sz="1600" b="1" dirty="0">
                <a:solidFill>
                  <a:srgbClr val="FFFFFF"/>
                </a:solidFill>
                <a:latin typeface="Calibri" pitchFamily="34" charset="0"/>
                <a:ea typeface="Calibri" pitchFamily="34" charset="-122"/>
                <a:cs typeface="Calibri" pitchFamily="34" charset="-120"/>
              </a:rPr>
              <a:t>STP E-Learning &amp; Quản lý an toàn doanh nghiệp</a:t>
            </a:r>
            <a:r>
              <a:rPr lang="en-US" sz="1600" dirty="0">
                <a:solidFill>
                  <a:srgbClr val="B9D3C0"/>
                </a:solidFill>
                <a:latin typeface="Calibri" pitchFamily="34" charset="0"/>
                <a:ea typeface="Calibri" pitchFamily="34" charset="-122"/>
                <a:cs typeface="Calibri" pitchFamily="34" charset="-120"/>
              </a:rPr>
              <a:t>, Viện STP mang đến cho doanh nghiệp một cách tiếp cận mới.</a:t>
            </a:r>
            <a:endParaRPr lang="en-US" sz="1600" dirty="0"/>
          </a:p>
        </p:txBody>
      </p:sp>
      <p:sp>
        <p:nvSpPr>
          <p:cNvPr id="20" name="Text 16"/>
          <p:cNvSpPr txBox="1"/>
          <p:nvPr/>
        </p:nvSpPr>
        <p:spPr>
          <a:xfrm>
            <a:off x="822960" y="6080760"/>
            <a:ext cx="8229600" cy="320040"/>
          </a:xfrm>
          <a:prstGeom prst="rect">
            <a:avLst/>
          </a:prstGeom>
          <a:noFill/>
          <a:ln/>
        </p:spPr>
        <p:txBody>
          <a:bodyPr wrap="square" lIns="0" tIns="0" rIns="0" bIns="0" rtlCol="0" anchor="t"/>
          <a:lstStyle/>
          <a:p>
            <a:pPr marL="0" indent="0">
              <a:buNone/>
            </a:pPr>
            <a:r>
              <a:rPr lang="en-US" sz="1200" b="1" kern="0" spc="200" dirty="0">
                <a:solidFill>
                  <a:srgbClr val="A8D84E"/>
                </a:solidFill>
                <a:latin typeface="Arial" pitchFamily="34" charset="0"/>
                <a:ea typeface="Arial" pitchFamily="34" charset="-122"/>
                <a:cs typeface="Arial" pitchFamily="34" charset="-120"/>
              </a:rPr>
              <a:t>VIỆN STP – ĐÀO TẠO AN TOÀN, ĐỒNG HÀNH CÙNG DOANH NGHIỆP</a:t>
            </a:r>
            <a:endParaRPr lang="en-US" sz="12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2E1C"/>
        </a:solidFill>
        <a:effectLst/>
      </p:bgPr>
    </p:bg>
    <p:spTree>
      <p:nvGrpSpPr>
        <p:cNvPr id="1" name=""/>
        <p:cNvGrpSpPr/>
        <p:nvPr/>
      </p:nvGrpSpPr>
      <p:grpSpPr>
        <a:xfrm>
          <a:off x="0" y="0"/>
          <a:ext cx="0" cy="0"/>
          <a:chOff x="0" y="0"/>
          <a:chExt cx="0" cy="0"/>
        </a:xfrm>
      </p:grpSpPr>
      <p:pic>
        <p:nvPicPr>
          <p:cNvPr id="2" name="Image 0" descr="/home/claude/assets/beams_dark.png"/>
          <p:cNvPicPr>
            <a:picLocks noChangeAspect="1"/>
          </p:cNvPicPr>
          <p:nvPr/>
        </p:nvPicPr>
        <p:blipFill>
          <a:blip r:embed="rId3">
            <a:alphaModFix amt="70000"/>
          </a:blip>
          <a:stretch>
            <a:fillRect/>
          </a:stretch>
        </p:blipFill>
        <p:spPr>
          <a:xfrm flipH="1">
            <a:off x="-1828800" y="2011680"/>
            <a:ext cx="9144000" cy="4846320"/>
          </a:xfrm>
          <a:prstGeom prst="rect">
            <a:avLst/>
          </a:prstGeom>
        </p:spPr>
      </p:pic>
      <p:sp>
        <p:nvSpPr>
          <p:cNvPr id="3" name="Text 0"/>
          <p:cNvSpPr txBox="1"/>
          <p:nvPr/>
        </p:nvSpPr>
        <p:spPr>
          <a:xfrm>
            <a:off x="411480" y="411480"/>
            <a:ext cx="5486400" cy="2194560"/>
          </a:xfrm>
          <a:prstGeom prst="rect">
            <a:avLst/>
          </a:prstGeom>
          <a:noFill/>
          <a:ln/>
        </p:spPr>
        <p:txBody>
          <a:bodyPr wrap="square" lIns="0" tIns="0" rIns="0" bIns="0" rtlCol="0" anchor="t"/>
          <a:lstStyle/>
          <a:p>
            <a:pPr marL="0" indent="0">
              <a:buNone/>
            </a:pPr>
            <a:r>
              <a:rPr lang="en-US" sz="15000" b="1" dirty="0">
                <a:solidFill>
                  <a:srgbClr val="1D5C3B"/>
                </a:solidFill>
                <a:latin typeface="Arial" pitchFamily="34" charset="0"/>
                <a:ea typeface="Arial" pitchFamily="34" charset="-122"/>
                <a:cs typeface="Arial" pitchFamily="34" charset="-120"/>
              </a:rPr>
              <a:t>04</a:t>
            </a:r>
            <a:endParaRPr lang="en-US" sz="15000" dirty="0"/>
          </a:p>
        </p:txBody>
      </p:sp>
      <p:sp>
        <p:nvSpPr>
          <p:cNvPr id="4" name="Text 1"/>
          <p:cNvSpPr txBox="1"/>
          <p:nvPr/>
        </p:nvSpPr>
        <p:spPr>
          <a:xfrm>
            <a:off x="566928" y="2697480"/>
            <a:ext cx="4572000" cy="320040"/>
          </a:xfrm>
          <a:prstGeom prst="rect">
            <a:avLst/>
          </a:prstGeom>
          <a:noFill/>
          <a:ln/>
        </p:spPr>
        <p:txBody>
          <a:bodyPr wrap="square" lIns="0" tIns="0" rIns="0" bIns="0" rtlCol="0" anchor="t"/>
          <a:lstStyle/>
          <a:p>
            <a:pPr marL="0" indent="0">
              <a:buNone/>
            </a:pPr>
            <a:r>
              <a:rPr lang="en-US" sz="1400" b="1" kern="0" spc="800" dirty="0">
                <a:solidFill>
                  <a:srgbClr val="A8D84E"/>
                </a:solidFill>
                <a:latin typeface="Arial" pitchFamily="34" charset="0"/>
                <a:ea typeface="Arial" pitchFamily="34" charset="-122"/>
                <a:cs typeface="Arial" pitchFamily="34" charset="-120"/>
              </a:rPr>
              <a:t>PHẦN IV</a:t>
            </a:r>
            <a:endParaRPr lang="en-US" sz="1400" dirty="0"/>
          </a:p>
        </p:txBody>
      </p:sp>
      <p:sp>
        <p:nvSpPr>
          <p:cNvPr id="5" name="Text 2"/>
          <p:cNvSpPr txBox="1"/>
          <p:nvPr/>
        </p:nvSpPr>
        <p:spPr>
          <a:xfrm>
            <a:off x="548640" y="3090672"/>
            <a:ext cx="5394960" cy="1207008"/>
          </a:xfrm>
          <a:prstGeom prst="rect">
            <a:avLst/>
          </a:prstGeom>
          <a:noFill/>
          <a:ln/>
        </p:spPr>
        <p:txBody>
          <a:bodyPr wrap="square" lIns="0" tIns="0" rIns="0" bIns="0" rtlCol="0" anchor="t"/>
          <a:lstStyle/>
          <a:p>
            <a:pPr marL="0" indent="0">
              <a:buNone/>
            </a:pPr>
            <a:r>
              <a:rPr lang="en-US" sz="3600" b="1" dirty="0">
                <a:solidFill>
                  <a:srgbClr val="FFFFFF"/>
                </a:solidFill>
                <a:latin typeface="Arial" pitchFamily="34" charset="0"/>
                <a:ea typeface="Arial" pitchFamily="34" charset="-122"/>
                <a:cs typeface="Arial" pitchFamily="34" charset="-120"/>
              </a:rPr>
              <a:t>HOẠT ĐỘNG HUẤN LUYỆN &amp; LIÊN HỆ</a:t>
            </a:r>
            <a:endParaRPr lang="en-US" sz="3600" dirty="0"/>
          </a:p>
        </p:txBody>
      </p:sp>
      <p:sp>
        <p:nvSpPr>
          <p:cNvPr id="6" name="Text 3"/>
          <p:cNvSpPr txBox="1"/>
          <p:nvPr/>
        </p:nvSpPr>
        <p:spPr>
          <a:xfrm>
            <a:off x="566928" y="4617720"/>
            <a:ext cx="5120640" cy="1097280"/>
          </a:xfrm>
          <a:prstGeom prst="rect">
            <a:avLst/>
          </a:prstGeom>
          <a:noFill/>
          <a:ln/>
        </p:spPr>
        <p:txBody>
          <a:bodyPr wrap="square" lIns="0" tIns="0" rIns="0" bIns="0" rtlCol="0" anchor="t"/>
          <a:lstStyle/>
          <a:p>
            <a:pPr marL="0" indent="0">
              <a:buNone/>
            </a:pPr>
            <a:r>
              <a:rPr lang="en-US" sz="1600" dirty="0">
                <a:solidFill>
                  <a:srgbClr val="B9D3C0"/>
                </a:solidFill>
                <a:latin typeface="Calibri" pitchFamily="34" charset="0"/>
                <a:ea typeface="Calibri" pitchFamily="34" charset="-122"/>
                <a:cs typeface="Calibri" pitchFamily="34" charset="-120"/>
              </a:rPr>
              <a:t>Hình ảnh thực tế tại doanh nghiệp khách hàng và cam kết đồng hành lâu dài</a:t>
            </a:r>
            <a:endParaRPr lang="en-US" sz="1600" dirty="0"/>
          </a:p>
        </p:txBody>
      </p:sp>
      <p:pic>
        <p:nvPicPr>
          <p:cNvPr id="7" name="Image 1" descr="preencoded.png"/>
          <p:cNvPicPr>
            <a:picLocks noChangeAspect="1"/>
          </p:cNvPicPr>
          <p:nvPr/>
        </p:nvPicPr>
        <p:blipFill>
          <a:blip r:embed="rId4"/>
          <a:stretch>
            <a:fillRect/>
          </a:stretch>
        </p:blipFill>
        <p:spPr>
          <a:xfrm>
            <a:off x="6172200" y="685800"/>
            <a:ext cx="2670048" cy="2679192"/>
          </a:xfrm>
          <a:prstGeom prst="rect">
            <a:avLst/>
          </a:prstGeom>
        </p:spPr>
      </p:pic>
      <p:pic>
        <p:nvPicPr>
          <p:cNvPr id="8" name="Image 2" descr="preencoded.png"/>
          <p:cNvPicPr>
            <a:picLocks noChangeAspect="1"/>
          </p:cNvPicPr>
          <p:nvPr/>
        </p:nvPicPr>
        <p:blipFill>
          <a:blip r:embed="rId5"/>
          <a:stretch>
            <a:fillRect/>
          </a:stretch>
        </p:blipFill>
        <p:spPr>
          <a:xfrm>
            <a:off x="8970264" y="685800"/>
            <a:ext cx="2670048" cy="2679192"/>
          </a:xfrm>
          <a:prstGeom prst="rect">
            <a:avLst/>
          </a:prstGeom>
        </p:spPr>
      </p:pic>
      <p:pic>
        <p:nvPicPr>
          <p:cNvPr id="9" name="Image 3" descr="preencoded.png"/>
          <p:cNvPicPr>
            <a:picLocks noChangeAspect="1"/>
          </p:cNvPicPr>
          <p:nvPr/>
        </p:nvPicPr>
        <p:blipFill>
          <a:blip r:embed="rId6"/>
          <a:stretch>
            <a:fillRect/>
          </a:stretch>
        </p:blipFill>
        <p:spPr>
          <a:xfrm>
            <a:off x="6172200" y="3493008"/>
            <a:ext cx="2670048" cy="2679192"/>
          </a:xfrm>
          <a:prstGeom prst="rect">
            <a:avLst/>
          </a:prstGeom>
        </p:spPr>
      </p:pic>
      <p:pic>
        <p:nvPicPr>
          <p:cNvPr id="10" name="Image 4" descr="preencoded.png"/>
          <p:cNvPicPr>
            <a:picLocks noChangeAspect="1"/>
          </p:cNvPicPr>
          <p:nvPr/>
        </p:nvPicPr>
        <p:blipFill>
          <a:blip r:embed="rId7"/>
          <a:stretch>
            <a:fillRect/>
          </a:stretch>
        </p:blipFill>
        <p:spPr>
          <a:xfrm>
            <a:off x="8970264" y="3493008"/>
            <a:ext cx="2670048" cy="2679192"/>
          </a:xfrm>
          <a:prstGeom prst="rect">
            <a:avLst/>
          </a:prstGeom>
        </p:spPr>
      </p:pic>
      <p:sp>
        <p:nvSpPr>
          <p:cNvPr id="11" name="Shape 4"/>
          <p:cNvSpPr/>
          <p:nvPr/>
        </p:nvSpPr>
        <p:spPr>
          <a:xfrm>
            <a:off x="9677095" y="-228600"/>
            <a:ext cx="1965960" cy="566928"/>
          </a:xfrm>
          <a:prstGeom prst="roundRect">
            <a:avLst>
              <a:gd name="adj" fmla="val 25806"/>
            </a:avLst>
          </a:prstGeom>
          <a:solidFill>
            <a:srgbClr val="0F5B34"/>
          </a:solidFill>
          <a:ln/>
        </p:spPr>
      </p:sp>
      <p:sp>
        <p:nvSpPr>
          <p:cNvPr id="12" name="Text 5"/>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A8D84E"/>
                </a:solidFill>
                <a:latin typeface="Arial" pitchFamily="34" charset="0"/>
                <a:ea typeface="Arial" pitchFamily="34" charset="-122"/>
                <a:cs typeface="Arial" pitchFamily="34" charset="-120"/>
              </a:rPr>
              <a:t>STP INSTITUTE</a:t>
            </a:r>
            <a:endParaRPr lang="en-US" sz="950" dirty="0"/>
          </a:p>
        </p:txBody>
      </p:sp>
      <p:sp>
        <p:nvSpPr>
          <p:cNvPr id="13" name="Text 6"/>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B9D3C0"/>
                </a:solidFill>
                <a:latin typeface="Arial" pitchFamily="34" charset="0"/>
                <a:ea typeface="Arial" pitchFamily="34" charset="-122"/>
                <a:cs typeface="Arial" pitchFamily="34" charset="-120"/>
              </a:rPr>
              <a:t>27</a:t>
            </a:r>
            <a:endParaRPr lang="en-US" sz="9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IV · HOẠT ĐỘNG &amp; ĐỐI TÁC</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HOẠT ĐỘNG HUẤN LUYỆN ATLĐ NỔI BẬT</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28</a:t>
            </a:r>
            <a:endParaRPr lang="en-US" sz="900" dirty="0"/>
          </a:p>
        </p:txBody>
      </p:sp>
      <p:sp>
        <p:nvSpPr>
          <p:cNvPr id="8" name="Text 6"/>
          <p:cNvSpPr txBox="1"/>
          <p:nvPr/>
        </p:nvSpPr>
        <p:spPr>
          <a:xfrm>
            <a:off x="548640" y="1261872"/>
            <a:ext cx="11064240" cy="365760"/>
          </a:xfrm>
          <a:prstGeom prst="rect">
            <a:avLst/>
          </a:prstGeom>
          <a:noFill/>
          <a:ln/>
        </p:spPr>
        <p:txBody>
          <a:bodyPr wrap="square" lIns="0" tIns="0" rIns="0" bIns="0" rtlCol="0" anchor="t"/>
          <a:lstStyle/>
          <a:p>
            <a:pPr marL="0" indent="0">
              <a:buNone/>
            </a:pPr>
            <a:r>
              <a:rPr lang="en-US" sz="1450" dirty="0">
                <a:solidFill>
                  <a:srgbClr val="3C4A42"/>
                </a:solidFill>
                <a:latin typeface="Calibri" pitchFamily="34" charset="0"/>
                <a:ea typeface="Calibri" pitchFamily="34" charset="-122"/>
                <a:cs typeface="Calibri" pitchFamily="34" charset="-120"/>
              </a:rPr>
              <a:t>Một số doanh nghiệp đã tin tưởng lựa chọn Viện STP &amp; DAKO</a:t>
            </a:r>
            <a:endParaRPr lang="en-US" sz="1450" dirty="0"/>
          </a:p>
        </p:txBody>
      </p:sp>
      <p:sp>
        <p:nvSpPr>
          <p:cNvPr id="9" name="Shape 7"/>
          <p:cNvSpPr/>
          <p:nvPr/>
        </p:nvSpPr>
        <p:spPr>
          <a:xfrm>
            <a:off x="548640" y="1783080"/>
            <a:ext cx="2615184" cy="2212848"/>
          </a:xfrm>
          <a:prstGeom prst="roundRect">
            <a:avLst>
              <a:gd name="adj" fmla="val 6612"/>
            </a:avLst>
          </a:prstGeom>
          <a:solidFill>
            <a:srgbClr val="FFFFFF"/>
          </a:solidFill>
          <a:ln/>
          <a:effectLst>
            <a:outerShdw blurRad="127000" dist="38100" dir="5400000" algn="bl" rotWithShape="0">
              <a:srgbClr val="0A2E1C">
                <a:alpha val="16000"/>
              </a:srgbClr>
            </a:outerShdw>
          </a:effectLst>
        </p:spPr>
      </p:sp>
      <p:pic>
        <p:nvPicPr>
          <p:cNvPr id="10" name="Image 0" descr="preencoded.png"/>
          <p:cNvPicPr>
            <a:picLocks noChangeAspect="1"/>
          </p:cNvPicPr>
          <p:nvPr/>
        </p:nvPicPr>
        <p:blipFill>
          <a:blip r:embed="rId3"/>
          <a:stretch>
            <a:fillRect/>
          </a:stretch>
        </p:blipFill>
        <p:spPr>
          <a:xfrm>
            <a:off x="548640" y="1783080"/>
            <a:ext cx="2615184" cy="2212848"/>
          </a:xfrm>
          <a:prstGeom prst="rect">
            <a:avLst/>
          </a:prstGeom>
        </p:spPr>
      </p:pic>
      <p:sp>
        <p:nvSpPr>
          <p:cNvPr id="11" name="Text 8"/>
          <p:cNvSpPr txBox="1"/>
          <p:nvPr/>
        </p:nvSpPr>
        <p:spPr>
          <a:xfrm>
            <a:off x="731520" y="3429000"/>
            <a:ext cx="2249424" cy="457200"/>
          </a:xfrm>
          <a:prstGeom prst="rect">
            <a:avLst/>
          </a:prstGeom>
          <a:noFill/>
          <a:ln/>
        </p:spPr>
        <p:txBody>
          <a:bodyPr wrap="square" lIns="0" tIns="0" rIns="0" bIns="0" rtlCol="0" anchor="b"/>
          <a:lstStyle/>
          <a:p>
            <a:pPr marL="0" indent="0">
              <a:buNone/>
            </a:pPr>
            <a:r>
              <a:rPr lang="en-US" sz="1250" b="1" dirty="0">
                <a:solidFill>
                  <a:srgbClr val="FFFFFF"/>
                </a:solidFill>
                <a:latin typeface="Calibri" pitchFamily="34" charset="0"/>
                <a:ea typeface="Calibri" pitchFamily="34" charset="-122"/>
                <a:cs typeface="Calibri" pitchFamily="34" charset="-120"/>
              </a:rPr>
              <a:t>Công ty TNHH SX-TM-DV Asanka</a:t>
            </a:r>
            <a:endParaRPr lang="en-US" sz="1250" dirty="0"/>
          </a:p>
        </p:txBody>
      </p:sp>
      <p:sp>
        <p:nvSpPr>
          <p:cNvPr id="12" name="Shape 9"/>
          <p:cNvSpPr/>
          <p:nvPr/>
        </p:nvSpPr>
        <p:spPr>
          <a:xfrm>
            <a:off x="3374136" y="1783080"/>
            <a:ext cx="2615184" cy="2212848"/>
          </a:xfrm>
          <a:prstGeom prst="roundRect">
            <a:avLst>
              <a:gd name="adj" fmla="val 6612"/>
            </a:avLst>
          </a:prstGeom>
          <a:solidFill>
            <a:srgbClr val="FFFFFF"/>
          </a:solidFill>
          <a:ln/>
          <a:effectLst>
            <a:outerShdw blurRad="127000" dist="38100" dir="5400000" algn="bl" rotWithShape="0">
              <a:srgbClr val="0A2E1C">
                <a:alpha val="16000"/>
              </a:srgbClr>
            </a:outerShdw>
          </a:effectLst>
        </p:spPr>
      </p:sp>
      <p:pic>
        <p:nvPicPr>
          <p:cNvPr id="13" name="Image 1" descr="preencoded.png"/>
          <p:cNvPicPr>
            <a:picLocks noChangeAspect="1"/>
          </p:cNvPicPr>
          <p:nvPr/>
        </p:nvPicPr>
        <p:blipFill>
          <a:blip r:embed="rId4"/>
          <a:stretch>
            <a:fillRect/>
          </a:stretch>
        </p:blipFill>
        <p:spPr>
          <a:xfrm>
            <a:off x="3374136" y="1783080"/>
            <a:ext cx="2615184" cy="2212848"/>
          </a:xfrm>
          <a:prstGeom prst="rect">
            <a:avLst/>
          </a:prstGeom>
        </p:spPr>
      </p:pic>
      <p:sp>
        <p:nvSpPr>
          <p:cNvPr id="14" name="Text 10"/>
          <p:cNvSpPr txBox="1"/>
          <p:nvPr/>
        </p:nvSpPr>
        <p:spPr>
          <a:xfrm>
            <a:off x="3557016" y="3429000"/>
            <a:ext cx="2249424" cy="457200"/>
          </a:xfrm>
          <a:prstGeom prst="rect">
            <a:avLst/>
          </a:prstGeom>
          <a:noFill/>
          <a:ln/>
        </p:spPr>
        <p:txBody>
          <a:bodyPr wrap="square" lIns="0" tIns="0" rIns="0" bIns="0" rtlCol="0" anchor="b"/>
          <a:lstStyle/>
          <a:p>
            <a:pPr marL="0" indent="0">
              <a:buNone/>
            </a:pPr>
            <a:r>
              <a:rPr lang="en-US" sz="1250" b="1" dirty="0">
                <a:solidFill>
                  <a:srgbClr val="FFFFFF"/>
                </a:solidFill>
                <a:latin typeface="Calibri" pitchFamily="34" charset="0"/>
                <a:ea typeface="Calibri" pitchFamily="34" charset="-122"/>
                <a:cs typeface="Calibri" pitchFamily="34" charset="-120"/>
              </a:rPr>
              <a:t>Công ty TNHH Emivest Feedmill V.N</a:t>
            </a:r>
            <a:endParaRPr lang="en-US" sz="1250" dirty="0"/>
          </a:p>
        </p:txBody>
      </p:sp>
      <p:sp>
        <p:nvSpPr>
          <p:cNvPr id="15" name="Shape 11"/>
          <p:cNvSpPr/>
          <p:nvPr/>
        </p:nvSpPr>
        <p:spPr>
          <a:xfrm>
            <a:off x="6199632" y="1783080"/>
            <a:ext cx="2615184" cy="2212848"/>
          </a:xfrm>
          <a:prstGeom prst="roundRect">
            <a:avLst>
              <a:gd name="adj" fmla="val 6612"/>
            </a:avLst>
          </a:prstGeom>
          <a:solidFill>
            <a:srgbClr val="FFFFFF"/>
          </a:solidFill>
          <a:ln/>
          <a:effectLst>
            <a:outerShdw blurRad="127000" dist="38100" dir="5400000" algn="bl" rotWithShape="0">
              <a:srgbClr val="0A2E1C">
                <a:alpha val="16000"/>
              </a:srgbClr>
            </a:outerShdw>
          </a:effectLst>
        </p:spPr>
      </p:sp>
      <p:pic>
        <p:nvPicPr>
          <p:cNvPr id="16" name="Image 2" descr="preencoded.png"/>
          <p:cNvPicPr>
            <a:picLocks noChangeAspect="1"/>
          </p:cNvPicPr>
          <p:nvPr/>
        </p:nvPicPr>
        <p:blipFill>
          <a:blip r:embed="rId5"/>
          <a:stretch>
            <a:fillRect/>
          </a:stretch>
        </p:blipFill>
        <p:spPr>
          <a:xfrm>
            <a:off x="6199632" y="1783080"/>
            <a:ext cx="2615184" cy="2212848"/>
          </a:xfrm>
          <a:prstGeom prst="rect">
            <a:avLst/>
          </a:prstGeom>
        </p:spPr>
      </p:pic>
      <p:sp>
        <p:nvSpPr>
          <p:cNvPr id="17" name="Text 12"/>
          <p:cNvSpPr txBox="1"/>
          <p:nvPr/>
        </p:nvSpPr>
        <p:spPr>
          <a:xfrm>
            <a:off x="6382512" y="3429000"/>
            <a:ext cx="2249424" cy="457200"/>
          </a:xfrm>
          <a:prstGeom prst="rect">
            <a:avLst/>
          </a:prstGeom>
          <a:noFill/>
          <a:ln/>
        </p:spPr>
        <p:txBody>
          <a:bodyPr wrap="square" lIns="0" tIns="0" rIns="0" bIns="0" rtlCol="0" anchor="b"/>
          <a:lstStyle/>
          <a:p>
            <a:pPr marL="0" indent="0">
              <a:buNone/>
            </a:pPr>
            <a:r>
              <a:rPr lang="en-US" sz="1250" b="1" dirty="0">
                <a:solidFill>
                  <a:srgbClr val="FFFFFF"/>
                </a:solidFill>
                <a:latin typeface="Calibri" pitchFamily="34" charset="0"/>
                <a:ea typeface="Calibri" pitchFamily="34" charset="-122"/>
                <a:cs typeface="Calibri" pitchFamily="34" charset="-120"/>
              </a:rPr>
              <a:t>Công ty TNHH Hogetsu Việt Nam</a:t>
            </a:r>
            <a:endParaRPr lang="en-US" sz="1250" dirty="0"/>
          </a:p>
        </p:txBody>
      </p:sp>
      <p:sp>
        <p:nvSpPr>
          <p:cNvPr id="18" name="Shape 13"/>
          <p:cNvSpPr/>
          <p:nvPr/>
        </p:nvSpPr>
        <p:spPr>
          <a:xfrm>
            <a:off x="9025128" y="1783080"/>
            <a:ext cx="2615184" cy="2212848"/>
          </a:xfrm>
          <a:prstGeom prst="roundRect">
            <a:avLst>
              <a:gd name="adj" fmla="val 6612"/>
            </a:avLst>
          </a:prstGeom>
          <a:solidFill>
            <a:srgbClr val="FFFFFF"/>
          </a:solidFill>
          <a:ln/>
          <a:effectLst>
            <a:outerShdw blurRad="127000" dist="38100" dir="5400000" algn="bl" rotWithShape="0">
              <a:srgbClr val="0A2E1C">
                <a:alpha val="16000"/>
              </a:srgbClr>
            </a:outerShdw>
          </a:effectLst>
        </p:spPr>
      </p:sp>
      <p:pic>
        <p:nvPicPr>
          <p:cNvPr id="19" name="Image 3" descr="preencoded.png"/>
          <p:cNvPicPr>
            <a:picLocks noChangeAspect="1"/>
          </p:cNvPicPr>
          <p:nvPr/>
        </p:nvPicPr>
        <p:blipFill>
          <a:blip r:embed="rId6"/>
          <a:stretch>
            <a:fillRect/>
          </a:stretch>
        </p:blipFill>
        <p:spPr>
          <a:xfrm>
            <a:off x="9025128" y="1783080"/>
            <a:ext cx="2615184" cy="2212848"/>
          </a:xfrm>
          <a:prstGeom prst="rect">
            <a:avLst/>
          </a:prstGeom>
        </p:spPr>
      </p:pic>
      <p:sp>
        <p:nvSpPr>
          <p:cNvPr id="20" name="Text 14"/>
          <p:cNvSpPr txBox="1"/>
          <p:nvPr/>
        </p:nvSpPr>
        <p:spPr>
          <a:xfrm>
            <a:off x="9208008" y="3429000"/>
            <a:ext cx="2249424" cy="457200"/>
          </a:xfrm>
          <a:prstGeom prst="rect">
            <a:avLst/>
          </a:prstGeom>
          <a:noFill/>
          <a:ln/>
        </p:spPr>
        <p:txBody>
          <a:bodyPr wrap="square" lIns="0" tIns="0" rIns="0" bIns="0" rtlCol="0" anchor="b"/>
          <a:lstStyle/>
          <a:p>
            <a:pPr marL="0" indent="0">
              <a:buNone/>
            </a:pPr>
            <a:r>
              <a:rPr lang="en-US" sz="1250" b="1" dirty="0">
                <a:solidFill>
                  <a:srgbClr val="FFFFFF"/>
                </a:solidFill>
                <a:latin typeface="Calibri" pitchFamily="34" charset="0"/>
                <a:ea typeface="Calibri" pitchFamily="34" charset="-122"/>
                <a:cs typeface="Calibri" pitchFamily="34" charset="-120"/>
              </a:rPr>
              <a:t>Công ty TNHH Thang máy Pacific</a:t>
            </a:r>
            <a:endParaRPr lang="en-US" sz="1250" dirty="0"/>
          </a:p>
        </p:txBody>
      </p:sp>
      <p:sp>
        <p:nvSpPr>
          <p:cNvPr id="21" name="Shape 15"/>
          <p:cNvSpPr/>
          <p:nvPr/>
        </p:nvSpPr>
        <p:spPr>
          <a:xfrm>
            <a:off x="548640" y="4178808"/>
            <a:ext cx="2615184" cy="2212848"/>
          </a:xfrm>
          <a:prstGeom prst="roundRect">
            <a:avLst>
              <a:gd name="adj" fmla="val 6612"/>
            </a:avLst>
          </a:prstGeom>
          <a:solidFill>
            <a:srgbClr val="FFFFFF"/>
          </a:solidFill>
          <a:ln/>
          <a:effectLst>
            <a:outerShdw blurRad="127000" dist="38100" dir="5400000" algn="bl" rotWithShape="0">
              <a:srgbClr val="0A2E1C">
                <a:alpha val="16000"/>
              </a:srgbClr>
            </a:outerShdw>
          </a:effectLst>
        </p:spPr>
      </p:sp>
      <p:pic>
        <p:nvPicPr>
          <p:cNvPr id="22" name="Image 4" descr="preencoded.png"/>
          <p:cNvPicPr>
            <a:picLocks noChangeAspect="1"/>
          </p:cNvPicPr>
          <p:nvPr/>
        </p:nvPicPr>
        <p:blipFill>
          <a:blip r:embed="rId7"/>
          <a:stretch>
            <a:fillRect/>
          </a:stretch>
        </p:blipFill>
        <p:spPr>
          <a:xfrm>
            <a:off x="548640" y="4178808"/>
            <a:ext cx="2615184" cy="2212848"/>
          </a:xfrm>
          <a:prstGeom prst="rect">
            <a:avLst/>
          </a:prstGeom>
        </p:spPr>
      </p:pic>
      <p:sp>
        <p:nvSpPr>
          <p:cNvPr id="23" name="Text 16"/>
          <p:cNvSpPr txBox="1"/>
          <p:nvPr/>
        </p:nvSpPr>
        <p:spPr>
          <a:xfrm>
            <a:off x="731520" y="5824728"/>
            <a:ext cx="2249424" cy="457200"/>
          </a:xfrm>
          <a:prstGeom prst="rect">
            <a:avLst/>
          </a:prstGeom>
          <a:noFill/>
          <a:ln/>
        </p:spPr>
        <p:txBody>
          <a:bodyPr wrap="square" lIns="0" tIns="0" rIns="0" bIns="0" rtlCol="0" anchor="b"/>
          <a:lstStyle/>
          <a:p>
            <a:pPr marL="0" indent="0">
              <a:buNone/>
            </a:pPr>
            <a:r>
              <a:rPr lang="en-US" sz="1250" b="1" dirty="0">
                <a:solidFill>
                  <a:srgbClr val="FFFFFF"/>
                </a:solidFill>
                <a:latin typeface="Calibri" pitchFamily="34" charset="0"/>
                <a:ea typeface="Calibri" pitchFamily="34" charset="-122"/>
                <a:cs typeface="Calibri" pitchFamily="34" charset="-120"/>
              </a:rPr>
              <a:t>Công ty Cổ phần đầu tư HT Vina</a:t>
            </a:r>
            <a:endParaRPr lang="en-US" sz="1250" dirty="0"/>
          </a:p>
        </p:txBody>
      </p:sp>
      <p:sp>
        <p:nvSpPr>
          <p:cNvPr id="24" name="Shape 17"/>
          <p:cNvSpPr/>
          <p:nvPr/>
        </p:nvSpPr>
        <p:spPr>
          <a:xfrm>
            <a:off x="3374136" y="4178808"/>
            <a:ext cx="2615184" cy="2212848"/>
          </a:xfrm>
          <a:prstGeom prst="roundRect">
            <a:avLst>
              <a:gd name="adj" fmla="val 6612"/>
            </a:avLst>
          </a:prstGeom>
          <a:solidFill>
            <a:srgbClr val="FFFFFF"/>
          </a:solidFill>
          <a:ln/>
          <a:effectLst>
            <a:outerShdw blurRad="127000" dist="38100" dir="5400000" algn="bl" rotWithShape="0">
              <a:srgbClr val="0A2E1C">
                <a:alpha val="16000"/>
              </a:srgbClr>
            </a:outerShdw>
          </a:effectLst>
        </p:spPr>
      </p:sp>
      <p:pic>
        <p:nvPicPr>
          <p:cNvPr id="25" name="Image 5" descr="preencoded.png"/>
          <p:cNvPicPr>
            <a:picLocks noChangeAspect="1"/>
          </p:cNvPicPr>
          <p:nvPr/>
        </p:nvPicPr>
        <p:blipFill>
          <a:blip r:embed="rId8"/>
          <a:stretch>
            <a:fillRect/>
          </a:stretch>
        </p:blipFill>
        <p:spPr>
          <a:xfrm>
            <a:off x="3374136" y="4178808"/>
            <a:ext cx="2615184" cy="2212848"/>
          </a:xfrm>
          <a:prstGeom prst="rect">
            <a:avLst/>
          </a:prstGeom>
        </p:spPr>
      </p:pic>
      <p:sp>
        <p:nvSpPr>
          <p:cNvPr id="26" name="Text 18"/>
          <p:cNvSpPr txBox="1"/>
          <p:nvPr/>
        </p:nvSpPr>
        <p:spPr>
          <a:xfrm>
            <a:off x="3557016" y="5824728"/>
            <a:ext cx="2249424" cy="457200"/>
          </a:xfrm>
          <a:prstGeom prst="rect">
            <a:avLst/>
          </a:prstGeom>
          <a:noFill/>
          <a:ln/>
        </p:spPr>
        <p:txBody>
          <a:bodyPr wrap="square" lIns="0" tIns="0" rIns="0" bIns="0" rtlCol="0" anchor="b"/>
          <a:lstStyle/>
          <a:p>
            <a:pPr marL="0" indent="0">
              <a:buNone/>
            </a:pPr>
            <a:r>
              <a:rPr lang="en-US" sz="1250" b="1" dirty="0">
                <a:solidFill>
                  <a:srgbClr val="FFFFFF"/>
                </a:solidFill>
                <a:latin typeface="Calibri" pitchFamily="34" charset="0"/>
                <a:ea typeface="Calibri" pitchFamily="34" charset="-122"/>
                <a:cs typeface="Calibri" pitchFamily="34" charset="-120"/>
              </a:rPr>
              <a:t>Công ty TNHH Toyota Thanh Xuân</a:t>
            </a:r>
            <a:endParaRPr lang="en-US" sz="1250" dirty="0"/>
          </a:p>
        </p:txBody>
      </p:sp>
      <p:sp>
        <p:nvSpPr>
          <p:cNvPr id="27" name="Shape 19"/>
          <p:cNvSpPr/>
          <p:nvPr/>
        </p:nvSpPr>
        <p:spPr>
          <a:xfrm>
            <a:off x="6199632" y="4178808"/>
            <a:ext cx="2615184" cy="2212848"/>
          </a:xfrm>
          <a:prstGeom prst="roundRect">
            <a:avLst>
              <a:gd name="adj" fmla="val 6612"/>
            </a:avLst>
          </a:prstGeom>
          <a:solidFill>
            <a:srgbClr val="FFFFFF"/>
          </a:solidFill>
          <a:ln/>
          <a:effectLst>
            <a:outerShdw blurRad="127000" dist="38100" dir="5400000" algn="bl" rotWithShape="0">
              <a:srgbClr val="0A2E1C">
                <a:alpha val="16000"/>
              </a:srgbClr>
            </a:outerShdw>
          </a:effectLst>
        </p:spPr>
      </p:sp>
      <p:pic>
        <p:nvPicPr>
          <p:cNvPr id="28" name="Image 6" descr="preencoded.png"/>
          <p:cNvPicPr>
            <a:picLocks noChangeAspect="1"/>
          </p:cNvPicPr>
          <p:nvPr/>
        </p:nvPicPr>
        <p:blipFill>
          <a:blip r:embed="rId9"/>
          <a:stretch>
            <a:fillRect/>
          </a:stretch>
        </p:blipFill>
        <p:spPr>
          <a:xfrm>
            <a:off x="6199632" y="4178808"/>
            <a:ext cx="2615184" cy="2212848"/>
          </a:xfrm>
          <a:prstGeom prst="rect">
            <a:avLst/>
          </a:prstGeom>
        </p:spPr>
      </p:pic>
      <p:sp>
        <p:nvSpPr>
          <p:cNvPr id="29" name="Text 20"/>
          <p:cNvSpPr txBox="1"/>
          <p:nvPr/>
        </p:nvSpPr>
        <p:spPr>
          <a:xfrm>
            <a:off x="6382512" y="5824728"/>
            <a:ext cx="2249424" cy="457200"/>
          </a:xfrm>
          <a:prstGeom prst="rect">
            <a:avLst/>
          </a:prstGeom>
          <a:noFill/>
          <a:ln/>
        </p:spPr>
        <p:txBody>
          <a:bodyPr wrap="square" lIns="0" tIns="0" rIns="0" bIns="0" rtlCol="0" anchor="b"/>
          <a:lstStyle/>
          <a:p>
            <a:pPr marL="0" indent="0">
              <a:buNone/>
            </a:pPr>
            <a:r>
              <a:rPr lang="en-US" sz="1250" b="1" dirty="0">
                <a:solidFill>
                  <a:srgbClr val="FFFFFF"/>
                </a:solidFill>
                <a:latin typeface="Calibri" pitchFamily="34" charset="0"/>
                <a:ea typeface="Calibri" pitchFamily="34" charset="-122"/>
                <a:cs typeface="Calibri" pitchFamily="34" charset="-120"/>
              </a:rPr>
              <a:t>Công ty TNHH TM-DV-XNK Vina T&amp;T</a:t>
            </a:r>
            <a:endParaRPr lang="en-US" sz="1250" dirty="0"/>
          </a:p>
        </p:txBody>
      </p:sp>
      <p:sp>
        <p:nvSpPr>
          <p:cNvPr id="30" name="Shape 21"/>
          <p:cNvSpPr/>
          <p:nvPr/>
        </p:nvSpPr>
        <p:spPr>
          <a:xfrm>
            <a:off x="9025128" y="4178808"/>
            <a:ext cx="2615184" cy="2212848"/>
          </a:xfrm>
          <a:prstGeom prst="roundRect">
            <a:avLst>
              <a:gd name="adj" fmla="val 6612"/>
            </a:avLst>
          </a:prstGeom>
          <a:solidFill>
            <a:srgbClr val="FFFFFF"/>
          </a:solidFill>
          <a:ln/>
          <a:effectLst>
            <a:outerShdw blurRad="127000" dist="38100" dir="5400000" algn="bl" rotWithShape="0">
              <a:srgbClr val="0A2E1C">
                <a:alpha val="16000"/>
              </a:srgbClr>
            </a:outerShdw>
          </a:effectLst>
        </p:spPr>
      </p:sp>
      <p:pic>
        <p:nvPicPr>
          <p:cNvPr id="31" name="Image 7" descr="preencoded.png"/>
          <p:cNvPicPr>
            <a:picLocks noChangeAspect="1"/>
          </p:cNvPicPr>
          <p:nvPr/>
        </p:nvPicPr>
        <p:blipFill>
          <a:blip r:embed="rId10"/>
          <a:stretch>
            <a:fillRect/>
          </a:stretch>
        </p:blipFill>
        <p:spPr>
          <a:xfrm>
            <a:off x="9025128" y="4178808"/>
            <a:ext cx="2615184" cy="2212848"/>
          </a:xfrm>
          <a:prstGeom prst="rect">
            <a:avLst/>
          </a:prstGeom>
        </p:spPr>
      </p:pic>
      <p:sp>
        <p:nvSpPr>
          <p:cNvPr id="32" name="Text 22"/>
          <p:cNvSpPr txBox="1"/>
          <p:nvPr/>
        </p:nvSpPr>
        <p:spPr>
          <a:xfrm>
            <a:off x="9208008" y="5824728"/>
            <a:ext cx="2249424" cy="457200"/>
          </a:xfrm>
          <a:prstGeom prst="rect">
            <a:avLst/>
          </a:prstGeom>
          <a:noFill/>
          <a:ln/>
        </p:spPr>
        <p:txBody>
          <a:bodyPr wrap="square" lIns="0" tIns="0" rIns="0" bIns="0" rtlCol="0" anchor="b"/>
          <a:lstStyle/>
          <a:p>
            <a:pPr marL="0" indent="0">
              <a:buNone/>
            </a:pPr>
            <a:r>
              <a:rPr lang="en-US" sz="1250" b="1" dirty="0">
                <a:solidFill>
                  <a:srgbClr val="FFFFFF"/>
                </a:solidFill>
                <a:latin typeface="Calibri" pitchFamily="34" charset="0"/>
                <a:ea typeface="Calibri" pitchFamily="34" charset="-122"/>
                <a:cs typeface="Calibri" pitchFamily="34" charset="-120"/>
              </a:rPr>
              <a:t>Công ty TNHH P.Dussmann Việt Nam</a:t>
            </a:r>
            <a:endParaRPr lang="en-US" sz="125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448056"/>
            <a:ext cx="128016" cy="128016"/>
          </a:xfrm>
          <a:prstGeom prst="roundRect">
            <a:avLst>
              <a:gd name="adj" fmla="val 21429"/>
            </a:avLst>
          </a:prstGeom>
          <a:solidFill>
            <a:srgbClr val="3DB54A"/>
          </a:solidFill>
          <a:ln/>
        </p:spPr>
      </p:sp>
      <p:sp>
        <p:nvSpPr>
          <p:cNvPr id="3" name="Text 1"/>
          <p:cNvSpPr txBox="1"/>
          <p:nvPr/>
        </p:nvSpPr>
        <p:spPr>
          <a:xfrm>
            <a:off x="768096" y="384048"/>
            <a:ext cx="8229600" cy="256032"/>
          </a:xfrm>
          <a:prstGeom prst="rect">
            <a:avLst/>
          </a:prstGeom>
          <a:noFill/>
          <a:ln/>
        </p:spPr>
        <p:txBody>
          <a:bodyPr wrap="square" lIns="0" tIns="0" rIns="0" bIns="0" rtlCol="0" anchor="ctr"/>
          <a:lstStyle/>
          <a:p>
            <a:pPr marL="0" indent="0">
              <a:buNone/>
            </a:pPr>
            <a:r>
              <a:rPr lang="en-US" sz="1050" b="1" kern="0" spc="250" dirty="0">
                <a:solidFill>
                  <a:srgbClr val="1E8C45"/>
                </a:solidFill>
                <a:latin typeface="Arial" pitchFamily="34" charset="0"/>
                <a:ea typeface="Arial" pitchFamily="34" charset="-122"/>
                <a:cs typeface="Arial" pitchFamily="34" charset="-120"/>
              </a:rPr>
              <a:t>IV · HOẠT ĐỘNG &amp; ĐỐI TÁC</a:t>
            </a:r>
            <a:endParaRPr lang="en-US" sz="1050" dirty="0"/>
          </a:p>
        </p:txBody>
      </p:sp>
      <p:sp>
        <p:nvSpPr>
          <p:cNvPr id="4" name="Text 2"/>
          <p:cNvSpPr txBox="1"/>
          <p:nvPr/>
        </p:nvSpPr>
        <p:spPr>
          <a:xfrm>
            <a:off x="548640" y="676656"/>
            <a:ext cx="11064240" cy="548640"/>
          </a:xfrm>
          <a:prstGeom prst="rect">
            <a:avLst/>
          </a:prstGeom>
          <a:noFill/>
          <a:ln/>
        </p:spPr>
        <p:txBody>
          <a:bodyPr wrap="square" lIns="0" tIns="0" rIns="0" bIns="0" rtlCol="0" anchor="t"/>
          <a:lstStyle/>
          <a:p>
            <a:pPr marL="0" indent="0">
              <a:buNone/>
            </a:pPr>
            <a:r>
              <a:rPr lang="en-US" sz="2800" b="1" dirty="0">
                <a:solidFill>
                  <a:srgbClr val="17261D"/>
                </a:solidFill>
                <a:latin typeface="Arial" pitchFamily="34" charset="0"/>
                <a:ea typeface="Arial" pitchFamily="34" charset="-122"/>
                <a:cs typeface="Arial" pitchFamily="34" charset="-120"/>
              </a:rPr>
              <a:t>VÌ SAO NÊN HỢP TÁC VỚI VIỆN STP</a:t>
            </a:r>
            <a:endParaRPr lang="en-US" sz="2800" dirty="0"/>
          </a:p>
        </p:txBody>
      </p:sp>
      <p:sp>
        <p:nvSpPr>
          <p:cNvPr id="5" name="Shape 3"/>
          <p:cNvSpPr/>
          <p:nvPr/>
        </p:nvSpPr>
        <p:spPr>
          <a:xfrm>
            <a:off x="9677095" y="-228600"/>
            <a:ext cx="1965960" cy="566928"/>
          </a:xfrm>
          <a:prstGeom prst="roundRect">
            <a:avLst>
              <a:gd name="adj" fmla="val 25806"/>
            </a:avLst>
          </a:prstGeom>
          <a:solidFill>
            <a:srgbClr val="1E8C45"/>
          </a:solidFill>
          <a:ln/>
        </p:spPr>
      </p:sp>
      <p:sp>
        <p:nvSpPr>
          <p:cNvPr id="6" name="Text 4"/>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FFFFFF"/>
                </a:solidFill>
                <a:latin typeface="Arial" pitchFamily="34" charset="0"/>
                <a:ea typeface="Arial" pitchFamily="34" charset="-122"/>
                <a:cs typeface="Arial" pitchFamily="34" charset="-120"/>
              </a:rPr>
              <a:t>STP INSTITUTE</a:t>
            </a:r>
            <a:endParaRPr lang="en-US" sz="950" dirty="0"/>
          </a:p>
        </p:txBody>
      </p:sp>
      <p:sp>
        <p:nvSpPr>
          <p:cNvPr id="7" name="Text 5"/>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7A877F"/>
                </a:solidFill>
                <a:latin typeface="Arial" pitchFamily="34" charset="0"/>
                <a:ea typeface="Arial" pitchFamily="34" charset="-122"/>
                <a:cs typeface="Arial" pitchFamily="34" charset="-120"/>
              </a:rPr>
              <a:t>29</a:t>
            </a:r>
            <a:endParaRPr lang="en-US" sz="900" dirty="0"/>
          </a:p>
        </p:txBody>
      </p:sp>
      <p:sp>
        <p:nvSpPr>
          <p:cNvPr id="8" name="Shape 6"/>
          <p:cNvSpPr/>
          <p:nvPr/>
        </p:nvSpPr>
        <p:spPr>
          <a:xfrm>
            <a:off x="548640" y="1417320"/>
            <a:ext cx="4160520" cy="4937760"/>
          </a:xfrm>
          <a:prstGeom prst="roundRect">
            <a:avLst>
              <a:gd name="adj" fmla="val 4396"/>
            </a:avLst>
          </a:prstGeom>
          <a:solidFill>
            <a:srgbClr val="FFFFFF"/>
          </a:solidFill>
          <a:ln/>
          <a:effectLst>
            <a:outerShdw blurRad="152400" dist="38100" dir="5400000" algn="bl" rotWithShape="0">
              <a:srgbClr val="0A2E1C">
                <a:alpha val="16000"/>
              </a:srgbClr>
            </a:outerShdw>
          </a:effectLst>
        </p:spPr>
      </p:sp>
      <p:pic>
        <p:nvPicPr>
          <p:cNvPr id="9" name="Image 0" descr="preencoded.png"/>
          <p:cNvPicPr>
            <a:picLocks noChangeAspect="1"/>
          </p:cNvPicPr>
          <p:nvPr/>
        </p:nvPicPr>
        <p:blipFill>
          <a:blip r:embed="rId3"/>
          <a:stretch>
            <a:fillRect/>
          </a:stretch>
        </p:blipFill>
        <p:spPr>
          <a:xfrm>
            <a:off x="548640" y="1417320"/>
            <a:ext cx="4160520" cy="4937760"/>
          </a:xfrm>
          <a:prstGeom prst="rect">
            <a:avLst/>
          </a:prstGeom>
        </p:spPr>
      </p:pic>
      <p:sp>
        <p:nvSpPr>
          <p:cNvPr id="10" name="Text 7"/>
          <p:cNvSpPr txBox="1"/>
          <p:nvPr/>
        </p:nvSpPr>
        <p:spPr>
          <a:xfrm>
            <a:off x="868680" y="4892040"/>
            <a:ext cx="3657600" cy="457200"/>
          </a:xfrm>
          <a:prstGeom prst="rect">
            <a:avLst/>
          </a:prstGeom>
          <a:noFill/>
          <a:ln/>
        </p:spPr>
        <p:txBody>
          <a:bodyPr wrap="square" lIns="0" tIns="0" rIns="0" bIns="0" rtlCol="0" anchor="t"/>
          <a:lstStyle/>
          <a:p>
            <a:pPr marL="0" indent="0">
              <a:buNone/>
            </a:pPr>
            <a:r>
              <a:rPr lang="en-US" sz="2400" b="1" dirty="0">
                <a:solidFill>
                  <a:srgbClr val="FFFFFF"/>
                </a:solidFill>
                <a:latin typeface="Arial" pitchFamily="34" charset="0"/>
                <a:ea typeface="Arial" pitchFamily="34" charset="-122"/>
                <a:cs typeface="Arial" pitchFamily="34" charset="-120"/>
              </a:rPr>
              <a:t>GIÁ TRỊ TÍCH LŨY</a:t>
            </a:r>
            <a:endParaRPr lang="en-US" sz="2400" dirty="0"/>
          </a:p>
        </p:txBody>
      </p:sp>
      <p:sp>
        <p:nvSpPr>
          <p:cNvPr id="11" name="Text 8"/>
          <p:cNvSpPr txBox="1"/>
          <p:nvPr/>
        </p:nvSpPr>
        <p:spPr>
          <a:xfrm>
            <a:off x="868680" y="5349240"/>
            <a:ext cx="3657600" cy="640080"/>
          </a:xfrm>
          <a:prstGeom prst="rect">
            <a:avLst/>
          </a:prstGeom>
          <a:noFill/>
          <a:ln/>
        </p:spPr>
        <p:txBody>
          <a:bodyPr wrap="square" lIns="0" tIns="0" rIns="0" bIns="0" rtlCol="0" anchor="t"/>
          <a:lstStyle/>
          <a:p>
            <a:pPr marL="0" indent="0">
              <a:buNone/>
            </a:pPr>
            <a:r>
              <a:rPr lang="en-US" sz="3600" b="1" dirty="0">
                <a:solidFill>
                  <a:srgbClr val="A8D84E"/>
                </a:solidFill>
                <a:latin typeface="Arial" pitchFamily="34" charset="0"/>
                <a:ea typeface="Arial" pitchFamily="34" charset="-122"/>
                <a:cs typeface="Arial" pitchFamily="34" charset="-120"/>
              </a:rPr>
              <a:t>NIỀM TIN</a:t>
            </a:r>
            <a:endParaRPr lang="en-US" sz="3600" dirty="0"/>
          </a:p>
        </p:txBody>
      </p:sp>
      <p:sp>
        <p:nvSpPr>
          <p:cNvPr id="12" name="Shape 9"/>
          <p:cNvSpPr/>
          <p:nvPr/>
        </p:nvSpPr>
        <p:spPr>
          <a:xfrm>
            <a:off x="5074920" y="1417320"/>
            <a:ext cx="6565392" cy="1133856"/>
          </a:xfrm>
          <a:prstGeom prst="roundRect">
            <a:avLst>
              <a:gd name="adj" fmla="val 12903"/>
            </a:avLst>
          </a:prstGeom>
          <a:solidFill>
            <a:srgbClr val="FFFFFF"/>
          </a:solidFill>
          <a:ln/>
          <a:effectLst>
            <a:outerShdw blurRad="101600" dist="25400" dir="5400000" algn="bl" rotWithShape="0">
              <a:srgbClr val="0A2E1C">
                <a:alpha val="12000"/>
              </a:srgbClr>
            </a:outerShdw>
          </a:effectLst>
        </p:spPr>
      </p:sp>
      <p:sp>
        <p:nvSpPr>
          <p:cNvPr id="13" name="Text 10"/>
          <p:cNvSpPr txBox="1"/>
          <p:nvPr/>
        </p:nvSpPr>
        <p:spPr>
          <a:xfrm>
            <a:off x="5303520" y="1417320"/>
            <a:ext cx="868680" cy="1133856"/>
          </a:xfrm>
          <a:prstGeom prst="rect">
            <a:avLst/>
          </a:prstGeom>
          <a:noFill/>
          <a:ln/>
        </p:spPr>
        <p:txBody>
          <a:bodyPr wrap="square" lIns="0" tIns="0" rIns="0" bIns="0" rtlCol="0" anchor="ctr"/>
          <a:lstStyle/>
          <a:p>
            <a:pPr marL="0" indent="0">
              <a:buNone/>
            </a:pPr>
            <a:r>
              <a:rPr lang="en-US" sz="2800" b="1" dirty="0">
                <a:solidFill>
                  <a:srgbClr val="3DB54A"/>
                </a:solidFill>
                <a:latin typeface="Arial" pitchFamily="34" charset="0"/>
                <a:ea typeface="Arial" pitchFamily="34" charset="-122"/>
                <a:cs typeface="Arial" pitchFamily="34" charset="-120"/>
              </a:rPr>
              <a:t>01</a:t>
            </a:r>
            <a:endParaRPr lang="en-US" sz="2800" dirty="0"/>
          </a:p>
        </p:txBody>
      </p:sp>
      <p:sp>
        <p:nvSpPr>
          <p:cNvPr id="14" name="Text 11"/>
          <p:cNvSpPr txBox="1"/>
          <p:nvPr/>
        </p:nvSpPr>
        <p:spPr>
          <a:xfrm>
            <a:off x="6217920" y="1545336"/>
            <a:ext cx="5239512" cy="310896"/>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CUNG CẤP NHIỀU DỊCH VỤ CÙNG LÚC</a:t>
            </a:r>
            <a:endParaRPr lang="en-US" sz="1400" dirty="0"/>
          </a:p>
        </p:txBody>
      </p:sp>
      <p:sp>
        <p:nvSpPr>
          <p:cNvPr id="15" name="Text 12"/>
          <p:cNvSpPr txBox="1"/>
          <p:nvPr/>
        </p:nvSpPr>
        <p:spPr>
          <a:xfrm>
            <a:off x="6217920" y="1874520"/>
            <a:ext cx="5239512" cy="603504"/>
          </a:xfrm>
          <a:prstGeom prst="rect">
            <a:avLst/>
          </a:prstGeom>
          <a:noFill/>
          <a:ln/>
        </p:spPr>
        <p:txBody>
          <a:bodyPr wrap="square" lIns="0" tIns="0" rIns="0" bIns="0" rtlCol="0" anchor="t"/>
          <a:lstStyle/>
          <a:p>
            <a:pPr marL="0" indent="0">
              <a:buNone/>
            </a:pPr>
            <a:r>
              <a:rPr lang="en-US" sz="1300" dirty="0">
                <a:solidFill>
                  <a:srgbClr val="3C4A42"/>
                </a:solidFill>
                <a:latin typeface="Calibri" pitchFamily="34" charset="0"/>
                <a:ea typeface="Calibri" pitchFamily="34" charset="-122"/>
                <a:cs typeface="Calibri" pitchFamily="34" charset="-120"/>
              </a:rPr>
              <a:t>Huấn luyện ATVSLĐ, giáo dục nghề nghiệp, kiểm định kỹ thuật an toàn, hiệu chuẩn – kiểm định thiết bị, quan trắc môi trường lao động.</a:t>
            </a:r>
            <a:endParaRPr lang="en-US" sz="1300" dirty="0"/>
          </a:p>
        </p:txBody>
      </p:sp>
      <p:sp>
        <p:nvSpPr>
          <p:cNvPr id="16" name="Shape 13"/>
          <p:cNvSpPr/>
          <p:nvPr/>
        </p:nvSpPr>
        <p:spPr>
          <a:xfrm>
            <a:off x="5074920" y="2679192"/>
            <a:ext cx="6565392" cy="1133856"/>
          </a:xfrm>
          <a:prstGeom prst="roundRect">
            <a:avLst>
              <a:gd name="adj" fmla="val 12903"/>
            </a:avLst>
          </a:prstGeom>
          <a:solidFill>
            <a:srgbClr val="FFFFFF"/>
          </a:solidFill>
          <a:ln/>
          <a:effectLst>
            <a:outerShdw blurRad="101600" dist="25400" dir="5400000" algn="bl" rotWithShape="0">
              <a:srgbClr val="0A2E1C">
                <a:alpha val="12000"/>
              </a:srgbClr>
            </a:outerShdw>
          </a:effectLst>
        </p:spPr>
      </p:sp>
      <p:sp>
        <p:nvSpPr>
          <p:cNvPr id="17" name="Text 14"/>
          <p:cNvSpPr txBox="1"/>
          <p:nvPr/>
        </p:nvSpPr>
        <p:spPr>
          <a:xfrm>
            <a:off x="5303520" y="2679192"/>
            <a:ext cx="868680" cy="1133856"/>
          </a:xfrm>
          <a:prstGeom prst="rect">
            <a:avLst/>
          </a:prstGeom>
          <a:noFill/>
          <a:ln/>
        </p:spPr>
        <p:txBody>
          <a:bodyPr wrap="square" lIns="0" tIns="0" rIns="0" bIns="0" rtlCol="0" anchor="ctr"/>
          <a:lstStyle/>
          <a:p>
            <a:pPr marL="0" indent="0">
              <a:buNone/>
            </a:pPr>
            <a:r>
              <a:rPr lang="en-US" sz="2800" b="1" dirty="0">
                <a:solidFill>
                  <a:srgbClr val="3DB54A"/>
                </a:solidFill>
                <a:latin typeface="Arial" pitchFamily="34" charset="0"/>
                <a:ea typeface="Arial" pitchFamily="34" charset="-122"/>
                <a:cs typeface="Arial" pitchFamily="34" charset="-120"/>
              </a:rPr>
              <a:t>02</a:t>
            </a:r>
            <a:endParaRPr lang="en-US" sz="2800" dirty="0"/>
          </a:p>
        </p:txBody>
      </p:sp>
      <p:sp>
        <p:nvSpPr>
          <p:cNvPr id="18" name="Text 15"/>
          <p:cNvSpPr txBox="1"/>
          <p:nvPr/>
        </p:nvSpPr>
        <p:spPr>
          <a:xfrm>
            <a:off x="6217920" y="2807208"/>
            <a:ext cx="5239512" cy="310896"/>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TRÁCH NHIỆM LÀ UY TÍN DỊCH VỤ</a:t>
            </a:r>
            <a:endParaRPr lang="en-US" sz="1400" dirty="0"/>
          </a:p>
        </p:txBody>
      </p:sp>
      <p:sp>
        <p:nvSpPr>
          <p:cNvPr id="19" name="Text 16"/>
          <p:cNvSpPr txBox="1"/>
          <p:nvPr/>
        </p:nvSpPr>
        <p:spPr>
          <a:xfrm>
            <a:off x="6217920" y="3136392"/>
            <a:ext cx="5239512" cy="603504"/>
          </a:xfrm>
          <a:prstGeom prst="rect">
            <a:avLst/>
          </a:prstGeom>
          <a:noFill/>
          <a:ln/>
        </p:spPr>
        <p:txBody>
          <a:bodyPr wrap="square" lIns="0" tIns="0" rIns="0" bIns="0" rtlCol="0" anchor="t"/>
          <a:lstStyle/>
          <a:p>
            <a:pPr marL="0" indent="0">
              <a:buNone/>
            </a:pPr>
            <a:r>
              <a:rPr lang="en-US" sz="1300" dirty="0">
                <a:solidFill>
                  <a:srgbClr val="3C4A42"/>
                </a:solidFill>
                <a:latin typeface="Calibri" pitchFamily="34" charset="0"/>
                <a:ea typeface="Calibri" pitchFamily="34" charset="-122"/>
                <a:cs typeface="Calibri" pitchFamily="34" charset="-120"/>
              </a:rPr>
              <a:t>Lấy chất lượng đào tạo, tính thực tiễn và tuân thủ pháp luật làm nền tảng; đề cao trách nhiệm nghề nghiệp.</a:t>
            </a:r>
            <a:endParaRPr lang="en-US" sz="1300" dirty="0"/>
          </a:p>
        </p:txBody>
      </p:sp>
      <p:sp>
        <p:nvSpPr>
          <p:cNvPr id="20" name="Shape 17"/>
          <p:cNvSpPr/>
          <p:nvPr/>
        </p:nvSpPr>
        <p:spPr>
          <a:xfrm>
            <a:off x="5074920" y="3941064"/>
            <a:ext cx="6565392" cy="1133856"/>
          </a:xfrm>
          <a:prstGeom prst="roundRect">
            <a:avLst>
              <a:gd name="adj" fmla="val 12903"/>
            </a:avLst>
          </a:prstGeom>
          <a:solidFill>
            <a:srgbClr val="FFFFFF"/>
          </a:solidFill>
          <a:ln/>
          <a:effectLst>
            <a:outerShdw blurRad="101600" dist="25400" dir="5400000" algn="bl" rotWithShape="0">
              <a:srgbClr val="0A2E1C">
                <a:alpha val="12000"/>
              </a:srgbClr>
            </a:outerShdw>
          </a:effectLst>
        </p:spPr>
      </p:sp>
      <p:sp>
        <p:nvSpPr>
          <p:cNvPr id="21" name="Text 18"/>
          <p:cNvSpPr txBox="1"/>
          <p:nvPr/>
        </p:nvSpPr>
        <p:spPr>
          <a:xfrm>
            <a:off x="5303520" y="3941064"/>
            <a:ext cx="868680" cy="1133856"/>
          </a:xfrm>
          <a:prstGeom prst="rect">
            <a:avLst/>
          </a:prstGeom>
          <a:noFill/>
          <a:ln/>
        </p:spPr>
        <p:txBody>
          <a:bodyPr wrap="square" lIns="0" tIns="0" rIns="0" bIns="0" rtlCol="0" anchor="ctr"/>
          <a:lstStyle/>
          <a:p>
            <a:pPr marL="0" indent="0">
              <a:buNone/>
            </a:pPr>
            <a:r>
              <a:rPr lang="en-US" sz="2800" b="1" dirty="0">
                <a:solidFill>
                  <a:srgbClr val="3DB54A"/>
                </a:solidFill>
                <a:latin typeface="Arial" pitchFamily="34" charset="0"/>
                <a:ea typeface="Arial" pitchFamily="34" charset="-122"/>
                <a:cs typeface="Arial" pitchFamily="34" charset="-120"/>
              </a:rPr>
              <a:t>03</a:t>
            </a:r>
            <a:endParaRPr lang="en-US" sz="2800" dirty="0"/>
          </a:p>
        </p:txBody>
      </p:sp>
      <p:sp>
        <p:nvSpPr>
          <p:cNvPr id="22" name="Text 19"/>
          <p:cNvSpPr txBox="1"/>
          <p:nvPr/>
        </p:nvSpPr>
        <p:spPr>
          <a:xfrm>
            <a:off x="6217920" y="4069080"/>
            <a:ext cx="5239512" cy="310896"/>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CHI PHÍ HỢP LÝ</a:t>
            </a:r>
            <a:endParaRPr lang="en-US" sz="1400" dirty="0"/>
          </a:p>
        </p:txBody>
      </p:sp>
      <p:sp>
        <p:nvSpPr>
          <p:cNvPr id="23" name="Text 20"/>
          <p:cNvSpPr txBox="1"/>
          <p:nvPr/>
        </p:nvSpPr>
        <p:spPr>
          <a:xfrm>
            <a:off x="6217920" y="4398264"/>
            <a:ext cx="5239512" cy="603504"/>
          </a:xfrm>
          <a:prstGeom prst="rect">
            <a:avLst/>
          </a:prstGeom>
          <a:noFill/>
          <a:ln/>
        </p:spPr>
        <p:txBody>
          <a:bodyPr wrap="square" lIns="0" tIns="0" rIns="0" bIns="0" rtlCol="0" anchor="t"/>
          <a:lstStyle/>
          <a:p>
            <a:pPr marL="0" indent="0">
              <a:buNone/>
            </a:pPr>
            <a:r>
              <a:rPr lang="en-US" sz="1300" dirty="0">
                <a:solidFill>
                  <a:srgbClr val="3C4A42"/>
                </a:solidFill>
                <a:latin typeface="Calibri" pitchFamily="34" charset="0"/>
                <a:ea typeface="Calibri" pitchFamily="34" charset="-122"/>
                <a:cs typeface="Calibri" pitchFamily="34" charset="-120"/>
              </a:rPr>
              <a:t>Cung cấp nhiều dịch vụ cùng lúc, bảo đảm chi phí hợp lý nhất cho các dịch vụ tốt nhất.</a:t>
            </a:r>
            <a:endParaRPr lang="en-US" sz="1300" dirty="0"/>
          </a:p>
        </p:txBody>
      </p:sp>
      <p:sp>
        <p:nvSpPr>
          <p:cNvPr id="24" name="Shape 21"/>
          <p:cNvSpPr/>
          <p:nvPr/>
        </p:nvSpPr>
        <p:spPr>
          <a:xfrm>
            <a:off x="5074920" y="5202936"/>
            <a:ext cx="6565392" cy="1133856"/>
          </a:xfrm>
          <a:prstGeom prst="roundRect">
            <a:avLst>
              <a:gd name="adj" fmla="val 12903"/>
            </a:avLst>
          </a:prstGeom>
          <a:solidFill>
            <a:srgbClr val="FFFFFF"/>
          </a:solidFill>
          <a:ln/>
          <a:effectLst>
            <a:outerShdw blurRad="101600" dist="25400" dir="5400000" algn="bl" rotWithShape="0">
              <a:srgbClr val="0A2E1C">
                <a:alpha val="12000"/>
              </a:srgbClr>
            </a:outerShdw>
          </a:effectLst>
        </p:spPr>
      </p:sp>
      <p:sp>
        <p:nvSpPr>
          <p:cNvPr id="25" name="Text 22"/>
          <p:cNvSpPr txBox="1"/>
          <p:nvPr/>
        </p:nvSpPr>
        <p:spPr>
          <a:xfrm>
            <a:off x="5303520" y="5202936"/>
            <a:ext cx="868680" cy="1133856"/>
          </a:xfrm>
          <a:prstGeom prst="rect">
            <a:avLst/>
          </a:prstGeom>
          <a:noFill/>
          <a:ln/>
        </p:spPr>
        <p:txBody>
          <a:bodyPr wrap="square" lIns="0" tIns="0" rIns="0" bIns="0" rtlCol="0" anchor="ctr"/>
          <a:lstStyle/>
          <a:p>
            <a:pPr marL="0" indent="0">
              <a:buNone/>
            </a:pPr>
            <a:r>
              <a:rPr lang="en-US" sz="2800" b="1" dirty="0">
                <a:solidFill>
                  <a:srgbClr val="3DB54A"/>
                </a:solidFill>
                <a:latin typeface="Arial" pitchFamily="34" charset="0"/>
                <a:ea typeface="Arial" pitchFamily="34" charset="-122"/>
                <a:cs typeface="Arial" pitchFamily="34" charset="-120"/>
              </a:rPr>
              <a:t>04</a:t>
            </a:r>
            <a:endParaRPr lang="en-US" sz="2800" dirty="0"/>
          </a:p>
        </p:txBody>
      </p:sp>
      <p:sp>
        <p:nvSpPr>
          <p:cNvPr id="26" name="Text 23"/>
          <p:cNvSpPr txBox="1"/>
          <p:nvPr/>
        </p:nvSpPr>
        <p:spPr>
          <a:xfrm>
            <a:off x="6217920" y="5330952"/>
            <a:ext cx="5239512" cy="310896"/>
          </a:xfrm>
          <a:prstGeom prst="rect">
            <a:avLst/>
          </a:prstGeom>
          <a:noFill/>
          <a:ln/>
        </p:spPr>
        <p:txBody>
          <a:bodyPr wrap="square" lIns="0" tIns="0" rIns="0" bIns="0" rtlCol="0" anchor="t"/>
          <a:lstStyle/>
          <a:p>
            <a:pPr marL="0" indent="0">
              <a:buNone/>
            </a:pPr>
            <a:r>
              <a:rPr lang="en-US" sz="1400" b="1" dirty="0">
                <a:solidFill>
                  <a:srgbClr val="17261D"/>
                </a:solidFill>
                <a:latin typeface="Arial" pitchFamily="34" charset="0"/>
                <a:ea typeface="Arial" pitchFamily="34" charset="-122"/>
                <a:cs typeface="Arial" pitchFamily="34" charset="-120"/>
              </a:rPr>
              <a:t>TẬN TÂM &amp; NỖ LỰC</a:t>
            </a:r>
            <a:endParaRPr lang="en-US" sz="1400" dirty="0"/>
          </a:p>
        </p:txBody>
      </p:sp>
      <p:sp>
        <p:nvSpPr>
          <p:cNvPr id="27" name="Text 24"/>
          <p:cNvSpPr txBox="1"/>
          <p:nvPr/>
        </p:nvSpPr>
        <p:spPr>
          <a:xfrm>
            <a:off x="6217920" y="5660136"/>
            <a:ext cx="5239512" cy="603504"/>
          </a:xfrm>
          <a:prstGeom prst="rect">
            <a:avLst/>
          </a:prstGeom>
          <a:noFill/>
          <a:ln/>
        </p:spPr>
        <p:txBody>
          <a:bodyPr wrap="square" lIns="0" tIns="0" rIns="0" bIns="0" rtlCol="0" anchor="t"/>
          <a:lstStyle/>
          <a:p>
            <a:pPr marL="0" indent="0">
              <a:buNone/>
            </a:pPr>
            <a:r>
              <a:rPr lang="en-US" sz="1300" dirty="0">
                <a:solidFill>
                  <a:srgbClr val="3C4A42"/>
                </a:solidFill>
                <a:latin typeface="Calibri" pitchFamily="34" charset="0"/>
                <a:ea typeface="Calibri" pitchFamily="34" charset="-122"/>
                <a:cs typeface="Calibri" pitchFamily="34" charset="-120"/>
              </a:rPr>
              <a:t>Giảng viên giàu kinh nghiệm, chương trình bài bản, hệ thống hỗ trợ toàn quốc; lắng nghe và đồng hành đến từng khách hàng.</a:t>
            </a:r>
            <a:endParaRPr lang="en-US" sz="1300"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2E1C"/>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1695" cy="6858000"/>
          </a:xfrm>
          <a:prstGeom prst="rect">
            <a:avLst/>
          </a:prstGeom>
        </p:spPr>
      </p:pic>
      <p:pic>
        <p:nvPicPr>
          <p:cNvPr id="3" name="Image 1" descr="/home/claude/assets/grad_bottom_dark.png"/>
          <p:cNvPicPr>
            <a:picLocks noChangeAspect="1"/>
          </p:cNvPicPr>
          <p:nvPr/>
        </p:nvPicPr>
        <p:blipFill>
          <a:blip r:embed="rId4"/>
          <a:stretch>
            <a:fillRect/>
          </a:stretch>
        </p:blipFill>
        <p:spPr>
          <a:xfrm>
            <a:off x="0" y="3200400"/>
            <a:ext cx="12191695" cy="3657600"/>
          </a:xfrm>
          <a:prstGeom prst="rect">
            <a:avLst/>
          </a:prstGeom>
        </p:spPr>
      </p:pic>
      <p:pic>
        <p:nvPicPr>
          <p:cNvPr id="4" name="Image 2" descr="/home/claude/assets/beams_dark.png"/>
          <p:cNvPicPr>
            <a:picLocks noChangeAspect="1"/>
          </p:cNvPicPr>
          <p:nvPr/>
        </p:nvPicPr>
        <p:blipFill>
          <a:blip r:embed="rId5">
            <a:alphaModFix amt="70000"/>
          </a:blip>
          <a:stretch>
            <a:fillRect/>
          </a:stretch>
        </p:blipFill>
        <p:spPr>
          <a:xfrm>
            <a:off x="4114800" y="3017520"/>
            <a:ext cx="8074152" cy="3840480"/>
          </a:xfrm>
          <a:prstGeom prst="rect">
            <a:avLst/>
          </a:prstGeom>
        </p:spPr>
      </p:pic>
      <p:sp>
        <p:nvSpPr>
          <p:cNvPr id="5" name="Shape 0"/>
          <p:cNvSpPr/>
          <p:nvPr/>
        </p:nvSpPr>
        <p:spPr>
          <a:xfrm>
            <a:off x="9677095" y="-228600"/>
            <a:ext cx="1965960" cy="566928"/>
          </a:xfrm>
          <a:prstGeom prst="roundRect">
            <a:avLst>
              <a:gd name="adj" fmla="val 25806"/>
            </a:avLst>
          </a:prstGeom>
          <a:solidFill>
            <a:srgbClr val="0F5B34"/>
          </a:solidFill>
          <a:ln/>
        </p:spPr>
      </p:sp>
      <p:sp>
        <p:nvSpPr>
          <p:cNvPr id="6" name="Text 1"/>
          <p:cNvSpPr txBox="1"/>
          <p:nvPr/>
        </p:nvSpPr>
        <p:spPr>
          <a:xfrm>
            <a:off x="9677095" y="18288"/>
            <a:ext cx="1965960" cy="301752"/>
          </a:xfrm>
          <a:prstGeom prst="rect">
            <a:avLst/>
          </a:prstGeom>
          <a:noFill/>
          <a:ln/>
        </p:spPr>
        <p:txBody>
          <a:bodyPr wrap="square" lIns="0" tIns="0" rIns="0" bIns="0" rtlCol="0" anchor="ctr"/>
          <a:lstStyle/>
          <a:p>
            <a:pPr marL="0" indent="0" algn="ctr">
              <a:buNone/>
            </a:pPr>
            <a:r>
              <a:rPr lang="en-US" sz="950" b="1" kern="0" spc="400" dirty="0">
                <a:solidFill>
                  <a:srgbClr val="A8D84E"/>
                </a:solidFill>
                <a:latin typeface="Arial" pitchFamily="34" charset="0"/>
                <a:ea typeface="Arial" pitchFamily="34" charset="-122"/>
                <a:cs typeface="Arial" pitchFamily="34" charset="-120"/>
              </a:rPr>
              <a:t>STP INSTITUTE</a:t>
            </a:r>
            <a:endParaRPr lang="en-US" sz="950" dirty="0"/>
          </a:p>
        </p:txBody>
      </p:sp>
      <p:sp>
        <p:nvSpPr>
          <p:cNvPr id="7" name="Text 2"/>
          <p:cNvSpPr txBox="1"/>
          <p:nvPr/>
        </p:nvSpPr>
        <p:spPr>
          <a:xfrm>
            <a:off x="11323015" y="6492240"/>
            <a:ext cx="411480" cy="228600"/>
          </a:xfrm>
          <a:prstGeom prst="rect">
            <a:avLst/>
          </a:prstGeom>
          <a:noFill/>
          <a:ln/>
        </p:spPr>
        <p:txBody>
          <a:bodyPr wrap="square" lIns="0" tIns="0" rIns="0" bIns="0" rtlCol="0" anchor="t"/>
          <a:lstStyle/>
          <a:p>
            <a:pPr marL="0" indent="0" algn="r">
              <a:buNone/>
            </a:pPr>
            <a:r>
              <a:rPr lang="en-US" sz="900" b="1" dirty="0">
                <a:solidFill>
                  <a:srgbClr val="B9D3C0"/>
                </a:solidFill>
                <a:latin typeface="Arial" pitchFamily="34" charset="0"/>
                <a:ea typeface="Arial" pitchFamily="34" charset="-122"/>
                <a:cs typeface="Arial" pitchFamily="34" charset="-120"/>
              </a:rPr>
              <a:t>30</a:t>
            </a:r>
            <a:endParaRPr lang="en-US" sz="900" dirty="0"/>
          </a:p>
        </p:txBody>
      </p:sp>
      <p:pic>
        <p:nvPicPr>
          <p:cNvPr id="8" name="Image 3" descr="/home/claude/assets/logo_stp.png"/>
          <p:cNvPicPr>
            <a:picLocks noChangeAspect="1"/>
          </p:cNvPicPr>
          <p:nvPr/>
        </p:nvPicPr>
        <p:blipFill>
          <a:blip r:embed="rId6"/>
          <a:stretch>
            <a:fillRect/>
          </a:stretch>
        </p:blipFill>
        <p:spPr>
          <a:xfrm>
            <a:off x="502920" y="365760"/>
            <a:ext cx="960120" cy="960120"/>
          </a:xfrm>
          <a:prstGeom prst="rect">
            <a:avLst/>
          </a:prstGeom>
        </p:spPr>
      </p:pic>
      <p:sp>
        <p:nvSpPr>
          <p:cNvPr id="9" name="Shape 3"/>
          <p:cNvSpPr/>
          <p:nvPr/>
        </p:nvSpPr>
        <p:spPr>
          <a:xfrm>
            <a:off x="1645920" y="429768"/>
            <a:ext cx="822960" cy="822960"/>
          </a:xfrm>
          <a:prstGeom prst="ellipse">
            <a:avLst/>
          </a:prstGeom>
          <a:solidFill>
            <a:srgbClr val="FFFFFF"/>
          </a:solidFill>
          <a:ln/>
        </p:spPr>
      </p:sp>
      <p:sp>
        <p:nvSpPr>
          <p:cNvPr id="11" name="Text 4"/>
          <p:cNvSpPr txBox="1"/>
          <p:nvPr/>
        </p:nvSpPr>
        <p:spPr>
          <a:xfrm>
            <a:off x="548640" y="1554480"/>
            <a:ext cx="5852160" cy="1005840"/>
          </a:xfrm>
          <a:prstGeom prst="rect">
            <a:avLst/>
          </a:prstGeom>
          <a:noFill/>
          <a:ln/>
        </p:spPr>
        <p:txBody>
          <a:bodyPr wrap="square" lIns="0" tIns="0" rIns="0" bIns="0" rtlCol="0" anchor="t"/>
          <a:lstStyle/>
          <a:p>
            <a:pPr marL="0" indent="0">
              <a:buNone/>
            </a:pPr>
            <a:r>
              <a:rPr lang="en-US" sz="6000" b="1" dirty="0">
                <a:solidFill>
                  <a:srgbClr val="FFFFFF"/>
                </a:solidFill>
                <a:latin typeface="Arial" pitchFamily="34" charset="0"/>
                <a:ea typeface="Arial" pitchFamily="34" charset="-122"/>
                <a:cs typeface="Arial" pitchFamily="34" charset="-120"/>
              </a:rPr>
              <a:t>XIN CẢM ƠN</a:t>
            </a:r>
            <a:endParaRPr lang="en-US" sz="6000" dirty="0"/>
          </a:p>
        </p:txBody>
      </p:sp>
      <p:sp>
        <p:nvSpPr>
          <p:cNvPr id="12" name="Text 5"/>
          <p:cNvSpPr txBox="1"/>
          <p:nvPr/>
        </p:nvSpPr>
        <p:spPr>
          <a:xfrm>
            <a:off x="566928" y="2560320"/>
            <a:ext cx="5852160" cy="411480"/>
          </a:xfrm>
          <a:prstGeom prst="rect">
            <a:avLst/>
          </a:prstGeom>
          <a:noFill/>
          <a:ln/>
        </p:spPr>
        <p:txBody>
          <a:bodyPr wrap="square" lIns="0" tIns="0" rIns="0" bIns="0" rtlCol="0" anchor="t"/>
          <a:lstStyle/>
          <a:p>
            <a:pPr marL="0" indent="0">
              <a:buNone/>
            </a:pPr>
            <a:r>
              <a:rPr lang="en-US" sz="1800" b="1" kern="0" spc="300" dirty="0">
                <a:solidFill>
                  <a:srgbClr val="A8D84E"/>
                </a:solidFill>
                <a:latin typeface="Arial" pitchFamily="34" charset="0"/>
                <a:ea typeface="Arial" pitchFamily="34" charset="-122"/>
                <a:cs typeface="Arial" pitchFamily="34" charset="-120"/>
              </a:rPr>
              <a:t>GIÁ TRỊ TÍCH LŨY – NIỀM TIN</a:t>
            </a:r>
            <a:endParaRPr lang="en-US" sz="1800" dirty="0"/>
          </a:p>
        </p:txBody>
      </p:sp>
      <p:sp>
        <p:nvSpPr>
          <p:cNvPr id="13" name="Text 6"/>
          <p:cNvSpPr txBox="1"/>
          <p:nvPr/>
        </p:nvSpPr>
        <p:spPr>
          <a:xfrm>
            <a:off x="566928" y="3108960"/>
            <a:ext cx="5394960" cy="914400"/>
          </a:xfrm>
          <a:prstGeom prst="rect">
            <a:avLst/>
          </a:prstGeom>
          <a:noFill/>
          <a:ln/>
        </p:spPr>
        <p:txBody>
          <a:bodyPr wrap="square" lIns="0" tIns="0" rIns="0" bIns="0" rtlCol="0" anchor="t"/>
          <a:lstStyle/>
          <a:p>
            <a:pPr marL="0" indent="0">
              <a:buNone/>
            </a:pPr>
            <a:r>
              <a:rPr lang="en-US" sz="1600" dirty="0">
                <a:solidFill>
                  <a:srgbClr val="D2E4D7"/>
                </a:solidFill>
                <a:latin typeface="Calibri" pitchFamily="34" charset="0"/>
                <a:ea typeface="Calibri" pitchFamily="34" charset="-122"/>
                <a:cs typeface="Calibri" pitchFamily="34" charset="-120"/>
              </a:rPr>
              <a:t>Hãy để chúng tôi đồng hành cùng doanh nghiệp trong hành trình xây dựng môi trường làm việc an toàn – hiệu quả – bền vững!</a:t>
            </a:r>
            <a:endParaRPr lang="en-US" sz="1600" dirty="0"/>
          </a:p>
        </p:txBody>
      </p:sp>
      <p:sp>
        <p:nvSpPr>
          <p:cNvPr id="14" name="Shape 7"/>
          <p:cNvSpPr/>
          <p:nvPr/>
        </p:nvSpPr>
        <p:spPr>
          <a:xfrm>
            <a:off x="548640" y="4343400"/>
            <a:ext cx="1600200" cy="1600200"/>
          </a:xfrm>
          <a:prstGeom prst="roundRect">
            <a:avLst>
              <a:gd name="adj" fmla="val 8000"/>
            </a:avLst>
          </a:prstGeom>
          <a:solidFill>
            <a:srgbClr val="FFFFFF"/>
          </a:solidFill>
          <a:ln/>
        </p:spPr>
      </p:sp>
      <p:pic>
        <p:nvPicPr>
          <p:cNvPr id="15" name="Image 5" descr="/home/claude/assets/qr.png"/>
          <p:cNvPicPr>
            <a:picLocks noChangeAspect="1"/>
          </p:cNvPicPr>
          <p:nvPr/>
        </p:nvPicPr>
        <p:blipFill>
          <a:blip r:embed="rId7"/>
          <a:stretch>
            <a:fillRect/>
          </a:stretch>
        </p:blipFill>
        <p:spPr>
          <a:xfrm>
            <a:off x="658368" y="4453128"/>
            <a:ext cx="1380744" cy="1380744"/>
          </a:xfrm>
          <a:prstGeom prst="rect">
            <a:avLst/>
          </a:prstGeom>
        </p:spPr>
      </p:pic>
      <p:pic>
        <p:nvPicPr>
          <p:cNvPr id="16" name="Image 6" descr="preencoded.png"/>
          <p:cNvPicPr>
            <a:picLocks noChangeAspect="1"/>
          </p:cNvPicPr>
          <p:nvPr/>
        </p:nvPicPr>
        <p:blipFill>
          <a:blip r:embed="rId8"/>
          <a:stretch>
            <a:fillRect/>
          </a:stretch>
        </p:blipFill>
        <p:spPr>
          <a:xfrm>
            <a:off x="2423160" y="4535424"/>
            <a:ext cx="256032" cy="256032"/>
          </a:xfrm>
          <a:prstGeom prst="rect">
            <a:avLst/>
          </a:prstGeom>
        </p:spPr>
      </p:pic>
      <p:sp>
        <p:nvSpPr>
          <p:cNvPr id="17" name="Text 8"/>
          <p:cNvSpPr txBox="1"/>
          <p:nvPr/>
        </p:nvSpPr>
        <p:spPr>
          <a:xfrm>
            <a:off x="2834640" y="4462272"/>
            <a:ext cx="3474720" cy="40233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www.vienstp.com</a:t>
            </a:r>
            <a:endParaRPr lang="en-US" sz="1500" dirty="0"/>
          </a:p>
        </p:txBody>
      </p:sp>
      <p:pic>
        <p:nvPicPr>
          <p:cNvPr id="18" name="Image 7" descr="preencoded.png"/>
          <p:cNvPicPr>
            <a:picLocks noChangeAspect="1"/>
          </p:cNvPicPr>
          <p:nvPr/>
        </p:nvPicPr>
        <p:blipFill>
          <a:blip r:embed="rId9"/>
          <a:stretch>
            <a:fillRect/>
          </a:stretch>
        </p:blipFill>
        <p:spPr>
          <a:xfrm>
            <a:off x="2423160" y="5010912"/>
            <a:ext cx="256032" cy="256032"/>
          </a:xfrm>
          <a:prstGeom prst="rect">
            <a:avLst/>
          </a:prstGeom>
        </p:spPr>
      </p:pic>
      <p:sp>
        <p:nvSpPr>
          <p:cNvPr id="19" name="Text 9"/>
          <p:cNvSpPr txBox="1"/>
          <p:nvPr/>
        </p:nvSpPr>
        <p:spPr>
          <a:xfrm>
            <a:off x="2834640" y="4937760"/>
            <a:ext cx="3474720" cy="40233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viencongnghestp@gmail.com</a:t>
            </a:r>
            <a:endParaRPr lang="en-US" sz="1500" dirty="0"/>
          </a:p>
        </p:txBody>
      </p:sp>
      <p:pic>
        <p:nvPicPr>
          <p:cNvPr id="20" name="Image 8" descr="preencoded.png"/>
          <p:cNvPicPr>
            <a:picLocks noChangeAspect="1"/>
          </p:cNvPicPr>
          <p:nvPr/>
        </p:nvPicPr>
        <p:blipFill>
          <a:blip r:embed="rId10"/>
          <a:stretch>
            <a:fillRect/>
          </a:stretch>
        </p:blipFill>
        <p:spPr>
          <a:xfrm>
            <a:off x="2423160" y="5486400"/>
            <a:ext cx="256032" cy="256032"/>
          </a:xfrm>
          <a:prstGeom prst="rect">
            <a:avLst/>
          </a:prstGeom>
        </p:spPr>
      </p:pic>
      <p:sp>
        <p:nvSpPr>
          <p:cNvPr id="21" name="Text 10"/>
          <p:cNvSpPr txBox="1"/>
          <p:nvPr/>
        </p:nvSpPr>
        <p:spPr>
          <a:xfrm>
            <a:off x="2834640" y="5413248"/>
            <a:ext cx="3474720" cy="402336"/>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0827.695.368  ·  0968.702.701</a:t>
            </a:r>
            <a:endParaRPr lang="en-US" sz="1500" dirty="0"/>
          </a:p>
        </p:txBody>
      </p:sp>
      <p:sp>
        <p:nvSpPr>
          <p:cNvPr id="22" name="Shape 11"/>
          <p:cNvSpPr/>
          <p:nvPr/>
        </p:nvSpPr>
        <p:spPr>
          <a:xfrm>
            <a:off x="6720840" y="777240"/>
            <a:ext cx="4919472" cy="5349240"/>
          </a:xfrm>
          <a:prstGeom prst="roundRect">
            <a:avLst>
              <a:gd name="adj" fmla="val 4089"/>
            </a:avLst>
          </a:prstGeom>
          <a:solidFill>
            <a:srgbClr val="0A2E1C">
              <a:alpha val="75000"/>
            </a:srgbClr>
          </a:solidFill>
          <a:ln w="12700">
            <a:solidFill>
              <a:srgbClr val="FFFFFF">
                <a:alpha val="30000"/>
              </a:srgbClr>
            </a:solidFill>
            <a:prstDash val="solid"/>
          </a:ln>
        </p:spPr>
      </p:sp>
      <p:sp>
        <p:nvSpPr>
          <p:cNvPr id="23" name="Text 12"/>
          <p:cNvSpPr txBox="1"/>
          <p:nvPr/>
        </p:nvSpPr>
        <p:spPr>
          <a:xfrm>
            <a:off x="7086600" y="1051560"/>
            <a:ext cx="4206240" cy="320040"/>
          </a:xfrm>
          <a:prstGeom prst="rect">
            <a:avLst/>
          </a:prstGeom>
          <a:noFill/>
          <a:ln/>
        </p:spPr>
        <p:txBody>
          <a:bodyPr wrap="square" lIns="0" tIns="0" rIns="0" bIns="0" rtlCol="0" anchor="t"/>
          <a:lstStyle/>
          <a:p>
            <a:pPr marL="0" indent="0">
              <a:buNone/>
            </a:pPr>
            <a:r>
              <a:rPr lang="en-US" sz="1200" b="1" kern="0" spc="300" dirty="0">
                <a:solidFill>
                  <a:srgbClr val="A8D84E"/>
                </a:solidFill>
                <a:latin typeface="Arial" pitchFamily="34" charset="0"/>
                <a:ea typeface="Arial" pitchFamily="34" charset="-122"/>
                <a:cs typeface="Arial" pitchFamily="34" charset="-120"/>
              </a:rPr>
              <a:t>HỆ THỐNG VĂN PHÒNG</a:t>
            </a:r>
            <a:endParaRPr lang="en-US" sz="1200" dirty="0"/>
          </a:p>
        </p:txBody>
      </p:sp>
      <p:sp>
        <p:nvSpPr>
          <p:cNvPr id="24" name="Shape 13"/>
          <p:cNvSpPr/>
          <p:nvPr/>
        </p:nvSpPr>
        <p:spPr>
          <a:xfrm>
            <a:off x="7086600" y="1554480"/>
            <a:ext cx="420624" cy="420624"/>
          </a:xfrm>
          <a:prstGeom prst="ellipse">
            <a:avLst/>
          </a:prstGeom>
          <a:solidFill>
            <a:srgbClr val="A8D84E"/>
          </a:solidFill>
          <a:ln/>
        </p:spPr>
      </p:sp>
      <p:pic>
        <p:nvPicPr>
          <p:cNvPr id="25" name="Image 9" descr="preencoded.png"/>
          <p:cNvPicPr>
            <a:picLocks noChangeAspect="1"/>
          </p:cNvPicPr>
          <p:nvPr/>
        </p:nvPicPr>
        <p:blipFill>
          <a:blip r:embed="rId11"/>
          <a:stretch>
            <a:fillRect/>
          </a:stretch>
        </p:blipFill>
        <p:spPr>
          <a:xfrm>
            <a:off x="7187550" y="1655430"/>
            <a:ext cx="218724" cy="218724"/>
          </a:xfrm>
          <a:prstGeom prst="rect">
            <a:avLst/>
          </a:prstGeom>
        </p:spPr>
      </p:pic>
      <p:sp>
        <p:nvSpPr>
          <p:cNvPr id="26" name="Text 14"/>
          <p:cNvSpPr txBox="1"/>
          <p:nvPr/>
        </p:nvSpPr>
        <p:spPr>
          <a:xfrm>
            <a:off x="7680960" y="1536192"/>
            <a:ext cx="3749040" cy="310896"/>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TRỤ SỞ HÀ NỘI</a:t>
            </a:r>
            <a:endParaRPr lang="en-US" sz="1400" dirty="0"/>
          </a:p>
        </p:txBody>
      </p:sp>
      <p:sp>
        <p:nvSpPr>
          <p:cNvPr id="27" name="Text 15"/>
          <p:cNvSpPr txBox="1"/>
          <p:nvPr/>
        </p:nvSpPr>
        <p:spPr>
          <a:xfrm>
            <a:off x="7680960" y="1856232"/>
            <a:ext cx="3749040" cy="658368"/>
          </a:xfrm>
          <a:prstGeom prst="rect">
            <a:avLst/>
          </a:prstGeom>
          <a:noFill/>
          <a:ln/>
        </p:spPr>
        <p:txBody>
          <a:bodyPr wrap="square" lIns="0" tIns="0" rIns="0" bIns="0" rtlCol="0" anchor="t"/>
          <a:lstStyle/>
          <a:p>
            <a:pPr marL="0" indent="0">
              <a:buNone/>
            </a:pPr>
            <a:r>
              <a:rPr lang="en-US" sz="1300" dirty="0">
                <a:solidFill>
                  <a:srgbClr val="D2E4D7"/>
                </a:solidFill>
                <a:latin typeface="Calibri" pitchFamily="34" charset="0"/>
                <a:ea typeface="Calibri" pitchFamily="34" charset="-122"/>
                <a:cs typeface="Calibri" pitchFamily="34" charset="-120"/>
              </a:rPr>
              <a:t>Tầng 12, Tòa nhà Diamond Flower, số 48 Lê Văn Lương, KĐT mới N1, P. Yên Hòa, TP. Hà Nội</a:t>
            </a:r>
            <a:endParaRPr lang="en-US" sz="1300" dirty="0"/>
          </a:p>
        </p:txBody>
      </p:sp>
      <p:sp>
        <p:nvSpPr>
          <p:cNvPr id="28" name="Text 16"/>
          <p:cNvSpPr txBox="1"/>
          <p:nvPr/>
        </p:nvSpPr>
        <p:spPr>
          <a:xfrm>
            <a:off x="7680960" y="2496312"/>
            <a:ext cx="3749040" cy="274320"/>
          </a:xfrm>
          <a:prstGeom prst="rect">
            <a:avLst/>
          </a:prstGeom>
          <a:noFill/>
          <a:ln/>
        </p:spPr>
        <p:txBody>
          <a:bodyPr wrap="square" lIns="0" tIns="0" rIns="0" bIns="0" rtlCol="0" anchor="t"/>
          <a:lstStyle/>
          <a:p>
            <a:pPr marL="0" indent="0">
              <a:buNone/>
            </a:pPr>
            <a:r>
              <a:rPr lang="en-US" sz="1350" dirty="0">
                <a:solidFill>
                  <a:srgbClr val="B9D3C0"/>
                </a:solidFill>
                <a:latin typeface="Calibri" pitchFamily="34" charset="0"/>
                <a:ea typeface="Calibri" pitchFamily="34" charset="-122"/>
                <a:cs typeface="Calibri" pitchFamily="34" charset="-120"/>
              </a:rPr>
              <a:t>ĐT: </a:t>
            </a:r>
            <a:r>
              <a:rPr lang="en-US" sz="1350" b="1" dirty="0">
                <a:solidFill>
                  <a:srgbClr val="A8D84E"/>
                </a:solidFill>
                <a:latin typeface="Calibri" pitchFamily="34" charset="0"/>
                <a:ea typeface="Calibri" pitchFamily="34" charset="-122"/>
                <a:cs typeface="Calibri" pitchFamily="34" charset="-120"/>
              </a:rPr>
              <a:t>0827.695.368</a:t>
            </a:r>
            <a:endParaRPr lang="en-US" sz="1350" dirty="0"/>
          </a:p>
        </p:txBody>
      </p:sp>
      <p:sp>
        <p:nvSpPr>
          <p:cNvPr id="29" name="Shape 17"/>
          <p:cNvSpPr/>
          <p:nvPr/>
        </p:nvSpPr>
        <p:spPr>
          <a:xfrm>
            <a:off x="7086600" y="3035808"/>
            <a:ext cx="420624" cy="420624"/>
          </a:xfrm>
          <a:prstGeom prst="ellipse">
            <a:avLst/>
          </a:prstGeom>
          <a:solidFill>
            <a:srgbClr val="A8D84E"/>
          </a:solidFill>
          <a:ln/>
        </p:spPr>
      </p:sp>
      <p:pic>
        <p:nvPicPr>
          <p:cNvPr id="30" name="Image 10" descr="preencoded.png"/>
          <p:cNvPicPr>
            <a:picLocks noChangeAspect="1"/>
          </p:cNvPicPr>
          <p:nvPr/>
        </p:nvPicPr>
        <p:blipFill>
          <a:blip r:embed="rId11"/>
          <a:stretch>
            <a:fillRect/>
          </a:stretch>
        </p:blipFill>
        <p:spPr>
          <a:xfrm>
            <a:off x="7187550" y="3136758"/>
            <a:ext cx="218724" cy="218724"/>
          </a:xfrm>
          <a:prstGeom prst="rect">
            <a:avLst/>
          </a:prstGeom>
        </p:spPr>
      </p:pic>
      <p:sp>
        <p:nvSpPr>
          <p:cNvPr id="31" name="Text 18"/>
          <p:cNvSpPr txBox="1"/>
          <p:nvPr/>
        </p:nvSpPr>
        <p:spPr>
          <a:xfrm>
            <a:off x="7680960" y="3017520"/>
            <a:ext cx="3749040" cy="310896"/>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VĂN PHÒNG NHA TRANG</a:t>
            </a:r>
            <a:endParaRPr lang="en-US" sz="1400" dirty="0"/>
          </a:p>
        </p:txBody>
      </p:sp>
      <p:sp>
        <p:nvSpPr>
          <p:cNvPr id="32" name="Text 19"/>
          <p:cNvSpPr txBox="1"/>
          <p:nvPr/>
        </p:nvSpPr>
        <p:spPr>
          <a:xfrm>
            <a:off x="7680960" y="3337560"/>
            <a:ext cx="3749040" cy="658368"/>
          </a:xfrm>
          <a:prstGeom prst="rect">
            <a:avLst/>
          </a:prstGeom>
          <a:noFill/>
          <a:ln/>
        </p:spPr>
        <p:txBody>
          <a:bodyPr wrap="square" lIns="0" tIns="0" rIns="0" bIns="0" rtlCol="0" anchor="t"/>
          <a:lstStyle/>
          <a:p>
            <a:pPr marL="0" indent="0">
              <a:buNone/>
            </a:pPr>
            <a:r>
              <a:rPr lang="en-US" sz="1300" dirty="0">
                <a:solidFill>
                  <a:srgbClr val="D2E4D7"/>
                </a:solidFill>
                <a:latin typeface="Calibri" pitchFamily="34" charset="0"/>
                <a:ea typeface="Calibri" pitchFamily="34" charset="-122"/>
                <a:cs typeface="Calibri" pitchFamily="34" charset="-120"/>
              </a:rPr>
              <a:t>B19-03 Khu đô thị An Bình Tân, P. Nam Nha Trang, Tỉnh Khánh Hòa</a:t>
            </a:r>
            <a:endParaRPr lang="en-US" sz="1300" dirty="0"/>
          </a:p>
        </p:txBody>
      </p:sp>
      <p:sp>
        <p:nvSpPr>
          <p:cNvPr id="33" name="Text 20"/>
          <p:cNvSpPr txBox="1"/>
          <p:nvPr/>
        </p:nvSpPr>
        <p:spPr>
          <a:xfrm>
            <a:off x="7680960" y="3977640"/>
            <a:ext cx="3749040" cy="274320"/>
          </a:xfrm>
          <a:prstGeom prst="rect">
            <a:avLst/>
          </a:prstGeom>
          <a:noFill/>
          <a:ln/>
        </p:spPr>
        <p:txBody>
          <a:bodyPr wrap="square" lIns="0" tIns="0" rIns="0" bIns="0" rtlCol="0" anchor="t"/>
          <a:lstStyle/>
          <a:p>
            <a:pPr marL="0" indent="0">
              <a:buNone/>
            </a:pPr>
            <a:r>
              <a:rPr lang="en-US" sz="1350" dirty="0">
                <a:solidFill>
                  <a:srgbClr val="B9D3C0"/>
                </a:solidFill>
                <a:latin typeface="Calibri" pitchFamily="34" charset="0"/>
                <a:ea typeface="Calibri" pitchFamily="34" charset="-122"/>
                <a:cs typeface="Calibri" pitchFamily="34" charset="-120"/>
              </a:rPr>
              <a:t>ĐT: </a:t>
            </a:r>
            <a:r>
              <a:rPr lang="en-US" sz="1350" b="1" dirty="0">
                <a:solidFill>
                  <a:srgbClr val="A8D84E"/>
                </a:solidFill>
                <a:latin typeface="Calibri" pitchFamily="34" charset="0"/>
                <a:ea typeface="Calibri" pitchFamily="34" charset="-122"/>
                <a:cs typeface="Calibri" pitchFamily="34" charset="-120"/>
              </a:rPr>
              <a:t>0968.702.701</a:t>
            </a:r>
            <a:endParaRPr lang="en-US" sz="1350" dirty="0"/>
          </a:p>
        </p:txBody>
      </p:sp>
      <p:sp>
        <p:nvSpPr>
          <p:cNvPr id="34" name="Shape 21"/>
          <p:cNvSpPr/>
          <p:nvPr/>
        </p:nvSpPr>
        <p:spPr>
          <a:xfrm>
            <a:off x="7086600" y="4517136"/>
            <a:ext cx="420624" cy="420624"/>
          </a:xfrm>
          <a:prstGeom prst="ellipse">
            <a:avLst/>
          </a:prstGeom>
          <a:solidFill>
            <a:srgbClr val="A8D84E"/>
          </a:solidFill>
          <a:ln/>
        </p:spPr>
      </p:sp>
      <p:pic>
        <p:nvPicPr>
          <p:cNvPr id="35" name="Image 11" descr="preencoded.png"/>
          <p:cNvPicPr>
            <a:picLocks noChangeAspect="1"/>
          </p:cNvPicPr>
          <p:nvPr/>
        </p:nvPicPr>
        <p:blipFill>
          <a:blip r:embed="rId11"/>
          <a:stretch>
            <a:fillRect/>
          </a:stretch>
        </p:blipFill>
        <p:spPr>
          <a:xfrm>
            <a:off x="7187550" y="4618086"/>
            <a:ext cx="218724" cy="218724"/>
          </a:xfrm>
          <a:prstGeom prst="rect">
            <a:avLst/>
          </a:prstGeom>
        </p:spPr>
      </p:pic>
      <p:sp>
        <p:nvSpPr>
          <p:cNvPr id="36" name="Text 22"/>
          <p:cNvSpPr txBox="1"/>
          <p:nvPr/>
        </p:nvSpPr>
        <p:spPr>
          <a:xfrm>
            <a:off x="7680960" y="4498848"/>
            <a:ext cx="3749040" cy="310896"/>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VĂN PHÒNG TP. HỒ CHÍ MINH</a:t>
            </a:r>
            <a:endParaRPr lang="en-US" sz="1400" dirty="0"/>
          </a:p>
        </p:txBody>
      </p:sp>
      <p:sp>
        <p:nvSpPr>
          <p:cNvPr id="37" name="Text 23"/>
          <p:cNvSpPr txBox="1"/>
          <p:nvPr/>
        </p:nvSpPr>
        <p:spPr>
          <a:xfrm>
            <a:off x="7680960" y="4818888"/>
            <a:ext cx="3749040" cy="658368"/>
          </a:xfrm>
          <a:prstGeom prst="rect">
            <a:avLst/>
          </a:prstGeom>
          <a:noFill/>
          <a:ln/>
        </p:spPr>
        <p:txBody>
          <a:bodyPr wrap="square" lIns="0" tIns="0" rIns="0" bIns="0" rtlCol="0" anchor="t"/>
          <a:lstStyle/>
          <a:p>
            <a:pPr marL="0" indent="0">
              <a:buNone/>
            </a:pPr>
            <a:r>
              <a:rPr lang="en-US" sz="1300" dirty="0">
                <a:solidFill>
                  <a:srgbClr val="D2E4D7"/>
                </a:solidFill>
                <a:latin typeface="Calibri" pitchFamily="34" charset="0"/>
                <a:ea typeface="Calibri" pitchFamily="34" charset="-122"/>
                <a:cs typeface="Calibri" pitchFamily="34" charset="-120"/>
              </a:rPr>
              <a:t>Số 28, đường D9, P. An Khánh, TP. Hồ Chí Minh</a:t>
            </a:r>
            <a:endParaRPr lang="en-US" sz="1300" dirty="0"/>
          </a:p>
        </p:txBody>
      </p:sp>
      <p:sp>
        <p:nvSpPr>
          <p:cNvPr id="38" name="Text 24"/>
          <p:cNvSpPr txBox="1"/>
          <p:nvPr/>
        </p:nvSpPr>
        <p:spPr>
          <a:xfrm>
            <a:off x="7680960" y="5458968"/>
            <a:ext cx="3749040" cy="274320"/>
          </a:xfrm>
          <a:prstGeom prst="rect">
            <a:avLst/>
          </a:prstGeom>
          <a:noFill/>
          <a:ln/>
        </p:spPr>
        <p:txBody>
          <a:bodyPr wrap="square" lIns="0" tIns="0" rIns="0" bIns="0" rtlCol="0" anchor="t"/>
          <a:lstStyle/>
          <a:p>
            <a:pPr marL="0" indent="0">
              <a:buNone/>
            </a:pPr>
            <a:r>
              <a:rPr lang="en-US" sz="1350" dirty="0">
                <a:solidFill>
                  <a:srgbClr val="B9D3C0"/>
                </a:solidFill>
                <a:latin typeface="Calibri" pitchFamily="34" charset="0"/>
                <a:ea typeface="Calibri" pitchFamily="34" charset="-122"/>
                <a:cs typeface="Calibri" pitchFamily="34" charset="-120"/>
              </a:rPr>
              <a:t>ĐT: </a:t>
            </a:r>
            <a:r>
              <a:rPr lang="en-US" sz="1350" b="1" dirty="0">
                <a:solidFill>
                  <a:srgbClr val="A8D84E"/>
                </a:solidFill>
                <a:latin typeface="Calibri" pitchFamily="34" charset="0"/>
                <a:ea typeface="Calibri" pitchFamily="34" charset="-122"/>
                <a:cs typeface="Calibri" pitchFamily="34" charset="-120"/>
              </a:rPr>
              <a:t>0827.695.368</a:t>
            </a:r>
            <a:endParaRPr lang="en-US" sz="1350" dirty="0"/>
          </a:p>
        </p:txBody>
      </p:sp>
      <p:pic>
        <p:nvPicPr>
          <p:cNvPr id="39" name="Picture 38">
            <a:extLst>
              <a:ext uri="{FF2B5EF4-FFF2-40B4-BE49-F238E27FC236}">
                <a16:creationId xmlns:a16="http://schemas.microsoft.com/office/drawing/2014/main" id="{C1A64B42-DF04-4F80-8C34-04272F8E2B65}"/>
              </a:ext>
            </a:extLst>
          </p:cNvPr>
          <p:cNvPicPr>
            <a:picLocks noChangeAspect="1"/>
          </p:cNvPicPr>
          <p:nvPr/>
        </p:nvPicPr>
        <p:blipFill>
          <a:blip r:embed="rId12"/>
          <a:stretch>
            <a:fillRect/>
          </a:stretch>
        </p:blipFill>
        <p:spPr>
          <a:xfrm>
            <a:off x="1568895" y="402006"/>
            <a:ext cx="988083" cy="960119"/>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5494</Words>
  <Application>Microsoft Office PowerPoint</Application>
  <PresentationFormat>Widescreen</PresentationFormat>
  <Paragraphs>557</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Viện Nghiên cứu Phát triển Giáo dục và Nghề nghiệp STP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Hồ sơ năng lực – Đào tạo &amp; cấp chứng chỉ ATVSLĐ – Viện STP &amp; DAKO</dc:title>
  <dc:subject>PptxGenJS Presentation</dc:subject>
  <dc:creator>PptxGenJS</dc:creator>
  <cp:lastModifiedBy>dell15 R3</cp:lastModifiedBy>
  <cp:revision>8</cp:revision>
  <dcterms:created xsi:type="dcterms:W3CDTF">2026-09-16T08:35:33Z</dcterms:created>
  <dcterms:modified xsi:type="dcterms:W3CDTF">2026-10-18T11:48:02Z</dcterms:modified>
</cp:coreProperties>
</file>